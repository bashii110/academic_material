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9"/>
  </p:notesMasterIdLst>
  <p:sldIdLst>
    <p:sldId id="400" r:id="rId2"/>
    <p:sldId id="256" r:id="rId3"/>
    <p:sldId id="326" r:id="rId4"/>
    <p:sldId id="327" r:id="rId5"/>
    <p:sldId id="328" r:id="rId6"/>
    <p:sldId id="329" r:id="rId7"/>
    <p:sldId id="330" r:id="rId8"/>
    <p:sldId id="332" r:id="rId9"/>
    <p:sldId id="401" r:id="rId10"/>
    <p:sldId id="402" r:id="rId11"/>
    <p:sldId id="403" r:id="rId12"/>
    <p:sldId id="333" r:id="rId13"/>
    <p:sldId id="334" r:id="rId14"/>
    <p:sldId id="335" r:id="rId15"/>
    <p:sldId id="336" r:id="rId16"/>
    <p:sldId id="337" r:id="rId17"/>
    <p:sldId id="331" r:id="rId18"/>
    <p:sldId id="338" r:id="rId19"/>
    <p:sldId id="339" r:id="rId20"/>
    <p:sldId id="340" r:id="rId21"/>
    <p:sldId id="342" r:id="rId22"/>
    <p:sldId id="343" r:id="rId23"/>
    <p:sldId id="344" r:id="rId24"/>
    <p:sldId id="345" r:id="rId25"/>
    <p:sldId id="346" r:id="rId26"/>
    <p:sldId id="347" r:id="rId27"/>
    <p:sldId id="348" r:id="rId28"/>
    <p:sldId id="349" r:id="rId29"/>
    <p:sldId id="350" r:id="rId30"/>
    <p:sldId id="351" r:id="rId31"/>
    <p:sldId id="352" r:id="rId32"/>
    <p:sldId id="353" r:id="rId33"/>
    <p:sldId id="354" r:id="rId34"/>
    <p:sldId id="355" r:id="rId35"/>
    <p:sldId id="356" r:id="rId36"/>
    <p:sldId id="357" r:id="rId37"/>
    <p:sldId id="358" r:id="rId38"/>
    <p:sldId id="359" r:id="rId39"/>
    <p:sldId id="360" r:id="rId40"/>
    <p:sldId id="361" r:id="rId41"/>
    <p:sldId id="362" r:id="rId42"/>
    <p:sldId id="363" r:id="rId43"/>
    <p:sldId id="364" r:id="rId44"/>
    <p:sldId id="365" r:id="rId45"/>
    <p:sldId id="366" r:id="rId46"/>
    <p:sldId id="367" r:id="rId47"/>
    <p:sldId id="368" r:id="rId48"/>
    <p:sldId id="369" r:id="rId49"/>
    <p:sldId id="370" r:id="rId50"/>
    <p:sldId id="371" r:id="rId51"/>
    <p:sldId id="372" r:id="rId52"/>
    <p:sldId id="373" r:id="rId53"/>
    <p:sldId id="374" r:id="rId54"/>
    <p:sldId id="404" r:id="rId55"/>
    <p:sldId id="406" r:id="rId56"/>
    <p:sldId id="405" r:id="rId57"/>
    <p:sldId id="408" r:id="rId58"/>
    <p:sldId id="407" r:id="rId59"/>
    <p:sldId id="410" r:id="rId60"/>
    <p:sldId id="409" r:id="rId61"/>
    <p:sldId id="411" r:id="rId62"/>
    <p:sldId id="375" r:id="rId63"/>
    <p:sldId id="413" r:id="rId64"/>
    <p:sldId id="414" r:id="rId65"/>
    <p:sldId id="415" r:id="rId66"/>
    <p:sldId id="412" r:id="rId67"/>
    <p:sldId id="417" r:id="rId68"/>
    <p:sldId id="418" r:id="rId69"/>
    <p:sldId id="416" r:id="rId70"/>
    <p:sldId id="420" r:id="rId71"/>
    <p:sldId id="421" r:id="rId72"/>
    <p:sldId id="422" r:id="rId73"/>
    <p:sldId id="423" r:id="rId74"/>
    <p:sldId id="419" r:id="rId75"/>
    <p:sldId id="424" r:id="rId76"/>
    <p:sldId id="425" r:id="rId77"/>
    <p:sldId id="376" r:id="rId78"/>
    <p:sldId id="427" r:id="rId79"/>
    <p:sldId id="428" r:id="rId80"/>
    <p:sldId id="429" r:id="rId81"/>
    <p:sldId id="426" r:id="rId82"/>
    <p:sldId id="431" r:id="rId83"/>
    <p:sldId id="432" r:id="rId84"/>
    <p:sldId id="430" r:id="rId85"/>
    <p:sldId id="377" r:id="rId86"/>
    <p:sldId id="378" r:id="rId87"/>
    <p:sldId id="379" r:id="rId88"/>
    <p:sldId id="380" r:id="rId89"/>
    <p:sldId id="381" r:id="rId90"/>
    <p:sldId id="382" r:id="rId91"/>
    <p:sldId id="383" r:id="rId92"/>
    <p:sldId id="384" r:id="rId93"/>
    <p:sldId id="385" r:id="rId94"/>
    <p:sldId id="386" r:id="rId95"/>
    <p:sldId id="387" r:id="rId96"/>
    <p:sldId id="388" r:id="rId97"/>
    <p:sldId id="389" r:id="rId98"/>
    <p:sldId id="390" r:id="rId99"/>
    <p:sldId id="391" r:id="rId100"/>
    <p:sldId id="392" r:id="rId101"/>
    <p:sldId id="393" r:id="rId102"/>
    <p:sldId id="394" r:id="rId103"/>
    <p:sldId id="395" r:id="rId104"/>
    <p:sldId id="396" r:id="rId105"/>
    <p:sldId id="397" r:id="rId106"/>
    <p:sldId id="398" r:id="rId107"/>
    <p:sldId id="399"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3" d="100"/>
          <a:sy n="83" d="100"/>
        </p:scale>
        <p:origin x="62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E3AC23-3801-4CA3-8A5B-A5663F1FEEBF}"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076664-786D-4918-9062-42F32C9ECEFD}" type="slidenum">
              <a:rPr lang="en-US" smtClean="0"/>
              <a:t>‹#›</a:t>
            </a:fld>
            <a:endParaRPr lang="en-US"/>
          </a:p>
        </p:txBody>
      </p:sp>
    </p:spTree>
    <p:extLst>
      <p:ext uri="{BB962C8B-B14F-4D97-AF65-F5344CB8AC3E}">
        <p14:creationId xmlns:p14="http://schemas.microsoft.com/office/powerpoint/2010/main" val="2474067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076664-786D-4918-9062-42F32C9ECEFD}" type="slidenum">
              <a:rPr lang="en-US" smtClean="0"/>
              <a:t>2</a:t>
            </a:fld>
            <a:endParaRPr lang="en-US"/>
          </a:p>
        </p:txBody>
      </p:sp>
    </p:spTree>
    <p:extLst>
      <p:ext uri="{BB962C8B-B14F-4D97-AF65-F5344CB8AC3E}">
        <p14:creationId xmlns:p14="http://schemas.microsoft.com/office/powerpoint/2010/main" val="8003244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Database normalization is a process used in </a:t>
            </a:r>
            <a:r>
              <a:rPr lang="en-US" b="1" dirty="0" smtClean="0"/>
              <a:t>database design</a:t>
            </a:r>
            <a:r>
              <a:rPr lang="en-US" dirty="0" smtClean="0"/>
              <a:t> to organize data efficiently, reduce redundancy, and ensure data integrity. It involves structuring a relational database into tables and columns in a way that makes the data consistent and easy to maintain.</a:t>
            </a:r>
          </a:p>
          <a:p>
            <a:r>
              <a:rPr lang="en-US" dirty="0" smtClean="0"/>
              <a:t>A </a:t>
            </a:r>
            <a:r>
              <a:rPr lang="en-US" b="1" dirty="0" smtClean="0"/>
              <a:t>CSV file</a:t>
            </a:r>
            <a:r>
              <a:rPr lang="en-US" dirty="0" smtClean="0"/>
              <a:t> is a plain text file where:</a:t>
            </a:r>
          </a:p>
          <a:p>
            <a:r>
              <a:rPr lang="en-US" b="1" dirty="0" smtClean="0"/>
              <a:t>Each line = one row</a:t>
            </a:r>
            <a:endParaRPr lang="en-US" dirty="0" smtClean="0"/>
          </a:p>
          <a:p>
            <a:r>
              <a:rPr lang="en-US" b="1" dirty="0" smtClean="0"/>
              <a:t>Values inside the row = separated by commas</a:t>
            </a:r>
            <a:r>
              <a:rPr lang="en-US" dirty="0" smtClean="0"/>
              <a:t> (,)</a:t>
            </a:r>
          </a:p>
          <a:p>
            <a:r>
              <a:rPr lang="en-US" b="1" dirty="0" smtClean="0"/>
              <a:t>QL</a:t>
            </a:r>
            <a:r>
              <a:rPr lang="en-US" dirty="0" smtClean="0"/>
              <a:t> stands for </a:t>
            </a:r>
            <a:r>
              <a:rPr lang="en-US" b="1" dirty="0" smtClean="0"/>
              <a:t>Structured Query Language</a:t>
            </a:r>
            <a:r>
              <a:rPr lang="en-US" dirty="0" smtClean="0"/>
              <a:t>.</a:t>
            </a:r>
            <a:br>
              <a:rPr lang="en-US" dirty="0" smtClean="0"/>
            </a:br>
            <a:r>
              <a:rPr lang="en-US" dirty="0" smtClean="0"/>
              <a:t>It is a standard programming language used to </a:t>
            </a:r>
            <a:r>
              <a:rPr lang="en-US" b="1" dirty="0" smtClean="0"/>
              <a:t>store</a:t>
            </a:r>
            <a:r>
              <a:rPr lang="en-US" dirty="0" smtClean="0"/>
              <a:t>, </a:t>
            </a:r>
            <a:r>
              <a:rPr lang="en-US" b="1" dirty="0" smtClean="0"/>
              <a:t>manage</a:t>
            </a:r>
            <a:r>
              <a:rPr lang="en-US" dirty="0" smtClean="0"/>
              <a:t>, and </a:t>
            </a:r>
            <a:r>
              <a:rPr lang="en-US" b="1" dirty="0" smtClean="0"/>
              <a:t>retrieve</a:t>
            </a:r>
            <a:r>
              <a:rPr lang="en-US" dirty="0" smtClean="0"/>
              <a:t> data in </a:t>
            </a:r>
            <a:r>
              <a:rPr lang="en-US" b="1" dirty="0" smtClean="0"/>
              <a:t>relational databases</a:t>
            </a:r>
            <a:r>
              <a:rPr lang="en-US" dirty="0" smtClean="0"/>
              <a:t>.</a:t>
            </a:r>
          </a:p>
          <a:p>
            <a:r>
              <a:rPr lang="en-US" dirty="0" smtClean="0"/>
              <a:t>JSON stands for </a:t>
            </a:r>
            <a:r>
              <a:rPr lang="en-US" b="1" dirty="0" smtClean="0"/>
              <a:t>JavaScript Object Notation </a:t>
            </a:r>
            <a:r>
              <a:rPr lang="en-US" dirty="0" smtClean="0"/>
              <a:t>is a </a:t>
            </a:r>
            <a:r>
              <a:rPr lang="en-US" b="1" dirty="0" smtClean="0"/>
              <a:t>lightweight data-interchange format</a:t>
            </a:r>
            <a:r>
              <a:rPr lang="en-US" dirty="0" smtClean="0"/>
              <a:t> that is easy for humans to read and write, and easy for machines to parse and generate. Despite the name, JSON is </a:t>
            </a:r>
            <a:r>
              <a:rPr lang="en-US" b="1" dirty="0" smtClean="0"/>
              <a:t>language-independent</a:t>
            </a:r>
            <a:r>
              <a:rPr lang="en-US" dirty="0" smtClean="0"/>
              <a:t> and has become the de facto standard for data transmission between a server and web applications.</a:t>
            </a:r>
            <a:endParaRPr lang="en-US" dirty="0"/>
          </a:p>
        </p:txBody>
      </p:sp>
      <p:sp>
        <p:nvSpPr>
          <p:cNvPr id="4" name="Slide Number Placeholder 3"/>
          <p:cNvSpPr>
            <a:spLocks noGrp="1"/>
          </p:cNvSpPr>
          <p:nvPr>
            <p:ph type="sldNum" sz="quarter" idx="10"/>
          </p:nvPr>
        </p:nvSpPr>
        <p:spPr/>
        <p:txBody>
          <a:bodyPr/>
          <a:lstStyle/>
          <a:p>
            <a:fld id="{03076664-786D-4918-9062-42F32C9ECEFD}" type="slidenum">
              <a:rPr lang="en-US" smtClean="0"/>
              <a:t>7</a:t>
            </a:fld>
            <a:endParaRPr lang="en-US"/>
          </a:p>
        </p:txBody>
      </p:sp>
    </p:spTree>
    <p:extLst>
      <p:ext uri="{BB962C8B-B14F-4D97-AF65-F5344CB8AC3E}">
        <p14:creationId xmlns:p14="http://schemas.microsoft.com/office/powerpoint/2010/main" val="11925989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076664-786D-4918-9062-42F32C9ECEFD}" type="slidenum">
              <a:rPr lang="en-US" smtClean="0"/>
              <a:t>19</a:t>
            </a:fld>
            <a:endParaRPr lang="en-US"/>
          </a:p>
        </p:txBody>
      </p:sp>
    </p:spTree>
    <p:extLst>
      <p:ext uri="{BB962C8B-B14F-4D97-AF65-F5344CB8AC3E}">
        <p14:creationId xmlns:p14="http://schemas.microsoft.com/office/powerpoint/2010/main" val="1505738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Containers virtualize multiple application runtime environments on the same operating system instance, providing isolation and portability. Containerized </a:t>
            </a:r>
            <a:r>
              <a:rPr lang="en-US" sz="1200" b="0" i="0" kern="1200" dirty="0" err="1" smtClean="0">
                <a:solidFill>
                  <a:schemeClr val="tx1"/>
                </a:solidFill>
                <a:effectLst/>
                <a:latin typeface="+mn-lt"/>
                <a:ea typeface="+mn-ea"/>
                <a:cs typeface="+mn-cs"/>
              </a:rPr>
              <a:t>microservices</a:t>
            </a:r>
            <a:r>
              <a:rPr lang="en-US" sz="1200" b="0" i="0" kern="1200" dirty="0" smtClean="0">
                <a:solidFill>
                  <a:schemeClr val="tx1"/>
                </a:solidFill>
                <a:effectLst/>
                <a:latin typeface="+mn-lt"/>
                <a:ea typeface="+mn-ea"/>
                <a:cs typeface="+mn-cs"/>
              </a:rPr>
              <a:t> offer reduced overhead, increased portability, faster application development, and easier adoption of a </a:t>
            </a:r>
            <a:r>
              <a:rPr lang="en-US" sz="1200" b="0" i="0" kern="1200" dirty="0" err="1" smtClean="0">
                <a:solidFill>
                  <a:schemeClr val="tx1"/>
                </a:solidFill>
                <a:effectLst/>
                <a:latin typeface="+mn-lt"/>
                <a:ea typeface="+mn-ea"/>
                <a:cs typeface="+mn-cs"/>
              </a:rPr>
              <a:t>microservices</a:t>
            </a:r>
            <a:r>
              <a:rPr lang="en-US" sz="1200" b="0" i="0" kern="1200" dirty="0" smtClean="0">
                <a:solidFill>
                  <a:schemeClr val="tx1"/>
                </a:solidFill>
                <a:effectLst/>
                <a:latin typeface="+mn-lt"/>
                <a:ea typeface="+mn-ea"/>
                <a:cs typeface="+mn-cs"/>
              </a:rPr>
              <a:t> architecture.</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21</a:t>
            </a:fld>
            <a:endParaRPr lang="en-US"/>
          </a:p>
        </p:txBody>
      </p:sp>
    </p:spTree>
    <p:extLst>
      <p:ext uri="{BB962C8B-B14F-4D97-AF65-F5344CB8AC3E}">
        <p14:creationId xmlns:p14="http://schemas.microsoft.com/office/powerpoint/2010/main" val="1904627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code snippet is </a:t>
            </a:r>
            <a:r>
              <a:rPr lang="en-US" sz="1200" b="1" i="0" kern="1200" dirty="0" smtClean="0">
                <a:solidFill>
                  <a:schemeClr val="tx1"/>
                </a:solidFill>
                <a:effectLst/>
                <a:latin typeface="+mn-lt"/>
                <a:ea typeface="+mn-ea"/>
                <a:cs typeface="+mn-cs"/>
              </a:rPr>
              <a:t>a reusable block of code</a:t>
            </a:r>
            <a:r>
              <a:rPr lang="en-US" sz="1200" b="0" i="0" kern="1200" dirty="0" smtClean="0">
                <a:solidFill>
                  <a:schemeClr val="tx1"/>
                </a:solidFill>
                <a:effectLst/>
                <a:latin typeface="+mn-lt"/>
                <a:ea typeface="+mn-ea"/>
                <a:cs typeface="+mn-cs"/>
              </a:rPr>
              <a:t>. Such blocks of code are saved to keep track of good code that can be reused in the future.</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27</a:t>
            </a:fld>
            <a:endParaRPr lang="en-US"/>
          </a:p>
        </p:txBody>
      </p:sp>
    </p:spTree>
    <p:extLst>
      <p:ext uri="{BB962C8B-B14F-4D97-AF65-F5344CB8AC3E}">
        <p14:creationId xmlns:p14="http://schemas.microsoft.com/office/powerpoint/2010/main" val="513826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Speculative=hypothetically</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30</a:t>
            </a:fld>
            <a:endParaRPr lang="en-US"/>
          </a:p>
        </p:txBody>
      </p:sp>
    </p:spTree>
    <p:extLst>
      <p:ext uri="{BB962C8B-B14F-4D97-AF65-F5344CB8AC3E}">
        <p14:creationId xmlns:p14="http://schemas.microsoft.com/office/powerpoint/2010/main" val="2820681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Poor encapsulation</a:t>
            </a:r>
            <a:r>
              <a:rPr lang="en-US" dirty="0" smtClean="0"/>
              <a:t> is a problem in software design where a class or module exposes too much of its internal data or logic to the outside world. </a:t>
            </a:r>
            <a:endParaRPr lang="en-US" dirty="0"/>
          </a:p>
        </p:txBody>
      </p:sp>
      <p:sp>
        <p:nvSpPr>
          <p:cNvPr id="4" name="Slide Number Placeholder 3"/>
          <p:cNvSpPr>
            <a:spLocks noGrp="1"/>
          </p:cNvSpPr>
          <p:nvPr>
            <p:ph type="sldNum" sz="quarter" idx="10"/>
          </p:nvPr>
        </p:nvSpPr>
        <p:spPr/>
        <p:txBody>
          <a:bodyPr/>
          <a:lstStyle/>
          <a:p>
            <a:fld id="{03076664-786D-4918-9062-42F32C9ECEFD}" type="slidenum">
              <a:rPr lang="en-US" smtClean="0"/>
              <a:t>31</a:t>
            </a:fld>
            <a:endParaRPr lang="en-US"/>
          </a:p>
        </p:txBody>
      </p:sp>
    </p:spTree>
    <p:extLst>
      <p:ext uri="{BB962C8B-B14F-4D97-AF65-F5344CB8AC3E}">
        <p14:creationId xmlns:p14="http://schemas.microsoft.com/office/powerpoint/2010/main" val="2114495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Crammed=crowded</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32</a:t>
            </a:fld>
            <a:endParaRPr lang="en-US"/>
          </a:p>
        </p:txBody>
      </p:sp>
    </p:spTree>
    <p:extLst>
      <p:ext uri="{BB962C8B-B14F-4D97-AF65-F5344CB8AC3E}">
        <p14:creationId xmlns:p14="http://schemas.microsoft.com/office/powerpoint/2010/main" val="32999333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primitive data type</a:t>
            </a:r>
            <a:r>
              <a:rPr lang="en-US" sz="1200" b="0" i="0" kern="1200" dirty="0" smtClean="0">
                <a:solidFill>
                  <a:schemeClr val="tx1"/>
                </a:solidFill>
                <a:effectLst/>
                <a:latin typeface="+mn-lt"/>
                <a:ea typeface="+mn-ea"/>
                <a:cs typeface="+mn-cs"/>
              </a:rPr>
              <a:t> specifies the size and type of variable values, and it has no additional methods. </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34</a:t>
            </a:fld>
            <a:endParaRPr lang="en-US"/>
          </a:p>
        </p:txBody>
      </p:sp>
    </p:spTree>
    <p:extLst>
      <p:ext uri="{BB962C8B-B14F-4D97-AF65-F5344CB8AC3E}">
        <p14:creationId xmlns:p14="http://schemas.microsoft.com/office/powerpoint/2010/main" val="27879979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Superfluous=extra</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36</a:t>
            </a:fld>
            <a:endParaRPr lang="en-US"/>
          </a:p>
        </p:txBody>
      </p:sp>
    </p:spTree>
    <p:extLst>
      <p:ext uri="{BB962C8B-B14F-4D97-AF65-F5344CB8AC3E}">
        <p14:creationId xmlns:p14="http://schemas.microsoft.com/office/powerpoint/2010/main" val="18275965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Cascading=flowing</a:t>
            </a:r>
          </a:p>
          <a:p>
            <a:r>
              <a:rPr lang="en-US" sz="1200" b="0" i="0" kern="1200" dirty="0" smtClean="0">
                <a:solidFill>
                  <a:schemeClr val="tx1"/>
                </a:solidFill>
                <a:effectLst/>
                <a:latin typeface="+mn-lt"/>
                <a:ea typeface="+mn-ea"/>
                <a:cs typeface="+mn-cs"/>
              </a:rPr>
              <a:t>A linter is a developer tool that analyzes source code for errors, vulnerabilities, and stylistic issues to improve code quality.</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39</a:t>
            </a:fld>
            <a:endParaRPr lang="en-US"/>
          </a:p>
        </p:txBody>
      </p:sp>
    </p:spTree>
    <p:extLst>
      <p:ext uri="{BB962C8B-B14F-4D97-AF65-F5344CB8AC3E}">
        <p14:creationId xmlns:p14="http://schemas.microsoft.com/office/powerpoint/2010/main" val="1124355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47</a:t>
            </a:fld>
            <a:endParaRPr lang="en-US"/>
          </a:p>
        </p:txBody>
      </p:sp>
    </p:spTree>
    <p:extLst>
      <p:ext uri="{BB962C8B-B14F-4D97-AF65-F5344CB8AC3E}">
        <p14:creationId xmlns:p14="http://schemas.microsoft.com/office/powerpoint/2010/main" val="1775624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Delegates=agents/representatives</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62</a:t>
            </a:fld>
            <a:endParaRPr lang="en-US"/>
          </a:p>
        </p:txBody>
      </p:sp>
    </p:spTree>
    <p:extLst>
      <p:ext uri="{BB962C8B-B14F-4D97-AF65-F5344CB8AC3E}">
        <p14:creationId xmlns:p14="http://schemas.microsoft.com/office/powerpoint/2010/main" val="36107077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Consolidate=combine</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77</a:t>
            </a:fld>
            <a:endParaRPr lang="en-US"/>
          </a:p>
        </p:txBody>
      </p:sp>
    </p:spTree>
    <p:extLst>
      <p:ext uri="{BB962C8B-B14F-4D97-AF65-F5344CB8AC3E}">
        <p14:creationId xmlns:p14="http://schemas.microsoft.com/office/powerpoint/2010/main" val="18292579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List Data Structure is a unique set of ordered elements where the same value can occur multiple times and its characteristics include flexibility that allows individual access and edits of elements based on the position or index. </a:t>
            </a:r>
          </a:p>
          <a:p>
            <a:r>
              <a:rPr lang="en-US" sz="1200" b="0" i="0" kern="1200" dirty="0" smtClean="0">
                <a:solidFill>
                  <a:schemeClr val="tx1"/>
                </a:solidFill>
                <a:effectLst/>
                <a:latin typeface="+mn-lt"/>
                <a:ea typeface="+mn-ea"/>
                <a:cs typeface="+mn-cs"/>
              </a:rPr>
              <a:t>The Hash table data structure </a:t>
            </a:r>
            <a:r>
              <a:rPr lang="en-US" sz="1200" b="1" i="0" kern="1200" dirty="0" smtClean="0">
                <a:solidFill>
                  <a:schemeClr val="tx1"/>
                </a:solidFill>
                <a:effectLst/>
                <a:latin typeface="+mn-lt"/>
                <a:ea typeface="+mn-ea"/>
                <a:cs typeface="+mn-cs"/>
              </a:rPr>
              <a:t>stores elements in key-value pairs where</a:t>
            </a:r>
            <a:r>
              <a:rPr lang="en-US" sz="1200" b="0" i="0" kern="1200" dirty="0" smtClean="0">
                <a:solidFill>
                  <a:schemeClr val="tx1"/>
                </a:solidFill>
                <a:effectLst/>
                <a:latin typeface="+mn-lt"/>
                <a:ea typeface="+mn-ea"/>
                <a:cs typeface="+mn-cs"/>
              </a:rPr>
              <a:t>. Key- unique integer that is used for indexing the values; Value - data that are stored…..</a:t>
            </a:r>
            <a:endParaRPr lang="en-US" dirty="0"/>
          </a:p>
        </p:txBody>
      </p:sp>
      <p:sp>
        <p:nvSpPr>
          <p:cNvPr id="4" name="Slide Number Placeholder 3"/>
          <p:cNvSpPr>
            <a:spLocks noGrp="1"/>
          </p:cNvSpPr>
          <p:nvPr>
            <p:ph type="sldNum" sz="quarter" idx="10"/>
          </p:nvPr>
        </p:nvSpPr>
        <p:spPr/>
        <p:txBody>
          <a:bodyPr/>
          <a:lstStyle/>
          <a:p>
            <a:fld id="{0BF79429-0C0F-43C9-AA59-6ED18984F469}" type="slidenum">
              <a:rPr lang="en-US" smtClean="0"/>
              <a:t>106</a:t>
            </a:fld>
            <a:endParaRPr lang="en-US"/>
          </a:p>
        </p:txBody>
      </p:sp>
    </p:spTree>
    <p:extLst>
      <p:ext uri="{BB962C8B-B14F-4D97-AF65-F5344CB8AC3E}">
        <p14:creationId xmlns:p14="http://schemas.microsoft.com/office/powerpoint/2010/main" val="1998776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553024F-F8EE-4EB6-9D4F-4A8E2F7DFF7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3095684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53024F-F8EE-4EB6-9D4F-4A8E2F7DFF7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3581195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553024F-F8EE-4EB6-9D4F-4A8E2F7DFF7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3782648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553024F-F8EE-4EB6-9D4F-4A8E2F7DFF72}"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2284800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553024F-F8EE-4EB6-9D4F-4A8E2F7DFF72}"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979050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553024F-F8EE-4EB6-9D4F-4A8E2F7DFF72}"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309045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53024F-F8EE-4EB6-9D4F-4A8E2F7DFF72}"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793672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53024F-F8EE-4EB6-9D4F-4A8E2F7DFF72}"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204517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53024F-F8EE-4EB6-9D4F-4A8E2F7DFF72}"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2422518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53024F-F8EE-4EB6-9D4F-4A8E2F7DFF7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94962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53024F-F8EE-4EB6-9D4F-4A8E2F7DFF72}"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DA2406-5242-4A61-AF97-A78BF6A06E7C}" type="slidenum">
              <a:rPr lang="en-US" smtClean="0"/>
              <a:t>‹#›</a:t>
            </a:fld>
            <a:endParaRPr lang="en-US"/>
          </a:p>
        </p:txBody>
      </p:sp>
    </p:spTree>
    <p:extLst>
      <p:ext uri="{BB962C8B-B14F-4D97-AF65-F5344CB8AC3E}">
        <p14:creationId xmlns:p14="http://schemas.microsoft.com/office/powerpoint/2010/main" val="3093897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53024F-F8EE-4EB6-9D4F-4A8E2F7DFF72}" type="datetimeFigureOut">
              <a:rPr lang="en-US" smtClean="0"/>
              <a:t>12/15/2025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DA2406-5242-4A61-AF97-A78BF6A06E7C}" type="slidenum">
              <a:rPr lang="en-US" smtClean="0"/>
              <a:t>‹#›</a:t>
            </a:fld>
            <a:endParaRPr lang="en-US"/>
          </a:p>
        </p:txBody>
      </p:sp>
    </p:spTree>
    <p:extLst>
      <p:ext uri="{BB962C8B-B14F-4D97-AF65-F5344CB8AC3E}">
        <p14:creationId xmlns:p14="http://schemas.microsoft.com/office/powerpoint/2010/main" val="596974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Re-Engineering process flow</a:t>
            </a:r>
            <a:endParaRPr lang="en-US" dirty="0"/>
          </a:p>
        </p:txBody>
      </p:sp>
      <p:sp>
        <p:nvSpPr>
          <p:cNvPr id="3" name="Subtitle 2"/>
          <p:cNvSpPr>
            <a:spLocks noGrp="1"/>
          </p:cNvSpPr>
          <p:nvPr>
            <p:ph type="subTitle" idx="1"/>
          </p:nvPr>
        </p:nvSpPr>
        <p:spPr/>
        <p:txBody>
          <a:bodyPr>
            <a:normAutofit/>
          </a:bodyPr>
          <a:lstStyle/>
          <a:p>
            <a:r>
              <a:rPr lang="en-US" sz="3200" dirty="0" smtClean="0"/>
              <a:t>3. Software restructuring</a:t>
            </a:r>
            <a:endParaRPr lang="en-US" sz="3200" dirty="0"/>
          </a:p>
        </p:txBody>
      </p:sp>
    </p:spTree>
    <p:extLst>
      <p:ext uri="{BB962C8B-B14F-4D97-AF65-F5344CB8AC3E}">
        <p14:creationId xmlns:p14="http://schemas.microsoft.com/office/powerpoint/2010/main" val="2113391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a:t>
            </a:r>
            <a:r>
              <a:rPr dirty="0" smtClean="0"/>
              <a:t>Restructuring </a:t>
            </a:r>
            <a:r>
              <a:rPr dirty="0"/>
              <a:t>- Definition</a:t>
            </a:r>
          </a:p>
        </p:txBody>
      </p:sp>
      <p:sp>
        <p:nvSpPr>
          <p:cNvPr id="3" name="Content Placeholder 2"/>
          <p:cNvSpPr>
            <a:spLocks noGrp="1"/>
          </p:cNvSpPr>
          <p:nvPr>
            <p:ph idx="1"/>
          </p:nvPr>
        </p:nvSpPr>
        <p:spPr>
          <a:xfrm>
            <a:off x="838200" y="1472184"/>
            <a:ext cx="10515600" cy="4704779"/>
          </a:xfrm>
        </p:spPr>
        <p:txBody>
          <a:bodyPr>
            <a:normAutofit fontScale="85000" lnSpcReduction="20000"/>
          </a:bodyPr>
          <a:lstStyle/>
          <a:p>
            <a:endParaRPr dirty="0"/>
          </a:p>
          <a:p>
            <a:pPr algn="just"/>
            <a:r>
              <a:rPr lang="en-US" b="1" dirty="0"/>
              <a:t>Software restructuring</a:t>
            </a:r>
            <a:r>
              <a:rPr lang="en-US" dirty="0"/>
              <a:t> is the process of transforming an existing software system into a better-structured, more understandable, and maintainable form without altering its external behavior.</a:t>
            </a:r>
          </a:p>
          <a:p>
            <a:r>
              <a:rPr lang="en-US" dirty="0"/>
              <a:t>Its purpose is to:</a:t>
            </a:r>
          </a:p>
          <a:p>
            <a:pPr lvl="1"/>
            <a:r>
              <a:rPr lang="en-US" dirty="0"/>
              <a:t>Reduce complexity</a:t>
            </a:r>
          </a:p>
          <a:p>
            <a:pPr lvl="1"/>
            <a:r>
              <a:rPr lang="en-US" dirty="0"/>
              <a:t>Improve maintainability</a:t>
            </a:r>
          </a:p>
          <a:p>
            <a:pPr lvl="1"/>
            <a:r>
              <a:rPr lang="en-US" dirty="0"/>
              <a:t>Modernize old systems</a:t>
            </a:r>
          </a:p>
          <a:p>
            <a:pPr lvl="1"/>
            <a:r>
              <a:rPr lang="en-US" dirty="0"/>
              <a:t>Prepare a system for re-engineering or migration</a:t>
            </a:r>
          </a:p>
          <a:p>
            <a:pPr lvl="1"/>
            <a:r>
              <a:rPr lang="en-US" dirty="0"/>
              <a:t>Improve performance (sometimes)</a:t>
            </a:r>
          </a:p>
          <a:p>
            <a:pPr lvl="1"/>
            <a:r>
              <a:rPr lang="en-US" dirty="0"/>
              <a:t>Improve reliability and consistency</a:t>
            </a:r>
          </a:p>
          <a:p>
            <a:pPr algn="just"/>
            <a:r>
              <a:rPr lang="en-US" dirty="0" smtClean="0"/>
              <a:t>Because </a:t>
            </a:r>
            <a:r>
              <a:rPr lang="en-US" dirty="0"/>
              <a:t>restructuring deals with broader system transformation, software refactoring is one of its </a:t>
            </a:r>
            <a:r>
              <a:rPr lang="en-US" dirty="0" smtClean="0"/>
              <a:t>sub-activities.</a:t>
            </a:r>
          </a:p>
          <a:p>
            <a:pPr lvl="1"/>
            <a:r>
              <a:rPr lang="en-US" dirty="0" smtClean="0"/>
              <a:t>Refactoring </a:t>
            </a:r>
            <a:r>
              <a:rPr lang="en-US" dirty="0"/>
              <a:t>= code-level </a:t>
            </a:r>
            <a:r>
              <a:rPr lang="en-US" dirty="0" smtClean="0"/>
              <a:t>improvements.</a:t>
            </a:r>
          </a:p>
          <a:p>
            <a:pPr lvl="1"/>
            <a:r>
              <a:rPr lang="en-US" dirty="0" smtClean="0"/>
              <a:t>Restructuring </a:t>
            </a:r>
            <a:r>
              <a:rPr lang="en-US" dirty="0"/>
              <a:t>= code + data + architecture + documentation + UI rearrangement.</a:t>
            </a:r>
          </a:p>
          <a:p>
            <a:endParaRPr dirty="0"/>
          </a:p>
        </p:txBody>
      </p:sp>
    </p:spTree>
    <p:extLst>
      <p:ext uri="{BB962C8B-B14F-4D97-AF65-F5344CB8AC3E}">
        <p14:creationId xmlns:p14="http://schemas.microsoft.com/office/powerpoint/2010/main" val="40669994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Software Restructuring Is Needed</a:t>
            </a:r>
          </a:p>
        </p:txBody>
      </p:sp>
      <p:sp>
        <p:nvSpPr>
          <p:cNvPr id="3" name="Content Placeholder 2"/>
          <p:cNvSpPr>
            <a:spLocks noGrp="1"/>
          </p:cNvSpPr>
          <p:nvPr>
            <p:ph idx="1"/>
          </p:nvPr>
        </p:nvSpPr>
        <p:spPr/>
        <p:txBody>
          <a:bodyPr>
            <a:normAutofit lnSpcReduction="10000"/>
          </a:bodyPr>
          <a:lstStyle/>
          <a:p>
            <a:r>
              <a:rPr lang="en-US" dirty="0"/>
              <a:t>Over time, software systems degrade due to:</a:t>
            </a:r>
          </a:p>
          <a:p>
            <a:pPr lvl="1"/>
            <a:r>
              <a:rPr lang="en-US" dirty="0"/>
              <a:t>Continuous patches and quick fixes</a:t>
            </a:r>
          </a:p>
          <a:p>
            <a:pPr lvl="1"/>
            <a:r>
              <a:rPr lang="en-US" dirty="0"/>
              <a:t>Poor initial architecture</a:t>
            </a:r>
          </a:p>
          <a:p>
            <a:pPr lvl="1"/>
            <a:r>
              <a:rPr lang="en-US" dirty="0"/>
              <a:t>Code duplication and spaghetti code</a:t>
            </a:r>
          </a:p>
          <a:p>
            <a:pPr lvl="1"/>
            <a:r>
              <a:rPr lang="en-US" dirty="0"/>
              <a:t>Outdated technologies</a:t>
            </a:r>
          </a:p>
          <a:p>
            <a:pPr lvl="1"/>
            <a:r>
              <a:rPr lang="en-US" dirty="0"/>
              <a:t>Lack of documentation</a:t>
            </a:r>
          </a:p>
          <a:p>
            <a:pPr lvl="1"/>
            <a:r>
              <a:rPr lang="en-US" dirty="0"/>
              <a:t>High software complexity</a:t>
            </a:r>
          </a:p>
          <a:p>
            <a:pPr lvl="1"/>
            <a:r>
              <a:rPr lang="en-US" dirty="0"/>
              <a:t>Legacy platforms (e.g., COBOL banking systems)</a:t>
            </a:r>
          </a:p>
          <a:p>
            <a:pPr lvl="1"/>
            <a:r>
              <a:rPr lang="en-US" dirty="0"/>
              <a:t>Data inconsistencies</a:t>
            </a:r>
          </a:p>
          <a:p>
            <a:pPr algn="just"/>
            <a:r>
              <a:rPr lang="en-US" dirty="0"/>
              <a:t>As a result, restructuring helps revive the system for long-term sustainability.</a:t>
            </a:r>
          </a:p>
        </p:txBody>
      </p:sp>
    </p:spTree>
    <p:extLst>
      <p:ext uri="{BB962C8B-B14F-4D97-AF65-F5344CB8AC3E}">
        <p14:creationId xmlns:p14="http://schemas.microsoft.com/office/powerpoint/2010/main" val="2298314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dirty="0"/>
              <a:t>Software Restructuring </a:t>
            </a:r>
            <a:r>
              <a:rPr lang="en-US" dirty="0" err="1"/>
              <a:t>vs</a:t>
            </a:r>
            <a:r>
              <a:rPr lang="en-US" dirty="0"/>
              <a:t> Software Refactoring (Short Summary)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974562967"/>
              </p:ext>
            </p:extLst>
          </p:nvPr>
        </p:nvGraphicFramePr>
        <p:xfrm>
          <a:off x="838200" y="1847090"/>
          <a:ext cx="10515600" cy="3525804"/>
        </p:xfrm>
        <a:graphic>
          <a:graphicData uri="http://schemas.openxmlformats.org/drawingml/2006/table">
            <a:tbl>
              <a:tblPr/>
              <a:tblGrid>
                <a:gridCol w="2051304"/>
                <a:gridCol w="4507992"/>
                <a:gridCol w="3956304"/>
              </a:tblGrid>
              <a:tr h="470107">
                <a:tc>
                  <a:txBody>
                    <a:bodyPr/>
                    <a:lstStyle/>
                    <a:p>
                      <a:r>
                        <a:rPr lang="en-US" sz="2400" b="1" dirty="0"/>
                        <a:t>Aspect</a:t>
                      </a:r>
                    </a:p>
                  </a:txBody>
                  <a:tcPr anchor="ctr">
                    <a:lnL>
                      <a:noFill/>
                    </a:lnL>
                    <a:lnR>
                      <a:noFill/>
                    </a:lnR>
                    <a:lnT>
                      <a:noFill/>
                    </a:lnT>
                    <a:lnB>
                      <a:noFill/>
                    </a:lnB>
                  </a:tcPr>
                </a:tc>
                <a:tc>
                  <a:txBody>
                    <a:bodyPr/>
                    <a:lstStyle/>
                    <a:p>
                      <a:r>
                        <a:rPr lang="en-US" sz="2400" b="1" dirty="0"/>
                        <a:t>Restructuring</a:t>
                      </a:r>
                    </a:p>
                  </a:txBody>
                  <a:tcPr anchor="ctr">
                    <a:lnL>
                      <a:noFill/>
                    </a:lnL>
                    <a:lnR>
                      <a:noFill/>
                    </a:lnR>
                    <a:lnT>
                      <a:noFill/>
                    </a:lnT>
                    <a:lnB>
                      <a:noFill/>
                    </a:lnB>
                  </a:tcPr>
                </a:tc>
                <a:tc>
                  <a:txBody>
                    <a:bodyPr/>
                    <a:lstStyle/>
                    <a:p>
                      <a:r>
                        <a:rPr lang="en-US" sz="2400" b="1" dirty="0"/>
                        <a:t>Refactoring</a:t>
                      </a:r>
                    </a:p>
                  </a:txBody>
                  <a:tcPr anchor="ctr">
                    <a:lnL>
                      <a:noFill/>
                    </a:lnL>
                    <a:lnR>
                      <a:noFill/>
                    </a:lnR>
                    <a:lnT>
                      <a:noFill/>
                    </a:lnT>
                    <a:lnB>
                      <a:noFill/>
                    </a:lnB>
                  </a:tcPr>
                </a:tc>
              </a:tr>
              <a:tr h="470107">
                <a:tc>
                  <a:txBody>
                    <a:bodyPr/>
                    <a:lstStyle/>
                    <a:p>
                      <a:r>
                        <a:rPr lang="en-US" sz="2000" dirty="0"/>
                        <a:t>Scope</a:t>
                      </a:r>
                    </a:p>
                  </a:txBody>
                  <a:tcPr anchor="ctr">
                    <a:lnL>
                      <a:noFill/>
                    </a:lnL>
                    <a:lnR>
                      <a:noFill/>
                    </a:lnR>
                    <a:lnT>
                      <a:noFill/>
                    </a:lnT>
                    <a:lnB>
                      <a:noFill/>
                    </a:lnB>
                  </a:tcPr>
                </a:tc>
                <a:tc>
                  <a:txBody>
                    <a:bodyPr/>
                    <a:lstStyle/>
                    <a:p>
                      <a:r>
                        <a:rPr lang="en-US" sz="2000"/>
                        <a:t>Large, system-wide</a:t>
                      </a:r>
                    </a:p>
                  </a:txBody>
                  <a:tcPr anchor="ctr">
                    <a:lnL>
                      <a:noFill/>
                    </a:lnL>
                    <a:lnR>
                      <a:noFill/>
                    </a:lnR>
                    <a:lnT>
                      <a:noFill/>
                    </a:lnT>
                    <a:lnB>
                      <a:noFill/>
                    </a:lnB>
                  </a:tcPr>
                </a:tc>
                <a:tc>
                  <a:txBody>
                    <a:bodyPr/>
                    <a:lstStyle/>
                    <a:p>
                      <a:r>
                        <a:rPr lang="en-US" sz="2000"/>
                        <a:t>Small, code-level</a:t>
                      </a:r>
                    </a:p>
                  </a:txBody>
                  <a:tcPr anchor="ctr">
                    <a:lnL>
                      <a:noFill/>
                    </a:lnL>
                    <a:lnR>
                      <a:noFill/>
                    </a:lnR>
                    <a:lnT>
                      <a:noFill/>
                    </a:lnT>
                    <a:lnB>
                      <a:noFill/>
                    </a:lnB>
                  </a:tcPr>
                </a:tc>
              </a:tr>
              <a:tr h="822688">
                <a:tc>
                  <a:txBody>
                    <a:bodyPr/>
                    <a:lstStyle/>
                    <a:p>
                      <a:r>
                        <a:rPr lang="en-US" sz="2000" dirty="0"/>
                        <a:t>Includes</a:t>
                      </a:r>
                    </a:p>
                  </a:txBody>
                  <a:tcPr anchor="ctr">
                    <a:lnL>
                      <a:noFill/>
                    </a:lnL>
                    <a:lnR>
                      <a:noFill/>
                    </a:lnR>
                    <a:lnT>
                      <a:noFill/>
                    </a:lnT>
                    <a:lnB>
                      <a:noFill/>
                    </a:lnB>
                  </a:tcPr>
                </a:tc>
                <a:tc>
                  <a:txBody>
                    <a:bodyPr/>
                    <a:lstStyle/>
                    <a:p>
                      <a:r>
                        <a:rPr lang="en-US" sz="2000" dirty="0"/>
                        <a:t>Code, data, architecture, documentation</a:t>
                      </a:r>
                    </a:p>
                  </a:txBody>
                  <a:tcPr anchor="ctr">
                    <a:lnL>
                      <a:noFill/>
                    </a:lnL>
                    <a:lnR>
                      <a:noFill/>
                    </a:lnR>
                    <a:lnT>
                      <a:noFill/>
                    </a:lnT>
                    <a:lnB>
                      <a:noFill/>
                    </a:lnB>
                  </a:tcPr>
                </a:tc>
                <a:tc>
                  <a:txBody>
                    <a:bodyPr/>
                    <a:lstStyle/>
                    <a:p>
                      <a:r>
                        <a:rPr lang="en-US" sz="2000"/>
                        <a:t>Only code</a:t>
                      </a:r>
                    </a:p>
                  </a:txBody>
                  <a:tcPr anchor="ctr">
                    <a:lnL>
                      <a:noFill/>
                    </a:lnL>
                    <a:lnR>
                      <a:noFill/>
                    </a:lnR>
                    <a:lnT>
                      <a:noFill/>
                    </a:lnT>
                    <a:lnB>
                      <a:noFill/>
                    </a:lnB>
                  </a:tcPr>
                </a:tc>
              </a:tr>
              <a:tr h="470107">
                <a:tc>
                  <a:txBody>
                    <a:bodyPr/>
                    <a:lstStyle/>
                    <a:p>
                      <a:r>
                        <a:rPr lang="en-US" sz="2000"/>
                        <a:t>Purpose</a:t>
                      </a:r>
                    </a:p>
                  </a:txBody>
                  <a:tcPr anchor="ctr">
                    <a:lnL>
                      <a:noFill/>
                    </a:lnL>
                    <a:lnR>
                      <a:noFill/>
                    </a:lnR>
                    <a:lnT>
                      <a:noFill/>
                    </a:lnT>
                    <a:lnB>
                      <a:noFill/>
                    </a:lnB>
                  </a:tcPr>
                </a:tc>
                <a:tc>
                  <a:txBody>
                    <a:bodyPr/>
                    <a:lstStyle/>
                    <a:p>
                      <a:r>
                        <a:rPr lang="en-US" sz="2000" dirty="0"/>
                        <a:t>Modernization &amp; maintainability</a:t>
                      </a:r>
                    </a:p>
                  </a:txBody>
                  <a:tcPr anchor="ctr">
                    <a:lnL>
                      <a:noFill/>
                    </a:lnL>
                    <a:lnR>
                      <a:noFill/>
                    </a:lnR>
                    <a:lnT>
                      <a:noFill/>
                    </a:lnT>
                    <a:lnB>
                      <a:noFill/>
                    </a:lnB>
                  </a:tcPr>
                </a:tc>
                <a:tc>
                  <a:txBody>
                    <a:bodyPr/>
                    <a:lstStyle/>
                    <a:p>
                      <a:r>
                        <a:rPr lang="en-US" sz="2000"/>
                        <a:t>Code clarity &amp; quality</a:t>
                      </a:r>
                    </a:p>
                  </a:txBody>
                  <a:tcPr anchor="ctr">
                    <a:lnL>
                      <a:noFill/>
                    </a:lnL>
                    <a:lnR>
                      <a:noFill/>
                    </a:lnR>
                    <a:lnT>
                      <a:noFill/>
                    </a:lnT>
                    <a:lnB>
                      <a:noFill/>
                    </a:lnB>
                  </a:tcPr>
                </a:tc>
              </a:tr>
              <a:tr h="470107">
                <a:tc>
                  <a:txBody>
                    <a:bodyPr/>
                    <a:lstStyle/>
                    <a:p>
                      <a:r>
                        <a:rPr lang="en-US" sz="2000"/>
                        <a:t>Behavior change</a:t>
                      </a:r>
                    </a:p>
                  </a:txBody>
                  <a:tcPr anchor="ctr">
                    <a:lnL>
                      <a:noFill/>
                    </a:lnL>
                    <a:lnR>
                      <a:noFill/>
                    </a:lnR>
                    <a:lnT>
                      <a:noFill/>
                    </a:lnT>
                    <a:lnB>
                      <a:noFill/>
                    </a:lnB>
                  </a:tcPr>
                </a:tc>
                <a:tc>
                  <a:txBody>
                    <a:bodyPr/>
                    <a:lstStyle/>
                    <a:p>
                      <a:r>
                        <a:rPr lang="en-US" sz="2000" dirty="0"/>
                        <a:t>None</a:t>
                      </a:r>
                    </a:p>
                  </a:txBody>
                  <a:tcPr anchor="ctr">
                    <a:lnL>
                      <a:noFill/>
                    </a:lnL>
                    <a:lnR>
                      <a:noFill/>
                    </a:lnR>
                    <a:lnT>
                      <a:noFill/>
                    </a:lnT>
                    <a:lnB>
                      <a:noFill/>
                    </a:lnB>
                  </a:tcPr>
                </a:tc>
                <a:tc>
                  <a:txBody>
                    <a:bodyPr/>
                    <a:lstStyle/>
                    <a:p>
                      <a:r>
                        <a:rPr lang="en-US" sz="2000" dirty="0"/>
                        <a:t>None</a:t>
                      </a:r>
                    </a:p>
                  </a:txBody>
                  <a:tcPr anchor="ctr">
                    <a:lnL>
                      <a:noFill/>
                    </a:lnL>
                    <a:lnR>
                      <a:noFill/>
                    </a:lnR>
                    <a:lnT>
                      <a:noFill/>
                    </a:lnT>
                    <a:lnB>
                      <a:noFill/>
                    </a:lnB>
                  </a:tcPr>
                </a:tc>
              </a:tr>
              <a:tr h="822688">
                <a:tc>
                  <a:txBody>
                    <a:bodyPr/>
                    <a:lstStyle/>
                    <a:p>
                      <a:r>
                        <a:rPr lang="en-US" sz="2000"/>
                        <a:t>Example</a:t>
                      </a:r>
                    </a:p>
                  </a:txBody>
                  <a:tcPr anchor="ctr">
                    <a:lnL>
                      <a:noFill/>
                    </a:lnL>
                    <a:lnR>
                      <a:noFill/>
                    </a:lnR>
                    <a:lnT>
                      <a:noFill/>
                    </a:lnT>
                    <a:lnB>
                      <a:noFill/>
                    </a:lnB>
                  </a:tcPr>
                </a:tc>
                <a:tc>
                  <a:txBody>
                    <a:bodyPr/>
                    <a:lstStyle/>
                    <a:p>
                      <a:r>
                        <a:rPr lang="en-US" sz="2000"/>
                        <a:t>Converting monolith → modules, DB restructuring</a:t>
                      </a:r>
                    </a:p>
                  </a:txBody>
                  <a:tcPr anchor="ctr">
                    <a:lnL>
                      <a:noFill/>
                    </a:lnL>
                    <a:lnR>
                      <a:noFill/>
                    </a:lnR>
                    <a:lnT>
                      <a:noFill/>
                    </a:lnT>
                    <a:lnB>
                      <a:noFill/>
                    </a:lnB>
                  </a:tcPr>
                </a:tc>
                <a:tc>
                  <a:txBody>
                    <a:bodyPr/>
                    <a:lstStyle/>
                    <a:p>
                      <a:r>
                        <a:rPr lang="en-US" sz="2000" dirty="0"/>
                        <a:t>Renaming variables, extract method</a:t>
                      </a:r>
                    </a:p>
                  </a:txBody>
                  <a:tcPr anchor="ctr">
                    <a:lnL>
                      <a:noFill/>
                    </a:lnL>
                    <a:lnR>
                      <a:noFill/>
                    </a:lnR>
                    <a:lnT>
                      <a:noFill/>
                    </a:lnT>
                    <a:lnB>
                      <a:noFill/>
                    </a:lnB>
                  </a:tcPr>
                </a:tc>
              </a:tr>
            </a:tbl>
          </a:graphicData>
        </a:graphic>
      </p:graphicFrame>
      <p:sp>
        <p:nvSpPr>
          <p:cNvPr id="5" name="Rectangle 4"/>
          <p:cNvSpPr/>
          <p:nvPr/>
        </p:nvSpPr>
        <p:spPr>
          <a:xfrm>
            <a:off x="914400" y="5510707"/>
            <a:ext cx="9921240" cy="369332"/>
          </a:xfrm>
          <a:prstGeom prst="rect">
            <a:avLst/>
          </a:prstGeom>
        </p:spPr>
        <p:txBody>
          <a:bodyPr wrap="square">
            <a:spAutoFit/>
          </a:bodyPr>
          <a:lstStyle/>
          <a:p>
            <a:r>
              <a:rPr lang="en-US" dirty="0"/>
              <a:t>Refactoring is a subset of code restructuring, while restructuring is a subset of software re-engineering.</a:t>
            </a:r>
          </a:p>
        </p:txBody>
      </p:sp>
    </p:spTree>
    <p:extLst>
      <p:ext uri="{BB962C8B-B14F-4D97-AF65-F5344CB8AC3E}">
        <p14:creationId xmlns:p14="http://schemas.microsoft.com/office/powerpoint/2010/main" val="19629007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Software Restructuring</a:t>
            </a:r>
          </a:p>
        </p:txBody>
      </p:sp>
      <p:sp>
        <p:nvSpPr>
          <p:cNvPr id="3" name="Content Placeholder 2"/>
          <p:cNvSpPr>
            <a:spLocks noGrp="1"/>
          </p:cNvSpPr>
          <p:nvPr>
            <p:ph idx="1"/>
          </p:nvPr>
        </p:nvSpPr>
        <p:spPr/>
        <p:txBody>
          <a:bodyPr>
            <a:normAutofit lnSpcReduction="10000"/>
          </a:bodyPr>
          <a:lstStyle/>
          <a:p>
            <a:pPr marL="0" indent="0">
              <a:buNone/>
            </a:pPr>
            <a:r>
              <a:rPr lang="en-US" dirty="0" smtClean="0"/>
              <a:t>1. Code </a:t>
            </a:r>
            <a:r>
              <a:rPr lang="en-US" dirty="0"/>
              <a:t>Restructuring (includes Refactoring</a:t>
            </a:r>
            <a:r>
              <a:rPr lang="en-US" dirty="0" smtClean="0"/>
              <a:t>)</a:t>
            </a:r>
          </a:p>
          <a:p>
            <a:pPr algn="just"/>
            <a:r>
              <a:rPr lang="en-US" dirty="0"/>
              <a:t>Improving code organization and clarity while keeping functionality unchanged.</a:t>
            </a:r>
          </a:p>
          <a:p>
            <a:endParaRPr lang="en-US" b="1" dirty="0" smtClean="0"/>
          </a:p>
          <a:p>
            <a:r>
              <a:rPr lang="en-US" b="1" dirty="0" smtClean="0"/>
              <a:t>Techniques</a:t>
            </a:r>
            <a:endParaRPr lang="en-US" b="1" dirty="0"/>
          </a:p>
          <a:p>
            <a:pPr lvl="1"/>
            <a:r>
              <a:rPr lang="en-US" dirty="0"/>
              <a:t>Refactoring (Extract method, rename variable, remove duplication)</a:t>
            </a:r>
          </a:p>
          <a:p>
            <a:pPr lvl="1"/>
            <a:r>
              <a:rPr lang="en-US" dirty="0"/>
              <a:t>Eliminating dead code</a:t>
            </a:r>
          </a:p>
          <a:p>
            <a:pPr lvl="1"/>
            <a:r>
              <a:rPr lang="en-US" dirty="0"/>
              <a:t>Improving modularity</a:t>
            </a:r>
          </a:p>
          <a:p>
            <a:pPr lvl="1"/>
            <a:r>
              <a:rPr lang="en-US" dirty="0"/>
              <a:t>Removing code smells</a:t>
            </a:r>
          </a:p>
          <a:p>
            <a:pPr lvl="1"/>
            <a:r>
              <a:rPr lang="en-US" dirty="0"/>
              <a:t>Converting unstructured code into structured code</a:t>
            </a:r>
          </a:p>
          <a:p>
            <a:pPr lvl="1"/>
            <a:r>
              <a:rPr lang="en-US" dirty="0"/>
              <a:t>Splitting long methods/classes into smaller units</a:t>
            </a:r>
          </a:p>
          <a:p>
            <a:pPr marL="457200" lvl="1" indent="0">
              <a:buNone/>
            </a:pPr>
            <a:endParaRPr lang="en-US" dirty="0"/>
          </a:p>
          <a:p>
            <a:endParaRPr lang="en-US" dirty="0"/>
          </a:p>
        </p:txBody>
      </p:sp>
    </p:spTree>
    <p:extLst>
      <p:ext uri="{BB962C8B-B14F-4D97-AF65-F5344CB8AC3E}">
        <p14:creationId xmlns:p14="http://schemas.microsoft.com/office/powerpoint/2010/main" val="210412705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a:xfrm>
            <a:off x="838200" y="1505585"/>
            <a:ext cx="3404616" cy="4351338"/>
          </a:xfrm>
        </p:spPr>
        <p:txBody>
          <a:bodyPr/>
          <a:lstStyle/>
          <a:p>
            <a:pPr marL="0" indent="0">
              <a:buNone/>
            </a:pPr>
            <a:r>
              <a:rPr lang="en-US" dirty="0" smtClean="0"/>
              <a:t>Before</a:t>
            </a:r>
          </a:p>
          <a:p>
            <a:pPr marL="0" indent="0">
              <a:buNone/>
            </a:pPr>
            <a:r>
              <a:rPr lang="en-US" dirty="0" smtClean="0"/>
              <a:t>if(x </a:t>
            </a:r>
            <a:r>
              <a:rPr lang="en-US" dirty="0"/>
              <a:t>&gt; 100){</a:t>
            </a:r>
          </a:p>
          <a:p>
            <a:pPr marL="0" indent="0">
              <a:buNone/>
            </a:pPr>
            <a:r>
              <a:rPr lang="en-US" dirty="0"/>
              <a:t>  flag = true;</a:t>
            </a:r>
          </a:p>
          <a:p>
            <a:pPr marL="0" indent="0">
              <a:buNone/>
            </a:pPr>
            <a:r>
              <a:rPr lang="en-US" dirty="0"/>
              <a:t>}</a:t>
            </a:r>
          </a:p>
          <a:p>
            <a:pPr marL="0" indent="0">
              <a:buNone/>
            </a:pPr>
            <a:r>
              <a:rPr lang="en-US" dirty="0"/>
              <a:t>if(x &lt;= 100){</a:t>
            </a:r>
          </a:p>
          <a:p>
            <a:pPr marL="0" indent="0">
              <a:buNone/>
            </a:pPr>
            <a:r>
              <a:rPr lang="en-US" dirty="0"/>
              <a:t>  flag = false;</a:t>
            </a:r>
          </a:p>
          <a:p>
            <a:pPr marL="0" indent="0">
              <a:buNone/>
            </a:pPr>
            <a:r>
              <a:rPr lang="en-US" dirty="0"/>
              <a:t>}</a:t>
            </a:r>
          </a:p>
        </p:txBody>
      </p:sp>
      <p:sp>
        <p:nvSpPr>
          <p:cNvPr id="4" name="Content Placeholder 2"/>
          <p:cNvSpPr txBox="1">
            <a:spLocks/>
          </p:cNvSpPr>
          <p:nvPr/>
        </p:nvSpPr>
        <p:spPr>
          <a:xfrm>
            <a:off x="6678168" y="630936"/>
            <a:ext cx="3404616" cy="55246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smtClean="0"/>
              <a:t>After</a:t>
            </a:r>
          </a:p>
          <a:p>
            <a:pPr marL="0" indent="0">
              <a:buFont typeface="Arial" panose="020B0604020202020204" pitchFamily="34" charset="0"/>
              <a:buNone/>
            </a:pPr>
            <a:r>
              <a:rPr lang="en-US" dirty="0" smtClean="0"/>
              <a:t>Version 1</a:t>
            </a:r>
          </a:p>
          <a:p>
            <a:pPr marL="0" indent="0">
              <a:buNone/>
            </a:pPr>
            <a:r>
              <a:rPr lang="da-DK" dirty="0"/>
              <a:t>if (x &gt; 100) {</a:t>
            </a:r>
          </a:p>
          <a:p>
            <a:pPr marL="0" indent="0">
              <a:buNone/>
            </a:pPr>
            <a:r>
              <a:rPr lang="da-DK" dirty="0"/>
              <a:t>  flag = true;</a:t>
            </a:r>
          </a:p>
          <a:p>
            <a:pPr marL="0" indent="0">
              <a:buNone/>
            </a:pPr>
            <a:r>
              <a:rPr lang="da-DK" dirty="0"/>
              <a:t>} else {</a:t>
            </a:r>
          </a:p>
          <a:p>
            <a:pPr marL="0" indent="0">
              <a:buNone/>
            </a:pPr>
            <a:r>
              <a:rPr lang="da-DK" dirty="0"/>
              <a:t>  flag = false;</a:t>
            </a:r>
          </a:p>
          <a:p>
            <a:pPr marL="0" indent="0">
              <a:buNone/>
            </a:pPr>
            <a:r>
              <a:rPr lang="da-DK" dirty="0" smtClean="0"/>
              <a:t>}</a:t>
            </a:r>
          </a:p>
          <a:p>
            <a:pPr marL="0" indent="0">
              <a:buNone/>
            </a:pPr>
            <a:endParaRPr lang="da-DK" dirty="0" smtClean="0"/>
          </a:p>
          <a:p>
            <a:pPr marL="0" indent="0">
              <a:buNone/>
            </a:pPr>
            <a:r>
              <a:rPr lang="da-DK" dirty="0" smtClean="0"/>
              <a:t>Version 2</a:t>
            </a:r>
          </a:p>
          <a:p>
            <a:pPr marL="0" indent="0">
              <a:buNone/>
            </a:pPr>
            <a:r>
              <a:rPr lang="da-DK" dirty="0"/>
              <a:t>flag = (x &gt; 100);</a:t>
            </a:r>
          </a:p>
          <a:p>
            <a:pPr marL="0" indent="0">
              <a:buNone/>
            </a:pPr>
            <a:endParaRPr lang="da-DK" dirty="0"/>
          </a:p>
        </p:txBody>
      </p:sp>
      <p:sp>
        <p:nvSpPr>
          <p:cNvPr id="5" name="Rectangle 1"/>
          <p:cNvSpPr>
            <a:spLocks noChangeArrowheads="1"/>
          </p:cNvSpPr>
          <p:nvPr/>
        </p:nvSpPr>
        <p:spPr bwMode="auto">
          <a:xfrm>
            <a:off x="530352" y="5043243"/>
            <a:ext cx="3721608"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Problems: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Two separate </a:t>
            </a:r>
            <a:r>
              <a:rPr kumimoji="0" lang="en-US" sz="1400" b="0" i="0" u="none" strike="noStrike" cap="none" normalizeH="0" baseline="0" dirty="0" smtClean="0">
                <a:ln>
                  <a:noFill/>
                </a:ln>
                <a:solidFill>
                  <a:schemeClr val="tx1"/>
                </a:solidFill>
                <a:effectLst/>
                <a:latin typeface="Arial Unicode MS" panose="020B0604020202020204" pitchFamily="34" charset="-128"/>
              </a:rPr>
              <a:t>if</a:t>
            </a:r>
            <a:r>
              <a:rPr kumimoji="0" lang="en-US" sz="1400" b="0" i="0" u="none" strike="noStrike" cap="none" normalizeH="0" baseline="0" dirty="0" smtClean="0">
                <a:ln>
                  <a:noFill/>
                </a:ln>
                <a:solidFill>
                  <a:schemeClr val="tx1"/>
                </a:solidFill>
                <a:effectLst/>
              </a:rPr>
              <a:t> statements</a:t>
            </a:r>
            <a:endParaRPr kumimoji="0" lang="en-US" sz="1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Redundant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Can lead to errors if modified later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400" b="0" i="0" u="none" strike="noStrike" cap="none" normalizeH="0" baseline="0" dirty="0" smtClean="0">
                <a:ln>
                  <a:noFill/>
                </a:ln>
                <a:solidFill>
                  <a:schemeClr val="tx1"/>
                </a:solidFill>
                <a:effectLst/>
                <a:latin typeface="Arial" panose="020B0604020202020204" pitchFamily="34" charset="0"/>
              </a:rPr>
              <a:t>Not efficient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75293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Data </a:t>
            </a:r>
            <a:r>
              <a:rPr lang="en-US" dirty="0"/>
              <a:t>Restructuring</a:t>
            </a:r>
          </a:p>
        </p:txBody>
      </p:sp>
      <p:sp>
        <p:nvSpPr>
          <p:cNvPr id="3" name="Content Placeholder 2"/>
          <p:cNvSpPr>
            <a:spLocks noGrp="1"/>
          </p:cNvSpPr>
          <p:nvPr>
            <p:ph idx="1"/>
          </p:nvPr>
        </p:nvSpPr>
        <p:spPr>
          <a:xfrm>
            <a:off x="838200" y="1508760"/>
            <a:ext cx="10515600" cy="4668203"/>
          </a:xfrm>
        </p:spPr>
        <p:txBody>
          <a:bodyPr>
            <a:normAutofit fontScale="92500" lnSpcReduction="10000"/>
          </a:bodyPr>
          <a:lstStyle/>
          <a:p>
            <a:pPr algn="just"/>
            <a:r>
              <a:rPr lang="en-US" dirty="0"/>
              <a:t>Reorganizing data storage and structures to enhance integrity and consistency.</a:t>
            </a:r>
          </a:p>
          <a:p>
            <a:r>
              <a:rPr lang="en-US" b="1" dirty="0"/>
              <a:t>Techniques</a:t>
            </a:r>
          </a:p>
          <a:p>
            <a:pPr lvl="1"/>
            <a:r>
              <a:rPr lang="en-US" dirty="0"/>
              <a:t>Database normalization</a:t>
            </a:r>
          </a:p>
          <a:p>
            <a:pPr lvl="1"/>
            <a:r>
              <a:rPr lang="en-US" dirty="0"/>
              <a:t>Data model redesign (ERD)</a:t>
            </a:r>
          </a:p>
          <a:p>
            <a:pPr lvl="1"/>
            <a:r>
              <a:rPr lang="en-US" dirty="0"/>
              <a:t>Migrating from flat files → Relational </a:t>
            </a:r>
            <a:r>
              <a:rPr lang="en-US" dirty="0" smtClean="0"/>
              <a:t>DB</a:t>
            </a:r>
            <a:endParaRPr lang="en-US" dirty="0"/>
          </a:p>
          <a:p>
            <a:pPr lvl="1"/>
            <a:r>
              <a:rPr lang="en-US" dirty="0"/>
              <a:t>Removing redundant fields</a:t>
            </a:r>
          </a:p>
          <a:p>
            <a:pPr lvl="1"/>
            <a:r>
              <a:rPr lang="en-US" dirty="0"/>
              <a:t>Converting data formats (CSV → SQL → JSON etc.)</a:t>
            </a:r>
          </a:p>
          <a:p>
            <a:pPr lvl="1"/>
            <a:r>
              <a:rPr lang="en-US" dirty="0"/>
              <a:t>Updating schemas for modern systems</a:t>
            </a:r>
          </a:p>
          <a:p>
            <a:r>
              <a:rPr lang="en-US" b="1" dirty="0"/>
              <a:t>Examples</a:t>
            </a:r>
          </a:p>
          <a:p>
            <a:pPr lvl="1"/>
            <a:r>
              <a:rPr lang="en-US" dirty="0"/>
              <a:t>COBOL flat files → Oracle/MySQL tables</a:t>
            </a:r>
          </a:p>
          <a:p>
            <a:pPr lvl="1"/>
            <a:r>
              <a:rPr lang="en-US" dirty="0"/>
              <a:t>Legacy field packing → modern structured types</a:t>
            </a:r>
          </a:p>
          <a:p>
            <a:endParaRPr lang="en-US" dirty="0"/>
          </a:p>
        </p:txBody>
      </p:sp>
      <p:sp>
        <p:nvSpPr>
          <p:cNvPr id="4" name="Rectangle 3"/>
          <p:cNvSpPr/>
          <p:nvPr/>
        </p:nvSpPr>
        <p:spPr>
          <a:xfrm>
            <a:off x="7391400" y="2234158"/>
            <a:ext cx="4285488" cy="1477328"/>
          </a:xfrm>
          <a:prstGeom prst="rect">
            <a:avLst/>
          </a:prstGeom>
        </p:spPr>
        <p:txBody>
          <a:bodyPr wrap="square">
            <a:spAutoFit/>
          </a:bodyPr>
          <a:lstStyle/>
          <a:p>
            <a:r>
              <a:rPr lang="en-US" dirty="0" smtClean="0"/>
              <a:t>CSV</a:t>
            </a:r>
          </a:p>
          <a:p>
            <a:r>
              <a:rPr lang="en-US" dirty="0" err="1" smtClean="0"/>
              <a:t>AccountNo,Date,Type,Amount</a:t>
            </a:r>
            <a:endParaRPr lang="en-US" dirty="0"/>
          </a:p>
          <a:p>
            <a:r>
              <a:rPr lang="en-US" dirty="0"/>
              <a:t>1002334556,2025-02-11,Deposit,1200</a:t>
            </a:r>
          </a:p>
          <a:p>
            <a:r>
              <a:rPr lang="en-US" dirty="0"/>
              <a:t>1002334556,2025-02-11,Withdrawal,300</a:t>
            </a:r>
          </a:p>
          <a:p>
            <a:r>
              <a:rPr lang="en-US" dirty="0"/>
              <a:t>1044557889,2025-02-11,Deposit,500</a:t>
            </a:r>
          </a:p>
        </p:txBody>
      </p:sp>
      <p:sp>
        <p:nvSpPr>
          <p:cNvPr id="5" name="Rectangle 4"/>
          <p:cNvSpPr/>
          <p:nvPr/>
        </p:nvSpPr>
        <p:spPr>
          <a:xfrm>
            <a:off x="7391400" y="3931790"/>
            <a:ext cx="4504944" cy="923330"/>
          </a:xfrm>
          <a:prstGeom prst="rect">
            <a:avLst/>
          </a:prstGeom>
        </p:spPr>
        <p:txBody>
          <a:bodyPr wrap="square">
            <a:spAutoFit/>
          </a:bodyPr>
          <a:lstStyle/>
          <a:p>
            <a:r>
              <a:rPr lang="en-US" dirty="0" smtClean="0"/>
              <a:t>SQL</a:t>
            </a:r>
            <a:endParaRPr lang="en-US" dirty="0"/>
          </a:p>
          <a:p>
            <a:r>
              <a:rPr lang="en-US" dirty="0" smtClean="0"/>
              <a:t>INSERT </a:t>
            </a:r>
            <a:r>
              <a:rPr lang="en-US" dirty="0"/>
              <a:t>INTO Accounts (</a:t>
            </a:r>
            <a:r>
              <a:rPr lang="en-US" dirty="0" err="1"/>
              <a:t>AccountNo</a:t>
            </a:r>
            <a:r>
              <a:rPr lang="en-US" dirty="0"/>
              <a:t>, Balance) </a:t>
            </a:r>
          </a:p>
          <a:p>
            <a:r>
              <a:rPr lang="en-US" dirty="0"/>
              <a:t>VALUES (10001, 5000);</a:t>
            </a:r>
          </a:p>
        </p:txBody>
      </p:sp>
      <p:sp>
        <p:nvSpPr>
          <p:cNvPr id="6" name="Rectangle 5"/>
          <p:cNvSpPr/>
          <p:nvPr/>
        </p:nvSpPr>
        <p:spPr>
          <a:xfrm>
            <a:off x="7391400" y="5086786"/>
            <a:ext cx="4614672" cy="1477328"/>
          </a:xfrm>
          <a:prstGeom prst="rect">
            <a:avLst/>
          </a:prstGeom>
        </p:spPr>
        <p:txBody>
          <a:bodyPr wrap="square">
            <a:spAutoFit/>
          </a:bodyPr>
          <a:lstStyle/>
          <a:p>
            <a:r>
              <a:rPr lang="en-US" dirty="0" smtClean="0"/>
              <a:t>JSON</a:t>
            </a:r>
          </a:p>
          <a:p>
            <a:r>
              <a:rPr lang="en-US" dirty="0" smtClean="0"/>
              <a:t>{</a:t>
            </a:r>
            <a:endParaRPr lang="en-US" dirty="0"/>
          </a:p>
          <a:p>
            <a:r>
              <a:rPr lang="en-US" dirty="0"/>
              <a:t>  "</a:t>
            </a:r>
            <a:r>
              <a:rPr lang="en-US" dirty="0" err="1"/>
              <a:t>firstName</a:t>
            </a:r>
            <a:r>
              <a:rPr lang="en-US" dirty="0"/>
              <a:t>": "John",</a:t>
            </a:r>
          </a:p>
          <a:p>
            <a:r>
              <a:rPr lang="en-US" dirty="0"/>
              <a:t>  "age": 30</a:t>
            </a:r>
          </a:p>
          <a:p>
            <a:r>
              <a:rPr lang="en-US" dirty="0"/>
              <a:t>}</a:t>
            </a:r>
          </a:p>
        </p:txBody>
      </p:sp>
    </p:spTree>
    <p:extLst>
      <p:ext uri="{BB962C8B-B14F-4D97-AF65-F5344CB8AC3E}">
        <p14:creationId xmlns:p14="http://schemas.microsoft.com/office/powerpoint/2010/main" val="39835599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Architectural </a:t>
            </a:r>
            <a:r>
              <a:rPr lang="en-US" dirty="0"/>
              <a:t>Restructuring</a:t>
            </a:r>
          </a:p>
        </p:txBody>
      </p:sp>
      <p:sp>
        <p:nvSpPr>
          <p:cNvPr id="3" name="Content Placeholder 2"/>
          <p:cNvSpPr>
            <a:spLocks noGrp="1"/>
          </p:cNvSpPr>
          <p:nvPr>
            <p:ph idx="1"/>
          </p:nvPr>
        </p:nvSpPr>
        <p:spPr/>
        <p:txBody>
          <a:bodyPr>
            <a:normAutofit lnSpcReduction="10000"/>
          </a:bodyPr>
          <a:lstStyle/>
          <a:p>
            <a:pPr algn="just"/>
            <a:r>
              <a:rPr lang="en-US" dirty="0"/>
              <a:t>Transforming the system’s architecture while keeping the same functionality.</a:t>
            </a:r>
          </a:p>
          <a:p>
            <a:r>
              <a:rPr lang="en-US" b="1" dirty="0"/>
              <a:t>Techniques</a:t>
            </a:r>
          </a:p>
          <a:p>
            <a:pPr lvl="1"/>
            <a:r>
              <a:rPr lang="en-US" dirty="0"/>
              <a:t>Monolithic → Layered → Modular → </a:t>
            </a:r>
            <a:r>
              <a:rPr lang="en-US" dirty="0" err="1"/>
              <a:t>Microservices</a:t>
            </a:r>
            <a:endParaRPr lang="en-US" dirty="0"/>
          </a:p>
          <a:p>
            <a:pPr lvl="1"/>
            <a:r>
              <a:rPr lang="en-US" dirty="0"/>
              <a:t>Transforming legacy APIs → </a:t>
            </a:r>
            <a:r>
              <a:rPr lang="en-US" dirty="0" err="1"/>
              <a:t>RESTful</a:t>
            </a:r>
            <a:r>
              <a:rPr lang="en-US" dirty="0"/>
              <a:t> services</a:t>
            </a:r>
          </a:p>
          <a:p>
            <a:pPr lvl="1"/>
            <a:r>
              <a:rPr lang="en-US" dirty="0"/>
              <a:t>Migrating from client-server to cloud architecture</a:t>
            </a:r>
          </a:p>
          <a:p>
            <a:pPr lvl="1"/>
            <a:r>
              <a:rPr lang="en-US" dirty="0"/>
              <a:t>Decoupling tightly coupled modules</a:t>
            </a:r>
          </a:p>
          <a:p>
            <a:pPr lvl="1"/>
            <a:r>
              <a:rPr lang="en-US" dirty="0"/>
              <a:t>Introducing design patterns (MVC, Observer, Facade</a:t>
            </a:r>
            <a:r>
              <a:rPr lang="en-US" dirty="0" smtClean="0"/>
              <a:t>)</a:t>
            </a:r>
          </a:p>
          <a:p>
            <a:r>
              <a:rPr lang="en-US" b="1" dirty="0" smtClean="0"/>
              <a:t>Examples</a:t>
            </a:r>
          </a:p>
          <a:p>
            <a:pPr lvl="1"/>
            <a:r>
              <a:rPr lang="en-US" dirty="0" smtClean="0"/>
              <a:t>Banking system COBOL → service-oriented architecture (SOA)</a:t>
            </a:r>
          </a:p>
          <a:p>
            <a:pPr lvl="1"/>
            <a:r>
              <a:rPr lang="en-US" dirty="0" smtClean="0"/>
              <a:t>Splitting a huge application into domain-based services</a:t>
            </a:r>
          </a:p>
          <a:p>
            <a:endParaRPr lang="en-US" dirty="0"/>
          </a:p>
        </p:txBody>
      </p:sp>
    </p:spTree>
    <p:extLst>
      <p:ext uri="{BB962C8B-B14F-4D97-AF65-F5344CB8AC3E}">
        <p14:creationId xmlns:p14="http://schemas.microsoft.com/office/powerpoint/2010/main" val="12060889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5126"/>
            <a:ext cx="10515600" cy="5811838"/>
          </a:xfrm>
        </p:spPr>
        <p:txBody>
          <a:bodyPr/>
          <a:lstStyle/>
          <a:p>
            <a:pPr marL="0" indent="0">
              <a:buNone/>
            </a:pPr>
            <a:r>
              <a:rPr lang="en-US" b="1" dirty="0"/>
              <a:t>Monolithic → Layered → Modular → </a:t>
            </a:r>
            <a:r>
              <a:rPr lang="en-US" b="1" dirty="0" err="1"/>
              <a:t>Microservices</a:t>
            </a:r>
            <a:endParaRPr lang="en-US" b="1" dirty="0" smtClean="0"/>
          </a:p>
          <a:p>
            <a:r>
              <a:rPr lang="en-US" dirty="0" smtClean="0"/>
              <a:t>Imagine </a:t>
            </a:r>
            <a:r>
              <a:rPr lang="en-US" dirty="0"/>
              <a:t>a small, successful e-commerce business that built its entire application as a Monolith</a:t>
            </a:r>
            <a:r>
              <a:rPr lang="en-US" dirty="0" smtClean="0"/>
              <a:t>.</a:t>
            </a:r>
          </a:p>
          <a:p>
            <a:pPr marL="0" indent="0">
              <a:buNone/>
            </a:pPr>
            <a:r>
              <a:rPr lang="en-US" b="1" dirty="0" smtClean="0"/>
              <a:t>Phase </a:t>
            </a:r>
            <a:r>
              <a:rPr lang="en-US" b="1" dirty="0"/>
              <a:t>1: The Initial Monolith </a:t>
            </a:r>
          </a:p>
          <a:p>
            <a:r>
              <a:rPr lang="en-US" dirty="0"/>
              <a:t>The application is a single, large code base where all business functions are tightly coupled and share a single database.</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145520876"/>
              </p:ext>
            </p:extLst>
          </p:nvPr>
        </p:nvGraphicFramePr>
        <p:xfrm>
          <a:off x="838200" y="3495326"/>
          <a:ext cx="10515600" cy="2804160"/>
        </p:xfrm>
        <a:graphic>
          <a:graphicData uri="http://schemas.openxmlformats.org/drawingml/2006/table">
            <a:tbl>
              <a:tblPr/>
              <a:tblGrid>
                <a:gridCol w="2919984"/>
                <a:gridCol w="7595616"/>
              </a:tblGrid>
              <a:tr h="0">
                <a:tc>
                  <a:txBody>
                    <a:bodyPr/>
                    <a:lstStyle/>
                    <a:p>
                      <a:pPr rtl="0"/>
                      <a:r>
                        <a:rPr lang="en-US" b="1" dirty="0">
                          <a:solidFill>
                            <a:srgbClr val="1B1C1D"/>
                          </a:solidFill>
                          <a:effectLst/>
                          <a:latin typeface="Google Sans Text"/>
                        </a:rPr>
                        <a:t>Component</a:t>
                      </a:r>
                      <a:endParaRPr lang="en-US" dirty="0">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b="1" dirty="0">
                          <a:solidFill>
                            <a:srgbClr val="1B1C1D"/>
                          </a:solidFill>
                          <a:effectLst/>
                          <a:latin typeface="Google Sans Text"/>
                        </a:rPr>
                        <a:t>Function</a:t>
                      </a:r>
                      <a:endParaRPr lang="en-US" dirty="0">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r h="0">
                <a:tc>
                  <a:txBody>
                    <a:bodyPr/>
                    <a:lstStyle/>
                    <a:p>
                      <a:pPr rtl="0"/>
                      <a:r>
                        <a:rPr lang="en-US" b="1" dirty="0">
                          <a:solidFill>
                            <a:srgbClr val="1B1C1D"/>
                          </a:solidFill>
                          <a:effectLst/>
                          <a:latin typeface="Google Sans Text"/>
                        </a:rPr>
                        <a:t>Presentation Layer</a:t>
                      </a:r>
                      <a:endParaRPr lang="en-US" dirty="0">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The website/UI for customers.</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r h="0">
                <a:tc>
                  <a:txBody>
                    <a:bodyPr/>
                    <a:lstStyle/>
                    <a:p>
                      <a:pPr rtl="0"/>
                      <a:r>
                        <a:rPr lang="en-US" b="1" dirty="0">
                          <a:solidFill>
                            <a:srgbClr val="1B1C1D"/>
                          </a:solidFill>
                          <a:effectLst/>
                          <a:latin typeface="Google Sans Text"/>
                        </a:rPr>
                        <a:t>Business Logic</a:t>
                      </a:r>
                      <a:endParaRPr lang="en-US" dirty="0">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Everything: Product Catalog, Order Processing, User Accounts, Payment Gateway integration, Inventory Management.</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r h="0">
                <a:tc>
                  <a:txBody>
                    <a:bodyPr/>
                    <a:lstStyle/>
                    <a:p>
                      <a:pPr rtl="0"/>
                      <a:r>
                        <a:rPr lang="en-US" b="1">
                          <a:solidFill>
                            <a:srgbClr val="1B1C1D"/>
                          </a:solidFill>
                          <a:effectLst/>
                          <a:latin typeface="Google Sans Text"/>
                        </a:rPr>
                        <a:t>Data Access</a:t>
                      </a:r>
                      <a:endParaRPr lang="en-US">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All components directly access a single, shared database (e.g., one large PostgreSQL instance).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r h="0">
                <a:tc>
                  <a:txBody>
                    <a:bodyPr/>
                    <a:lstStyle/>
                    <a:p>
                      <a:pPr rtl="0"/>
                      <a:r>
                        <a:rPr lang="en-US" b="1">
                          <a:solidFill>
                            <a:srgbClr val="1B1C1D"/>
                          </a:solidFill>
                          <a:effectLst/>
                          <a:latin typeface="Google Sans Text"/>
                        </a:rPr>
                        <a:t>Deployment</a:t>
                      </a:r>
                      <a:endParaRPr lang="en-US">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dirty="0">
                          <a:solidFill>
                            <a:srgbClr val="1B1C1D"/>
                          </a:solidFill>
                          <a:effectLst/>
                          <a:latin typeface="Google Sans Text"/>
                        </a:rPr>
                        <a:t>The entire application must be compiled and deployed as a single unit (e.g., one large Java WAR file or a single deployment package).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7504574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4723"/>
          </a:xfrm>
        </p:spPr>
        <p:txBody>
          <a:bodyPr>
            <a:normAutofit/>
          </a:bodyPr>
          <a:lstStyle/>
          <a:p>
            <a:r>
              <a:rPr lang="en-US" sz="2400" b="1" dirty="0"/>
              <a:t>Phase 2: Architectural Restructuring (Migration to </a:t>
            </a:r>
            <a:r>
              <a:rPr lang="en-US" sz="2400" b="1" dirty="0" err="1"/>
              <a:t>Microservices</a:t>
            </a:r>
            <a:r>
              <a:rPr lang="en-US" sz="2400" b="1" dirty="0"/>
              <a:t>) </a:t>
            </a:r>
          </a:p>
        </p:txBody>
      </p:sp>
      <p:sp>
        <p:nvSpPr>
          <p:cNvPr id="3" name="Content Placeholder 2"/>
          <p:cNvSpPr>
            <a:spLocks noGrp="1"/>
          </p:cNvSpPr>
          <p:nvPr>
            <p:ph idx="1"/>
          </p:nvPr>
        </p:nvSpPr>
        <p:spPr>
          <a:xfrm>
            <a:off x="838200" y="1243584"/>
            <a:ext cx="10515600" cy="4933379"/>
          </a:xfrm>
        </p:spPr>
        <p:txBody>
          <a:bodyPr>
            <a:normAutofit/>
          </a:bodyPr>
          <a:lstStyle/>
          <a:p>
            <a:r>
              <a:rPr lang="en-US" sz="2000" dirty="0"/>
              <a:t>The company decides to restructure the architecture using the </a:t>
            </a:r>
            <a:r>
              <a:rPr lang="en-US" sz="2000" b="1" dirty="0"/>
              <a:t>Strangler Fig Pattern</a:t>
            </a:r>
            <a:r>
              <a:rPr lang="en-US" sz="2000" dirty="0"/>
              <a:t>, where new services are built to replace parts of the monolith one by one.</a:t>
            </a:r>
          </a:p>
          <a:p>
            <a:r>
              <a:rPr lang="en-US" sz="2000" dirty="0"/>
              <a:t>The single Monolith is decomposed into independent </a:t>
            </a:r>
            <a:r>
              <a:rPr lang="en-US" sz="2000" dirty="0" err="1"/>
              <a:t>microservices</a:t>
            </a:r>
            <a:r>
              <a:rPr lang="en-US" sz="2000" dirty="0"/>
              <a:t>, each owning its business capability and its own data store.</a:t>
            </a:r>
          </a:p>
        </p:txBody>
      </p:sp>
      <p:graphicFrame>
        <p:nvGraphicFramePr>
          <p:cNvPr id="4" name="Table 3"/>
          <p:cNvGraphicFramePr>
            <a:graphicFrameLocks noGrp="1"/>
          </p:cNvGraphicFramePr>
          <p:nvPr>
            <p:extLst>
              <p:ext uri="{D42A27DB-BD31-4B8C-83A1-F6EECF244321}">
                <p14:modId xmlns:p14="http://schemas.microsoft.com/office/powerpoint/2010/main" val="1009112323"/>
              </p:ext>
            </p:extLst>
          </p:nvPr>
        </p:nvGraphicFramePr>
        <p:xfrm>
          <a:off x="838200" y="2608358"/>
          <a:ext cx="10515600" cy="3901440"/>
        </p:xfrm>
        <a:graphic>
          <a:graphicData uri="http://schemas.openxmlformats.org/drawingml/2006/table">
            <a:tbl>
              <a:tblPr/>
              <a:tblGrid>
                <a:gridCol w="2628900"/>
                <a:gridCol w="2628900"/>
                <a:gridCol w="2628900"/>
                <a:gridCol w="2628900"/>
              </a:tblGrid>
              <a:tr h="0">
                <a:tc>
                  <a:txBody>
                    <a:bodyPr/>
                    <a:lstStyle/>
                    <a:p>
                      <a:pPr rtl="0"/>
                      <a:r>
                        <a:rPr lang="en-US" b="1" dirty="0">
                          <a:solidFill>
                            <a:srgbClr val="1B1C1D"/>
                          </a:solidFill>
                          <a:effectLst/>
                          <a:latin typeface="Google Sans Text"/>
                        </a:rPr>
                        <a:t>New </a:t>
                      </a:r>
                      <a:r>
                        <a:rPr lang="en-US" b="1" dirty="0" err="1">
                          <a:solidFill>
                            <a:srgbClr val="1B1C1D"/>
                          </a:solidFill>
                          <a:effectLst/>
                          <a:latin typeface="Google Sans Text"/>
                        </a:rPr>
                        <a:t>Microservice</a:t>
                      </a:r>
                      <a:endParaRPr lang="en-US" dirty="0">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Business Capability</a:t>
                      </a:r>
                      <a:endParaRPr lang="en-US">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Independent Technology Stack</a:t>
                      </a:r>
                      <a:endParaRPr lang="en-US">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b="1">
                          <a:solidFill>
                            <a:srgbClr val="1B1C1D"/>
                          </a:solidFill>
                          <a:effectLst/>
                          <a:latin typeface="Google Sans Text"/>
                        </a:rPr>
                        <a:t>Data Store</a:t>
                      </a:r>
                      <a:endParaRPr lang="en-US">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r h="0">
                <a:tc>
                  <a:txBody>
                    <a:bodyPr/>
                    <a:lstStyle/>
                    <a:p>
                      <a:pPr rtl="0"/>
                      <a:r>
                        <a:rPr lang="en-US" b="1" dirty="0">
                          <a:solidFill>
                            <a:srgbClr val="1B1C1D"/>
                          </a:solidFill>
                          <a:effectLst/>
                          <a:latin typeface="Google Sans Text"/>
                        </a:rPr>
                        <a:t>User Service</a:t>
                      </a:r>
                      <a:endParaRPr lang="en-US" dirty="0">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Manages user sign-up, login, and profiles.</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Java/Spring Boot</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SQL Database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r h="0">
                <a:tc>
                  <a:txBody>
                    <a:bodyPr/>
                    <a:lstStyle/>
                    <a:p>
                      <a:pPr rtl="0"/>
                      <a:r>
                        <a:rPr lang="en-US" b="1">
                          <a:solidFill>
                            <a:srgbClr val="1B1C1D"/>
                          </a:solidFill>
                          <a:effectLst/>
                          <a:latin typeface="Google Sans Text"/>
                        </a:rPr>
                        <a:t>Product Catalog Service</a:t>
                      </a:r>
                      <a:endParaRPr lang="en-US">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Manages product information and search.</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Python/Django</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NoSQL (for fast read/write)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r h="0">
                <a:tc>
                  <a:txBody>
                    <a:bodyPr/>
                    <a:lstStyle/>
                    <a:p>
                      <a:pPr rtl="0"/>
                      <a:r>
                        <a:rPr lang="en-US" b="1">
                          <a:solidFill>
                            <a:srgbClr val="1B1C1D"/>
                          </a:solidFill>
                          <a:effectLst/>
                          <a:latin typeface="Google Sans Text"/>
                        </a:rPr>
                        <a:t>Order Service</a:t>
                      </a:r>
                      <a:endParaRPr lang="en-US">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Handles placing, tracking, and canceling orders.</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C#/.NET</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SQL Database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r h="0">
                <a:tc>
                  <a:txBody>
                    <a:bodyPr/>
                    <a:lstStyle/>
                    <a:p>
                      <a:pPr rtl="0"/>
                      <a:r>
                        <a:rPr lang="en-US" b="1">
                          <a:solidFill>
                            <a:srgbClr val="1B1C1D"/>
                          </a:solidFill>
                          <a:effectLst/>
                          <a:latin typeface="Google Sans Text"/>
                        </a:rPr>
                        <a:t>Payment Service</a:t>
                      </a:r>
                      <a:endParaRPr lang="en-US">
                        <a:solidFill>
                          <a:srgbClr val="1B1C1D"/>
                        </a:solidFill>
                        <a:effectLst/>
                        <a:latin typeface="Google Sans Text"/>
                      </a:endParaRP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Integrates with third-party payment gateways.</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a:solidFill>
                            <a:srgbClr val="1B1C1D"/>
                          </a:solidFill>
                          <a:effectLst/>
                          <a:latin typeface="Google Sans Text"/>
                        </a:rPr>
                        <a:t>Go</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c>
                  <a:txBody>
                    <a:bodyPr/>
                    <a:lstStyle/>
                    <a:p>
                      <a:pPr rtl="0"/>
                      <a:r>
                        <a:rPr lang="en-US" dirty="0">
                          <a:solidFill>
                            <a:srgbClr val="1B1C1D"/>
                          </a:solidFill>
                          <a:effectLst/>
                          <a:latin typeface="Google Sans Text"/>
                        </a:rPr>
                        <a:t>In-memory cache</a:t>
                      </a:r>
                    </a:p>
                  </a:txBody>
                  <a:tcPr marT="60960" marB="60960"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553597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How the Restructuring Works (The Strangler Pattern):</a:t>
            </a:r>
          </a:p>
        </p:txBody>
      </p:sp>
      <p:sp>
        <p:nvSpPr>
          <p:cNvPr id="4" name="Rectangle 1"/>
          <p:cNvSpPr>
            <a:spLocks noGrp="1" noChangeArrowheads="1"/>
          </p:cNvSpPr>
          <p:nvPr>
            <p:ph idx="1"/>
          </p:nvPr>
        </p:nvSpPr>
        <p:spPr bwMode="auto">
          <a:xfrm>
            <a:off x="838200" y="1540648"/>
            <a:ext cx="962555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1" i="0" u="none" strike="noStrike" cap="none" normalizeH="0" baseline="0" dirty="0" smtClean="0">
                <a:ln>
                  <a:noFill/>
                </a:ln>
                <a:solidFill>
                  <a:schemeClr val="tx1"/>
                </a:solidFill>
                <a:effectLst/>
                <a:latin typeface="Arial" panose="020B0604020202020204" pitchFamily="34" charset="0"/>
              </a:rPr>
              <a:t>Introduce an API Gateway:</a:t>
            </a:r>
            <a:r>
              <a:rPr kumimoji="0" lang="en-US" sz="1800" b="0" i="0" u="none" strike="noStrike" cap="none" normalizeH="0" baseline="0" dirty="0" smtClean="0">
                <a:ln>
                  <a:noFill/>
                </a:ln>
                <a:solidFill>
                  <a:schemeClr val="tx1"/>
                </a:solidFill>
                <a:effectLst/>
                <a:latin typeface="Arial" panose="020B0604020202020204" pitchFamily="34" charset="0"/>
              </a:rPr>
              <a:t> A new service is placed in front of the Monolith to route incoming requests.</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800" b="1" i="0" u="none" strike="noStrike" cap="none" normalizeH="0" baseline="0" dirty="0" smtClean="0">
                <a:ln>
                  <a:noFill/>
                </a:ln>
                <a:solidFill>
                  <a:schemeClr val="tx1"/>
                </a:solidFill>
                <a:effectLst/>
                <a:latin typeface="Arial" panose="020B0604020202020204" pitchFamily="34" charset="0"/>
              </a:rPr>
              <a:t>Extract the first service (e.g., User Service):</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The </a:t>
            </a:r>
            <a:r>
              <a:rPr kumimoji="0" lang="en-US" sz="1800" b="1" i="0" u="none" strike="noStrike" cap="none" normalizeH="0" baseline="0" dirty="0" smtClean="0">
                <a:ln>
                  <a:noFill/>
                </a:ln>
                <a:solidFill>
                  <a:schemeClr val="tx1"/>
                </a:solidFill>
                <a:effectLst/>
                <a:latin typeface="Arial" panose="020B0604020202020204" pitchFamily="34" charset="0"/>
              </a:rPr>
              <a:t>User Service</a:t>
            </a:r>
            <a:r>
              <a:rPr kumimoji="0" lang="en-US" sz="1800" b="0" i="0" u="none" strike="noStrike" cap="none" normalizeH="0" baseline="0" dirty="0" smtClean="0">
                <a:ln>
                  <a:noFill/>
                </a:ln>
                <a:solidFill>
                  <a:schemeClr val="tx1"/>
                </a:solidFill>
                <a:effectLst/>
                <a:latin typeface="Arial" panose="020B0604020202020204" pitchFamily="34" charset="0"/>
              </a:rPr>
              <a:t> is built as a separate </a:t>
            </a:r>
            <a:r>
              <a:rPr kumimoji="0" lang="en-US" sz="1800" b="0" i="0" u="none" strike="noStrike" cap="none" normalizeH="0" baseline="0" dirty="0" err="1" smtClean="0">
                <a:ln>
                  <a:noFill/>
                </a:ln>
                <a:solidFill>
                  <a:schemeClr val="tx1"/>
                </a:solidFill>
                <a:effectLst/>
                <a:latin typeface="Arial" panose="020B0604020202020204" pitchFamily="34" charset="0"/>
              </a:rPr>
              <a:t>microservice</a:t>
            </a:r>
            <a:r>
              <a:rPr kumimoji="0" lang="en-US" sz="1800" b="0" i="0" u="none" strike="noStrike" cap="none" normalizeH="0" baseline="0" dirty="0" smtClean="0">
                <a:ln>
                  <a:noFill/>
                </a:ln>
                <a:solidFill>
                  <a:schemeClr val="tx1"/>
                </a:solidFill>
                <a:effectLst/>
                <a:latin typeface="Arial" panose="020B0604020202020204" pitchFamily="34" charset="0"/>
              </a:rPr>
              <a:t> with its own database.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The </a:t>
            </a:r>
            <a:r>
              <a:rPr kumimoji="0" lang="en-US" sz="1800" b="1" i="0" u="none" strike="noStrike" cap="none" normalizeH="0" baseline="0" dirty="0" smtClean="0">
                <a:ln>
                  <a:noFill/>
                </a:ln>
                <a:solidFill>
                  <a:schemeClr val="tx1"/>
                </a:solidFill>
                <a:effectLst/>
                <a:latin typeface="Arial" panose="020B0604020202020204" pitchFamily="34" charset="0"/>
              </a:rPr>
              <a:t>API Gateway</a:t>
            </a:r>
            <a:r>
              <a:rPr kumimoji="0" lang="en-US" sz="1800" b="0" i="0" u="none" strike="noStrike" cap="none" normalizeH="0" baseline="0" dirty="0" smtClean="0">
                <a:ln>
                  <a:noFill/>
                </a:ln>
                <a:solidFill>
                  <a:schemeClr val="tx1"/>
                </a:solidFill>
                <a:effectLst/>
                <a:latin typeface="Arial" panose="020B0604020202020204" pitchFamily="34" charset="0"/>
              </a:rPr>
              <a:t> is configured to redirect all user-related requests (e.g., </a:t>
            </a:r>
            <a:r>
              <a:rPr kumimoji="0" lang="en-US" sz="1600" b="0" i="0" u="none" strike="noStrike" cap="none" normalizeH="0" baseline="0" dirty="0" smtClean="0">
                <a:ln>
                  <a:noFill/>
                </a:ln>
                <a:solidFill>
                  <a:schemeClr val="tx1"/>
                </a:solidFill>
                <a:effectLst/>
                <a:latin typeface="Arial Unicode MS" panose="020B0604020202020204" pitchFamily="34" charset="-128"/>
              </a:rPr>
              <a:t>/</a:t>
            </a:r>
            <a:r>
              <a:rPr kumimoji="0" lang="en-US" sz="1600" b="0" i="0" u="none" strike="noStrike" cap="none" normalizeH="0" baseline="0" dirty="0" err="1" smtClean="0">
                <a:ln>
                  <a:noFill/>
                </a:ln>
                <a:solidFill>
                  <a:schemeClr val="tx1"/>
                </a:solidFill>
                <a:effectLst/>
                <a:latin typeface="Arial Unicode MS" panose="020B0604020202020204" pitchFamily="34" charset="-128"/>
              </a:rPr>
              <a:t>api</a:t>
            </a:r>
            <a:r>
              <a:rPr kumimoji="0" lang="en-US" sz="1600" b="0" i="0" u="none" strike="noStrike" cap="none" normalizeH="0" baseline="0" dirty="0" smtClean="0">
                <a:ln>
                  <a:noFill/>
                </a:ln>
                <a:solidFill>
                  <a:schemeClr val="tx1"/>
                </a:solidFill>
                <a:effectLst/>
                <a:latin typeface="Arial Unicode MS" panose="020B0604020202020204" pitchFamily="34" charset="-128"/>
              </a:rPr>
              <a:t>/users/*</a:t>
            </a:r>
            <a:r>
              <a:rPr kumimoji="0" lang="en-US" sz="1600" b="0" i="0" u="none" strike="noStrike" cap="none" normalizeH="0" baseline="0" dirty="0" smtClean="0">
                <a:ln>
                  <a:noFill/>
                </a:ln>
                <a:solidFill>
                  <a:schemeClr val="tx1"/>
                </a:solidFill>
                <a:effectLst/>
              </a:rPr>
              <a:t>) </a:t>
            </a:r>
            <a:r>
              <a:rPr kumimoji="0" lang="en-US" sz="1800" b="0" i="0" u="none" strike="noStrike" cap="none" normalizeH="0" baseline="0" dirty="0" smtClean="0">
                <a:ln>
                  <a:noFill/>
                </a:ln>
                <a:solidFill>
                  <a:schemeClr val="tx1"/>
                </a:solidFill>
                <a:effectLst/>
              </a:rPr>
              <a:t>from the Monolith to the new User Service.</a:t>
            </a:r>
            <a:endParaRPr kumimoji="0" lang="en-US" sz="1800" b="0" i="0" u="none" strike="noStrike" cap="none" normalizeH="0" baseline="0" dirty="0" smtClean="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panose="020B0604020202020204" pitchFamily="34" charset="0"/>
              </a:rPr>
              <a:t>The old User module is removed from the Monolith.</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800" b="1" i="0" u="none" strike="noStrike" cap="none" normalizeH="0" baseline="0" dirty="0" smtClean="0">
                <a:ln>
                  <a:noFill/>
                </a:ln>
                <a:solidFill>
                  <a:schemeClr val="tx1"/>
                </a:solidFill>
                <a:effectLst/>
                <a:latin typeface="Arial" panose="020B0604020202020204" pitchFamily="34" charset="0"/>
              </a:rPr>
              <a:t>Repeat:</a:t>
            </a:r>
            <a:r>
              <a:rPr kumimoji="0" lang="en-US" sz="1800" b="0" i="0" u="none" strike="noStrike" cap="none" normalizeH="0" baseline="0" dirty="0" smtClean="0">
                <a:ln>
                  <a:noFill/>
                </a:ln>
                <a:solidFill>
                  <a:schemeClr val="tx1"/>
                </a:solidFill>
                <a:effectLst/>
                <a:latin typeface="Arial" panose="020B0604020202020204" pitchFamily="34" charset="0"/>
              </a:rPr>
              <a:t> The company repeats the process for the Product Catalog, Order, and Payment components until the Monolith is "strangled" and all its functionality has been replaced by smaller, decoupled services.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The final architecture is a </a:t>
            </a:r>
            <a:r>
              <a:rPr kumimoji="0" lang="en-US" sz="1800" b="1" i="0" u="none" strike="noStrike" cap="none" normalizeH="0" baseline="0" dirty="0" err="1" smtClean="0">
                <a:ln>
                  <a:noFill/>
                </a:ln>
                <a:solidFill>
                  <a:schemeClr val="tx1"/>
                </a:solidFill>
                <a:effectLst/>
                <a:latin typeface="Arial" panose="020B0604020202020204" pitchFamily="34" charset="0"/>
              </a:rPr>
              <a:t>Microservices</a:t>
            </a:r>
            <a:r>
              <a:rPr kumimoji="0" lang="en-US" sz="1800" b="1" i="0" u="none" strike="noStrike" cap="none" normalizeH="0" baseline="0" dirty="0" smtClean="0">
                <a:ln>
                  <a:noFill/>
                </a:ln>
                <a:solidFill>
                  <a:schemeClr val="tx1"/>
                </a:solidFill>
                <a:effectLst/>
                <a:latin typeface="Arial" panose="020B0604020202020204" pitchFamily="34" charset="0"/>
              </a:rPr>
              <a:t> Architecture</a:t>
            </a:r>
            <a:r>
              <a:rPr kumimoji="0" lang="en-US" sz="18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2963496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Interface </a:t>
            </a:r>
            <a:r>
              <a:rPr lang="en-US" dirty="0"/>
              <a:t>Restructuring</a:t>
            </a:r>
          </a:p>
        </p:txBody>
      </p:sp>
      <p:sp>
        <p:nvSpPr>
          <p:cNvPr id="3" name="Content Placeholder 2"/>
          <p:cNvSpPr>
            <a:spLocks noGrp="1"/>
          </p:cNvSpPr>
          <p:nvPr>
            <p:ph idx="1"/>
          </p:nvPr>
        </p:nvSpPr>
        <p:spPr/>
        <p:txBody>
          <a:bodyPr>
            <a:normAutofit/>
          </a:bodyPr>
          <a:lstStyle/>
          <a:p>
            <a:pPr algn="just"/>
            <a:r>
              <a:rPr lang="en-US" dirty="0"/>
              <a:t>Updating and reorganizing user interfaces while keeping the workflow same.</a:t>
            </a:r>
          </a:p>
          <a:p>
            <a:r>
              <a:rPr lang="en-US" b="1" dirty="0"/>
              <a:t>Techniques</a:t>
            </a:r>
          </a:p>
          <a:p>
            <a:pPr lvl="1"/>
            <a:r>
              <a:rPr lang="en-US" dirty="0"/>
              <a:t>Improving layout, UI grouping</a:t>
            </a:r>
          </a:p>
          <a:p>
            <a:pPr lvl="1"/>
            <a:r>
              <a:rPr lang="en-US" dirty="0"/>
              <a:t>Updating navigation styles</a:t>
            </a:r>
          </a:p>
          <a:p>
            <a:pPr lvl="1"/>
            <a:r>
              <a:rPr lang="en-US" dirty="0"/>
              <a:t>Improving accessibility</a:t>
            </a:r>
          </a:p>
          <a:p>
            <a:pPr lvl="1"/>
            <a:r>
              <a:rPr lang="en-US" dirty="0"/>
              <a:t>Introducing UI consistency standards</a:t>
            </a:r>
          </a:p>
          <a:p>
            <a:r>
              <a:rPr lang="en-US" b="1" dirty="0"/>
              <a:t>Example</a:t>
            </a:r>
          </a:p>
          <a:p>
            <a:pPr lvl="1"/>
            <a:r>
              <a:rPr lang="en-US" dirty="0"/>
              <a:t>Same data fields but cleaner placements, grouping, and accessible UI.</a:t>
            </a:r>
          </a:p>
        </p:txBody>
      </p:sp>
    </p:spTree>
    <p:extLst>
      <p:ext uri="{BB962C8B-B14F-4D97-AF65-F5344CB8AC3E}">
        <p14:creationId xmlns:p14="http://schemas.microsoft.com/office/powerpoint/2010/main" val="29269102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Documentation </a:t>
            </a:r>
            <a:r>
              <a:rPr lang="en-US" dirty="0"/>
              <a:t>Restructuring</a:t>
            </a:r>
          </a:p>
        </p:txBody>
      </p:sp>
      <p:sp>
        <p:nvSpPr>
          <p:cNvPr id="3" name="Content Placeholder 2"/>
          <p:cNvSpPr>
            <a:spLocks noGrp="1"/>
          </p:cNvSpPr>
          <p:nvPr>
            <p:ph idx="1"/>
          </p:nvPr>
        </p:nvSpPr>
        <p:spPr/>
        <p:txBody>
          <a:bodyPr/>
          <a:lstStyle/>
          <a:p>
            <a:r>
              <a:rPr lang="en-US" dirty="0"/>
              <a:t>Rewriting or reorganizing system documentation.</a:t>
            </a:r>
          </a:p>
          <a:p>
            <a:r>
              <a:rPr lang="en-US" b="1" dirty="0"/>
              <a:t>Includes:</a:t>
            </a:r>
          </a:p>
          <a:p>
            <a:pPr lvl="1"/>
            <a:r>
              <a:rPr lang="en-US" dirty="0"/>
              <a:t>API documentation updates</a:t>
            </a:r>
          </a:p>
          <a:p>
            <a:pPr lvl="1"/>
            <a:r>
              <a:rPr lang="en-US" dirty="0"/>
              <a:t>Sequence diagrams</a:t>
            </a:r>
          </a:p>
          <a:p>
            <a:pPr lvl="1"/>
            <a:r>
              <a:rPr lang="en-US" dirty="0"/>
              <a:t>Class diagrams</a:t>
            </a:r>
          </a:p>
          <a:p>
            <a:pPr lvl="1"/>
            <a:r>
              <a:rPr lang="en-US" dirty="0"/>
              <a:t>Architecture or design documents</a:t>
            </a:r>
          </a:p>
          <a:p>
            <a:pPr lvl="1"/>
            <a:r>
              <a:rPr lang="en-US" dirty="0"/>
              <a:t>System overview</a:t>
            </a:r>
          </a:p>
          <a:p>
            <a:pPr lvl="1"/>
            <a:r>
              <a:rPr lang="en-US" dirty="0"/>
              <a:t>Module-level descriptions</a:t>
            </a:r>
          </a:p>
        </p:txBody>
      </p:sp>
    </p:spTree>
    <p:extLst>
      <p:ext uri="{BB962C8B-B14F-4D97-AF65-F5344CB8AC3E}">
        <p14:creationId xmlns:p14="http://schemas.microsoft.com/office/powerpoint/2010/main" val="27436182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Restructuring Process (Step-by-Step)</a:t>
            </a:r>
          </a:p>
        </p:txBody>
      </p:sp>
      <p:sp>
        <p:nvSpPr>
          <p:cNvPr id="3" name="Content Placeholder 2"/>
          <p:cNvSpPr>
            <a:spLocks noGrp="1"/>
          </p:cNvSpPr>
          <p:nvPr>
            <p:ph idx="1"/>
          </p:nvPr>
        </p:nvSpPr>
        <p:spPr/>
        <p:txBody>
          <a:bodyPr>
            <a:normAutofit fontScale="85000" lnSpcReduction="20000"/>
          </a:bodyPr>
          <a:lstStyle/>
          <a:p>
            <a:r>
              <a:rPr lang="en-US" b="1" dirty="0"/>
              <a:t>Step 1: System Understanding</a:t>
            </a:r>
          </a:p>
          <a:p>
            <a:pPr lvl="1"/>
            <a:r>
              <a:rPr lang="en-US" dirty="0"/>
              <a:t>Reverse engineering</a:t>
            </a:r>
          </a:p>
          <a:p>
            <a:pPr lvl="1"/>
            <a:r>
              <a:rPr lang="en-US" dirty="0"/>
              <a:t>Static and dynamic code analysis</a:t>
            </a:r>
          </a:p>
          <a:p>
            <a:pPr lvl="1"/>
            <a:r>
              <a:rPr lang="en-US" dirty="0"/>
              <a:t>Architecture reconstruction</a:t>
            </a:r>
          </a:p>
          <a:p>
            <a:pPr lvl="1"/>
            <a:r>
              <a:rPr lang="en-US" dirty="0"/>
              <a:t>Data dictionary </a:t>
            </a:r>
            <a:r>
              <a:rPr lang="en-US" dirty="0" smtClean="0"/>
              <a:t>creation</a:t>
            </a:r>
            <a:endParaRPr lang="en-US" dirty="0"/>
          </a:p>
          <a:p>
            <a:r>
              <a:rPr lang="en-US" b="1" dirty="0"/>
              <a:t>Step 2: Identify Problem Areas</a:t>
            </a:r>
          </a:p>
          <a:p>
            <a:pPr lvl="1"/>
            <a:r>
              <a:rPr lang="en-US" dirty="0"/>
              <a:t>Code smells</a:t>
            </a:r>
          </a:p>
          <a:p>
            <a:pPr lvl="1"/>
            <a:r>
              <a:rPr lang="en-US" dirty="0"/>
              <a:t>High complexity modules</a:t>
            </a:r>
          </a:p>
          <a:p>
            <a:pPr lvl="1"/>
            <a:r>
              <a:rPr lang="en-US" dirty="0"/>
              <a:t>Duplication</a:t>
            </a:r>
          </a:p>
          <a:p>
            <a:pPr lvl="1"/>
            <a:r>
              <a:rPr lang="en-US" dirty="0"/>
              <a:t>Dead or unreachable code</a:t>
            </a:r>
          </a:p>
          <a:p>
            <a:pPr lvl="1"/>
            <a:r>
              <a:rPr lang="en-US" dirty="0"/>
              <a:t>Poor modularity</a:t>
            </a:r>
          </a:p>
          <a:p>
            <a:pPr lvl="1"/>
            <a:r>
              <a:rPr lang="en-US" dirty="0"/>
              <a:t>Outdated data formats</a:t>
            </a:r>
          </a:p>
          <a:p>
            <a:pPr lvl="1"/>
            <a:r>
              <a:rPr lang="en-US" dirty="0"/>
              <a:t>Architectural bottlenecks</a:t>
            </a:r>
          </a:p>
          <a:p>
            <a:r>
              <a:rPr lang="en-US" dirty="0"/>
              <a:t>Tools: </a:t>
            </a:r>
            <a:r>
              <a:rPr lang="en-US" dirty="0" err="1"/>
              <a:t>SonarQube</a:t>
            </a:r>
            <a:r>
              <a:rPr lang="en-US" dirty="0"/>
              <a:t>, </a:t>
            </a:r>
            <a:r>
              <a:rPr lang="en-US" dirty="0" err="1"/>
              <a:t>CodeMR</a:t>
            </a:r>
            <a:r>
              <a:rPr lang="en-US" dirty="0"/>
              <a:t>, </a:t>
            </a:r>
            <a:r>
              <a:rPr lang="en-US" dirty="0" err="1"/>
              <a:t>SciTools</a:t>
            </a:r>
            <a:r>
              <a:rPr lang="en-US" dirty="0"/>
              <a:t> Understand.</a:t>
            </a:r>
          </a:p>
          <a:p>
            <a:endParaRPr lang="en-US" dirty="0"/>
          </a:p>
        </p:txBody>
      </p:sp>
    </p:spTree>
    <p:extLst>
      <p:ext uri="{BB962C8B-B14F-4D97-AF65-F5344CB8AC3E}">
        <p14:creationId xmlns:p14="http://schemas.microsoft.com/office/powerpoint/2010/main" val="21398699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04088"/>
            <a:ext cx="10515600" cy="5472875"/>
          </a:xfrm>
        </p:spPr>
        <p:txBody>
          <a:bodyPr>
            <a:normAutofit fontScale="92500" lnSpcReduction="10000"/>
          </a:bodyPr>
          <a:lstStyle/>
          <a:p>
            <a:r>
              <a:rPr lang="en-US" b="1" dirty="0"/>
              <a:t>Step 3: Define Restructuring Strategy</a:t>
            </a:r>
          </a:p>
          <a:p>
            <a:pPr lvl="1"/>
            <a:r>
              <a:rPr lang="en-US" dirty="0"/>
              <a:t>Select components to modify</a:t>
            </a:r>
          </a:p>
          <a:p>
            <a:pPr lvl="1"/>
            <a:r>
              <a:rPr lang="en-US" dirty="0"/>
              <a:t>Identify target architecture</a:t>
            </a:r>
          </a:p>
          <a:p>
            <a:pPr lvl="1"/>
            <a:r>
              <a:rPr lang="en-US" dirty="0"/>
              <a:t>Decide modular boundaries</a:t>
            </a:r>
          </a:p>
          <a:p>
            <a:pPr lvl="1"/>
            <a:r>
              <a:rPr lang="en-US" dirty="0"/>
              <a:t>Select refactoring rules</a:t>
            </a:r>
          </a:p>
          <a:p>
            <a:pPr lvl="1"/>
            <a:r>
              <a:rPr lang="en-US" dirty="0"/>
              <a:t>Create a restructuring </a:t>
            </a:r>
            <a:r>
              <a:rPr lang="en-US" dirty="0" smtClean="0"/>
              <a:t>plan</a:t>
            </a:r>
            <a:endParaRPr lang="en-US" dirty="0"/>
          </a:p>
          <a:p>
            <a:endParaRPr lang="en-US" b="1" dirty="0" smtClean="0"/>
          </a:p>
          <a:p>
            <a:r>
              <a:rPr lang="en-US" b="1" dirty="0" smtClean="0"/>
              <a:t>Step </a:t>
            </a:r>
            <a:r>
              <a:rPr lang="en-US" b="1" dirty="0"/>
              <a:t>4: Transform System</a:t>
            </a:r>
          </a:p>
          <a:p>
            <a:r>
              <a:rPr lang="en-US" dirty="0"/>
              <a:t>Apply code refactoring</a:t>
            </a:r>
          </a:p>
          <a:p>
            <a:r>
              <a:rPr lang="en-US" dirty="0"/>
              <a:t>Apply architectural restructuring</a:t>
            </a:r>
          </a:p>
          <a:p>
            <a:r>
              <a:rPr lang="en-US" dirty="0"/>
              <a:t>Improve data schemas</a:t>
            </a:r>
          </a:p>
          <a:p>
            <a:r>
              <a:rPr lang="en-US" dirty="0"/>
              <a:t>Modify interfaces</a:t>
            </a:r>
          </a:p>
          <a:p>
            <a:r>
              <a:rPr lang="en-US" dirty="0"/>
              <a:t>Update documentation</a:t>
            </a:r>
          </a:p>
          <a:p>
            <a:endParaRPr lang="en-US" dirty="0"/>
          </a:p>
        </p:txBody>
      </p:sp>
    </p:spTree>
    <p:extLst>
      <p:ext uri="{BB962C8B-B14F-4D97-AF65-F5344CB8AC3E}">
        <p14:creationId xmlns:p14="http://schemas.microsoft.com/office/powerpoint/2010/main" val="31519194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2104"/>
            <a:ext cx="10515600" cy="5344859"/>
          </a:xfrm>
        </p:spPr>
        <p:txBody>
          <a:bodyPr/>
          <a:lstStyle/>
          <a:p>
            <a:r>
              <a:rPr lang="en-US" b="1" dirty="0"/>
              <a:t>Step 5: Validate Functionality</a:t>
            </a:r>
          </a:p>
          <a:p>
            <a:pPr lvl="1"/>
            <a:r>
              <a:rPr lang="en-US" dirty="0"/>
              <a:t>Regression testing</a:t>
            </a:r>
          </a:p>
          <a:p>
            <a:pPr lvl="1"/>
            <a:r>
              <a:rPr lang="en-US" dirty="0"/>
              <a:t>Automated test suites</a:t>
            </a:r>
          </a:p>
          <a:p>
            <a:pPr lvl="1"/>
            <a:r>
              <a:rPr lang="en-US" dirty="0"/>
              <a:t>Integration testing</a:t>
            </a:r>
          </a:p>
          <a:p>
            <a:endParaRPr lang="en-US" b="1" dirty="0" smtClean="0"/>
          </a:p>
          <a:p>
            <a:r>
              <a:rPr lang="en-US" b="1" dirty="0" smtClean="0"/>
              <a:t>Step </a:t>
            </a:r>
            <a:r>
              <a:rPr lang="en-US" b="1" dirty="0"/>
              <a:t>6: Deploy &amp; Document</a:t>
            </a:r>
          </a:p>
          <a:p>
            <a:pPr lvl="1"/>
            <a:r>
              <a:rPr lang="en-US" dirty="0"/>
              <a:t>Update system documentation</a:t>
            </a:r>
          </a:p>
          <a:p>
            <a:pPr lvl="1"/>
            <a:r>
              <a:rPr lang="en-US" dirty="0"/>
              <a:t>Update configuration files</a:t>
            </a:r>
          </a:p>
          <a:p>
            <a:pPr lvl="1"/>
            <a:r>
              <a:rPr lang="en-US" dirty="0"/>
              <a:t>Deploy improved system</a:t>
            </a:r>
          </a:p>
        </p:txBody>
      </p:sp>
    </p:spTree>
    <p:extLst>
      <p:ext uri="{BB962C8B-B14F-4D97-AF65-F5344CB8AC3E}">
        <p14:creationId xmlns:p14="http://schemas.microsoft.com/office/powerpoint/2010/main" val="12271294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Used in Software Restructuring</a:t>
            </a:r>
          </a:p>
        </p:txBody>
      </p:sp>
      <p:sp>
        <p:nvSpPr>
          <p:cNvPr id="3" name="Content Placeholder 2"/>
          <p:cNvSpPr>
            <a:spLocks noGrp="1"/>
          </p:cNvSpPr>
          <p:nvPr>
            <p:ph idx="1"/>
          </p:nvPr>
        </p:nvSpPr>
        <p:spPr/>
        <p:txBody>
          <a:bodyPr/>
          <a:lstStyle/>
          <a:p>
            <a:r>
              <a:rPr lang="en-US" b="1" dirty="0"/>
              <a:t>A. Refactoring Techniques (Code-Level)</a:t>
            </a:r>
          </a:p>
          <a:p>
            <a:pPr lvl="1"/>
            <a:r>
              <a:rPr lang="en-US" dirty="0"/>
              <a:t>Extract method / class</a:t>
            </a:r>
          </a:p>
          <a:p>
            <a:pPr lvl="1"/>
            <a:r>
              <a:rPr lang="en-US" dirty="0"/>
              <a:t>Replace magic numbers</a:t>
            </a:r>
          </a:p>
          <a:p>
            <a:pPr lvl="1"/>
            <a:r>
              <a:rPr lang="en-US" dirty="0"/>
              <a:t>Simplify conditional expressions</a:t>
            </a:r>
          </a:p>
          <a:p>
            <a:pPr lvl="1"/>
            <a:r>
              <a:rPr lang="en-US" dirty="0"/>
              <a:t>Introduce design patterns</a:t>
            </a:r>
          </a:p>
          <a:p>
            <a:pPr lvl="1"/>
            <a:r>
              <a:rPr lang="en-US" dirty="0"/>
              <a:t>Remove code duplication</a:t>
            </a:r>
          </a:p>
          <a:p>
            <a:pPr lvl="1"/>
            <a:r>
              <a:rPr lang="en-US" dirty="0"/>
              <a:t>Replace long switch-case with polymorphism</a:t>
            </a:r>
          </a:p>
        </p:txBody>
      </p:sp>
    </p:spTree>
    <p:extLst>
      <p:ext uri="{BB962C8B-B14F-4D97-AF65-F5344CB8AC3E}">
        <p14:creationId xmlns:p14="http://schemas.microsoft.com/office/powerpoint/2010/main" val="5646188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8912"/>
            <a:ext cx="10515600" cy="5738051"/>
          </a:xfrm>
        </p:spPr>
        <p:txBody>
          <a:bodyPr>
            <a:normAutofit/>
          </a:bodyPr>
          <a:lstStyle/>
          <a:p>
            <a:r>
              <a:rPr lang="en-US" b="1" dirty="0" smtClean="0"/>
              <a:t>B. Data Restructuring Techniques</a:t>
            </a:r>
          </a:p>
          <a:p>
            <a:pPr lvl="1"/>
            <a:r>
              <a:rPr lang="en-US" dirty="0" smtClean="0"/>
              <a:t>Normalization (1NF, 2NF, 3NF)</a:t>
            </a:r>
          </a:p>
          <a:p>
            <a:pPr lvl="1"/>
            <a:r>
              <a:rPr lang="en-US" dirty="0" smtClean="0"/>
              <a:t>Schema </a:t>
            </a:r>
            <a:r>
              <a:rPr lang="en-US" dirty="0"/>
              <a:t>redesign</a:t>
            </a:r>
          </a:p>
          <a:p>
            <a:pPr lvl="1"/>
            <a:r>
              <a:rPr lang="en-US" dirty="0"/>
              <a:t>Foreign key establishment</a:t>
            </a:r>
          </a:p>
          <a:p>
            <a:pPr lvl="1"/>
            <a:r>
              <a:rPr lang="en-US" dirty="0"/>
              <a:t>Data migration scripts</a:t>
            </a:r>
          </a:p>
          <a:p>
            <a:pPr lvl="1"/>
            <a:r>
              <a:rPr lang="en-US" dirty="0"/>
              <a:t>ETL </a:t>
            </a:r>
            <a:r>
              <a:rPr lang="en-US" dirty="0" smtClean="0"/>
              <a:t>transformations</a:t>
            </a:r>
          </a:p>
          <a:p>
            <a:pPr lvl="1"/>
            <a:endParaRPr lang="en-US" dirty="0"/>
          </a:p>
          <a:p>
            <a:r>
              <a:rPr lang="en-US" b="1" dirty="0"/>
              <a:t>C. Architecture Restructuring Techniques</a:t>
            </a:r>
          </a:p>
          <a:p>
            <a:pPr lvl="1"/>
            <a:r>
              <a:rPr lang="en-US" dirty="0"/>
              <a:t>Modularization</a:t>
            </a:r>
          </a:p>
          <a:p>
            <a:pPr lvl="1"/>
            <a:r>
              <a:rPr lang="en-US" dirty="0"/>
              <a:t>Component decomposition</a:t>
            </a:r>
          </a:p>
          <a:p>
            <a:pPr lvl="1"/>
            <a:r>
              <a:rPr lang="en-US" dirty="0"/>
              <a:t>Service extraction (</a:t>
            </a:r>
            <a:r>
              <a:rPr lang="en-US" dirty="0" err="1"/>
              <a:t>Microservice</a:t>
            </a:r>
            <a:r>
              <a:rPr lang="en-US" dirty="0"/>
              <a:t>)</a:t>
            </a:r>
          </a:p>
          <a:p>
            <a:pPr lvl="1"/>
            <a:r>
              <a:rPr lang="en-US" dirty="0"/>
              <a:t>Introduction of APIs</a:t>
            </a:r>
          </a:p>
          <a:p>
            <a:pPr lvl="1"/>
            <a:r>
              <a:rPr lang="en-US" dirty="0"/>
              <a:t>Removal of cyclic dependencies</a:t>
            </a:r>
          </a:p>
          <a:p>
            <a:pPr lvl="1"/>
            <a:r>
              <a:rPr lang="en-US" dirty="0"/>
              <a:t>Event-driven architecture adoption</a:t>
            </a:r>
          </a:p>
          <a:p>
            <a:endParaRPr lang="en-US" dirty="0"/>
          </a:p>
        </p:txBody>
      </p:sp>
    </p:spTree>
    <p:extLst>
      <p:ext uri="{BB962C8B-B14F-4D97-AF65-F5344CB8AC3E}">
        <p14:creationId xmlns:p14="http://schemas.microsoft.com/office/powerpoint/2010/main" val="10540631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764792"/>
            <a:ext cx="10515600" cy="4412171"/>
          </a:xfrm>
        </p:spPr>
        <p:txBody>
          <a:bodyPr/>
          <a:lstStyle/>
          <a:p>
            <a:r>
              <a:rPr lang="en-US" b="1" dirty="0"/>
              <a:t>D. Reverse Engineering Techniques Supporting Restructuring</a:t>
            </a:r>
          </a:p>
          <a:p>
            <a:pPr lvl="1"/>
            <a:r>
              <a:rPr lang="en-US" dirty="0"/>
              <a:t>Static analysis</a:t>
            </a:r>
          </a:p>
          <a:p>
            <a:pPr lvl="1"/>
            <a:r>
              <a:rPr lang="en-US" dirty="0"/>
              <a:t>Dynamic analysis</a:t>
            </a:r>
          </a:p>
          <a:p>
            <a:pPr lvl="1"/>
            <a:r>
              <a:rPr lang="en-US" dirty="0"/>
              <a:t>Call graphs</a:t>
            </a:r>
          </a:p>
          <a:p>
            <a:pPr lvl="1"/>
            <a:r>
              <a:rPr lang="en-US" dirty="0"/>
              <a:t>Control flow graphs</a:t>
            </a:r>
          </a:p>
          <a:p>
            <a:pPr lvl="1"/>
            <a:r>
              <a:rPr lang="en-US" dirty="0"/>
              <a:t>Abstract syntax tree (AST) analysis</a:t>
            </a:r>
          </a:p>
        </p:txBody>
      </p:sp>
    </p:spTree>
    <p:extLst>
      <p:ext uri="{BB962C8B-B14F-4D97-AF65-F5344CB8AC3E}">
        <p14:creationId xmlns:p14="http://schemas.microsoft.com/office/powerpoint/2010/main" val="1202363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Tools for Software Restructuring</a:t>
            </a:r>
          </a:p>
        </p:txBody>
      </p:sp>
      <p:sp>
        <p:nvSpPr>
          <p:cNvPr id="3" name="Content Placeholder 2"/>
          <p:cNvSpPr>
            <a:spLocks noGrp="1"/>
          </p:cNvSpPr>
          <p:nvPr>
            <p:ph idx="1"/>
          </p:nvPr>
        </p:nvSpPr>
        <p:spPr>
          <a:xfrm>
            <a:off x="838200" y="1572768"/>
            <a:ext cx="10515600" cy="5084063"/>
          </a:xfrm>
        </p:spPr>
        <p:txBody>
          <a:bodyPr>
            <a:normAutofit fontScale="92500" lnSpcReduction="20000"/>
          </a:bodyPr>
          <a:lstStyle/>
          <a:p>
            <a:r>
              <a:rPr lang="en-US" b="1" dirty="0"/>
              <a:t>Code Analysis &amp; Refactoring Tools</a:t>
            </a:r>
          </a:p>
          <a:p>
            <a:pPr lvl="1"/>
            <a:r>
              <a:rPr lang="en-US" dirty="0" err="1"/>
              <a:t>SonarQube</a:t>
            </a:r>
            <a:endParaRPr lang="en-US" dirty="0"/>
          </a:p>
          <a:p>
            <a:pPr lvl="1"/>
            <a:r>
              <a:rPr lang="en-US" dirty="0"/>
              <a:t>PMD, </a:t>
            </a:r>
            <a:r>
              <a:rPr lang="en-US" dirty="0" err="1"/>
              <a:t>Checkstyle</a:t>
            </a:r>
            <a:endParaRPr lang="en-US" dirty="0"/>
          </a:p>
          <a:p>
            <a:pPr lvl="1"/>
            <a:r>
              <a:rPr lang="en-US" dirty="0" err="1"/>
              <a:t>IntelliJ</a:t>
            </a:r>
            <a:r>
              <a:rPr lang="en-US" dirty="0"/>
              <a:t>, Eclipse, </a:t>
            </a:r>
            <a:r>
              <a:rPr lang="en-US" dirty="0" err="1"/>
              <a:t>PyCharm</a:t>
            </a:r>
            <a:r>
              <a:rPr lang="en-US" dirty="0"/>
              <a:t> built-in refactor tools</a:t>
            </a:r>
          </a:p>
          <a:p>
            <a:pPr lvl="1"/>
            <a:r>
              <a:rPr lang="en-US" dirty="0" err="1"/>
              <a:t>SciTools</a:t>
            </a:r>
            <a:r>
              <a:rPr lang="en-US" dirty="0"/>
              <a:t> </a:t>
            </a:r>
            <a:r>
              <a:rPr lang="en-US" dirty="0" smtClean="0"/>
              <a:t>Understand</a:t>
            </a:r>
          </a:p>
          <a:p>
            <a:r>
              <a:rPr lang="en-US" b="1" dirty="0"/>
              <a:t>Architecture Reconstruction Tools</a:t>
            </a:r>
          </a:p>
          <a:p>
            <a:pPr lvl="1"/>
            <a:r>
              <a:rPr lang="en-US" dirty="0"/>
              <a:t>Visual Paradigm</a:t>
            </a:r>
          </a:p>
          <a:p>
            <a:pPr lvl="1"/>
            <a:r>
              <a:rPr lang="en-US" dirty="0"/>
              <a:t>Enterprise Architect</a:t>
            </a:r>
          </a:p>
          <a:p>
            <a:pPr lvl="1"/>
            <a:r>
              <a:rPr lang="en-US" dirty="0" err="1"/>
              <a:t>CodeMR</a:t>
            </a:r>
            <a:endParaRPr lang="en-US" dirty="0"/>
          </a:p>
          <a:p>
            <a:pPr lvl="1"/>
            <a:r>
              <a:rPr lang="en-US" dirty="0"/>
              <a:t>Rational Rose</a:t>
            </a:r>
          </a:p>
          <a:p>
            <a:r>
              <a:rPr lang="en-US" b="1" dirty="0" smtClean="0"/>
              <a:t>Data </a:t>
            </a:r>
            <a:r>
              <a:rPr lang="en-US" b="1" dirty="0"/>
              <a:t>Restructuring Tools</a:t>
            </a:r>
          </a:p>
          <a:p>
            <a:pPr lvl="1"/>
            <a:r>
              <a:rPr lang="en-US" dirty="0" err="1"/>
              <a:t>ERWin</a:t>
            </a:r>
            <a:r>
              <a:rPr lang="en-US" dirty="0"/>
              <a:t> / ER-Studio</a:t>
            </a:r>
          </a:p>
          <a:p>
            <a:pPr lvl="1"/>
            <a:r>
              <a:rPr lang="en-US" dirty="0"/>
              <a:t>Oracle Migration Tools</a:t>
            </a:r>
          </a:p>
          <a:p>
            <a:pPr lvl="1"/>
            <a:r>
              <a:rPr lang="en-US" dirty="0"/>
              <a:t>SQL Server Migration Assistant</a:t>
            </a:r>
          </a:p>
          <a:p>
            <a:pPr lvl="1"/>
            <a:r>
              <a:rPr lang="en-US" dirty="0" err="1"/>
              <a:t>Talend</a:t>
            </a:r>
            <a:r>
              <a:rPr lang="en-US" dirty="0"/>
              <a:t> / </a:t>
            </a:r>
            <a:r>
              <a:rPr lang="en-US" dirty="0" err="1"/>
              <a:t>Informatica</a:t>
            </a:r>
            <a:endParaRPr lang="en-US" dirty="0"/>
          </a:p>
          <a:p>
            <a:endParaRPr lang="en-US" dirty="0"/>
          </a:p>
        </p:txBody>
      </p:sp>
    </p:spTree>
    <p:extLst>
      <p:ext uri="{BB962C8B-B14F-4D97-AF65-F5344CB8AC3E}">
        <p14:creationId xmlns:p14="http://schemas.microsoft.com/office/powerpoint/2010/main" val="24787870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Refactoring </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Refactoring is the process of improving the internal component of an old system without changing its external environment. It’s a great choice to make modifications in the configuration, solve </a:t>
            </a:r>
            <a:r>
              <a:rPr lang="en-US" dirty="0" smtClean="0"/>
              <a:t>technological </a:t>
            </a:r>
            <a:r>
              <a:rPr lang="en-US" dirty="0"/>
              <a:t>issues, and make the code more clear and maintainable.</a:t>
            </a:r>
          </a:p>
          <a:p>
            <a:pPr algn="just"/>
            <a:r>
              <a:rPr lang="en-US" dirty="0"/>
              <a:t>Refactoring makes the system more flexible so it can easily adjust to the current circumstances. This approach is recommended for businesses that want to move from containers to </a:t>
            </a:r>
            <a:r>
              <a:rPr lang="en-US" dirty="0" err="1"/>
              <a:t>microservices</a:t>
            </a:r>
            <a:r>
              <a:rPr lang="en-US" dirty="0"/>
              <a:t> in order to avoid software failures</a:t>
            </a:r>
            <a:r>
              <a:rPr lang="en-US" dirty="0" smtClean="0"/>
              <a:t>.</a:t>
            </a:r>
          </a:p>
          <a:p>
            <a:pPr algn="just"/>
            <a:r>
              <a:rPr lang="en-US" dirty="0"/>
              <a:t>Code refactoring is basically the process of restructuring an application’s code without changing it. It also doesn’t add up to its behavior and functionality. Its purpose is to make the code more efficient and easily maintainable.</a:t>
            </a:r>
          </a:p>
        </p:txBody>
      </p:sp>
    </p:spTree>
    <p:extLst>
      <p:ext uri="{BB962C8B-B14F-4D97-AF65-F5344CB8AC3E}">
        <p14:creationId xmlns:p14="http://schemas.microsoft.com/office/powerpoint/2010/main" val="39441766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t>
            </a:r>
            <a:r>
              <a:rPr lang="en-US" dirty="0"/>
              <a:t>is </a:t>
            </a:r>
            <a:r>
              <a:rPr lang="en-US" b="1" dirty="0"/>
              <a:t>Refactoring</a:t>
            </a:r>
            <a:r>
              <a:rPr lang="en-US" dirty="0"/>
              <a:t> Legacy </a:t>
            </a:r>
            <a:r>
              <a:rPr lang="en-US" b="1" dirty="0"/>
              <a:t>Code</a:t>
            </a:r>
            <a:r>
              <a:rPr lang="en-US" dirty="0"/>
              <a:t>?</a:t>
            </a:r>
          </a:p>
        </p:txBody>
      </p:sp>
      <p:sp>
        <p:nvSpPr>
          <p:cNvPr id="3" name="Content Placeholder 2"/>
          <p:cNvSpPr>
            <a:spLocks noGrp="1"/>
          </p:cNvSpPr>
          <p:nvPr>
            <p:ph idx="1"/>
          </p:nvPr>
        </p:nvSpPr>
        <p:spPr/>
        <p:txBody>
          <a:bodyPr/>
          <a:lstStyle/>
          <a:p>
            <a:pPr algn="just"/>
            <a:r>
              <a:rPr lang="en-US" b="1" dirty="0"/>
              <a:t>Refactoring legacy code</a:t>
            </a:r>
            <a:r>
              <a:rPr lang="en-US" dirty="0"/>
              <a:t> is the process of improving the structure of an old or unfamiliar code without changing its functionality. The idea is to clean up lines of complex codes so you can understand or work with them better. This may include reducing redundancies or errors to make the code readable and manageable.</a:t>
            </a:r>
          </a:p>
          <a:p>
            <a:r>
              <a:rPr lang="en-US" dirty="0"/>
              <a:t>While refactoring a legacy code may sound similar to rewriting it, they differ.</a:t>
            </a:r>
          </a:p>
        </p:txBody>
      </p:sp>
    </p:spTree>
    <p:extLst>
      <p:ext uri="{BB962C8B-B14F-4D97-AF65-F5344CB8AC3E}">
        <p14:creationId xmlns:p14="http://schemas.microsoft.com/office/powerpoint/2010/main" val="165277933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p:txBody>
          <a:bodyPr/>
          <a:lstStyle/>
          <a:p>
            <a:pPr algn="just"/>
            <a:r>
              <a:rPr lang="en-US" dirty="0"/>
              <a:t>In a code rewrite, developers would remove nearly everything to create a new code and implement new functionality from scratch. Refactoring is less extreme. Think of it like editing your old high school paper. When you review it, chances are you may find wordy sentences or repetitions that serve little use to the essay. When you improve these words without altering the meaning, that’s refactoring for programmers</a:t>
            </a:r>
            <a:r>
              <a:rPr lang="en-US" dirty="0" smtClean="0"/>
              <a:t>.</a:t>
            </a:r>
          </a:p>
          <a:p>
            <a:pPr algn="just"/>
            <a:r>
              <a:rPr lang="en-US" dirty="0"/>
              <a:t>Legacy code refactoring works on the basic principle of cleaning up the code base to improve its performance, making it readable and easy to maintain.</a:t>
            </a:r>
          </a:p>
        </p:txBody>
      </p:sp>
    </p:spTree>
    <p:extLst>
      <p:ext uri="{BB962C8B-B14F-4D97-AF65-F5344CB8AC3E}">
        <p14:creationId xmlns:p14="http://schemas.microsoft.com/office/powerpoint/2010/main" val="8766431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9764"/>
            <a:ext cx="10515600" cy="5657199"/>
          </a:xfrm>
        </p:spPr>
        <p:txBody>
          <a:bodyPr>
            <a:normAutofit fontScale="92500" lnSpcReduction="10000"/>
          </a:bodyPr>
          <a:lstStyle/>
          <a:p>
            <a:pPr marL="0" indent="0">
              <a:buNone/>
            </a:pPr>
            <a:r>
              <a:rPr lang="en-US" dirty="0"/>
              <a:t>There are various benefits to careful refactoring legacy code. For starters:</a:t>
            </a:r>
          </a:p>
          <a:p>
            <a:pPr algn="just"/>
            <a:r>
              <a:rPr lang="en-US" b="1" dirty="0"/>
              <a:t>It makes code easy to understand</a:t>
            </a:r>
            <a:r>
              <a:rPr lang="en-US" dirty="0"/>
              <a:t>: Refactoring code involves restructuring code in such a way that a new developer can work on it with minimal difficulties. When it’s understandable, identifying and fixing bugs becomes effortless.</a:t>
            </a:r>
          </a:p>
          <a:p>
            <a:pPr algn="just"/>
            <a:r>
              <a:rPr lang="en-US" b="1" dirty="0"/>
              <a:t>It enhances maintainability: </a:t>
            </a:r>
            <a:r>
              <a:rPr lang="en-US" dirty="0"/>
              <a:t>Organized code is easy to maintain and improve. It also makes updating the code pretty much straightforward.</a:t>
            </a:r>
          </a:p>
          <a:p>
            <a:pPr algn="just"/>
            <a:r>
              <a:rPr lang="en-US" b="1" dirty="0"/>
              <a:t>It improves an application’s performance:</a:t>
            </a:r>
            <a:r>
              <a:rPr lang="en-US" dirty="0"/>
              <a:t> With less complex codes, a software application functions faster.</a:t>
            </a:r>
          </a:p>
          <a:p>
            <a:pPr algn="just"/>
            <a:r>
              <a:rPr lang="en-US" b="1" dirty="0"/>
              <a:t>It is cost-effective</a:t>
            </a:r>
            <a:r>
              <a:rPr lang="en-US" dirty="0"/>
              <a:t>: In the long run, simplified and restructured code will be efficient. It also minimizes the risk of bugs, which is time and cost-saving. </a:t>
            </a:r>
          </a:p>
          <a:p>
            <a:pPr algn="just"/>
            <a:r>
              <a:rPr lang="en-US" b="1" dirty="0"/>
              <a:t>It provides technical support: </a:t>
            </a:r>
            <a:r>
              <a:rPr lang="en-US" dirty="0"/>
              <a:t>Technical support allows you to use third-party APIs that improve the functionality of your enterprise application. You will also receive updates that fix bugs and repair existing security holes.</a:t>
            </a:r>
          </a:p>
        </p:txBody>
      </p:sp>
    </p:spTree>
    <p:extLst>
      <p:ext uri="{BB962C8B-B14F-4D97-AF65-F5344CB8AC3E}">
        <p14:creationId xmlns:p14="http://schemas.microsoft.com/office/powerpoint/2010/main" val="35747297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t>
            </a:r>
            <a:r>
              <a:rPr lang="en-US" b="1" dirty="0" smtClean="0"/>
              <a:t>ode </a:t>
            </a:r>
            <a:r>
              <a:rPr lang="en-US" b="1" dirty="0"/>
              <a:t>refactoring</a:t>
            </a:r>
          </a:p>
        </p:txBody>
      </p:sp>
      <p:sp>
        <p:nvSpPr>
          <p:cNvPr id="3" name="Content Placeholder 2"/>
          <p:cNvSpPr>
            <a:spLocks noGrp="1"/>
          </p:cNvSpPr>
          <p:nvPr>
            <p:ph idx="1"/>
          </p:nvPr>
        </p:nvSpPr>
        <p:spPr/>
        <p:txBody>
          <a:bodyPr/>
          <a:lstStyle/>
          <a:p>
            <a:pPr algn="just"/>
            <a:r>
              <a:rPr lang="en-US" dirty="0"/>
              <a:t>Reasons for the code being messy come from the developer’s inexperience, implementing shortcuts to meet tight deadlines, poor project management practices, or at least a few developers working on the same part of the project. It can also be a combination of all these factors. </a:t>
            </a:r>
          </a:p>
          <a:p>
            <a:pPr algn="just"/>
            <a:r>
              <a:rPr lang="en-US" dirty="0"/>
              <a:t>As a result, you can get not only inefficient but also spaghetti code. Unnecessarily long and difficult to optimize. Without transparency, you can’t properly manage the </a:t>
            </a:r>
            <a:r>
              <a:rPr lang="en-US" dirty="0" smtClean="0"/>
              <a:t>application, fix </a:t>
            </a:r>
            <a:r>
              <a:rPr lang="en-US" dirty="0"/>
              <a:t>bugs, implement new </a:t>
            </a:r>
            <a:r>
              <a:rPr lang="en-US" dirty="0" smtClean="0"/>
              <a:t>functionalities and </a:t>
            </a:r>
            <a:r>
              <a:rPr lang="en-US" dirty="0"/>
              <a:t>introduce integrations with third-party solutions.</a:t>
            </a:r>
          </a:p>
        </p:txBody>
      </p:sp>
    </p:spTree>
    <p:extLst>
      <p:ext uri="{BB962C8B-B14F-4D97-AF65-F5344CB8AC3E}">
        <p14:creationId xmlns:p14="http://schemas.microsoft.com/office/powerpoint/2010/main" val="11473794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8912"/>
            <a:ext cx="10515600" cy="6254496"/>
          </a:xfrm>
        </p:spPr>
        <p:txBody>
          <a:bodyPr>
            <a:normAutofit fontScale="92500"/>
          </a:bodyPr>
          <a:lstStyle/>
          <a:p>
            <a:pPr algn="just"/>
            <a:r>
              <a:rPr lang="en-US" dirty="0"/>
              <a:t>Here are some code refactoring examples. Or rather types of a “dirty” code that leaves a mark on an </a:t>
            </a:r>
            <a:r>
              <a:rPr lang="en-US" dirty="0" smtClean="0"/>
              <a:t>application’s </a:t>
            </a:r>
            <a:r>
              <a:rPr lang="en-US" dirty="0"/>
              <a:t>performance:</a:t>
            </a:r>
          </a:p>
          <a:p>
            <a:pPr lvl="1" algn="just"/>
            <a:r>
              <a:rPr lang="en-US" dirty="0"/>
              <a:t>unnecessary parts of code – removing them will not cause harm to the application</a:t>
            </a:r>
          </a:p>
          <a:p>
            <a:pPr lvl="1" algn="just"/>
            <a:r>
              <a:rPr lang="en-US" dirty="0"/>
              <a:t>areas of code that require multiple changes for other parts of the code to work properly</a:t>
            </a:r>
          </a:p>
          <a:p>
            <a:pPr lvl="1" algn="just"/>
            <a:r>
              <a:rPr lang="en-US" dirty="0"/>
              <a:t>tight coupling (you want low coupling and high cohesion)</a:t>
            </a:r>
          </a:p>
          <a:p>
            <a:pPr lvl="1" algn="just"/>
            <a:r>
              <a:rPr lang="en-US" dirty="0"/>
              <a:t>incorrect or incomplete application of object-oriented programming principles</a:t>
            </a:r>
          </a:p>
          <a:p>
            <a:pPr lvl="1" algn="just"/>
            <a:r>
              <a:rPr lang="en-US" dirty="0"/>
              <a:t>too large elements (code, methods, classes) that prevent easy manipulation</a:t>
            </a:r>
          </a:p>
          <a:p>
            <a:pPr algn="just"/>
            <a:endParaRPr lang="en-US" dirty="0" smtClean="0"/>
          </a:p>
          <a:p>
            <a:pPr algn="just"/>
            <a:r>
              <a:rPr lang="en-US" dirty="0" smtClean="0"/>
              <a:t>Code </a:t>
            </a:r>
            <a:r>
              <a:rPr lang="en-US" dirty="0"/>
              <a:t>refactoring in these cases would consist of:</a:t>
            </a:r>
          </a:p>
          <a:p>
            <a:pPr lvl="1" algn="just"/>
            <a:r>
              <a:rPr lang="en-US" dirty="0"/>
              <a:t>removal of an unnecessary portion of the code</a:t>
            </a:r>
          </a:p>
          <a:p>
            <a:pPr lvl="1" algn="just"/>
            <a:r>
              <a:rPr lang="en-US" dirty="0"/>
              <a:t>simplifying code structure to ease cooperation between different portions of an application</a:t>
            </a:r>
          </a:p>
          <a:p>
            <a:pPr lvl="1" algn="just"/>
            <a:r>
              <a:rPr lang="en-US" dirty="0"/>
              <a:t>simplification and disconnecting elements</a:t>
            </a:r>
          </a:p>
          <a:p>
            <a:pPr lvl="1" algn="just"/>
            <a:r>
              <a:rPr lang="en-US" dirty="0"/>
              <a:t>proper implementation of object-oriented and functional programming principles</a:t>
            </a:r>
          </a:p>
          <a:p>
            <a:pPr lvl="1" algn="just"/>
            <a:r>
              <a:rPr lang="en-US" dirty="0"/>
              <a:t>shrinking the size and weight of elements in the code</a:t>
            </a:r>
          </a:p>
        </p:txBody>
      </p:sp>
    </p:spTree>
    <p:extLst>
      <p:ext uri="{BB962C8B-B14F-4D97-AF65-F5344CB8AC3E}">
        <p14:creationId xmlns:p14="http://schemas.microsoft.com/office/powerpoint/2010/main" val="26773434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6968"/>
            <a:ext cx="10515600" cy="5289995"/>
          </a:xfrm>
        </p:spPr>
        <p:txBody>
          <a:bodyPr>
            <a:normAutofit/>
          </a:bodyPr>
          <a:lstStyle/>
          <a:p>
            <a:pPr marL="0" indent="0">
              <a:buNone/>
            </a:pPr>
            <a:r>
              <a:rPr lang="en-US" dirty="0"/>
              <a:t>The goal of code refactoring is to write clean code having the following features.</a:t>
            </a:r>
          </a:p>
          <a:p>
            <a:pPr algn="just"/>
            <a:r>
              <a:rPr lang="en-US" dirty="0"/>
              <a:t>Refactored code shouldn’t contain random variable names, poorly structured </a:t>
            </a:r>
            <a:r>
              <a:rPr lang="en-US" dirty="0" smtClean="0"/>
              <a:t>classes </a:t>
            </a:r>
            <a:r>
              <a:rPr lang="en-US" dirty="0"/>
              <a:t>and functions, </a:t>
            </a:r>
            <a:r>
              <a:rPr lang="en-US" dirty="0" smtClean="0"/>
              <a:t>and magic </a:t>
            </a:r>
            <a:r>
              <a:rPr lang="en-US" dirty="0"/>
              <a:t>numbers, etc. This helps improve readability and maintainability.</a:t>
            </a:r>
          </a:p>
          <a:p>
            <a:pPr algn="just"/>
            <a:r>
              <a:rPr lang="en-US" dirty="0"/>
              <a:t>A refactored code shouldn’t have duplicate code snippets. A duplicate code makes it hard to introduce changes to the code in the future as </a:t>
            </a:r>
            <a:r>
              <a:rPr lang="en-US" dirty="0" smtClean="0"/>
              <a:t>developer </a:t>
            </a:r>
            <a:r>
              <a:rPr lang="en-US" dirty="0"/>
              <a:t>needs to update the changes at multiple places. These changes may be hard to track and can produce errors.</a:t>
            </a:r>
          </a:p>
          <a:p>
            <a:pPr algn="just"/>
            <a:r>
              <a:rPr lang="en-US" dirty="0"/>
              <a:t>A clean and refactored code must avoid bugs and it should pass most of the test cases.</a:t>
            </a:r>
          </a:p>
          <a:p>
            <a:endParaRPr lang="en-US" dirty="0"/>
          </a:p>
        </p:txBody>
      </p:sp>
    </p:spTree>
    <p:extLst>
      <p:ext uri="{BB962C8B-B14F-4D97-AF65-F5344CB8AC3E}">
        <p14:creationId xmlns:p14="http://schemas.microsoft.com/office/powerpoint/2010/main" val="11915969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When Should We Refactor a Source Code? </a:t>
            </a:r>
          </a:p>
        </p:txBody>
      </p:sp>
      <p:sp>
        <p:nvSpPr>
          <p:cNvPr id="3" name="Content Placeholder 2"/>
          <p:cNvSpPr>
            <a:spLocks noGrp="1"/>
          </p:cNvSpPr>
          <p:nvPr>
            <p:ph idx="1"/>
          </p:nvPr>
        </p:nvSpPr>
        <p:spPr/>
        <p:txBody>
          <a:bodyPr>
            <a:normAutofit fontScale="92500"/>
          </a:bodyPr>
          <a:lstStyle/>
          <a:p>
            <a:r>
              <a:rPr lang="en-US" dirty="0"/>
              <a:t>Code refactoring is good. But how do we know that we need to refactor the code? You can use the following criteria to decide on code refactoring. </a:t>
            </a:r>
          </a:p>
          <a:p>
            <a:pPr marL="0" indent="0">
              <a:buNone/>
            </a:pPr>
            <a:r>
              <a:rPr lang="en-US" b="1" dirty="0"/>
              <a:t>The Rule of Three</a:t>
            </a:r>
          </a:p>
          <a:p>
            <a:pPr algn="just"/>
            <a:r>
              <a:rPr lang="en-US" dirty="0"/>
              <a:t>The Rule of three says that when you are writing a code snippet for the third time in the source code, you should refactor your code. </a:t>
            </a:r>
          </a:p>
          <a:p>
            <a:pPr algn="just"/>
            <a:r>
              <a:rPr lang="en-US" dirty="0"/>
              <a:t>When you are writing code for the first time, you need to write it for sure. </a:t>
            </a:r>
          </a:p>
          <a:p>
            <a:pPr algn="just"/>
            <a:r>
              <a:rPr lang="en-US" dirty="0"/>
              <a:t>For the second time, it might seem repetitive but you should write the code. </a:t>
            </a:r>
          </a:p>
          <a:p>
            <a:pPr algn="just"/>
            <a:r>
              <a:rPr lang="en-US" dirty="0"/>
              <a:t>When you need to write the same code snippet for the third time, refactor and create a function from the code. </a:t>
            </a:r>
          </a:p>
        </p:txBody>
      </p:sp>
    </p:spTree>
    <p:extLst>
      <p:ext uri="{BB962C8B-B14F-4D97-AF65-F5344CB8AC3E}">
        <p14:creationId xmlns:p14="http://schemas.microsoft.com/office/powerpoint/2010/main" val="386950402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58952"/>
            <a:ext cx="10515600" cy="5418011"/>
          </a:xfrm>
        </p:spPr>
        <p:txBody>
          <a:bodyPr>
            <a:normAutofit/>
          </a:bodyPr>
          <a:lstStyle/>
          <a:p>
            <a:r>
              <a:rPr lang="en-US" b="1" dirty="0"/>
              <a:t>Refactor Code While Fixing Bugs</a:t>
            </a:r>
          </a:p>
          <a:p>
            <a:pPr lvl="1" algn="just"/>
            <a:r>
              <a:rPr lang="en-US" dirty="0"/>
              <a:t>Refactoring is one of the easiest ways to fix bugs in a code. If the code is messy and unstructured, bugs will be there for sure. Hence, you should always refactor your code to make it clean and readable to reduce bugs.</a:t>
            </a:r>
          </a:p>
          <a:p>
            <a:r>
              <a:rPr lang="en-US" b="1" dirty="0"/>
              <a:t>Refactor While Adding a Feature</a:t>
            </a:r>
          </a:p>
          <a:p>
            <a:pPr lvl="1" algn="just"/>
            <a:r>
              <a:rPr lang="en-US" dirty="0"/>
              <a:t>When you are adding a new feature to a source code, it is the right time to refactor it. Whether or not the existing code is written by you, you should first refactor it to understand the existing functionalities and make the code clean and readable. This will help you add new features to the code easily as you will have an understanding of the code structure, naming conventions, etc.</a:t>
            </a:r>
          </a:p>
          <a:p>
            <a:r>
              <a:rPr lang="en-US" b="1" dirty="0"/>
              <a:t>Refactor After a Code Review</a:t>
            </a:r>
          </a:p>
          <a:p>
            <a:pPr lvl="1" algn="just"/>
            <a:r>
              <a:rPr lang="en-US" dirty="0"/>
              <a:t>When your team reviews your code, they can point out the mistakes and anomalies in the code. Hence, you should do a code review, gather the inputs and then refactor the code before freezing the code.</a:t>
            </a:r>
          </a:p>
        </p:txBody>
      </p:sp>
    </p:spTree>
    <p:extLst>
      <p:ext uri="{BB962C8B-B14F-4D97-AF65-F5344CB8AC3E}">
        <p14:creationId xmlns:p14="http://schemas.microsoft.com/office/powerpoint/2010/main" val="210672358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Code smells</a:t>
            </a:r>
          </a:p>
        </p:txBody>
      </p:sp>
      <p:sp>
        <p:nvSpPr>
          <p:cNvPr id="3" name="Content Placeholder 2"/>
          <p:cNvSpPr>
            <a:spLocks noGrp="1"/>
          </p:cNvSpPr>
          <p:nvPr>
            <p:ph idx="1"/>
          </p:nvPr>
        </p:nvSpPr>
        <p:spPr/>
        <p:txBody>
          <a:bodyPr>
            <a:normAutofit/>
          </a:bodyPr>
          <a:lstStyle/>
          <a:p>
            <a:pPr marL="0" indent="0" algn="just">
              <a:buNone/>
            </a:pPr>
            <a:r>
              <a:rPr lang="en-US" dirty="0"/>
              <a:t>When the code requires refactoring, it is said to have a "smell". Of course, </a:t>
            </a:r>
            <a:r>
              <a:rPr lang="en-US" dirty="0" smtClean="0"/>
              <a:t>not </a:t>
            </a:r>
            <a:r>
              <a:rPr lang="en-US" dirty="0"/>
              <a:t>literally, but such code really doesn't look very appealing</a:t>
            </a:r>
            <a:r>
              <a:rPr lang="en-US" dirty="0" smtClean="0"/>
              <a:t>.</a:t>
            </a:r>
            <a:endParaRPr lang="en-US" dirty="0"/>
          </a:p>
          <a:p>
            <a:r>
              <a:rPr lang="en-US" dirty="0"/>
              <a:t>Code is duplicated in multiple places. </a:t>
            </a:r>
            <a:endParaRPr lang="en-US" dirty="0" smtClean="0"/>
          </a:p>
          <a:p>
            <a:r>
              <a:rPr lang="en-US" dirty="0" smtClean="0"/>
              <a:t>A </a:t>
            </a:r>
            <a:r>
              <a:rPr lang="en-US" dirty="0"/>
              <a:t>method is too long. </a:t>
            </a:r>
            <a:endParaRPr lang="en-US" dirty="0" smtClean="0"/>
          </a:p>
          <a:p>
            <a:r>
              <a:rPr lang="en-US" dirty="0" smtClean="0"/>
              <a:t>Groups </a:t>
            </a:r>
            <a:r>
              <a:rPr lang="en-US" dirty="0"/>
              <a:t>of data attributes are duplicated. </a:t>
            </a:r>
            <a:endParaRPr lang="en-US" dirty="0" smtClean="0"/>
          </a:p>
          <a:p>
            <a:r>
              <a:rPr lang="en-US" dirty="0" smtClean="0"/>
              <a:t>A </a:t>
            </a:r>
            <a:r>
              <a:rPr lang="en-US" dirty="0"/>
              <a:t>class has poor cohesion or high coupling. </a:t>
            </a:r>
            <a:endParaRPr lang="en-US" dirty="0" smtClean="0"/>
          </a:p>
          <a:p>
            <a:r>
              <a:rPr lang="en-US" dirty="0" smtClean="0"/>
              <a:t>A </a:t>
            </a:r>
            <a:r>
              <a:rPr lang="en-US" dirty="0"/>
              <a:t>method has too many parameters. </a:t>
            </a:r>
            <a:endParaRPr lang="en-US" dirty="0" smtClean="0"/>
          </a:p>
          <a:p>
            <a:r>
              <a:rPr lang="en-US" dirty="0" smtClean="0"/>
              <a:t>Speculative </a:t>
            </a:r>
            <a:r>
              <a:rPr lang="en-US" dirty="0"/>
              <a:t>generality - adding functionality that “we might need someday.”</a:t>
            </a:r>
          </a:p>
        </p:txBody>
      </p:sp>
    </p:spTree>
    <p:extLst>
      <p:ext uri="{BB962C8B-B14F-4D97-AF65-F5344CB8AC3E}">
        <p14:creationId xmlns:p14="http://schemas.microsoft.com/office/powerpoint/2010/main" val="91256864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Code Smells</a:t>
            </a:r>
          </a:p>
        </p:txBody>
      </p:sp>
      <p:sp>
        <p:nvSpPr>
          <p:cNvPr id="3" name="Content Placeholder 2"/>
          <p:cNvSpPr>
            <a:spLocks noGrp="1"/>
          </p:cNvSpPr>
          <p:nvPr>
            <p:ph idx="1"/>
          </p:nvPr>
        </p:nvSpPr>
        <p:spPr/>
        <p:txBody>
          <a:bodyPr/>
          <a:lstStyle/>
          <a:p>
            <a:r>
              <a:rPr lang="en-US" dirty="0"/>
              <a:t>Changes must be made in several places. </a:t>
            </a:r>
            <a:endParaRPr lang="en-US" dirty="0" smtClean="0"/>
          </a:p>
          <a:p>
            <a:r>
              <a:rPr lang="en-US" dirty="0" smtClean="0"/>
              <a:t>Poor </a:t>
            </a:r>
            <a:r>
              <a:rPr lang="en-US" dirty="0"/>
              <a:t>encapsulation of data that should be private. </a:t>
            </a:r>
            <a:endParaRPr lang="en-US" dirty="0" smtClean="0"/>
          </a:p>
          <a:p>
            <a:r>
              <a:rPr lang="en-US" dirty="0" smtClean="0"/>
              <a:t>If </a:t>
            </a:r>
            <a:r>
              <a:rPr lang="en-US" dirty="0"/>
              <a:t>a weak subclass does not use inherited functionality. </a:t>
            </a:r>
            <a:endParaRPr lang="en-US" dirty="0" smtClean="0"/>
          </a:p>
          <a:p>
            <a:r>
              <a:rPr lang="en-US" dirty="0" smtClean="0"/>
              <a:t>If </a:t>
            </a:r>
            <a:r>
              <a:rPr lang="en-US" dirty="0"/>
              <a:t>a class contains unused code. </a:t>
            </a:r>
            <a:endParaRPr lang="en-US" dirty="0" smtClean="0"/>
          </a:p>
          <a:p>
            <a:r>
              <a:rPr lang="en-US" dirty="0" smtClean="0"/>
              <a:t>If </a:t>
            </a:r>
            <a:r>
              <a:rPr lang="en-US" dirty="0"/>
              <a:t>a class contains potentially unused attributes that are only set in particular circumstances. </a:t>
            </a:r>
            <a:endParaRPr lang="en-US" dirty="0" smtClean="0"/>
          </a:p>
          <a:p>
            <a:pPr algn="just"/>
            <a:r>
              <a:rPr lang="en-US" dirty="0" smtClean="0"/>
              <a:t>There </a:t>
            </a:r>
            <a:r>
              <a:rPr lang="en-US" dirty="0"/>
              <a:t>are data classes containing only attributes, getters, and setters, but nothing else - objects should encapsulate data and behaviors. </a:t>
            </a:r>
            <a:r>
              <a:rPr lang="en-US" dirty="0" smtClean="0"/>
              <a:t> </a:t>
            </a:r>
            <a:r>
              <a:rPr lang="en-US" dirty="0"/>
              <a:t>Unless that data is used by multiple classes.</a:t>
            </a:r>
          </a:p>
        </p:txBody>
      </p:sp>
    </p:spTree>
    <p:extLst>
      <p:ext uri="{BB962C8B-B14F-4D97-AF65-F5344CB8AC3E}">
        <p14:creationId xmlns:p14="http://schemas.microsoft.com/office/powerpoint/2010/main" val="11723533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Code Smells</a:t>
            </a:r>
            <a:endParaRPr lang="en-US" dirty="0"/>
          </a:p>
        </p:txBody>
      </p:sp>
      <p:sp>
        <p:nvSpPr>
          <p:cNvPr id="3" name="Content Placeholder 2"/>
          <p:cNvSpPr>
            <a:spLocks noGrp="1"/>
          </p:cNvSpPr>
          <p:nvPr>
            <p:ph idx="1"/>
          </p:nvPr>
        </p:nvSpPr>
        <p:spPr/>
        <p:txBody>
          <a:bodyPr>
            <a:normAutofit fontScale="77500" lnSpcReduction="20000"/>
          </a:bodyPr>
          <a:lstStyle/>
          <a:p>
            <a:pPr marL="0" indent="0" algn="just">
              <a:buNone/>
            </a:pPr>
            <a:r>
              <a:rPr lang="en-US" b="1" dirty="0"/>
              <a:t>Unreasonably large classes and methods</a:t>
            </a:r>
          </a:p>
          <a:p>
            <a:pPr algn="just"/>
            <a:r>
              <a:rPr lang="en-US" dirty="0"/>
              <a:t>Classes and methods can be cumbersome, impossible to work with effectively precisely because of their huge size. </a:t>
            </a:r>
            <a:endParaRPr lang="en-US" dirty="0" smtClean="0"/>
          </a:p>
          <a:p>
            <a:pPr marL="0" indent="0" algn="just">
              <a:buNone/>
            </a:pPr>
            <a:r>
              <a:rPr lang="en-US" b="1" dirty="0" smtClean="0"/>
              <a:t>Large </a:t>
            </a:r>
            <a:r>
              <a:rPr lang="en-US" b="1" dirty="0"/>
              <a:t>class</a:t>
            </a:r>
          </a:p>
          <a:p>
            <a:pPr algn="just"/>
            <a:r>
              <a:rPr lang="en-US" dirty="0"/>
              <a:t>Such a class has a huge number of lines of code and many different methods. It is usually easier for a developer to add a feature to an existing class rather than create a new one, which is why the class grows. As a rule, too much functionality is crammed into such a class. In this case, it helps to move part of the functionality into a separate class. </a:t>
            </a:r>
            <a:r>
              <a:rPr lang="en-US" dirty="0" smtClean="0"/>
              <a:t> </a:t>
            </a:r>
          </a:p>
          <a:p>
            <a:pPr marL="0" indent="0" algn="just">
              <a:buNone/>
            </a:pPr>
            <a:r>
              <a:rPr lang="en-US" b="1" dirty="0" smtClean="0"/>
              <a:t>Long </a:t>
            </a:r>
            <a:r>
              <a:rPr lang="en-US" b="1" dirty="0"/>
              <a:t>method</a:t>
            </a:r>
          </a:p>
          <a:p>
            <a:pPr algn="just"/>
            <a:r>
              <a:rPr lang="en-US" dirty="0"/>
              <a:t>This "smell" arises when a developer adds new functionality to a method: "Why should I put a parameter check into a separate method if I can write the code here?", "Why do I need a separate search </a:t>
            </a:r>
            <a:r>
              <a:rPr lang="en-US" dirty="0" smtClean="0"/>
              <a:t>method </a:t>
            </a:r>
            <a:r>
              <a:rPr lang="en-US" dirty="0"/>
              <a:t>to find the maximum element in an array? Let's keep it here. The code will be clearer this way", and other such misconceptions. </a:t>
            </a:r>
          </a:p>
        </p:txBody>
      </p:sp>
    </p:spTree>
    <p:extLst>
      <p:ext uri="{BB962C8B-B14F-4D97-AF65-F5344CB8AC3E}">
        <p14:creationId xmlns:p14="http://schemas.microsoft.com/office/powerpoint/2010/main" val="277002828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523873"/>
            <a:ext cx="10515600" cy="4351338"/>
          </a:xfrm>
        </p:spPr>
        <p:txBody>
          <a:bodyPr>
            <a:normAutofit fontScale="92500" lnSpcReduction="20000"/>
          </a:bodyPr>
          <a:lstStyle/>
          <a:p>
            <a:pPr marL="0" indent="0">
              <a:buNone/>
            </a:pPr>
            <a:r>
              <a:rPr lang="en-US" b="1" dirty="0"/>
              <a:t>There are two rules for refactoring a long method:</a:t>
            </a:r>
          </a:p>
          <a:p>
            <a:pPr algn="just"/>
            <a:r>
              <a:rPr lang="en-US" dirty="0"/>
              <a:t>If you feel like adding a comment when writing a method, you should put the functionality in a separate method</a:t>
            </a:r>
            <a:r>
              <a:rPr lang="en-US" dirty="0" smtClean="0"/>
              <a:t>. </a:t>
            </a:r>
          </a:p>
          <a:p>
            <a:pPr lvl="1" algn="just"/>
            <a:r>
              <a:rPr lang="en-US" dirty="0"/>
              <a:t>If a piece of code inside a method is complex enough that you want to write a comment explaining what it does, then that code probably belongs in its own method.</a:t>
            </a:r>
          </a:p>
          <a:p>
            <a:pPr algn="just"/>
            <a:r>
              <a:rPr lang="en-US" dirty="0"/>
              <a:t>If a method takes more than 10-15 lines of code, you should identify the tasks and subtasks that it performs and try to put the subtasks into a separate method.</a:t>
            </a:r>
          </a:p>
          <a:p>
            <a:pPr marL="0" indent="0">
              <a:buNone/>
            </a:pPr>
            <a:r>
              <a:rPr lang="en-US" b="1" dirty="0"/>
              <a:t>There are a few ways to eliminate a long method:</a:t>
            </a:r>
          </a:p>
          <a:p>
            <a:pPr algn="just"/>
            <a:r>
              <a:rPr lang="en-US" dirty="0"/>
              <a:t>Move part of the method's functionality into a separate method</a:t>
            </a:r>
          </a:p>
          <a:p>
            <a:pPr algn="just"/>
            <a:r>
              <a:rPr lang="en-US" dirty="0"/>
              <a:t>If local variables prevent you from moving part of the functionality, you can move the entire object to another method.</a:t>
            </a:r>
          </a:p>
        </p:txBody>
      </p:sp>
    </p:spTree>
    <p:extLst>
      <p:ext uri="{BB962C8B-B14F-4D97-AF65-F5344CB8AC3E}">
        <p14:creationId xmlns:p14="http://schemas.microsoft.com/office/powerpoint/2010/main" val="24642275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0392"/>
            <a:ext cx="10515600" cy="5326571"/>
          </a:xfrm>
        </p:spPr>
        <p:txBody>
          <a:bodyPr>
            <a:normAutofit fontScale="92500" lnSpcReduction="20000"/>
          </a:bodyPr>
          <a:lstStyle/>
          <a:p>
            <a:pPr marL="0" indent="0">
              <a:buNone/>
            </a:pPr>
            <a:r>
              <a:rPr lang="en-US" b="1" dirty="0"/>
              <a:t>Using a lot of primitive data types</a:t>
            </a:r>
          </a:p>
          <a:p>
            <a:pPr algn="just"/>
            <a:r>
              <a:rPr lang="en-US" dirty="0"/>
              <a:t>This problem typically occurs when the number of fields in a class grows over time. For example, if you store everything (currency, date, phone numbers, etc.) in primitive types or constants instead of small objects. In this case, a good practice would be to move a logical grouping of fields into a separate class (extract class). You can also add methods to the class to process the data. </a:t>
            </a:r>
            <a:endParaRPr lang="en-US" dirty="0" smtClean="0"/>
          </a:p>
          <a:p>
            <a:pPr algn="just"/>
            <a:endParaRPr lang="en-US" dirty="0" smtClean="0"/>
          </a:p>
          <a:p>
            <a:pPr marL="0" indent="0" algn="just">
              <a:buNone/>
            </a:pPr>
            <a:r>
              <a:rPr lang="en-US" b="1" dirty="0" smtClean="0"/>
              <a:t>Too </a:t>
            </a:r>
            <a:r>
              <a:rPr lang="en-US" b="1" dirty="0"/>
              <a:t>many parameters</a:t>
            </a:r>
          </a:p>
          <a:p>
            <a:pPr algn="just"/>
            <a:r>
              <a:rPr lang="en-US" dirty="0"/>
              <a:t>This is a fairly common mistake, especially in combination with a long method. Usually, it occurs if a method has too much functionality, or if a method implements multiple algorithms. Long lists of parameters are very difficult to understand, and using methods with such lists is inconvenient. As a result, it's better to pass an entire object. If an object doesn't have enough data, you should use a more general object or divide up the method's functionality so that each method processes logically related data.</a:t>
            </a:r>
          </a:p>
        </p:txBody>
      </p:sp>
    </p:spTree>
    <p:extLst>
      <p:ext uri="{BB962C8B-B14F-4D97-AF65-F5344CB8AC3E}">
        <p14:creationId xmlns:p14="http://schemas.microsoft.com/office/powerpoint/2010/main" val="3098669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8385"/>
            <a:ext cx="10515600" cy="4351338"/>
          </a:xfrm>
        </p:spPr>
        <p:txBody>
          <a:bodyPr>
            <a:normAutofit lnSpcReduction="10000"/>
          </a:bodyPr>
          <a:lstStyle/>
          <a:p>
            <a:pPr marL="0" indent="0">
              <a:buNone/>
            </a:pPr>
            <a:r>
              <a:rPr lang="en-US" b="1" dirty="0"/>
              <a:t>Groups of data</a:t>
            </a:r>
          </a:p>
          <a:p>
            <a:pPr algn="just"/>
            <a:r>
              <a:rPr lang="en-US" dirty="0"/>
              <a:t>Groups of logically related data often appear in code. For example, database connection parameters (URL, username, password, schema name, etc.). If not a single field can be removed from a list of fields, then these fields should be moved to a separate class (extract class). </a:t>
            </a:r>
            <a:endParaRPr lang="en-US" dirty="0" smtClean="0"/>
          </a:p>
          <a:p>
            <a:pPr marL="0" indent="0" algn="just">
              <a:buNone/>
            </a:pPr>
            <a:endParaRPr lang="en-US" b="1" dirty="0" smtClean="0"/>
          </a:p>
          <a:p>
            <a:pPr marL="0" indent="0" algn="just">
              <a:buNone/>
            </a:pPr>
            <a:r>
              <a:rPr lang="en-US" b="1" dirty="0" smtClean="0"/>
              <a:t>Solutions </a:t>
            </a:r>
            <a:r>
              <a:rPr lang="en-US" b="1" dirty="0"/>
              <a:t>that violate OOP principles</a:t>
            </a:r>
          </a:p>
          <a:p>
            <a:pPr algn="just"/>
            <a:r>
              <a:rPr lang="en-US" dirty="0"/>
              <a:t>These "smells" occur when a developer violates proper OOP design. This happens when he or she doesn't fully understand OOP capabilities and fails to fully or properly use them.</a:t>
            </a:r>
          </a:p>
        </p:txBody>
      </p:sp>
    </p:spTree>
    <p:extLst>
      <p:ext uri="{BB962C8B-B14F-4D97-AF65-F5344CB8AC3E}">
        <p14:creationId xmlns:p14="http://schemas.microsoft.com/office/powerpoint/2010/main" val="469406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7784"/>
            <a:ext cx="10515600" cy="5619179"/>
          </a:xfrm>
        </p:spPr>
        <p:txBody>
          <a:bodyPr/>
          <a:lstStyle/>
          <a:p>
            <a:pPr marL="0" indent="0">
              <a:buNone/>
            </a:pPr>
            <a:r>
              <a:rPr lang="en-US" b="1" dirty="0"/>
              <a:t>Failure to use inheritance</a:t>
            </a:r>
          </a:p>
          <a:p>
            <a:pPr algn="just"/>
            <a:r>
              <a:rPr lang="en-US" dirty="0"/>
              <a:t>If a subclass uses only a small subset of the parent class's functions, then it smells of the wrong hierarchy. When this happens, usually the superfluous methods are simply not overridden or they throw exceptions. One class inheriting another implies that the child class uses nearly all of the parent class's functionality. Example of a correct hierarchy:</a:t>
            </a:r>
          </a:p>
        </p:txBody>
      </p:sp>
      <p:pic>
        <p:nvPicPr>
          <p:cNvPr id="4" name="Picture 3"/>
          <p:cNvPicPr>
            <a:picLocks noChangeAspect="1"/>
          </p:cNvPicPr>
          <p:nvPr/>
        </p:nvPicPr>
        <p:blipFill>
          <a:blip r:embed="rId3"/>
          <a:stretch>
            <a:fillRect/>
          </a:stretch>
        </p:blipFill>
        <p:spPr>
          <a:xfrm>
            <a:off x="1878752" y="3502152"/>
            <a:ext cx="7849280" cy="3034486"/>
          </a:xfrm>
          <a:prstGeom prst="rect">
            <a:avLst/>
          </a:prstGeom>
        </p:spPr>
      </p:pic>
    </p:spTree>
    <p:extLst>
      <p:ext uri="{BB962C8B-B14F-4D97-AF65-F5344CB8AC3E}">
        <p14:creationId xmlns:p14="http://schemas.microsoft.com/office/powerpoint/2010/main" val="2763068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an incorrect hierarchy: </a:t>
            </a:r>
          </a:p>
        </p:txBody>
      </p:sp>
      <p:pic>
        <p:nvPicPr>
          <p:cNvPr id="4" name="Picture 3"/>
          <p:cNvPicPr>
            <a:picLocks noChangeAspect="1"/>
          </p:cNvPicPr>
          <p:nvPr/>
        </p:nvPicPr>
        <p:blipFill>
          <a:blip r:embed="rId2"/>
          <a:stretch>
            <a:fillRect/>
          </a:stretch>
        </p:blipFill>
        <p:spPr>
          <a:xfrm>
            <a:off x="1408176" y="1950592"/>
            <a:ext cx="8566740" cy="3800984"/>
          </a:xfrm>
          <a:prstGeom prst="rect">
            <a:avLst/>
          </a:prstGeom>
        </p:spPr>
      </p:pic>
    </p:spTree>
    <p:extLst>
      <p:ext uri="{BB962C8B-B14F-4D97-AF65-F5344CB8AC3E}">
        <p14:creationId xmlns:p14="http://schemas.microsoft.com/office/powerpoint/2010/main" val="7118488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68680"/>
            <a:ext cx="10515600" cy="5308283"/>
          </a:xfrm>
        </p:spPr>
        <p:txBody>
          <a:bodyPr>
            <a:normAutofit fontScale="92500" lnSpcReduction="20000"/>
          </a:bodyPr>
          <a:lstStyle/>
          <a:p>
            <a:pPr marL="0" indent="0">
              <a:buNone/>
            </a:pPr>
            <a:r>
              <a:rPr lang="en-US" b="1" dirty="0"/>
              <a:t>Switch </a:t>
            </a:r>
            <a:r>
              <a:rPr lang="en-US" b="1" dirty="0" smtClean="0"/>
              <a:t>statement</a:t>
            </a:r>
          </a:p>
          <a:p>
            <a:pPr algn="just"/>
            <a:r>
              <a:rPr lang="en-US" dirty="0"/>
              <a:t>What could be wrong with </a:t>
            </a:r>
            <a:r>
              <a:rPr lang="en-US" dirty="0" smtClean="0"/>
              <a:t>a switch </a:t>
            </a:r>
            <a:r>
              <a:rPr lang="en-US" dirty="0"/>
              <a:t>statement? It is bad when it becomes very complex. A related problem is a large number of </a:t>
            </a:r>
            <a:r>
              <a:rPr lang="en-US" dirty="0" smtClean="0"/>
              <a:t>nested if statements</a:t>
            </a:r>
          </a:p>
          <a:p>
            <a:pPr marL="0" indent="0">
              <a:buNone/>
            </a:pPr>
            <a:r>
              <a:rPr lang="en-US" b="1" dirty="0"/>
              <a:t>Alternative classes with different interfaces</a:t>
            </a:r>
          </a:p>
          <a:p>
            <a:pPr algn="just"/>
            <a:r>
              <a:rPr lang="en-US" dirty="0"/>
              <a:t>Multiple classes do the same thing, but their methods have different names</a:t>
            </a:r>
            <a:r>
              <a:rPr lang="en-US" dirty="0" smtClean="0"/>
              <a:t>.</a:t>
            </a:r>
          </a:p>
          <a:p>
            <a:pPr marL="0" indent="0">
              <a:buNone/>
            </a:pPr>
            <a:r>
              <a:rPr lang="en-US" b="1" dirty="0"/>
              <a:t>Temporary field</a:t>
            </a:r>
          </a:p>
          <a:p>
            <a:pPr algn="just"/>
            <a:r>
              <a:rPr lang="en-US" dirty="0"/>
              <a:t>If a class has a temporary field that an object needs only occasionally when its value is set, and it is empty or, God forbid</a:t>
            </a:r>
            <a:r>
              <a:rPr lang="en-US" dirty="0" smtClean="0"/>
              <a:t>, null </a:t>
            </a:r>
            <a:r>
              <a:rPr lang="en-US" dirty="0"/>
              <a:t>the rest of the time, then the code smells. This is a questionable design decision</a:t>
            </a:r>
            <a:r>
              <a:rPr lang="en-US" dirty="0" smtClean="0"/>
              <a:t>.</a:t>
            </a:r>
          </a:p>
          <a:p>
            <a:pPr marL="0" indent="0">
              <a:buNone/>
            </a:pPr>
            <a:r>
              <a:rPr lang="en-US" b="1" dirty="0"/>
              <a:t>Smells that make modification difficult</a:t>
            </a:r>
          </a:p>
          <a:p>
            <a:pPr algn="just"/>
            <a:r>
              <a:rPr lang="en-US" dirty="0"/>
              <a:t>These smells are more serious. Other smells mainly make it harder to understand code, but these prevent you from modifying it. When you try to introduce any new features, half of the developers quit, and half go crazy. </a:t>
            </a:r>
            <a:endParaRPr lang="en-US" dirty="0" smtClean="0"/>
          </a:p>
        </p:txBody>
      </p:sp>
    </p:spTree>
    <p:extLst>
      <p:ext uri="{BB962C8B-B14F-4D97-AF65-F5344CB8AC3E}">
        <p14:creationId xmlns:p14="http://schemas.microsoft.com/office/powerpoint/2010/main" val="108416183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01497"/>
            <a:ext cx="10515600" cy="4351338"/>
          </a:xfrm>
        </p:spPr>
        <p:txBody>
          <a:bodyPr>
            <a:normAutofit fontScale="77500" lnSpcReduction="20000"/>
          </a:bodyPr>
          <a:lstStyle/>
          <a:p>
            <a:pPr marL="0" indent="0">
              <a:buNone/>
            </a:pPr>
            <a:r>
              <a:rPr lang="en-US" b="1" dirty="0"/>
              <a:t>Uniformly distributed dependencies</a:t>
            </a:r>
          </a:p>
          <a:p>
            <a:pPr algn="just"/>
            <a:r>
              <a:rPr lang="en-US" dirty="0"/>
              <a:t>Any modifications require you to look for all of a class's uses (dependencies) and make a lot of small changes. One change — edits in many classes. </a:t>
            </a:r>
            <a:endParaRPr lang="en-US" dirty="0" smtClean="0"/>
          </a:p>
          <a:p>
            <a:pPr marL="0" indent="0">
              <a:buNone/>
            </a:pPr>
            <a:r>
              <a:rPr lang="en-US" b="1" dirty="0" smtClean="0"/>
              <a:t>Complex </a:t>
            </a:r>
            <a:r>
              <a:rPr lang="en-US" b="1" dirty="0"/>
              <a:t>tree of modifications</a:t>
            </a:r>
          </a:p>
          <a:p>
            <a:pPr algn="just"/>
            <a:r>
              <a:rPr lang="en-US" dirty="0"/>
              <a:t>This smell is the opposite of the previous one: changes affect a large number of methods in one class. As a rule, such code has cascading dependence: changing one method requires you to fix something in another, and then in the third and so on. </a:t>
            </a:r>
            <a:endParaRPr lang="en-US" dirty="0" smtClean="0"/>
          </a:p>
          <a:p>
            <a:pPr marL="0" indent="0" algn="just">
              <a:buNone/>
            </a:pPr>
            <a:r>
              <a:rPr lang="en-US" dirty="0" smtClean="0"/>
              <a:t>One </a:t>
            </a:r>
            <a:r>
              <a:rPr lang="en-US" dirty="0"/>
              <a:t>class — many changes. </a:t>
            </a:r>
            <a:r>
              <a:rPr lang="en-US" b="1" dirty="0"/>
              <a:t>"Garbage smells"</a:t>
            </a:r>
          </a:p>
          <a:p>
            <a:pPr algn="just"/>
            <a:r>
              <a:rPr lang="en-US" dirty="0"/>
              <a:t>A rather unpleasant category of odors that causes headaches. Useless, unnecessary, old code. Fortunately, modern IDEs and linters have learned to warn of such odors. </a:t>
            </a:r>
            <a:endParaRPr lang="en-US" dirty="0" smtClean="0"/>
          </a:p>
          <a:p>
            <a:pPr marL="0" indent="0" algn="just">
              <a:buNone/>
            </a:pPr>
            <a:r>
              <a:rPr lang="en-US" b="1" dirty="0" smtClean="0"/>
              <a:t>A </a:t>
            </a:r>
            <a:r>
              <a:rPr lang="en-US" b="1" dirty="0"/>
              <a:t>large number of comments in a method</a:t>
            </a:r>
          </a:p>
          <a:p>
            <a:pPr algn="just"/>
            <a:r>
              <a:rPr lang="en-US" dirty="0"/>
              <a:t>A method has a lot of explanatory comments on almost every line. This is usually due to a complex algorithm, so it is better to split the code into several smaller methods and give them explanatory names.</a:t>
            </a:r>
          </a:p>
        </p:txBody>
      </p:sp>
    </p:spTree>
    <p:extLst>
      <p:ext uri="{BB962C8B-B14F-4D97-AF65-F5344CB8AC3E}">
        <p14:creationId xmlns:p14="http://schemas.microsoft.com/office/powerpoint/2010/main" val="118105380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8385"/>
            <a:ext cx="10515600" cy="4351338"/>
          </a:xfrm>
        </p:spPr>
        <p:txBody>
          <a:bodyPr>
            <a:normAutofit fontScale="70000" lnSpcReduction="20000"/>
          </a:bodyPr>
          <a:lstStyle/>
          <a:p>
            <a:pPr marL="0" indent="0">
              <a:buNone/>
            </a:pPr>
            <a:r>
              <a:rPr lang="en-US" b="1" dirty="0"/>
              <a:t>Duplicated code</a:t>
            </a:r>
          </a:p>
          <a:p>
            <a:r>
              <a:rPr lang="en-US" dirty="0"/>
              <a:t>Different classes or methods use the same blocks of code. </a:t>
            </a:r>
            <a:endParaRPr lang="en-US" dirty="0" smtClean="0"/>
          </a:p>
          <a:p>
            <a:pPr marL="0" indent="0">
              <a:buNone/>
            </a:pPr>
            <a:r>
              <a:rPr lang="en-US" b="1" dirty="0" smtClean="0"/>
              <a:t>Lazy </a:t>
            </a:r>
            <a:r>
              <a:rPr lang="en-US" b="1" dirty="0"/>
              <a:t>class</a:t>
            </a:r>
          </a:p>
          <a:p>
            <a:r>
              <a:rPr lang="en-US" dirty="0"/>
              <a:t>A class takes on very little functionality, though it was planned to be large. </a:t>
            </a:r>
            <a:endParaRPr lang="en-US" dirty="0" smtClean="0"/>
          </a:p>
          <a:p>
            <a:pPr marL="0" indent="0">
              <a:buNone/>
            </a:pPr>
            <a:r>
              <a:rPr lang="en-US" b="1" dirty="0" smtClean="0"/>
              <a:t>Unused </a:t>
            </a:r>
            <a:r>
              <a:rPr lang="en-US" b="1" dirty="0"/>
              <a:t>code</a:t>
            </a:r>
          </a:p>
          <a:p>
            <a:r>
              <a:rPr lang="en-US" dirty="0"/>
              <a:t>A class, method or variable is not used in the code and is dead weight. </a:t>
            </a:r>
            <a:endParaRPr lang="en-US" dirty="0" smtClean="0"/>
          </a:p>
          <a:p>
            <a:pPr marL="0" indent="0">
              <a:buNone/>
            </a:pPr>
            <a:r>
              <a:rPr lang="en-US" b="1" dirty="0" smtClean="0"/>
              <a:t>Excessive </a:t>
            </a:r>
            <a:r>
              <a:rPr lang="en-US" b="1" dirty="0"/>
              <a:t>connectivity</a:t>
            </a:r>
          </a:p>
          <a:p>
            <a:r>
              <a:rPr lang="en-US" dirty="0"/>
              <a:t>This category of odors is characterized by a large number of unjustified relationships in the code. </a:t>
            </a:r>
            <a:endParaRPr lang="en-US" dirty="0" smtClean="0"/>
          </a:p>
          <a:p>
            <a:pPr marL="0" indent="0">
              <a:buNone/>
            </a:pPr>
            <a:r>
              <a:rPr lang="en-US" b="1" dirty="0" smtClean="0"/>
              <a:t>External </a:t>
            </a:r>
            <a:r>
              <a:rPr lang="en-US" b="1" dirty="0"/>
              <a:t>methods</a:t>
            </a:r>
          </a:p>
          <a:p>
            <a:r>
              <a:rPr lang="en-US" dirty="0"/>
              <a:t>A method uses data from another object much more often than its own data. </a:t>
            </a:r>
            <a:endParaRPr lang="en-US" dirty="0" smtClean="0"/>
          </a:p>
          <a:p>
            <a:pPr marL="0" indent="0">
              <a:buNone/>
            </a:pPr>
            <a:r>
              <a:rPr lang="en-US" b="1" dirty="0" smtClean="0"/>
              <a:t>Inappropriate </a:t>
            </a:r>
            <a:r>
              <a:rPr lang="en-US" b="1" dirty="0"/>
              <a:t>intimacy</a:t>
            </a:r>
          </a:p>
          <a:p>
            <a:r>
              <a:rPr lang="en-US" dirty="0"/>
              <a:t>A class depends on the implementation details of another class.</a:t>
            </a:r>
          </a:p>
        </p:txBody>
      </p:sp>
    </p:spTree>
    <p:extLst>
      <p:ext uri="{BB962C8B-B14F-4D97-AF65-F5344CB8AC3E}">
        <p14:creationId xmlns:p14="http://schemas.microsoft.com/office/powerpoint/2010/main" val="289742446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4337"/>
            <a:ext cx="10515600" cy="4351338"/>
          </a:xfrm>
        </p:spPr>
        <p:txBody>
          <a:bodyPr>
            <a:normAutofit lnSpcReduction="10000"/>
          </a:bodyPr>
          <a:lstStyle/>
          <a:p>
            <a:pPr marL="0" indent="0">
              <a:buNone/>
            </a:pPr>
            <a:r>
              <a:rPr lang="en-US" b="1" dirty="0"/>
              <a:t>Long class calls</a:t>
            </a:r>
          </a:p>
          <a:p>
            <a:r>
              <a:rPr lang="en-US" dirty="0"/>
              <a:t>One class calls another, which requests data from a third, which get data from a fourth, and so on. Such a long chain of calls means high dependence on the current class structure. </a:t>
            </a:r>
            <a:endParaRPr lang="en-US" dirty="0" smtClean="0"/>
          </a:p>
          <a:p>
            <a:pPr marL="0" indent="0">
              <a:buNone/>
            </a:pPr>
            <a:r>
              <a:rPr lang="en-US" b="1" dirty="0" smtClean="0"/>
              <a:t>Task-dealer </a:t>
            </a:r>
            <a:r>
              <a:rPr lang="en-US" b="1" dirty="0"/>
              <a:t>class</a:t>
            </a:r>
          </a:p>
          <a:p>
            <a:pPr algn="just"/>
            <a:r>
              <a:rPr lang="en-US" dirty="0"/>
              <a:t>A class is needed only for sending a task to another class. Maybe it should be removed? </a:t>
            </a:r>
            <a:endParaRPr lang="en-US" dirty="0" smtClean="0"/>
          </a:p>
          <a:p>
            <a:pPr marL="0" indent="0">
              <a:buNone/>
            </a:pPr>
            <a:r>
              <a:rPr lang="en-US" b="1" dirty="0" smtClean="0"/>
              <a:t>Refactoring </a:t>
            </a:r>
            <a:r>
              <a:rPr lang="en-US" b="1" dirty="0"/>
              <a:t>techniques</a:t>
            </a:r>
          </a:p>
          <a:p>
            <a:pPr algn="just"/>
            <a:r>
              <a:rPr lang="en-US" dirty="0"/>
              <a:t>Below we'll discuss basic refactoring techniques that can help eliminate the described code smells.</a:t>
            </a:r>
          </a:p>
        </p:txBody>
      </p:sp>
    </p:spTree>
    <p:extLst>
      <p:ext uri="{BB962C8B-B14F-4D97-AF65-F5344CB8AC3E}">
        <p14:creationId xmlns:p14="http://schemas.microsoft.com/office/powerpoint/2010/main" val="383932772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Extract Methods and Functions</a:t>
            </a:r>
          </a:p>
          <a:p>
            <a:pPr algn="just"/>
            <a:r>
              <a:rPr lang="en-US" dirty="0"/>
              <a:t>If there is a code fragment that can be grouped together, you should consider moving the code fragment into a new method or function. When there are more lines in a code snippet, it is harder to understand. Hence, we can create functions using the code that performs a particular task.</a:t>
            </a:r>
          </a:p>
        </p:txBody>
      </p:sp>
      <p:sp>
        <p:nvSpPr>
          <p:cNvPr id="4" name="Title 3"/>
          <p:cNvSpPr>
            <a:spLocks noGrp="1"/>
          </p:cNvSpPr>
          <p:nvPr>
            <p:ph type="title"/>
          </p:nvPr>
        </p:nvSpPr>
        <p:spPr/>
        <p:txBody>
          <a:bodyPr/>
          <a:lstStyle/>
          <a:p>
            <a:r>
              <a:rPr lang="en-US" dirty="0" smtClean="0"/>
              <a:t> </a:t>
            </a:r>
            <a:endParaRPr lang="en-US" dirty="0"/>
          </a:p>
        </p:txBody>
      </p:sp>
      <p:sp>
        <p:nvSpPr>
          <p:cNvPr id="2" name="Rectangle 1"/>
          <p:cNvSpPr/>
          <p:nvPr/>
        </p:nvSpPr>
        <p:spPr>
          <a:xfrm>
            <a:off x="560427" y="583430"/>
            <a:ext cx="11287962" cy="769441"/>
          </a:xfrm>
          <a:prstGeom prst="rect">
            <a:avLst/>
          </a:prstGeom>
        </p:spPr>
        <p:txBody>
          <a:bodyPr wrap="none">
            <a:spAutoFit/>
          </a:bodyPr>
          <a:lstStyle/>
          <a:p>
            <a:r>
              <a:rPr lang="en-US" sz="4400" b="1"/>
              <a:t>Basic refactoring techniques for the initial stage</a:t>
            </a:r>
          </a:p>
        </p:txBody>
      </p:sp>
    </p:spTree>
    <p:extLst>
      <p:ext uri="{BB962C8B-B14F-4D97-AF65-F5344CB8AC3E}">
        <p14:creationId xmlns:p14="http://schemas.microsoft.com/office/powerpoint/2010/main" val="312502642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a:t>To understand this, consider the following code</a:t>
            </a:r>
            <a:r>
              <a:rPr lang="en-US" dirty="0" smtClean="0"/>
              <a:t>.</a:t>
            </a:r>
            <a:endParaRPr lang="en-US" dirty="0"/>
          </a:p>
          <a:p>
            <a:pPr marL="457200" lvl="1" indent="0">
              <a:buNone/>
            </a:pPr>
            <a:r>
              <a:rPr lang="en-US" dirty="0"/>
              <a:t>weight=</a:t>
            </a:r>
            <a:r>
              <a:rPr lang="en-US" dirty="0" err="1"/>
              <a:t>int</a:t>
            </a:r>
            <a:r>
              <a:rPr lang="en-US" dirty="0"/>
              <a:t>(input("Enter Weight in </a:t>
            </a:r>
            <a:r>
              <a:rPr lang="en-US" dirty="0" err="1"/>
              <a:t>Kgs</a:t>
            </a:r>
            <a:r>
              <a:rPr lang="en-US" dirty="0"/>
              <a:t>:")) </a:t>
            </a:r>
            <a:endParaRPr lang="en-US" dirty="0" smtClean="0"/>
          </a:p>
          <a:p>
            <a:pPr marL="457200" lvl="1" indent="0">
              <a:buNone/>
            </a:pPr>
            <a:r>
              <a:rPr lang="en-US" dirty="0" smtClean="0"/>
              <a:t>height=</a:t>
            </a:r>
            <a:r>
              <a:rPr lang="en-US" dirty="0" err="1" smtClean="0"/>
              <a:t>int</a:t>
            </a:r>
            <a:r>
              <a:rPr lang="en-US" dirty="0" smtClean="0"/>
              <a:t>(input</a:t>
            </a:r>
            <a:r>
              <a:rPr lang="en-US" dirty="0"/>
              <a:t>("Enter height in </a:t>
            </a:r>
            <a:r>
              <a:rPr lang="en-US" dirty="0" err="1"/>
              <a:t>cms</a:t>
            </a:r>
            <a:r>
              <a:rPr lang="en-US" dirty="0"/>
              <a:t>:")) </a:t>
            </a:r>
            <a:endParaRPr lang="en-US" dirty="0" smtClean="0"/>
          </a:p>
          <a:p>
            <a:pPr marL="457200" lvl="1" indent="0">
              <a:buNone/>
            </a:pPr>
            <a:r>
              <a:rPr lang="en-US" dirty="0" err="1" smtClean="0"/>
              <a:t>heightInM</a:t>
            </a:r>
            <a:r>
              <a:rPr lang="en-US" dirty="0" smtClean="0"/>
              <a:t>=height/100 </a:t>
            </a:r>
          </a:p>
          <a:p>
            <a:pPr marL="457200" lvl="1" indent="0">
              <a:buNone/>
            </a:pPr>
            <a:r>
              <a:rPr lang="en-US" dirty="0" smtClean="0"/>
              <a:t>BMI=weight/</a:t>
            </a:r>
            <a:r>
              <a:rPr lang="en-US" dirty="0" err="1" smtClean="0"/>
              <a:t>heightInM</a:t>
            </a:r>
            <a:r>
              <a:rPr lang="en-US" dirty="0"/>
              <a:t>**2 </a:t>
            </a:r>
            <a:endParaRPr lang="en-US" dirty="0" smtClean="0"/>
          </a:p>
          <a:p>
            <a:pPr marL="457200" lvl="1" indent="0">
              <a:buNone/>
            </a:pPr>
            <a:r>
              <a:rPr lang="en-US" dirty="0" smtClean="0"/>
              <a:t>print</a:t>
            </a:r>
            <a:r>
              <a:rPr lang="en-US" dirty="0"/>
              <a:t>("BMI </a:t>
            </a:r>
            <a:r>
              <a:rPr lang="en-US" dirty="0" err="1"/>
              <a:t>is:",BMI</a:t>
            </a:r>
            <a:r>
              <a:rPr lang="en-US" dirty="0" smtClean="0"/>
              <a:t>)</a:t>
            </a:r>
          </a:p>
          <a:p>
            <a:pPr algn="just"/>
            <a:r>
              <a:rPr lang="en-US" dirty="0"/>
              <a:t>The above code takes height and weight input from the user and prints BMI. Now, BMI can also have other applications in the program. So, it’s better to create a new function for calculating BMI. Also, having a separate function for each atomic task helps us reduce code duplication and isolates independent parts of code. To refactor the above code, we will use the following steps.</a:t>
            </a:r>
          </a:p>
        </p:txBody>
      </p:sp>
    </p:spTree>
    <p:extLst>
      <p:ext uri="{BB962C8B-B14F-4D97-AF65-F5344CB8AC3E}">
        <p14:creationId xmlns:p14="http://schemas.microsoft.com/office/powerpoint/2010/main" val="40460395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a:t>First, we will create new methods and name them in a way that makes their purpose clear.</a:t>
            </a:r>
          </a:p>
          <a:p>
            <a:r>
              <a:rPr lang="en-US" dirty="0"/>
              <a:t>Next, we will copy the existing codes to the relevant methods and delete the code snippets from their original place. After deletion, we will put a function call for each new method that we create at appropriate places.</a:t>
            </a:r>
          </a:p>
          <a:p>
            <a:r>
              <a:rPr lang="en-US" dirty="0"/>
              <a:t>If the variables inside a code fragment that we move to the new methods are declared inside the fragment and aren’t used anywhere else, we will leave them unchanged. These variables will become local variables for new methods.</a:t>
            </a:r>
          </a:p>
          <a:p>
            <a:r>
              <a:rPr lang="en-US" dirty="0"/>
              <a:t>If the variables are declared before the code in the new method, we will pass those variables as input to the new method.</a:t>
            </a:r>
          </a:p>
          <a:p>
            <a:r>
              <a:rPr lang="en-US" dirty="0"/>
              <a:t>If the variables are used after the code that we moved to the new method, we will return the variable value from the function. </a:t>
            </a:r>
          </a:p>
        </p:txBody>
      </p:sp>
    </p:spTree>
    <p:extLst>
      <p:ext uri="{BB962C8B-B14F-4D97-AF65-F5344CB8AC3E}">
        <p14:creationId xmlns:p14="http://schemas.microsoft.com/office/powerpoint/2010/main" val="106579336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normAutofit fontScale="92500" lnSpcReduction="10000"/>
          </a:bodyPr>
          <a:lstStyle/>
          <a:p>
            <a:pPr marL="0" indent="0">
              <a:buNone/>
            </a:pPr>
            <a:r>
              <a:rPr lang="en-US" dirty="0"/>
              <a:t>Using the above steps, we can refactor the code given in the previous snippet as follows</a:t>
            </a:r>
            <a:r>
              <a:rPr lang="en-US" dirty="0" smtClean="0"/>
              <a:t>.</a:t>
            </a:r>
          </a:p>
          <a:p>
            <a:pPr marL="457200" lvl="1" indent="0">
              <a:buNone/>
            </a:pPr>
            <a:r>
              <a:rPr lang="en-US" dirty="0"/>
              <a:t>weight=</a:t>
            </a:r>
            <a:r>
              <a:rPr lang="en-US" dirty="0" err="1"/>
              <a:t>int</a:t>
            </a:r>
            <a:r>
              <a:rPr lang="en-US" dirty="0"/>
              <a:t>(input("Enter Weight in </a:t>
            </a:r>
            <a:r>
              <a:rPr lang="en-US" dirty="0" err="1"/>
              <a:t>Kgs</a:t>
            </a:r>
            <a:r>
              <a:rPr lang="en-US" dirty="0"/>
              <a:t>:")) </a:t>
            </a:r>
          </a:p>
          <a:p>
            <a:pPr marL="457200" lvl="1" indent="0">
              <a:buNone/>
            </a:pPr>
            <a:r>
              <a:rPr lang="en-US" dirty="0"/>
              <a:t>height=</a:t>
            </a:r>
            <a:r>
              <a:rPr lang="en-US" dirty="0" err="1"/>
              <a:t>int</a:t>
            </a:r>
            <a:r>
              <a:rPr lang="en-US" dirty="0"/>
              <a:t>(input("Enter height in </a:t>
            </a:r>
            <a:r>
              <a:rPr lang="en-US" dirty="0" err="1"/>
              <a:t>cms</a:t>
            </a:r>
            <a:r>
              <a:rPr lang="en-US" dirty="0"/>
              <a:t>:")) </a:t>
            </a:r>
            <a:endParaRPr lang="en-US" dirty="0" smtClean="0"/>
          </a:p>
          <a:p>
            <a:pPr marL="0" indent="0">
              <a:buNone/>
            </a:pPr>
            <a:r>
              <a:rPr lang="en-US" dirty="0" err="1" smtClean="0"/>
              <a:t>def</a:t>
            </a:r>
            <a:r>
              <a:rPr lang="en-US" dirty="0" smtClean="0"/>
              <a:t> </a:t>
            </a:r>
            <a:r>
              <a:rPr lang="en-US" dirty="0" err="1"/>
              <a:t>calculateBMI</a:t>
            </a:r>
            <a:r>
              <a:rPr lang="en-US" dirty="0"/>
              <a:t>(</a:t>
            </a:r>
            <a:r>
              <a:rPr lang="en-US" dirty="0" err="1"/>
              <a:t>weight,height</a:t>
            </a:r>
            <a:r>
              <a:rPr lang="en-US" dirty="0"/>
              <a:t>): </a:t>
            </a:r>
            <a:endParaRPr lang="en-US" dirty="0" smtClean="0"/>
          </a:p>
          <a:p>
            <a:pPr marL="457200" lvl="1" indent="0">
              <a:buNone/>
            </a:pPr>
            <a:r>
              <a:rPr lang="en-US" dirty="0" err="1" smtClean="0"/>
              <a:t>heightInM</a:t>
            </a:r>
            <a:r>
              <a:rPr lang="en-US" dirty="0" smtClean="0"/>
              <a:t>=height/100 </a:t>
            </a:r>
          </a:p>
          <a:p>
            <a:pPr marL="457200" lvl="1" indent="0">
              <a:buNone/>
            </a:pPr>
            <a:r>
              <a:rPr lang="en-US" dirty="0" smtClean="0"/>
              <a:t>BMI=weight/</a:t>
            </a:r>
            <a:r>
              <a:rPr lang="en-US" dirty="0" err="1" smtClean="0"/>
              <a:t>heightInM</a:t>
            </a:r>
            <a:r>
              <a:rPr lang="en-US" dirty="0"/>
              <a:t>**2 </a:t>
            </a:r>
            <a:endParaRPr lang="en-US" dirty="0" smtClean="0"/>
          </a:p>
          <a:p>
            <a:pPr marL="457200" lvl="1" indent="0">
              <a:buNone/>
            </a:pPr>
            <a:r>
              <a:rPr lang="en-US" dirty="0" smtClean="0"/>
              <a:t>return </a:t>
            </a:r>
            <a:r>
              <a:rPr lang="en-US" dirty="0"/>
              <a:t>BMI </a:t>
            </a:r>
            <a:endParaRPr lang="en-US" dirty="0" smtClean="0"/>
          </a:p>
          <a:p>
            <a:pPr marL="0" indent="0">
              <a:buNone/>
            </a:pPr>
            <a:r>
              <a:rPr lang="en-US" dirty="0" err="1" smtClean="0"/>
              <a:t>def</a:t>
            </a:r>
            <a:r>
              <a:rPr lang="en-US" dirty="0" smtClean="0"/>
              <a:t> </a:t>
            </a:r>
            <a:r>
              <a:rPr lang="en-US" dirty="0" err="1"/>
              <a:t>printBMI</a:t>
            </a:r>
            <a:r>
              <a:rPr lang="en-US" dirty="0"/>
              <a:t>(BMI): </a:t>
            </a:r>
            <a:endParaRPr lang="en-US" dirty="0" smtClean="0"/>
          </a:p>
          <a:p>
            <a:pPr marL="457200" lvl="1" indent="0">
              <a:buNone/>
            </a:pPr>
            <a:r>
              <a:rPr lang="en-US" dirty="0" smtClean="0"/>
              <a:t>print</a:t>
            </a:r>
            <a:r>
              <a:rPr lang="en-US" dirty="0"/>
              <a:t>("BMI </a:t>
            </a:r>
            <a:r>
              <a:rPr lang="en-US" dirty="0" err="1"/>
              <a:t>is:",BMI</a:t>
            </a:r>
            <a:r>
              <a:rPr lang="en-US" dirty="0"/>
              <a:t>) </a:t>
            </a:r>
            <a:endParaRPr lang="en-US" dirty="0" smtClean="0"/>
          </a:p>
          <a:p>
            <a:pPr marL="0" indent="0">
              <a:buNone/>
            </a:pPr>
            <a:r>
              <a:rPr lang="en-US" dirty="0" smtClean="0"/>
              <a:t>BMI=</a:t>
            </a:r>
            <a:r>
              <a:rPr lang="en-US" dirty="0" err="1" smtClean="0"/>
              <a:t>calculateBMI</a:t>
            </a:r>
            <a:r>
              <a:rPr lang="en-US" dirty="0" smtClean="0"/>
              <a:t>(</a:t>
            </a:r>
            <a:r>
              <a:rPr lang="en-US" dirty="0" err="1" smtClean="0"/>
              <a:t>weight,height</a:t>
            </a:r>
            <a:r>
              <a:rPr lang="en-US" dirty="0"/>
              <a:t>) </a:t>
            </a:r>
            <a:endParaRPr lang="en-US" dirty="0" smtClean="0"/>
          </a:p>
          <a:p>
            <a:pPr marL="0" indent="0">
              <a:buNone/>
            </a:pPr>
            <a:r>
              <a:rPr lang="en-US" dirty="0" err="1" smtClean="0"/>
              <a:t>printBMI</a:t>
            </a:r>
            <a:r>
              <a:rPr lang="en-US" dirty="0" smtClean="0"/>
              <a:t>(BMI)</a:t>
            </a:r>
          </a:p>
          <a:p>
            <a:pPr marL="0" indent="0" algn="just">
              <a:buNone/>
            </a:pPr>
            <a:r>
              <a:rPr lang="en-US" dirty="0"/>
              <a:t>In the above code, we first split the code into three main components. The first code component takes inputs from the user. The second code component calculates BMI and the third code component prints the value. </a:t>
            </a:r>
          </a:p>
        </p:txBody>
      </p:sp>
    </p:spTree>
    <p:extLst>
      <p:ext uri="{BB962C8B-B14F-4D97-AF65-F5344CB8AC3E}">
        <p14:creationId xmlns:p14="http://schemas.microsoft.com/office/powerpoint/2010/main" val="3699699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Extract a class</a:t>
            </a:r>
          </a:p>
        </p:txBody>
      </p:sp>
      <p:sp>
        <p:nvSpPr>
          <p:cNvPr id="3" name="Content Placeholder 2"/>
          <p:cNvSpPr>
            <a:spLocks noGrp="1"/>
          </p:cNvSpPr>
          <p:nvPr>
            <p:ph idx="1"/>
          </p:nvPr>
        </p:nvSpPr>
        <p:spPr>
          <a:xfrm>
            <a:off x="838200" y="1825625"/>
            <a:ext cx="4995672" cy="4351338"/>
          </a:xfrm>
        </p:spPr>
        <p:txBody>
          <a:bodyPr/>
          <a:lstStyle/>
          <a:p>
            <a:r>
              <a:rPr lang="en-US" dirty="0"/>
              <a:t>A class performs too many functions. Some of them must be moved to another class. For example, suppose we have </a:t>
            </a:r>
            <a:r>
              <a:rPr lang="en-US" dirty="0" smtClean="0"/>
              <a:t>a Human </a:t>
            </a:r>
            <a:r>
              <a:rPr lang="en-US" dirty="0"/>
              <a:t>class that also stores a home address and has a method that returns the full address:</a:t>
            </a:r>
          </a:p>
        </p:txBody>
      </p:sp>
      <p:pic>
        <p:nvPicPr>
          <p:cNvPr id="5" name="Picture 4"/>
          <p:cNvPicPr>
            <a:picLocks noChangeAspect="1"/>
          </p:cNvPicPr>
          <p:nvPr/>
        </p:nvPicPr>
        <p:blipFill>
          <a:blip r:embed="rId2"/>
          <a:stretch>
            <a:fillRect/>
          </a:stretch>
        </p:blipFill>
        <p:spPr>
          <a:xfrm>
            <a:off x="5636275" y="270951"/>
            <a:ext cx="5509737" cy="5906012"/>
          </a:xfrm>
          <a:prstGeom prst="rect">
            <a:avLst/>
          </a:prstGeom>
        </p:spPr>
      </p:pic>
    </p:spTree>
    <p:extLst>
      <p:ext uri="{BB962C8B-B14F-4D97-AF65-F5344CB8AC3E}">
        <p14:creationId xmlns:p14="http://schemas.microsoft.com/office/powerpoint/2010/main" val="19551717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3514344" cy="4351338"/>
          </a:xfrm>
        </p:spPr>
        <p:txBody>
          <a:bodyPr/>
          <a:lstStyle/>
          <a:p>
            <a:r>
              <a:rPr lang="en-US" dirty="0"/>
              <a:t>It's good practice to put the address information and associated method (data processing behavior) into a separate class:</a:t>
            </a:r>
          </a:p>
        </p:txBody>
      </p:sp>
      <p:pic>
        <p:nvPicPr>
          <p:cNvPr id="4" name="Picture 3"/>
          <p:cNvPicPr>
            <a:picLocks noChangeAspect="1"/>
          </p:cNvPicPr>
          <p:nvPr/>
        </p:nvPicPr>
        <p:blipFill>
          <a:blip r:embed="rId3"/>
          <a:stretch>
            <a:fillRect/>
          </a:stretch>
        </p:blipFill>
        <p:spPr>
          <a:xfrm>
            <a:off x="4055150" y="8879"/>
            <a:ext cx="4777953" cy="5459234"/>
          </a:xfrm>
          <a:prstGeom prst="rect">
            <a:avLst/>
          </a:prstGeom>
        </p:spPr>
      </p:pic>
      <p:pic>
        <p:nvPicPr>
          <p:cNvPr id="5" name="Picture 4"/>
          <p:cNvPicPr>
            <a:picLocks noChangeAspect="1"/>
          </p:cNvPicPr>
          <p:nvPr/>
        </p:nvPicPr>
        <p:blipFill>
          <a:blip r:embed="rId4"/>
          <a:stretch>
            <a:fillRect/>
          </a:stretch>
        </p:blipFill>
        <p:spPr>
          <a:xfrm>
            <a:off x="4005610" y="5468483"/>
            <a:ext cx="5174428" cy="1562235"/>
          </a:xfrm>
          <a:prstGeom prst="rect">
            <a:avLst/>
          </a:prstGeom>
        </p:spPr>
      </p:pic>
    </p:spTree>
    <p:extLst>
      <p:ext uri="{BB962C8B-B14F-4D97-AF65-F5344CB8AC3E}">
        <p14:creationId xmlns:p14="http://schemas.microsoft.com/office/powerpoint/2010/main" val="28920902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3706368" cy="4351338"/>
          </a:xfrm>
        </p:spPr>
        <p:txBody>
          <a:bodyPr>
            <a:normAutofit lnSpcReduction="10000"/>
          </a:bodyPr>
          <a:lstStyle/>
          <a:p>
            <a:r>
              <a:rPr lang="en-US" b="1" dirty="0"/>
              <a:t>Extract a method</a:t>
            </a:r>
          </a:p>
          <a:p>
            <a:r>
              <a:rPr lang="en-US" dirty="0"/>
              <a:t>If a method has some functionality that can be isolated, you should place it in a separate method. For example, a method that calculates the roots of a quadratic equation: </a:t>
            </a:r>
            <a:br>
              <a:rPr lang="en-US" dirty="0"/>
            </a:br>
            <a:endParaRPr lang="en-US" dirty="0"/>
          </a:p>
        </p:txBody>
      </p:sp>
      <p:pic>
        <p:nvPicPr>
          <p:cNvPr id="4" name="Picture 3"/>
          <p:cNvPicPr>
            <a:picLocks noChangeAspect="1"/>
          </p:cNvPicPr>
          <p:nvPr/>
        </p:nvPicPr>
        <p:blipFill>
          <a:blip r:embed="rId2"/>
          <a:stretch>
            <a:fillRect/>
          </a:stretch>
        </p:blipFill>
        <p:spPr>
          <a:xfrm>
            <a:off x="5161531" y="1569531"/>
            <a:ext cx="5928874" cy="4359018"/>
          </a:xfrm>
          <a:prstGeom prst="rect">
            <a:avLst/>
          </a:prstGeom>
        </p:spPr>
      </p:pic>
    </p:spTree>
    <p:extLst>
      <p:ext uri="{BB962C8B-B14F-4D97-AF65-F5344CB8AC3E}">
        <p14:creationId xmlns:p14="http://schemas.microsoft.com/office/powerpoint/2010/main" val="398255333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2663952" cy="4351338"/>
          </a:xfrm>
        </p:spPr>
        <p:txBody>
          <a:bodyPr>
            <a:normAutofit lnSpcReduction="10000"/>
          </a:bodyPr>
          <a:lstStyle/>
          <a:p>
            <a:r>
              <a:rPr lang="en-US" dirty="0"/>
              <a:t>We calculate each of the three possible options in separate methods</a:t>
            </a:r>
            <a:r>
              <a:rPr lang="en-US" dirty="0" smtClean="0"/>
              <a:t>:</a:t>
            </a:r>
          </a:p>
          <a:p>
            <a:r>
              <a:rPr lang="en-US" dirty="0"/>
              <a:t>Each method's code has become much shorter and easier to understand.</a:t>
            </a:r>
          </a:p>
        </p:txBody>
      </p:sp>
      <p:pic>
        <p:nvPicPr>
          <p:cNvPr id="4" name="Picture 3"/>
          <p:cNvPicPr>
            <a:picLocks noChangeAspect="1"/>
          </p:cNvPicPr>
          <p:nvPr/>
        </p:nvPicPr>
        <p:blipFill>
          <a:blip r:embed="rId2"/>
          <a:stretch>
            <a:fillRect/>
          </a:stretch>
        </p:blipFill>
        <p:spPr>
          <a:xfrm>
            <a:off x="3351775" y="528563"/>
            <a:ext cx="6073666" cy="5168149"/>
          </a:xfrm>
          <a:prstGeom prst="rect">
            <a:avLst/>
          </a:prstGeom>
        </p:spPr>
      </p:pic>
      <p:pic>
        <p:nvPicPr>
          <p:cNvPr id="5" name="Picture 4"/>
          <p:cNvPicPr>
            <a:picLocks noChangeAspect="1"/>
          </p:cNvPicPr>
          <p:nvPr/>
        </p:nvPicPr>
        <p:blipFill>
          <a:blip r:embed="rId3"/>
          <a:stretch>
            <a:fillRect/>
          </a:stretch>
        </p:blipFill>
        <p:spPr>
          <a:xfrm>
            <a:off x="3351775" y="5696712"/>
            <a:ext cx="4656223" cy="1242168"/>
          </a:xfrm>
          <a:prstGeom prst="rect">
            <a:avLst/>
          </a:prstGeom>
        </p:spPr>
      </p:pic>
    </p:spTree>
    <p:extLst>
      <p:ext uri="{BB962C8B-B14F-4D97-AF65-F5344CB8AC3E}">
        <p14:creationId xmlns:p14="http://schemas.microsoft.com/office/powerpoint/2010/main" val="347210262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3102864" cy="4351338"/>
          </a:xfrm>
        </p:spPr>
        <p:txBody>
          <a:bodyPr/>
          <a:lstStyle/>
          <a:p>
            <a:r>
              <a:rPr lang="en-US" b="1" dirty="0"/>
              <a:t>Passing an entire object</a:t>
            </a:r>
          </a:p>
          <a:p>
            <a:r>
              <a:rPr lang="en-US" dirty="0"/>
              <a:t>When a method is called with parameters, you may sometimes see code like this:</a:t>
            </a:r>
          </a:p>
        </p:txBody>
      </p:sp>
      <p:pic>
        <p:nvPicPr>
          <p:cNvPr id="4" name="Picture 3"/>
          <p:cNvPicPr>
            <a:picLocks noChangeAspect="1"/>
          </p:cNvPicPr>
          <p:nvPr/>
        </p:nvPicPr>
        <p:blipFill>
          <a:blip r:embed="rId2"/>
          <a:stretch>
            <a:fillRect/>
          </a:stretch>
        </p:blipFill>
        <p:spPr>
          <a:xfrm>
            <a:off x="4106889" y="1942215"/>
            <a:ext cx="6721422" cy="2827265"/>
          </a:xfrm>
          <a:prstGeom prst="rect">
            <a:avLst/>
          </a:prstGeom>
        </p:spPr>
      </p:pic>
    </p:spTree>
    <p:extLst>
      <p:ext uri="{BB962C8B-B14F-4D97-AF65-F5344CB8AC3E}">
        <p14:creationId xmlns:p14="http://schemas.microsoft.com/office/powerpoint/2010/main" val="408520604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3953256" cy="4351338"/>
          </a:xfrm>
        </p:spPr>
        <p:txBody>
          <a:bodyPr>
            <a:normAutofit lnSpcReduction="10000"/>
          </a:bodyPr>
          <a:lstStyle/>
          <a:p>
            <a:r>
              <a:rPr lang="en-US" dirty="0" smtClean="0"/>
              <a:t>The </a:t>
            </a:r>
            <a:r>
              <a:rPr lang="en-US" dirty="0" err="1" smtClean="0"/>
              <a:t>employeeMethod</a:t>
            </a:r>
            <a:r>
              <a:rPr lang="en-US" dirty="0" smtClean="0"/>
              <a:t> </a:t>
            </a:r>
            <a:r>
              <a:rPr lang="en-US" dirty="0"/>
              <a:t>has 2 whole lines devoted to receiving values and storing them in primitive variables. Sometimes such constructs can take up to 10 lines. It is much easier to pass the object itself and use it to extract the necessary data:</a:t>
            </a:r>
          </a:p>
        </p:txBody>
      </p:sp>
      <p:pic>
        <p:nvPicPr>
          <p:cNvPr id="4" name="Picture 3"/>
          <p:cNvPicPr>
            <a:picLocks noChangeAspect="1"/>
          </p:cNvPicPr>
          <p:nvPr/>
        </p:nvPicPr>
        <p:blipFill>
          <a:blip r:embed="rId2"/>
          <a:stretch>
            <a:fillRect/>
          </a:stretch>
        </p:blipFill>
        <p:spPr>
          <a:xfrm>
            <a:off x="5193792" y="2270659"/>
            <a:ext cx="5093208" cy="3526637"/>
          </a:xfrm>
          <a:prstGeom prst="rect">
            <a:avLst/>
          </a:prstGeom>
        </p:spPr>
      </p:pic>
    </p:spTree>
    <p:extLst>
      <p:ext uri="{BB962C8B-B14F-4D97-AF65-F5344CB8AC3E}">
        <p14:creationId xmlns:p14="http://schemas.microsoft.com/office/powerpoint/2010/main" val="167364766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77824" y="963716"/>
            <a:ext cx="10003536" cy="4930567"/>
          </a:xfrm>
          <a:prstGeom prst="rect">
            <a:avLst/>
          </a:prstGeom>
        </p:spPr>
      </p:pic>
      <p:sp>
        <p:nvSpPr>
          <p:cNvPr id="3" name="Title 1"/>
          <p:cNvSpPr txBox="1">
            <a:spLocks/>
          </p:cNvSpPr>
          <p:nvPr/>
        </p:nvSpPr>
        <p:spPr>
          <a:xfrm>
            <a:off x="838200" y="25539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smtClean="0"/>
              <a:t>Code Refactoring Techniques</a:t>
            </a:r>
            <a:endParaRPr lang="en-US" b="1" dirty="0"/>
          </a:p>
        </p:txBody>
      </p:sp>
    </p:spTree>
    <p:extLst>
      <p:ext uri="{BB962C8B-B14F-4D97-AF65-F5344CB8AC3E}">
        <p14:creationId xmlns:p14="http://schemas.microsoft.com/office/powerpoint/2010/main" val="331869658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Refactorings</a:t>
            </a:r>
            <a:r>
              <a:rPr lang="en-US" dirty="0"/>
              <a:t> - Composing Methods</a:t>
            </a:r>
          </a:p>
        </p:txBody>
      </p:sp>
      <p:sp>
        <p:nvSpPr>
          <p:cNvPr id="3" name="Content Placeholder 2"/>
          <p:cNvSpPr>
            <a:spLocks noGrp="1"/>
          </p:cNvSpPr>
          <p:nvPr>
            <p:ph idx="1"/>
          </p:nvPr>
        </p:nvSpPr>
        <p:spPr/>
        <p:txBody>
          <a:bodyPr>
            <a:normAutofit/>
          </a:bodyPr>
          <a:lstStyle/>
          <a:p>
            <a:pPr algn="just"/>
            <a:r>
              <a:rPr lang="en-US" dirty="0"/>
              <a:t>If you have a complex code fragment that can exist independently, extract it into its own </a:t>
            </a:r>
            <a:r>
              <a:rPr lang="en-US" dirty="0" smtClean="0"/>
              <a:t>method- extract method</a:t>
            </a:r>
          </a:p>
        </p:txBody>
      </p:sp>
    </p:spTree>
    <p:extLst>
      <p:ext uri="{BB962C8B-B14F-4D97-AF65-F5344CB8AC3E}">
        <p14:creationId xmlns:p14="http://schemas.microsoft.com/office/powerpoint/2010/main" val="213973268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4152" y="1185545"/>
            <a:ext cx="4419600" cy="4351338"/>
          </a:xfrm>
        </p:spPr>
        <p:txBody>
          <a:bodyPr>
            <a:normAutofit fontScale="92500" lnSpcReduction="20000"/>
          </a:bodyPr>
          <a:lstStyle/>
          <a:p>
            <a:pPr marL="0" indent="0" algn="just">
              <a:buNone/>
            </a:pPr>
            <a:r>
              <a:rPr lang="en-US" dirty="0"/>
              <a:t>Inline Method Refactoring</a:t>
            </a:r>
          </a:p>
          <a:p>
            <a:pPr algn="just"/>
            <a:r>
              <a:rPr lang="en-US" dirty="0" smtClean="0"/>
              <a:t>If </a:t>
            </a:r>
            <a:r>
              <a:rPr lang="en-US" dirty="0"/>
              <a:t>you have a method that is extremely simple, inline it into locations where it is used. </a:t>
            </a:r>
            <a:endParaRPr lang="en-US" dirty="0" smtClean="0"/>
          </a:p>
          <a:p>
            <a:pPr marL="0" indent="0" algn="just">
              <a:buNone/>
            </a:pPr>
            <a:r>
              <a:rPr lang="en-US" dirty="0"/>
              <a:t>1. Before: Over-factored Code</a:t>
            </a:r>
          </a:p>
          <a:p>
            <a:pPr algn="just"/>
            <a:r>
              <a:rPr lang="en-US" dirty="0"/>
              <a:t>In this scenario, </a:t>
            </a:r>
            <a:r>
              <a:rPr lang="en-US" dirty="0" smtClean="0"/>
              <a:t>the </a:t>
            </a:r>
            <a:r>
              <a:rPr lang="en-US" dirty="0" err="1" smtClean="0"/>
              <a:t>getDiscountAmount</a:t>
            </a:r>
            <a:r>
              <a:rPr lang="en-US" dirty="0"/>
              <a:t> method is so simple that its name doesn't really help clarify the intent, and its existence only adds a level of unnecessary indirection.</a:t>
            </a:r>
          </a:p>
        </p:txBody>
      </p:sp>
      <p:sp>
        <p:nvSpPr>
          <p:cNvPr id="5" name="Rectangle 4"/>
          <p:cNvSpPr/>
          <p:nvPr/>
        </p:nvSpPr>
        <p:spPr>
          <a:xfrm>
            <a:off x="5376672" y="338525"/>
            <a:ext cx="6096000" cy="5632311"/>
          </a:xfrm>
          <a:prstGeom prst="rect">
            <a:avLst/>
          </a:prstGeom>
        </p:spPr>
        <p:txBody>
          <a:bodyPr>
            <a:spAutoFit/>
          </a:bodyPr>
          <a:lstStyle/>
          <a:p>
            <a:r>
              <a:rPr lang="en-US" dirty="0"/>
              <a:t>public class </a:t>
            </a:r>
            <a:r>
              <a:rPr lang="en-US" dirty="0" err="1"/>
              <a:t>OrderProcessor</a:t>
            </a:r>
            <a:r>
              <a:rPr lang="en-US" dirty="0"/>
              <a:t> {</a:t>
            </a:r>
          </a:p>
          <a:p>
            <a:endParaRPr lang="en-US" dirty="0"/>
          </a:p>
          <a:p>
            <a:r>
              <a:rPr lang="en-US" dirty="0"/>
              <a:t>    // A simple method that merely wraps a calculation or constant</a:t>
            </a:r>
          </a:p>
          <a:p>
            <a:r>
              <a:rPr lang="en-US" dirty="0"/>
              <a:t>    private double </a:t>
            </a:r>
            <a:r>
              <a:rPr lang="en-US" dirty="0" err="1"/>
              <a:t>getDiscountAmount</a:t>
            </a:r>
            <a:r>
              <a:rPr lang="en-US" dirty="0"/>
              <a:t>() {</a:t>
            </a:r>
          </a:p>
          <a:p>
            <a:r>
              <a:rPr lang="en-US" dirty="0"/>
              <a:t>        // This is the entire body of the method</a:t>
            </a:r>
          </a:p>
          <a:p>
            <a:r>
              <a:rPr lang="en-US" dirty="0"/>
              <a:t>        return 5.00;</a:t>
            </a:r>
          </a:p>
          <a:p>
            <a:r>
              <a:rPr lang="en-US" dirty="0"/>
              <a:t>    }</a:t>
            </a:r>
          </a:p>
          <a:p>
            <a:endParaRPr lang="en-US" dirty="0"/>
          </a:p>
          <a:p>
            <a:r>
              <a:rPr lang="en-US" dirty="0"/>
              <a:t>    public double </a:t>
            </a:r>
            <a:r>
              <a:rPr lang="en-US" dirty="0" err="1"/>
              <a:t>calculateFinalPrice</a:t>
            </a:r>
            <a:r>
              <a:rPr lang="en-US" dirty="0"/>
              <a:t>(double </a:t>
            </a:r>
            <a:r>
              <a:rPr lang="en-US" dirty="0" err="1"/>
              <a:t>basePrice</a:t>
            </a:r>
            <a:r>
              <a:rPr lang="en-US" dirty="0"/>
              <a:t>) {</a:t>
            </a:r>
          </a:p>
          <a:p>
            <a:r>
              <a:rPr lang="en-US" dirty="0"/>
              <a:t>        double discount = </a:t>
            </a:r>
            <a:r>
              <a:rPr lang="en-US" dirty="0" err="1"/>
              <a:t>getDiscountAmount</a:t>
            </a:r>
            <a:r>
              <a:rPr lang="en-US" dirty="0"/>
              <a:t>(); // Calling the method</a:t>
            </a:r>
          </a:p>
          <a:p>
            <a:r>
              <a:rPr lang="en-US" dirty="0"/>
              <a:t>        </a:t>
            </a:r>
          </a:p>
          <a:p>
            <a:r>
              <a:rPr lang="en-US" dirty="0"/>
              <a:t>        if (</a:t>
            </a:r>
            <a:r>
              <a:rPr lang="en-US" dirty="0" err="1"/>
              <a:t>basePrice</a:t>
            </a:r>
            <a:r>
              <a:rPr lang="en-US" dirty="0"/>
              <a:t> &gt; 50.0) {</a:t>
            </a:r>
          </a:p>
          <a:p>
            <a:r>
              <a:rPr lang="en-US" dirty="0"/>
              <a:t>            return </a:t>
            </a:r>
            <a:r>
              <a:rPr lang="en-US" dirty="0" err="1"/>
              <a:t>basePrice</a:t>
            </a:r>
            <a:r>
              <a:rPr lang="en-US" dirty="0"/>
              <a:t> - discount;</a:t>
            </a:r>
          </a:p>
          <a:p>
            <a:r>
              <a:rPr lang="en-US" dirty="0"/>
              <a:t>        } else {</a:t>
            </a:r>
          </a:p>
          <a:p>
            <a:r>
              <a:rPr lang="en-US" dirty="0"/>
              <a:t>            return </a:t>
            </a:r>
            <a:r>
              <a:rPr lang="en-US" dirty="0" err="1"/>
              <a:t>basePrice</a:t>
            </a:r>
            <a:r>
              <a:rPr lang="en-US" dirty="0"/>
              <a:t>;</a:t>
            </a:r>
          </a:p>
          <a:p>
            <a:r>
              <a:rPr lang="en-US" dirty="0"/>
              <a:t>        }</a:t>
            </a:r>
          </a:p>
          <a:p>
            <a:r>
              <a:rPr lang="en-US" dirty="0"/>
              <a:t>    }</a:t>
            </a:r>
          </a:p>
          <a:p>
            <a:r>
              <a:rPr lang="en-US" dirty="0"/>
              <a:t>}</a:t>
            </a:r>
          </a:p>
        </p:txBody>
      </p:sp>
    </p:spTree>
    <p:extLst>
      <p:ext uri="{BB962C8B-B14F-4D97-AF65-F5344CB8AC3E}">
        <p14:creationId xmlns:p14="http://schemas.microsoft.com/office/powerpoint/2010/main" val="194571117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3102864" cy="4351338"/>
          </a:xfrm>
        </p:spPr>
        <p:txBody>
          <a:bodyPr/>
          <a:lstStyle/>
          <a:p>
            <a:pPr marL="0" indent="0">
              <a:buNone/>
            </a:pPr>
            <a:r>
              <a:rPr lang="en-US" dirty="0"/>
              <a:t>2. After: </a:t>
            </a:r>
            <a:r>
              <a:rPr lang="en-US" dirty="0" err="1"/>
              <a:t>Inlined</a:t>
            </a:r>
            <a:r>
              <a:rPr lang="en-US" dirty="0"/>
              <a:t> </a:t>
            </a:r>
            <a:r>
              <a:rPr lang="en-US" dirty="0" smtClean="0"/>
              <a:t>Code</a:t>
            </a:r>
          </a:p>
          <a:p>
            <a:r>
              <a:rPr lang="en-US" dirty="0"/>
              <a:t>The call to </a:t>
            </a:r>
            <a:r>
              <a:rPr lang="en-US" dirty="0" err="1"/>
              <a:t>getDiscountAmount</a:t>
            </a:r>
            <a:r>
              <a:rPr lang="en-US" dirty="0"/>
              <a:t>() is replaced with its actual body (return 5.00;) , and the original method is removed.</a:t>
            </a:r>
          </a:p>
        </p:txBody>
      </p:sp>
      <p:sp>
        <p:nvSpPr>
          <p:cNvPr id="4" name="Rectangle 3"/>
          <p:cNvSpPr/>
          <p:nvPr/>
        </p:nvSpPr>
        <p:spPr>
          <a:xfrm>
            <a:off x="4602480" y="1451646"/>
            <a:ext cx="6096000" cy="4247317"/>
          </a:xfrm>
          <a:prstGeom prst="rect">
            <a:avLst/>
          </a:prstGeom>
        </p:spPr>
        <p:txBody>
          <a:bodyPr>
            <a:spAutoFit/>
          </a:bodyPr>
          <a:lstStyle/>
          <a:p>
            <a:r>
              <a:rPr lang="en-US" dirty="0"/>
              <a:t>public class </a:t>
            </a:r>
            <a:r>
              <a:rPr lang="en-US" dirty="0" err="1"/>
              <a:t>OrderProcessor</a:t>
            </a:r>
            <a:r>
              <a:rPr lang="en-US" dirty="0"/>
              <a:t> {</a:t>
            </a:r>
          </a:p>
          <a:p>
            <a:endParaRPr lang="en-US" dirty="0"/>
          </a:p>
          <a:p>
            <a:r>
              <a:rPr lang="en-US" dirty="0"/>
              <a:t>    // The method '</a:t>
            </a:r>
            <a:r>
              <a:rPr lang="en-US" dirty="0" err="1"/>
              <a:t>getDiscountAmount</a:t>
            </a:r>
            <a:r>
              <a:rPr lang="en-US" dirty="0"/>
              <a:t>()' has been deleted.</a:t>
            </a:r>
          </a:p>
          <a:p>
            <a:endParaRPr lang="en-US" dirty="0"/>
          </a:p>
          <a:p>
            <a:r>
              <a:rPr lang="en-US" dirty="0"/>
              <a:t>    public double </a:t>
            </a:r>
            <a:r>
              <a:rPr lang="en-US" dirty="0" err="1"/>
              <a:t>calculateFinalPrice</a:t>
            </a:r>
            <a:r>
              <a:rPr lang="en-US" dirty="0"/>
              <a:t>(double </a:t>
            </a:r>
            <a:r>
              <a:rPr lang="en-US" dirty="0" err="1"/>
              <a:t>basePrice</a:t>
            </a:r>
            <a:r>
              <a:rPr lang="en-US" dirty="0"/>
              <a:t>) {</a:t>
            </a:r>
          </a:p>
          <a:p>
            <a:r>
              <a:rPr lang="en-US" dirty="0"/>
              <a:t>        // The simple method logic is now directly </a:t>
            </a:r>
            <a:r>
              <a:rPr lang="en-US" dirty="0" err="1"/>
              <a:t>inlined</a:t>
            </a:r>
            <a:endParaRPr lang="en-US" dirty="0"/>
          </a:p>
          <a:p>
            <a:r>
              <a:rPr lang="en-US" dirty="0"/>
              <a:t>        double discount = 5.00;</a:t>
            </a:r>
          </a:p>
          <a:p>
            <a:r>
              <a:rPr lang="en-US" dirty="0"/>
              <a:t>        </a:t>
            </a:r>
          </a:p>
          <a:p>
            <a:r>
              <a:rPr lang="en-US" dirty="0"/>
              <a:t>        if (</a:t>
            </a:r>
            <a:r>
              <a:rPr lang="en-US" dirty="0" err="1"/>
              <a:t>basePrice</a:t>
            </a:r>
            <a:r>
              <a:rPr lang="en-US" dirty="0"/>
              <a:t> &gt; 50.0) {</a:t>
            </a:r>
          </a:p>
          <a:p>
            <a:r>
              <a:rPr lang="en-US" dirty="0"/>
              <a:t>            return </a:t>
            </a:r>
            <a:r>
              <a:rPr lang="en-US" dirty="0" err="1"/>
              <a:t>basePrice</a:t>
            </a:r>
            <a:r>
              <a:rPr lang="en-US" dirty="0"/>
              <a:t> - discount;</a:t>
            </a:r>
          </a:p>
          <a:p>
            <a:r>
              <a:rPr lang="en-US" dirty="0"/>
              <a:t>        } else {</a:t>
            </a:r>
          </a:p>
          <a:p>
            <a:r>
              <a:rPr lang="en-US" dirty="0"/>
              <a:t>            return </a:t>
            </a:r>
            <a:r>
              <a:rPr lang="en-US" dirty="0" err="1"/>
              <a:t>basePrice</a:t>
            </a:r>
            <a:r>
              <a:rPr lang="en-US" dirty="0"/>
              <a:t>;</a:t>
            </a:r>
          </a:p>
          <a:p>
            <a:r>
              <a:rPr lang="en-US" dirty="0"/>
              <a:t>        }</a:t>
            </a:r>
          </a:p>
          <a:p>
            <a:r>
              <a:rPr lang="en-US" dirty="0"/>
              <a:t>    }</a:t>
            </a:r>
          </a:p>
          <a:p>
            <a:r>
              <a:rPr lang="en-US" dirty="0"/>
              <a:t>}</a:t>
            </a:r>
          </a:p>
        </p:txBody>
      </p:sp>
    </p:spTree>
    <p:extLst>
      <p:ext uri="{BB962C8B-B14F-4D97-AF65-F5344CB8AC3E}">
        <p14:creationId xmlns:p14="http://schemas.microsoft.com/office/powerpoint/2010/main" val="185064934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23685"/>
            <a:ext cx="5544312" cy="4968367"/>
          </a:xfrm>
        </p:spPr>
        <p:txBody>
          <a:bodyPr>
            <a:normAutofit/>
          </a:bodyPr>
          <a:lstStyle/>
          <a:p>
            <a:pPr algn="just"/>
            <a:r>
              <a:rPr lang="en-US" dirty="0"/>
              <a:t>If you assign values to a temporary variable more than once, split it into additional temporary variables. </a:t>
            </a:r>
            <a:endParaRPr lang="en-US" dirty="0" smtClean="0"/>
          </a:p>
          <a:p>
            <a:pPr marL="0" indent="0" algn="just">
              <a:buNone/>
            </a:pPr>
            <a:r>
              <a:rPr lang="en-US" dirty="0"/>
              <a:t>1. Before: Reassigned Temporary </a:t>
            </a:r>
            <a:r>
              <a:rPr lang="en-US" dirty="0" smtClean="0"/>
              <a:t>Variable</a:t>
            </a:r>
          </a:p>
          <a:p>
            <a:pPr lvl="1" algn="just"/>
            <a:r>
              <a:rPr lang="en-US" dirty="0"/>
              <a:t>In this example, the variable </a:t>
            </a:r>
            <a:r>
              <a:rPr lang="en-US" dirty="0" err="1" smtClean="0"/>
              <a:t>tempValue</a:t>
            </a:r>
            <a:r>
              <a:rPr lang="en-US" dirty="0"/>
              <a:t> is used for </a:t>
            </a:r>
            <a:r>
              <a:rPr lang="en-US" b="1" dirty="0"/>
              <a:t>three different purposes</a:t>
            </a:r>
            <a:r>
              <a:rPr lang="en-US" dirty="0"/>
              <a:t>: it holds the base price, then the price after a fixed discount, and finally, the price after a percentage discount.</a:t>
            </a:r>
          </a:p>
        </p:txBody>
      </p:sp>
      <p:sp>
        <p:nvSpPr>
          <p:cNvPr id="4" name="Rectangle 3"/>
          <p:cNvSpPr/>
          <p:nvPr/>
        </p:nvSpPr>
        <p:spPr>
          <a:xfrm>
            <a:off x="5681472" y="336740"/>
            <a:ext cx="6096000" cy="5355312"/>
          </a:xfrm>
          <a:prstGeom prst="rect">
            <a:avLst/>
          </a:prstGeom>
        </p:spPr>
        <p:txBody>
          <a:bodyPr>
            <a:spAutoFit/>
          </a:bodyPr>
          <a:lstStyle/>
          <a:p>
            <a:r>
              <a:rPr lang="en-US" dirty="0"/>
              <a:t>public double </a:t>
            </a:r>
            <a:r>
              <a:rPr lang="en-US" dirty="0" err="1"/>
              <a:t>calculateAdjustedPrice</a:t>
            </a:r>
            <a:r>
              <a:rPr lang="en-US" dirty="0"/>
              <a:t>(double quantity, double </a:t>
            </a:r>
            <a:r>
              <a:rPr lang="en-US" dirty="0" err="1"/>
              <a:t>itemPrice</a:t>
            </a:r>
            <a:r>
              <a:rPr lang="en-US" dirty="0"/>
              <a:t>, double </a:t>
            </a:r>
            <a:r>
              <a:rPr lang="en-US" dirty="0" err="1"/>
              <a:t>fixedDiscount</a:t>
            </a:r>
            <a:r>
              <a:rPr lang="en-US" dirty="0"/>
              <a:t>) {</a:t>
            </a:r>
          </a:p>
          <a:p>
            <a:r>
              <a:rPr lang="en-US" dirty="0"/>
              <a:t>    </a:t>
            </a:r>
          </a:p>
          <a:p>
            <a:r>
              <a:rPr lang="en-US" dirty="0"/>
              <a:t>    // </a:t>
            </a:r>
            <a:r>
              <a:rPr lang="en-US" dirty="0" err="1"/>
              <a:t>tempValue</a:t>
            </a:r>
            <a:r>
              <a:rPr lang="en-US" dirty="0"/>
              <a:t> is used to calculate the base price</a:t>
            </a:r>
          </a:p>
          <a:p>
            <a:r>
              <a:rPr lang="en-US" dirty="0"/>
              <a:t>    double </a:t>
            </a:r>
            <a:r>
              <a:rPr lang="en-US" dirty="0" err="1"/>
              <a:t>tempValue</a:t>
            </a:r>
            <a:r>
              <a:rPr lang="en-US" dirty="0"/>
              <a:t> = quantity * </a:t>
            </a:r>
            <a:r>
              <a:rPr lang="en-US" dirty="0" err="1"/>
              <a:t>itemPrice</a:t>
            </a:r>
            <a:r>
              <a:rPr lang="en-US" dirty="0"/>
              <a:t>;</a:t>
            </a:r>
          </a:p>
          <a:p>
            <a:r>
              <a:rPr lang="en-US" dirty="0"/>
              <a:t>    </a:t>
            </a:r>
          </a:p>
          <a:p>
            <a:r>
              <a:rPr lang="en-US" dirty="0"/>
              <a:t>    // </a:t>
            </a:r>
            <a:r>
              <a:rPr lang="en-US" dirty="0" err="1"/>
              <a:t>tempValue</a:t>
            </a:r>
            <a:r>
              <a:rPr lang="en-US" dirty="0"/>
              <a:t> is reassigned to apply a fixed discount</a:t>
            </a:r>
          </a:p>
          <a:p>
            <a:r>
              <a:rPr lang="en-US" dirty="0"/>
              <a:t>    if (</a:t>
            </a:r>
            <a:r>
              <a:rPr lang="en-US" dirty="0" err="1"/>
              <a:t>tempValue</a:t>
            </a:r>
            <a:r>
              <a:rPr lang="en-US" dirty="0"/>
              <a:t> &gt; 100) {</a:t>
            </a:r>
          </a:p>
          <a:p>
            <a:r>
              <a:rPr lang="en-US" dirty="0"/>
              <a:t>        </a:t>
            </a:r>
            <a:r>
              <a:rPr lang="en-US" dirty="0" err="1"/>
              <a:t>tempValue</a:t>
            </a:r>
            <a:r>
              <a:rPr lang="en-US" dirty="0"/>
              <a:t> = </a:t>
            </a:r>
            <a:r>
              <a:rPr lang="en-US" dirty="0" err="1"/>
              <a:t>tempValue</a:t>
            </a:r>
            <a:r>
              <a:rPr lang="en-US" dirty="0"/>
              <a:t> - </a:t>
            </a:r>
            <a:r>
              <a:rPr lang="en-US" dirty="0" err="1"/>
              <a:t>fixedDiscount</a:t>
            </a:r>
            <a:r>
              <a:rPr lang="en-US" dirty="0"/>
              <a:t>;</a:t>
            </a:r>
          </a:p>
          <a:p>
            <a:r>
              <a:rPr lang="en-US" dirty="0"/>
              <a:t>    }</a:t>
            </a:r>
          </a:p>
          <a:p>
            <a:endParaRPr lang="en-US" dirty="0"/>
          </a:p>
          <a:p>
            <a:r>
              <a:rPr lang="en-US" dirty="0"/>
              <a:t>    // </a:t>
            </a:r>
            <a:r>
              <a:rPr lang="en-US" dirty="0" err="1"/>
              <a:t>tempValue</a:t>
            </a:r>
            <a:r>
              <a:rPr lang="en-US" dirty="0"/>
              <a:t> is reassigned again to apply a percentage discount</a:t>
            </a:r>
          </a:p>
          <a:p>
            <a:r>
              <a:rPr lang="en-US" dirty="0"/>
              <a:t>    if (quantity &gt; 10) {</a:t>
            </a:r>
          </a:p>
          <a:p>
            <a:r>
              <a:rPr lang="en-US" dirty="0"/>
              <a:t>        </a:t>
            </a:r>
            <a:r>
              <a:rPr lang="en-US" dirty="0" err="1"/>
              <a:t>tempValue</a:t>
            </a:r>
            <a:r>
              <a:rPr lang="en-US" dirty="0"/>
              <a:t> = </a:t>
            </a:r>
            <a:r>
              <a:rPr lang="en-US" dirty="0" err="1"/>
              <a:t>tempValue</a:t>
            </a:r>
            <a:r>
              <a:rPr lang="en-US" dirty="0"/>
              <a:t> * 0.95; // 5% off</a:t>
            </a:r>
          </a:p>
          <a:p>
            <a:r>
              <a:rPr lang="en-US" dirty="0"/>
              <a:t>    }</a:t>
            </a:r>
          </a:p>
          <a:p>
            <a:r>
              <a:rPr lang="en-US" dirty="0"/>
              <a:t>    </a:t>
            </a:r>
          </a:p>
          <a:p>
            <a:r>
              <a:rPr lang="en-US" dirty="0"/>
              <a:t>    return </a:t>
            </a:r>
            <a:r>
              <a:rPr lang="en-US" dirty="0" err="1"/>
              <a:t>tempValue</a:t>
            </a:r>
            <a:r>
              <a:rPr lang="en-US" dirty="0"/>
              <a:t>;</a:t>
            </a:r>
          </a:p>
          <a:p>
            <a:r>
              <a:rPr lang="en-US" dirty="0"/>
              <a:t>}</a:t>
            </a:r>
          </a:p>
        </p:txBody>
      </p:sp>
      <p:sp>
        <p:nvSpPr>
          <p:cNvPr id="5" name="Rectangle 4"/>
          <p:cNvSpPr/>
          <p:nvPr/>
        </p:nvSpPr>
        <p:spPr>
          <a:xfrm>
            <a:off x="512064" y="5692052"/>
            <a:ext cx="10545577" cy="646331"/>
          </a:xfrm>
          <a:prstGeom prst="rect">
            <a:avLst/>
          </a:prstGeom>
        </p:spPr>
        <p:txBody>
          <a:bodyPr wrap="square">
            <a:spAutoFit/>
          </a:bodyPr>
          <a:lstStyle/>
          <a:p>
            <a:r>
              <a:rPr lang="en-US" b="1" dirty="0"/>
              <a:t>Problem:</a:t>
            </a:r>
            <a:r>
              <a:rPr lang="en-US" dirty="0"/>
              <a:t> Reassigning the variable </a:t>
            </a:r>
            <a:r>
              <a:rPr lang="en-US" dirty="0" err="1" smtClean="0"/>
              <a:t>tempValue</a:t>
            </a:r>
            <a:r>
              <a:rPr lang="en-US" dirty="0"/>
              <a:t> makes the code harder to debug. If a bug is found, you have to trace which calculation stage the variable currently holds</a:t>
            </a:r>
            <a:r>
              <a:rPr lang="en-US" dirty="0" smtClean="0"/>
              <a:t>.</a:t>
            </a:r>
            <a:endParaRPr lang="en-US" dirty="0"/>
          </a:p>
        </p:txBody>
      </p:sp>
    </p:spTree>
    <p:extLst>
      <p:ext uri="{BB962C8B-B14F-4D97-AF65-F5344CB8AC3E}">
        <p14:creationId xmlns:p14="http://schemas.microsoft.com/office/powerpoint/2010/main" val="282784420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8472" y="499745"/>
            <a:ext cx="4757928" cy="4351338"/>
          </a:xfrm>
        </p:spPr>
        <p:txBody>
          <a:bodyPr/>
          <a:lstStyle/>
          <a:p>
            <a:pPr marL="0" indent="0">
              <a:buNone/>
            </a:pPr>
            <a:r>
              <a:rPr lang="en-US" b="1" dirty="0" smtClean="0"/>
              <a:t>2. After: Split Temporary Variables</a:t>
            </a:r>
          </a:p>
          <a:p>
            <a:pPr lvl="1"/>
            <a:r>
              <a:rPr lang="en-US" dirty="0" smtClean="0"/>
              <a:t>The logic is refactored by creating a separate, well-named variable for each distinct calculation step.</a:t>
            </a:r>
            <a:endParaRPr lang="en-US" dirty="0"/>
          </a:p>
        </p:txBody>
      </p:sp>
      <p:sp>
        <p:nvSpPr>
          <p:cNvPr id="4" name="Rectangle 3"/>
          <p:cNvSpPr/>
          <p:nvPr/>
        </p:nvSpPr>
        <p:spPr>
          <a:xfrm>
            <a:off x="5562600" y="429965"/>
            <a:ext cx="6096000" cy="5632311"/>
          </a:xfrm>
          <a:prstGeom prst="rect">
            <a:avLst/>
          </a:prstGeom>
        </p:spPr>
        <p:txBody>
          <a:bodyPr>
            <a:spAutoFit/>
          </a:bodyPr>
          <a:lstStyle/>
          <a:p>
            <a:r>
              <a:rPr lang="en-US" dirty="0"/>
              <a:t>public double </a:t>
            </a:r>
            <a:r>
              <a:rPr lang="en-US" dirty="0" err="1"/>
              <a:t>calculateAdjustedPrice</a:t>
            </a:r>
            <a:r>
              <a:rPr lang="en-US" dirty="0"/>
              <a:t>(double quantity, double </a:t>
            </a:r>
            <a:r>
              <a:rPr lang="en-US" dirty="0" err="1"/>
              <a:t>itemPrice</a:t>
            </a:r>
            <a:r>
              <a:rPr lang="en-US" dirty="0"/>
              <a:t>, double </a:t>
            </a:r>
            <a:r>
              <a:rPr lang="en-US" dirty="0" err="1"/>
              <a:t>fixedDiscount</a:t>
            </a:r>
            <a:r>
              <a:rPr lang="en-US" dirty="0"/>
              <a:t>) {</a:t>
            </a:r>
          </a:p>
          <a:p>
            <a:r>
              <a:rPr lang="en-US" dirty="0"/>
              <a:t>    </a:t>
            </a:r>
          </a:p>
          <a:p>
            <a:r>
              <a:rPr lang="en-US" dirty="0"/>
              <a:t>    // 1. Calculate the initial base price</a:t>
            </a:r>
          </a:p>
          <a:p>
            <a:r>
              <a:rPr lang="en-US" dirty="0"/>
              <a:t>    double </a:t>
            </a:r>
            <a:r>
              <a:rPr lang="en-US" dirty="0" err="1"/>
              <a:t>basePrice</a:t>
            </a:r>
            <a:r>
              <a:rPr lang="en-US" dirty="0"/>
              <a:t> = quantity * </a:t>
            </a:r>
            <a:r>
              <a:rPr lang="en-US" dirty="0" err="1"/>
              <a:t>itemPrice</a:t>
            </a:r>
            <a:r>
              <a:rPr lang="en-US" dirty="0"/>
              <a:t>;</a:t>
            </a:r>
          </a:p>
          <a:p>
            <a:r>
              <a:rPr lang="en-US" dirty="0"/>
              <a:t>    </a:t>
            </a:r>
          </a:p>
          <a:p>
            <a:r>
              <a:rPr lang="en-US" dirty="0"/>
              <a:t>    // 2. Apply a fixed discount (using a new variable)</a:t>
            </a:r>
          </a:p>
          <a:p>
            <a:r>
              <a:rPr lang="en-US" dirty="0"/>
              <a:t>    double </a:t>
            </a:r>
            <a:r>
              <a:rPr lang="en-US" dirty="0" err="1"/>
              <a:t>priceAfterFixedDiscount</a:t>
            </a:r>
            <a:r>
              <a:rPr lang="en-US" dirty="0"/>
              <a:t> = </a:t>
            </a:r>
            <a:r>
              <a:rPr lang="en-US" dirty="0" err="1"/>
              <a:t>basePrice</a:t>
            </a:r>
            <a:r>
              <a:rPr lang="en-US" dirty="0"/>
              <a:t>;</a:t>
            </a:r>
          </a:p>
          <a:p>
            <a:r>
              <a:rPr lang="en-US" dirty="0"/>
              <a:t>    if (</a:t>
            </a:r>
            <a:r>
              <a:rPr lang="en-US" dirty="0" err="1"/>
              <a:t>basePrice</a:t>
            </a:r>
            <a:r>
              <a:rPr lang="en-US" dirty="0"/>
              <a:t> &gt; 100) {</a:t>
            </a:r>
          </a:p>
          <a:p>
            <a:r>
              <a:rPr lang="en-US" dirty="0"/>
              <a:t>        </a:t>
            </a:r>
            <a:r>
              <a:rPr lang="en-US" dirty="0" err="1"/>
              <a:t>priceAfterFixedDiscount</a:t>
            </a:r>
            <a:r>
              <a:rPr lang="en-US" dirty="0"/>
              <a:t> = </a:t>
            </a:r>
            <a:r>
              <a:rPr lang="en-US" dirty="0" err="1"/>
              <a:t>basePrice</a:t>
            </a:r>
            <a:r>
              <a:rPr lang="en-US" dirty="0"/>
              <a:t> - </a:t>
            </a:r>
            <a:r>
              <a:rPr lang="en-US" dirty="0" err="1"/>
              <a:t>fixedDiscount</a:t>
            </a:r>
            <a:r>
              <a:rPr lang="en-US" dirty="0"/>
              <a:t>;</a:t>
            </a:r>
          </a:p>
          <a:p>
            <a:r>
              <a:rPr lang="en-US" dirty="0"/>
              <a:t>    }</a:t>
            </a:r>
          </a:p>
          <a:p>
            <a:endParaRPr lang="en-US" dirty="0"/>
          </a:p>
          <a:p>
            <a:r>
              <a:rPr lang="en-US" dirty="0"/>
              <a:t>    // 3. Apply a percentage discount (using a new variable)</a:t>
            </a:r>
          </a:p>
          <a:p>
            <a:r>
              <a:rPr lang="en-US" dirty="0"/>
              <a:t>    double </a:t>
            </a:r>
            <a:r>
              <a:rPr lang="en-US" dirty="0" err="1"/>
              <a:t>finalPrice</a:t>
            </a:r>
            <a:r>
              <a:rPr lang="en-US" dirty="0"/>
              <a:t> = </a:t>
            </a:r>
            <a:r>
              <a:rPr lang="en-US" dirty="0" err="1"/>
              <a:t>priceAfterFixedDiscount</a:t>
            </a:r>
            <a:r>
              <a:rPr lang="en-US" dirty="0"/>
              <a:t>;</a:t>
            </a:r>
          </a:p>
          <a:p>
            <a:r>
              <a:rPr lang="en-US" dirty="0"/>
              <a:t>    if (quantity &gt; 10) {</a:t>
            </a:r>
          </a:p>
          <a:p>
            <a:r>
              <a:rPr lang="en-US" dirty="0"/>
              <a:t>        </a:t>
            </a:r>
            <a:r>
              <a:rPr lang="en-US" dirty="0" err="1"/>
              <a:t>finalPrice</a:t>
            </a:r>
            <a:r>
              <a:rPr lang="en-US" dirty="0"/>
              <a:t> = </a:t>
            </a:r>
            <a:r>
              <a:rPr lang="en-US" dirty="0" err="1"/>
              <a:t>priceAfterFixedDiscount</a:t>
            </a:r>
            <a:r>
              <a:rPr lang="en-US" dirty="0"/>
              <a:t> * 0.95; // 5% off</a:t>
            </a:r>
          </a:p>
          <a:p>
            <a:r>
              <a:rPr lang="en-US" dirty="0"/>
              <a:t>    }</a:t>
            </a:r>
          </a:p>
          <a:p>
            <a:r>
              <a:rPr lang="en-US" dirty="0"/>
              <a:t>    </a:t>
            </a:r>
          </a:p>
          <a:p>
            <a:r>
              <a:rPr lang="en-US" dirty="0"/>
              <a:t>    return </a:t>
            </a:r>
            <a:r>
              <a:rPr lang="en-US" dirty="0" err="1"/>
              <a:t>finalPrice</a:t>
            </a:r>
            <a:r>
              <a:rPr lang="en-US" dirty="0"/>
              <a:t>;</a:t>
            </a:r>
          </a:p>
          <a:p>
            <a:r>
              <a:rPr lang="en-US" dirty="0"/>
              <a:t>}</a:t>
            </a:r>
          </a:p>
        </p:txBody>
      </p:sp>
    </p:spTree>
    <p:extLst>
      <p:ext uri="{BB962C8B-B14F-4D97-AF65-F5344CB8AC3E}">
        <p14:creationId xmlns:p14="http://schemas.microsoft.com/office/powerpoint/2010/main" val="292026912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3880" y="682625"/>
            <a:ext cx="5205984" cy="4351338"/>
          </a:xfrm>
        </p:spPr>
        <p:txBody>
          <a:bodyPr>
            <a:normAutofit lnSpcReduction="10000"/>
          </a:bodyPr>
          <a:lstStyle/>
          <a:p>
            <a:pPr algn="just"/>
            <a:r>
              <a:rPr lang="en-US" dirty="0"/>
              <a:t>If assignments are made to parameter variables in a method, instead assign to a temporary variable. </a:t>
            </a:r>
            <a:endParaRPr lang="en-US" dirty="0" smtClean="0"/>
          </a:p>
          <a:p>
            <a:pPr algn="just"/>
            <a:r>
              <a:rPr lang="en-US" dirty="0" smtClean="0"/>
              <a:t>Example: </a:t>
            </a:r>
          </a:p>
          <a:p>
            <a:pPr lvl="1" algn="just"/>
            <a:r>
              <a:rPr lang="en-US" dirty="0" smtClean="0"/>
              <a:t>Before</a:t>
            </a:r>
            <a:r>
              <a:rPr lang="en-US" dirty="0"/>
              <a:t>: Assigning to a </a:t>
            </a:r>
            <a:r>
              <a:rPr lang="en-US" dirty="0" smtClean="0"/>
              <a:t>Parameter</a:t>
            </a:r>
          </a:p>
          <a:p>
            <a:pPr lvl="2" algn="just"/>
            <a:r>
              <a:rPr lang="en-US" dirty="0"/>
              <a:t>In this example, the method calculates the total price after applying a sales tax. The input parameter price is directly modified and used to store the intermediate calculation, which is considered a bad practice.</a:t>
            </a:r>
          </a:p>
        </p:txBody>
      </p:sp>
      <p:sp>
        <p:nvSpPr>
          <p:cNvPr id="5" name="Rectangle 4"/>
          <p:cNvSpPr/>
          <p:nvPr/>
        </p:nvSpPr>
        <p:spPr>
          <a:xfrm>
            <a:off x="6876288" y="1115997"/>
            <a:ext cx="4956048" cy="4247317"/>
          </a:xfrm>
          <a:prstGeom prst="rect">
            <a:avLst/>
          </a:prstGeom>
        </p:spPr>
        <p:txBody>
          <a:bodyPr wrap="square">
            <a:spAutoFit/>
          </a:bodyPr>
          <a:lstStyle/>
          <a:p>
            <a:r>
              <a:rPr lang="en-US" dirty="0"/>
              <a:t>public double </a:t>
            </a:r>
            <a:r>
              <a:rPr lang="en-US" dirty="0" err="1"/>
              <a:t>calculateFinalPrice</a:t>
            </a:r>
            <a:r>
              <a:rPr lang="en-US" dirty="0"/>
              <a:t>(double price, double </a:t>
            </a:r>
            <a:r>
              <a:rPr lang="en-US" dirty="0" err="1"/>
              <a:t>taxRate</a:t>
            </a:r>
            <a:r>
              <a:rPr lang="en-US" dirty="0"/>
              <a:t>) {</a:t>
            </a:r>
          </a:p>
          <a:p>
            <a:r>
              <a:rPr lang="en-US" dirty="0"/>
              <a:t>    // 1. The 'price' parameter is directly reassigned.</a:t>
            </a:r>
          </a:p>
          <a:p>
            <a:r>
              <a:rPr lang="en-US" dirty="0"/>
              <a:t>    price = price * (1.0 + </a:t>
            </a:r>
            <a:r>
              <a:rPr lang="en-US" dirty="0" err="1"/>
              <a:t>taxRate</a:t>
            </a:r>
            <a:r>
              <a:rPr lang="en-US" dirty="0"/>
              <a:t>); </a:t>
            </a:r>
          </a:p>
          <a:p>
            <a:r>
              <a:rPr lang="en-US" dirty="0"/>
              <a:t>    </a:t>
            </a:r>
          </a:p>
          <a:p>
            <a:r>
              <a:rPr lang="en-US" dirty="0"/>
              <a:t>    // 2. 'price' is reassigned again to apply a service fee.</a:t>
            </a:r>
          </a:p>
          <a:p>
            <a:r>
              <a:rPr lang="en-US" dirty="0"/>
              <a:t>    if (price &lt; 10.0) {</a:t>
            </a:r>
          </a:p>
          <a:p>
            <a:r>
              <a:rPr lang="en-US" dirty="0"/>
              <a:t>        price = price + 2.50; // Add service fee for small orders</a:t>
            </a:r>
          </a:p>
          <a:p>
            <a:r>
              <a:rPr lang="en-US" dirty="0"/>
              <a:t>    }</a:t>
            </a:r>
          </a:p>
          <a:p>
            <a:r>
              <a:rPr lang="en-US" dirty="0"/>
              <a:t>    </a:t>
            </a:r>
          </a:p>
          <a:p>
            <a:r>
              <a:rPr lang="en-US" dirty="0"/>
              <a:t>    // The original input value of 'price' is lost.</a:t>
            </a:r>
          </a:p>
          <a:p>
            <a:r>
              <a:rPr lang="en-US" dirty="0"/>
              <a:t>    return price;</a:t>
            </a:r>
          </a:p>
          <a:p>
            <a:r>
              <a:rPr lang="en-US" dirty="0"/>
              <a:t>}</a:t>
            </a:r>
          </a:p>
        </p:txBody>
      </p:sp>
      <p:sp>
        <p:nvSpPr>
          <p:cNvPr id="6" name="Rectangle 2"/>
          <p:cNvSpPr>
            <a:spLocks noChangeArrowheads="1"/>
          </p:cNvSpPr>
          <p:nvPr/>
        </p:nvSpPr>
        <p:spPr bwMode="auto">
          <a:xfrm>
            <a:off x="563880" y="4930195"/>
            <a:ext cx="10993382"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Problem:</a:t>
            </a:r>
            <a:r>
              <a:rPr kumimoji="0" lang="en-US" sz="1800" b="0" i="0" u="none" strike="noStrike" cap="none" normalizeH="0" baseline="0" dirty="0" smtClean="0">
                <a:ln>
                  <a:noFill/>
                </a:ln>
                <a:solidFill>
                  <a:schemeClr val="tx1"/>
                </a:solidFill>
                <a:effectLst/>
                <a:latin typeface="Arial" panose="020B0604020202020204" pitchFamily="34" charset="0"/>
              </a:rPr>
              <a:t> Modifying the </a:t>
            </a:r>
            <a:r>
              <a:rPr kumimoji="0" lang="en-US" sz="2000" b="0" i="0" u="none" strike="noStrike" cap="none" normalizeH="0" baseline="0" dirty="0" smtClean="0">
                <a:ln>
                  <a:noFill/>
                </a:ln>
                <a:solidFill>
                  <a:schemeClr val="tx1"/>
                </a:solidFill>
                <a:effectLst/>
                <a:latin typeface="Arial Unicode MS" panose="020B0604020202020204" pitchFamily="34" charset="-128"/>
              </a:rPr>
              <a:t>price</a:t>
            </a:r>
            <a:r>
              <a:rPr kumimoji="0" lang="en-US" sz="2000" b="0" i="0" u="none" strike="noStrike" cap="none" normalizeH="0" baseline="0" dirty="0" smtClean="0">
                <a:ln>
                  <a:noFill/>
                </a:ln>
                <a:solidFill>
                  <a:schemeClr val="tx1"/>
                </a:solidFill>
                <a:effectLst/>
              </a:rPr>
              <a:t> parameter is confusing because the name </a:t>
            </a:r>
            <a:r>
              <a:rPr kumimoji="0" lang="en-US" sz="2000" b="0" i="0" u="none" strike="noStrike" cap="none" normalizeH="0" baseline="0" dirty="0" smtClean="0">
                <a:ln>
                  <a:noFill/>
                </a:ln>
                <a:solidFill>
                  <a:schemeClr val="tx1"/>
                </a:solidFill>
                <a:effectLst/>
                <a:latin typeface="Arial Unicode MS" panose="020B0604020202020204" pitchFamily="34" charset="-128"/>
              </a:rPr>
              <a:t>price</a:t>
            </a:r>
            <a:r>
              <a:rPr kumimoji="0" lang="en-US" sz="2000" b="0" i="0" u="none" strike="noStrike" cap="none" normalizeH="0" baseline="0" dirty="0" smtClean="0">
                <a:ln>
                  <a:noFill/>
                </a:ln>
                <a:solidFill>
                  <a:schemeClr val="tx1"/>
                </a:solidFill>
                <a:effectLst/>
              </a:rPr>
              <a:t> initially suggests the original input, but it quickly changes to mean "price with tax" and then "final price." This makes it hard to see what the original value was and can lead to confusion if the language were "pass-by-reference" (though Java is "pass-by-value"). </a:t>
            </a:r>
            <a:endParaRPr kumimoji="0" lang="en-US"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500983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5048" y="1024731"/>
            <a:ext cx="4227576" cy="4351338"/>
          </a:xfrm>
        </p:spPr>
        <p:txBody>
          <a:bodyPr>
            <a:normAutofit lnSpcReduction="10000"/>
          </a:bodyPr>
          <a:lstStyle/>
          <a:p>
            <a:r>
              <a:rPr lang="en-US" dirty="0"/>
              <a:t>After: Remove Assignments to </a:t>
            </a:r>
            <a:r>
              <a:rPr lang="en-US" dirty="0" smtClean="0"/>
              <a:t>Parameters</a:t>
            </a:r>
          </a:p>
          <a:p>
            <a:r>
              <a:rPr lang="en-US" dirty="0"/>
              <a:t>The refactored code introduces a new, well-named </a:t>
            </a:r>
            <a:r>
              <a:rPr lang="en-US" b="1" dirty="0"/>
              <a:t>temporary variable</a:t>
            </a:r>
            <a:r>
              <a:rPr lang="en-US" dirty="0"/>
              <a:t> (</a:t>
            </a:r>
            <a:r>
              <a:rPr lang="en-US" dirty="0" err="1"/>
              <a:t>finalPrice</a:t>
            </a:r>
            <a:r>
              <a:rPr lang="en-US" dirty="0"/>
              <a:t>) to hold the intermediate calculations, leaving the input parameter (price) untouched.</a:t>
            </a:r>
          </a:p>
        </p:txBody>
      </p:sp>
      <p:sp>
        <p:nvSpPr>
          <p:cNvPr id="4" name="Rectangle 3"/>
          <p:cNvSpPr/>
          <p:nvPr/>
        </p:nvSpPr>
        <p:spPr>
          <a:xfrm>
            <a:off x="5215128" y="661244"/>
            <a:ext cx="6096000" cy="5078313"/>
          </a:xfrm>
          <a:prstGeom prst="rect">
            <a:avLst/>
          </a:prstGeom>
        </p:spPr>
        <p:txBody>
          <a:bodyPr>
            <a:spAutoFit/>
          </a:bodyPr>
          <a:lstStyle/>
          <a:p>
            <a:r>
              <a:rPr lang="en-US" dirty="0"/>
              <a:t>public double </a:t>
            </a:r>
            <a:r>
              <a:rPr lang="en-US" dirty="0" err="1"/>
              <a:t>calculateFinalPrice</a:t>
            </a:r>
            <a:r>
              <a:rPr lang="en-US" dirty="0"/>
              <a:t>(double price, double </a:t>
            </a:r>
            <a:r>
              <a:rPr lang="en-US" dirty="0" err="1"/>
              <a:t>taxRate</a:t>
            </a:r>
            <a:r>
              <a:rPr lang="en-US" dirty="0"/>
              <a:t>) {</a:t>
            </a:r>
          </a:p>
          <a:p>
            <a:r>
              <a:rPr lang="en-US" dirty="0"/>
              <a:t>    </a:t>
            </a:r>
          </a:p>
          <a:p>
            <a:r>
              <a:rPr lang="en-US" dirty="0"/>
              <a:t>    // 1. Introduce a temporary variable to hold the result of the calculation.</a:t>
            </a:r>
          </a:p>
          <a:p>
            <a:r>
              <a:rPr lang="en-US" dirty="0"/>
              <a:t>    double </a:t>
            </a:r>
            <a:r>
              <a:rPr lang="en-US" dirty="0" err="1"/>
              <a:t>finalPrice</a:t>
            </a:r>
            <a:r>
              <a:rPr lang="en-US" dirty="0"/>
              <a:t> = price * (1.0 + </a:t>
            </a:r>
            <a:r>
              <a:rPr lang="en-US" dirty="0" err="1"/>
              <a:t>taxRate</a:t>
            </a:r>
            <a:r>
              <a:rPr lang="en-US" dirty="0"/>
              <a:t>);</a:t>
            </a:r>
          </a:p>
          <a:p>
            <a:r>
              <a:rPr lang="en-US" dirty="0"/>
              <a:t>    </a:t>
            </a:r>
          </a:p>
          <a:p>
            <a:r>
              <a:rPr lang="en-US" dirty="0"/>
              <a:t>    // 2. Modify the temporary variable, leaving the 'price' parameter intact.</a:t>
            </a:r>
          </a:p>
          <a:p>
            <a:r>
              <a:rPr lang="en-US" dirty="0"/>
              <a:t>    if (</a:t>
            </a:r>
            <a:r>
              <a:rPr lang="en-US" dirty="0" err="1"/>
              <a:t>finalPrice</a:t>
            </a:r>
            <a:r>
              <a:rPr lang="en-US" dirty="0"/>
              <a:t> &lt; 10.0) {</a:t>
            </a:r>
          </a:p>
          <a:p>
            <a:r>
              <a:rPr lang="en-US" dirty="0"/>
              <a:t>        </a:t>
            </a:r>
            <a:r>
              <a:rPr lang="en-US" dirty="0" err="1"/>
              <a:t>finalPrice</a:t>
            </a:r>
            <a:r>
              <a:rPr lang="en-US" dirty="0"/>
              <a:t> = </a:t>
            </a:r>
            <a:r>
              <a:rPr lang="en-US" dirty="0" err="1"/>
              <a:t>finalPrice</a:t>
            </a:r>
            <a:r>
              <a:rPr lang="en-US" dirty="0"/>
              <a:t> + 2.50; // Add service fee for small orders</a:t>
            </a:r>
          </a:p>
          <a:p>
            <a:r>
              <a:rPr lang="en-US" dirty="0"/>
              <a:t>    }</a:t>
            </a:r>
          </a:p>
          <a:p>
            <a:r>
              <a:rPr lang="en-US" dirty="0"/>
              <a:t>    </a:t>
            </a:r>
          </a:p>
          <a:p>
            <a:r>
              <a:rPr lang="en-US" dirty="0"/>
              <a:t>    // The original input 'price' remains available but '</a:t>
            </a:r>
            <a:r>
              <a:rPr lang="en-US" dirty="0" err="1"/>
              <a:t>finalPrice</a:t>
            </a:r>
            <a:r>
              <a:rPr lang="en-US" dirty="0"/>
              <a:t>' is returned.</a:t>
            </a:r>
          </a:p>
          <a:p>
            <a:r>
              <a:rPr lang="en-US" dirty="0"/>
              <a:t>    return </a:t>
            </a:r>
            <a:r>
              <a:rPr lang="en-US" dirty="0" err="1"/>
              <a:t>finalPrice</a:t>
            </a:r>
            <a:r>
              <a:rPr lang="en-US" dirty="0"/>
              <a:t>;</a:t>
            </a:r>
          </a:p>
          <a:p>
            <a:r>
              <a:rPr lang="en-US" dirty="0"/>
              <a:t>}</a:t>
            </a:r>
          </a:p>
        </p:txBody>
      </p:sp>
    </p:spTree>
    <p:extLst>
      <p:ext uri="{BB962C8B-B14F-4D97-AF65-F5344CB8AC3E}">
        <p14:creationId xmlns:p14="http://schemas.microsoft.com/office/powerpoint/2010/main" val="217664387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8328"/>
            <a:ext cx="4218432" cy="5125403"/>
          </a:xfrm>
        </p:spPr>
        <p:txBody>
          <a:bodyPr>
            <a:normAutofit fontScale="92500"/>
          </a:bodyPr>
          <a:lstStyle/>
          <a:p>
            <a:pPr algn="just"/>
            <a:r>
              <a:rPr lang="en-US" dirty="0"/>
              <a:t>If an algorithm is hard to understand, swap it for a version that is clearer</a:t>
            </a:r>
            <a:r>
              <a:rPr lang="en-US" dirty="0" smtClean="0"/>
              <a:t>.</a:t>
            </a:r>
          </a:p>
          <a:p>
            <a:pPr algn="just"/>
            <a:r>
              <a:rPr lang="en-US" dirty="0"/>
              <a:t>1. Before: Complex/Obscure </a:t>
            </a:r>
            <a:r>
              <a:rPr lang="en-US" dirty="0" smtClean="0"/>
              <a:t>Algorithm</a:t>
            </a:r>
          </a:p>
          <a:p>
            <a:pPr lvl="1" algn="just"/>
            <a:r>
              <a:rPr lang="en-US" dirty="0"/>
              <a:t>Imagine you have a legacy method that needs to find a specific user ID in a list of mixed data types (a common pattern in older, less-typed codebases or scripts). It uses a very condensed, tricky approach that minimizes lines of code but sacrifices clarity.</a:t>
            </a:r>
          </a:p>
        </p:txBody>
      </p:sp>
      <p:sp>
        <p:nvSpPr>
          <p:cNvPr id="4" name="Rectangle 3"/>
          <p:cNvSpPr/>
          <p:nvPr/>
        </p:nvSpPr>
        <p:spPr>
          <a:xfrm>
            <a:off x="5452872" y="233756"/>
            <a:ext cx="6096000" cy="5632311"/>
          </a:xfrm>
          <a:prstGeom prst="rect">
            <a:avLst/>
          </a:prstGeom>
        </p:spPr>
        <p:txBody>
          <a:bodyPr>
            <a:spAutoFit/>
          </a:bodyPr>
          <a:lstStyle/>
          <a:p>
            <a:r>
              <a:rPr lang="en-US" dirty="0"/>
              <a:t>import </a:t>
            </a:r>
            <a:r>
              <a:rPr lang="en-US" dirty="0" err="1"/>
              <a:t>java.util.List</a:t>
            </a:r>
            <a:r>
              <a:rPr lang="en-US" dirty="0"/>
              <a:t>;</a:t>
            </a:r>
          </a:p>
          <a:p>
            <a:endParaRPr lang="en-US" dirty="0"/>
          </a:p>
          <a:p>
            <a:r>
              <a:rPr lang="en-US" dirty="0"/>
              <a:t>public class </a:t>
            </a:r>
            <a:r>
              <a:rPr lang="en-US" dirty="0" err="1"/>
              <a:t>DataProcessor</a:t>
            </a:r>
            <a:r>
              <a:rPr lang="en-US" dirty="0"/>
              <a:t> {</a:t>
            </a:r>
          </a:p>
          <a:p>
            <a:endParaRPr lang="en-US" dirty="0"/>
          </a:p>
          <a:p>
            <a:r>
              <a:rPr lang="en-US" dirty="0"/>
              <a:t>    // This method finds the first user ID (an Integer) in a mixed list</a:t>
            </a:r>
          </a:p>
          <a:p>
            <a:r>
              <a:rPr lang="en-US" dirty="0"/>
              <a:t>    public Integer </a:t>
            </a:r>
            <a:r>
              <a:rPr lang="en-US" dirty="0" err="1"/>
              <a:t>findFirstUserId</a:t>
            </a:r>
            <a:r>
              <a:rPr lang="en-US" dirty="0"/>
              <a:t>(List&lt;Object&gt; </a:t>
            </a:r>
            <a:r>
              <a:rPr lang="en-US" dirty="0" err="1"/>
              <a:t>mixedList</a:t>
            </a:r>
            <a:r>
              <a:rPr lang="en-US" dirty="0"/>
              <a:t>) {</a:t>
            </a:r>
          </a:p>
          <a:p>
            <a:r>
              <a:rPr lang="en-US" dirty="0"/>
              <a:t>        </a:t>
            </a:r>
          </a:p>
          <a:p>
            <a:r>
              <a:rPr lang="en-US" dirty="0"/>
              <a:t>        // Obscure: Using an early return inside a simple for loop with a type check.</a:t>
            </a:r>
          </a:p>
          <a:p>
            <a:r>
              <a:rPr lang="en-US" dirty="0"/>
              <a:t>        // The condition 'if (item </a:t>
            </a:r>
            <a:r>
              <a:rPr lang="en-US" dirty="0" err="1"/>
              <a:t>instanceof</a:t>
            </a:r>
            <a:r>
              <a:rPr lang="en-US" dirty="0"/>
              <a:t> Integer)' is the key logic.</a:t>
            </a:r>
          </a:p>
          <a:p>
            <a:r>
              <a:rPr lang="en-US" dirty="0"/>
              <a:t>        for (Object item : </a:t>
            </a:r>
            <a:r>
              <a:rPr lang="en-US" dirty="0" err="1"/>
              <a:t>mixedList</a:t>
            </a:r>
            <a:r>
              <a:rPr lang="en-US" dirty="0"/>
              <a:t>) {</a:t>
            </a:r>
          </a:p>
          <a:p>
            <a:r>
              <a:rPr lang="en-US" dirty="0"/>
              <a:t>            if (item </a:t>
            </a:r>
            <a:r>
              <a:rPr lang="en-US" dirty="0" err="1"/>
              <a:t>instanceof</a:t>
            </a:r>
            <a:r>
              <a:rPr lang="en-US" dirty="0"/>
              <a:t> Integer) {</a:t>
            </a:r>
          </a:p>
          <a:p>
            <a:r>
              <a:rPr lang="en-US" dirty="0"/>
              <a:t>                return (Integer) item;</a:t>
            </a:r>
          </a:p>
          <a:p>
            <a:r>
              <a:rPr lang="en-US" dirty="0"/>
              <a:t>            }</a:t>
            </a:r>
          </a:p>
          <a:p>
            <a:r>
              <a:rPr lang="en-US" dirty="0"/>
              <a:t>        }</a:t>
            </a:r>
          </a:p>
          <a:p>
            <a:r>
              <a:rPr lang="en-US" dirty="0"/>
              <a:t>        return null;</a:t>
            </a:r>
          </a:p>
          <a:p>
            <a:r>
              <a:rPr lang="en-US" dirty="0"/>
              <a:t>    }</a:t>
            </a:r>
          </a:p>
          <a:p>
            <a:r>
              <a:rPr lang="en-US" dirty="0"/>
              <a:t>}</a:t>
            </a:r>
          </a:p>
        </p:txBody>
      </p:sp>
      <p:sp>
        <p:nvSpPr>
          <p:cNvPr id="5" name="Rectangle 4"/>
          <p:cNvSpPr/>
          <p:nvPr/>
        </p:nvSpPr>
        <p:spPr>
          <a:xfrm>
            <a:off x="926592" y="5977051"/>
            <a:ext cx="9918192" cy="646331"/>
          </a:xfrm>
          <a:prstGeom prst="rect">
            <a:avLst/>
          </a:prstGeom>
        </p:spPr>
        <p:txBody>
          <a:bodyPr wrap="square">
            <a:spAutoFit/>
          </a:bodyPr>
          <a:lstStyle/>
          <a:p>
            <a:r>
              <a:rPr lang="en-US" b="1" dirty="0"/>
              <a:t>Problem:</a:t>
            </a:r>
            <a:r>
              <a:rPr lang="en-US" dirty="0"/>
              <a:t> While short, this method doesn't immediately tell the reader </a:t>
            </a:r>
            <a:r>
              <a:rPr lang="en-US" i="1" dirty="0"/>
              <a:t>what</a:t>
            </a:r>
            <a:r>
              <a:rPr lang="en-US" dirty="0"/>
              <a:t> it is looking for. The intent is hidden within the </a:t>
            </a:r>
            <a:r>
              <a:rPr lang="en-US" dirty="0" err="1" smtClean="0"/>
              <a:t>instanceof</a:t>
            </a:r>
            <a:r>
              <a:rPr lang="en-US" dirty="0"/>
              <a:t> check and the immediate return.</a:t>
            </a:r>
          </a:p>
        </p:txBody>
      </p:sp>
    </p:spTree>
    <p:extLst>
      <p:ext uri="{BB962C8B-B14F-4D97-AF65-F5344CB8AC3E}">
        <p14:creationId xmlns:p14="http://schemas.microsoft.com/office/powerpoint/2010/main" val="333579174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1480"/>
            <a:ext cx="4620768" cy="5765483"/>
          </a:xfrm>
        </p:spPr>
        <p:txBody>
          <a:bodyPr/>
          <a:lstStyle/>
          <a:p>
            <a:r>
              <a:rPr lang="en-US" dirty="0"/>
              <a:t>2. After: Substituted (Clearer) </a:t>
            </a:r>
            <a:r>
              <a:rPr lang="en-US" dirty="0" smtClean="0"/>
              <a:t>Algorithm</a:t>
            </a:r>
          </a:p>
          <a:p>
            <a:pPr lvl="1"/>
            <a:r>
              <a:rPr lang="en-US" dirty="0"/>
              <a:t>We can replace the simple loop with a clearer, more modern approach using the Java Stream API, which explicitly names the actions being performed: </a:t>
            </a:r>
            <a:r>
              <a:rPr lang="en-US" b="1" dirty="0"/>
              <a:t>filtering</a:t>
            </a:r>
            <a:r>
              <a:rPr lang="en-US" dirty="0"/>
              <a:t> for </a:t>
            </a:r>
            <a:r>
              <a:rPr lang="en-US" dirty="0" err="1" smtClean="0"/>
              <a:t>Integar</a:t>
            </a:r>
            <a:r>
              <a:rPr lang="en-US" dirty="0"/>
              <a:t> and finding the </a:t>
            </a:r>
            <a:r>
              <a:rPr lang="en-US" b="1" dirty="0"/>
              <a:t>first</a:t>
            </a:r>
            <a:r>
              <a:rPr lang="en-US" dirty="0"/>
              <a:t> match.</a:t>
            </a:r>
          </a:p>
        </p:txBody>
      </p:sp>
      <p:sp>
        <p:nvSpPr>
          <p:cNvPr id="4" name="Rectangle 3"/>
          <p:cNvSpPr/>
          <p:nvPr/>
        </p:nvSpPr>
        <p:spPr>
          <a:xfrm>
            <a:off x="5370576" y="243066"/>
            <a:ext cx="6096000" cy="6463308"/>
          </a:xfrm>
          <a:prstGeom prst="rect">
            <a:avLst/>
          </a:prstGeom>
        </p:spPr>
        <p:txBody>
          <a:bodyPr>
            <a:spAutoFit/>
          </a:bodyPr>
          <a:lstStyle/>
          <a:p>
            <a:r>
              <a:rPr lang="en-US" dirty="0"/>
              <a:t>import </a:t>
            </a:r>
            <a:r>
              <a:rPr lang="en-US" dirty="0" err="1"/>
              <a:t>java.util.List</a:t>
            </a:r>
            <a:r>
              <a:rPr lang="en-US" dirty="0"/>
              <a:t>;</a:t>
            </a:r>
          </a:p>
          <a:p>
            <a:r>
              <a:rPr lang="en-US" dirty="0"/>
              <a:t>import </a:t>
            </a:r>
            <a:r>
              <a:rPr lang="en-US" dirty="0" err="1"/>
              <a:t>java.util.Optional</a:t>
            </a:r>
            <a:r>
              <a:rPr lang="en-US" dirty="0"/>
              <a:t>;</a:t>
            </a:r>
          </a:p>
          <a:p>
            <a:r>
              <a:rPr lang="en-US" dirty="0"/>
              <a:t>import </a:t>
            </a:r>
            <a:r>
              <a:rPr lang="en-US" dirty="0" err="1"/>
              <a:t>java.util.stream.Collectors</a:t>
            </a:r>
            <a:r>
              <a:rPr lang="en-US" dirty="0"/>
              <a:t>;</a:t>
            </a:r>
          </a:p>
          <a:p>
            <a:endParaRPr lang="en-US" dirty="0"/>
          </a:p>
          <a:p>
            <a:r>
              <a:rPr lang="en-US" dirty="0"/>
              <a:t>public class </a:t>
            </a:r>
            <a:r>
              <a:rPr lang="en-US" dirty="0" err="1"/>
              <a:t>DataProcessor</a:t>
            </a:r>
            <a:r>
              <a:rPr lang="en-US" dirty="0"/>
              <a:t> {</a:t>
            </a:r>
          </a:p>
          <a:p>
            <a:endParaRPr lang="en-US" dirty="0"/>
          </a:p>
          <a:p>
            <a:r>
              <a:rPr lang="en-US" dirty="0"/>
              <a:t>    // Substituted: Using a Stream pipeline for declarative clarity.</a:t>
            </a:r>
          </a:p>
          <a:p>
            <a:r>
              <a:rPr lang="en-US" dirty="0"/>
              <a:t>    public Integer </a:t>
            </a:r>
            <a:r>
              <a:rPr lang="en-US" dirty="0" err="1"/>
              <a:t>findFirstUserId</a:t>
            </a:r>
            <a:r>
              <a:rPr lang="en-US" dirty="0"/>
              <a:t>(List&lt;Object&gt; </a:t>
            </a:r>
            <a:r>
              <a:rPr lang="en-US" dirty="0" err="1"/>
              <a:t>mixedList</a:t>
            </a:r>
            <a:r>
              <a:rPr lang="en-US" dirty="0"/>
              <a:t>) {</a:t>
            </a:r>
          </a:p>
          <a:p>
            <a:r>
              <a:rPr lang="en-US" dirty="0"/>
              <a:t>        </a:t>
            </a:r>
          </a:p>
          <a:p>
            <a:r>
              <a:rPr lang="en-US" dirty="0"/>
              <a:t>        // Clearer: The steps are explicitly named: filter, map, </a:t>
            </a:r>
            <a:r>
              <a:rPr lang="en-US" dirty="0" err="1"/>
              <a:t>findFirst</a:t>
            </a:r>
            <a:r>
              <a:rPr lang="en-US" dirty="0"/>
              <a:t>.</a:t>
            </a:r>
          </a:p>
          <a:p>
            <a:r>
              <a:rPr lang="en-US" dirty="0"/>
              <a:t>        Optional&lt;Integer&gt; result = </a:t>
            </a:r>
            <a:r>
              <a:rPr lang="en-US" dirty="0" err="1"/>
              <a:t>mixedList.stream</a:t>
            </a:r>
            <a:r>
              <a:rPr lang="en-US" dirty="0"/>
              <a:t>()</a:t>
            </a:r>
          </a:p>
          <a:p>
            <a:r>
              <a:rPr lang="en-US" dirty="0"/>
              <a:t>            .filter(item -&gt; item </a:t>
            </a:r>
            <a:r>
              <a:rPr lang="en-US" dirty="0" err="1"/>
              <a:t>instanceof</a:t>
            </a:r>
            <a:r>
              <a:rPr lang="en-US" dirty="0"/>
              <a:t> Integer) // Clearly filter for Integer types</a:t>
            </a:r>
          </a:p>
          <a:p>
            <a:r>
              <a:rPr lang="en-US" dirty="0"/>
              <a:t>            .map(item -&gt; (Integer) item)           // Cast the filtered items to Integer</a:t>
            </a:r>
          </a:p>
          <a:p>
            <a:r>
              <a:rPr lang="en-US" dirty="0"/>
              <a:t>            .</a:t>
            </a:r>
            <a:r>
              <a:rPr lang="en-US" dirty="0" err="1"/>
              <a:t>findFirst</a:t>
            </a:r>
            <a:r>
              <a:rPr lang="en-US" dirty="0"/>
              <a:t>();                          // Stop and return the first one found</a:t>
            </a:r>
          </a:p>
          <a:p>
            <a:r>
              <a:rPr lang="en-US" dirty="0"/>
              <a:t>            </a:t>
            </a:r>
          </a:p>
          <a:p>
            <a:r>
              <a:rPr lang="en-US" dirty="0"/>
              <a:t>        // Return the Integer or null if not found</a:t>
            </a:r>
          </a:p>
          <a:p>
            <a:r>
              <a:rPr lang="en-US" dirty="0"/>
              <a:t>        return </a:t>
            </a:r>
            <a:r>
              <a:rPr lang="en-US" dirty="0" err="1"/>
              <a:t>result.orElse</a:t>
            </a:r>
            <a:r>
              <a:rPr lang="en-US" dirty="0"/>
              <a:t>(null);</a:t>
            </a:r>
          </a:p>
          <a:p>
            <a:r>
              <a:rPr lang="en-US" dirty="0"/>
              <a:t>    }</a:t>
            </a:r>
          </a:p>
          <a:p>
            <a:r>
              <a:rPr lang="en-US" dirty="0"/>
              <a:t>}</a:t>
            </a:r>
          </a:p>
        </p:txBody>
      </p:sp>
    </p:spTree>
    <p:extLst>
      <p:ext uri="{BB962C8B-B14F-4D97-AF65-F5344CB8AC3E}">
        <p14:creationId xmlns:p14="http://schemas.microsoft.com/office/powerpoint/2010/main" val="23580439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1312" y="676021"/>
            <a:ext cx="11213592" cy="604139"/>
          </a:xfrm>
        </p:spPr>
        <p:txBody>
          <a:bodyPr>
            <a:normAutofit fontScale="90000"/>
          </a:bodyPr>
          <a:lstStyle/>
          <a:p>
            <a:r>
              <a:rPr lang="en-US" dirty="0" err="1"/>
              <a:t>Refactorings</a:t>
            </a:r>
            <a:r>
              <a:rPr lang="en-US" dirty="0"/>
              <a:t> - Moving Features Between Objects</a:t>
            </a:r>
          </a:p>
        </p:txBody>
      </p:sp>
      <p:sp>
        <p:nvSpPr>
          <p:cNvPr id="3" name="Content Placeholder 2"/>
          <p:cNvSpPr>
            <a:spLocks noGrp="1"/>
          </p:cNvSpPr>
          <p:nvPr>
            <p:ph idx="1"/>
          </p:nvPr>
        </p:nvSpPr>
        <p:spPr>
          <a:xfrm>
            <a:off x="335280" y="1971929"/>
            <a:ext cx="10515600" cy="4351338"/>
          </a:xfrm>
        </p:spPr>
        <p:txBody>
          <a:bodyPr>
            <a:normAutofit/>
          </a:bodyPr>
          <a:lstStyle/>
          <a:p>
            <a:pPr algn="just"/>
            <a:r>
              <a:rPr lang="en-US" dirty="0"/>
              <a:t>If a method or field is used more by a calling class than the class it is placed in, move it. </a:t>
            </a:r>
            <a:endParaRPr lang="en-US" dirty="0" smtClean="0"/>
          </a:p>
          <a:p>
            <a:pPr lvl="1" algn="just"/>
            <a:r>
              <a:rPr lang="en-US" dirty="0"/>
              <a:t>This technique is formally known as </a:t>
            </a:r>
            <a:r>
              <a:rPr lang="en-US" b="1" dirty="0"/>
              <a:t>Move Method</a:t>
            </a:r>
            <a:r>
              <a:rPr lang="en-US" dirty="0"/>
              <a:t> or </a:t>
            </a:r>
            <a:r>
              <a:rPr lang="en-US" b="1" dirty="0"/>
              <a:t>Move Field</a:t>
            </a:r>
            <a:r>
              <a:rPr lang="en-US" dirty="0"/>
              <a:t>. The goal is to reduce coupling and improve cohesion by placing the functionality (method or field) closest to the data it operates on or the class that uses it most frequently.</a:t>
            </a:r>
          </a:p>
          <a:p>
            <a:pPr algn="just"/>
            <a:endParaRPr lang="en-US" dirty="0" smtClean="0"/>
          </a:p>
        </p:txBody>
      </p:sp>
    </p:spTree>
    <p:extLst>
      <p:ext uri="{BB962C8B-B14F-4D97-AF65-F5344CB8AC3E}">
        <p14:creationId xmlns:p14="http://schemas.microsoft.com/office/powerpoint/2010/main" val="216336136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41460"/>
            <a:ext cx="5699760" cy="1325563"/>
          </a:xfrm>
        </p:spPr>
        <p:txBody>
          <a:bodyPr/>
          <a:lstStyle/>
          <a:p>
            <a:r>
              <a:rPr lang="en-US" dirty="0"/>
              <a:t>Move Method Example</a:t>
            </a:r>
          </a:p>
        </p:txBody>
      </p:sp>
      <p:sp>
        <p:nvSpPr>
          <p:cNvPr id="3" name="Content Placeholder 2"/>
          <p:cNvSpPr>
            <a:spLocks noGrp="1"/>
          </p:cNvSpPr>
          <p:nvPr>
            <p:ph idx="1"/>
          </p:nvPr>
        </p:nvSpPr>
        <p:spPr>
          <a:xfrm>
            <a:off x="417576" y="1258697"/>
            <a:ext cx="4876800" cy="3615055"/>
          </a:xfrm>
        </p:spPr>
        <p:txBody>
          <a:bodyPr>
            <a:normAutofit/>
          </a:bodyPr>
          <a:lstStyle/>
          <a:p>
            <a:r>
              <a:rPr lang="en-US" b="1" dirty="0"/>
              <a:t>1. Before: Poor Cohesion</a:t>
            </a:r>
          </a:p>
          <a:p>
            <a:pPr lvl="1"/>
            <a:r>
              <a:rPr lang="en-US" dirty="0"/>
              <a:t>Imagine a system with two classes: </a:t>
            </a:r>
            <a:r>
              <a:rPr lang="en-US" dirty="0" smtClean="0"/>
              <a:t>Customer and Order</a:t>
            </a:r>
            <a:r>
              <a:rPr lang="en-US" dirty="0"/>
              <a:t>. The logic to calculate a customer's total loyalty points is currently placed in </a:t>
            </a:r>
            <a:r>
              <a:rPr lang="en-US" dirty="0" smtClean="0"/>
              <a:t>the Customer class, but the calculation heavily relies on </a:t>
            </a:r>
            <a:r>
              <a:rPr lang="en-US" dirty="0"/>
              <a:t>the Order object's data (the order amount).</a:t>
            </a:r>
          </a:p>
        </p:txBody>
      </p:sp>
      <p:sp>
        <p:nvSpPr>
          <p:cNvPr id="5" name="Rectangle 4"/>
          <p:cNvSpPr/>
          <p:nvPr/>
        </p:nvSpPr>
        <p:spPr>
          <a:xfrm>
            <a:off x="5221224" y="0"/>
            <a:ext cx="6970776" cy="8125301"/>
          </a:xfrm>
          <a:prstGeom prst="rect">
            <a:avLst/>
          </a:prstGeom>
        </p:spPr>
        <p:txBody>
          <a:bodyPr wrap="square">
            <a:spAutoFit/>
          </a:bodyPr>
          <a:lstStyle/>
          <a:p>
            <a:r>
              <a:rPr lang="en-US" dirty="0"/>
              <a:t>// Class 1: Customer (The method is placed here)</a:t>
            </a:r>
          </a:p>
          <a:p>
            <a:r>
              <a:rPr lang="en-US" dirty="0"/>
              <a:t>public class Customer {</a:t>
            </a:r>
          </a:p>
          <a:p>
            <a:r>
              <a:rPr lang="en-US" dirty="0"/>
              <a:t>    private String name;</a:t>
            </a:r>
          </a:p>
          <a:p>
            <a:r>
              <a:rPr lang="en-US" dirty="0"/>
              <a:t>    </a:t>
            </a:r>
          </a:p>
          <a:p>
            <a:r>
              <a:rPr lang="en-US" dirty="0"/>
              <a:t>    // Method uses Order data, indicating it might belong elsewhere</a:t>
            </a:r>
          </a:p>
          <a:p>
            <a:r>
              <a:rPr lang="en-US" dirty="0"/>
              <a:t>    public </a:t>
            </a:r>
            <a:r>
              <a:rPr lang="en-US" dirty="0" err="1"/>
              <a:t>int</a:t>
            </a:r>
            <a:r>
              <a:rPr lang="en-US" dirty="0"/>
              <a:t> </a:t>
            </a:r>
            <a:r>
              <a:rPr lang="en-US" dirty="0" err="1"/>
              <a:t>calculateLoyaltyPoints</a:t>
            </a:r>
            <a:r>
              <a:rPr lang="en-US" dirty="0"/>
              <a:t>(Order order) {</a:t>
            </a:r>
          </a:p>
          <a:p>
            <a:r>
              <a:rPr lang="en-US" dirty="0"/>
              <a:t>        // This method heavily relies on </a:t>
            </a:r>
            <a:r>
              <a:rPr lang="en-US" dirty="0" err="1"/>
              <a:t>order.getAmount</a:t>
            </a:r>
            <a:r>
              <a:rPr lang="en-US" dirty="0"/>
              <a:t>()</a:t>
            </a:r>
          </a:p>
          <a:p>
            <a:r>
              <a:rPr lang="en-US" dirty="0"/>
              <a:t>        double amount = </a:t>
            </a:r>
            <a:r>
              <a:rPr lang="en-US" dirty="0" err="1"/>
              <a:t>order.getAmount</a:t>
            </a:r>
            <a:r>
              <a:rPr lang="en-US" dirty="0"/>
              <a:t>();</a:t>
            </a:r>
          </a:p>
          <a:p>
            <a:r>
              <a:rPr lang="en-US" dirty="0"/>
              <a:t>        </a:t>
            </a:r>
          </a:p>
          <a:p>
            <a:r>
              <a:rPr lang="en-US" dirty="0"/>
              <a:t>        // Complex logic based on order amount</a:t>
            </a:r>
          </a:p>
          <a:p>
            <a:r>
              <a:rPr lang="en-US" dirty="0"/>
              <a:t>        if (amount &gt; 100.0) {</a:t>
            </a:r>
          </a:p>
          <a:p>
            <a:r>
              <a:rPr lang="en-US" dirty="0"/>
              <a:t>            return (</a:t>
            </a:r>
            <a:r>
              <a:rPr lang="en-US" dirty="0" err="1"/>
              <a:t>int</a:t>
            </a:r>
            <a:r>
              <a:rPr lang="en-US" dirty="0"/>
              <a:t>) (amount / 10.0);</a:t>
            </a:r>
          </a:p>
          <a:p>
            <a:r>
              <a:rPr lang="en-US" dirty="0"/>
              <a:t>        } else {</a:t>
            </a:r>
          </a:p>
          <a:p>
            <a:r>
              <a:rPr lang="en-US" dirty="0"/>
              <a:t>            return (</a:t>
            </a:r>
            <a:r>
              <a:rPr lang="en-US" dirty="0" err="1"/>
              <a:t>int</a:t>
            </a:r>
            <a:r>
              <a:rPr lang="en-US" dirty="0"/>
              <a:t>) (amount / 20.0);</a:t>
            </a:r>
          </a:p>
          <a:p>
            <a:r>
              <a:rPr lang="en-US" dirty="0"/>
              <a:t>        }</a:t>
            </a:r>
          </a:p>
          <a:p>
            <a:r>
              <a:rPr lang="en-US" dirty="0"/>
              <a:t>    }</a:t>
            </a:r>
          </a:p>
          <a:p>
            <a:r>
              <a:rPr lang="en-US" dirty="0"/>
              <a:t>    // ... other Customer-specific methods (e.g., </a:t>
            </a:r>
            <a:r>
              <a:rPr lang="en-US" dirty="0" err="1"/>
              <a:t>getName</a:t>
            </a:r>
            <a:r>
              <a:rPr lang="en-US" dirty="0"/>
              <a:t>)</a:t>
            </a:r>
          </a:p>
          <a:p>
            <a:r>
              <a:rPr lang="en-US" dirty="0"/>
              <a:t>}</a:t>
            </a:r>
          </a:p>
          <a:p>
            <a:endParaRPr lang="en-US" dirty="0"/>
          </a:p>
          <a:p>
            <a:r>
              <a:rPr lang="en-US" dirty="0"/>
              <a:t>// Class 2: Order (The method uses its data)</a:t>
            </a:r>
          </a:p>
          <a:p>
            <a:r>
              <a:rPr lang="en-US" dirty="0"/>
              <a:t>public class Order {</a:t>
            </a:r>
          </a:p>
          <a:p>
            <a:r>
              <a:rPr lang="en-US" dirty="0"/>
              <a:t>    private double amount;</a:t>
            </a:r>
          </a:p>
          <a:p>
            <a:r>
              <a:rPr lang="en-US" dirty="0"/>
              <a:t>    </a:t>
            </a:r>
          </a:p>
          <a:p>
            <a:r>
              <a:rPr lang="en-US" dirty="0"/>
              <a:t>    public double </a:t>
            </a:r>
            <a:r>
              <a:rPr lang="en-US" dirty="0" err="1"/>
              <a:t>getAmount</a:t>
            </a:r>
            <a:r>
              <a:rPr lang="en-US" dirty="0"/>
              <a:t>() {</a:t>
            </a:r>
          </a:p>
          <a:p>
            <a:r>
              <a:rPr lang="en-US" dirty="0"/>
              <a:t>        return amount;</a:t>
            </a:r>
          </a:p>
          <a:p>
            <a:r>
              <a:rPr lang="en-US" dirty="0"/>
              <a:t>    }</a:t>
            </a:r>
          </a:p>
          <a:p>
            <a:r>
              <a:rPr lang="en-US" dirty="0"/>
              <a:t>    // ... other Order-specific methods (e.g., </a:t>
            </a:r>
            <a:r>
              <a:rPr lang="en-US" dirty="0" err="1"/>
              <a:t>getOrderDate</a:t>
            </a:r>
            <a:r>
              <a:rPr lang="en-US" dirty="0"/>
              <a:t>)</a:t>
            </a:r>
          </a:p>
          <a:p>
            <a:r>
              <a:rPr lang="en-US" dirty="0"/>
              <a:t>}</a:t>
            </a:r>
          </a:p>
        </p:txBody>
      </p:sp>
      <p:sp>
        <p:nvSpPr>
          <p:cNvPr id="6" name="Rectangle 5"/>
          <p:cNvSpPr/>
          <p:nvPr/>
        </p:nvSpPr>
        <p:spPr>
          <a:xfrm>
            <a:off x="417576" y="4967659"/>
            <a:ext cx="4605528" cy="2031325"/>
          </a:xfrm>
          <a:prstGeom prst="rect">
            <a:avLst/>
          </a:prstGeom>
        </p:spPr>
        <p:txBody>
          <a:bodyPr wrap="square">
            <a:spAutoFit/>
          </a:bodyPr>
          <a:lstStyle/>
          <a:p>
            <a:r>
              <a:rPr lang="en-US" b="1" dirty="0"/>
              <a:t>Problem:</a:t>
            </a:r>
            <a:r>
              <a:rPr lang="en-US" dirty="0"/>
              <a:t> If the logic for calculating points changes based on the order's structure (e.g., its date, its items), you have to modify the Customer class, even though the logic is about the Order. This indicates </a:t>
            </a:r>
            <a:r>
              <a:rPr lang="en-US" b="1" dirty="0"/>
              <a:t>low cohesion</a:t>
            </a:r>
            <a:r>
              <a:rPr lang="en-US" dirty="0"/>
              <a:t> in Customer and high coupling between the classes.</a:t>
            </a:r>
          </a:p>
        </p:txBody>
      </p:sp>
    </p:spTree>
    <p:extLst>
      <p:ext uri="{BB962C8B-B14F-4D97-AF65-F5344CB8AC3E}">
        <p14:creationId xmlns:p14="http://schemas.microsoft.com/office/powerpoint/2010/main" val="23310516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888" y="227965"/>
            <a:ext cx="5608320" cy="1325563"/>
          </a:xfrm>
        </p:spPr>
        <p:txBody>
          <a:bodyPr/>
          <a:lstStyle/>
          <a:p>
            <a:r>
              <a:rPr lang="en-US" dirty="0"/>
              <a:t>2. After: Move Method</a:t>
            </a:r>
          </a:p>
        </p:txBody>
      </p:sp>
      <p:sp>
        <p:nvSpPr>
          <p:cNvPr id="3" name="Content Placeholder 2"/>
          <p:cNvSpPr>
            <a:spLocks noGrp="1"/>
          </p:cNvSpPr>
          <p:nvPr>
            <p:ph idx="1"/>
          </p:nvPr>
        </p:nvSpPr>
        <p:spPr>
          <a:xfrm>
            <a:off x="518160" y="1553528"/>
            <a:ext cx="5498592" cy="4351338"/>
          </a:xfrm>
        </p:spPr>
        <p:txBody>
          <a:bodyPr>
            <a:normAutofit fontScale="92500"/>
          </a:bodyPr>
          <a:lstStyle/>
          <a:p>
            <a:pPr algn="just"/>
            <a:r>
              <a:rPr lang="en-US" dirty="0"/>
              <a:t>The method </a:t>
            </a:r>
            <a:r>
              <a:rPr lang="en-US" dirty="0" err="1" smtClean="0"/>
              <a:t>calculateLoyaltyPoints</a:t>
            </a:r>
            <a:r>
              <a:rPr lang="en-US" dirty="0"/>
              <a:t> is moved to the Order class, as its primary input is the Order’s internal data (amount). The Customer class now simply calls the method on the Order object</a:t>
            </a:r>
            <a:r>
              <a:rPr lang="en-US" dirty="0" smtClean="0"/>
              <a:t>.</a:t>
            </a:r>
          </a:p>
          <a:p>
            <a:pPr algn="just"/>
            <a:r>
              <a:rPr lang="en-US" dirty="0"/>
              <a:t>Step A: The Order Class (The New Home</a:t>
            </a:r>
            <a:r>
              <a:rPr lang="en-US" dirty="0" smtClean="0"/>
              <a:t>)</a:t>
            </a:r>
          </a:p>
          <a:p>
            <a:pPr lvl="1" algn="just"/>
            <a:r>
              <a:rPr lang="en-US" dirty="0"/>
              <a:t>The method is moved here and no longer needs the Order object passed as an argument, as it now operates on its own instance data (</a:t>
            </a:r>
            <a:r>
              <a:rPr lang="en-US" dirty="0" err="1"/>
              <a:t>this.amount</a:t>
            </a:r>
            <a:r>
              <a:rPr lang="en-US" dirty="0"/>
              <a:t>).</a:t>
            </a:r>
          </a:p>
        </p:txBody>
      </p:sp>
      <p:sp>
        <p:nvSpPr>
          <p:cNvPr id="4" name="Rectangle 3"/>
          <p:cNvSpPr/>
          <p:nvPr/>
        </p:nvSpPr>
        <p:spPr>
          <a:xfrm>
            <a:off x="6611112" y="890746"/>
            <a:ext cx="5330952" cy="5632311"/>
          </a:xfrm>
          <a:prstGeom prst="rect">
            <a:avLst/>
          </a:prstGeom>
        </p:spPr>
        <p:txBody>
          <a:bodyPr wrap="square">
            <a:spAutoFit/>
          </a:bodyPr>
          <a:lstStyle/>
          <a:p>
            <a:r>
              <a:rPr lang="en-US" dirty="0"/>
              <a:t>// Class 2: Order (The method is moved here)</a:t>
            </a:r>
          </a:p>
          <a:p>
            <a:r>
              <a:rPr lang="en-US" dirty="0"/>
              <a:t>public class Order {</a:t>
            </a:r>
          </a:p>
          <a:p>
            <a:r>
              <a:rPr lang="en-US" dirty="0"/>
              <a:t>    private double amount;</a:t>
            </a:r>
          </a:p>
          <a:p>
            <a:r>
              <a:rPr lang="en-US" dirty="0"/>
              <a:t>    </a:t>
            </a:r>
          </a:p>
          <a:p>
            <a:r>
              <a:rPr lang="en-US" dirty="0"/>
              <a:t>    public double </a:t>
            </a:r>
            <a:r>
              <a:rPr lang="en-US" dirty="0" err="1"/>
              <a:t>getAmount</a:t>
            </a:r>
            <a:r>
              <a:rPr lang="en-US" dirty="0"/>
              <a:t>() {</a:t>
            </a:r>
          </a:p>
          <a:p>
            <a:r>
              <a:rPr lang="en-US" dirty="0"/>
              <a:t>        return amount;</a:t>
            </a:r>
          </a:p>
          <a:p>
            <a:r>
              <a:rPr lang="en-US" dirty="0"/>
              <a:t>    }</a:t>
            </a:r>
          </a:p>
          <a:p>
            <a:endParaRPr lang="en-US" dirty="0"/>
          </a:p>
          <a:p>
            <a:r>
              <a:rPr lang="en-US" dirty="0"/>
              <a:t>    // The logic is now correctly placed next to the data it operates on</a:t>
            </a:r>
          </a:p>
          <a:p>
            <a:r>
              <a:rPr lang="en-US" dirty="0"/>
              <a:t>    public </a:t>
            </a:r>
            <a:r>
              <a:rPr lang="en-US" dirty="0" err="1"/>
              <a:t>int</a:t>
            </a:r>
            <a:r>
              <a:rPr lang="en-US" dirty="0"/>
              <a:t> </a:t>
            </a:r>
            <a:r>
              <a:rPr lang="en-US" dirty="0" err="1"/>
              <a:t>calculateLoyaltyPoints</a:t>
            </a:r>
            <a:r>
              <a:rPr lang="en-US" dirty="0"/>
              <a:t>() {</a:t>
            </a:r>
          </a:p>
          <a:p>
            <a:r>
              <a:rPr lang="en-US" dirty="0"/>
              <a:t>        // Uses its own instance variable 'amount'</a:t>
            </a:r>
          </a:p>
          <a:p>
            <a:r>
              <a:rPr lang="en-US" dirty="0"/>
              <a:t>        if (</a:t>
            </a:r>
            <a:r>
              <a:rPr lang="en-US" dirty="0" err="1"/>
              <a:t>this.amount</a:t>
            </a:r>
            <a:r>
              <a:rPr lang="en-US" dirty="0"/>
              <a:t> &gt; 100.0) {</a:t>
            </a:r>
          </a:p>
          <a:p>
            <a:r>
              <a:rPr lang="en-US" dirty="0"/>
              <a:t>            return (</a:t>
            </a:r>
            <a:r>
              <a:rPr lang="en-US" dirty="0" err="1"/>
              <a:t>int</a:t>
            </a:r>
            <a:r>
              <a:rPr lang="en-US" dirty="0"/>
              <a:t>) (</a:t>
            </a:r>
            <a:r>
              <a:rPr lang="en-US" dirty="0" err="1"/>
              <a:t>this.amount</a:t>
            </a:r>
            <a:r>
              <a:rPr lang="en-US" dirty="0"/>
              <a:t> / 10.0);</a:t>
            </a:r>
          </a:p>
          <a:p>
            <a:r>
              <a:rPr lang="en-US" dirty="0"/>
              <a:t>        } else {</a:t>
            </a:r>
          </a:p>
          <a:p>
            <a:r>
              <a:rPr lang="en-US" dirty="0"/>
              <a:t>            return (</a:t>
            </a:r>
            <a:r>
              <a:rPr lang="en-US" dirty="0" err="1"/>
              <a:t>int</a:t>
            </a:r>
            <a:r>
              <a:rPr lang="en-US" dirty="0"/>
              <a:t>) (</a:t>
            </a:r>
            <a:r>
              <a:rPr lang="en-US" dirty="0" err="1"/>
              <a:t>this.amount</a:t>
            </a:r>
            <a:r>
              <a:rPr lang="en-US" dirty="0"/>
              <a:t> / 20.0);</a:t>
            </a:r>
          </a:p>
          <a:p>
            <a:r>
              <a:rPr lang="en-US" dirty="0"/>
              <a:t>        }</a:t>
            </a:r>
          </a:p>
          <a:p>
            <a:r>
              <a:rPr lang="en-US" dirty="0"/>
              <a:t>    }</a:t>
            </a:r>
          </a:p>
          <a:p>
            <a:r>
              <a:rPr lang="en-US" dirty="0"/>
              <a:t>    // ...</a:t>
            </a:r>
          </a:p>
          <a:p>
            <a:r>
              <a:rPr lang="en-US" dirty="0"/>
              <a:t>}</a:t>
            </a:r>
          </a:p>
        </p:txBody>
      </p:sp>
    </p:spTree>
    <p:extLst>
      <p:ext uri="{BB962C8B-B14F-4D97-AF65-F5344CB8AC3E}">
        <p14:creationId xmlns:p14="http://schemas.microsoft.com/office/powerpoint/2010/main" val="33642758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168" y="1103249"/>
            <a:ext cx="3934968" cy="4351338"/>
          </a:xfrm>
        </p:spPr>
        <p:txBody>
          <a:bodyPr/>
          <a:lstStyle/>
          <a:p>
            <a:r>
              <a:rPr lang="en-US" dirty="0"/>
              <a:t>Step B: The Customer Class (The Caller</a:t>
            </a:r>
            <a:r>
              <a:rPr lang="en-US" dirty="0" smtClean="0"/>
              <a:t>)</a:t>
            </a:r>
          </a:p>
          <a:p>
            <a:pPr lvl="1"/>
            <a:r>
              <a:rPr lang="en-US" dirty="0"/>
              <a:t>The old method is removed, and the calling code is updated to delegate the responsibility to </a:t>
            </a:r>
            <a:r>
              <a:rPr lang="en-US" dirty="0" smtClean="0"/>
              <a:t>the Order object.</a:t>
            </a:r>
            <a:endParaRPr lang="en-US" dirty="0"/>
          </a:p>
        </p:txBody>
      </p:sp>
      <p:sp>
        <p:nvSpPr>
          <p:cNvPr id="4" name="Rectangle 3"/>
          <p:cNvSpPr/>
          <p:nvPr/>
        </p:nvSpPr>
        <p:spPr>
          <a:xfrm>
            <a:off x="5013960" y="895201"/>
            <a:ext cx="6096000" cy="3970318"/>
          </a:xfrm>
          <a:prstGeom prst="rect">
            <a:avLst/>
          </a:prstGeom>
        </p:spPr>
        <p:txBody>
          <a:bodyPr>
            <a:spAutoFit/>
          </a:bodyPr>
          <a:lstStyle/>
          <a:p>
            <a:r>
              <a:rPr lang="en-US" dirty="0"/>
              <a:t>// Class 1: Customer (The method is removed from here)</a:t>
            </a:r>
          </a:p>
          <a:p>
            <a:r>
              <a:rPr lang="en-US" dirty="0"/>
              <a:t>public class Customer {</a:t>
            </a:r>
          </a:p>
          <a:p>
            <a:r>
              <a:rPr lang="en-US" dirty="0"/>
              <a:t>    private String name;</a:t>
            </a:r>
          </a:p>
          <a:p>
            <a:r>
              <a:rPr lang="en-US" dirty="0"/>
              <a:t>    </a:t>
            </a:r>
          </a:p>
          <a:p>
            <a:r>
              <a:rPr lang="en-US" dirty="0"/>
              <a:t>    // The previous method is gone!</a:t>
            </a:r>
          </a:p>
          <a:p>
            <a:r>
              <a:rPr lang="en-US" dirty="0"/>
              <a:t>    </a:t>
            </a:r>
          </a:p>
          <a:p>
            <a:r>
              <a:rPr lang="en-US" dirty="0"/>
              <a:t>    // An example of a method that now uses the new, better-placed method</a:t>
            </a:r>
          </a:p>
          <a:p>
            <a:r>
              <a:rPr lang="en-US" dirty="0"/>
              <a:t>    public void </a:t>
            </a:r>
            <a:r>
              <a:rPr lang="en-US" dirty="0" err="1"/>
              <a:t>awardPoints</a:t>
            </a:r>
            <a:r>
              <a:rPr lang="en-US" dirty="0"/>
              <a:t>(Order order) {</a:t>
            </a:r>
          </a:p>
          <a:p>
            <a:r>
              <a:rPr lang="en-US" dirty="0"/>
              <a:t>        </a:t>
            </a:r>
            <a:r>
              <a:rPr lang="en-US" dirty="0" err="1"/>
              <a:t>int</a:t>
            </a:r>
            <a:r>
              <a:rPr lang="en-US" dirty="0"/>
              <a:t> points = </a:t>
            </a:r>
            <a:r>
              <a:rPr lang="en-US" dirty="0" err="1"/>
              <a:t>order.calculateLoyaltyPoints</a:t>
            </a:r>
            <a:r>
              <a:rPr lang="en-US" dirty="0"/>
              <a:t>(); // Delegation</a:t>
            </a:r>
          </a:p>
          <a:p>
            <a:r>
              <a:rPr lang="en-US" dirty="0"/>
              <a:t>        // ... logic to award points to the customer</a:t>
            </a:r>
          </a:p>
          <a:p>
            <a:r>
              <a:rPr lang="en-US" dirty="0"/>
              <a:t>    }</a:t>
            </a:r>
          </a:p>
          <a:p>
            <a:r>
              <a:rPr lang="en-US" dirty="0"/>
              <a:t>    // ...</a:t>
            </a:r>
          </a:p>
          <a:p>
            <a:r>
              <a:rPr lang="en-US" dirty="0"/>
              <a:t>}</a:t>
            </a:r>
          </a:p>
        </p:txBody>
      </p:sp>
    </p:spTree>
    <p:extLst>
      <p:ext uri="{BB962C8B-B14F-4D97-AF65-F5344CB8AC3E}">
        <p14:creationId xmlns:p14="http://schemas.microsoft.com/office/powerpoint/2010/main" val="14527178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2104"/>
            <a:ext cx="10515600" cy="5344859"/>
          </a:xfrm>
        </p:spPr>
        <p:txBody>
          <a:bodyPr/>
          <a:lstStyle/>
          <a:p>
            <a:pPr algn="just"/>
            <a:r>
              <a:rPr lang="en-US" dirty="0"/>
              <a:t>If a class is doing more work than it should (or has low cohesion), extract a subset of related methods into a new </a:t>
            </a:r>
            <a:r>
              <a:rPr lang="en-US" dirty="0" smtClean="0"/>
              <a:t>class- Extract class (already discussed)</a:t>
            </a:r>
          </a:p>
          <a:p>
            <a:pPr algn="just"/>
            <a:r>
              <a:rPr lang="en-US" dirty="0"/>
              <a:t>If a class is doing too little, combine it with another. </a:t>
            </a:r>
            <a:endParaRPr lang="en-US" dirty="0" smtClean="0"/>
          </a:p>
          <a:p>
            <a:pPr lvl="1" algn="just"/>
            <a:r>
              <a:rPr lang="en-US" dirty="0"/>
              <a:t>This technique is formally known as </a:t>
            </a:r>
            <a:r>
              <a:rPr lang="en-US" b="1" dirty="0"/>
              <a:t>Inline Class</a:t>
            </a:r>
            <a:r>
              <a:rPr lang="en-US" dirty="0"/>
              <a:t>. It is the opposite of </a:t>
            </a:r>
            <a:r>
              <a:rPr lang="en-US" b="1" dirty="0"/>
              <a:t>Extract Class</a:t>
            </a:r>
            <a:r>
              <a:rPr lang="en-US" dirty="0"/>
              <a:t> and is used when a class has become too weak, simple, or highly coupled to another class, where it no longer justifies its own existence. The goal is to reduce unnecessary complexity and remove an extra layer of indirection.</a:t>
            </a:r>
          </a:p>
          <a:p>
            <a:pPr algn="just"/>
            <a:endParaRPr lang="en-US" dirty="0"/>
          </a:p>
        </p:txBody>
      </p:sp>
    </p:spTree>
    <p:extLst>
      <p:ext uri="{BB962C8B-B14F-4D97-AF65-F5344CB8AC3E}">
        <p14:creationId xmlns:p14="http://schemas.microsoft.com/office/powerpoint/2010/main" val="17945340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040" y="575437"/>
            <a:ext cx="5187696" cy="1325563"/>
          </a:xfrm>
        </p:spPr>
        <p:txBody>
          <a:bodyPr/>
          <a:lstStyle/>
          <a:p>
            <a:r>
              <a:rPr lang="en-US" dirty="0"/>
              <a:t>Inline Class Example</a:t>
            </a:r>
          </a:p>
        </p:txBody>
      </p:sp>
      <p:sp>
        <p:nvSpPr>
          <p:cNvPr id="3" name="Content Placeholder 2"/>
          <p:cNvSpPr>
            <a:spLocks noGrp="1"/>
          </p:cNvSpPr>
          <p:nvPr>
            <p:ph idx="1"/>
          </p:nvPr>
        </p:nvSpPr>
        <p:spPr>
          <a:xfrm>
            <a:off x="853440" y="1766678"/>
            <a:ext cx="3761232" cy="4351338"/>
          </a:xfrm>
        </p:spPr>
        <p:txBody>
          <a:bodyPr/>
          <a:lstStyle/>
          <a:p>
            <a:r>
              <a:rPr lang="en-US" dirty="0"/>
              <a:t>1. Before: Too Little </a:t>
            </a:r>
            <a:r>
              <a:rPr lang="en-US" dirty="0" smtClean="0"/>
              <a:t>Responsibility </a:t>
            </a:r>
            <a:r>
              <a:rPr lang="en-US" dirty="0"/>
              <a:t>Address details for an Employee were prematurely extracted into their own class.</a:t>
            </a:r>
          </a:p>
        </p:txBody>
      </p:sp>
      <p:sp>
        <p:nvSpPr>
          <p:cNvPr id="4" name="Rectangle 3"/>
          <p:cNvSpPr/>
          <p:nvPr/>
        </p:nvSpPr>
        <p:spPr>
          <a:xfrm>
            <a:off x="5251704" y="728806"/>
            <a:ext cx="6553200" cy="7017306"/>
          </a:xfrm>
          <a:prstGeom prst="rect">
            <a:avLst/>
          </a:prstGeom>
        </p:spPr>
        <p:txBody>
          <a:bodyPr wrap="square">
            <a:spAutoFit/>
          </a:bodyPr>
          <a:lstStyle/>
          <a:p>
            <a:r>
              <a:rPr lang="en-US" dirty="0"/>
              <a:t>// Class 1: Address (The class doing too little)</a:t>
            </a:r>
          </a:p>
          <a:p>
            <a:r>
              <a:rPr lang="en-US" dirty="0"/>
              <a:t>public class Address {</a:t>
            </a:r>
          </a:p>
          <a:p>
            <a:r>
              <a:rPr lang="en-US" dirty="0"/>
              <a:t>    private String street;</a:t>
            </a:r>
          </a:p>
          <a:p>
            <a:r>
              <a:rPr lang="en-US" dirty="0"/>
              <a:t>    private String city;</a:t>
            </a:r>
          </a:p>
          <a:p>
            <a:r>
              <a:rPr lang="en-US" dirty="0"/>
              <a:t>    private String </a:t>
            </a:r>
            <a:r>
              <a:rPr lang="en-US" dirty="0" err="1"/>
              <a:t>postalCode</a:t>
            </a:r>
            <a:r>
              <a:rPr lang="en-US" dirty="0" smtClean="0"/>
              <a:t>;</a:t>
            </a:r>
            <a:endParaRPr lang="en-US" dirty="0"/>
          </a:p>
          <a:p>
            <a:r>
              <a:rPr lang="en-US" dirty="0"/>
              <a:t>    // Only provides simple getters/setters, no complex behavior</a:t>
            </a:r>
          </a:p>
          <a:p>
            <a:r>
              <a:rPr lang="en-US" dirty="0"/>
              <a:t>    public String </a:t>
            </a:r>
            <a:r>
              <a:rPr lang="en-US" dirty="0" err="1"/>
              <a:t>getFullAddress</a:t>
            </a:r>
            <a:r>
              <a:rPr lang="en-US" dirty="0"/>
              <a:t>() {</a:t>
            </a:r>
          </a:p>
          <a:p>
            <a:r>
              <a:rPr lang="en-US" dirty="0"/>
              <a:t>        return street + ", " + city + " " + </a:t>
            </a:r>
            <a:r>
              <a:rPr lang="en-US" dirty="0" err="1"/>
              <a:t>postalCode</a:t>
            </a:r>
            <a:r>
              <a:rPr lang="en-US" dirty="0"/>
              <a:t>;</a:t>
            </a:r>
          </a:p>
          <a:p>
            <a:r>
              <a:rPr lang="en-US" dirty="0"/>
              <a:t>    }</a:t>
            </a:r>
          </a:p>
          <a:p>
            <a:r>
              <a:rPr lang="en-US" dirty="0" smtClean="0"/>
              <a:t>}</a:t>
            </a:r>
            <a:endParaRPr lang="en-US" dirty="0"/>
          </a:p>
          <a:p>
            <a:r>
              <a:rPr lang="en-US" dirty="0"/>
              <a:t>// Class 2: Employee (Highly dependent on the Address object)</a:t>
            </a:r>
          </a:p>
          <a:p>
            <a:r>
              <a:rPr lang="en-US" dirty="0"/>
              <a:t>public class Employee {</a:t>
            </a:r>
          </a:p>
          <a:p>
            <a:r>
              <a:rPr lang="en-US" dirty="0"/>
              <a:t>    private String name;</a:t>
            </a:r>
          </a:p>
          <a:p>
            <a:r>
              <a:rPr lang="en-US" dirty="0"/>
              <a:t>    private Address </a:t>
            </a:r>
            <a:r>
              <a:rPr lang="en-US" dirty="0" err="1"/>
              <a:t>officeAddress</a:t>
            </a:r>
            <a:r>
              <a:rPr lang="en-US" dirty="0"/>
              <a:t>; // Has a reference to the simple Address </a:t>
            </a:r>
            <a:r>
              <a:rPr lang="en-US" dirty="0" smtClean="0"/>
              <a:t>class</a:t>
            </a:r>
            <a:endParaRPr lang="en-US" dirty="0"/>
          </a:p>
          <a:p>
            <a:r>
              <a:rPr lang="en-US" dirty="0"/>
              <a:t>    public Employee(String name, String street, String city, String </a:t>
            </a:r>
            <a:r>
              <a:rPr lang="en-US" dirty="0" err="1"/>
              <a:t>postalCode</a:t>
            </a:r>
            <a:r>
              <a:rPr lang="en-US" dirty="0"/>
              <a:t>) {</a:t>
            </a:r>
          </a:p>
          <a:p>
            <a:r>
              <a:rPr lang="en-US" dirty="0"/>
              <a:t>        this.name = name;</a:t>
            </a:r>
          </a:p>
          <a:p>
            <a:r>
              <a:rPr lang="en-US" dirty="0"/>
              <a:t>        </a:t>
            </a:r>
            <a:r>
              <a:rPr lang="en-US" dirty="0" err="1"/>
              <a:t>this.officeAddress</a:t>
            </a:r>
            <a:r>
              <a:rPr lang="en-US" dirty="0"/>
              <a:t> = new Address(street, city, </a:t>
            </a:r>
            <a:r>
              <a:rPr lang="en-US" dirty="0" err="1"/>
              <a:t>postalCode</a:t>
            </a:r>
            <a:r>
              <a:rPr lang="en-US" dirty="0"/>
              <a:t>);</a:t>
            </a:r>
          </a:p>
          <a:p>
            <a:r>
              <a:rPr lang="en-US" dirty="0"/>
              <a:t>    </a:t>
            </a:r>
            <a:r>
              <a:rPr lang="en-US" dirty="0" smtClean="0"/>
              <a:t>} </a:t>
            </a:r>
            <a:endParaRPr lang="en-US" dirty="0"/>
          </a:p>
          <a:p>
            <a:r>
              <a:rPr lang="en-US" dirty="0"/>
              <a:t>    // A method that merely delegates the address responsibility</a:t>
            </a:r>
          </a:p>
          <a:p>
            <a:r>
              <a:rPr lang="en-US" dirty="0"/>
              <a:t>    public String </a:t>
            </a:r>
            <a:r>
              <a:rPr lang="en-US" dirty="0" err="1"/>
              <a:t>getOfficeLocation</a:t>
            </a:r>
            <a:r>
              <a:rPr lang="en-US" dirty="0"/>
              <a:t>() {</a:t>
            </a:r>
          </a:p>
          <a:p>
            <a:r>
              <a:rPr lang="en-US" dirty="0"/>
              <a:t>        return </a:t>
            </a:r>
            <a:r>
              <a:rPr lang="en-US" dirty="0" err="1"/>
              <a:t>officeAddress.getFullAddress</a:t>
            </a:r>
            <a:r>
              <a:rPr lang="en-US" dirty="0"/>
              <a:t>(); </a:t>
            </a:r>
          </a:p>
          <a:p>
            <a:r>
              <a:rPr lang="en-US" dirty="0"/>
              <a:t>    }</a:t>
            </a:r>
          </a:p>
          <a:p>
            <a:r>
              <a:rPr lang="en-US" dirty="0"/>
              <a:t>}</a:t>
            </a:r>
          </a:p>
        </p:txBody>
      </p:sp>
      <p:sp>
        <p:nvSpPr>
          <p:cNvPr id="5" name="Rectangle 1"/>
          <p:cNvSpPr>
            <a:spLocks noChangeArrowheads="1"/>
          </p:cNvSpPr>
          <p:nvPr/>
        </p:nvSpPr>
        <p:spPr bwMode="auto">
          <a:xfrm>
            <a:off x="469392" y="4370155"/>
            <a:ext cx="41148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Arial" panose="020B0604020202020204" pitchFamily="34" charset="0"/>
              </a:rPr>
              <a:t>Problem:</a:t>
            </a:r>
            <a:r>
              <a:rPr kumimoji="0" lang="en-US" sz="1800" b="0" i="0" u="none" strike="noStrike" cap="none" normalizeH="0" baseline="0" dirty="0" smtClean="0">
                <a:ln>
                  <a:noFill/>
                </a:ln>
                <a:solidFill>
                  <a:schemeClr val="tx1"/>
                </a:solidFill>
                <a:effectLst/>
                <a:latin typeface="Arial" panose="020B0604020202020204" pitchFamily="34" charset="0"/>
              </a:rPr>
              <a:t> The </a:t>
            </a:r>
            <a:r>
              <a:rPr kumimoji="0" lang="en-US" b="0" i="0" u="none" strike="noStrike" cap="none" normalizeH="0" baseline="0" dirty="0" smtClean="0">
                <a:ln>
                  <a:noFill/>
                </a:ln>
                <a:solidFill>
                  <a:schemeClr val="tx1"/>
                </a:solidFill>
                <a:effectLst/>
                <a:latin typeface="Arial Unicode MS" panose="020B0604020202020204" pitchFamily="34" charset="-128"/>
              </a:rPr>
              <a:t>Address</a:t>
            </a:r>
            <a:r>
              <a:rPr kumimoji="0" lang="en-US" b="0" i="0" u="none" strike="noStrike" cap="none" normalizeH="0" baseline="0" dirty="0" smtClean="0">
                <a:ln>
                  <a:noFill/>
                </a:ln>
                <a:solidFill>
                  <a:schemeClr val="tx1"/>
                </a:solidFill>
                <a:effectLst/>
              </a:rPr>
              <a:t> class is merely a simple container for a few fields and one trivial formatting method. It doesn't perform any complex validation, calculations, or unique domain logic. Its existence adds indirection without adding meaningful abstraction. </a:t>
            </a: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05204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7616" y="1011809"/>
            <a:ext cx="4876800" cy="4351338"/>
          </a:xfrm>
        </p:spPr>
        <p:txBody>
          <a:bodyPr/>
          <a:lstStyle/>
          <a:p>
            <a:pPr marL="0" indent="0">
              <a:buNone/>
            </a:pPr>
            <a:r>
              <a:rPr lang="en-US" dirty="0"/>
              <a:t>2. After: </a:t>
            </a:r>
            <a:r>
              <a:rPr lang="en-US" dirty="0" err="1"/>
              <a:t>Inlined</a:t>
            </a:r>
            <a:r>
              <a:rPr lang="en-US" dirty="0"/>
              <a:t> </a:t>
            </a:r>
            <a:r>
              <a:rPr lang="en-US" dirty="0" smtClean="0"/>
              <a:t>Class</a:t>
            </a:r>
          </a:p>
          <a:p>
            <a:r>
              <a:rPr lang="en-US" dirty="0"/>
              <a:t>The fields and the simple methods from the Address class are moved directly into the Employee class, and the separate Address class is deleted</a:t>
            </a:r>
            <a:r>
              <a:rPr lang="en-US" dirty="0" smtClean="0"/>
              <a:t>.</a:t>
            </a:r>
          </a:p>
          <a:p>
            <a:r>
              <a:rPr lang="en-US" dirty="0"/>
              <a:t>Step A: The Employee Class (The New Home)</a:t>
            </a:r>
          </a:p>
        </p:txBody>
      </p:sp>
      <p:sp>
        <p:nvSpPr>
          <p:cNvPr id="4" name="Rectangle 3"/>
          <p:cNvSpPr/>
          <p:nvPr/>
        </p:nvSpPr>
        <p:spPr>
          <a:xfrm>
            <a:off x="5343144" y="301717"/>
            <a:ext cx="6096000" cy="6740307"/>
          </a:xfrm>
          <a:prstGeom prst="rect">
            <a:avLst/>
          </a:prstGeom>
        </p:spPr>
        <p:txBody>
          <a:bodyPr>
            <a:spAutoFit/>
          </a:bodyPr>
          <a:lstStyle/>
          <a:p>
            <a:r>
              <a:rPr lang="en-US" dirty="0"/>
              <a:t>// Class 2: Employee (The fields are moved here)</a:t>
            </a:r>
          </a:p>
          <a:p>
            <a:r>
              <a:rPr lang="en-US" dirty="0"/>
              <a:t>public class Employee {</a:t>
            </a:r>
          </a:p>
          <a:p>
            <a:r>
              <a:rPr lang="en-US" dirty="0"/>
              <a:t>    private String name</a:t>
            </a:r>
            <a:r>
              <a:rPr lang="en-US" dirty="0" smtClean="0"/>
              <a:t>;   </a:t>
            </a:r>
            <a:endParaRPr lang="en-US" dirty="0"/>
          </a:p>
          <a:p>
            <a:r>
              <a:rPr lang="en-US" dirty="0"/>
              <a:t>    // Fields from the old Address class are now directly in Employee</a:t>
            </a:r>
          </a:p>
          <a:p>
            <a:r>
              <a:rPr lang="en-US" dirty="0"/>
              <a:t>    private String </a:t>
            </a:r>
            <a:r>
              <a:rPr lang="en-US" dirty="0" err="1"/>
              <a:t>officeStreet</a:t>
            </a:r>
            <a:r>
              <a:rPr lang="en-US" dirty="0"/>
              <a:t>; </a:t>
            </a:r>
          </a:p>
          <a:p>
            <a:r>
              <a:rPr lang="en-US" dirty="0"/>
              <a:t>    private String </a:t>
            </a:r>
            <a:r>
              <a:rPr lang="en-US" dirty="0" err="1"/>
              <a:t>officeCity</a:t>
            </a:r>
            <a:r>
              <a:rPr lang="en-US" dirty="0"/>
              <a:t>;</a:t>
            </a:r>
          </a:p>
          <a:p>
            <a:r>
              <a:rPr lang="en-US" dirty="0"/>
              <a:t>    private String </a:t>
            </a:r>
            <a:r>
              <a:rPr lang="en-US" dirty="0" err="1"/>
              <a:t>officePostalCode</a:t>
            </a:r>
            <a:r>
              <a:rPr lang="en-US" dirty="0"/>
              <a:t>; </a:t>
            </a:r>
          </a:p>
          <a:p>
            <a:endParaRPr lang="en-US" dirty="0"/>
          </a:p>
          <a:p>
            <a:r>
              <a:rPr lang="en-US" dirty="0"/>
              <a:t>    public Employee(String name, String street, String city, String </a:t>
            </a:r>
            <a:r>
              <a:rPr lang="en-US" dirty="0" err="1"/>
              <a:t>postalCode</a:t>
            </a:r>
            <a:r>
              <a:rPr lang="en-US" dirty="0"/>
              <a:t>) {</a:t>
            </a:r>
          </a:p>
          <a:p>
            <a:r>
              <a:rPr lang="en-US" dirty="0"/>
              <a:t>        this.name = name;</a:t>
            </a:r>
          </a:p>
          <a:p>
            <a:r>
              <a:rPr lang="en-US" dirty="0"/>
              <a:t>        </a:t>
            </a:r>
            <a:r>
              <a:rPr lang="en-US" dirty="0" err="1"/>
              <a:t>this.officeStreet</a:t>
            </a:r>
            <a:r>
              <a:rPr lang="en-US" dirty="0"/>
              <a:t> = street; // Assign directly</a:t>
            </a:r>
          </a:p>
          <a:p>
            <a:r>
              <a:rPr lang="en-US" dirty="0"/>
              <a:t>        </a:t>
            </a:r>
            <a:r>
              <a:rPr lang="en-US" dirty="0" err="1"/>
              <a:t>this.officeCity</a:t>
            </a:r>
            <a:r>
              <a:rPr lang="en-US" dirty="0"/>
              <a:t> = city;</a:t>
            </a:r>
          </a:p>
          <a:p>
            <a:r>
              <a:rPr lang="en-US" dirty="0"/>
              <a:t>        </a:t>
            </a:r>
            <a:r>
              <a:rPr lang="en-US" dirty="0" err="1"/>
              <a:t>this.officePostalCode</a:t>
            </a:r>
            <a:r>
              <a:rPr lang="en-US" dirty="0"/>
              <a:t> = </a:t>
            </a:r>
            <a:r>
              <a:rPr lang="en-US" dirty="0" err="1"/>
              <a:t>postalCode</a:t>
            </a:r>
            <a:r>
              <a:rPr lang="en-US" dirty="0"/>
              <a:t>;</a:t>
            </a:r>
          </a:p>
          <a:p>
            <a:r>
              <a:rPr lang="en-US" dirty="0"/>
              <a:t>    </a:t>
            </a:r>
            <a:r>
              <a:rPr lang="en-US" dirty="0" smtClean="0"/>
              <a:t>}  </a:t>
            </a:r>
            <a:endParaRPr lang="en-US" dirty="0"/>
          </a:p>
          <a:p>
            <a:r>
              <a:rPr lang="en-US" dirty="0"/>
              <a:t>    // The simple method logic is now directly in Employee</a:t>
            </a:r>
          </a:p>
          <a:p>
            <a:r>
              <a:rPr lang="en-US" dirty="0"/>
              <a:t>    public String </a:t>
            </a:r>
            <a:r>
              <a:rPr lang="en-US" dirty="0" err="1"/>
              <a:t>getOfficeLocation</a:t>
            </a:r>
            <a:r>
              <a:rPr lang="en-US" dirty="0"/>
              <a:t>() {</a:t>
            </a:r>
          </a:p>
          <a:p>
            <a:r>
              <a:rPr lang="en-US" dirty="0"/>
              <a:t>        return </a:t>
            </a:r>
            <a:r>
              <a:rPr lang="en-US" dirty="0" err="1"/>
              <a:t>officeStreet</a:t>
            </a:r>
            <a:r>
              <a:rPr lang="en-US" dirty="0"/>
              <a:t> + ", " + </a:t>
            </a:r>
            <a:r>
              <a:rPr lang="en-US" dirty="0" err="1"/>
              <a:t>officeCity</a:t>
            </a:r>
            <a:r>
              <a:rPr lang="en-US" dirty="0"/>
              <a:t> + " " + </a:t>
            </a:r>
            <a:r>
              <a:rPr lang="en-US" dirty="0" err="1"/>
              <a:t>officePostalCode</a:t>
            </a:r>
            <a:r>
              <a:rPr lang="en-US" dirty="0"/>
              <a:t>; </a:t>
            </a:r>
          </a:p>
          <a:p>
            <a:r>
              <a:rPr lang="en-US" dirty="0"/>
              <a:t>    </a:t>
            </a:r>
            <a:r>
              <a:rPr lang="en-US" dirty="0" smtClean="0"/>
              <a:t>}  </a:t>
            </a:r>
            <a:endParaRPr lang="en-US" dirty="0"/>
          </a:p>
          <a:p>
            <a:r>
              <a:rPr lang="en-US" dirty="0"/>
              <a:t>    // ...</a:t>
            </a:r>
          </a:p>
          <a:p>
            <a:r>
              <a:rPr lang="en-US" dirty="0"/>
              <a:t>}</a:t>
            </a:r>
          </a:p>
          <a:p>
            <a:r>
              <a:rPr lang="en-US" dirty="0"/>
              <a:t>// The Address class is now deleted.</a:t>
            </a:r>
          </a:p>
        </p:txBody>
      </p:sp>
    </p:spTree>
    <p:extLst>
      <p:ext uri="{BB962C8B-B14F-4D97-AF65-F5344CB8AC3E}">
        <p14:creationId xmlns:p14="http://schemas.microsoft.com/office/powerpoint/2010/main" val="35946794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5697"/>
            <a:ext cx="10515600" cy="2078863"/>
          </a:xfrm>
        </p:spPr>
        <p:txBody>
          <a:bodyPr>
            <a:normAutofit lnSpcReduction="10000"/>
          </a:bodyPr>
          <a:lstStyle/>
          <a:p>
            <a:pPr algn="just"/>
            <a:r>
              <a:rPr lang="en-US" dirty="0" smtClean="0"/>
              <a:t>If </a:t>
            </a:r>
            <a:r>
              <a:rPr lang="en-US" dirty="0"/>
              <a:t>a class delegates too many calls to a middleman class, get rid of the middleman and call the client directly. </a:t>
            </a:r>
            <a:endParaRPr lang="en-US" dirty="0" smtClean="0"/>
          </a:p>
          <a:p>
            <a:pPr lvl="1"/>
            <a:r>
              <a:rPr lang="en-US" b="1" dirty="0"/>
              <a:t>1. Before: Excessive Delegation</a:t>
            </a:r>
          </a:p>
          <a:p>
            <a:pPr lvl="2"/>
            <a:r>
              <a:rPr lang="en-US" dirty="0"/>
              <a:t>Imagine a system where an Employee class wants to access data about their insurance plan, which is managed by a Benefits class, which, in turn, holds the actual details in an </a:t>
            </a:r>
            <a:r>
              <a:rPr lang="en-US" dirty="0" err="1" smtClean="0"/>
              <a:t>InsurancePlan</a:t>
            </a:r>
            <a:r>
              <a:rPr lang="en-US" dirty="0"/>
              <a:t> class. The Employee class acts as the "Middle Man."</a:t>
            </a:r>
          </a:p>
          <a:p>
            <a:pPr algn="just"/>
            <a:endParaRPr lang="en-US" dirty="0"/>
          </a:p>
        </p:txBody>
      </p:sp>
      <p:sp>
        <p:nvSpPr>
          <p:cNvPr id="4" name="Rectangle 3"/>
          <p:cNvSpPr/>
          <p:nvPr/>
        </p:nvSpPr>
        <p:spPr>
          <a:xfrm>
            <a:off x="609600" y="2333685"/>
            <a:ext cx="4831080" cy="5632311"/>
          </a:xfrm>
          <a:prstGeom prst="rect">
            <a:avLst/>
          </a:prstGeom>
        </p:spPr>
        <p:txBody>
          <a:bodyPr wrap="square">
            <a:spAutoFit/>
          </a:bodyPr>
          <a:lstStyle/>
          <a:p>
            <a:r>
              <a:rPr lang="en-US" dirty="0"/>
              <a:t>// Class 1: The Client (Needs the Insurance Details)</a:t>
            </a:r>
          </a:p>
          <a:p>
            <a:r>
              <a:rPr lang="en-US" dirty="0"/>
              <a:t>public class Client {</a:t>
            </a:r>
          </a:p>
          <a:p>
            <a:r>
              <a:rPr lang="en-US" dirty="0"/>
              <a:t>    public static void main(String[] </a:t>
            </a:r>
            <a:r>
              <a:rPr lang="en-US" dirty="0" err="1"/>
              <a:t>args</a:t>
            </a:r>
            <a:r>
              <a:rPr lang="en-US" dirty="0"/>
              <a:t>) {</a:t>
            </a:r>
          </a:p>
          <a:p>
            <a:r>
              <a:rPr lang="en-US" dirty="0"/>
              <a:t>        Employee </a:t>
            </a:r>
            <a:r>
              <a:rPr lang="en-US" dirty="0" err="1"/>
              <a:t>employee</a:t>
            </a:r>
            <a:r>
              <a:rPr lang="en-US" dirty="0"/>
              <a:t> = new Employee("Alice");</a:t>
            </a:r>
          </a:p>
          <a:p>
            <a:r>
              <a:rPr lang="en-US" dirty="0"/>
              <a:t>        </a:t>
            </a:r>
          </a:p>
          <a:p>
            <a:r>
              <a:rPr lang="en-US" dirty="0"/>
              <a:t>        // Client has to go through the middle man (Employee) to get to the data</a:t>
            </a:r>
          </a:p>
          <a:p>
            <a:r>
              <a:rPr lang="en-US" dirty="0"/>
              <a:t>        // This is the "middle man" call: </a:t>
            </a:r>
            <a:r>
              <a:rPr lang="en-US" dirty="0" err="1"/>
              <a:t>employee.getBenefits</a:t>
            </a:r>
            <a:r>
              <a:rPr lang="en-US" dirty="0"/>
              <a:t>().</a:t>
            </a:r>
            <a:r>
              <a:rPr lang="en-US" dirty="0" err="1"/>
              <a:t>getPlanDetails</a:t>
            </a:r>
            <a:r>
              <a:rPr lang="en-US" dirty="0"/>
              <a:t>()...</a:t>
            </a:r>
          </a:p>
          <a:p>
            <a:r>
              <a:rPr lang="en-US" dirty="0"/>
              <a:t>        String </a:t>
            </a:r>
            <a:r>
              <a:rPr lang="en-US" dirty="0" err="1"/>
              <a:t>planType</a:t>
            </a:r>
            <a:r>
              <a:rPr lang="en-US" dirty="0"/>
              <a:t> = </a:t>
            </a:r>
            <a:r>
              <a:rPr lang="en-US" dirty="0" err="1"/>
              <a:t>employee.getBenefits</a:t>
            </a:r>
            <a:r>
              <a:rPr lang="en-US" dirty="0"/>
              <a:t>().</a:t>
            </a:r>
            <a:r>
              <a:rPr lang="en-US" dirty="0" err="1"/>
              <a:t>getInsurancePlan</a:t>
            </a:r>
            <a:r>
              <a:rPr lang="en-US" dirty="0"/>
              <a:t>().</a:t>
            </a:r>
            <a:r>
              <a:rPr lang="en-US" dirty="0" err="1"/>
              <a:t>getPlanType</a:t>
            </a:r>
            <a:r>
              <a:rPr lang="en-US" dirty="0"/>
              <a:t>();</a:t>
            </a:r>
          </a:p>
          <a:p>
            <a:r>
              <a:rPr lang="en-US" dirty="0"/>
              <a:t>        </a:t>
            </a:r>
            <a:r>
              <a:rPr lang="en-US" dirty="0" err="1"/>
              <a:t>System.out.println</a:t>
            </a:r>
            <a:r>
              <a:rPr lang="en-US" dirty="0"/>
              <a:t>("Alice's plan: " + </a:t>
            </a:r>
            <a:r>
              <a:rPr lang="en-US" dirty="0" err="1"/>
              <a:t>planType</a:t>
            </a:r>
            <a:r>
              <a:rPr lang="en-US" dirty="0"/>
              <a:t>); </a:t>
            </a:r>
          </a:p>
          <a:p>
            <a:r>
              <a:rPr lang="en-US" dirty="0"/>
              <a:t>    }</a:t>
            </a:r>
          </a:p>
          <a:p>
            <a:r>
              <a:rPr lang="en-US" dirty="0"/>
              <a:t>}</a:t>
            </a:r>
          </a:p>
          <a:p>
            <a:endParaRPr lang="en-US" dirty="0"/>
          </a:p>
          <a:p>
            <a:endParaRPr lang="en-US" dirty="0"/>
          </a:p>
        </p:txBody>
      </p:sp>
      <p:sp>
        <p:nvSpPr>
          <p:cNvPr id="6" name="Rectangle 5"/>
          <p:cNvSpPr/>
          <p:nvPr/>
        </p:nvSpPr>
        <p:spPr>
          <a:xfrm>
            <a:off x="6096000" y="2333685"/>
            <a:ext cx="6096000" cy="3970318"/>
          </a:xfrm>
          <a:prstGeom prst="rect">
            <a:avLst/>
          </a:prstGeom>
        </p:spPr>
        <p:txBody>
          <a:bodyPr>
            <a:spAutoFit/>
          </a:bodyPr>
          <a:lstStyle/>
          <a:p>
            <a:r>
              <a:rPr lang="en-US" dirty="0"/>
              <a:t>// Class 2: Employee (The Middle Man)</a:t>
            </a:r>
          </a:p>
          <a:p>
            <a:r>
              <a:rPr lang="en-US" dirty="0"/>
              <a:t>public class Employee {</a:t>
            </a:r>
          </a:p>
          <a:p>
            <a:r>
              <a:rPr lang="en-US" dirty="0"/>
              <a:t>    private Benefits </a:t>
            </a:r>
            <a:r>
              <a:rPr lang="en-US" dirty="0" err="1"/>
              <a:t>benefits</a:t>
            </a:r>
            <a:r>
              <a:rPr lang="en-US" dirty="0"/>
              <a:t>; // Holds the delegate object</a:t>
            </a:r>
          </a:p>
          <a:p>
            <a:r>
              <a:rPr lang="en-US" dirty="0"/>
              <a:t>    </a:t>
            </a:r>
          </a:p>
          <a:p>
            <a:r>
              <a:rPr lang="en-US" dirty="0"/>
              <a:t>    public Employee(String name) {</a:t>
            </a:r>
          </a:p>
          <a:p>
            <a:r>
              <a:rPr lang="en-US" dirty="0"/>
              <a:t>        // Assume benefits is initialized here</a:t>
            </a:r>
          </a:p>
          <a:p>
            <a:r>
              <a:rPr lang="en-US" dirty="0"/>
              <a:t>        </a:t>
            </a:r>
            <a:r>
              <a:rPr lang="en-US" dirty="0" err="1"/>
              <a:t>this.benefits</a:t>
            </a:r>
            <a:r>
              <a:rPr lang="en-US" dirty="0"/>
              <a:t> = new Benefits();</a:t>
            </a:r>
          </a:p>
          <a:p>
            <a:r>
              <a:rPr lang="en-US" dirty="0"/>
              <a:t>    }</a:t>
            </a:r>
          </a:p>
          <a:p>
            <a:endParaRPr lang="en-US" dirty="0"/>
          </a:p>
          <a:p>
            <a:r>
              <a:rPr lang="en-US" dirty="0"/>
              <a:t>    // Exposes the delegate object's getter. This is the problem.</a:t>
            </a:r>
          </a:p>
          <a:p>
            <a:r>
              <a:rPr lang="en-US" dirty="0"/>
              <a:t>    public Benefits </a:t>
            </a:r>
            <a:r>
              <a:rPr lang="en-US" dirty="0" err="1"/>
              <a:t>getBenefits</a:t>
            </a:r>
            <a:r>
              <a:rPr lang="en-US" dirty="0"/>
              <a:t>() { </a:t>
            </a:r>
          </a:p>
          <a:p>
            <a:r>
              <a:rPr lang="en-US" dirty="0"/>
              <a:t>        return benefits;</a:t>
            </a:r>
          </a:p>
          <a:p>
            <a:r>
              <a:rPr lang="en-US" dirty="0"/>
              <a:t>    }</a:t>
            </a:r>
          </a:p>
          <a:p>
            <a:r>
              <a:rPr lang="en-US" dirty="0"/>
              <a:t>}</a:t>
            </a:r>
          </a:p>
        </p:txBody>
      </p:sp>
    </p:spTree>
    <p:extLst>
      <p:ext uri="{BB962C8B-B14F-4D97-AF65-F5344CB8AC3E}">
        <p14:creationId xmlns:p14="http://schemas.microsoft.com/office/powerpoint/2010/main" val="18643931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52272" y="74456"/>
            <a:ext cx="7668768" cy="7294305"/>
          </a:xfrm>
          <a:prstGeom prst="rect">
            <a:avLst/>
          </a:prstGeom>
        </p:spPr>
        <p:txBody>
          <a:bodyPr wrap="square">
            <a:spAutoFit/>
          </a:bodyPr>
          <a:lstStyle/>
          <a:p>
            <a:r>
              <a:rPr lang="en-US" dirty="0"/>
              <a:t>// Class 3: Benefits (The Delegate)</a:t>
            </a:r>
          </a:p>
          <a:p>
            <a:r>
              <a:rPr lang="en-US" dirty="0"/>
              <a:t>public class Benefits {</a:t>
            </a:r>
          </a:p>
          <a:p>
            <a:r>
              <a:rPr lang="en-US" dirty="0"/>
              <a:t>    private </a:t>
            </a:r>
            <a:r>
              <a:rPr lang="en-US" dirty="0" err="1"/>
              <a:t>InsurancePlan</a:t>
            </a:r>
            <a:r>
              <a:rPr lang="en-US" dirty="0"/>
              <a:t> </a:t>
            </a:r>
            <a:r>
              <a:rPr lang="en-US" dirty="0" err="1"/>
              <a:t>insurancePlan</a:t>
            </a:r>
            <a:r>
              <a:rPr lang="en-US" dirty="0"/>
              <a:t>;</a:t>
            </a:r>
          </a:p>
          <a:p>
            <a:r>
              <a:rPr lang="en-US" dirty="0"/>
              <a:t>    </a:t>
            </a:r>
          </a:p>
          <a:p>
            <a:r>
              <a:rPr lang="en-US" dirty="0"/>
              <a:t>    public Benefits() {</a:t>
            </a:r>
          </a:p>
          <a:p>
            <a:r>
              <a:rPr lang="en-US" dirty="0"/>
              <a:t>        </a:t>
            </a:r>
            <a:r>
              <a:rPr lang="en-US" dirty="0" err="1"/>
              <a:t>this.insurancePlan</a:t>
            </a:r>
            <a:r>
              <a:rPr lang="en-US" dirty="0"/>
              <a:t> = new </a:t>
            </a:r>
            <a:r>
              <a:rPr lang="en-US" dirty="0" err="1"/>
              <a:t>InsurancePlan</a:t>
            </a:r>
            <a:r>
              <a:rPr lang="en-US" dirty="0"/>
              <a:t>("Premium PPO");</a:t>
            </a:r>
          </a:p>
          <a:p>
            <a:r>
              <a:rPr lang="en-US" dirty="0"/>
              <a:t>    }</a:t>
            </a:r>
          </a:p>
          <a:p>
            <a:r>
              <a:rPr lang="en-US" dirty="0"/>
              <a:t>    </a:t>
            </a:r>
          </a:p>
          <a:p>
            <a:r>
              <a:rPr lang="en-US" dirty="0"/>
              <a:t>    // Exposes the delegate object's getter.</a:t>
            </a:r>
          </a:p>
          <a:p>
            <a:r>
              <a:rPr lang="en-US" dirty="0"/>
              <a:t>    public </a:t>
            </a:r>
            <a:r>
              <a:rPr lang="en-US" dirty="0" err="1"/>
              <a:t>InsurancePlan</a:t>
            </a:r>
            <a:r>
              <a:rPr lang="en-US" dirty="0"/>
              <a:t> </a:t>
            </a:r>
            <a:r>
              <a:rPr lang="en-US" dirty="0" err="1"/>
              <a:t>getInsurancePlan</a:t>
            </a:r>
            <a:r>
              <a:rPr lang="en-US" dirty="0"/>
              <a:t>() {</a:t>
            </a:r>
          </a:p>
          <a:p>
            <a:r>
              <a:rPr lang="en-US" dirty="0"/>
              <a:t>        return </a:t>
            </a:r>
            <a:r>
              <a:rPr lang="en-US" dirty="0" err="1"/>
              <a:t>insurancePlan</a:t>
            </a:r>
            <a:r>
              <a:rPr lang="en-US" dirty="0"/>
              <a:t>;</a:t>
            </a:r>
          </a:p>
          <a:p>
            <a:r>
              <a:rPr lang="en-US" dirty="0"/>
              <a:t>    }</a:t>
            </a:r>
          </a:p>
          <a:p>
            <a:r>
              <a:rPr lang="en-US" dirty="0"/>
              <a:t>}</a:t>
            </a:r>
          </a:p>
          <a:p>
            <a:endParaRPr lang="en-US" dirty="0"/>
          </a:p>
          <a:p>
            <a:r>
              <a:rPr lang="en-US" dirty="0"/>
              <a:t>// Class 4: </a:t>
            </a:r>
            <a:r>
              <a:rPr lang="en-US" dirty="0" err="1"/>
              <a:t>InsurancePlan</a:t>
            </a:r>
            <a:r>
              <a:rPr lang="en-US" dirty="0"/>
              <a:t> (The Target)</a:t>
            </a:r>
          </a:p>
          <a:p>
            <a:r>
              <a:rPr lang="en-US" dirty="0"/>
              <a:t>public class </a:t>
            </a:r>
            <a:r>
              <a:rPr lang="en-US" dirty="0" err="1"/>
              <a:t>InsurancePlan</a:t>
            </a:r>
            <a:r>
              <a:rPr lang="en-US" dirty="0"/>
              <a:t> {</a:t>
            </a:r>
          </a:p>
          <a:p>
            <a:r>
              <a:rPr lang="en-US" dirty="0"/>
              <a:t>    private String </a:t>
            </a:r>
            <a:r>
              <a:rPr lang="en-US" dirty="0" err="1"/>
              <a:t>planType</a:t>
            </a:r>
            <a:r>
              <a:rPr lang="en-US" dirty="0"/>
              <a:t>;</a:t>
            </a:r>
          </a:p>
          <a:p>
            <a:endParaRPr lang="en-US" dirty="0"/>
          </a:p>
          <a:p>
            <a:r>
              <a:rPr lang="en-US" dirty="0"/>
              <a:t>    public </a:t>
            </a:r>
            <a:r>
              <a:rPr lang="en-US" dirty="0" err="1"/>
              <a:t>InsurancePlan</a:t>
            </a:r>
            <a:r>
              <a:rPr lang="en-US" dirty="0"/>
              <a:t>(String </a:t>
            </a:r>
            <a:r>
              <a:rPr lang="en-US" dirty="0" err="1"/>
              <a:t>planType</a:t>
            </a:r>
            <a:r>
              <a:rPr lang="en-US" dirty="0"/>
              <a:t>) {</a:t>
            </a:r>
          </a:p>
          <a:p>
            <a:r>
              <a:rPr lang="en-US" dirty="0"/>
              <a:t>        </a:t>
            </a:r>
            <a:r>
              <a:rPr lang="en-US" dirty="0" err="1"/>
              <a:t>this.planType</a:t>
            </a:r>
            <a:r>
              <a:rPr lang="en-US" dirty="0"/>
              <a:t> = </a:t>
            </a:r>
            <a:r>
              <a:rPr lang="en-US" dirty="0" err="1"/>
              <a:t>planType</a:t>
            </a:r>
            <a:r>
              <a:rPr lang="en-US" dirty="0"/>
              <a:t>;</a:t>
            </a:r>
          </a:p>
          <a:p>
            <a:r>
              <a:rPr lang="en-US" dirty="0"/>
              <a:t>    }</a:t>
            </a:r>
          </a:p>
          <a:p>
            <a:endParaRPr lang="en-US" dirty="0"/>
          </a:p>
          <a:p>
            <a:r>
              <a:rPr lang="en-US" dirty="0"/>
              <a:t>    public String </a:t>
            </a:r>
            <a:r>
              <a:rPr lang="en-US" dirty="0" err="1"/>
              <a:t>getPlanType</a:t>
            </a:r>
            <a:r>
              <a:rPr lang="en-US" dirty="0"/>
              <a:t>() {</a:t>
            </a:r>
          </a:p>
          <a:p>
            <a:r>
              <a:rPr lang="en-US" dirty="0"/>
              <a:t>        return </a:t>
            </a:r>
            <a:r>
              <a:rPr lang="en-US" dirty="0" err="1"/>
              <a:t>planType</a:t>
            </a:r>
            <a:r>
              <a:rPr lang="en-US" dirty="0"/>
              <a:t>;</a:t>
            </a:r>
          </a:p>
          <a:p>
            <a:r>
              <a:rPr lang="en-US" dirty="0"/>
              <a:t>    }</a:t>
            </a:r>
          </a:p>
          <a:p>
            <a:r>
              <a:rPr lang="en-US" dirty="0"/>
              <a:t>}</a:t>
            </a:r>
          </a:p>
        </p:txBody>
      </p:sp>
      <p:sp>
        <p:nvSpPr>
          <p:cNvPr id="5" name="Rectangle 4"/>
          <p:cNvSpPr/>
          <p:nvPr/>
        </p:nvSpPr>
        <p:spPr>
          <a:xfrm>
            <a:off x="5681472" y="2813227"/>
            <a:ext cx="6096000" cy="1477328"/>
          </a:xfrm>
          <a:prstGeom prst="rect">
            <a:avLst/>
          </a:prstGeom>
        </p:spPr>
        <p:txBody>
          <a:bodyPr>
            <a:spAutoFit/>
          </a:bodyPr>
          <a:lstStyle/>
          <a:p>
            <a:r>
              <a:rPr lang="en-US" b="1" dirty="0"/>
              <a:t>Problem:</a:t>
            </a:r>
            <a:r>
              <a:rPr lang="en-US" dirty="0"/>
              <a:t> To get the plan type, the client code must know the internal structure of  Employee (that it has Benefits ) and the internal structure of Benefits (that it has an </a:t>
            </a:r>
            <a:r>
              <a:rPr lang="en-US" dirty="0" err="1"/>
              <a:t>InsurancePlan</a:t>
            </a:r>
            <a:r>
              <a:rPr lang="en-US" dirty="0"/>
              <a:t>). This creates a long, brittle delegation chain</a:t>
            </a:r>
            <a:r>
              <a:rPr lang="en-US" dirty="0" smtClean="0"/>
              <a:t>:</a:t>
            </a:r>
          </a:p>
          <a:p>
            <a:r>
              <a:rPr lang="en-US" dirty="0" err="1"/>
              <a:t>employee.getBenefits</a:t>
            </a:r>
            <a:r>
              <a:rPr lang="en-US" dirty="0"/>
              <a:t>().</a:t>
            </a:r>
            <a:r>
              <a:rPr lang="en-US" dirty="0" err="1"/>
              <a:t>getInsurancePlan</a:t>
            </a:r>
            <a:r>
              <a:rPr lang="en-US" dirty="0"/>
              <a:t>().</a:t>
            </a:r>
            <a:r>
              <a:rPr lang="en-US" dirty="0" err="1"/>
              <a:t>getPlanType</a:t>
            </a:r>
            <a:r>
              <a:rPr lang="en-US" dirty="0"/>
              <a:t>()</a:t>
            </a:r>
          </a:p>
        </p:txBody>
      </p:sp>
    </p:spTree>
    <p:extLst>
      <p:ext uri="{BB962C8B-B14F-4D97-AF65-F5344CB8AC3E}">
        <p14:creationId xmlns:p14="http://schemas.microsoft.com/office/powerpoint/2010/main" val="2540304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9264"/>
            <a:ext cx="10515600" cy="5207699"/>
          </a:xfrm>
        </p:spPr>
        <p:txBody>
          <a:bodyPr>
            <a:normAutofit/>
          </a:bodyPr>
          <a:lstStyle/>
          <a:p>
            <a:pPr marL="0" indent="0">
              <a:buNone/>
            </a:pPr>
            <a:r>
              <a:rPr lang="en-US" dirty="0"/>
              <a:t>2. After: Remove Middle </a:t>
            </a:r>
            <a:r>
              <a:rPr lang="en-US" dirty="0" smtClean="0"/>
              <a:t>Man</a:t>
            </a:r>
          </a:p>
          <a:p>
            <a:pPr lvl="1"/>
            <a:r>
              <a:rPr lang="en-US" dirty="0"/>
              <a:t>We refactor the code to remove the </a:t>
            </a:r>
            <a:r>
              <a:rPr lang="en-US" b="1" dirty="0"/>
              <a:t>Middle Man</a:t>
            </a:r>
            <a:r>
              <a:rPr lang="en-US" dirty="0"/>
              <a:t> (Employee) from the chain of calls by having the client (Client) call the ultimate target (</a:t>
            </a:r>
            <a:r>
              <a:rPr lang="en-US" dirty="0" err="1"/>
              <a:t>InsurancePlan</a:t>
            </a:r>
            <a:r>
              <a:rPr lang="en-US" dirty="0"/>
              <a:t>) directly, or by having the target (</a:t>
            </a:r>
            <a:r>
              <a:rPr lang="en-US" dirty="0" err="1"/>
              <a:t>InsurancePlan</a:t>
            </a:r>
            <a:r>
              <a:rPr lang="en-US" dirty="0"/>
              <a:t>) moved closer to the client. The most common solution is to provide a method that calls the target directly</a:t>
            </a:r>
            <a:r>
              <a:rPr lang="en-US" dirty="0" smtClean="0"/>
              <a:t>.</a:t>
            </a:r>
          </a:p>
          <a:p>
            <a:pPr lvl="1"/>
            <a:r>
              <a:rPr lang="en-US" dirty="0"/>
              <a:t>In this case, since </a:t>
            </a:r>
            <a:r>
              <a:rPr lang="en-US" dirty="0" smtClean="0"/>
              <a:t>Employee </a:t>
            </a:r>
            <a:r>
              <a:rPr lang="en-US" i="1" dirty="0" smtClean="0"/>
              <a:t>is</a:t>
            </a:r>
            <a:r>
              <a:rPr lang="en-US" dirty="0" smtClean="0"/>
              <a:t> </a:t>
            </a:r>
            <a:r>
              <a:rPr lang="en-US" dirty="0"/>
              <a:t>the middle man, we make the client access the required object directly. However, if that is not possible, we put the target object's method on the middle man itself</a:t>
            </a:r>
            <a:r>
              <a:rPr lang="en-US" dirty="0" smtClean="0"/>
              <a:t>.</a:t>
            </a:r>
          </a:p>
          <a:p>
            <a:pPr lvl="1"/>
            <a:r>
              <a:rPr lang="en-US" dirty="0"/>
              <a:t>The solution below focuses on the simplest fix: making the </a:t>
            </a:r>
            <a:r>
              <a:rPr lang="en-US" dirty="0" smtClean="0"/>
              <a:t>Employee </a:t>
            </a:r>
            <a:r>
              <a:rPr lang="en-US" i="1" dirty="0"/>
              <a:t>not</a:t>
            </a:r>
            <a:r>
              <a:rPr lang="en-US" dirty="0"/>
              <a:t> expose the Benefits object.</a:t>
            </a:r>
          </a:p>
        </p:txBody>
      </p:sp>
    </p:spTree>
    <p:extLst>
      <p:ext uri="{BB962C8B-B14F-4D97-AF65-F5344CB8AC3E}">
        <p14:creationId xmlns:p14="http://schemas.microsoft.com/office/powerpoint/2010/main" val="32542819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Step A: Refactor Employee and Benefits (Eliminate Exposure</a:t>
            </a:r>
            <a:r>
              <a:rPr lang="en-US" dirty="0" smtClean="0"/>
              <a:t>)</a:t>
            </a:r>
          </a:p>
          <a:p>
            <a:pPr lvl="1"/>
            <a:r>
              <a:rPr lang="en-US" dirty="0"/>
              <a:t>We remove the exposed getter methods that reveal the object's structure (</a:t>
            </a:r>
            <a:r>
              <a:rPr lang="en-US" dirty="0" err="1"/>
              <a:t>getBenefits</a:t>
            </a:r>
            <a:r>
              <a:rPr lang="en-US" dirty="0"/>
              <a:t>() and </a:t>
            </a:r>
            <a:r>
              <a:rPr lang="en-US" dirty="0" err="1"/>
              <a:t>getInsurancePlan</a:t>
            </a:r>
            <a:r>
              <a:rPr lang="en-US" dirty="0"/>
              <a:t>() </a:t>
            </a:r>
            <a:r>
              <a:rPr lang="en-US" dirty="0" smtClean="0"/>
              <a:t>).</a:t>
            </a:r>
          </a:p>
          <a:p>
            <a:r>
              <a:rPr lang="en-US" dirty="0"/>
              <a:t>Step B: Update the Client to Access the Target Directly (If possible</a:t>
            </a:r>
            <a:r>
              <a:rPr lang="en-US" dirty="0" smtClean="0"/>
              <a:t>)</a:t>
            </a:r>
          </a:p>
          <a:p>
            <a:pPr lvl="1"/>
            <a:r>
              <a:rPr lang="en-US" dirty="0"/>
              <a:t>Since the Client cannot simply guess the </a:t>
            </a:r>
            <a:r>
              <a:rPr lang="en-US" dirty="0" err="1" smtClean="0"/>
              <a:t>InsurancePlan</a:t>
            </a:r>
            <a:r>
              <a:rPr lang="en-US" dirty="0"/>
              <a:t> object, we must update the Employee class to provide a direct access method to the </a:t>
            </a:r>
            <a:r>
              <a:rPr lang="en-US" b="1" dirty="0"/>
              <a:t>target functionality</a:t>
            </a:r>
            <a:r>
              <a:rPr lang="en-US" dirty="0"/>
              <a:t>.</a:t>
            </a:r>
          </a:p>
        </p:txBody>
      </p:sp>
    </p:spTree>
    <p:extLst>
      <p:ext uri="{BB962C8B-B14F-4D97-AF65-F5344CB8AC3E}">
        <p14:creationId xmlns:p14="http://schemas.microsoft.com/office/powerpoint/2010/main" val="11455904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5072" y="644902"/>
            <a:ext cx="6096000" cy="5078313"/>
          </a:xfrm>
          <a:prstGeom prst="rect">
            <a:avLst/>
          </a:prstGeom>
        </p:spPr>
        <p:txBody>
          <a:bodyPr>
            <a:spAutoFit/>
          </a:bodyPr>
          <a:lstStyle/>
          <a:p>
            <a:r>
              <a:rPr lang="en-US" dirty="0"/>
              <a:t>// Class 2: Employee (The Middle Man is gone)</a:t>
            </a:r>
          </a:p>
          <a:p>
            <a:r>
              <a:rPr lang="en-US" dirty="0"/>
              <a:t>public class Employee {</a:t>
            </a:r>
          </a:p>
          <a:p>
            <a:r>
              <a:rPr lang="en-US" dirty="0"/>
              <a:t>    private Benefits </a:t>
            </a:r>
            <a:r>
              <a:rPr lang="en-US" dirty="0" err="1"/>
              <a:t>benefits</a:t>
            </a:r>
            <a:r>
              <a:rPr lang="en-US" dirty="0"/>
              <a:t>;</a:t>
            </a:r>
          </a:p>
          <a:p>
            <a:r>
              <a:rPr lang="en-US" dirty="0"/>
              <a:t>    </a:t>
            </a:r>
          </a:p>
          <a:p>
            <a:r>
              <a:rPr lang="en-US" dirty="0"/>
              <a:t>    // ... constructor ...</a:t>
            </a:r>
          </a:p>
          <a:p>
            <a:endParaRPr lang="en-US" dirty="0"/>
          </a:p>
          <a:p>
            <a:r>
              <a:rPr lang="en-US" dirty="0"/>
              <a:t>    // The problematic public getter is REMOVED: // public Benefits </a:t>
            </a:r>
            <a:r>
              <a:rPr lang="en-US" dirty="0" err="1"/>
              <a:t>getBenefits</a:t>
            </a:r>
            <a:r>
              <a:rPr lang="en-US" dirty="0"/>
              <a:t>() </a:t>
            </a:r>
          </a:p>
          <a:p>
            <a:endParaRPr lang="en-US" dirty="0"/>
          </a:p>
          <a:p>
            <a:r>
              <a:rPr lang="en-US" dirty="0"/>
              <a:t>    // NEW: Employee delegates directly to the target functionality without returning the intermediate object.</a:t>
            </a:r>
          </a:p>
          <a:p>
            <a:r>
              <a:rPr lang="en-US" dirty="0"/>
              <a:t>    public String </a:t>
            </a:r>
            <a:r>
              <a:rPr lang="en-US" dirty="0" err="1"/>
              <a:t>getInsurancePlanType</a:t>
            </a:r>
            <a:r>
              <a:rPr lang="en-US" dirty="0"/>
              <a:t>() {</a:t>
            </a:r>
          </a:p>
          <a:p>
            <a:r>
              <a:rPr lang="en-US" dirty="0"/>
              <a:t>        // Employee takes the responsibility of calling the delegate's methods internally</a:t>
            </a:r>
          </a:p>
          <a:p>
            <a:r>
              <a:rPr lang="en-US" dirty="0"/>
              <a:t>        return </a:t>
            </a:r>
            <a:r>
              <a:rPr lang="en-US" dirty="0" err="1"/>
              <a:t>this.benefits.getInsurancePlanType</a:t>
            </a:r>
            <a:r>
              <a:rPr lang="en-US" dirty="0"/>
              <a:t>(); </a:t>
            </a:r>
          </a:p>
          <a:p>
            <a:r>
              <a:rPr lang="en-US" dirty="0"/>
              <a:t>    }</a:t>
            </a:r>
          </a:p>
          <a:p>
            <a:r>
              <a:rPr lang="en-US" dirty="0"/>
              <a:t>}</a:t>
            </a:r>
          </a:p>
          <a:p>
            <a:endParaRPr lang="en-US" dirty="0"/>
          </a:p>
        </p:txBody>
      </p:sp>
      <p:sp>
        <p:nvSpPr>
          <p:cNvPr id="3" name="Rectangle 2"/>
          <p:cNvSpPr/>
          <p:nvPr/>
        </p:nvSpPr>
        <p:spPr>
          <a:xfrm>
            <a:off x="6291072" y="0"/>
            <a:ext cx="6172200" cy="7294305"/>
          </a:xfrm>
          <a:prstGeom prst="rect">
            <a:avLst/>
          </a:prstGeom>
        </p:spPr>
        <p:txBody>
          <a:bodyPr wrap="square">
            <a:spAutoFit/>
          </a:bodyPr>
          <a:lstStyle/>
          <a:p>
            <a:r>
              <a:rPr lang="en-US" dirty="0"/>
              <a:t>// Class 3: Benefits (Updated to be more helpful)</a:t>
            </a:r>
          </a:p>
          <a:p>
            <a:r>
              <a:rPr lang="en-US" dirty="0"/>
              <a:t>public class Benefits {</a:t>
            </a:r>
          </a:p>
          <a:p>
            <a:r>
              <a:rPr lang="en-US" dirty="0"/>
              <a:t>    private </a:t>
            </a:r>
            <a:r>
              <a:rPr lang="en-US" dirty="0" err="1"/>
              <a:t>InsurancePlan</a:t>
            </a:r>
            <a:r>
              <a:rPr lang="en-US" dirty="0"/>
              <a:t> </a:t>
            </a:r>
            <a:r>
              <a:rPr lang="en-US" dirty="0" err="1"/>
              <a:t>insurancePlan</a:t>
            </a:r>
            <a:r>
              <a:rPr lang="en-US" dirty="0"/>
              <a:t>;</a:t>
            </a:r>
          </a:p>
          <a:p>
            <a:r>
              <a:rPr lang="en-US" dirty="0"/>
              <a:t>    </a:t>
            </a:r>
          </a:p>
          <a:p>
            <a:r>
              <a:rPr lang="en-US" dirty="0"/>
              <a:t>    // ... constructor ...</a:t>
            </a:r>
          </a:p>
          <a:p>
            <a:r>
              <a:rPr lang="en-US" dirty="0"/>
              <a:t>    </a:t>
            </a:r>
          </a:p>
          <a:p>
            <a:r>
              <a:rPr lang="en-US" dirty="0"/>
              <a:t>    // The problematic public getter is REMOVED: // public </a:t>
            </a:r>
            <a:r>
              <a:rPr lang="en-US" dirty="0" err="1"/>
              <a:t>InsurancePlan</a:t>
            </a:r>
            <a:r>
              <a:rPr lang="en-US" dirty="0"/>
              <a:t> </a:t>
            </a:r>
            <a:r>
              <a:rPr lang="en-US" dirty="0" err="1"/>
              <a:t>getInsurancePlan</a:t>
            </a:r>
            <a:r>
              <a:rPr lang="en-US" dirty="0"/>
              <a:t>()</a:t>
            </a:r>
          </a:p>
          <a:p>
            <a:r>
              <a:rPr lang="en-US" dirty="0"/>
              <a:t>    </a:t>
            </a:r>
          </a:p>
          <a:p>
            <a:r>
              <a:rPr lang="en-US" dirty="0"/>
              <a:t>    // NEW: Provides the required functionality directly</a:t>
            </a:r>
          </a:p>
          <a:p>
            <a:r>
              <a:rPr lang="en-US" dirty="0"/>
              <a:t>    public String </a:t>
            </a:r>
            <a:r>
              <a:rPr lang="en-US" dirty="0" err="1"/>
              <a:t>getInsurancePlanType</a:t>
            </a:r>
            <a:r>
              <a:rPr lang="en-US" dirty="0"/>
              <a:t>() {</a:t>
            </a:r>
          </a:p>
          <a:p>
            <a:r>
              <a:rPr lang="en-US" dirty="0"/>
              <a:t>        return </a:t>
            </a:r>
            <a:r>
              <a:rPr lang="en-US" dirty="0" err="1"/>
              <a:t>this.insurancePlan.getPlanType</a:t>
            </a:r>
            <a:r>
              <a:rPr lang="en-US" dirty="0"/>
              <a:t>();</a:t>
            </a:r>
          </a:p>
          <a:p>
            <a:r>
              <a:rPr lang="en-US" dirty="0"/>
              <a:t>    }</a:t>
            </a:r>
          </a:p>
          <a:p>
            <a:r>
              <a:rPr lang="en-US" dirty="0"/>
              <a:t>}</a:t>
            </a:r>
          </a:p>
          <a:p>
            <a:endParaRPr lang="en-US" dirty="0"/>
          </a:p>
          <a:p>
            <a:r>
              <a:rPr lang="en-US" dirty="0"/>
              <a:t>// Class 1: The Client (Simplified Call)</a:t>
            </a:r>
          </a:p>
          <a:p>
            <a:r>
              <a:rPr lang="en-US" dirty="0"/>
              <a:t>public class Client {</a:t>
            </a:r>
          </a:p>
          <a:p>
            <a:r>
              <a:rPr lang="en-US" dirty="0"/>
              <a:t>    public static void main(String[] </a:t>
            </a:r>
            <a:r>
              <a:rPr lang="en-US" dirty="0" err="1"/>
              <a:t>args</a:t>
            </a:r>
            <a:r>
              <a:rPr lang="en-US" dirty="0"/>
              <a:t>) {</a:t>
            </a:r>
          </a:p>
          <a:p>
            <a:r>
              <a:rPr lang="en-US" dirty="0"/>
              <a:t>        Employee </a:t>
            </a:r>
            <a:r>
              <a:rPr lang="en-US" dirty="0" err="1"/>
              <a:t>employee</a:t>
            </a:r>
            <a:r>
              <a:rPr lang="en-US" dirty="0"/>
              <a:t> = new Employee("Alice");</a:t>
            </a:r>
          </a:p>
          <a:p>
            <a:r>
              <a:rPr lang="en-US" dirty="0"/>
              <a:t>        </a:t>
            </a:r>
          </a:p>
          <a:p>
            <a:r>
              <a:rPr lang="en-US" dirty="0"/>
              <a:t>        // Client now calls the Employee directly for the specific information</a:t>
            </a:r>
          </a:p>
          <a:p>
            <a:r>
              <a:rPr lang="en-US" dirty="0"/>
              <a:t>        String </a:t>
            </a:r>
            <a:r>
              <a:rPr lang="en-US" dirty="0" err="1"/>
              <a:t>planType</a:t>
            </a:r>
            <a:r>
              <a:rPr lang="en-US" dirty="0"/>
              <a:t> = </a:t>
            </a:r>
            <a:r>
              <a:rPr lang="en-US" dirty="0" err="1"/>
              <a:t>employee.getInsurancePlanType</a:t>
            </a:r>
            <a:r>
              <a:rPr lang="en-US" dirty="0"/>
              <a:t>(); </a:t>
            </a:r>
          </a:p>
          <a:p>
            <a:r>
              <a:rPr lang="en-US" dirty="0"/>
              <a:t>        </a:t>
            </a:r>
            <a:r>
              <a:rPr lang="en-US" dirty="0" err="1"/>
              <a:t>System.out.println</a:t>
            </a:r>
            <a:r>
              <a:rPr lang="en-US" dirty="0"/>
              <a:t>("Alice's plan: " + </a:t>
            </a:r>
            <a:r>
              <a:rPr lang="en-US" dirty="0" err="1"/>
              <a:t>planType</a:t>
            </a:r>
            <a:r>
              <a:rPr lang="en-US" dirty="0"/>
              <a:t>); </a:t>
            </a:r>
          </a:p>
          <a:p>
            <a:r>
              <a:rPr lang="en-US" dirty="0"/>
              <a:t>    }</a:t>
            </a:r>
          </a:p>
          <a:p>
            <a:r>
              <a:rPr lang="en-US" dirty="0"/>
              <a:t>}</a:t>
            </a:r>
          </a:p>
        </p:txBody>
      </p:sp>
    </p:spTree>
    <p:extLst>
      <p:ext uri="{BB962C8B-B14F-4D97-AF65-F5344CB8AC3E}">
        <p14:creationId xmlns:p14="http://schemas.microsoft.com/office/powerpoint/2010/main" val="167470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If an imported class needs an additional method, but you can’t modify it directly, create a method in the client class with the imported object as a parameter</a:t>
            </a:r>
            <a:r>
              <a:rPr lang="en-US" dirty="0" smtClean="0"/>
              <a:t>.</a:t>
            </a:r>
          </a:p>
          <a:p>
            <a:pPr lvl="1" algn="just"/>
            <a:r>
              <a:rPr lang="en-US" dirty="0"/>
              <a:t>This technique is formally known as </a:t>
            </a:r>
            <a:r>
              <a:rPr lang="en-US" b="1" dirty="0"/>
              <a:t>Introduce Foreign Method</a:t>
            </a:r>
            <a:r>
              <a:rPr lang="en-US" dirty="0"/>
              <a:t>. It's used when you are dealing with a class from a third-party library or a framework that you cannot change (a "foreign class"), but you need to add specific, client-side functionality to it.</a:t>
            </a:r>
            <a:endParaRPr lang="en-US" dirty="0"/>
          </a:p>
        </p:txBody>
      </p:sp>
    </p:spTree>
    <p:extLst>
      <p:ext uri="{BB962C8B-B14F-4D97-AF65-F5344CB8AC3E}">
        <p14:creationId xmlns:p14="http://schemas.microsoft.com/office/powerpoint/2010/main" val="17552845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Introduce Foreign Method Example</a:t>
            </a:r>
          </a:p>
        </p:txBody>
      </p:sp>
      <p:sp>
        <p:nvSpPr>
          <p:cNvPr id="3" name="Content Placeholder 2"/>
          <p:cNvSpPr>
            <a:spLocks noGrp="1"/>
          </p:cNvSpPr>
          <p:nvPr>
            <p:ph idx="1"/>
          </p:nvPr>
        </p:nvSpPr>
        <p:spPr>
          <a:xfrm>
            <a:off x="838200" y="1825625"/>
            <a:ext cx="4108704" cy="4351338"/>
          </a:xfrm>
        </p:spPr>
        <p:txBody>
          <a:bodyPr>
            <a:normAutofit lnSpcReduction="10000"/>
          </a:bodyPr>
          <a:lstStyle/>
          <a:p>
            <a:r>
              <a:rPr lang="en-US" dirty="0"/>
              <a:t>1. The Scenario: A Foreign </a:t>
            </a:r>
            <a:r>
              <a:rPr lang="en-US" dirty="0" smtClean="0"/>
              <a:t>Class</a:t>
            </a:r>
          </a:p>
          <a:p>
            <a:pPr lvl="1"/>
            <a:r>
              <a:rPr lang="en-US" dirty="0"/>
              <a:t>Imagine you are using a third-party geometry library that provides a simple </a:t>
            </a:r>
            <a:r>
              <a:rPr lang="en-US" dirty="0" smtClean="0"/>
              <a:t>Rectangle class</a:t>
            </a:r>
            <a:r>
              <a:rPr lang="en-US" dirty="0"/>
              <a:t>. You need a method to calculate the area of the smallest circle that can contain the rectangle (the </a:t>
            </a:r>
            <a:r>
              <a:rPr lang="en-US" dirty="0" err="1"/>
              <a:t>circumcircle</a:t>
            </a:r>
            <a:r>
              <a:rPr lang="en-US" dirty="0"/>
              <a:t> area), but you cannot modify the library's source code.</a:t>
            </a:r>
          </a:p>
        </p:txBody>
      </p:sp>
      <p:sp>
        <p:nvSpPr>
          <p:cNvPr id="10" name="Rectangle 9"/>
          <p:cNvSpPr/>
          <p:nvPr/>
        </p:nvSpPr>
        <p:spPr>
          <a:xfrm>
            <a:off x="4876800" y="1462137"/>
            <a:ext cx="6096000" cy="5078313"/>
          </a:xfrm>
          <a:prstGeom prst="rect">
            <a:avLst/>
          </a:prstGeom>
        </p:spPr>
        <p:txBody>
          <a:bodyPr>
            <a:spAutoFit/>
          </a:bodyPr>
          <a:lstStyle/>
          <a:p>
            <a:r>
              <a:rPr lang="en-US" dirty="0"/>
              <a:t>// Foreign Class (We cannot modify this source file!)</a:t>
            </a:r>
          </a:p>
          <a:p>
            <a:r>
              <a:rPr lang="en-US" dirty="0"/>
              <a:t>public class Rectangle {</a:t>
            </a:r>
          </a:p>
          <a:p>
            <a:r>
              <a:rPr lang="en-US" dirty="0"/>
              <a:t>    private double width;</a:t>
            </a:r>
          </a:p>
          <a:p>
            <a:r>
              <a:rPr lang="en-US" dirty="0"/>
              <a:t>    private double height;</a:t>
            </a:r>
          </a:p>
          <a:p>
            <a:r>
              <a:rPr lang="en-US" dirty="0"/>
              <a:t>    </a:t>
            </a:r>
          </a:p>
          <a:p>
            <a:r>
              <a:rPr lang="en-US" dirty="0"/>
              <a:t>    public Rectangle(double width, double height) {</a:t>
            </a:r>
          </a:p>
          <a:p>
            <a:r>
              <a:rPr lang="en-US" dirty="0"/>
              <a:t>        </a:t>
            </a:r>
            <a:r>
              <a:rPr lang="en-US" dirty="0" err="1"/>
              <a:t>this.width</a:t>
            </a:r>
            <a:r>
              <a:rPr lang="en-US" dirty="0"/>
              <a:t> = width;</a:t>
            </a:r>
          </a:p>
          <a:p>
            <a:r>
              <a:rPr lang="en-US" dirty="0"/>
              <a:t>        </a:t>
            </a:r>
            <a:r>
              <a:rPr lang="en-US" dirty="0" err="1"/>
              <a:t>this.height</a:t>
            </a:r>
            <a:r>
              <a:rPr lang="en-US" dirty="0"/>
              <a:t> = height;</a:t>
            </a:r>
          </a:p>
          <a:p>
            <a:r>
              <a:rPr lang="en-US" dirty="0"/>
              <a:t>    }</a:t>
            </a:r>
          </a:p>
          <a:p>
            <a:endParaRPr lang="en-US" dirty="0"/>
          </a:p>
          <a:p>
            <a:r>
              <a:rPr lang="en-US" dirty="0"/>
              <a:t>    public double </a:t>
            </a:r>
            <a:r>
              <a:rPr lang="en-US" dirty="0" err="1"/>
              <a:t>getWidth</a:t>
            </a:r>
            <a:r>
              <a:rPr lang="en-US" dirty="0"/>
              <a:t>() { return width; }</a:t>
            </a:r>
          </a:p>
          <a:p>
            <a:r>
              <a:rPr lang="en-US" dirty="0"/>
              <a:t>    public double </a:t>
            </a:r>
            <a:r>
              <a:rPr lang="en-US" dirty="0" err="1"/>
              <a:t>getHeight</a:t>
            </a:r>
            <a:r>
              <a:rPr lang="en-US" dirty="0"/>
              <a:t>() { return height; }</a:t>
            </a:r>
          </a:p>
          <a:p>
            <a:r>
              <a:rPr lang="en-US" dirty="0"/>
              <a:t>}</a:t>
            </a:r>
          </a:p>
          <a:p>
            <a:endParaRPr lang="en-US" dirty="0"/>
          </a:p>
          <a:p>
            <a:r>
              <a:rPr lang="en-US" dirty="0"/>
              <a:t>// Client Class (The code we are writing)</a:t>
            </a:r>
          </a:p>
          <a:p>
            <a:r>
              <a:rPr lang="en-US" dirty="0"/>
              <a:t>public class </a:t>
            </a:r>
            <a:r>
              <a:rPr lang="en-US" dirty="0" err="1"/>
              <a:t>GeometryCalculator</a:t>
            </a:r>
            <a:r>
              <a:rPr lang="en-US" dirty="0"/>
              <a:t> {</a:t>
            </a:r>
          </a:p>
          <a:p>
            <a:r>
              <a:rPr lang="en-US" dirty="0"/>
              <a:t>    // ... other methods ...</a:t>
            </a:r>
          </a:p>
          <a:p>
            <a:r>
              <a:rPr lang="en-US" dirty="0"/>
              <a:t>}</a:t>
            </a:r>
          </a:p>
        </p:txBody>
      </p:sp>
    </p:spTree>
    <p:extLst>
      <p:ext uri="{BB962C8B-B14F-4D97-AF65-F5344CB8AC3E}">
        <p14:creationId xmlns:p14="http://schemas.microsoft.com/office/powerpoint/2010/main" val="201296718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4767072" cy="2304288"/>
          </a:xfrm>
        </p:spPr>
        <p:txBody>
          <a:bodyPr>
            <a:normAutofit fontScale="92500" lnSpcReduction="20000"/>
          </a:bodyPr>
          <a:lstStyle/>
          <a:p>
            <a:r>
              <a:rPr lang="en-US" dirty="0"/>
              <a:t>2. After: Introduce Foreign </a:t>
            </a:r>
            <a:r>
              <a:rPr lang="en-US" dirty="0" smtClean="0"/>
              <a:t>Method</a:t>
            </a:r>
          </a:p>
          <a:p>
            <a:pPr lvl="1"/>
            <a:r>
              <a:rPr lang="en-US" dirty="0"/>
              <a:t>You implement the required functionality as a new, static method within your own </a:t>
            </a:r>
            <a:r>
              <a:rPr lang="en-US" dirty="0" err="1" smtClean="0"/>
              <a:t>GeometryCalculator</a:t>
            </a:r>
            <a:r>
              <a:rPr lang="en-US" dirty="0"/>
              <a:t> class (the client), accepting the foreign Rectangle object as an argument.</a:t>
            </a:r>
          </a:p>
        </p:txBody>
      </p:sp>
      <p:sp>
        <p:nvSpPr>
          <p:cNvPr id="4" name="Rectangle 3"/>
          <p:cNvSpPr/>
          <p:nvPr/>
        </p:nvSpPr>
        <p:spPr>
          <a:xfrm>
            <a:off x="5873496" y="704481"/>
            <a:ext cx="6096000" cy="5632311"/>
          </a:xfrm>
          <a:prstGeom prst="rect">
            <a:avLst/>
          </a:prstGeom>
        </p:spPr>
        <p:txBody>
          <a:bodyPr>
            <a:spAutoFit/>
          </a:bodyPr>
          <a:lstStyle/>
          <a:p>
            <a:r>
              <a:rPr lang="en-US" dirty="0" smtClean="0"/>
              <a:t>        </a:t>
            </a:r>
            <a:endParaRPr lang="en-US" dirty="0"/>
          </a:p>
          <a:p>
            <a:r>
              <a:rPr lang="en-US" dirty="0"/>
              <a:t>        // 2. The radius (r) is half the diagonal</a:t>
            </a:r>
          </a:p>
          <a:p>
            <a:r>
              <a:rPr lang="en-US" dirty="0"/>
              <a:t>        double radius = diagonal / 2.0;</a:t>
            </a:r>
          </a:p>
          <a:p>
            <a:r>
              <a:rPr lang="en-US" dirty="0"/>
              <a:t>        </a:t>
            </a:r>
          </a:p>
          <a:p>
            <a:r>
              <a:rPr lang="en-US" dirty="0"/>
              <a:t>        // 3. Area = pi * r^2</a:t>
            </a:r>
          </a:p>
          <a:p>
            <a:r>
              <a:rPr lang="en-US" dirty="0"/>
              <a:t>        return </a:t>
            </a:r>
            <a:r>
              <a:rPr lang="en-US" dirty="0" err="1"/>
              <a:t>Math.PI</a:t>
            </a:r>
            <a:r>
              <a:rPr lang="en-US" dirty="0"/>
              <a:t> * pow(radius, 2);</a:t>
            </a:r>
          </a:p>
          <a:p>
            <a:r>
              <a:rPr lang="en-US" dirty="0"/>
              <a:t>    }</a:t>
            </a:r>
          </a:p>
          <a:p>
            <a:r>
              <a:rPr lang="en-US" dirty="0"/>
              <a:t>    </a:t>
            </a:r>
          </a:p>
          <a:p>
            <a:r>
              <a:rPr lang="en-US" dirty="0"/>
              <a:t>    // Example usage:</a:t>
            </a:r>
          </a:p>
          <a:p>
            <a:r>
              <a:rPr lang="en-US" dirty="0"/>
              <a:t>    public static void main(String[] </a:t>
            </a:r>
            <a:r>
              <a:rPr lang="en-US" dirty="0" err="1"/>
              <a:t>args</a:t>
            </a:r>
            <a:r>
              <a:rPr lang="en-US" dirty="0"/>
              <a:t>) {</a:t>
            </a:r>
          </a:p>
          <a:p>
            <a:r>
              <a:rPr lang="en-US" dirty="0"/>
              <a:t>        Rectangle window = new Rectangle(4.0, 3.0);</a:t>
            </a:r>
          </a:p>
          <a:p>
            <a:r>
              <a:rPr lang="en-US" dirty="0"/>
              <a:t>        </a:t>
            </a:r>
          </a:p>
          <a:p>
            <a:r>
              <a:rPr lang="en-US" dirty="0"/>
              <a:t>        // Calling the foreign method with the foreign object as a parameter</a:t>
            </a:r>
          </a:p>
          <a:p>
            <a:r>
              <a:rPr lang="en-US" dirty="0"/>
              <a:t>        double area = </a:t>
            </a:r>
            <a:r>
              <a:rPr lang="en-US" dirty="0" err="1"/>
              <a:t>calculateCircumcircleArea</a:t>
            </a:r>
            <a:r>
              <a:rPr lang="en-US" dirty="0"/>
              <a:t>(window); </a:t>
            </a:r>
          </a:p>
          <a:p>
            <a:r>
              <a:rPr lang="en-US" dirty="0"/>
              <a:t>        </a:t>
            </a:r>
          </a:p>
          <a:p>
            <a:r>
              <a:rPr lang="en-US" dirty="0"/>
              <a:t>        </a:t>
            </a:r>
            <a:r>
              <a:rPr lang="en-US" dirty="0" err="1"/>
              <a:t>System.out.println</a:t>
            </a:r>
            <a:r>
              <a:rPr lang="en-US" dirty="0"/>
              <a:t>("</a:t>
            </a:r>
            <a:r>
              <a:rPr lang="en-US" dirty="0" err="1"/>
              <a:t>Circumcircle</a:t>
            </a:r>
            <a:r>
              <a:rPr lang="en-US" dirty="0"/>
              <a:t> Area: " + area); // Output: ~19.63</a:t>
            </a:r>
          </a:p>
          <a:p>
            <a:r>
              <a:rPr lang="en-US" dirty="0"/>
              <a:t>    }</a:t>
            </a:r>
          </a:p>
          <a:p>
            <a:r>
              <a:rPr lang="en-US" dirty="0"/>
              <a:t>}</a:t>
            </a:r>
          </a:p>
        </p:txBody>
      </p:sp>
      <p:sp>
        <p:nvSpPr>
          <p:cNvPr id="5" name="Rectangle 4"/>
          <p:cNvSpPr/>
          <p:nvPr/>
        </p:nvSpPr>
        <p:spPr>
          <a:xfrm>
            <a:off x="679704" y="2320326"/>
            <a:ext cx="5574792" cy="4247317"/>
          </a:xfrm>
          <a:prstGeom prst="rect">
            <a:avLst/>
          </a:prstGeom>
        </p:spPr>
        <p:txBody>
          <a:bodyPr wrap="square">
            <a:spAutoFit/>
          </a:bodyPr>
          <a:lstStyle/>
          <a:p>
            <a:r>
              <a:rPr lang="en-US" dirty="0"/>
              <a:t>import static </a:t>
            </a:r>
            <a:r>
              <a:rPr lang="en-US" dirty="0" err="1"/>
              <a:t>java.lang.Math.pow</a:t>
            </a:r>
            <a:r>
              <a:rPr lang="en-US" dirty="0"/>
              <a:t>;</a:t>
            </a:r>
          </a:p>
          <a:p>
            <a:r>
              <a:rPr lang="en-US" dirty="0"/>
              <a:t>import static </a:t>
            </a:r>
            <a:r>
              <a:rPr lang="en-US" dirty="0" err="1"/>
              <a:t>java.lang.Math.sqrt</a:t>
            </a:r>
            <a:r>
              <a:rPr lang="en-US" dirty="0"/>
              <a:t>;</a:t>
            </a:r>
          </a:p>
          <a:p>
            <a:endParaRPr lang="en-US" dirty="0"/>
          </a:p>
          <a:p>
            <a:r>
              <a:rPr lang="en-US" dirty="0"/>
              <a:t>// Client Class with the Foreign Method</a:t>
            </a:r>
          </a:p>
          <a:p>
            <a:r>
              <a:rPr lang="en-US" dirty="0"/>
              <a:t>public class </a:t>
            </a:r>
            <a:r>
              <a:rPr lang="en-US" dirty="0" err="1"/>
              <a:t>GeometryCalculator</a:t>
            </a:r>
            <a:r>
              <a:rPr lang="en-US" dirty="0"/>
              <a:t> {</a:t>
            </a:r>
          </a:p>
          <a:p>
            <a:endParaRPr lang="en-US" dirty="0"/>
          </a:p>
          <a:p>
            <a:r>
              <a:rPr lang="en-US" dirty="0"/>
              <a:t>    // This is the Foreign Method!</a:t>
            </a:r>
          </a:p>
          <a:p>
            <a:r>
              <a:rPr lang="en-US" dirty="0"/>
              <a:t>    public static double </a:t>
            </a:r>
            <a:r>
              <a:rPr lang="en-US" dirty="0" err="1"/>
              <a:t>calculateCircumcircleArea</a:t>
            </a:r>
            <a:r>
              <a:rPr lang="en-US" dirty="0"/>
              <a:t>(Rectangle </a:t>
            </a:r>
            <a:r>
              <a:rPr lang="en-US" dirty="0" err="1"/>
              <a:t>rect</a:t>
            </a:r>
            <a:r>
              <a:rPr lang="en-US" dirty="0"/>
              <a:t>) {</a:t>
            </a:r>
          </a:p>
          <a:p>
            <a:r>
              <a:rPr lang="en-US" dirty="0"/>
              <a:t>        </a:t>
            </a:r>
          </a:p>
          <a:p>
            <a:r>
              <a:rPr lang="en-US" dirty="0"/>
              <a:t>        // 1. Calculate the diagonal (d) of the rectangle (which is the circle's diameter)</a:t>
            </a:r>
          </a:p>
          <a:p>
            <a:r>
              <a:rPr lang="en-US" dirty="0"/>
              <a:t>        // d = </a:t>
            </a:r>
            <a:r>
              <a:rPr lang="en-US" dirty="0" err="1"/>
              <a:t>sqrt</a:t>
            </a:r>
            <a:r>
              <a:rPr lang="en-US" dirty="0"/>
              <a:t>(w^2 + h^2)</a:t>
            </a:r>
          </a:p>
          <a:p>
            <a:r>
              <a:rPr lang="en-US" dirty="0"/>
              <a:t>        double diagonal = </a:t>
            </a:r>
            <a:r>
              <a:rPr lang="en-US" dirty="0" err="1"/>
              <a:t>sqrt</a:t>
            </a:r>
            <a:r>
              <a:rPr lang="en-US" dirty="0"/>
              <a:t>(pow(</a:t>
            </a:r>
            <a:r>
              <a:rPr lang="en-US" dirty="0" err="1"/>
              <a:t>rect.getWidth</a:t>
            </a:r>
            <a:r>
              <a:rPr lang="en-US" dirty="0"/>
              <a:t>(), 2) + pow(</a:t>
            </a:r>
            <a:r>
              <a:rPr lang="en-US" dirty="0" err="1"/>
              <a:t>rect.getHeight</a:t>
            </a:r>
            <a:r>
              <a:rPr lang="en-US" dirty="0"/>
              <a:t>(), 2));</a:t>
            </a:r>
            <a:endParaRPr lang="en-US" dirty="0"/>
          </a:p>
        </p:txBody>
      </p:sp>
    </p:spTree>
    <p:extLst>
      <p:ext uri="{BB962C8B-B14F-4D97-AF65-F5344CB8AC3E}">
        <p14:creationId xmlns:p14="http://schemas.microsoft.com/office/powerpoint/2010/main" val="24033521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Refactorings</a:t>
            </a:r>
            <a:r>
              <a:rPr lang="en-US" dirty="0"/>
              <a:t> - Conditional Expressions &amp; Data</a:t>
            </a:r>
          </a:p>
        </p:txBody>
      </p:sp>
      <p:sp>
        <p:nvSpPr>
          <p:cNvPr id="3" name="Content Placeholder 2"/>
          <p:cNvSpPr>
            <a:spLocks noGrp="1"/>
          </p:cNvSpPr>
          <p:nvPr>
            <p:ph idx="1"/>
          </p:nvPr>
        </p:nvSpPr>
        <p:spPr/>
        <p:txBody>
          <a:bodyPr>
            <a:normAutofit/>
          </a:bodyPr>
          <a:lstStyle/>
          <a:p>
            <a:pPr algn="just"/>
            <a:r>
              <a:rPr lang="en-US" dirty="0"/>
              <a:t>If your conditional statements are too complex, extract methods from the if, then, and else conditions. </a:t>
            </a:r>
            <a:endParaRPr lang="en-US" dirty="0"/>
          </a:p>
          <a:p>
            <a:pPr algn="just"/>
            <a:r>
              <a:rPr lang="en-US" dirty="0"/>
              <a:t>Extract Conditional Logic </a:t>
            </a:r>
            <a:r>
              <a:rPr lang="en-US" dirty="0" smtClean="0"/>
              <a:t>Example</a:t>
            </a:r>
          </a:p>
          <a:p>
            <a:pPr lvl="1" algn="just"/>
            <a:r>
              <a:rPr lang="en-US" dirty="0"/>
              <a:t>The goal is to replace complex logic with a method call that has a clear, descriptive name. This makes the conditional structure read like a human-language sentence.</a:t>
            </a:r>
            <a:endParaRPr lang="en-US" dirty="0" smtClean="0"/>
          </a:p>
        </p:txBody>
      </p:sp>
    </p:spTree>
    <p:extLst>
      <p:ext uri="{BB962C8B-B14F-4D97-AF65-F5344CB8AC3E}">
        <p14:creationId xmlns:p14="http://schemas.microsoft.com/office/powerpoint/2010/main" val="216121221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1896" y="1030097"/>
            <a:ext cx="4200144" cy="4351338"/>
          </a:xfrm>
        </p:spPr>
        <p:txBody>
          <a:bodyPr/>
          <a:lstStyle/>
          <a:p>
            <a:pPr marL="0" indent="0">
              <a:buNone/>
            </a:pPr>
            <a:r>
              <a:rPr lang="en-US" dirty="0" smtClean="0"/>
              <a:t>1. Before</a:t>
            </a:r>
            <a:r>
              <a:rPr lang="en-US" dirty="0"/>
              <a:t>: Complex Conditional </a:t>
            </a:r>
            <a:r>
              <a:rPr lang="en-US" dirty="0" smtClean="0"/>
              <a:t>Logic</a:t>
            </a:r>
            <a:endParaRPr lang="en-US" dirty="0"/>
          </a:p>
          <a:p>
            <a:pPr marL="457200" lvl="1" indent="0">
              <a:buNone/>
            </a:pPr>
            <a:r>
              <a:rPr lang="en-US" dirty="0"/>
              <a:t>Imagine a method that determines if an online order is eligible for free shipping. The criteria are complex and the logic is embedded directly in </a:t>
            </a:r>
            <a:r>
              <a:rPr lang="en-US" dirty="0" smtClean="0"/>
              <a:t>the if statement and then block.</a:t>
            </a:r>
            <a:endParaRPr lang="en-US" dirty="0"/>
          </a:p>
        </p:txBody>
      </p:sp>
      <p:sp>
        <p:nvSpPr>
          <p:cNvPr id="4" name="Rectangle 3"/>
          <p:cNvSpPr/>
          <p:nvPr/>
        </p:nvSpPr>
        <p:spPr>
          <a:xfrm>
            <a:off x="4892040" y="117693"/>
            <a:ext cx="6096000" cy="6740307"/>
          </a:xfrm>
          <a:prstGeom prst="rect">
            <a:avLst/>
          </a:prstGeom>
        </p:spPr>
        <p:txBody>
          <a:bodyPr>
            <a:spAutoFit/>
          </a:bodyPr>
          <a:lstStyle/>
          <a:p>
            <a:r>
              <a:rPr lang="en-US" dirty="0"/>
              <a:t>public class </a:t>
            </a:r>
            <a:r>
              <a:rPr lang="en-US" dirty="0" err="1"/>
              <a:t>ShippingManager</a:t>
            </a:r>
            <a:r>
              <a:rPr lang="en-US" dirty="0"/>
              <a:t> {</a:t>
            </a:r>
          </a:p>
          <a:p>
            <a:r>
              <a:rPr lang="en-US" dirty="0"/>
              <a:t>    </a:t>
            </a:r>
          </a:p>
          <a:p>
            <a:r>
              <a:rPr lang="en-US" dirty="0"/>
              <a:t>    // Constants for criteria</a:t>
            </a:r>
          </a:p>
          <a:p>
            <a:r>
              <a:rPr lang="en-US" dirty="0"/>
              <a:t>    private static final double MIN_ORDER_AMOUNT = 50.0;</a:t>
            </a:r>
          </a:p>
          <a:p>
            <a:r>
              <a:rPr lang="en-US" dirty="0"/>
              <a:t>    private static final </a:t>
            </a:r>
            <a:r>
              <a:rPr lang="en-US" dirty="0" err="1"/>
              <a:t>int</a:t>
            </a:r>
            <a:r>
              <a:rPr lang="en-US" dirty="0"/>
              <a:t> MIN_LOYALTY_LEVEL = 3;</a:t>
            </a:r>
          </a:p>
          <a:p>
            <a:endParaRPr lang="en-US" dirty="0"/>
          </a:p>
          <a:p>
            <a:r>
              <a:rPr lang="en-US" dirty="0"/>
              <a:t>    public </a:t>
            </a:r>
            <a:r>
              <a:rPr lang="en-US" dirty="0" err="1"/>
              <a:t>boolean</a:t>
            </a:r>
            <a:r>
              <a:rPr lang="en-US" dirty="0"/>
              <a:t> </a:t>
            </a:r>
            <a:r>
              <a:rPr lang="en-US" dirty="0" err="1"/>
              <a:t>checkFreeShippingEligibility</a:t>
            </a:r>
            <a:r>
              <a:rPr lang="en-US" dirty="0"/>
              <a:t>(double </a:t>
            </a:r>
            <a:r>
              <a:rPr lang="en-US" dirty="0" err="1"/>
              <a:t>orderTotal</a:t>
            </a:r>
            <a:r>
              <a:rPr lang="en-US" dirty="0"/>
              <a:t>, </a:t>
            </a:r>
            <a:r>
              <a:rPr lang="en-US" dirty="0" err="1"/>
              <a:t>int</a:t>
            </a:r>
            <a:r>
              <a:rPr lang="en-US" dirty="0"/>
              <a:t> </a:t>
            </a:r>
            <a:r>
              <a:rPr lang="en-US" dirty="0" err="1"/>
              <a:t>loyaltyLevel</a:t>
            </a:r>
            <a:r>
              <a:rPr lang="en-US" dirty="0"/>
              <a:t>, </a:t>
            </a:r>
            <a:r>
              <a:rPr lang="en-US" dirty="0" err="1"/>
              <a:t>boolean</a:t>
            </a:r>
            <a:r>
              <a:rPr lang="en-US" dirty="0"/>
              <a:t> </a:t>
            </a:r>
            <a:r>
              <a:rPr lang="en-US" dirty="0" err="1"/>
              <a:t>isFirstOrder</a:t>
            </a:r>
            <a:r>
              <a:rPr lang="en-US" dirty="0"/>
              <a:t>, </a:t>
            </a:r>
            <a:r>
              <a:rPr lang="en-US" dirty="0" err="1"/>
              <a:t>int</a:t>
            </a:r>
            <a:r>
              <a:rPr lang="en-US" dirty="0"/>
              <a:t> zone) {</a:t>
            </a:r>
          </a:p>
          <a:p>
            <a:r>
              <a:rPr lang="en-US" dirty="0"/>
              <a:t>        </a:t>
            </a:r>
          </a:p>
          <a:p>
            <a:r>
              <a:rPr lang="en-US" dirty="0"/>
              <a:t>        // Complex condition and internal logic crammed together</a:t>
            </a:r>
          </a:p>
          <a:p>
            <a:r>
              <a:rPr lang="en-US" dirty="0"/>
              <a:t>        if ((</a:t>
            </a:r>
            <a:r>
              <a:rPr lang="en-US" dirty="0" err="1"/>
              <a:t>orderTotal</a:t>
            </a:r>
            <a:r>
              <a:rPr lang="en-US" dirty="0"/>
              <a:t> &gt;= MIN_ORDER_AMOUNT &amp;&amp; </a:t>
            </a:r>
            <a:r>
              <a:rPr lang="en-US" dirty="0" err="1"/>
              <a:t>loyaltyLevel</a:t>
            </a:r>
            <a:r>
              <a:rPr lang="en-US" dirty="0"/>
              <a:t> &gt;= MIN_LOYALTY_LEVEL) || </a:t>
            </a:r>
          </a:p>
          <a:p>
            <a:r>
              <a:rPr lang="en-US" dirty="0"/>
              <a:t>            (</a:t>
            </a:r>
            <a:r>
              <a:rPr lang="en-US" dirty="0" err="1"/>
              <a:t>isFirstOrder</a:t>
            </a:r>
            <a:r>
              <a:rPr lang="en-US" dirty="0"/>
              <a:t> &amp;&amp; </a:t>
            </a:r>
            <a:r>
              <a:rPr lang="en-US" dirty="0" err="1"/>
              <a:t>orderTotal</a:t>
            </a:r>
            <a:r>
              <a:rPr lang="en-US" dirty="0"/>
              <a:t> &gt; 20.0 &amp;&amp; (zone == 1 || zone == 2))) </a:t>
            </a:r>
          </a:p>
          <a:p>
            <a:r>
              <a:rPr lang="en-US" dirty="0"/>
              <a:t>        {</a:t>
            </a:r>
          </a:p>
          <a:p>
            <a:r>
              <a:rPr lang="en-US" dirty="0"/>
              <a:t>            // Complex logic in the 'then' block</a:t>
            </a:r>
          </a:p>
          <a:p>
            <a:r>
              <a:rPr lang="en-US" dirty="0"/>
              <a:t>            </a:t>
            </a:r>
            <a:r>
              <a:rPr lang="en-US" dirty="0" err="1"/>
              <a:t>System.out.println</a:t>
            </a:r>
            <a:r>
              <a:rPr lang="en-US" dirty="0"/>
              <a:t>("Processing with free shipping...");</a:t>
            </a:r>
          </a:p>
          <a:p>
            <a:r>
              <a:rPr lang="en-US" dirty="0"/>
              <a:t>            return true;</a:t>
            </a:r>
          </a:p>
          <a:p>
            <a:r>
              <a:rPr lang="en-US" dirty="0"/>
              <a:t>        } else {</a:t>
            </a:r>
          </a:p>
          <a:p>
            <a:r>
              <a:rPr lang="en-US" dirty="0"/>
              <a:t>            </a:t>
            </a:r>
            <a:r>
              <a:rPr lang="en-US" dirty="0" err="1"/>
              <a:t>System.out.println</a:t>
            </a:r>
            <a:r>
              <a:rPr lang="en-US" dirty="0"/>
              <a:t>("Standard shipping rules apply.");</a:t>
            </a:r>
          </a:p>
          <a:p>
            <a:r>
              <a:rPr lang="en-US" dirty="0"/>
              <a:t>            return false;</a:t>
            </a:r>
          </a:p>
          <a:p>
            <a:r>
              <a:rPr lang="en-US" dirty="0"/>
              <a:t>        }</a:t>
            </a:r>
          </a:p>
          <a:p>
            <a:r>
              <a:rPr lang="en-US" dirty="0"/>
              <a:t>    }</a:t>
            </a:r>
          </a:p>
          <a:p>
            <a:r>
              <a:rPr lang="en-US" dirty="0"/>
              <a:t>}</a:t>
            </a:r>
          </a:p>
        </p:txBody>
      </p:sp>
      <p:sp>
        <p:nvSpPr>
          <p:cNvPr id="5" name="Rectangle 4"/>
          <p:cNvSpPr/>
          <p:nvPr/>
        </p:nvSpPr>
        <p:spPr>
          <a:xfrm>
            <a:off x="408432" y="4826246"/>
            <a:ext cx="4608634" cy="1200329"/>
          </a:xfrm>
          <a:prstGeom prst="rect">
            <a:avLst/>
          </a:prstGeom>
        </p:spPr>
        <p:txBody>
          <a:bodyPr wrap="none">
            <a:spAutoFit/>
          </a:bodyPr>
          <a:lstStyle/>
          <a:p>
            <a:r>
              <a:rPr lang="en-US" b="1" dirty="0"/>
              <a:t>Problem:</a:t>
            </a:r>
            <a:r>
              <a:rPr lang="en-US" dirty="0"/>
              <a:t> </a:t>
            </a:r>
            <a:r>
              <a:rPr lang="en-US" dirty="0" smtClean="0"/>
              <a:t>The </a:t>
            </a:r>
            <a:r>
              <a:rPr lang="en-US" dirty="0"/>
              <a:t>if condition is nearly </a:t>
            </a:r>
            <a:r>
              <a:rPr lang="en-US" dirty="0" smtClean="0"/>
              <a:t>unreadable</a:t>
            </a:r>
          </a:p>
          <a:p>
            <a:r>
              <a:rPr lang="en-US" dirty="0" smtClean="0"/>
              <a:t> </a:t>
            </a:r>
            <a:r>
              <a:rPr lang="en-US" dirty="0"/>
              <a:t>(a </a:t>
            </a:r>
            <a:r>
              <a:rPr lang="en-US" b="1" dirty="0"/>
              <a:t>Conditional Logic</a:t>
            </a:r>
            <a:r>
              <a:rPr lang="en-US" dirty="0"/>
              <a:t> code smell), and </a:t>
            </a:r>
            <a:r>
              <a:rPr lang="en-US" dirty="0" smtClean="0"/>
              <a:t>the then </a:t>
            </a:r>
          </a:p>
          <a:p>
            <a:r>
              <a:rPr lang="en-US" dirty="0"/>
              <a:t>and else blocks contain logic that obscures the </a:t>
            </a:r>
            <a:endParaRPr lang="en-US" dirty="0" smtClean="0"/>
          </a:p>
          <a:p>
            <a:r>
              <a:rPr lang="en-US" dirty="0" smtClean="0"/>
              <a:t>intent </a:t>
            </a:r>
            <a:r>
              <a:rPr lang="en-US" dirty="0"/>
              <a:t>of the main method.</a:t>
            </a:r>
          </a:p>
        </p:txBody>
      </p:sp>
    </p:spTree>
    <p:extLst>
      <p:ext uri="{BB962C8B-B14F-4D97-AF65-F5344CB8AC3E}">
        <p14:creationId xmlns:p14="http://schemas.microsoft.com/office/powerpoint/2010/main" val="4472400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2041"/>
            <a:ext cx="4684776" cy="2929255"/>
          </a:xfrm>
        </p:spPr>
        <p:txBody>
          <a:bodyPr/>
          <a:lstStyle/>
          <a:p>
            <a:pPr marL="0" indent="0">
              <a:buNone/>
            </a:pPr>
            <a:r>
              <a:rPr lang="en-US" dirty="0"/>
              <a:t>2. After: Extracted Conditional </a:t>
            </a:r>
            <a:r>
              <a:rPr lang="en-US" dirty="0" smtClean="0"/>
              <a:t>Logic</a:t>
            </a:r>
          </a:p>
          <a:p>
            <a:pPr lvl="1" algn="just"/>
            <a:r>
              <a:rPr lang="en-US" dirty="0"/>
              <a:t>We extract the complex </a:t>
            </a:r>
            <a:r>
              <a:rPr lang="en-US" dirty="0" err="1"/>
              <a:t>boolean</a:t>
            </a:r>
            <a:r>
              <a:rPr lang="en-US" dirty="0"/>
              <a:t> expression into a method, and the logic within the blocks into separate methods.</a:t>
            </a:r>
          </a:p>
        </p:txBody>
      </p:sp>
      <p:sp>
        <p:nvSpPr>
          <p:cNvPr id="4" name="Rectangle 3"/>
          <p:cNvSpPr/>
          <p:nvPr/>
        </p:nvSpPr>
        <p:spPr>
          <a:xfrm>
            <a:off x="5763768" y="302359"/>
            <a:ext cx="6096000" cy="5909310"/>
          </a:xfrm>
          <a:prstGeom prst="rect">
            <a:avLst/>
          </a:prstGeom>
        </p:spPr>
        <p:txBody>
          <a:bodyPr>
            <a:spAutoFit/>
          </a:bodyPr>
          <a:lstStyle/>
          <a:p>
            <a:r>
              <a:rPr lang="en-US" dirty="0"/>
              <a:t>public class </a:t>
            </a:r>
            <a:r>
              <a:rPr lang="en-US" dirty="0" err="1"/>
              <a:t>ShippingManager</a:t>
            </a:r>
            <a:r>
              <a:rPr lang="en-US" dirty="0"/>
              <a:t> {</a:t>
            </a:r>
          </a:p>
          <a:p>
            <a:r>
              <a:rPr lang="en-US" dirty="0"/>
              <a:t>    </a:t>
            </a:r>
          </a:p>
          <a:p>
            <a:r>
              <a:rPr lang="en-US" dirty="0"/>
              <a:t>    // Constants for criteria (remain the same)</a:t>
            </a:r>
          </a:p>
          <a:p>
            <a:r>
              <a:rPr lang="en-US" dirty="0"/>
              <a:t>    private static final double MIN_ORDER_AMOUNT = 50.0;</a:t>
            </a:r>
          </a:p>
          <a:p>
            <a:r>
              <a:rPr lang="en-US" dirty="0"/>
              <a:t>    private static final </a:t>
            </a:r>
            <a:r>
              <a:rPr lang="en-US" dirty="0" err="1"/>
              <a:t>int</a:t>
            </a:r>
            <a:r>
              <a:rPr lang="en-US" dirty="0"/>
              <a:t> MIN_LOYALTY_LEVEL = 3;</a:t>
            </a:r>
          </a:p>
          <a:p>
            <a:endParaRPr lang="en-US" dirty="0"/>
          </a:p>
          <a:p>
            <a:r>
              <a:rPr lang="en-US" dirty="0"/>
              <a:t>    public </a:t>
            </a:r>
            <a:r>
              <a:rPr lang="en-US" dirty="0" err="1"/>
              <a:t>boolean</a:t>
            </a:r>
            <a:r>
              <a:rPr lang="en-US" dirty="0"/>
              <a:t> </a:t>
            </a:r>
            <a:r>
              <a:rPr lang="en-US" dirty="0" err="1"/>
              <a:t>checkFreeShippingEligibility</a:t>
            </a:r>
            <a:r>
              <a:rPr lang="en-US" dirty="0"/>
              <a:t>(double </a:t>
            </a:r>
            <a:r>
              <a:rPr lang="en-US" dirty="0" err="1"/>
              <a:t>orderTotal</a:t>
            </a:r>
            <a:r>
              <a:rPr lang="en-US" dirty="0"/>
              <a:t>, </a:t>
            </a:r>
            <a:r>
              <a:rPr lang="en-US" dirty="0" err="1"/>
              <a:t>int</a:t>
            </a:r>
            <a:r>
              <a:rPr lang="en-US" dirty="0"/>
              <a:t> </a:t>
            </a:r>
            <a:r>
              <a:rPr lang="en-US" dirty="0" err="1"/>
              <a:t>loyaltyLevel</a:t>
            </a:r>
            <a:r>
              <a:rPr lang="en-US" dirty="0"/>
              <a:t>, </a:t>
            </a:r>
            <a:r>
              <a:rPr lang="en-US" dirty="0" err="1"/>
              <a:t>boolean</a:t>
            </a:r>
            <a:r>
              <a:rPr lang="en-US" dirty="0"/>
              <a:t> </a:t>
            </a:r>
            <a:r>
              <a:rPr lang="en-US" dirty="0" err="1"/>
              <a:t>isFirstOrder</a:t>
            </a:r>
            <a:r>
              <a:rPr lang="en-US" dirty="0"/>
              <a:t>, </a:t>
            </a:r>
            <a:r>
              <a:rPr lang="en-US" dirty="0" err="1"/>
              <a:t>int</a:t>
            </a:r>
            <a:r>
              <a:rPr lang="en-US" dirty="0"/>
              <a:t> zone) {</a:t>
            </a:r>
          </a:p>
          <a:p>
            <a:r>
              <a:rPr lang="en-US" dirty="0"/>
              <a:t>        </a:t>
            </a:r>
          </a:p>
          <a:p>
            <a:r>
              <a:rPr lang="en-US" dirty="0"/>
              <a:t>        // The main method now reads like an outline of the logic:</a:t>
            </a:r>
          </a:p>
          <a:p>
            <a:r>
              <a:rPr lang="en-US" dirty="0"/>
              <a:t>        if (</a:t>
            </a:r>
            <a:r>
              <a:rPr lang="en-US" dirty="0" err="1"/>
              <a:t>isEligibleForFreeShipping</a:t>
            </a:r>
            <a:r>
              <a:rPr lang="en-US" dirty="0"/>
              <a:t>(</a:t>
            </a:r>
            <a:r>
              <a:rPr lang="en-US" dirty="0" err="1"/>
              <a:t>orderTotal</a:t>
            </a:r>
            <a:r>
              <a:rPr lang="en-US" dirty="0"/>
              <a:t>, </a:t>
            </a:r>
            <a:r>
              <a:rPr lang="en-US" dirty="0" err="1"/>
              <a:t>loyaltyLevel</a:t>
            </a:r>
            <a:r>
              <a:rPr lang="en-US" dirty="0"/>
              <a:t>, </a:t>
            </a:r>
            <a:r>
              <a:rPr lang="en-US" dirty="0" err="1"/>
              <a:t>isFirstOrder</a:t>
            </a:r>
            <a:r>
              <a:rPr lang="en-US" dirty="0"/>
              <a:t>, zone)) {</a:t>
            </a:r>
          </a:p>
          <a:p>
            <a:r>
              <a:rPr lang="en-US" dirty="0"/>
              <a:t>            </a:t>
            </a:r>
            <a:r>
              <a:rPr lang="en-US" dirty="0" err="1"/>
              <a:t>handleFreeShippingConfirmation</a:t>
            </a:r>
            <a:r>
              <a:rPr lang="en-US" dirty="0"/>
              <a:t>();</a:t>
            </a:r>
          </a:p>
          <a:p>
            <a:r>
              <a:rPr lang="en-US" dirty="0"/>
              <a:t>            return true;</a:t>
            </a:r>
          </a:p>
          <a:p>
            <a:r>
              <a:rPr lang="en-US" dirty="0"/>
              <a:t>        } else {</a:t>
            </a:r>
          </a:p>
          <a:p>
            <a:r>
              <a:rPr lang="en-US" dirty="0"/>
              <a:t>            </a:t>
            </a:r>
            <a:r>
              <a:rPr lang="en-US" dirty="0" err="1"/>
              <a:t>handleStandardShippingConfirmation</a:t>
            </a:r>
            <a:r>
              <a:rPr lang="en-US" dirty="0"/>
              <a:t>();</a:t>
            </a:r>
          </a:p>
          <a:p>
            <a:r>
              <a:rPr lang="en-US" dirty="0"/>
              <a:t>            return false;</a:t>
            </a:r>
          </a:p>
          <a:p>
            <a:r>
              <a:rPr lang="en-US" dirty="0"/>
              <a:t>        }</a:t>
            </a:r>
          </a:p>
          <a:p>
            <a:r>
              <a:rPr lang="en-US" dirty="0"/>
              <a:t>    }</a:t>
            </a:r>
          </a:p>
          <a:p>
            <a:endParaRPr lang="en-US" dirty="0"/>
          </a:p>
          <a:p>
            <a:r>
              <a:rPr lang="en-US" dirty="0"/>
              <a:t>    </a:t>
            </a:r>
          </a:p>
        </p:txBody>
      </p:sp>
    </p:spTree>
    <p:extLst>
      <p:ext uri="{BB962C8B-B14F-4D97-AF65-F5344CB8AC3E}">
        <p14:creationId xmlns:p14="http://schemas.microsoft.com/office/powerpoint/2010/main" val="22797930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7096" y="310861"/>
            <a:ext cx="10293096" cy="6463308"/>
          </a:xfrm>
          <a:prstGeom prst="rect">
            <a:avLst/>
          </a:prstGeom>
        </p:spPr>
        <p:txBody>
          <a:bodyPr wrap="square">
            <a:spAutoFit/>
          </a:bodyPr>
          <a:lstStyle/>
          <a:p>
            <a:r>
              <a:rPr lang="en-US" dirty="0"/>
              <a:t>// Extracted Method 1: The 'if' condition (The </a:t>
            </a:r>
            <a:r>
              <a:rPr lang="en-US" dirty="0" err="1"/>
              <a:t>boolean</a:t>
            </a:r>
            <a:r>
              <a:rPr lang="en-US" dirty="0"/>
              <a:t> expression)</a:t>
            </a:r>
          </a:p>
          <a:p>
            <a:r>
              <a:rPr lang="en-US" dirty="0"/>
              <a:t>    private </a:t>
            </a:r>
            <a:r>
              <a:rPr lang="en-US" dirty="0" err="1"/>
              <a:t>boolean</a:t>
            </a:r>
            <a:r>
              <a:rPr lang="en-US" dirty="0"/>
              <a:t> </a:t>
            </a:r>
            <a:r>
              <a:rPr lang="en-US" dirty="0" err="1"/>
              <a:t>isEligibleForFreeShipping</a:t>
            </a:r>
            <a:r>
              <a:rPr lang="en-US" dirty="0"/>
              <a:t>(double total, </a:t>
            </a:r>
            <a:r>
              <a:rPr lang="en-US" dirty="0" err="1"/>
              <a:t>int</a:t>
            </a:r>
            <a:r>
              <a:rPr lang="en-US" dirty="0"/>
              <a:t> level, </a:t>
            </a:r>
            <a:r>
              <a:rPr lang="en-US" dirty="0" err="1"/>
              <a:t>boolean</a:t>
            </a:r>
            <a:r>
              <a:rPr lang="en-US" dirty="0"/>
              <a:t> first, </a:t>
            </a:r>
            <a:r>
              <a:rPr lang="en-US" dirty="0" err="1"/>
              <a:t>int</a:t>
            </a:r>
            <a:r>
              <a:rPr lang="en-US" dirty="0"/>
              <a:t> zone) {</a:t>
            </a:r>
          </a:p>
          <a:p>
            <a:r>
              <a:rPr lang="en-US" dirty="0"/>
              <a:t>        // Condition 1: High value + loyalty</a:t>
            </a:r>
          </a:p>
          <a:p>
            <a:r>
              <a:rPr lang="en-US" dirty="0"/>
              <a:t>        </a:t>
            </a:r>
            <a:r>
              <a:rPr lang="en-US" dirty="0" err="1"/>
              <a:t>boolean</a:t>
            </a:r>
            <a:r>
              <a:rPr lang="en-US" dirty="0"/>
              <a:t> </a:t>
            </a:r>
            <a:r>
              <a:rPr lang="en-US" dirty="0" err="1"/>
              <a:t>highValueAndLoyalty</a:t>
            </a:r>
            <a:r>
              <a:rPr lang="en-US" dirty="0"/>
              <a:t> = (total &gt;= MIN_ORDER_AMOUNT &amp;&amp; level &gt;= MIN_LOYALTY_LEVEL);</a:t>
            </a:r>
          </a:p>
          <a:p>
            <a:r>
              <a:rPr lang="en-US" dirty="0"/>
              <a:t>        </a:t>
            </a:r>
          </a:p>
          <a:p>
            <a:r>
              <a:rPr lang="en-US" dirty="0"/>
              <a:t>        // Condition 2: First order in local zones</a:t>
            </a:r>
          </a:p>
          <a:p>
            <a:r>
              <a:rPr lang="en-US" dirty="0"/>
              <a:t>        </a:t>
            </a:r>
            <a:r>
              <a:rPr lang="en-US" dirty="0" err="1"/>
              <a:t>boolean</a:t>
            </a:r>
            <a:r>
              <a:rPr lang="en-US" dirty="0"/>
              <a:t> </a:t>
            </a:r>
            <a:r>
              <a:rPr lang="en-US" dirty="0" err="1"/>
              <a:t>firstOrderLocal</a:t>
            </a:r>
            <a:r>
              <a:rPr lang="en-US" dirty="0"/>
              <a:t> = (first &amp;&amp; total &gt; 20.0 &amp;&amp; (zone == 1 || zone == 2));</a:t>
            </a:r>
          </a:p>
          <a:p>
            <a:r>
              <a:rPr lang="en-US" dirty="0"/>
              <a:t>        </a:t>
            </a:r>
          </a:p>
          <a:p>
            <a:r>
              <a:rPr lang="en-US" dirty="0"/>
              <a:t>        return </a:t>
            </a:r>
            <a:r>
              <a:rPr lang="en-US" dirty="0" err="1"/>
              <a:t>highValueAndLoyalty</a:t>
            </a:r>
            <a:r>
              <a:rPr lang="en-US" dirty="0"/>
              <a:t> || </a:t>
            </a:r>
            <a:r>
              <a:rPr lang="en-US" dirty="0" err="1"/>
              <a:t>firstOrderLocal</a:t>
            </a:r>
            <a:r>
              <a:rPr lang="en-US" dirty="0"/>
              <a:t>;</a:t>
            </a:r>
          </a:p>
          <a:p>
            <a:r>
              <a:rPr lang="en-US" dirty="0"/>
              <a:t>    }</a:t>
            </a:r>
          </a:p>
          <a:p>
            <a:endParaRPr lang="en-US" dirty="0"/>
          </a:p>
          <a:p>
            <a:r>
              <a:rPr lang="en-US" dirty="0"/>
              <a:t>    // Extracted Method 2: The 'then' block</a:t>
            </a:r>
          </a:p>
          <a:p>
            <a:r>
              <a:rPr lang="en-US" dirty="0"/>
              <a:t>    private void </a:t>
            </a:r>
            <a:r>
              <a:rPr lang="en-US" dirty="0" err="1"/>
              <a:t>handleFreeShippingConfirmation</a:t>
            </a:r>
            <a:r>
              <a:rPr lang="en-US" dirty="0"/>
              <a:t>() {</a:t>
            </a:r>
          </a:p>
          <a:p>
            <a:r>
              <a:rPr lang="en-US" dirty="0"/>
              <a:t>        </a:t>
            </a:r>
            <a:r>
              <a:rPr lang="en-US" dirty="0" err="1"/>
              <a:t>System.out.println</a:t>
            </a:r>
            <a:r>
              <a:rPr lang="en-US" dirty="0"/>
              <a:t>("Processing with free shipping...");</a:t>
            </a:r>
          </a:p>
          <a:p>
            <a:r>
              <a:rPr lang="en-US" dirty="0"/>
              <a:t>        // Additional complex logic would go here</a:t>
            </a:r>
          </a:p>
          <a:p>
            <a:r>
              <a:rPr lang="en-US" dirty="0"/>
              <a:t>    }</a:t>
            </a:r>
          </a:p>
          <a:p>
            <a:endParaRPr lang="en-US" dirty="0"/>
          </a:p>
          <a:p>
            <a:r>
              <a:rPr lang="en-US" dirty="0"/>
              <a:t>    // Extracted Method 3: The 'else' block</a:t>
            </a:r>
          </a:p>
          <a:p>
            <a:r>
              <a:rPr lang="en-US" dirty="0"/>
              <a:t>    private void </a:t>
            </a:r>
            <a:r>
              <a:rPr lang="en-US" dirty="0" err="1"/>
              <a:t>handleStandardShippingConfirmation</a:t>
            </a:r>
            <a:r>
              <a:rPr lang="en-US" dirty="0"/>
              <a:t>() {</a:t>
            </a:r>
          </a:p>
          <a:p>
            <a:r>
              <a:rPr lang="en-US" dirty="0"/>
              <a:t>        </a:t>
            </a:r>
            <a:r>
              <a:rPr lang="en-US" dirty="0" err="1"/>
              <a:t>System.out.println</a:t>
            </a:r>
            <a:r>
              <a:rPr lang="en-US" dirty="0"/>
              <a:t>("Standard shipping rules apply.");</a:t>
            </a:r>
          </a:p>
          <a:p>
            <a:r>
              <a:rPr lang="en-US" dirty="0"/>
              <a:t>        // Additional complex logic would go here</a:t>
            </a:r>
          </a:p>
          <a:p>
            <a:r>
              <a:rPr lang="en-US" dirty="0"/>
              <a:t>    }</a:t>
            </a:r>
          </a:p>
          <a:p>
            <a:r>
              <a:rPr lang="en-US" dirty="0"/>
              <a:t>}</a:t>
            </a:r>
            <a:endParaRPr lang="en-US" dirty="0"/>
          </a:p>
        </p:txBody>
      </p:sp>
    </p:spTree>
    <p:extLst>
      <p:ext uri="{BB962C8B-B14F-4D97-AF65-F5344CB8AC3E}">
        <p14:creationId xmlns:p14="http://schemas.microsoft.com/office/powerpoint/2010/main" val="19919068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If you have a sequence of conditional tests with the same result or repeated conditions in each branch, consolidate them into fewer conditional statements. </a:t>
            </a:r>
            <a:endParaRPr lang="en-US" dirty="0" smtClean="0"/>
          </a:p>
          <a:p>
            <a:pPr lvl="1" algn="just"/>
            <a:r>
              <a:rPr lang="en-US" dirty="0"/>
              <a:t>This technique is formally known as </a:t>
            </a:r>
            <a:r>
              <a:rPr lang="en-US" b="1" dirty="0"/>
              <a:t>Consolidate Conditional Expression</a:t>
            </a:r>
            <a:r>
              <a:rPr lang="en-US" dirty="0"/>
              <a:t> (or </a:t>
            </a:r>
            <a:r>
              <a:rPr lang="en-US" b="1" dirty="0"/>
              <a:t>Consolidate Duplicate Conditional Fragments</a:t>
            </a:r>
            <a:r>
              <a:rPr lang="en-US" dirty="0"/>
              <a:t>). The goal is to combine multiple, redundant checks into a single, cohesive conditional statement, often using logical operators (&amp;&amp;, ||).</a:t>
            </a:r>
          </a:p>
        </p:txBody>
      </p:sp>
    </p:spTree>
    <p:extLst>
      <p:ext uri="{BB962C8B-B14F-4D97-AF65-F5344CB8AC3E}">
        <p14:creationId xmlns:p14="http://schemas.microsoft.com/office/powerpoint/2010/main" val="320280828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129528" cy="1325563"/>
          </a:xfrm>
        </p:spPr>
        <p:txBody>
          <a:bodyPr/>
          <a:lstStyle/>
          <a:p>
            <a:r>
              <a:rPr lang="en-US" dirty="0"/>
              <a:t>Consolidate Conditional Expression Example</a:t>
            </a:r>
          </a:p>
        </p:txBody>
      </p:sp>
      <p:sp>
        <p:nvSpPr>
          <p:cNvPr id="3" name="Content Placeholder 2"/>
          <p:cNvSpPr>
            <a:spLocks noGrp="1"/>
          </p:cNvSpPr>
          <p:nvPr>
            <p:ph idx="1"/>
          </p:nvPr>
        </p:nvSpPr>
        <p:spPr>
          <a:xfrm>
            <a:off x="838200" y="1825625"/>
            <a:ext cx="4236720" cy="4351338"/>
          </a:xfrm>
        </p:spPr>
        <p:txBody>
          <a:bodyPr/>
          <a:lstStyle/>
          <a:p>
            <a:r>
              <a:rPr lang="en-US" dirty="0"/>
              <a:t>1. Before: Duplicated </a:t>
            </a:r>
            <a:r>
              <a:rPr lang="en-US" dirty="0" smtClean="0"/>
              <a:t>Condition/Result</a:t>
            </a:r>
          </a:p>
          <a:p>
            <a:pPr lvl="1"/>
            <a:r>
              <a:rPr lang="en-US" dirty="0"/>
              <a:t>Imagine a method that checks if an employee is eligible for a special bonus. The logic checks for three different conditions, and if any one of them is met, the same result (a bonus rate of $1000) is returned.</a:t>
            </a:r>
          </a:p>
        </p:txBody>
      </p:sp>
      <p:sp>
        <p:nvSpPr>
          <p:cNvPr id="4" name="Rectangle 3"/>
          <p:cNvSpPr/>
          <p:nvPr/>
        </p:nvSpPr>
        <p:spPr>
          <a:xfrm>
            <a:off x="5818632" y="769640"/>
            <a:ext cx="6096000" cy="6463308"/>
          </a:xfrm>
          <a:prstGeom prst="rect">
            <a:avLst/>
          </a:prstGeom>
        </p:spPr>
        <p:txBody>
          <a:bodyPr>
            <a:spAutoFit/>
          </a:bodyPr>
          <a:lstStyle/>
          <a:p>
            <a:r>
              <a:rPr lang="en-US" dirty="0"/>
              <a:t>public class </a:t>
            </a:r>
            <a:r>
              <a:rPr lang="en-US" dirty="0" err="1"/>
              <a:t>EmployeeBonus</a:t>
            </a:r>
            <a:r>
              <a:rPr lang="en-US" dirty="0"/>
              <a:t> {</a:t>
            </a:r>
          </a:p>
          <a:p>
            <a:r>
              <a:rPr lang="en-US" dirty="0"/>
              <a:t>    private static final </a:t>
            </a:r>
            <a:r>
              <a:rPr lang="en-US" dirty="0" err="1"/>
              <a:t>int</a:t>
            </a:r>
            <a:r>
              <a:rPr lang="en-US" dirty="0"/>
              <a:t> BONUS_RATE = 1000;</a:t>
            </a:r>
          </a:p>
          <a:p>
            <a:endParaRPr lang="en-US" dirty="0"/>
          </a:p>
          <a:p>
            <a:r>
              <a:rPr lang="en-US" dirty="0"/>
              <a:t>    public </a:t>
            </a:r>
            <a:r>
              <a:rPr lang="en-US" dirty="0" err="1"/>
              <a:t>int</a:t>
            </a:r>
            <a:r>
              <a:rPr lang="en-US" dirty="0"/>
              <a:t> </a:t>
            </a:r>
            <a:r>
              <a:rPr lang="en-US" dirty="0" err="1"/>
              <a:t>getSpecialBonus</a:t>
            </a:r>
            <a:r>
              <a:rPr lang="en-US" dirty="0"/>
              <a:t>(</a:t>
            </a:r>
            <a:r>
              <a:rPr lang="en-US" dirty="0" err="1"/>
              <a:t>boolean</a:t>
            </a:r>
            <a:r>
              <a:rPr lang="en-US" dirty="0"/>
              <a:t> </a:t>
            </a:r>
            <a:r>
              <a:rPr lang="en-US" dirty="0" err="1"/>
              <a:t>isHighPerformer</a:t>
            </a:r>
            <a:r>
              <a:rPr lang="en-US" dirty="0"/>
              <a:t>, </a:t>
            </a:r>
            <a:r>
              <a:rPr lang="en-US" dirty="0" err="1"/>
              <a:t>boolean</a:t>
            </a:r>
            <a:r>
              <a:rPr lang="en-US" dirty="0"/>
              <a:t> </a:t>
            </a:r>
            <a:r>
              <a:rPr lang="en-US" dirty="0" err="1"/>
              <a:t>hasPerfectAttendance</a:t>
            </a:r>
            <a:r>
              <a:rPr lang="en-US" dirty="0"/>
              <a:t>, </a:t>
            </a:r>
            <a:r>
              <a:rPr lang="en-US" dirty="0" err="1"/>
              <a:t>boolean</a:t>
            </a:r>
            <a:r>
              <a:rPr lang="en-US" dirty="0"/>
              <a:t> </a:t>
            </a:r>
            <a:r>
              <a:rPr lang="en-US" dirty="0" err="1"/>
              <a:t>isTenured</a:t>
            </a:r>
            <a:r>
              <a:rPr lang="en-US" dirty="0"/>
              <a:t>) {</a:t>
            </a:r>
          </a:p>
          <a:p>
            <a:r>
              <a:rPr lang="en-US" dirty="0"/>
              <a:t>        </a:t>
            </a:r>
          </a:p>
          <a:p>
            <a:r>
              <a:rPr lang="en-US" dirty="0"/>
              <a:t>        // Duplicated result (returning 1000) in multiple branches</a:t>
            </a:r>
          </a:p>
          <a:p>
            <a:r>
              <a:rPr lang="en-US" dirty="0"/>
              <a:t>        if (</a:t>
            </a:r>
            <a:r>
              <a:rPr lang="en-US" dirty="0" err="1"/>
              <a:t>isHighPerformer</a:t>
            </a:r>
            <a:r>
              <a:rPr lang="en-US" dirty="0"/>
              <a:t>) {</a:t>
            </a:r>
          </a:p>
          <a:p>
            <a:r>
              <a:rPr lang="en-US" dirty="0"/>
              <a:t>            return BONUS_RATE;</a:t>
            </a:r>
          </a:p>
          <a:p>
            <a:r>
              <a:rPr lang="en-US" dirty="0"/>
              <a:t>        }</a:t>
            </a:r>
          </a:p>
          <a:p>
            <a:endParaRPr lang="en-US" dirty="0"/>
          </a:p>
          <a:p>
            <a:r>
              <a:rPr lang="en-US" dirty="0"/>
              <a:t>        if (</a:t>
            </a:r>
            <a:r>
              <a:rPr lang="en-US" dirty="0" err="1"/>
              <a:t>hasPerfectAttendance</a:t>
            </a:r>
            <a:r>
              <a:rPr lang="en-US" dirty="0"/>
              <a:t>) {</a:t>
            </a:r>
          </a:p>
          <a:p>
            <a:r>
              <a:rPr lang="en-US" dirty="0"/>
              <a:t>            return BONUS_RATE;</a:t>
            </a:r>
          </a:p>
          <a:p>
            <a:r>
              <a:rPr lang="en-US" dirty="0"/>
              <a:t>        }</a:t>
            </a:r>
          </a:p>
          <a:p>
            <a:r>
              <a:rPr lang="en-US" dirty="0"/>
              <a:t>        </a:t>
            </a:r>
          </a:p>
          <a:p>
            <a:r>
              <a:rPr lang="en-US" dirty="0"/>
              <a:t>        if (</a:t>
            </a:r>
            <a:r>
              <a:rPr lang="en-US" dirty="0" err="1"/>
              <a:t>isTenured</a:t>
            </a:r>
            <a:r>
              <a:rPr lang="en-US" dirty="0"/>
              <a:t>) {</a:t>
            </a:r>
          </a:p>
          <a:p>
            <a:r>
              <a:rPr lang="en-US" dirty="0"/>
              <a:t>            return BONUS_RATE;</a:t>
            </a:r>
          </a:p>
          <a:p>
            <a:r>
              <a:rPr lang="en-US" dirty="0"/>
              <a:t>        }</a:t>
            </a:r>
          </a:p>
          <a:p>
            <a:r>
              <a:rPr lang="en-US" dirty="0"/>
              <a:t>        </a:t>
            </a:r>
          </a:p>
          <a:p>
            <a:r>
              <a:rPr lang="en-US" dirty="0"/>
              <a:t>        // The default case</a:t>
            </a:r>
          </a:p>
          <a:p>
            <a:r>
              <a:rPr lang="en-US" dirty="0"/>
              <a:t>        return 0;</a:t>
            </a:r>
          </a:p>
          <a:p>
            <a:r>
              <a:rPr lang="en-US" dirty="0"/>
              <a:t>    }</a:t>
            </a:r>
          </a:p>
          <a:p>
            <a:r>
              <a:rPr lang="en-US" dirty="0"/>
              <a:t>}</a:t>
            </a:r>
          </a:p>
        </p:txBody>
      </p:sp>
      <p:sp>
        <p:nvSpPr>
          <p:cNvPr id="5" name="Rectangle 4"/>
          <p:cNvSpPr/>
          <p:nvPr/>
        </p:nvSpPr>
        <p:spPr>
          <a:xfrm>
            <a:off x="455867" y="5676638"/>
            <a:ext cx="5442131" cy="1200329"/>
          </a:xfrm>
          <a:prstGeom prst="rect">
            <a:avLst/>
          </a:prstGeom>
        </p:spPr>
        <p:txBody>
          <a:bodyPr wrap="none">
            <a:spAutoFit/>
          </a:bodyPr>
          <a:lstStyle/>
          <a:p>
            <a:r>
              <a:rPr lang="en-US" b="1" dirty="0"/>
              <a:t>Problem:</a:t>
            </a:r>
            <a:r>
              <a:rPr lang="en-US" dirty="0"/>
              <a:t> The code is repetitive, and if the </a:t>
            </a:r>
            <a:r>
              <a:rPr lang="en-US" dirty="0" smtClean="0"/>
              <a:t>BONUS_RATE</a:t>
            </a:r>
          </a:p>
          <a:p>
            <a:r>
              <a:rPr lang="en-US" dirty="0" err="1"/>
              <a:t>ogic</a:t>
            </a:r>
            <a:r>
              <a:rPr lang="en-US" dirty="0"/>
              <a:t> were more complex, you would have to maintain it </a:t>
            </a:r>
            <a:endParaRPr lang="en-US" dirty="0" smtClean="0"/>
          </a:p>
          <a:p>
            <a:r>
              <a:rPr lang="en-US" dirty="0" smtClean="0"/>
              <a:t>in </a:t>
            </a:r>
            <a:r>
              <a:rPr lang="en-US" dirty="0"/>
              <a:t>three different places. The intent is obscured by the </a:t>
            </a:r>
            <a:endParaRPr lang="en-US" dirty="0" smtClean="0"/>
          </a:p>
          <a:p>
            <a:r>
              <a:rPr lang="en-US" dirty="0" smtClean="0"/>
              <a:t>sequential if checks.</a:t>
            </a:r>
            <a:endParaRPr lang="en-US" dirty="0"/>
          </a:p>
        </p:txBody>
      </p:sp>
    </p:spTree>
    <p:extLst>
      <p:ext uri="{BB962C8B-B14F-4D97-AF65-F5344CB8AC3E}">
        <p14:creationId xmlns:p14="http://schemas.microsoft.com/office/powerpoint/2010/main" val="31387019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2168" y="719201"/>
            <a:ext cx="4547616" cy="4351338"/>
          </a:xfrm>
        </p:spPr>
        <p:txBody>
          <a:bodyPr/>
          <a:lstStyle/>
          <a:p>
            <a:pPr marL="0" indent="0">
              <a:buNone/>
            </a:pPr>
            <a:r>
              <a:rPr lang="en-US" dirty="0"/>
              <a:t>2. After: Consolidate Conditional </a:t>
            </a:r>
            <a:r>
              <a:rPr lang="en-US" dirty="0" smtClean="0"/>
              <a:t>Expression</a:t>
            </a:r>
          </a:p>
          <a:p>
            <a:pPr lvl="1"/>
            <a:r>
              <a:rPr lang="en-US" dirty="0"/>
              <a:t>We combine the separate checks into a single if statement using the logical OR operator (||) and move the duplicated result logic into the consolidated </a:t>
            </a:r>
            <a:r>
              <a:rPr lang="en-US" dirty="0" smtClean="0"/>
              <a:t>then block.</a:t>
            </a:r>
            <a:endParaRPr lang="en-US" dirty="0"/>
          </a:p>
        </p:txBody>
      </p:sp>
      <p:sp>
        <p:nvSpPr>
          <p:cNvPr id="4" name="Rectangle 3"/>
          <p:cNvSpPr/>
          <p:nvPr/>
        </p:nvSpPr>
        <p:spPr>
          <a:xfrm>
            <a:off x="5334000" y="787920"/>
            <a:ext cx="6096000" cy="5355312"/>
          </a:xfrm>
          <a:prstGeom prst="rect">
            <a:avLst/>
          </a:prstGeom>
        </p:spPr>
        <p:txBody>
          <a:bodyPr>
            <a:spAutoFit/>
          </a:bodyPr>
          <a:lstStyle/>
          <a:p>
            <a:r>
              <a:rPr lang="en-US" dirty="0"/>
              <a:t>public class </a:t>
            </a:r>
            <a:r>
              <a:rPr lang="en-US" dirty="0" err="1"/>
              <a:t>EmployeeBonus</a:t>
            </a:r>
            <a:r>
              <a:rPr lang="en-US" dirty="0"/>
              <a:t> {</a:t>
            </a:r>
          </a:p>
          <a:p>
            <a:r>
              <a:rPr lang="en-US" dirty="0"/>
              <a:t>    private static final </a:t>
            </a:r>
            <a:r>
              <a:rPr lang="en-US" dirty="0" err="1"/>
              <a:t>int</a:t>
            </a:r>
            <a:r>
              <a:rPr lang="en-US" dirty="0"/>
              <a:t> BONUS_RATE = 1000;</a:t>
            </a:r>
          </a:p>
          <a:p>
            <a:endParaRPr lang="en-US" dirty="0"/>
          </a:p>
          <a:p>
            <a:r>
              <a:rPr lang="en-US" dirty="0"/>
              <a:t>    public </a:t>
            </a:r>
            <a:r>
              <a:rPr lang="en-US" dirty="0" err="1"/>
              <a:t>int</a:t>
            </a:r>
            <a:r>
              <a:rPr lang="en-US" dirty="0"/>
              <a:t> </a:t>
            </a:r>
            <a:r>
              <a:rPr lang="en-US" dirty="0" err="1"/>
              <a:t>getSpecialBonus</a:t>
            </a:r>
            <a:r>
              <a:rPr lang="en-US" dirty="0"/>
              <a:t>(</a:t>
            </a:r>
            <a:r>
              <a:rPr lang="en-US" dirty="0" err="1"/>
              <a:t>boolean</a:t>
            </a:r>
            <a:r>
              <a:rPr lang="en-US" dirty="0"/>
              <a:t> </a:t>
            </a:r>
            <a:r>
              <a:rPr lang="en-US" dirty="0" err="1"/>
              <a:t>isHighPerformer</a:t>
            </a:r>
            <a:r>
              <a:rPr lang="en-US" dirty="0"/>
              <a:t>, </a:t>
            </a:r>
            <a:r>
              <a:rPr lang="en-US" dirty="0" err="1"/>
              <a:t>boolean</a:t>
            </a:r>
            <a:r>
              <a:rPr lang="en-US" dirty="0"/>
              <a:t> </a:t>
            </a:r>
            <a:r>
              <a:rPr lang="en-US" dirty="0" err="1"/>
              <a:t>hasPerfectAttendance</a:t>
            </a:r>
            <a:r>
              <a:rPr lang="en-US" dirty="0"/>
              <a:t>, </a:t>
            </a:r>
            <a:r>
              <a:rPr lang="en-US" dirty="0" err="1"/>
              <a:t>boolean</a:t>
            </a:r>
            <a:r>
              <a:rPr lang="en-US" dirty="0"/>
              <a:t> </a:t>
            </a:r>
            <a:r>
              <a:rPr lang="en-US" dirty="0" err="1"/>
              <a:t>isTenured</a:t>
            </a:r>
            <a:r>
              <a:rPr lang="en-US" dirty="0"/>
              <a:t>) {</a:t>
            </a:r>
          </a:p>
          <a:p>
            <a:r>
              <a:rPr lang="en-US" dirty="0"/>
              <a:t>        </a:t>
            </a:r>
          </a:p>
          <a:p>
            <a:r>
              <a:rPr lang="en-US" dirty="0"/>
              <a:t>        // Consolidated the three separate checks into one condition</a:t>
            </a:r>
          </a:p>
          <a:p>
            <a:r>
              <a:rPr lang="en-US" dirty="0"/>
              <a:t>        if (</a:t>
            </a:r>
            <a:r>
              <a:rPr lang="en-US" dirty="0" err="1"/>
              <a:t>isHighPerformer</a:t>
            </a:r>
            <a:r>
              <a:rPr lang="en-US" dirty="0"/>
              <a:t> || </a:t>
            </a:r>
            <a:r>
              <a:rPr lang="en-US" dirty="0" err="1"/>
              <a:t>hasPerfectAttendance</a:t>
            </a:r>
            <a:r>
              <a:rPr lang="en-US" dirty="0"/>
              <a:t> || </a:t>
            </a:r>
            <a:r>
              <a:rPr lang="en-US" dirty="0" err="1"/>
              <a:t>isTenured</a:t>
            </a:r>
            <a:r>
              <a:rPr lang="en-US" dirty="0"/>
              <a:t>) {</a:t>
            </a:r>
          </a:p>
          <a:p>
            <a:r>
              <a:rPr lang="en-US" dirty="0"/>
              <a:t>            </a:t>
            </a:r>
          </a:p>
          <a:p>
            <a:r>
              <a:rPr lang="en-US" dirty="0"/>
              <a:t>            // The result is now in only one place</a:t>
            </a:r>
          </a:p>
          <a:p>
            <a:r>
              <a:rPr lang="en-US" dirty="0"/>
              <a:t>            return BONUS_RATE;</a:t>
            </a:r>
          </a:p>
          <a:p>
            <a:r>
              <a:rPr lang="en-US" dirty="0"/>
              <a:t>        }</a:t>
            </a:r>
          </a:p>
          <a:p>
            <a:r>
              <a:rPr lang="en-US" dirty="0"/>
              <a:t>        </a:t>
            </a:r>
          </a:p>
          <a:p>
            <a:r>
              <a:rPr lang="en-US" dirty="0"/>
              <a:t>        // The default case</a:t>
            </a:r>
          </a:p>
          <a:p>
            <a:r>
              <a:rPr lang="en-US" dirty="0"/>
              <a:t>        return 0;</a:t>
            </a:r>
          </a:p>
          <a:p>
            <a:r>
              <a:rPr lang="en-US" dirty="0"/>
              <a:t>    }</a:t>
            </a:r>
          </a:p>
          <a:p>
            <a:r>
              <a:rPr lang="en-US" dirty="0"/>
              <a:t>}</a:t>
            </a:r>
          </a:p>
        </p:txBody>
      </p:sp>
    </p:spTree>
    <p:extLst>
      <p:ext uri="{BB962C8B-B14F-4D97-AF65-F5344CB8AC3E}">
        <p14:creationId xmlns:p14="http://schemas.microsoft.com/office/powerpoint/2010/main" val="7483943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If you have an attribute that needs additional data or operations, turn it into a new type of data object. </a:t>
            </a:r>
          </a:p>
          <a:p>
            <a:pPr algn="just"/>
            <a:r>
              <a:rPr lang="en-US" dirty="0"/>
              <a:t>If certain array values have special meaning, use a class to store items instead.</a:t>
            </a:r>
            <a:endParaRPr lang="en-US" dirty="0"/>
          </a:p>
        </p:txBody>
      </p:sp>
    </p:spTree>
    <p:extLst>
      <p:ext uri="{BB962C8B-B14F-4D97-AF65-F5344CB8AC3E}">
        <p14:creationId xmlns:p14="http://schemas.microsoft.com/office/powerpoint/2010/main" val="27725644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Refactorings</a:t>
            </a:r>
            <a:r>
              <a:rPr lang="en-US" dirty="0"/>
              <a:t> - Simplifying Method Calls and Generalization</a:t>
            </a:r>
          </a:p>
        </p:txBody>
      </p:sp>
      <p:sp>
        <p:nvSpPr>
          <p:cNvPr id="3" name="Content Placeholder 2"/>
          <p:cNvSpPr>
            <a:spLocks noGrp="1"/>
          </p:cNvSpPr>
          <p:nvPr>
            <p:ph idx="1"/>
          </p:nvPr>
        </p:nvSpPr>
        <p:spPr/>
        <p:txBody>
          <a:bodyPr>
            <a:normAutofit lnSpcReduction="10000"/>
          </a:bodyPr>
          <a:lstStyle/>
          <a:p>
            <a:pPr algn="just"/>
            <a:r>
              <a:rPr lang="en-US" dirty="0"/>
              <a:t>If a method both returns a value and changes the state of a passed object, split into two methods and separate the query from the modifier. </a:t>
            </a:r>
            <a:r>
              <a:rPr lang="en-US" dirty="0" smtClean="0"/>
              <a:t>(</a:t>
            </a:r>
            <a:r>
              <a:rPr lang="en-US" dirty="0"/>
              <a:t>This principle tells us to separate code responsible for getting data from code that changes something inside an object</a:t>
            </a:r>
            <a:r>
              <a:rPr lang="en-US" dirty="0" smtClean="0"/>
              <a:t>.)</a:t>
            </a:r>
          </a:p>
          <a:p>
            <a:pPr algn="just"/>
            <a:r>
              <a:rPr lang="en-US" dirty="0" smtClean="0"/>
              <a:t>If </a:t>
            </a:r>
            <a:r>
              <a:rPr lang="en-US" dirty="0"/>
              <a:t>several methods do similar things - differentiated by value - create one method that takes the value as a parameter. </a:t>
            </a:r>
            <a:endParaRPr lang="en-US" dirty="0" smtClean="0"/>
          </a:p>
          <a:p>
            <a:pPr algn="just"/>
            <a:r>
              <a:rPr lang="en-US" dirty="0" smtClean="0"/>
              <a:t>If </a:t>
            </a:r>
            <a:r>
              <a:rPr lang="en-US" dirty="0"/>
              <a:t>two classes have the same attribute/method/constructor body, pull it up into the parent. If an item is only used by some subclasses, push it into the children. </a:t>
            </a:r>
            <a:endParaRPr lang="en-US" dirty="0" smtClean="0"/>
          </a:p>
          <a:p>
            <a:pPr algn="just"/>
            <a:r>
              <a:rPr lang="en-US" dirty="0" smtClean="0"/>
              <a:t>If </a:t>
            </a:r>
            <a:r>
              <a:rPr lang="en-US" dirty="0"/>
              <a:t>a class has features only used </a:t>
            </a:r>
            <a:r>
              <a:rPr lang="en-US" dirty="0" err="1"/>
              <a:t>situationally</a:t>
            </a:r>
            <a:r>
              <a:rPr lang="en-US" dirty="0"/>
              <a:t>, extract subclasses for those situations.</a:t>
            </a:r>
          </a:p>
        </p:txBody>
      </p:sp>
    </p:spTree>
    <p:extLst>
      <p:ext uri="{BB962C8B-B14F-4D97-AF65-F5344CB8AC3E}">
        <p14:creationId xmlns:p14="http://schemas.microsoft.com/office/powerpoint/2010/main" val="104672240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refactoring</a:t>
            </a:r>
            <a:endParaRPr lang="en-US" dirty="0"/>
          </a:p>
        </p:txBody>
      </p:sp>
      <p:sp>
        <p:nvSpPr>
          <p:cNvPr id="3" name="Content Placeholder 2"/>
          <p:cNvSpPr>
            <a:spLocks noGrp="1"/>
          </p:cNvSpPr>
          <p:nvPr>
            <p:ph idx="1"/>
          </p:nvPr>
        </p:nvSpPr>
        <p:spPr>
          <a:xfrm>
            <a:off x="838200" y="1600200"/>
            <a:ext cx="10515600" cy="4576763"/>
          </a:xfrm>
        </p:spPr>
        <p:txBody>
          <a:bodyPr>
            <a:normAutofit/>
          </a:bodyPr>
          <a:lstStyle/>
          <a:p>
            <a:pPr algn="just" fontAlgn="base"/>
            <a:r>
              <a:rPr lang="en-US" dirty="0"/>
              <a:t>Some </a:t>
            </a:r>
            <a:r>
              <a:rPr lang="en-US" dirty="0" err="1"/>
              <a:t>refactorings</a:t>
            </a:r>
            <a:r>
              <a:rPr lang="en-US" dirty="0"/>
              <a:t> may also occur because of changes to the data structure supporting the code. Such changes often take place due to a deeper understanding of the data model, as well as additions and subtractions to the collected data.</a:t>
            </a:r>
          </a:p>
          <a:p>
            <a:pPr algn="just" fontAlgn="base"/>
            <a:r>
              <a:rPr lang="en-US" dirty="0"/>
              <a:t>Refactoring takes place in both the data and data model as well. While code refactoring can happen without data model refactoring, code is nearly always affected by changes to the underlying data model. Data refactoring becomes the source of refactors for the model, storage system and code. Each piece needs careful planning and thorough understanding, which adds considerable project resources.</a:t>
            </a:r>
          </a:p>
        </p:txBody>
      </p:sp>
    </p:spTree>
    <p:extLst>
      <p:ext uri="{BB962C8B-B14F-4D97-AF65-F5344CB8AC3E}">
        <p14:creationId xmlns:p14="http://schemas.microsoft.com/office/powerpoint/2010/main" val="36432315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3816"/>
            <a:ext cx="10515600" cy="5363147"/>
          </a:xfrm>
        </p:spPr>
        <p:txBody>
          <a:bodyPr>
            <a:normAutofit/>
          </a:bodyPr>
          <a:lstStyle/>
          <a:p>
            <a:pPr algn="just" fontAlgn="base"/>
            <a:r>
              <a:rPr lang="en-US" dirty="0"/>
              <a:t>Looking at the data refactoring component of a project, there are several tasks that accompany it, including:</a:t>
            </a:r>
          </a:p>
          <a:p>
            <a:pPr lvl="1" algn="just" fontAlgn="base"/>
            <a:r>
              <a:rPr lang="en-US" dirty="0"/>
              <a:t>Making changes to the data model to fit the new case, feature, etc.</a:t>
            </a:r>
          </a:p>
          <a:p>
            <a:pPr lvl="1" algn="just" fontAlgn="base"/>
            <a:r>
              <a:rPr lang="en-US" dirty="0"/>
              <a:t>Aligning the data model with the storage technology’s format, such as relational, graph or other. Each type of data storage format comes with its own set of rules, so we often end up making further changes to the data to accommodate the required structure.</a:t>
            </a:r>
          </a:p>
          <a:p>
            <a:pPr lvl="1" algn="just" fontAlgn="base"/>
            <a:r>
              <a:rPr lang="en-US" dirty="0"/>
              <a:t>This “translation” step between data model and data storage steps is what can be cumbersome, especially when it’s accompanied by change approvals from project managers for properly aligning data structures between the real-world configuration of data and the structured format of the database. Graph databases can shorten or cut the translation phase because they more naturally model data as it exists in the real world.</a:t>
            </a:r>
          </a:p>
        </p:txBody>
      </p:sp>
    </p:spTree>
    <p:extLst>
      <p:ext uri="{BB962C8B-B14F-4D97-AF65-F5344CB8AC3E}">
        <p14:creationId xmlns:p14="http://schemas.microsoft.com/office/powerpoint/2010/main" val="105323549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Data Refactoring for Databases</a:t>
            </a:r>
          </a:p>
        </p:txBody>
      </p:sp>
      <p:sp>
        <p:nvSpPr>
          <p:cNvPr id="3" name="Content Placeholder 2"/>
          <p:cNvSpPr>
            <a:spLocks noGrp="1"/>
          </p:cNvSpPr>
          <p:nvPr>
            <p:ph idx="1"/>
          </p:nvPr>
        </p:nvSpPr>
        <p:spPr>
          <a:xfrm>
            <a:off x="838200" y="1523873"/>
            <a:ext cx="10515600" cy="4351338"/>
          </a:xfrm>
        </p:spPr>
        <p:txBody>
          <a:bodyPr/>
          <a:lstStyle/>
          <a:p>
            <a:pPr algn="just"/>
            <a:r>
              <a:rPr lang="en-US" dirty="0" smtClean="0"/>
              <a:t>The </a:t>
            </a:r>
            <a:r>
              <a:rPr lang="en-US" dirty="0"/>
              <a:t>example data set is in Tables 1 and 2 below. Shop locations include data about the location type, size, address details, phone number and assigned manager. The staff table contains names, positions, start date and assigned shop location for each associate</a:t>
            </a:r>
            <a:r>
              <a:rPr lang="en-US" dirty="0" smtClean="0"/>
              <a:t>.</a:t>
            </a:r>
          </a:p>
          <a:p>
            <a:pPr algn="just"/>
            <a:endParaRPr lang="en-US" dirty="0"/>
          </a:p>
        </p:txBody>
      </p:sp>
      <p:pic>
        <p:nvPicPr>
          <p:cNvPr id="1026" name="Picture 2" descr="https://cdn.thenewstack.io/media/2022/11/5952a71e-image1-e166869580971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750" y="3363849"/>
            <a:ext cx="8110601" cy="155562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63750" y="5028009"/>
            <a:ext cx="3446456" cy="369332"/>
          </a:xfrm>
          <a:prstGeom prst="rect">
            <a:avLst/>
          </a:prstGeom>
        </p:spPr>
        <p:txBody>
          <a:bodyPr wrap="none">
            <a:spAutoFit/>
          </a:bodyPr>
          <a:lstStyle/>
          <a:p>
            <a:r>
              <a:rPr lang="en-US" i="1" dirty="0">
                <a:solidFill>
                  <a:srgbClr val="142640"/>
                </a:solidFill>
                <a:latin typeface="-apple-system"/>
              </a:rPr>
              <a:t>Table 1: The shop location table</a:t>
            </a:r>
            <a:endParaRPr lang="en-US" dirty="0"/>
          </a:p>
        </p:txBody>
      </p:sp>
    </p:spTree>
    <p:extLst>
      <p:ext uri="{BB962C8B-B14F-4D97-AF65-F5344CB8AC3E}">
        <p14:creationId xmlns:p14="http://schemas.microsoft.com/office/powerpoint/2010/main" val="25937911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p:txBody>
          <a:bodyPr/>
          <a:lstStyle/>
          <a:p>
            <a:pPr marL="0" indent="0">
              <a:buNone/>
            </a:pPr>
            <a:r>
              <a:rPr lang="en-US" dirty="0" smtClean="0"/>
              <a:t>   </a:t>
            </a:r>
            <a:endParaRPr lang="en-US" dirty="0"/>
          </a:p>
        </p:txBody>
      </p:sp>
      <p:pic>
        <p:nvPicPr>
          <p:cNvPr id="2050" name="Picture 2" descr="https://cdn.thenewstack.io/media/2022/11/484395ce-image-2-e16686958237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3791" y="916559"/>
            <a:ext cx="5905500" cy="44958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981508" y="5547296"/>
            <a:ext cx="2523127" cy="369332"/>
          </a:xfrm>
          <a:prstGeom prst="rect">
            <a:avLst/>
          </a:prstGeom>
        </p:spPr>
        <p:txBody>
          <a:bodyPr wrap="none">
            <a:spAutoFit/>
          </a:bodyPr>
          <a:lstStyle/>
          <a:p>
            <a:r>
              <a:rPr lang="en-US" i="1" dirty="0">
                <a:solidFill>
                  <a:srgbClr val="142640"/>
                </a:solidFill>
                <a:latin typeface="-apple-system"/>
              </a:rPr>
              <a:t>Table 2: The staff table</a:t>
            </a:r>
            <a:endParaRPr lang="en-US" dirty="0"/>
          </a:p>
        </p:txBody>
      </p:sp>
    </p:spTree>
    <p:extLst>
      <p:ext uri="{BB962C8B-B14F-4D97-AF65-F5344CB8AC3E}">
        <p14:creationId xmlns:p14="http://schemas.microsoft.com/office/powerpoint/2010/main" val="425842037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graph representation of this data could look something like Figure 1 below.</a:t>
            </a:r>
          </a:p>
        </p:txBody>
      </p:sp>
      <p:pic>
        <p:nvPicPr>
          <p:cNvPr id="3074" name="Picture 2" descr="https://cdn.thenewstack.io/media/2022/11/c8242d07-image-3-e16686958361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319" y="2695574"/>
            <a:ext cx="5905500" cy="14668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36319" y="4039656"/>
            <a:ext cx="6083717" cy="369332"/>
          </a:xfrm>
          <a:prstGeom prst="rect">
            <a:avLst/>
          </a:prstGeom>
        </p:spPr>
        <p:txBody>
          <a:bodyPr wrap="none">
            <a:spAutoFit/>
          </a:bodyPr>
          <a:lstStyle/>
          <a:p>
            <a:r>
              <a:rPr lang="en-US" i="1" smtClean="0">
                <a:solidFill>
                  <a:srgbClr val="142640"/>
                </a:solidFill>
                <a:latin typeface="-apple-system"/>
              </a:rPr>
              <a:t>Figure 1: Graph representation of shop locations and staff</a:t>
            </a:r>
            <a:endParaRPr lang="en-US" dirty="0"/>
          </a:p>
        </p:txBody>
      </p:sp>
      <p:sp>
        <p:nvSpPr>
          <p:cNvPr id="5" name="Rectangle 4"/>
          <p:cNvSpPr/>
          <p:nvPr/>
        </p:nvSpPr>
        <p:spPr>
          <a:xfrm>
            <a:off x="1060748" y="4692811"/>
            <a:ext cx="9820611" cy="1200329"/>
          </a:xfrm>
          <a:prstGeom prst="rect">
            <a:avLst/>
          </a:prstGeom>
        </p:spPr>
        <p:txBody>
          <a:bodyPr wrap="square">
            <a:spAutoFit/>
          </a:bodyPr>
          <a:lstStyle/>
          <a:p>
            <a:pPr algn="just" fontAlgn="base"/>
            <a:r>
              <a:rPr lang="en-US" dirty="0">
                <a:solidFill>
                  <a:srgbClr val="142640"/>
                </a:solidFill>
                <a:latin typeface="-apple-system"/>
              </a:rPr>
              <a:t>In this graph model, we have two main entities (nodes): </a:t>
            </a:r>
            <a:r>
              <a:rPr lang="en-US" b="1" dirty="0">
                <a:solidFill>
                  <a:srgbClr val="142640"/>
                </a:solidFill>
                <a:latin typeface="inherit"/>
              </a:rPr>
              <a:t>Shop</a:t>
            </a:r>
            <a:r>
              <a:rPr lang="en-US" dirty="0">
                <a:solidFill>
                  <a:srgbClr val="142640"/>
                </a:solidFill>
                <a:latin typeface="-apple-system"/>
              </a:rPr>
              <a:t> and </a:t>
            </a:r>
            <a:r>
              <a:rPr lang="en-US" b="1" dirty="0">
                <a:solidFill>
                  <a:srgbClr val="142640"/>
                </a:solidFill>
                <a:latin typeface="inherit"/>
              </a:rPr>
              <a:t>Staff</a:t>
            </a:r>
            <a:r>
              <a:rPr lang="en-US" dirty="0">
                <a:solidFill>
                  <a:srgbClr val="142640"/>
                </a:solidFill>
                <a:latin typeface="-apple-system"/>
              </a:rPr>
              <a:t>. The relationships between these nodes tell us how they are connected. Either a staff member is assigned to work at a location or a shop is managed by a particular staff member.</a:t>
            </a:r>
          </a:p>
          <a:p>
            <a:pPr algn="just" fontAlgn="base"/>
            <a:r>
              <a:rPr lang="en-US" dirty="0">
                <a:solidFill>
                  <a:srgbClr val="142640"/>
                </a:solidFill>
                <a:latin typeface="-apple-system"/>
              </a:rPr>
              <a:t>Next, let’s look at how a few specific </a:t>
            </a:r>
            <a:r>
              <a:rPr lang="en-US" dirty="0" err="1">
                <a:solidFill>
                  <a:srgbClr val="142640"/>
                </a:solidFill>
                <a:latin typeface="-apple-system"/>
              </a:rPr>
              <a:t>refactorings</a:t>
            </a:r>
            <a:r>
              <a:rPr lang="en-US" dirty="0">
                <a:solidFill>
                  <a:srgbClr val="142640"/>
                </a:solidFill>
                <a:latin typeface="-apple-system"/>
              </a:rPr>
              <a:t> would affect each of these models.</a:t>
            </a:r>
            <a:endParaRPr lang="en-US" b="0" i="0" dirty="0">
              <a:solidFill>
                <a:srgbClr val="142640"/>
              </a:solidFill>
              <a:effectLst/>
              <a:latin typeface="-apple-system"/>
            </a:endParaRPr>
          </a:p>
        </p:txBody>
      </p:sp>
    </p:spTree>
    <p:extLst>
      <p:ext uri="{BB962C8B-B14F-4D97-AF65-F5344CB8AC3E}">
        <p14:creationId xmlns:p14="http://schemas.microsoft.com/office/powerpoint/2010/main" val="231314114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Refactoring 1: Adding a New Column</a:t>
            </a:r>
          </a:p>
        </p:txBody>
      </p:sp>
      <p:sp>
        <p:nvSpPr>
          <p:cNvPr id="3" name="Content Placeholder 2"/>
          <p:cNvSpPr>
            <a:spLocks noGrp="1"/>
          </p:cNvSpPr>
          <p:nvPr>
            <p:ph idx="1"/>
          </p:nvPr>
        </p:nvSpPr>
        <p:spPr/>
        <p:txBody>
          <a:bodyPr>
            <a:normAutofit fontScale="92500" lnSpcReduction="10000"/>
          </a:bodyPr>
          <a:lstStyle/>
          <a:p>
            <a:pPr fontAlgn="base"/>
            <a:r>
              <a:rPr lang="en-US" dirty="0" smtClean="0"/>
              <a:t>Storing </a:t>
            </a:r>
            <a:r>
              <a:rPr lang="en-US" dirty="0"/>
              <a:t>additional information is a common change among database projects. In our coffee shop case, we might want to also track the open date for a shop location (how long a location has been in operation). For a relational format, the change process would involve adding a new column to the table. This likely also entails:</a:t>
            </a:r>
          </a:p>
          <a:p>
            <a:pPr fontAlgn="base"/>
            <a:r>
              <a:rPr lang="en-US" dirty="0"/>
              <a:t>Explaining the change to stakeholders.</a:t>
            </a:r>
          </a:p>
          <a:p>
            <a:pPr fontAlgn="base"/>
            <a:r>
              <a:rPr lang="en-US" dirty="0"/>
              <a:t>Writing and executing a data definition language (DDL) statement to alter the table structure, or dropping the entire table and rebuilding it with the new column in the DDL.</a:t>
            </a:r>
          </a:p>
          <a:p>
            <a:pPr fontAlgn="base"/>
            <a:r>
              <a:rPr lang="en-US" dirty="0"/>
              <a:t>Adding the new data to the population set.</a:t>
            </a:r>
          </a:p>
          <a:p>
            <a:pPr fontAlgn="base"/>
            <a:r>
              <a:rPr lang="en-US" dirty="0"/>
              <a:t>Finally, importing the actual data to the table.</a:t>
            </a:r>
          </a:p>
        </p:txBody>
      </p:sp>
    </p:spTree>
    <p:extLst>
      <p:ext uri="{BB962C8B-B14F-4D97-AF65-F5344CB8AC3E}">
        <p14:creationId xmlns:p14="http://schemas.microsoft.com/office/powerpoint/2010/main" val="39866713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p:txBody>
          <a:bodyPr/>
          <a:lstStyle/>
          <a:p>
            <a:r>
              <a:rPr lang="en-US" dirty="0"/>
              <a:t>Between certain of these tasks, additional change approval steps may be required. This change does not affect the staff table, so no changes would be required there. The result of this refactoring would look like Table 3</a:t>
            </a:r>
            <a:r>
              <a:rPr lang="en-US" dirty="0" smtClean="0"/>
              <a:t>.</a:t>
            </a:r>
          </a:p>
          <a:p>
            <a:endParaRPr lang="en-US" dirty="0"/>
          </a:p>
        </p:txBody>
      </p:sp>
      <p:pic>
        <p:nvPicPr>
          <p:cNvPr id="4098" name="Picture 2" descr="https://cdn.thenewstack.io/media/2022/11/6e445f82-image-4-e166869585147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4606" y="3753612"/>
            <a:ext cx="7891145" cy="14401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475622" y="5316045"/>
            <a:ext cx="4869923" cy="369332"/>
          </a:xfrm>
          <a:prstGeom prst="rect">
            <a:avLst/>
          </a:prstGeom>
        </p:spPr>
        <p:txBody>
          <a:bodyPr wrap="none">
            <a:spAutoFit/>
          </a:bodyPr>
          <a:lstStyle/>
          <a:p>
            <a:r>
              <a:rPr lang="en-US" i="1" dirty="0">
                <a:solidFill>
                  <a:srgbClr val="142640"/>
                </a:solidFill>
                <a:latin typeface="-apple-system"/>
              </a:rPr>
              <a:t>Table 3: Refactor No. 1 for shop location table</a:t>
            </a:r>
            <a:endParaRPr lang="en-US" dirty="0"/>
          </a:p>
        </p:txBody>
      </p:sp>
    </p:spTree>
    <p:extLst>
      <p:ext uri="{BB962C8B-B14F-4D97-AF65-F5344CB8AC3E}">
        <p14:creationId xmlns:p14="http://schemas.microsoft.com/office/powerpoint/2010/main" val="73248602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7032" y="677863"/>
            <a:ext cx="10515600" cy="4351338"/>
          </a:xfrm>
        </p:spPr>
        <p:txBody>
          <a:bodyPr/>
          <a:lstStyle/>
          <a:p>
            <a:pPr algn="just"/>
            <a:r>
              <a:rPr lang="en-US" dirty="0"/>
              <a:t>Meanwhile, for a graph format, we would need to add a new property to the </a:t>
            </a:r>
            <a:r>
              <a:rPr lang="en-US" b="1" dirty="0"/>
              <a:t>Shop</a:t>
            </a:r>
            <a:r>
              <a:rPr lang="en-US" dirty="0"/>
              <a:t> node. Similar to our relational process above, we would need to explain the change to stakeholders and get any necessary change approvals. However, dropping the data structure, making the addition and setting the new data structure are all eliminated with graph methodology because there is no strict DDL. With graph, the structure is not forced on the data. Rather, the data itself determines the structure and can be adapted when the information represented by the data shifts, as depicted in Figure 2.</a:t>
            </a:r>
          </a:p>
        </p:txBody>
      </p:sp>
      <p:pic>
        <p:nvPicPr>
          <p:cNvPr id="5122" name="Picture 2" descr="https://cdn.thenewstack.io/media/2022/11/faea9c89-image-5-e166869586683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478" y="4301934"/>
            <a:ext cx="7625969" cy="16690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095956" y="5612630"/>
            <a:ext cx="3634328" cy="369332"/>
          </a:xfrm>
          <a:prstGeom prst="rect">
            <a:avLst/>
          </a:prstGeom>
        </p:spPr>
        <p:txBody>
          <a:bodyPr wrap="none">
            <a:spAutoFit/>
          </a:bodyPr>
          <a:lstStyle/>
          <a:p>
            <a:r>
              <a:rPr lang="en-US" i="1" dirty="0">
                <a:solidFill>
                  <a:srgbClr val="142640"/>
                </a:solidFill>
                <a:latin typeface="-apple-system"/>
              </a:rPr>
              <a:t>Figure 2: Refactor No. 1 for graph</a:t>
            </a:r>
            <a:endParaRPr lang="en-US" dirty="0"/>
          </a:p>
        </p:txBody>
      </p:sp>
    </p:spTree>
    <p:extLst>
      <p:ext uri="{BB962C8B-B14F-4D97-AF65-F5344CB8AC3E}">
        <p14:creationId xmlns:p14="http://schemas.microsoft.com/office/powerpoint/2010/main" val="242575154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fontAlgn="base"/>
            <a:r>
              <a:rPr lang="en-US" b="1" dirty="0"/>
              <a:t>Refactoring 2: Adding a New Table and Relationship</a:t>
            </a:r>
          </a:p>
        </p:txBody>
      </p:sp>
      <p:sp>
        <p:nvSpPr>
          <p:cNvPr id="3" name="Content Placeholder 2"/>
          <p:cNvSpPr>
            <a:spLocks noGrp="1"/>
          </p:cNvSpPr>
          <p:nvPr>
            <p:ph idx="1"/>
          </p:nvPr>
        </p:nvSpPr>
        <p:spPr/>
        <p:txBody>
          <a:bodyPr/>
          <a:lstStyle/>
          <a:p>
            <a:pPr algn="just" fontAlgn="base"/>
            <a:r>
              <a:rPr lang="en-US" dirty="0"/>
              <a:t>Next, suppose we have issues with staffing coverage at our locations. We want to retain employee addresses to help us determine who might be able to cover a shift at another location.</a:t>
            </a:r>
          </a:p>
          <a:p>
            <a:pPr algn="just" fontAlgn="base"/>
            <a:r>
              <a:rPr lang="en-US" dirty="0"/>
              <a:t>While we could store employee addresses directly in the </a:t>
            </a:r>
            <a:r>
              <a:rPr lang="en-US" b="1" dirty="0"/>
              <a:t>Staff</a:t>
            </a:r>
            <a:r>
              <a:rPr lang="en-US" dirty="0"/>
              <a:t> table, addresses are more likely to change than other data, and we might want to keep staff’s personal details separate from their business information. We can create a separate table to store addresses, which means creating a foreign key relationship between the staff row and related address with a new column, as well as statements for the new table structure and data insert.</a:t>
            </a:r>
          </a:p>
        </p:txBody>
      </p:sp>
    </p:spTree>
    <p:extLst>
      <p:ext uri="{BB962C8B-B14F-4D97-AF65-F5344CB8AC3E}">
        <p14:creationId xmlns:p14="http://schemas.microsoft.com/office/powerpoint/2010/main" val="42827423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pic>
        <p:nvPicPr>
          <p:cNvPr id="1026" name="Picture 2" descr="https://cdn.thenewstack.io/media/2022/11/4ebc3dfa-image-6-e166869591083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0598" y="1227454"/>
            <a:ext cx="7891145" cy="359143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621536" y="4925491"/>
            <a:ext cx="7293864" cy="369332"/>
          </a:xfrm>
          <a:prstGeom prst="rect">
            <a:avLst/>
          </a:prstGeom>
        </p:spPr>
        <p:txBody>
          <a:bodyPr wrap="square">
            <a:spAutoFit/>
          </a:bodyPr>
          <a:lstStyle/>
          <a:p>
            <a:r>
              <a:rPr lang="en-US" i="1" dirty="0">
                <a:solidFill>
                  <a:srgbClr val="142640"/>
                </a:solidFill>
                <a:latin typeface="-apple-system"/>
              </a:rPr>
              <a:t>Table 4: Adding foreign key column </a:t>
            </a:r>
            <a:r>
              <a:rPr lang="en-US" b="1" i="1" dirty="0" err="1">
                <a:solidFill>
                  <a:srgbClr val="142640"/>
                </a:solidFill>
                <a:latin typeface="-apple-system"/>
              </a:rPr>
              <a:t>address_id</a:t>
            </a:r>
            <a:r>
              <a:rPr lang="en-US" i="1" dirty="0">
                <a:solidFill>
                  <a:srgbClr val="142640"/>
                </a:solidFill>
                <a:latin typeface="-apple-system"/>
              </a:rPr>
              <a:t> to </a:t>
            </a:r>
            <a:r>
              <a:rPr lang="en-US" b="1" i="1" dirty="0">
                <a:solidFill>
                  <a:srgbClr val="142640"/>
                </a:solidFill>
                <a:latin typeface="-apple-system"/>
              </a:rPr>
              <a:t>Staff</a:t>
            </a:r>
            <a:r>
              <a:rPr lang="en-US" i="1" dirty="0">
                <a:solidFill>
                  <a:srgbClr val="142640"/>
                </a:solidFill>
                <a:latin typeface="-apple-system"/>
              </a:rPr>
              <a:t> table</a:t>
            </a:r>
            <a:endParaRPr lang="en-US" dirty="0"/>
          </a:p>
        </p:txBody>
      </p:sp>
    </p:spTree>
    <p:extLst>
      <p:ext uri="{BB962C8B-B14F-4D97-AF65-F5344CB8AC3E}">
        <p14:creationId xmlns:p14="http://schemas.microsoft.com/office/powerpoint/2010/main" val="230058209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cdn.thenewstack.io/media/2022/11/ec4cec71-image-7-e166869592373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766" y="1089977"/>
            <a:ext cx="7497953" cy="41243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2105135" y="5374886"/>
            <a:ext cx="3647473" cy="369332"/>
          </a:xfrm>
          <a:prstGeom prst="rect">
            <a:avLst/>
          </a:prstGeom>
        </p:spPr>
        <p:txBody>
          <a:bodyPr wrap="none">
            <a:spAutoFit/>
          </a:bodyPr>
          <a:lstStyle/>
          <a:p>
            <a:r>
              <a:rPr lang="en-US" i="1" dirty="0">
                <a:solidFill>
                  <a:srgbClr val="142640"/>
                </a:solidFill>
                <a:latin typeface="-apple-system"/>
              </a:rPr>
              <a:t>Table 5: New </a:t>
            </a:r>
            <a:r>
              <a:rPr lang="en-US" b="1" i="1" dirty="0" err="1">
                <a:solidFill>
                  <a:srgbClr val="142640"/>
                </a:solidFill>
                <a:latin typeface="-apple-system"/>
              </a:rPr>
              <a:t>staff_address</a:t>
            </a:r>
            <a:r>
              <a:rPr lang="en-US" i="1" dirty="0">
                <a:solidFill>
                  <a:srgbClr val="142640"/>
                </a:solidFill>
                <a:latin typeface="-apple-system"/>
              </a:rPr>
              <a:t> table</a:t>
            </a:r>
            <a:endParaRPr lang="en-US" dirty="0"/>
          </a:p>
        </p:txBody>
      </p:sp>
    </p:spTree>
    <p:extLst>
      <p:ext uri="{BB962C8B-B14F-4D97-AF65-F5344CB8AC3E}">
        <p14:creationId xmlns:p14="http://schemas.microsoft.com/office/powerpoint/2010/main" val="218375212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3776"/>
            <a:ext cx="10515600" cy="5683187"/>
          </a:xfrm>
        </p:spPr>
        <p:txBody>
          <a:bodyPr/>
          <a:lstStyle/>
          <a:p>
            <a:pPr algn="just"/>
            <a:r>
              <a:rPr lang="en-US" dirty="0"/>
              <a:t>For graph, we would need to add the data for a new </a:t>
            </a:r>
            <a:r>
              <a:rPr lang="en-US" b="1" dirty="0" err="1"/>
              <a:t>StaffAddress</a:t>
            </a:r>
            <a:r>
              <a:rPr lang="en-US" dirty="0"/>
              <a:t> node and relationship to Staff nodes, as shown in </a:t>
            </a:r>
            <a:r>
              <a:rPr lang="en-US" b="1" dirty="0"/>
              <a:t>Figure 3</a:t>
            </a:r>
            <a:r>
              <a:rPr lang="en-US" dirty="0"/>
              <a:t>. Existing data would not be affected, so we would not need to alter Staff entities in the database.</a:t>
            </a:r>
          </a:p>
        </p:txBody>
      </p:sp>
      <p:pic>
        <p:nvPicPr>
          <p:cNvPr id="3074" name="Picture 2" descr="https://cdn.thenewstack.io/media/2022/11/5dfc52e2-image-8-e166869594247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7904" y="2744818"/>
            <a:ext cx="7973567" cy="22112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947116" y="5018270"/>
            <a:ext cx="3634328" cy="369332"/>
          </a:xfrm>
          <a:prstGeom prst="rect">
            <a:avLst/>
          </a:prstGeom>
        </p:spPr>
        <p:txBody>
          <a:bodyPr wrap="none">
            <a:spAutoFit/>
          </a:bodyPr>
          <a:lstStyle/>
          <a:p>
            <a:r>
              <a:rPr lang="en-US" i="1" dirty="0">
                <a:solidFill>
                  <a:srgbClr val="142640"/>
                </a:solidFill>
                <a:latin typeface="-apple-system"/>
              </a:rPr>
              <a:t>Figure 3. Refactor No. 2 for graph</a:t>
            </a:r>
            <a:endParaRPr lang="en-US" dirty="0"/>
          </a:p>
        </p:txBody>
      </p:sp>
    </p:spTree>
    <p:extLst>
      <p:ext uri="{BB962C8B-B14F-4D97-AF65-F5344CB8AC3E}">
        <p14:creationId xmlns:p14="http://schemas.microsoft.com/office/powerpoint/2010/main" val="340292641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Refactoring 3: Adding Data to Existing Tables</a:t>
            </a:r>
          </a:p>
        </p:txBody>
      </p:sp>
      <p:sp>
        <p:nvSpPr>
          <p:cNvPr id="3" name="Content Placeholder 2"/>
          <p:cNvSpPr>
            <a:spLocks noGrp="1"/>
          </p:cNvSpPr>
          <p:nvPr>
            <p:ph idx="1"/>
          </p:nvPr>
        </p:nvSpPr>
        <p:spPr/>
        <p:txBody>
          <a:bodyPr>
            <a:normAutofit fontScale="92500" lnSpcReduction="10000"/>
          </a:bodyPr>
          <a:lstStyle/>
          <a:p>
            <a:pPr algn="just" fontAlgn="base"/>
            <a:r>
              <a:rPr lang="en-US" dirty="0"/>
              <a:t>For our third and final refactoring, business is booming, and we might want to add newly hired staff members to a new shop location.</a:t>
            </a:r>
          </a:p>
          <a:p>
            <a:pPr algn="just" fontAlgn="base"/>
            <a:r>
              <a:rPr lang="en-US" dirty="0"/>
              <a:t>With the relational structure, creating a new staff member in the table means adding a shop location assignment to make the row complete. We would likely need some sort of dependency rule (constraint) that ensures we could not insert a value in the </a:t>
            </a:r>
            <a:r>
              <a:rPr lang="en-US" b="1" dirty="0"/>
              <a:t>Staff</a:t>
            </a:r>
            <a:r>
              <a:rPr lang="en-US" dirty="0"/>
              <a:t> table’s location column if it does not exist in the </a:t>
            </a:r>
            <a:r>
              <a:rPr lang="en-US" b="1" dirty="0" err="1"/>
              <a:t>Shop_Location</a:t>
            </a:r>
            <a:r>
              <a:rPr lang="en-US" dirty="0"/>
              <a:t> table. If we want to add the new staff member’s address to the </a:t>
            </a:r>
            <a:r>
              <a:rPr lang="en-US" b="1" dirty="0" err="1"/>
              <a:t>Staff_Address</a:t>
            </a:r>
            <a:r>
              <a:rPr lang="en-US" dirty="0"/>
              <a:t> table, we’d need to set up the same guardrails in that table, as well. This means any new staff member assigned to a new location requires us to first create the location, and then the staff member, then their </a:t>
            </a:r>
            <a:r>
              <a:rPr lang="en-US" dirty="0" smtClean="0"/>
              <a:t>address. </a:t>
            </a:r>
            <a:r>
              <a:rPr lang="en-US" dirty="0"/>
              <a:t>Doing these steps in the wrong order would result in errors.</a:t>
            </a:r>
          </a:p>
        </p:txBody>
      </p:sp>
    </p:spTree>
    <p:extLst>
      <p:ext uri="{BB962C8B-B14F-4D97-AF65-F5344CB8AC3E}">
        <p14:creationId xmlns:p14="http://schemas.microsoft.com/office/powerpoint/2010/main" val="280179741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cdn.thenewstack.io/media/2022/11/59afb6a5-image-9-e166869595553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406" y="1833372"/>
            <a:ext cx="8000874" cy="216255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071614" y="4186166"/>
            <a:ext cx="4690387" cy="369332"/>
          </a:xfrm>
          <a:prstGeom prst="rect">
            <a:avLst/>
          </a:prstGeom>
        </p:spPr>
        <p:txBody>
          <a:bodyPr wrap="none">
            <a:spAutoFit/>
          </a:bodyPr>
          <a:lstStyle/>
          <a:p>
            <a:r>
              <a:rPr lang="en-US" i="1" dirty="0">
                <a:solidFill>
                  <a:srgbClr val="142640"/>
                </a:solidFill>
                <a:latin typeface="-apple-system"/>
              </a:rPr>
              <a:t>Table 6: </a:t>
            </a:r>
            <a:r>
              <a:rPr lang="en-US" b="1" i="1" dirty="0" err="1">
                <a:solidFill>
                  <a:srgbClr val="142640"/>
                </a:solidFill>
                <a:latin typeface="-apple-system"/>
              </a:rPr>
              <a:t>Shop_Location</a:t>
            </a:r>
            <a:r>
              <a:rPr lang="en-US" i="1" dirty="0">
                <a:solidFill>
                  <a:srgbClr val="142640"/>
                </a:solidFill>
                <a:latin typeface="-apple-system"/>
              </a:rPr>
              <a:t> table with new row</a:t>
            </a:r>
            <a:endParaRPr lang="en-US" dirty="0"/>
          </a:p>
        </p:txBody>
      </p:sp>
    </p:spTree>
    <p:extLst>
      <p:ext uri="{BB962C8B-B14F-4D97-AF65-F5344CB8AC3E}">
        <p14:creationId xmlns:p14="http://schemas.microsoft.com/office/powerpoint/2010/main" val="255623374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https://cdn.thenewstack.io/media/2022/11/1709c029-image-10-e16686959695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829" y="950976"/>
            <a:ext cx="8311771" cy="41052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90600" y="5033879"/>
            <a:ext cx="6096000" cy="923330"/>
          </a:xfrm>
          <a:prstGeom prst="rect">
            <a:avLst/>
          </a:prstGeom>
        </p:spPr>
        <p:txBody>
          <a:bodyPr>
            <a:spAutoFit/>
          </a:bodyPr>
          <a:lstStyle/>
          <a:p>
            <a:pPr fontAlgn="base"/>
            <a:r>
              <a:rPr lang="en-US" i="1" dirty="0">
                <a:solidFill>
                  <a:srgbClr val="142640"/>
                </a:solidFill>
                <a:latin typeface="inherit"/>
              </a:rPr>
              <a:t>Table 7: </a:t>
            </a:r>
            <a:r>
              <a:rPr lang="en-US" b="1" i="1" dirty="0">
                <a:solidFill>
                  <a:srgbClr val="142640"/>
                </a:solidFill>
                <a:latin typeface="inherit"/>
              </a:rPr>
              <a:t>Staff</a:t>
            </a:r>
            <a:r>
              <a:rPr lang="en-US" i="1" dirty="0">
                <a:solidFill>
                  <a:srgbClr val="142640"/>
                </a:solidFill>
                <a:latin typeface="inherit"/>
              </a:rPr>
              <a:t> table with 2 new staff</a:t>
            </a:r>
          </a:p>
          <a:p>
            <a:r>
              <a:rPr lang="en-US" dirty="0">
                <a:solidFill>
                  <a:srgbClr val="142640"/>
                </a:solidFill>
                <a:latin typeface="-apple-system"/>
              </a:rPr>
              <a:t/>
            </a:r>
            <a:br>
              <a:rPr lang="en-US" dirty="0">
                <a:solidFill>
                  <a:srgbClr val="142640"/>
                </a:solidFill>
                <a:latin typeface="-apple-system"/>
              </a:rPr>
            </a:br>
            <a:endParaRPr lang="en-US" dirty="0"/>
          </a:p>
        </p:txBody>
      </p:sp>
    </p:spTree>
    <p:extLst>
      <p:ext uri="{BB962C8B-B14F-4D97-AF65-F5344CB8AC3E}">
        <p14:creationId xmlns:p14="http://schemas.microsoft.com/office/powerpoint/2010/main" val="29593557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cdn.thenewstack.io/media/2022/11/7e24f19a-image-11-e166869598297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254" y="1317053"/>
            <a:ext cx="8174609" cy="360241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20893" y="4945118"/>
            <a:ext cx="5468485" cy="369332"/>
          </a:xfrm>
          <a:prstGeom prst="rect">
            <a:avLst/>
          </a:prstGeom>
        </p:spPr>
        <p:txBody>
          <a:bodyPr wrap="none">
            <a:spAutoFit/>
          </a:bodyPr>
          <a:lstStyle/>
          <a:p>
            <a:r>
              <a:rPr lang="en-US" i="1" dirty="0">
                <a:solidFill>
                  <a:srgbClr val="142640"/>
                </a:solidFill>
                <a:latin typeface="-apple-system"/>
              </a:rPr>
              <a:t>Table 8: </a:t>
            </a:r>
            <a:r>
              <a:rPr lang="en-US" b="1" i="1" dirty="0" err="1">
                <a:solidFill>
                  <a:srgbClr val="142640"/>
                </a:solidFill>
                <a:latin typeface="-apple-system"/>
              </a:rPr>
              <a:t>Staff_Address</a:t>
            </a:r>
            <a:r>
              <a:rPr lang="en-US" i="1" dirty="0">
                <a:solidFill>
                  <a:srgbClr val="142640"/>
                </a:solidFill>
                <a:latin typeface="-apple-system"/>
              </a:rPr>
              <a:t> table with 2 new addresses</a:t>
            </a:r>
            <a:endParaRPr lang="en-US" dirty="0"/>
          </a:p>
        </p:txBody>
      </p:sp>
    </p:spTree>
    <p:extLst>
      <p:ext uri="{BB962C8B-B14F-4D97-AF65-F5344CB8AC3E}">
        <p14:creationId xmlns:p14="http://schemas.microsoft.com/office/powerpoint/2010/main" val="34899032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1872" y="1126712"/>
            <a:ext cx="7882128" cy="646331"/>
          </a:xfrm>
          <a:prstGeom prst="rect">
            <a:avLst/>
          </a:prstGeom>
        </p:spPr>
        <p:txBody>
          <a:bodyPr wrap="square">
            <a:spAutoFit/>
          </a:bodyPr>
          <a:lstStyle/>
          <a:p>
            <a:pPr fontAlgn="base"/>
            <a:r>
              <a:rPr lang="en-US" dirty="0">
                <a:solidFill>
                  <a:srgbClr val="142640"/>
                </a:solidFill>
                <a:latin typeface="-apple-system"/>
              </a:rPr>
              <a:t>For our graph version in </a:t>
            </a:r>
            <a:r>
              <a:rPr lang="en-US" b="1" dirty="0">
                <a:solidFill>
                  <a:srgbClr val="142640"/>
                </a:solidFill>
                <a:latin typeface="inherit"/>
              </a:rPr>
              <a:t>Figure 4</a:t>
            </a:r>
            <a:r>
              <a:rPr lang="en-US" dirty="0">
                <a:solidFill>
                  <a:srgbClr val="142640"/>
                </a:solidFill>
                <a:latin typeface="-apple-system"/>
              </a:rPr>
              <a:t>, we simply need to add the new data. Structure remains the same, and existing data is not affected</a:t>
            </a:r>
            <a:r>
              <a:rPr lang="en-US" dirty="0" smtClean="0">
                <a:solidFill>
                  <a:srgbClr val="142640"/>
                </a:solidFill>
                <a:latin typeface="-apple-system"/>
              </a:rPr>
              <a:t>.</a:t>
            </a:r>
            <a:endParaRPr lang="en-US" dirty="0">
              <a:solidFill>
                <a:srgbClr val="142640"/>
              </a:solidFill>
              <a:latin typeface="-apple-system"/>
            </a:endParaRPr>
          </a:p>
        </p:txBody>
      </p:sp>
      <p:pic>
        <p:nvPicPr>
          <p:cNvPr id="7170" name="Picture 2" descr="https://cdn.thenewstack.io/media/2022/11/a6d650b0-image-11-e166869599529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3478" y="2125980"/>
            <a:ext cx="8247761" cy="235458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654508" y="4487918"/>
            <a:ext cx="3634328" cy="369332"/>
          </a:xfrm>
          <a:prstGeom prst="rect">
            <a:avLst/>
          </a:prstGeom>
        </p:spPr>
        <p:txBody>
          <a:bodyPr wrap="none">
            <a:spAutoFit/>
          </a:bodyPr>
          <a:lstStyle/>
          <a:p>
            <a:r>
              <a:rPr lang="en-US" i="1" dirty="0">
                <a:solidFill>
                  <a:srgbClr val="142640"/>
                </a:solidFill>
                <a:latin typeface="-apple-system"/>
              </a:rPr>
              <a:t>Figure 4. Refactor No. 3 for graph</a:t>
            </a:r>
            <a:endParaRPr lang="en-US" dirty="0"/>
          </a:p>
        </p:txBody>
      </p:sp>
    </p:spTree>
    <p:extLst>
      <p:ext uri="{BB962C8B-B14F-4D97-AF65-F5344CB8AC3E}">
        <p14:creationId xmlns:p14="http://schemas.microsoft.com/office/powerpoint/2010/main" val="179962343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Refactoring data structures</a:t>
            </a:r>
            <a:endParaRPr lang="en-US" dirty="0"/>
          </a:p>
        </p:txBody>
      </p:sp>
      <p:sp>
        <p:nvSpPr>
          <p:cNvPr id="3" name="Content Placeholder 2"/>
          <p:cNvSpPr>
            <a:spLocks noGrp="1"/>
          </p:cNvSpPr>
          <p:nvPr>
            <p:ph idx="1"/>
          </p:nvPr>
        </p:nvSpPr>
        <p:spPr/>
        <p:txBody>
          <a:bodyPr/>
          <a:lstStyle/>
          <a:p>
            <a:pPr algn="just"/>
            <a:r>
              <a:rPr lang="en-US" dirty="0"/>
              <a:t>Data structures are the building blocks of any software program, as they define how data is stored and manipulated in memory. Data structures can be simple, such as arrays, lists, stacks, or queues, or complex, such as trees, graphs, hash tables, or heaps. Data structures have different properties and operations, such as size, capacity, access time, insertion, deletion, sorting, searching, or traversal. Choosing the right data structure for your problem and data set is crucial for the efficiency and quality of your code.</a:t>
            </a:r>
          </a:p>
        </p:txBody>
      </p:sp>
    </p:spTree>
    <p:extLst>
      <p:ext uri="{BB962C8B-B14F-4D97-AF65-F5344CB8AC3E}">
        <p14:creationId xmlns:p14="http://schemas.microsoft.com/office/powerpoint/2010/main" val="28072949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refactor data structures?</a:t>
            </a:r>
            <a:endParaRPr lang="en-US" dirty="0"/>
          </a:p>
        </p:txBody>
      </p:sp>
      <p:sp>
        <p:nvSpPr>
          <p:cNvPr id="3" name="Content Placeholder 2"/>
          <p:cNvSpPr>
            <a:spLocks noGrp="1"/>
          </p:cNvSpPr>
          <p:nvPr>
            <p:ph idx="1"/>
          </p:nvPr>
        </p:nvSpPr>
        <p:spPr/>
        <p:txBody>
          <a:bodyPr/>
          <a:lstStyle/>
          <a:p>
            <a:pPr algn="just"/>
            <a:r>
              <a:rPr lang="en-US" dirty="0"/>
              <a:t>Refactoring data structures can help you in many ways, such as simplifying your code and making it easier to read, reducing duplication and redundancy of data and code, optimizing memory and CPU resources, enhancing modularity and reusability, </a:t>
            </a:r>
            <a:r>
              <a:rPr lang="en-US" b="1" dirty="0"/>
              <a:t>adapting to changing requirements</a:t>
            </a:r>
            <a:r>
              <a:rPr lang="en-US" dirty="0"/>
              <a:t> and new features, improving testability and reliability, and avoiding potential errors caused by data inconsistency or corruption.</a:t>
            </a:r>
          </a:p>
        </p:txBody>
      </p:sp>
    </p:spTree>
    <p:extLst>
      <p:ext uri="{BB962C8B-B14F-4D97-AF65-F5344CB8AC3E}">
        <p14:creationId xmlns:p14="http://schemas.microsoft.com/office/powerpoint/2010/main" val="2368516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refactor data structures?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Refactoring data structures is not a one-size-fits-all process, but rather a context-dependent and iterative one. </a:t>
            </a:r>
            <a:endParaRPr lang="en-US" dirty="0" smtClean="0"/>
          </a:p>
          <a:p>
            <a:pPr algn="just"/>
            <a:r>
              <a:rPr lang="en-US" dirty="0" smtClean="0"/>
              <a:t>To </a:t>
            </a:r>
            <a:r>
              <a:rPr lang="en-US" dirty="0"/>
              <a:t>begin, you must analyze your code and identify the data structures that need refactoring. </a:t>
            </a:r>
            <a:endParaRPr lang="en-US" dirty="0" smtClean="0"/>
          </a:p>
          <a:p>
            <a:pPr algn="just"/>
            <a:r>
              <a:rPr lang="en-US" dirty="0" smtClean="0"/>
              <a:t>The </a:t>
            </a:r>
            <a:r>
              <a:rPr lang="en-US" dirty="0"/>
              <a:t>common steps and methods for refactoring data structures include reviewing your code and data flow to determine the purpose and scope of each data structure, evaluating performance and suitability to identify any issues or bottlenecks, choosing a new or alternative data structure that better fits your needs and goals, implementing the new structure in your code and updating any references or dependencies, testing your code to verify that functionality and behavior remain unchanged after refactoring, and repeating the process until you are satisfied with the results.</a:t>
            </a:r>
          </a:p>
        </p:txBody>
      </p:sp>
    </p:spTree>
    <p:extLst>
      <p:ext uri="{BB962C8B-B14F-4D97-AF65-F5344CB8AC3E}">
        <p14:creationId xmlns:p14="http://schemas.microsoft.com/office/powerpoint/2010/main" val="202109051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are some examples of refactoring data structures?</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t>When refactoring data structures, the type, complexity, and context of your code should be taken into consideration. </a:t>
            </a:r>
            <a:endParaRPr lang="en-US" dirty="0" smtClean="0"/>
          </a:p>
          <a:p>
            <a:pPr algn="just"/>
            <a:r>
              <a:rPr lang="en-US" dirty="0" smtClean="0"/>
              <a:t>For </a:t>
            </a:r>
            <a:r>
              <a:rPr lang="en-US" dirty="0"/>
              <a:t>instance, if you need to add or remove elements frequently, you might replace an array with a list. Alternatively, if you need to access elements by a key or a value, you might replace a list with a hash table. </a:t>
            </a:r>
            <a:endParaRPr lang="en-US" dirty="0" smtClean="0"/>
          </a:p>
          <a:p>
            <a:pPr algn="just"/>
            <a:r>
              <a:rPr lang="en-US" dirty="0" smtClean="0"/>
              <a:t>Moreover</a:t>
            </a:r>
            <a:r>
              <a:rPr lang="en-US" dirty="0"/>
              <a:t>, if you need to represent complex relationships between data nodes or perform advanced algorithms or traversals, you could replace a tree with a graph. </a:t>
            </a:r>
            <a:endParaRPr lang="en-US" dirty="0" smtClean="0"/>
          </a:p>
          <a:p>
            <a:pPr algn="just"/>
            <a:r>
              <a:rPr lang="en-US" dirty="0" smtClean="0"/>
              <a:t>Finally</a:t>
            </a:r>
            <a:r>
              <a:rPr lang="en-US" dirty="0"/>
              <a:t>, if you want to leverage existing functionality and performance of the library or avoid reinventing the wheel, you could replace a custom data structure with a standard library one.</a:t>
            </a:r>
          </a:p>
        </p:txBody>
      </p:sp>
    </p:spTree>
    <p:extLst>
      <p:ext uri="{BB962C8B-B14F-4D97-AF65-F5344CB8AC3E}">
        <p14:creationId xmlns:p14="http://schemas.microsoft.com/office/powerpoint/2010/main" val="10127005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are the benefits and challenges of refactoring data structures?</a:t>
            </a:r>
            <a:endParaRPr lang="en-US" dirty="0"/>
          </a:p>
        </p:txBody>
      </p:sp>
      <p:sp>
        <p:nvSpPr>
          <p:cNvPr id="3" name="Content Placeholder 2"/>
          <p:cNvSpPr>
            <a:spLocks noGrp="1"/>
          </p:cNvSpPr>
          <p:nvPr>
            <p:ph idx="1"/>
          </p:nvPr>
        </p:nvSpPr>
        <p:spPr/>
        <p:txBody>
          <a:bodyPr>
            <a:normAutofit lnSpcReduction="10000"/>
          </a:bodyPr>
          <a:lstStyle/>
          <a:p>
            <a:pPr algn="just"/>
            <a:r>
              <a:rPr lang="en-US" dirty="0"/>
              <a:t>Refactoring data structures can bring many benefits to your software engineering skills and code quality, such as improving your problem-solving and analytical skills, design and coding skills, performance and scalability skills, as well as testing and debugging skills. </a:t>
            </a:r>
            <a:endParaRPr lang="en-US" dirty="0" smtClean="0"/>
          </a:p>
          <a:p>
            <a:pPr algn="just"/>
            <a:r>
              <a:rPr lang="en-US" dirty="0" smtClean="0"/>
              <a:t>However</a:t>
            </a:r>
            <a:r>
              <a:rPr lang="en-US" dirty="0"/>
              <a:t>, refactoring data structures can also pose some challenges, such as introducing new errors or bugs, breaking existing functionality or behavior, increasing complexity or the learning curve, or taking too much time or effort. </a:t>
            </a:r>
            <a:endParaRPr lang="en-US" dirty="0" smtClean="0"/>
          </a:p>
          <a:p>
            <a:pPr algn="just"/>
            <a:r>
              <a:rPr lang="en-US" dirty="0" smtClean="0"/>
              <a:t>Therefore</a:t>
            </a:r>
            <a:r>
              <a:rPr lang="en-US" dirty="0"/>
              <a:t>, you need to be careful and systematic when refactoring data structures, and use the appropriate tools and techniques to facilitate and automate the process.</a:t>
            </a:r>
          </a:p>
        </p:txBody>
      </p:sp>
    </p:spTree>
    <p:extLst>
      <p:ext uri="{BB962C8B-B14F-4D97-AF65-F5344CB8AC3E}">
        <p14:creationId xmlns:p14="http://schemas.microsoft.com/office/powerpoint/2010/main" val="40109284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3174</TotalTime>
  <Words>9904</Words>
  <Application>Microsoft Office PowerPoint</Application>
  <PresentationFormat>Widescreen</PresentationFormat>
  <Paragraphs>1094</Paragraphs>
  <Slides>107</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107</vt:i4>
      </vt:variant>
    </vt:vector>
  </HeadingPairs>
  <TitlesOfParts>
    <vt:vector size="115" baseType="lpstr">
      <vt:lpstr>Arial Unicode MS</vt:lpstr>
      <vt:lpstr>-apple-system</vt:lpstr>
      <vt:lpstr>Arial</vt:lpstr>
      <vt:lpstr>Calibri</vt:lpstr>
      <vt:lpstr>Calibri Light</vt:lpstr>
      <vt:lpstr>Google Sans Text</vt:lpstr>
      <vt:lpstr>inherit</vt:lpstr>
      <vt:lpstr>Office Theme</vt:lpstr>
      <vt:lpstr>Re-Engineering process flow</vt:lpstr>
      <vt:lpstr>Software Restructuring - Definition</vt:lpstr>
      <vt:lpstr>Why Software Restructuring Is Needed</vt:lpstr>
      <vt:lpstr>Software Restructuring vs Software Refactoring (Short Summary)</vt:lpstr>
      <vt:lpstr>Types of Software Restructuring</vt:lpstr>
      <vt:lpstr>Examples</vt:lpstr>
      <vt:lpstr>2. Data Restructuring</vt:lpstr>
      <vt:lpstr>3. Architectural Restructuring</vt:lpstr>
      <vt:lpstr>PowerPoint Presentation</vt:lpstr>
      <vt:lpstr>Phase 2: Architectural Restructuring (Migration to Microservices) </vt:lpstr>
      <vt:lpstr>How the Restructuring Works (The Strangler Pattern):</vt:lpstr>
      <vt:lpstr>4. Interface Restructuring</vt:lpstr>
      <vt:lpstr>5. Documentation Restructuring</vt:lpstr>
      <vt:lpstr>Software Restructuring Process (Step-by-Step)</vt:lpstr>
      <vt:lpstr>PowerPoint Presentation</vt:lpstr>
      <vt:lpstr>PowerPoint Presentation</vt:lpstr>
      <vt:lpstr>Techniques Used in Software Restructuring</vt:lpstr>
      <vt:lpstr>PowerPoint Presentation</vt:lpstr>
      <vt:lpstr>PowerPoint Presentation</vt:lpstr>
      <vt:lpstr>Tools for Software Restructuring</vt:lpstr>
      <vt:lpstr>Refactoring </vt:lpstr>
      <vt:lpstr>What is Refactoring Legacy Code?</vt:lpstr>
      <vt:lpstr> </vt:lpstr>
      <vt:lpstr>PowerPoint Presentation</vt:lpstr>
      <vt:lpstr>Code refactoring</vt:lpstr>
      <vt:lpstr>PowerPoint Presentation</vt:lpstr>
      <vt:lpstr>PowerPoint Presentation</vt:lpstr>
      <vt:lpstr>When Should We Refactor a Source Code? </vt:lpstr>
      <vt:lpstr>PowerPoint Presentation</vt:lpstr>
      <vt:lpstr>Code smells</vt:lpstr>
      <vt:lpstr>More Code Smells</vt:lpstr>
      <vt:lpstr>Code Smells</vt:lpstr>
      <vt:lpstr>PowerPoint Presentation</vt:lpstr>
      <vt:lpstr>PowerPoint Presentation</vt:lpstr>
      <vt:lpstr>PowerPoint Presentation</vt:lpstr>
      <vt:lpstr>PowerPoint Presentation</vt:lpstr>
      <vt:lpstr>Example of an incorrect hierarchy: </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Extract a class</vt:lpstr>
      <vt:lpstr>PowerPoint Presentation</vt:lpstr>
      <vt:lpstr>PowerPoint Presentation</vt:lpstr>
      <vt:lpstr>PowerPoint Presentation</vt:lpstr>
      <vt:lpstr>PowerPoint Presentation</vt:lpstr>
      <vt:lpstr>PowerPoint Presentation</vt:lpstr>
      <vt:lpstr>PowerPoint Presentation</vt:lpstr>
      <vt:lpstr>Refactorings - Composing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Refactorings - Moving Features Between Objects</vt:lpstr>
      <vt:lpstr>Move Method Example</vt:lpstr>
      <vt:lpstr>2. After: Move Method</vt:lpstr>
      <vt:lpstr>PowerPoint Presentation</vt:lpstr>
      <vt:lpstr>PowerPoint Presentation</vt:lpstr>
      <vt:lpstr>Inline Class 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Introduce Foreign Method Example</vt:lpstr>
      <vt:lpstr>PowerPoint Presentation</vt:lpstr>
      <vt:lpstr>Refactorings - Conditional Expressions &amp; Data</vt:lpstr>
      <vt:lpstr>PowerPoint Presentation</vt:lpstr>
      <vt:lpstr>PowerPoint Presentation</vt:lpstr>
      <vt:lpstr>PowerPoint Presentation</vt:lpstr>
      <vt:lpstr>PowerPoint Presentation</vt:lpstr>
      <vt:lpstr>Consolidate Conditional Expression Example</vt:lpstr>
      <vt:lpstr>PowerPoint Presentation</vt:lpstr>
      <vt:lpstr>PowerPoint Presentation</vt:lpstr>
      <vt:lpstr>Refactorings - Simplifying Method Calls and Generalization</vt:lpstr>
      <vt:lpstr>Data refactoring</vt:lpstr>
      <vt:lpstr>PowerPoint Presentation</vt:lpstr>
      <vt:lpstr>Data Refactoring for Databases</vt:lpstr>
      <vt:lpstr> </vt:lpstr>
      <vt:lpstr>PowerPoint Presentation</vt:lpstr>
      <vt:lpstr>Refactoring 1: Adding a New Column</vt:lpstr>
      <vt:lpstr> </vt:lpstr>
      <vt:lpstr>PowerPoint Presentation</vt:lpstr>
      <vt:lpstr>Refactoring 2: Adding a New Table and Relationship</vt:lpstr>
      <vt:lpstr> </vt:lpstr>
      <vt:lpstr>PowerPoint Presentation</vt:lpstr>
      <vt:lpstr>PowerPoint Presentation</vt:lpstr>
      <vt:lpstr>Refactoring 3: Adding Data to Existing Tables</vt:lpstr>
      <vt:lpstr>PowerPoint Presentation</vt:lpstr>
      <vt:lpstr>PowerPoint Presentation</vt:lpstr>
      <vt:lpstr>PowerPoint Presentation</vt:lpstr>
      <vt:lpstr>PowerPoint Presentation</vt:lpstr>
      <vt:lpstr>Refactoring data structures</vt:lpstr>
      <vt:lpstr>Why refactor data structures?</vt:lpstr>
      <vt:lpstr>How to refactor data structures?</vt:lpstr>
      <vt:lpstr>What are some examples of refactoring data structures?</vt:lpstr>
      <vt:lpstr>What are the benefits and challenges of refactoring data structures?</vt:lpstr>
    </vt:vector>
  </TitlesOfParts>
  <Company>HP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Restructuring - Definition</dc:title>
  <dc:creator>Rafia Naz</dc:creator>
  <cp:lastModifiedBy>Rafia Naz</cp:lastModifiedBy>
  <cp:revision>39</cp:revision>
  <dcterms:created xsi:type="dcterms:W3CDTF">2025-10-21T07:52:27Z</dcterms:created>
  <dcterms:modified xsi:type="dcterms:W3CDTF">2025-12-15T19:24:32Z</dcterms:modified>
</cp:coreProperties>
</file>