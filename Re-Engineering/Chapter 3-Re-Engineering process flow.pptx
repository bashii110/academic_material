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97"/>
  </p:notesMasterIdLst>
  <p:sldIdLst>
    <p:sldId id="256" r:id="rId2"/>
    <p:sldId id="258" r:id="rId3"/>
    <p:sldId id="259" r:id="rId4"/>
    <p:sldId id="260" r:id="rId5"/>
    <p:sldId id="261" r:id="rId6"/>
    <p:sldId id="373" r:id="rId7"/>
    <p:sldId id="374" r:id="rId8"/>
    <p:sldId id="375" r:id="rId9"/>
    <p:sldId id="376" r:id="rId10"/>
    <p:sldId id="377" r:id="rId11"/>
    <p:sldId id="378" r:id="rId12"/>
    <p:sldId id="380" r:id="rId13"/>
    <p:sldId id="381" r:id="rId14"/>
    <p:sldId id="382" r:id="rId15"/>
    <p:sldId id="413" r:id="rId16"/>
    <p:sldId id="424" r:id="rId17"/>
    <p:sldId id="414" r:id="rId18"/>
    <p:sldId id="415" r:id="rId19"/>
    <p:sldId id="416" r:id="rId20"/>
    <p:sldId id="417" r:id="rId21"/>
    <p:sldId id="418" r:id="rId22"/>
    <p:sldId id="419" r:id="rId23"/>
    <p:sldId id="420" r:id="rId24"/>
    <p:sldId id="421" r:id="rId25"/>
    <p:sldId id="422" r:id="rId26"/>
    <p:sldId id="423" r:id="rId27"/>
    <p:sldId id="383" r:id="rId28"/>
    <p:sldId id="384" r:id="rId29"/>
    <p:sldId id="385" r:id="rId30"/>
    <p:sldId id="263" r:id="rId31"/>
    <p:sldId id="386" r:id="rId32"/>
    <p:sldId id="387" r:id="rId33"/>
    <p:sldId id="388" r:id="rId34"/>
    <p:sldId id="389" r:id="rId35"/>
    <p:sldId id="390" r:id="rId36"/>
    <p:sldId id="391" r:id="rId37"/>
    <p:sldId id="392" r:id="rId38"/>
    <p:sldId id="393" r:id="rId39"/>
    <p:sldId id="394" r:id="rId40"/>
    <p:sldId id="395" r:id="rId41"/>
    <p:sldId id="396" r:id="rId42"/>
    <p:sldId id="398" r:id="rId43"/>
    <p:sldId id="399" r:id="rId44"/>
    <p:sldId id="400" r:id="rId45"/>
    <p:sldId id="401" r:id="rId46"/>
    <p:sldId id="402" r:id="rId47"/>
    <p:sldId id="403" r:id="rId48"/>
    <p:sldId id="404" r:id="rId49"/>
    <p:sldId id="405" r:id="rId50"/>
    <p:sldId id="406" r:id="rId51"/>
    <p:sldId id="407" r:id="rId52"/>
    <p:sldId id="408" r:id="rId53"/>
    <p:sldId id="409" r:id="rId54"/>
    <p:sldId id="410" r:id="rId55"/>
    <p:sldId id="411" r:id="rId56"/>
    <p:sldId id="412" r:id="rId57"/>
    <p:sldId id="264" r:id="rId58"/>
    <p:sldId id="265" r:id="rId59"/>
    <p:sldId id="446" r:id="rId60"/>
    <p:sldId id="266" r:id="rId61"/>
    <p:sldId id="296" r:id="rId62"/>
    <p:sldId id="297" r:id="rId63"/>
    <p:sldId id="425" r:id="rId64"/>
    <p:sldId id="298" r:id="rId65"/>
    <p:sldId id="299" r:id="rId66"/>
    <p:sldId id="301" r:id="rId67"/>
    <p:sldId id="267" r:id="rId68"/>
    <p:sldId id="429" r:id="rId69"/>
    <p:sldId id="430" r:id="rId70"/>
    <p:sldId id="431" r:id="rId71"/>
    <p:sldId id="432" r:id="rId72"/>
    <p:sldId id="433" r:id="rId73"/>
    <p:sldId id="434" r:id="rId74"/>
    <p:sldId id="435" r:id="rId75"/>
    <p:sldId id="436" r:id="rId76"/>
    <p:sldId id="437" r:id="rId77"/>
    <p:sldId id="438" r:id="rId78"/>
    <p:sldId id="439" r:id="rId79"/>
    <p:sldId id="440" r:id="rId80"/>
    <p:sldId id="441" r:id="rId81"/>
    <p:sldId id="442" r:id="rId82"/>
    <p:sldId id="443" r:id="rId83"/>
    <p:sldId id="444" r:id="rId84"/>
    <p:sldId id="445" r:id="rId85"/>
    <p:sldId id="426" r:id="rId86"/>
    <p:sldId id="428" r:id="rId87"/>
    <p:sldId id="447" r:id="rId88"/>
    <p:sldId id="448" r:id="rId89"/>
    <p:sldId id="449" r:id="rId90"/>
    <p:sldId id="450" r:id="rId91"/>
    <p:sldId id="451" r:id="rId92"/>
    <p:sldId id="452" r:id="rId93"/>
    <p:sldId id="453" r:id="rId94"/>
    <p:sldId id="308" r:id="rId95"/>
    <p:sldId id="309" r:id="rId9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70" d="100"/>
          <a:sy n="70" d="100"/>
        </p:scale>
        <p:origin x="-1386" y="-9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slide" Target="slides/slide75.xml"/><Relationship Id="rId84" Type="http://schemas.openxmlformats.org/officeDocument/2006/relationships/slide" Target="slides/slide83.xml"/><Relationship Id="rId89" Type="http://schemas.openxmlformats.org/officeDocument/2006/relationships/slide" Target="slides/slide88.xml"/><Relationship Id="rId97" Type="http://schemas.openxmlformats.org/officeDocument/2006/relationships/notesMaster" Target="notesMasters/notesMaster1.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slide" Target="slides/slide78.xml"/><Relationship Id="rId87" Type="http://schemas.openxmlformats.org/officeDocument/2006/relationships/slide" Target="slides/slide86.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slide" Target="slides/slide81.xml"/><Relationship Id="rId90" Type="http://schemas.openxmlformats.org/officeDocument/2006/relationships/slide" Target="slides/slide89.xml"/><Relationship Id="rId95" Type="http://schemas.openxmlformats.org/officeDocument/2006/relationships/slide" Target="slides/slide9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100"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slide" Target="slides/slide92.xml"/><Relationship Id="rId98"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viewProps" Target="viewProps.xml"/><Relationship Id="rId10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7A17AAF-657B-423E-A701-37741E4FFC24}" type="datetimeFigureOut">
              <a:rPr lang="en-US" smtClean="0"/>
              <a:t>2/19/2026</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D583901-F25C-456B-9CA1-ABA5C289FF88}" type="slidenum">
              <a:rPr lang="en-US" smtClean="0"/>
              <a:t>‹#›</a:t>
            </a:fld>
            <a:endParaRPr lang="en-US"/>
          </a:p>
        </p:txBody>
      </p:sp>
    </p:spTree>
    <p:extLst>
      <p:ext uri="{BB962C8B-B14F-4D97-AF65-F5344CB8AC3E}">
        <p14:creationId xmlns:p14="http://schemas.microsoft.com/office/powerpoint/2010/main" val="8482318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3" Type="http://schemas.openxmlformats.org/officeDocument/2006/relationships/hyperlink" Target="https://www.google.com/search?q=CAST+Application+Intelligence+Platform&amp;oq=CAST+AIP+stands+for&amp;gs_lcrp=EgZjaHJvbWUyBggAEEUYOTIHCAEQIRigAdIBCTEyODQxajBqN6gCALACAA&amp;sourceid=chrome&amp;ie=UTF-8&amp;mstk=AUtExfCq2shLTOslgflsMxm8q3VlAWd5B1COaXawTCXN6iFGZZXNTk8wWG5H1oFSAPAZ7od12Av6NUyP0CD1Gm_6Tf1kcnthCm9hhsvfhANThMJp6J0UEirln96UkaG_sPd3NH8C79OX1DJjnzkS1PUZFU1u12EThbIMGk_Poy4jSWkw7rc&amp;csui=3&amp;ved=2ahUKEwiv88rln7KQAxUIOBAIHe7vMucQgK4QegQIARAC" TargetMode="External"/><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Profilers</a:t>
            </a:r>
            <a:r>
              <a:rPr lang="en-US" dirty="0" smtClean="0"/>
              <a:t> are tools used to </a:t>
            </a:r>
            <a:r>
              <a:rPr lang="en-US" b="1" dirty="0" smtClean="0"/>
              <a:t>analyze the runtime behavior</a:t>
            </a:r>
            <a:r>
              <a:rPr lang="en-US" dirty="0" smtClean="0"/>
              <a:t> of a program.</a:t>
            </a:r>
            <a:br>
              <a:rPr lang="en-US" dirty="0" smtClean="0"/>
            </a:br>
            <a:r>
              <a:rPr lang="en-US" dirty="0" smtClean="0"/>
              <a:t>They help identify </a:t>
            </a:r>
            <a:r>
              <a:rPr lang="en-US" b="1" dirty="0" smtClean="0"/>
              <a:t>bottlenecks</a:t>
            </a:r>
            <a:r>
              <a:rPr lang="en-US" dirty="0" smtClean="0"/>
              <a:t>, </a:t>
            </a:r>
            <a:r>
              <a:rPr lang="en-US" b="1" dirty="0" smtClean="0"/>
              <a:t>inefficient code paths</a:t>
            </a:r>
            <a:r>
              <a:rPr lang="en-US" dirty="0" smtClean="0"/>
              <a:t>, </a:t>
            </a:r>
            <a:r>
              <a:rPr lang="en-US" b="1" dirty="0" smtClean="0"/>
              <a:t>CPU or memory usage issues</a:t>
            </a:r>
            <a:r>
              <a:rPr lang="en-US" dirty="0" smtClean="0"/>
              <a:t>, and </a:t>
            </a:r>
            <a:r>
              <a:rPr lang="en-US" b="1" dirty="0" smtClean="0"/>
              <a:t>performance hot spots</a:t>
            </a:r>
            <a:r>
              <a:rPr lang="en-US" dirty="0" smtClean="0"/>
              <a:t> — all critical during migration or modernization. Profilers tell you </a:t>
            </a:r>
            <a:r>
              <a:rPr lang="en-US" b="1" dirty="0" smtClean="0"/>
              <a:t>where your program spends its time</a:t>
            </a:r>
            <a:r>
              <a:rPr lang="en-US" dirty="0" smtClean="0"/>
              <a:t> and </a:t>
            </a:r>
            <a:r>
              <a:rPr lang="en-US" b="1" dirty="0" smtClean="0"/>
              <a:t>how it uses system resources</a:t>
            </a:r>
            <a:r>
              <a:rPr lang="en-US" dirty="0" smtClean="0"/>
              <a:t>.</a:t>
            </a:r>
            <a:endParaRPr lang="en-US" dirty="0"/>
          </a:p>
        </p:txBody>
      </p:sp>
      <p:sp>
        <p:nvSpPr>
          <p:cNvPr id="4" name="Slide Number Placeholder 3"/>
          <p:cNvSpPr>
            <a:spLocks noGrp="1"/>
          </p:cNvSpPr>
          <p:nvPr>
            <p:ph type="sldNum" sz="quarter" idx="10"/>
          </p:nvPr>
        </p:nvSpPr>
        <p:spPr/>
        <p:txBody>
          <a:bodyPr/>
          <a:lstStyle/>
          <a:p>
            <a:fld id="{6D583901-F25C-456B-9CA1-ABA5C289FF88}" type="slidenum">
              <a:rPr lang="en-US" smtClean="0"/>
              <a:t>10</a:t>
            </a:fld>
            <a:endParaRPr lang="en-US"/>
          </a:p>
        </p:txBody>
      </p:sp>
    </p:spTree>
    <p:extLst>
      <p:ext uri="{BB962C8B-B14F-4D97-AF65-F5344CB8AC3E}">
        <p14:creationId xmlns:p14="http://schemas.microsoft.com/office/powerpoint/2010/main" val="118733667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VSAM (Virtual Storage Access Method)</a:t>
            </a:r>
            <a:r>
              <a:rPr lang="en-US" dirty="0" smtClean="0"/>
              <a:t/>
            </a:r>
            <a:br>
              <a:rPr lang="en-US" dirty="0" smtClean="0"/>
            </a:br>
            <a:r>
              <a:rPr lang="en-US" dirty="0" smtClean="0"/>
              <a:t>is an </a:t>
            </a:r>
            <a:r>
              <a:rPr lang="en-US" b="1" dirty="0" smtClean="0"/>
              <a:t>IBM file storage system</a:t>
            </a:r>
            <a:r>
              <a:rPr lang="en-US" dirty="0" smtClean="0"/>
              <a:t> used on </a:t>
            </a:r>
            <a:r>
              <a:rPr lang="en-US" b="1" dirty="0" smtClean="0"/>
              <a:t>mainframe computers</a:t>
            </a:r>
            <a:r>
              <a:rPr lang="en-US" dirty="0" smtClean="0"/>
              <a:t> to manage and access data efficiently.</a:t>
            </a:r>
            <a:endParaRPr lang="en-US" dirty="0"/>
          </a:p>
        </p:txBody>
      </p:sp>
      <p:sp>
        <p:nvSpPr>
          <p:cNvPr id="4" name="Slide Number Placeholder 3"/>
          <p:cNvSpPr>
            <a:spLocks noGrp="1"/>
          </p:cNvSpPr>
          <p:nvPr>
            <p:ph type="sldNum" sz="quarter" idx="10"/>
          </p:nvPr>
        </p:nvSpPr>
        <p:spPr/>
        <p:txBody>
          <a:bodyPr/>
          <a:lstStyle/>
          <a:p>
            <a:fld id="{6D583901-F25C-456B-9CA1-ABA5C289FF88}" type="slidenum">
              <a:rPr lang="en-US" smtClean="0"/>
              <a:t>17</a:t>
            </a:fld>
            <a:endParaRPr lang="en-US"/>
          </a:p>
        </p:txBody>
      </p:sp>
    </p:spTree>
    <p:extLst>
      <p:ext uri="{BB962C8B-B14F-4D97-AF65-F5344CB8AC3E}">
        <p14:creationId xmlns:p14="http://schemas.microsoft.com/office/powerpoint/2010/main" val="84230358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CAST AIP (Application Intelligence Platform)</a:t>
            </a:r>
            <a:r>
              <a:rPr lang="en-US" dirty="0" smtClean="0"/>
              <a:t> is a </a:t>
            </a:r>
            <a:r>
              <a:rPr lang="en-US" b="1" dirty="0" smtClean="0"/>
              <a:t>software analysis and quality assessment tool</a:t>
            </a:r>
            <a:r>
              <a:rPr lang="en-US" dirty="0" smtClean="0"/>
              <a:t> used to measure the </a:t>
            </a:r>
            <a:r>
              <a:rPr lang="en-US" b="1" dirty="0" smtClean="0"/>
              <a:t>health, maintainability, complexity, and risk</a:t>
            </a:r>
            <a:r>
              <a:rPr lang="en-US" dirty="0" smtClean="0"/>
              <a:t> of enterprise applications.</a:t>
            </a:r>
            <a:endParaRPr lang="en-US" dirty="0"/>
          </a:p>
        </p:txBody>
      </p:sp>
      <p:sp>
        <p:nvSpPr>
          <p:cNvPr id="4" name="Slide Number Placeholder 3"/>
          <p:cNvSpPr>
            <a:spLocks noGrp="1"/>
          </p:cNvSpPr>
          <p:nvPr>
            <p:ph type="sldNum" sz="quarter" idx="10"/>
          </p:nvPr>
        </p:nvSpPr>
        <p:spPr/>
        <p:txBody>
          <a:bodyPr/>
          <a:lstStyle/>
          <a:p>
            <a:fld id="{6D583901-F25C-456B-9CA1-ABA5C289FF88}" type="slidenum">
              <a:rPr lang="en-US" smtClean="0"/>
              <a:t>20</a:t>
            </a:fld>
            <a:endParaRPr lang="en-US"/>
          </a:p>
        </p:txBody>
      </p:sp>
    </p:spTree>
    <p:extLst>
      <p:ext uri="{BB962C8B-B14F-4D97-AF65-F5344CB8AC3E}">
        <p14:creationId xmlns:p14="http://schemas.microsoft.com/office/powerpoint/2010/main" val="90803078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REST API (Representational State Transfer API)</a:t>
            </a:r>
          </a:p>
          <a:p>
            <a:r>
              <a:rPr lang="en-US" dirty="0" smtClean="0"/>
              <a:t>A </a:t>
            </a:r>
            <a:r>
              <a:rPr lang="en-US" b="1" dirty="0" smtClean="0"/>
              <a:t>REST API</a:t>
            </a:r>
            <a:r>
              <a:rPr lang="en-US" dirty="0" smtClean="0"/>
              <a:t> is a way for different software systems to communicate with each other </a:t>
            </a:r>
            <a:r>
              <a:rPr lang="en-US" b="1" dirty="0" smtClean="0"/>
              <a:t>over the web</a:t>
            </a:r>
            <a:r>
              <a:rPr lang="en-US" dirty="0" smtClean="0"/>
              <a:t> using </a:t>
            </a:r>
            <a:r>
              <a:rPr lang="en-US" b="1" dirty="0" smtClean="0"/>
              <a:t>HTTP methods</a:t>
            </a:r>
            <a:r>
              <a:rPr lang="en-US" dirty="0" smtClean="0"/>
              <a:t>.</a:t>
            </a:r>
            <a:endParaRPr lang="en-US" dirty="0"/>
          </a:p>
        </p:txBody>
      </p:sp>
      <p:sp>
        <p:nvSpPr>
          <p:cNvPr id="4" name="Slide Number Placeholder 3"/>
          <p:cNvSpPr>
            <a:spLocks noGrp="1"/>
          </p:cNvSpPr>
          <p:nvPr>
            <p:ph type="sldNum" sz="quarter" idx="10"/>
          </p:nvPr>
        </p:nvSpPr>
        <p:spPr/>
        <p:txBody>
          <a:bodyPr/>
          <a:lstStyle/>
          <a:p>
            <a:fld id="{6D583901-F25C-456B-9CA1-ABA5C289FF88}" type="slidenum">
              <a:rPr lang="en-US" smtClean="0"/>
              <a:t>28</a:t>
            </a:fld>
            <a:endParaRPr lang="en-US"/>
          </a:p>
        </p:txBody>
      </p:sp>
    </p:spTree>
    <p:extLst>
      <p:ext uri="{BB962C8B-B14F-4D97-AF65-F5344CB8AC3E}">
        <p14:creationId xmlns:p14="http://schemas.microsoft.com/office/powerpoint/2010/main" val="6235446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CAST AIP stands for </a:t>
            </a:r>
            <a:r>
              <a:rPr lang="en-US" b="1" dirty="0" smtClean="0">
                <a:effectLst/>
                <a:hlinkClick r:id="rId3"/>
              </a:rPr>
              <a:t>CAST Application Intelligence Platform</a:t>
            </a:r>
            <a:r>
              <a:rPr lang="en-US" sz="1200" b="0" i="0" kern="1200" dirty="0" smtClean="0">
                <a:solidFill>
                  <a:schemeClr val="tx1"/>
                </a:solidFill>
                <a:effectLst/>
                <a:latin typeface="+mn-lt"/>
                <a:ea typeface="+mn-ea"/>
                <a:cs typeface="+mn-cs"/>
              </a:rPr>
              <a:t>. It is a software solution used to analyze applications for code quality, security vulnerabilities, and technical debt, providing insights for management and development teams. </a:t>
            </a:r>
            <a:endParaRPr lang="en-US" dirty="0"/>
          </a:p>
        </p:txBody>
      </p:sp>
      <p:sp>
        <p:nvSpPr>
          <p:cNvPr id="4" name="Slide Number Placeholder 3"/>
          <p:cNvSpPr>
            <a:spLocks noGrp="1"/>
          </p:cNvSpPr>
          <p:nvPr>
            <p:ph type="sldNum" sz="quarter" idx="10"/>
          </p:nvPr>
        </p:nvSpPr>
        <p:spPr/>
        <p:txBody>
          <a:bodyPr/>
          <a:lstStyle/>
          <a:p>
            <a:fld id="{6D583901-F25C-456B-9CA1-ABA5C289FF88}" type="slidenum">
              <a:rPr lang="en-US" smtClean="0"/>
              <a:t>54</a:t>
            </a:fld>
            <a:endParaRPr lang="en-US"/>
          </a:p>
        </p:txBody>
      </p:sp>
    </p:spTree>
    <p:extLst>
      <p:ext uri="{BB962C8B-B14F-4D97-AF65-F5344CB8AC3E}">
        <p14:creationId xmlns:p14="http://schemas.microsoft.com/office/powerpoint/2010/main" val="335580772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Vulnerabilities=weaknesses</a:t>
            </a:r>
            <a:endParaRPr lang="en-US" dirty="0"/>
          </a:p>
        </p:txBody>
      </p:sp>
      <p:sp>
        <p:nvSpPr>
          <p:cNvPr id="4" name="Slide Number Placeholder 3"/>
          <p:cNvSpPr>
            <a:spLocks noGrp="1"/>
          </p:cNvSpPr>
          <p:nvPr>
            <p:ph type="sldNum" sz="quarter" idx="10"/>
          </p:nvPr>
        </p:nvSpPr>
        <p:spPr/>
        <p:txBody>
          <a:bodyPr/>
          <a:lstStyle/>
          <a:p>
            <a:fld id="{6D583901-F25C-456B-9CA1-ABA5C289FF88}" type="slidenum">
              <a:rPr lang="en-US" smtClean="0"/>
              <a:t>65</a:t>
            </a:fld>
            <a:endParaRPr lang="en-US"/>
          </a:p>
        </p:txBody>
      </p:sp>
    </p:spTree>
    <p:extLst>
      <p:ext uri="{BB962C8B-B14F-4D97-AF65-F5344CB8AC3E}">
        <p14:creationId xmlns:p14="http://schemas.microsoft.com/office/powerpoint/2010/main" val="306315313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err="1" smtClean="0">
                <a:solidFill>
                  <a:schemeClr val="tx1"/>
                </a:solidFill>
                <a:effectLst/>
                <a:latin typeface="+mn-lt"/>
                <a:ea typeface="+mn-ea"/>
                <a:cs typeface="+mn-cs"/>
              </a:rPr>
              <a:t>Git</a:t>
            </a:r>
            <a:r>
              <a:rPr lang="en-US" sz="1200" b="0" i="0" kern="1200" dirty="0" smtClean="0">
                <a:solidFill>
                  <a:schemeClr val="tx1"/>
                </a:solidFill>
                <a:effectLst/>
                <a:latin typeface="+mn-lt"/>
                <a:ea typeface="+mn-ea"/>
                <a:cs typeface="+mn-cs"/>
              </a:rPr>
              <a:t> is a free and open-source distributed version control system (DVCS) designed to handle projects of all sizes with speed and efficiency. Its primary purpose is to track changes in files and coordinate work among multiple people collaborating on the same project. </a:t>
            </a:r>
          </a:p>
          <a:p>
            <a:r>
              <a:rPr lang="en-US" sz="1200" b="0" i="0" kern="1200" dirty="0" smtClean="0">
                <a:solidFill>
                  <a:schemeClr val="tx1"/>
                </a:solidFill>
                <a:effectLst/>
                <a:latin typeface="+mn-lt"/>
                <a:ea typeface="+mn-ea"/>
                <a:cs typeface="+mn-cs"/>
              </a:rPr>
              <a:t>SVN, or Apache Subversion, is </a:t>
            </a:r>
            <a:r>
              <a:rPr lang="en-US" dirty="0" smtClean="0"/>
              <a:t>a centralized version control system used for tracking changes in files and directories over time, especially in software development.</a:t>
            </a:r>
          </a:p>
          <a:p>
            <a:r>
              <a:rPr lang="en-US" sz="1200" b="0" i="0" kern="1200" dirty="0" smtClean="0">
                <a:solidFill>
                  <a:schemeClr val="tx1"/>
                </a:solidFill>
                <a:effectLst/>
                <a:latin typeface="+mn-lt"/>
                <a:ea typeface="+mn-ea"/>
                <a:cs typeface="+mn-cs"/>
              </a:rPr>
              <a:t>CVS, or Concurrent Versions System, is a centralized version control system used to track changes in files and allow multiple developers to collaborate on a project simultaneously. </a:t>
            </a:r>
            <a:endParaRPr lang="en-US" dirty="0"/>
          </a:p>
        </p:txBody>
      </p:sp>
      <p:sp>
        <p:nvSpPr>
          <p:cNvPr id="4" name="Slide Number Placeholder 3"/>
          <p:cNvSpPr>
            <a:spLocks noGrp="1"/>
          </p:cNvSpPr>
          <p:nvPr>
            <p:ph type="sldNum" sz="quarter" idx="10"/>
          </p:nvPr>
        </p:nvSpPr>
        <p:spPr/>
        <p:txBody>
          <a:bodyPr/>
          <a:lstStyle/>
          <a:p>
            <a:fld id="{6D583901-F25C-456B-9CA1-ABA5C289FF88}" type="slidenum">
              <a:rPr lang="en-US" smtClean="0"/>
              <a:t>68</a:t>
            </a:fld>
            <a:endParaRPr lang="en-US"/>
          </a:p>
        </p:txBody>
      </p:sp>
    </p:spTree>
    <p:extLst>
      <p:ext uri="{BB962C8B-B14F-4D97-AF65-F5344CB8AC3E}">
        <p14:creationId xmlns:p14="http://schemas.microsoft.com/office/powerpoint/2010/main" val="196354634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err="1" smtClean="0"/>
              <a:t>Decompilation</a:t>
            </a:r>
            <a:r>
              <a:rPr lang="en-US" dirty="0" smtClean="0"/>
              <a:t> is the </a:t>
            </a:r>
            <a:r>
              <a:rPr lang="en-US" b="1" dirty="0" smtClean="0"/>
              <a:t>process of translating an executable (machine code or </a:t>
            </a:r>
            <a:r>
              <a:rPr lang="en-US" b="1" dirty="0" err="1" smtClean="0"/>
              <a:t>bytecode</a:t>
            </a:r>
            <a:r>
              <a:rPr lang="en-US" b="1" dirty="0" smtClean="0"/>
              <a:t>)</a:t>
            </a:r>
            <a:r>
              <a:rPr lang="en-US" dirty="0" smtClean="0"/>
              <a:t> </a:t>
            </a:r>
            <a:r>
              <a:rPr lang="en-US" b="1" dirty="0" smtClean="0"/>
              <a:t>back into a higher-level programming language</a:t>
            </a:r>
            <a:r>
              <a:rPr lang="en-US" dirty="0" smtClean="0"/>
              <a:t> that is human-</a:t>
            </a:r>
            <a:r>
              <a:rPr lang="en-US" dirty="0" err="1" smtClean="0"/>
              <a:t>readableIt’s</a:t>
            </a:r>
            <a:r>
              <a:rPr lang="en-US" dirty="0" smtClean="0"/>
              <a:t> essentially the </a:t>
            </a:r>
            <a:r>
              <a:rPr lang="en-US" b="1" dirty="0" smtClean="0"/>
              <a:t>reverse of compilation</a:t>
            </a:r>
            <a:r>
              <a:rPr lang="en-US" dirty="0" smtClean="0"/>
              <a:t>. </a:t>
            </a:r>
            <a:endParaRPr lang="en-US" dirty="0"/>
          </a:p>
        </p:txBody>
      </p:sp>
      <p:sp>
        <p:nvSpPr>
          <p:cNvPr id="4" name="Slide Number Placeholder 3"/>
          <p:cNvSpPr>
            <a:spLocks noGrp="1"/>
          </p:cNvSpPr>
          <p:nvPr>
            <p:ph type="sldNum" sz="quarter" idx="10"/>
          </p:nvPr>
        </p:nvSpPr>
        <p:spPr/>
        <p:txBody>
          <a:bodyPr/>
          <a:lstStyle/>
          <a:p>
            <a:fld id="{6D583901-F25C-456B-9CA1-ABA5C289FF88}" type="slidenum">
              <a:rPr lang="en-US" smtClean="0"/>
              <a:t>86</a:t>
            </a:fld>
            <a:endParaRPr lang="en-US"/>
          </a:p>
        </p:txBody>
      </p:sp>
    </p:spTree>
    <p:extLst>
      <p:ext uri="{BB962C8B-B14F-4D97-AF65-F5344CB8AC3E}">
        <p14:creationId xmlns:p14="http://schemas.microsoft.com/office/powerpoint/2010/main" val="187293076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VSAM (Virtual Storage Access Method)</a:t>
            </a:r>
            <a:r>
              <a:rPr lang="en-US" dirty="0" smtClean="0"/>
              <a:t> is a </a:t>
            </a:r>
            <a:r>
              <a:rPr lang="en-US" b="1" dirty="0" smtClean="0"/>
              <a:t>high-performance file storage system</a:t>
            </a:r>
            <a:r>
              <a:rPr lang="en-US" dirty="0" smtClean="0"/>
              <a:t> developed by </a:t>
            </a:r>
            <a:r>
              <a:rPr lang="en-US" b="1" dirty="0" smtClean="0"/>
              <a:t>IBM</a:t>
            </a:r>
            <a:r>
              <a:rPr lang="en-US" dirty="0" smtClean="0"/>
              <a:t> for its </a:t>
            </a:r>
            <a:r>
              <a:rPr lang="en-US" b="1" dirty="0" smtClean="0"/>
              <a:t>mainframe operating systems (z/OS, MVS, VSE)</a:t>
            </a:r>
            <a:r>
              <a:rPr lang="en-US" dirty="0" smtClean="0"/>
              <a:t>.</a:t>
            </a:r>
            <a:br>
              <a:rPr lang="en-US" dirty="0" smtClean="0"/>
            </a:br>
            <a:r>
              <a:rPr lang="en-US" dirty="0" smtClean="0"/>
              <a:t>It is </a:t>
            </a:r>
            <a:r>
              <a:rPr lang="en-US" b="1" dirty="0" smtClean="0"/>
              <a:t>not a database</a:t>
            </a:r>
            <a:r>
              <a:rPr lang="en-US" dirty="0" smtClean="0"/>
              <a:t>, but a </a:t>
            </a:r>
            <a:r>
              <a:rPr lang="en-US" b="1" dirty="0" smtClean="0"/>
              <a:t>file access method</a:t>
            </a:r>
            <a:r>
              <a:rPr lang="en-US" dirty="0" smtClean="0"/>
              <a:t> that organizes and retrieves data efficiently.</a:t>
            </a:r>
            <a:endParaRPr lang="en-US" dirty="0"/>
          </a:p>
        </p:txBody>
      </p:sp>
      <p:sp>
        <p:nvSpPr>
          <p:cNvPr id="4" name="Slide Number Placeholder 3"/>
          <p:cNvSpPr>
            <a:spLocks noGrp="1"/>
          </p:cNvSpPr>
          <p:nvPr>
            <p:ph type="sldNum" sz="quarter" idx="10"/>
          </p:nvPr>
        </p:nvSpPr>
        <p:spPr/>
        <p:txBody>
          <a:bodyPr/>
          <a:lstStyle/>
          <a:p>
            <a:fld id="{6D583901-F25C-456B-9CA1-ABA5C289FF88}" type="slidenum">
              <a:rPr lang="en-US" smtClean="0"/>
              <a:t>87</a:t>
            </a:fld>
            <a:endParaRPr lang="en-US"/>
          </a:p>
        </p:txBody>
      </p:sp>
    </p:spTree>
    <p:extLst>
      <p:ext uri="{BB962C8B-B14F-4D97-AF65-F5344CB8AC3E}">
        <p14:creationId xmlns:p14="http://schemas.microsoft.com/office/powerpoint/2010/main" val="168096422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REST=Representational State Transfer is an </a:t>
            </a:r>
            <a:r>
              <a:rPr lang="en-US" b="1" dirty="0" smtClean="0"/>
              <a:t>architectural style</a:t>
            </a:r>
            <a:r>
              <a:rPr lang="en-US" dirty="0" smtClean="0"/>
              <a:t> for building lightweight, fast, and scalable web services using standard HTTP methods.</a:t>
            </a:r>
          </a:p>
          <a:p>
            <a:r>
              <a:rPr lang="en-US" dirty="0" smtClean="0"/>
              <a:t>SOAP=Simple Object Access Protocol is a </a:t>
            </a:r>
            <a:r>
              <a:rPr lang="en-US" b="1" dirty="0" smtClean="0"/>
              <a:t>protocol-based</a:t>
            </a:r>
            <a:r>
              <a:rPr lang="en-US" dirty="0" smtClean="0"/>
              <a:t> web service communication standard that uses </a:t>
            </a:r>
            <a:r>
              <a:rPr lang="en-US" b="1" dirty="0" smtClean="0"/>
              <a:t>XML</a:t>
            </a:r>
            <a:r>
              <a:rPr lang="en-US" dirty="0" smtClean="0"/>
              <a:t> to structure messages.</a:t>
            </a:r>
            <a:endParaRPr lang="en-US" dirty="0"/>
          </a:p>
        </p:txBody>
      </p:sp>
      <p:sp>
        <p:nvSpPr>
          <p:cNvPr id="4" name="Slide Number Placeholder 3"/>
          <p:cNvSpPr>
            <a:spLocks noGrp="1"/>
          </p:cNvSpPr>
          <p:nvPr>
            <p:ph type="sldNum" sz="quarter" idx="10"/>
          </p:nvPr>
        </p:nvSpPr>
        <p:spPr/>
        <p:txBody>
          <a:bodyPr/>
          <a:lstStyle/>
          <a:p>
            <a:fld id="{6D583901-F25C-456B-9CA1-ABA5C289FF88}" type="slidenum">
              <a:rPr lang="en-US" smtClean="0"/>
              <a:t>92</a:t>
            </a:fld>
            <a:endParaRPr lang="en-US"/>
          </a:p>
        </p:txBody>
      </p:sp>
    </p:spTree>
    <p:extLst>
      <p:ext uri="{BB962C8B-B14F-4D97-AF65-F5344CB8AC3E}">
        <p14:creationId xmlns:p14="http://schemas.microsoft.com/office/powerpoint/2010/main" val="31128913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BPMN (Business Process Model and Notation)</a:t>
            </a:r>
            <a:r>
              <a:rPr lang="en-US" dirty="0" smtClean="0"/>
              <a:t/>
            </a:r>
            <a:br>
              <a:rPr lang="en-US" dirty="0" smtClean="0"/>
            </a:br>
            <a:r>
              <a:rPr lang="en-US" dirty="0" smtClean="0"/>
              <a:t>is a </a:t>
            </a:r>
            <a:r>
              <a:rPr lang="en-US" b="1" dirty="0" smtClean="0"/>
              <a:t>graphical standard for modeling business processes</a:t>
            </a:r>
            <a:r>
              <a:rPr lang="en-US" dirty="0" smtClean="0"/>
              <a:t>.</a:t>
            </a:r>
            <a:endParaRPr lang="en-US" dirty="0"/>
          </a:p>
        </p:txBody>
      </p:sp>
      <p:sp>
        <p:nvSpPr>
          <p:cNvPr id="4" name="Slide Number Placeholder 3"/>
          <p:cNvSpPr>
            <a:spLocks noGrp="1"/>
          </p:cNvSpPr>
          <p:nvPr>
            <p:ph type="sldNum" sz="quarter" idx="10"/>
          </p:nvPr>
        </p:nvSpPr>
        <p:spPr/>
        <p:txBody>
          <a:bodyPr/>
          <a:lstStyle/>
          <a:p>
            <a:fld id="{6D583901-F25C-456B-9CA1-ABA5C289FF88}" type="slidenum">
              <a:rPr lang="en-US" smtClean="0"/>
              <a:t>93</a:t>
            </a:fld>
            <a:endParaRPr lang="en-US"/>
          </a:p>
        </p:txBody>
      </p:sp>
    </p:spTree>
    <p:extLst>
      <p:ext uri="{BB962C8B-B14F-4D97-AF65-F5344CB8AC3E}">
        <p14:creationId xmlns:p14="http://schemas.microsoft.com/office/powerpoint/2010/main" val="57688796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2/19/2026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2/19/2026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2/19/2026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2/19/2026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2/19/2026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2/19/2026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2/19/2026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2/19/2026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2/19/2026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2/19/2026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2/19/2026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2/19/2026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Chapter 3</a:t>
            </a:r>
            <a:r>
              <a:rPr dirty="0" smtClean="0"/>
              <a:t>: </a:t>
            </a:r>
            <a:r>
              <a:rPr dirty="0"/>
              <a:t>Re-Engineering Process Activities</a:t>
            </a:r>
          </a:p>
        </p:txBody>
      </p:sp>
      <p:sp>
        <p:nvSpPr>
          <p:cNvPr id="3" name="Subtitle 2"/>
          <p:cNvSpPr>
            <a:spLocks noGrp="1"/>
          </p:cNvSpPr>
          <p:nvPr>
            <p:ph type="subTitle" idx="1"/>
          </p:nvPr>
        </p:nvSpPr>
        <p:spPr/>
        <p:txBody>
          <a:bodyPr/>
          <a:lstStyle/>
          <a:p>
            <a:r>
              <a:t>Software Re-engineering - Undergraduate Course</a:t>
            </a: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Why Process Activities Matter</a:t>
            </a:r>
          </a:p>
        </p:txBody>
      </p:sp>
      <p:sp>
        <p:nvSpPr>
          <p:cNvPr id="3" name="Content Placeholder 2"/>
          <p:cNvSpPr>
            <a:spLocks noGrp="1"/>
          </p:cNvSpPr>
          <p:nvPr>
            <p:ph idx="1"/>
          </p:nvPr>
        </p:nvSpPr>
        <p:spPr/>
        <p:txBody>
          <a:bodyPr/>
          <a:lstStyle/>
          <a:p>
            <a:endParaRPr/>
          </a:p>
          <a:p>
            <a:r>
              <a:t>Provide structure to re-engineering projects</a:t>
            </a:r>
          </a:p>
          <a:p>
            <a:r>
              <a:t>Ensure systematic recovery and improvement</a:t>
            </a:r>
          </a:p>
          <a:p>
            <a:r>
              <a:t>Reduce risks and costs</a:t>
            </a: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Major Activities</a:t>
            </a:r>
          </a:p>
        </p:txBody>
      </p:sp>
      <p:sp>
        <p:nvSpPr>
          <p:cNvPr id="3" name="Content Placeholder 2"/>
          <p:cNvSpPr>
            <a:spLocks noGrp="1"/>
          </p:cNvSpPr>
          <p:nvPr>
            <p:ph idx="1"/>
          </p:nvPr>
        </p:nvSpPr>
        <p:spPr/>
        <p:txBody>
          <a:bodyPr/>
          <a:lstStyle/>
          <a:p>
            <a:endParaRPr/>
          </a:p>
          <a:p>
            <a:r>
              <a:t>System Analysis</a:t>
            </a:r>
          </a:p>
          <a:p>
            <a:r>
              <a:t>Reverse Engineering</a:t>
            </a:r>
          </a:p>
          <a:p>
            <a:r>
              <a:t>Restructuring</a:t>
            </a:r>
          </a:p>
          <a:p>
            <a:r>
              <a:t>Forward Engineering</a:t>
            </a: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Re-engineering Activities Workflow</a:t>
            </a:r>
          </a:p>
        </p:txBody>
      </p:sp>
      <p:sp>
        <p:nvSpPr>
          <p:cNvPr id="3" name="Rectangle 2"/>
          <p:cNvSpPr/>
          <p:nvPr/>
        </p:nvSpPr>
        <p:spPr>
          <a:xfrm>
            <a:off x="457200" y="1828800"/>
            <a:ext cx="2286000" cy="91440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r>
              <a:t>Analysis</a:t>
            </a:r>
          </a:p>
        </p:txBody>
      </p:sp>
      <p:cxnSp>
        <p:nvCxnSpPr>
          <p:cNvPr id="4" name="Connector 3"/>
          <p:cNvCxnSpPr/>
          <p:nvPr/>
        </p:nvCxnSpPr>
        <p:spPr>
          <a:xfrm>
            <a:off x="2743200" y="2286000"/>
            <a:ext cx="457200" cy="0"/>
          </a:xfrm>
          <a:prstGeom prst="line">
            <a:avLst/>
          </a:prstGeom>
        </p:spPr>
        <p:style>
          <a:lnRef idx="2">
            <a:schemeClr val="accent1"/>
          </a:lnRef>
          <a:fillRef idx="0">
            <a:schemeClr val="accent1"/>
          </a:fillRef>
          <a:effectRef idx="1">
            <a:schemeClr val="accent1"/>
          </a:effectRef>
          <a:fontRef idx="minor">
            <a:schemeClr val="tx1"/>
          </a:fontRef>
        </p:style>
      </p:cxnSp>
      <p:sp>
        <p:nvSpPr>
          <p:cNvPr id="5" name="Rectangle 4"/>
          <p:cNvSpPr/>
          <p:nvPr/>
        </p:nvSpPr>
        <p:spPr>
          <a:xfrm>
            <a:off x="3200400" y="1828800"/>
            <a:ext cx="2286000" cy="91440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r>
              <a:t>Reverse Engineering</a:t>
            </a:r>
          </a:p>
        </p:txBody>
      </p:sp>
      <p:cxnSp>
        <p:nvCxnSpPr>
          <p:cNvPr id="6" name="Connector 5"/>
          <p:cNvCxnSpPr/>
          <p:nvPr/>
        </p:nvCxnSpPr>
        <p:spPr>
          <a:xfrm>
            <a:off x="5486400" y="2286000"/>
            <a:ext cx="457200" cy="0"/>
          </a:xfrm>
          <a:prstGeom prst="line">
            <a:avLst/>
          </a:prstGeom>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5943600" y="1828800"/>
            <a:ext cx="2286000" cy="91440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r>
              <a:t>Restructuring</a:t>
            </a:r>
          </a:p>
        </p:txBody>
      </p:sp>
      <p:cxnSp>
        <p:nvCxnSpPr>
          <p:cNvPr id="8" name="Connector 7"/>
          <p:cNvCxnSpPr/>
          <p:nvPr/>
        </p:nvCxnSpPr>
        <p:spPr>
          <a:xfrm>
            <a:off x="8229600" y="2286000"/>
            <a:ext cx="457200" cy="0"/>
          </a:xfrm>
          <a:prstGeom prst="line">
            <a:avLst/>
          </a:prstGeom>
        </p:spPr>
        <p:style>
          <a:lnRef idx="2">
            <a:schemeClr val="accent1"/>
          </a:lnRef>
          <a:fillRef idx="0">
            <a:schemeClr val="accent1"/>
          </a:fillRef>
          <a:effectRef idx="1">
            <a:schemeClr val="accent1"/>
          </a:effectRef>
          <a:fontRef idx="minor">
            <a:schemeClr val="tx1"/>
          </a:fontRef>
        </p:style>
      </p:cxnSp>
      <p:sp>
        <p:nvSpPr>
          <p:cNvPr id="9" name="Rectangle 8"/>
          <p:cNvSpPr/>
          <p:nvPr/>
        </p:nvSpPr>
        <p:spPr>
          <a:xfrm>
            <a:off x="457200" y="3200400"/>
            <a:ext cx="2286000" cy="91440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r>
              <a:t>Forward Engineering</a:t>
            </a: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System Analysis - Definition</a:t>
            </a:r>
          </a:p>
        </p:txBody>
      </p:sp>
      <p:sp>
        <p:nvSpPr>
          <p:cNvPr id="3" name="Content Placeholder 2"/>
          <p:cNvSpPr>
            <a:spLocks noGrp="1"/>
          </p:cNvSpPr>
          <p:nvPr>
            <p:ph idx="1"/>
          </p:nvPr>
        </p:nvSpPr>
        <p:spPr/>
        <p:txBody>
          <a:bodyPr>
            <a:normAutofit lnSpcReduction="10000"/>
          </a:bodyPr>
          <a:lstStyle/>
          <a:p>
            <a:endParaRPr dirty="0"/>
          </a:p>
          <a:p>
            <a:pPr algn="just"/>
            <a:r>
              <a:rPr lang="en-US" b="1" dirty="0"/>
              <a:t>System Analysis</a:t>
            </a:r>
            <a:r>
              <a:rPr lang="en-US" dirty="0"/>
              <a:t> in software re-engineering is the </a:t>
            </a:r>
            <a:r>
              <a:rPr lang="en-US" b="1" dirty="0"/>
              <a:t>process of studying and understanding the existing software system</a:t>
            </a:r>
            <a:r>
              <a:rPr lang="en-US" dirty="0"/>
              <a:t> to identify its structure, functionality, performance, and problems — with the goal of determining </a:t>
            </a:r>
            <a:r>
              <a:rPr lang="en-US" i="1" dirty="0"/>
              <a:t>what needs to be changed or improved</a:t>
            </a:r>
            <a:r>
              <a:rPr lang="en-US" dirty="0" smtClean="0"/>
              <a:t>.</a:t>
            </a:r>
          </a:p>
          <a:p>
            <a:pPr algn="just"/>
            <a:r>
              <a:rPr lang="en-US" dirty="0"/>
              <a:t>Before rebuilding a system, first understand what it does, how it works, and where it </a:t>
            </a:r>
            <a:r>
              <a:rPr lang="en-US" dirty="0" smtClean="0"/>
              <a:t>fails.</a:t>
            </a:r>
            <a:endParaRPr dirty="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Why It’s Important</a:t>
            </a:r>
          </a:p>
        </p:txBody>
      </p:sp>
      <p:sp>
        <p:nvSpPr>
          <p:cNvPr id="3" name="Content Placeholder 2"/>
          <p:cNvSpPr>
            <a:spLocks noGrp="1"/>
          </p:cNvSpPr>
          <p:nvPr>
            <p:ph idx="1"/>
          </p:nvPr>
        </p:nvSpPr>
        <p:spPr/>
        <p:txBody>
          <a:bodyPr>
            <a:normAutofit fontScale="92500" lnSpcReduction="10000"/>
          </a:bodyPr>
          <a:lstStyle/>
          <a:p>
            <a:pPr algn="just"/>
            <a:r>
              <a:rPr lang="en-US" dirty="0"/>
              <a:t>When you re-engineer software, you’re not starting from scratch — you’re improving something that already </a:t>
            </a:r>
            <a:r>
              <a:rPr lang="en-US" dirty="0" smtClean="0"/>
              <a:t>exists.</a:t>
            </a:r>
          </a:p>
          <a:p>
            <a:pPr algn="just"/>
            <a:r>
              <a:rPr lang="en-US" dirty="0" smtClean="0"/>
              <a:t>System </a:t>
            </a:r>
            <a:r>
              <a:rPr lang="en-US" dirty="0"/>
              <a:t>analysis ensures you don’t lose valuable functionality while removing inefficiencies or outdated designs</a:t>
            </a:r>
            <a:r>
              <a:rPr lang="en-US" dirty="0" smtClean="0"/>
              <a:t>.</a:t>
            </a:r>
          </a:p>
          <a:p>
            <a:pPr lvl="1" algn="just"/>
            <a:r>
              <a:rPr lang="en-US" dirty="0"/>
              <a:t>Understand how the current system </a:t>
            </a:r>
            <a:r>
              <a:rPr lang="en-US" dirty="0" smtClean="0"/>
              <a:t>operates.</a:t>
            </a:r>
          </a:p>
          <a:p>
            <a:pPr lvl="1" algn="just"/>
            <a:r>
              <a:rPr lang="en-US" dirty="0" smtClean="0"/>
              <a:t>Identify </a:t>
            </a:r>
            <a:r>
              <a:rPr lang="en-US" dirty="0"/>
              <a:t>areas that need </a:t>
            </a:r>
            <a:r>
              <a:rPr lang="en-US" dirty="0" smtClean="0"/>
              <a:t>improvement.</a:t>
            </a:r>
          </a:p>
          <a:p>
            <a:pPr lvl="1" algn="just"/>
            <a:r>
              <a:rPr lang="en-US" dirty="0" smtClean="0"/>
              <a:t>Ensure </a:t>
            </a:r>
            <a:r>
              <a:rPr lang="en-US" dirty="0"/>
              <a:t>compatibility with new </a:t>
            </a:r>
            <a:r>
              <a:rPr lang="en-US" dirty="0" smtClean="0"/>
              <a:t>technologies.</a:t>
            </a:r>
          </a:p>
          <a:p>
            <a:pPr lvl="1" algn="just"/>
            <a:r>
              <a:rPr lang="en-US" dirty="0" smtClean="0"/>
              <a:t>Avoid </a:t>
            </a:r>
            <a:r>
              <a:rPr lang="en-US" dirty="0"/>
              <a:t>costly mistakes during redesign or migration.</a:t>
            </a:r>
          </a:p>
        </p:txBody>
      </p:sp>
    </p:spTree>
    <p:extLst>
      <p:ext uri="{BB962C8B-B14F-4D97-AF65-F5344CB8AC3E}">
        <p14:creationId xmlns:p14="http://schemas.microsoft.com/office/powerpoint/2010/main" val="2606035945"/>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Objectives of System Analysis</a:t>
            </a: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1509014914"/>
              </p:ext>
            </p:extLst>
          </p:nvPr>
        </p:nvGraphicFramePr>
        <p:xfrm>
          <a:off x="457200" y="1316735"/>
          <a:ext cx="8229600" cy="5231130"/>
        </p:xfrm>
        <a:graphic>
          <a:graphicData uri="http://schemas.openxmlformats.org/drawingml/2006/table">
            <a:tbl>
              <a:tblPr/>
              <a:tblGrid>
                <a:gridCol w="3758184"/>
                <a:gridCol w="4471416"/>
              </a:tblGrid>
              <a:tr h="515112">
                <a:tc>
                  <a:txBody>
                    <a:bodyPr/>
                    <a:lstStyle/>
                    <a:p>
                      <a:r>
                        <a:rPr lang="en-US" sz="2400" b="1" dirty="0"/>
                        <a:t>Objective</a:t>
                      </a:r>
                    </a:p>
                  </a:txBody>
                  <a:tcPr anchor="ctr">
                    <a:lnL>
                      <a:noFill/>
                    </a:lnL>
                    <a:lnR>
                      <a:noFill/>
                    </a:lnR>
                    <a:lnT>
                      <a:noFill/>
                    </a:lnT>
                    <a:lnB>
                      <a:noFill/>
                    </a:lnB>
                  </a:tcPr>
                </a:tc>
                <a:tc>
                  <a:txBody>
                    <a:bodyPr/>
                    <a:lstStyle/>
                    <a:p>
                      <a:r>
                        <a:rPr lang="en-US" sz="2400" b="1" dirty="0"/>
                        <a:t>Description</a:t>
                      </a:r>
                    </a:p>
                  </a:txBody>
                  <a:tcPr anchor="ctr">
                    <a:lnL>
                      <a:noFill/>
                    </a:lnL>
                    <a:lnR>
                      <a:noFill/>
                    </a:lnR>
                    <a:lnT>
                      <a:noFill/>
                    </a:lnT>
                    <a:lnB>
                      <a:noFill/>
                    </a:lnB>
                  </a:tcPr>
                </a:tc>
              </a:tr>
              <a:tr h="901446">
                <a:tc>
                  <a:txBody>
                    <a:bodyPr/>
                    <a:lstStyle/>
                    <a:p>
                      <a:r>
                        <a:rPr lang="en-US" sz="2400" b="1" dirty="0"/>
                        <a:t>Understand Existing System</a:t>
                      </a:r>
                      <a:endParaRPr lang="en-US" sz="2400" dirty="0"/>
                    </a:p>
                  </a:txBody>
                  <a:tcPr anchor="ctr">
                    <a:lnL>
                      <a:noFill/>
                    </a:lnL>
                    <a:lnR>
                      <a:noFill/>
                    </a:lnR>
                    <a:lnT>
                      <a:noFill/>
                    </a:lnT>
                    <a:lnB>
                      <a:noFill/>
                    </a:lnB>
                  </a:tcPr>
                </a:tc>
                <a:tc>
                  <a:txBody>
                    <a:bodyPr/>
                    <a:lstStyle/>
                    <a:p>
                      <a:pPr algn="l"/>
                      <a:r>
                        <a:rPr lang="en-US" sz="2400" dirty="0"/>
                        <a:t>Study architecture, modules, and workflows.</a:t>
                      </a:r>
                    </a:p>
                  </a:txBody>
                  <a:tcPr anchor="ctr">
                    <a:lnL>
                      <a:noFill/>
                    </a:lnL>
                    <a:lnR>
                      <a:noFill/>
                    </a:lnR>
                    <a:lnT>
                      <a:noFill/>
                    </a:lnT>
                    <a:lnB>
                      <a:noFill/>
                    </a:lnB>
                  </a:tcPr>
                </a:tc>
              </a:tr>
              <a:tr h="901446">
                <a:tc>
                  <a:txBody>
                    <a:bodyPr/>
                    <a:lstStyle/>
                    <a:p>
                      <a:r>
                        <a:rPr lang="en-US" sz="2400" b="1" dirty="0"/>
                        <a:t>Identify Weaknesses</a:t>
                      </a:r>
                      <a:endParaRPr lang="en-US" sz="2400" dirty="0"/>
                    </a:p>
                  </a:txBody>
                  <a:tcPr anchor="ctr">
                    <a:lnL>
                      <a:noFill/>
                    </a:lnL>
                    <a:lnR>
                      <a:noFill/>
                    </a:lnR>
                    <a:lnT>
                      <a:noFill/>
                    </a:lnT>
                    <a:lnB>
                      <a:noFill/>
                    </a:lnB>
                  </a:tcPr>
                </a:tc>
                <a:tc>
                  <a:txBody>
                    <a:bodyPr/>
                    <a:lstStyle/>
                    <a:p>
                      <a:pPr algn="l"/>
                      <a:r>
                        <a:rPr lang="en-US" sz="2400" dirty="0"/>
                        <a:t>Detect performance bottlenecks, redundancy, or outdated code.</a:t>
                      </a:r>
                    </a:p>
                  </a:txBody>
                  <a:tcPr anchor="ctr">
                    <a:lnL>
                      <a:noFill/>
                    </a:lnL>
                    <a:lnR>
                      <a:noFill/>
                    </a:lnR>
                    <a:lnT>
                      <a:noFill/>
                    </a:lnT>
                    <a:lnB>
                      <a:noFill/>
                    </a:lnB>
                  </a:tcPr>
                </a:tc>
              </a:tr>
              <a:tr h="901446">
                <a:tc>
                  <a:txBody>
                    <a:bodyPr/>
                    <a:lstStyle/>
                    <a:p>
                      <a:r>
                        <a:rPr lang="en-US" sz="2400" b="1" dirty="0"/>
                        <a:t>Capture Business Rules</a:t>
                      </a:r>
                      <a:endParaRPr lang="en-US" sz="2400" dirty="0"/>
                    </a:p>
                  </a:txBody>
                  <a:tcPr anchor="ctr">
                    <a:lnL>
                      <a:noFill/>
                    </a:lnL>
                    <a:lnR>
                      <a:noFill/>
                    </a:lnR>
                    <a:lnT>
                      <a:noFill/>
                    </a:lnT>
                    <a:lnB>
                      <a:noFill/>
                    </a:lnB>
                  </a:tcPr>
                </a:tc>
                <a:tc>
                  <a:txBody>
                    <a:bodyPr/>
                    <a:lstStyle/>
                    <a:p>
                      <a:pPr algn="l"/>
                      <a:r>
                        <a:rPr lang="en-US" sz="2400" dirty="0"/>
                        <a:t>Document the logic and constraints that the system enforces.</a:t>
                      </a:r>
                    </a:p>
                  </a:txBody>
                  <a:tcPr anchor="ctr">
                    <a:lnL>
                      <a:noFill/>
                    </a:lnL>
                    <a:lnR>
                      <a:noFill/>
                    </a:lnR>
                    <a:lnT>
                      <a:noFill/>
                    </a:lnT>
                    <a:lnB>
                      <a:noFill/>
                    </a:lnB>
                  </a:tcPr>
                </a:tc>
              </a:tr>
              <a:tr h="515112">
                <a:tc>
                  <a:txBody>
                    <a:bodyPr/>
                    <a:lstStyle/>
                    <a:p>
                      <a:r>
                        <a:rPr lang="en-US" sz="2400" b="1" dirty="0"/>
                        <a:t>Determine Re-engineering Scope</a:t>
                      </a:r>
                      <a:endParaRPr lang="en-US" sz="2400" dirty="0"/>
                    </a:p>
                  </a:txBody>
                  <a:tcPr anchor="ctr">
                    <a:lnL>
                      <a:noFill/>
                    </a:lnL>
                    <a:lnR>
                      <a:noFill/>
                    </a:lnR>
                    <a:lnT>
                      <a:noFill/>
                    </a:lnT>
                    <a:lnB>
                      <a:noFill/>
                    </a:lnB>
                  </a:tcPr>
                </a:tc>
                <a:tc>
                  <a:txBody>
                    <a:bodyPr/>
                    <a:lstStyle/>
                    <a:p>
                      <a:pPr algn="l"/>
                      <a:r>
                        <a:rPr lang="en-US" sz="2400" dirty="0"/>
                        <a:t>Decide what to keep, modify, or replace.</a:t>
                      </a:r>
                    </a:p>
                  </a:txBody>
                  <a:tcPr anchor="ctr">
                    <a:lnL>
                      <a:noFill/>
                    </a:lnL>
                    <a:lnR>
                      <a:noFill/>
                    </a:lnR>
                    <a:lnT>
                      <a:noFill/>
                    </a:lnT>
                    <a:lnB>
                      <a:noFill/>
                    </a:lnB>
                  </a:tcPr>
                </a:tc>
              </a:tr>
              <a:tr h="901446">
                <a:tc>
                  <a:txBody>
                    <a:bodyPr/>
                    <a:lstStyle/>
                    <a:p>
                      <a:r>
                        <a:rPr lang="en-US" sz="2400" b="1" dirty="0"/>
                        <a:t>Support Future Design</a:t>
                      </a:r>
                      <a:endParaRPr lang="en-US" sz="2400" dirty="0"/>
                    </a:p>
                  </a:txBody>
                  <a:tcPr anchor="ctr">
                    <a:lnL>
                      <a:noFill/>
                    </a:lnL>
                    <a:lnR>
                      <a:noFill/>
                    </a:lnR>
                    <a:lnT>
                      <a:noFill/>
                    </a:lnT>
                    <a:lnB>
                      <a:noFill/>
                    </a:lnB>
                  </a:tcPr>
                </a:tc>
                <a:tc>
                  <a:txBody>
                    <a:bodyPr/>
                    <a:lstStyle/>
                    <a:p>
                      <a:pPr algn="l"/>
                      <a:r>
                        <a:rPr lang="en-US" sz="2400" dirty="0"/>
                        <a:t>Provide data and models for re-engineering decisions.</a:t>
                      </a:r>
                    </a:p>
                  </a:txBody>
                  <a:tcPr anchor="ctr">
                    <a:lnL>
                      <a:noFill/>
                    </a:lnL>
                    <a:lnR>
                      <a:noFill/>
                    </a:lnR>
                    <a:lnT>
                      <a:noFill/>
                    </a:lnT>
                    <a:lnB>
                      <a:noFill/>
                    </a:lnB>
                  </a:tcPr>
                </a:tc>
              </a:tr>
            </a:tbl>
          </a:graphicData>
        </a:graphic>
      </p:graphicFrame>
    </p:spTree>
    <p:extLst>
      <p:ext uri="{BB962C8B-B14F-4D97-AF65-F5344CB8AC3E}">
        <p14:creationId xmlns:p14="http://schemas.microsoft.com/office/powerpoint/2010/main" val="1917903091"/>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Steps in System Analysis for Re-engineering</a:t>
            </a:r>
          </a:p>
        </p:txBody>
      </p:sp>
      <p:sp>
        <p:nvSpPr>
          <p:cNvPr id="3" name="Content Placeholder 2"/>
          <p:cNvSpPr>
            <a:spLocks noGrp="1"/>
          </p:cNvSpPr>
          <p:nvPr>
            <p:ph idx="1"/>
          </p:nvPr>
        </p:nvSpPr>
        <p:spPr/>
        <p:txBody>
          <a:bodyPr>
            <a:normAutofit/>
          </a:bodyPr>
          <a:lstStyle/>
          <a:p>
            <a:pPr marL="0" indent="0" algn="just">
              <a:buNone/>
            </a:pPr>
            <a:r>
              <a:rPr lang="en-US" dirty="0"/>
              <a:t>1. </a:t>
            </a:r>
            <a:r>
              <a:rPr lang="en-US" b="1" dirty="0"/>
              <a:t>System </a:t>
            </a:r>
            <a:r>
              <a:rPr lang="en-US" b="1" dirty="0" smtClean="0"/>
              <a:t>Understanding</a:t>
            </a:r>
          </a:p>
          <a:p>
            <a:pPr lvl="1" algn="just"/>
            <a:r>
              <a:rPr lang="en-US" dirty="0"/>
              <a:t>Review system documentation (if available</a:t>
            </a:r>
            <a:r>
              <a:rPr lang="en-US" dirty="0" smtClean="0"/>
              <a:t>).</a:t>
            </a:r>
          </a:p>
          <a:p>
            <a:pPr lvl="1" algn="just"/>
            <a:r>
              <a:rPr lang="en-US" dirty="0"/>
              <a:t>Analyze source code, data structures, and database schemas</a:t>
            </a:r>
            <a:r>
              <a:rPr lang="en-US" dirty="0" smtClean="0"/>
              <a:t>.</a:t>
            </a:r>
          </a:p>
          <a:p>
            <a:pPr lvl="1" algn="just"/>
            <a:r>
              <a:rPr lang="en-US" dirty="0"/>
              <a:t>Use tools for </a:t>
            </a:r>
            <a:r>
              <a:rPr lang="en-US" b="1" dirty="0"/>
              <a:t>reverse engineering</a:t>
            </a:r>
            <a:r>
              <a:rPr lang="en-US" dirty="0"/>
              <a:t> to extract design models (e.g., UML diagrams</a:t>
            </a:r>
            <a:r>
              <a:rPr lang="en-US" dirty="0" smtClean="0"/>
              <a:t>).</a:t>
            </a:r>
          </a:p>
          <a:p>
            <a:pPr algn="just"/>
            <a:r>
              <a:rPr lang="en-US" i="1" dirty="0" smtClean="0"/>
              <a:t>Example:</a:t>
            </a:r>
          </a:p>
          <a:p>
            <a:pPr lvl="1" algn="just"/>
            <a:r>
              <a:rPr lang="en-US" dirty="0" smtClean="0"/>
              <a:t>Generating </a:t>
            </a:r>
            <a:r>
              <a:rPr lang="en-US" dirty="0"/>
              <a:t>a class diagram from old Java code to understand its relationships.</a:t>
            </a:r>
          </a:p>
        </p:txBody>
      </p:sp>
    </p:spTree>
    <p:extLst>
      <p:ext uri="{BB962C8B-B14F-4D97-AF65-F5344CB8AC3E}">
        <p14:creationId xmlns:p14="http://schemas.microsoft.com/office/powerpoint/2010/main" val="2227519061"/>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2. </a:t>
            </a:r>
            <a:r>
              <a:rPr lang="en-US" b="1" dirty="0"/>
              <a:t>Data and Process Analysis</a:t>
            </a:r>
            <a:endParaRPr lang="en-US" dirty="0"/>
          </a:p>
        </p:txBody>
      </p:sp>
      <p:sp>
        <p:nvSpPr>
          <p:cNvPr id="3" name="Content Placeholder 2"/>
          <p:cNvSpPr>
            <a:spLocks noGrp="1"/>
          </p:cNvSpPr>
          <p:nvPr>
            <p:ph idx="1"/>
          </p:nvPr>
        </p:nvSpPr>
        <p:spPr/>
        <p:txBody>
          <a:bodyPr/>
          <a:lstStyle/>
          <a:p>
            <a:pPr algn="just"/>
            <a:r>
              <a:rPr lang="en-US" dirty="0"/>
              <a:t>Identify </a:t>
            </a:r>
            <a:r>
              <a:rPr lang="en-US" b="1" dirty="0"/>
              <a:t>data flow</a:t>
            </a:r>
            <a:r>
              <a:rPr lang="en-US" dirty="0"/>
              <a:t>, </a:t>
            </a:r>
            <a:r>
              <a:rPr lang="en-US" b="1" dirty="0"/>
              <a:t>input/output</a:t>
            </a:r>
            <a:r>
              <a:rPr lang="en-US" dirty="0"/>
              <a:t>, and </a:t>
            </a:r>
            <a:r>
              <a:rPr lang="en-US" b="1" dirty="0"/>
              <a:t>process dependencies</a:t>
            </a:r>
            <a:r>
              <a:rPr lang="en-US" dirty="0"/>
              <a:t>.</a:t>
            </a:r>
          </a:p>
          <a:p>
            <a:pPr algn="just"/>
            <a:r>
              <a:rPr lang="en-US" dirty="0"/>
              <a:t>Create </a:t>
            </a:r>
            <a:r>
              <a:rPr lang="en-US" b="1" dirty="0"/>
              <a:t>DFDs (Data Flow Diagrams)</a:t>
            </a:r>
            <a:r>
              <a:rPr lang="en-US" dirty="0"/>
              <a:t> or </a:t>
            </a:r>
            <a:r>
              <a:rPr lang="en-US" b="1" dirty="0"/>
              <a:t>ERDs (Entity Relationship Diagrams)</a:t>
            </a:r>
            <a:r>
              <a:rPr lang="en-US" dirty="0"/>
              <a:t> to visualize information flow.</a:t>
            </a:r>
          </a:p>
          <a:p>
            <a:pPr algn="just"/>
            <a:r>
              <a:rPr lang="en-US" dirty="0" smtClean="0"/>
              <a:t>Helps </a:t>
            </a:r>
            <a:r>
              <a:rPr lang="en-US" dirty="0"/>
              <a:t>reveal how modules interact and where data redundancy occurs.</a:t>
            </a:r>
          </a:p>
        </p:txBody>
      </p:sp>
    </p:spTree>
    <p:extLst>
      <p:ext uri="{BB962C8B-B14F-4D97-AF65-F5344CB8AC3E}">
        <p14:creationId xmlns:p14="http://schemas.microsoft.com/office/powerpoint/2010/main" val="148914011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20358"/>
            <a:ext cx="8229600" cy="1143000"/>
          </a:xfrm>
        </p:spPr>
        <p:txBody>
          <a:bodyPr>
            <a:normAutofit fontScale="90000"/>
          </a:bodyPr>
          <a:lstStyle/>
          <a:p>
            <a:r>
              <a:rPr lang="en-US" dirty="0"/>
              <a:t>3. </a:t>
            </a:r>
            <a:r>
              <a:rPr lang="en-US" b="1" dirty="0"/>
              <a:t>Performance and Quality Assessment</a:t>
            </a:r>
            <a:endParaRPr lang="en-US" dirty="0"/>
          </a:p>
        </p:txBody>
      </p:sp>
      <p:sp>
        <p:nvSpPr>
          <p:cNvPr id="3" name="Content Placeholder 2"/>
          <p:cNvSpPr>
            <a:spLocks noGrp="1"/>
          </p:cNvSpPr>
          <p:nvPr>
            <p:ph idx="1"/>
          </p:nvPr>
        </p:nvSpPr>
        <p:spPr>
          <a:xfrm>
            <a:off x="457200" y="1746504"/>
            <a:ext cx="8229600" cy="4525963"/>
          </a:xfrm>
        </p:spPr>
        <p:txBody>
          <a:bodyPr/>
          <a:lstStyle/>
          <a:p>
            <a:pPr algn="just"/>
            <a:r>
              <a:rPr lang="en-US" dirty="0"/>
              <a:t>Measure performance metrics like response time, memory use, and throughput.</a:t>
            </a:r>
          </a:p>
          <a:p>
            <a:pPr algn="just"/>
            <a:r>
              <a:rPr lang="en-US" dirty="0"/>
              <a:t>Evaluate maintainability, reliability, and security.</a:t>
            </a:r>
          </a:p>
          <a:p>
            <a:pPr algn="just"/>
            <a:r>
              <a:rPr lang="en-US" dirty="0" smtClean="0"/>
              <a:t>Tools</a:t>
            </a:r>
            <a:r>
              <a:rPr lang="en-US" dirty="0"/>
              <a:t>: Profilers, code analyzers, performance monitors.</a:t>
            </a:r>
          </a:p>
        </p:txBody>
      </p:sp>
    </p:spTree>
    <p:extLst>
      <p:ext uri="{BB962C8B-B14F-4D97-AF65-F5344CB8AC3E}">
        <p14:creationId xmlns:p14="http://schemas.microsoft.com/office/powerpoint/2010/main" val="311610198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4. </a:t>
            </a:r>
            <a:r>
              <a:rPr lang="en-US" b="1" dirty="0"/>
              <a:t>Requirements Recovery</a:t>
            </a:r>
            <a:endParaRPr lang="en-US" dirty="0"/>
          </a:p>
        </p:txBody>
      </p:sp>
      <p:sp>
        <p:nvSpPr>
          <p:cNvPr id="3" name="Content Placeholder 2"/>
          <p:cNvSpPr>
            <a:spLocks noGrp="1"/>
          </p:cNvSpPr>
          <p:nvPr>
            <p:ph idx="1"/>
          </p:nvPr>
        </p:nvSpPr>
        <p:spPr/>
        <p:txBody>
          <a:bodyPr/>
          <a:lstStyle/>
          <a:p>
            <a:pPr algn="just"/>
            <a:r>
              <a:rPr lang="en-US" dirty="0"/>
              <a:t>Extract </a:t>
            </a:r>
            <a:r>
              <a:rPr lang="en-US" b="1" dirty="0"/>
              <a:t>implicit requirements</a:t>
            </a:r>
            <a:r>
              <a:rPr lang="en-US" dirty="0"/>
              <a:t> hidden in the code or workflows.</a:t>
            </a:r>
          </a:p>
          <a:p>
            <a:pPr algn="just"/>
            <a:r>
              <a:rPr lang="en-US" dirty="0"/>
              <a:t>Understand why certain design decisions were made.</a:t>
            </a:r>
          </a:p>
          <a:p>
            <a:pPr algn="just"/>
            <a:r>
              <a:rPr lang="en-US" dirty="0"/>
              <a:t>Compare existing functionality with </a:t>
            </a:r>
            <a:r>
              <a:rPr lang="en-US" b="1" dirty="0"/>
              <a:t>current business needs</a:t>
            </a:r>
            <a:r>
              <a:rPr lang="en-US" dirty="0"/>
              <a:t>.</a:t>
            </a:r>
          </a:p>
          <a:p>
            <a:pPr algn="just"/>
            <a:r>
              <a:rPr lang="en-US" i="1" dirty="0" smtClean="0"/>
              <a:t>This </a:t>
            </a:r>
            <a:r>
              <a:rPr lang="en-US" i="1" dirty="0"/>
              <a:t>helps ensure that re-engineering doesn’t remove critical legacy behaviors.</a:t>
            </a:r>
            <a:endParaRPr lang="en-US" dirty="0"/>
          </a:p>
        </p:txBody>
      </p:sp>
    </p:spTree>
    <p:extLst>
      <p:ext uri="{BB962C8B-B14F-4D97-AF65-F5344CB8AC3E}">
        <p14:creationId xmlns:p14="http://schemas.microsoft.com/office/powerpoint/2010/main" val="101377924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5. </a:t>
            </a:r>
            <a:r>
              <a:rPr lang="en-US" b="1" dirty="0"/>
              <a:t>Gap Analysis</a:t>
            </a:r>
            <a:endParaRPr lang="en-US" dirty="0"/>
          </a:p>
        </p:txBody>
      </p:sp>
      <p:sp>
        <p:nvSpPr>
          <p:cNvPr id="3" name="Content Placeholder 2"/>
          <p:cNvSpPr>
            <a:spLocks noGrp="1"/>
          </p:cNvSpPr>
          <p:nvPr>
            <p:ph idx="1"/>
          </p:nvPr>
        </p:nvSpPr>
        <p:spPr/>
        <p:txBody>
          <a:bodyPr/>
          <a:lstStyle/>
          <a:p>
            <a:r>
              <a:rPr lang="en-US" dirty="0"/>
              <a:t>Identify </a:t>
            </a:r>
            <a:r>
              <a:rPr lang="en-US" b="1" dirty="0"/>
              <a:t>gaps</a:t>
            </a:r>
            <a:r>
              <a:rPr lang="en-US" dirty="0"/>
              <a:t> between the current system and desired future </a:t>
            </a:r>
            <a:r>
              <a:rPr lang="en-US" dirty="0" smtClean="0"/>
              <a:t>state.</a:t>
            </a:r>
          </a:p>
          <a:p>
            <a:r>
              <a:rPr lang="en-US" dirty="0"/>
              <a:t>Classify modules as:</a:t>
            </a:r>
          </a:p>
          <a:p>
            <a:pPr lvl="1"/>
            <a:r>
              <a:rPr lang="en-US" dirty="0"/>
              <a:t>✅ To be </a:t>
            </a:r>
            <a:r>
              <a:rPr lang="en-US" b="1" dirty="0"/>
              <a:t>Retained</a:t>
            </a:r>
            <a:r>
              <a:rPr lang="en-US" dirty="0"/>
              <a:t> (working fine)</a:t>
            </a:r>
          </a:p>
          <a:p>
            <a:pPr lvl="1"/>
            <a:r>
              <a:rPr lang="en-US" dirty="0"/>
              <a:t>🔧 To be </a:t>
            </a:r>
            <a:r>
              <a:rPr lang="en-US" b="1" dirty="0"/>
              <a:t>Modified</a:t>
            </a:r>
            <a:r>
              <a:rPr lang="en-US" dirty="0"/>
              <a:t> (needs improvement)</a:t>
            </a:r>
          </a:p>
          <a:p>
            <a:pPr lvl="1"/>
            <a:r>
              <a:rPr lang="en-US" dirty="0"/>
              <a:t>❌ To be </a:t>
            </a:r>
            <a:r>
              <a:rPr lang="en-US" b="1" dirty="0"/>
              <a:t>Replaced</a:t>
            </a:r>
            <a:r>
              <a:rPr lang="en-US" dirty="0"/>
              <a:t> (obsolete or redundant)</a:t>
            </a:r>
          </a:p>
          <a:p>
            <a:endParaRPr lang="en-US" dirty="0"/>
          </a:p>
        </p:txBody>
      </p:sp>
    </p:spTree>
    <p:extLst>
      <p:ext uri="{BB962C8B-B14F-4D97-AF65-F5344CB8AC3E}">
        <p14:creationId xmlns:p14="http://schemas.microsoft.com/office/powerpoint/2010/main" val="34280584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6. </a:t>
            </a:r>
            <a:r>
              <a:rPr lang="en-US" b="1" dirty="0"/>
              <a:t>Documentation</a:t>
            </a:r>
            <a:endParaRPr lang="en-US" dirty="0"/>
          </a:p>
        </p:txBody>
      </p:sp>
      <p:sp>
        <p:nvSpPr>
          <p:cNvPr id="3" name="Content Placeholder 2"/>
          <p:cNvSpPr>
            <a:spLocks noGrp="1"/>
          </p:cNvSpPr>
          <p:nvPr>
            <p:ph idx="1"/>
          </p:nvPr>
        </p:nvSpPr>
        <p:spPr/>
        <p:txBody>
          <a:bodyPr>
            <a:normAutofit/>
          </a:bodyPr>
          <a:lstStyle/>
          <a:p>
            <a:pPr algn="just"/>
            <a:r>
              <a:rPr lang="en-US" dirty="0"/>
              <a:t>Prepare detailed </a:t>
            </a:r>
            <a:r>
              <a:rPr lang="en-US" b="1" dirty="0"/>
              <a:t>System Analysis Report</a:t>
            </a:r>
            <a:r>
              <a:rPr lang="en-US" dirty="0"/>
              <a:t>, including:</a:t>
            </a:r>
          </a:p>
          <a:p>
            <a:pPr lvl="1" algn="just"/>
            <a:r>
              <a:rPr lang="en-US" dirty="0"/>
              <a:t>Current architecture overview</a:t>
            </a:r>
          </a:p>
          <a:p>
            <a:pPr lvl="1" algn="just"/>
            <a:r>
              <a:rPr lang="en-US" dirty="0"/>
              <a:t>Component interactions</a:t>
            </a:r>
          </a:p>
          <a:p>
            <a:pPr lvl="1" algn="just"/>
            <a:r>
              <a:rPr lang="en-US" dirty="0"/>
              <a:t>Detected problems</a:t>
            </a:r>
          </a:p>
          <a:p>
            <a:pPr lvl="1" algn="just"/>
            <a:r>
              <a:rPr lang="en-US" dirty="0"/>
              <a:t>Proposed improvements</a:t>
            </a:r>
          </a:p>
          <a:p>
            <a:pPr algn="just"/>
            <a:r>
              <a:rPr lang="en-US" dirty="0" smtClean="0"/>
              <a:t>This </a:t>
            </a:r>
            <a:r>
              <a:rPr lang="en-US" dirty="0"/>
              <a:t>serves as a </a:t>
            </a:r>
            <a:r>
              <a:rPr lang="en-US" b="1" dirty="0"/>
              <a:t>blueprint</a:t>
            </a:r>
            <a:r>
              <a:rPr lang="en-US" dirty="0"/>
              <a:t> for the next phase: </a:t>
            </a:r>
            <a:r>
              <a:rPr lang="en-US" i="1" dirty="0"/>
              <a:t>System Redesign or Re-implementation.</a:t>
            </a:r>
            <a:endParaRPr lang="en-US" dirty="0"/>
          </a:p>
        </p:txBody>
      </p:sp>
    </p:spTree>
    <p:extLst>
      <p:ext uri="{BB962C8B-B14F-4D97-AF65-F5344CB8AC3E}">
        <p14:creationId xmlns:p14="http://schemas.microsoft.com/office/powerpoint/2010/main" val="337213478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Techniques Used in System Analysis</a:t>
            </a:r>
          </a:p>
        </p:txBody>
      </p:sp>
      <p:sp>
        <p:nvSpPr>
          <p:cNvPr id="3" name="Content Placeholder 2"/>
          <p:cNvSpPr>
            <a:spLocks noGrp="1"/>
          </p:cNvSpPr>
          <p:nvPr>
            <p:ph idx="1"/>
          </p:nvPr>
        </p:nvSpPr>
        <p:spPr/>
        <p:txBody>
          <a:bodyPr/>
          <a:lstStyle/>
          <a:p>
            <a:pPr algn="just"/>
            <a:r>
              <a:rPr lang="en-US" dirty="0"/>
              <a:t>In </a:t>
            </a:r>
            <a:r>
              <a:rPr lang="en-US" b="1" dirty="0"/>
              <a:t>System Analysis</a:t>
            </a:r>
            <a:r>
              <a:rPr lang="en-US" dirty="0"/>
              <a:t>, especially during </a:t>
            </a:r>
            <a:r>
              <a:rPr lang="en-US" b="1" dirty="0"/>
              <a:t>software re-engineering</a:t>
            </a:r>
            <a:r>
              <a:rPr lang="en-US" dirty="0"/>
              <a:t> (like modernizing a legacy COBOL banking system), analysts use a variety of </a:t>
            </a:r>
            <a:r>
              <a:rPr lang="en-US" b="1" dirty="0"/>
              <a:t>techniques</a:t>
            </a:r>
            <a:r>
              <a:rPr lang="en-US" dirty="0"/>
              <a:t> to understand, model, and evaluate the existing system before redesigning or replacing it.</a:t>
            </a:r>
          </a:p>
        </p:txBody>
      </p:sp>
    </p:spTree>
    <p:extLst>
      <p:ext uri="{BB962C8B-B14F-4D97-AF65-F5344CB8AC3E}">
        <p14:creationId xmlns:p14="http://schemas.microsoft.com/office/powerpoint/2010/main" val="368381239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1. Data Flow Diagrams (DFD)</a:t>
            </a:r>
          </a:p>
        </p:txBody>
      </p:sp>
      <p:sp>
        <p:nvSpPr>
          <p:cNvPr id="3" name="Content Placeholder 2"/>
          <p:cNvSpPr>
            <a:spLocks noGrp="1"/>
          </p:cNvSpPr>
          <p:nvPr>
            <p:ph idx="1"/>
          </p:nvPr>
        </p:nvSpPr>
        <p:spPr>
          <a:xfrm>
            <a:off x="457200" y="1600200"/>
            <a:ext cx="8229600" cy="5091056"/>
          </a:xfrm>
        </p:spPr>
        <p:txBody>
          <a:bodyPr>
            <a:normAutofit fontScale="77500" lnSpcReduction="20000"/>
          </a:bodyPr>
          <a:lstStyle/>
          <a:p>
            <a:r>
              <a:rPr lang="en-US" b="1" dirty="0" smtClean="0"/>
              <a:t>Purpose:</a:t>
            </a:r>
            <a:endParaRPr lang="en-US" dirty="0" smtClean="0"/>
          </a:p>
          <a:p>
            <a:pPr lvl="1"/>
            <a:r>
              <a:rPr lang="en-US" dirty="0" smtClean="0"/>
              <a:t>To </a:t>
            </a:r>
            <a:r>
              <a:rPr lang="en-US" dirty="0"/>
              <a:t>visualize how data moves through the system — from inputs to processes to outputs</a:t>
            </a:r>
            <a:r>
              <a:rPr lang="en-US" dirty="0" smtClean="0"/>
              <a:t>.</a:t>
            </a:r>
          </a:p>
          <a:p>
            <a:r>
              <a:rPr lang="en-US" b="1" dirty="0" smtClean="0"/>
              <a:t>Usage</a:t>
            </a:r>
            <a:r>
              <a:rPr lang="en-US" b="1" dirty="0"/>
              <a:t>:</a:t>
            </a:r>
            <a:endParaRPr lang="en-US" dirty="0"/>
          </a:p>
          <a:p>
            <a:pPr lvl="1"/>
            <a:r>
              <a:rPr lang="en-US" dirty="0"/>
              <a:t>Identifies data sources, processing logic, and destinations.</a:t>
            </a:r>
          </a:p>
          <a:p>
            <a:pPr lvl="1"/>
            <a:r>
              <a:rPr lang="en-US" dirty="0"/>
              <a:t>Used to understand COBOL data file movements (e.g., customer → account → transaction → report).</a:t>
            </a:r>
          </a:p>
          <a:p>
            <a:r>
              <a:rPr lang="en-US" b="1" dirty="0"/>
              <a:t>Levels:</a:t>
            </a:r>
            <a:endParaRPr lang="en-US" dirty="0"/>
          </a:p>
          <a:p>
            <a:pPr lvl="1"/>
            <a:r>
              <a:rPr lang="en-US" b="1" dirty="0"/>
              <a:t>Level 0 (Context Diagram):</a:t>
            </a:r>
            <a:r>
              <a:rPr lang="en-US" dirty="0"/>
              <a:t> Shows system boundaries and external entities.</a:t>
            </a:r>
          </a:p>
          <a:p>
            <a:pPr lvl="1"/>
            <a:r>
              <a:rPr lang="en-US" b="1" dirty="0"/>
              <a:t>Level 1–3:</a:t>
            </a:r>
            <a:r>
              <a:rPr lang="en-US" dirty="0"/>
              <a:t> Decomposes processes into finer details.</a:t>
            </a:r>
          </a:p>
          <a:p>
            <a:pPr lvl="1"/>
            <a:r>
              <a:rPr lang="en-US" b="1" dirty="0"/>
              <a:t>Example:</a:t>
            </a:r>
            <a:r>
              <a:rPr lang="en-US" dirty="0"/>
              <a:t/>
            </a:r>
            <a:br>
              <a:rPr lang="en-US" dirty="0"/>
            </a:br>
            <a:r>
              <a:rPr lang="en-US" dirty="0"/>
              <a:t>In a banking system, a DFD shows how a “Deposit Transaction” flows through modules, updates account balances, and produces receipts.</a:t>
            </a:r>
          </a:p>
        </p:txBody>
      </p:sp>
    </p:spTree>
    <p:extLst>
      <p:ext uri="{BB962C8B-B14F-4D97-AF65-F5344CB8AC3E}">
        <p14:creationId xmlns:p14="http://schemas.microsoft.com/office/powerpoint/2010/main" val="345223031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50829" y="-75414"/>
            <a:ext cx="8993172" cy="6933414"/>
          </a:xfrm>
          <a:prstGeom prst="rect">
            <a:avLst/>
          </a:prstGeom>
        </p:spPr>
      </p:pic>
    </p:spTree>
    <p:extLst>
      <p:ext uri="{BB962C8B-B14F-4D97-AF65-F5344CB8AC3E}">
        <p14:creationId xmlns:p14="http://schemas.microsoft.com/office/powerpoint/2010/main" val="21069020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8726"/>
            <a:ext cx="8229600" cy="1143000"/>
          </a:xfrm>
        </p:spPr>
        <p:txBody>
          <a:bodyPr/>
          <a:lstStyle/>
          <a:p>
            <a:r>
              <a:rPr lang="en-US" dirty="0"/>
              <a:t>2. Data Dictionary</a:t>
            </a:r>
          </a:p>
        </p:txBody>
      </p:sp>
      <p:sp>
        <p:nvSpPr>
          <p:cNvPr id="3" name="Content Placeholder 2"/>
          <p:cNvSpPr>
            <a:spLocks noGrp="1"/>
          </p:cNvSpPr>
          <p:nvPr>
            <p:ph idx="1"/>
          </p:nvPr>
        </p:nvSpPr>
        <p:spPr>
          <a:xfrm>
            <a:off x="457200" y="922467"/>
            <a:ext cx="8229600" cy="4525963"/>
          </a:xfrm>
        </p:spPr>
        <p:txBody>
          <a:bodyPr/>
          <a:lstStyle/>
          <a:p>
            <a:r>
              <a:rPr lang="en-US" b="1" dirty="0" smtClean="0"/>
              <a:t>Purpose:</a:t>
            </a:r>
            <a:endParaRPr lang="en-US" dirty="0" smtClean="0"/>
          </a:p>
          <a:p>
            <a:pPr lvl="1"/>
            <a:r>
              <a:rPr lang="en-US" dirty="0" smtClean="0"/>
              <a:t>A </a:t>
            </a:r>
            <a:r>
              <a:rPr lang="en-US" dirty="0"/>
              <a:t>centralized repository defining all data elements used in the </a:t>
            </a:r>
            <a:r>
              <a:rPr lang="en-US" dirty="0" smtClean="0"/>
              <a:t>system.</a:t>
            </a:r>
          </a:p>
          <a:p>
            <a:r>
              <a:rPr lang="en-US" b="1" dirty="0" smtClean="0"/>
              <a:t>Usage</a:t>
            </a:r>
            <a:r>
              <a:rPr lang="en-US" b="1" dirty="0"/>
              <a:t>:</a:t>
            </a:r>
            <a:endParaRPr lang="en-US" dirty="0"/>
          </a:p>
          <a:p>
            <a:pPr lvl="1"/>
            <a:r>
              <a:rPr lang="en-US" dirty="0"/>
              <a:t>Lists fields, data types, and relationships.</a:t>
            </a:r>
          </a:p>
          <a:p>
            <a:pPr lvl="1"/>
            <a:r>
              <a:rPr lang="en-US" dirty="0"/>
              <a:t>Extracted from COBOL copybooks, VSAM files, and DB2 schemas.</a:t>
            </a:r>
          </a:p>
          <a:p>
            <a:r>
              <a:rPr lang="en-US" b="1" dirty="0"/>
              <a:t>Example Entry:</a:t>
            </a:r>
            <a:endParaRPr lang="en-US" dirty="0"/>
          </a:p>
        </p:txBody>
      </p:sp>
      <p:graphicFrame>
        <p:nvGraphicFramePr>
          <p:cNvPr id="4" name="Table 3"/>
          <p:cNvGraphicFramePr>
            <a:graphicFrameLocks noGrp="1"/>
          </p:cNvGraphicFramePr>
          <p:nvPr>
            <p:extLst>
              <p:ext uri="{D42A27DB-BD31-4B8C-83A1-F6EECF244321}">
                <p14:modId xmlns:p14="http://schemas.microsoft.com/office/powerpoint/2010/main" val="4063452499"/>
              </p:ext>
            </p:extLst>
          </p:nvPr>
        </p:nvGraphicFramePr>
        <p:xfrm>
          <a:off x="758414" y="5074602"/>
          <a:ext cx="8229600" cy="1005840"/>
        </p:xfrm>
        <a:graphic>
          <a:graphicData uri="http://schemas.openxmlformats.org/drawingml/2006/table">
            <a:tbl>
              <a:tblPr/>
              <a:tblGrid>
                <a:gridCol w="1645920"/>
                <a:gridCol w="1645920"/>
                <a:gridCol w="1645920"/>
                <a:gridCol w="1645920"/>
                <a:gridCol w="1645920"/>
              </a:tblGrid>
              <a:tr h="0">
                <a:tc>
                  <a:txBody>
                    <a:bodyPr/>
                    <a:lstStyle/>
                    <a:p>
                      <a:r>
                        <a:rPr lang="en-US" b="1" dirty="0"/>
                        <a:t>Data Name</a:t>
                      </a:r>
                    </a:p>
                  </a:txBody>
                  <a:tcPr anchor="ctr">
                    <a:lnL>
                      <a:noFill/>
                    </a:lnL>
                    <a:lnR>
                      <a:noFill/>
                    </a:lnR>
                    <a:lnT>
                      <a:noFill/>
                    </a:lnT>
                    <a:lnB>
                      <a:noFill/>
                    </a:lnB>
                  </a:tcPr>
                </a:tc>
                <a:tc>
                  <a:txBody>
                    <a:bodyPr/>
                    <a:lstStyle/>
                    <a:p>
                      <a:r>
                        <a:rPr lang="en-US" b="1" dirty="0"/>
                        <a:t>Description</a:t>
                      </a:r>
                    </a:p>
                  </a:txBody>
                  <a:tcPr anchor="ctr">
                    <a:lnL>
                      <a:noFill/>
                    </a:lnL>
                    <a:lnR>
                      <a:noFill/>
                    </a:lnR>
                    <a:lnT>
                      <a:noFill/>
                    </a:lnT>
                    <a:lnB>
                      <a:noFill/>
                    </a:lnB>
                  </a:tcPr>
                </a:tc>
                <a:tc>
                  <a:txBody>
                    <a:bodyPr/>
                    <a:lstStyle/>
                    <a:p>
                      <a:r>
                        <a:rPr lang="en-US" b="1" dirty="0"/>
                        <a:t>Type</a:t>
                      </a:r>
                    </a:p>
                  </a:txBody>
                  <a:tcPr anchor="ctr">
                    <a:lnL>
                      <a:noFill/>
                    </a:lnL>
                    <a:lnR>
                      <a:noFill/>
                    </a:lnR>
                    <a:lnT>
                      <a:noFill/>
                    </a:lnT>
                    <a:lnB>
                      <a:noFill/>
                    </a:lnB>
                  </a:tcPr>
                </a:tc>
                <a:tc>
                  <a:txBody>
                    <a:bodyPr/>
                    <a:lstStyle/>
                    <a:p>
                      <a:r>
                        <a:rPr lang="en-US" b="1" dirty="0"/>
                        <a:t>Length</a:t>
                      </a:r>
                    </a:p>
                  </a:txBody>
                  <a:tcPr anchor="ctr">
                    <a:lnL>
                      <a:noFill/>
                    </a:lnL>
                    <a:lnR>
                      <a:noFill/>
                    </a:lnR>
                    <a:lnT>
                      <a:noFill/>
                    </a:lnT>
                    <a:lnB>
                      <a:noFill/>
                    </a:lnB>
                  </a:tcPr>
                </a:tc>
                <a:tc>
                  <a:txBody>
                    <a:bodyPr/>
                    <a:lstStyle/>
                    <a:p>
                      <a:r>
                        <a:rPr lang="en-US" b="1" dirty="0"/>
                        <a:t>Source</a:t>
                      </a:r>
                    </a:p>
                  </a:txBody>
                  <a:tcPr anchor="ctr">
                    <a:lnL>
                      <a:noFill/>
                    </a:lnL>
                    <a:lnR>
                      <a:noFill/>
                    </a:lnR>
                    <a:lnT>
                      <a:noFill/>
                    </a:lnT>
                    <a:lnB>
                      <a:noFill/>
                    </a:lnB>
                  </a:tcPr>
                </a:tc>
              </a:tr>
              <a:tr h="0">
                <a:tc>
                  <a:txBody>
                    <a:bodyPr/>
                    <a:lstStyle/>
                    <a:p>
                      <a:r>
                        <a:rPr lang="en-US"/>
                        <a:t>ACCT-NUMBER</a:t>
                      </a:r>
                    </a:p>
                  </a:txBody>
                  <a:tcPr anchor="ctr">
                    <a:lnL>
                      <a:noFill/>
                    </a:lnL>
                    <a:lnR>
                      <a:noFill/>
                    </a:lnR>
                    <a:lnT>
                      <a:noFill/>
                    </a:lnT>
                    <a:lnB>
                      <a:noFill/>
                    </a:lnB>
                  </a:tcPr>
                </a:tc>
                <a:tc>
                  <a:txBody>
                    <a:bodyPr/>
                    <a:lstStyle/>
                    <a:p>
                      <a:r>
                        <a:rPr lang="en-US"/>
                        <a:t>Unique account ID</a:t>
                      </a:r>
                    </a:p>
                  </a:txBody>
                  <a:tcPr anchor="ctr">
                    <a:lnL>
                      <a:noFill/>
                    </a:lnL>
                    <a:lnR>
                      <a:noFill/>
                    </a:lnR>
                    <a:lnT>
                      <a:noFill/>
                    </a:lnT>
                    <a:lnB>
                      <a:noFill/>
                    </a:lnB>
                  </a:tcPr>
                </a:tc>
                <a:tc>
                  <a:txBody>
                    <a:bodyPr/>
                    <a:lstStyle/>
                    <a:p>
                      <a:r>
                        <a:rPr lang="en-US" dirty="0"/>
                        <a:t>CHAR</a:t>
                      </a:r>
                    </a:p>
                  </a:txBody>
                  <a:tcPr anchor="ctr">
                    <a:lnL>
                      <a:noFill/>
                    </a:lnL>
                    <a:lnR>
                      <a:noFill/>
                    </a:lnR>
                    <a:lnT>
                      <a:noFill/>
                    </a:lnT>
                    <a:lnB>
                      <a:noFill/>
                    </a:lnB>
                  </a:tcPr>
                </a:tc>
                <a:tc>
                  <a:txBody>
                    <a:bodyPr/>
                    <a:lstStyle/>
                    <a:p>
                      <a:r>
                        <a:rPr lang="en-US" dirty="0"/>
                        <a:t>10</a:t>
                      </a:r>
                    </a:p>
                  </a:txBody>
                  <a:tcPr anchor="ctr">
                    <a:lnL>
                      <a:noFill/>
                    </a:lnL>
                    <a:lnR>
                      <a:noFill/>
                    </a:lnR>
                    <a:lnT>
                      <a:noFill/>
                    </a:lnT>
                    <a:lnB>
                      <a:noFill/>
                    </a:lnB>
                  </a:tcPr>
                </a:tc>
                <a:tc>
                  <a:txBody>
                    <a:bodyPr/>
                    <a:lstStyle/>
                    <a:p>
                      <a:r>
                        <a:rPr lang="en-US" dirty="0"/>
                        <a:t>ACCOUNT-FILE</a:t>
                      </a:r>
                    </a:p>
                  </a:txBody>
                  <a:tcPr anchor="ctr">
                    <a:lnL>
                      <a:noFill/>
                    </a:lnL>
                    <a:lnR>
                      <a:noFill/>
                    </a:lnR>
                    <a:lnT>
                      <a:noFill/>
                    </a:lnT>
                    <a:lnB>
                      <a:noFill/>
                    </a:lnB>
                  </a:tcPr>
                </a:tc>
              </a:tr>
            </a:tbl>
          </a:graphicData>
        </a:graphic>
      </p:graphicFrame>
    </p:spTree>
    <p:extLst>
      <p:ext uri="{BB962C8B-B14F-4D97-AF65-F5344CB8AC3E}">
        <p14:creationId xmlns:p14="http://schemas.microsoft.com/office/powerpoint/2010/main" val="410903252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3. Entity–Relationship (ER) Modeling</a:t>
            </a:r>
          </a:p>
        </p:txBody>
      </p:sp>
      <p:sp>
        <p:nvSpPr>
          <p:cNvPr id="3" name="Content Placeholder 2"/>
          <p:cNvSpPr>
            <a:spLocks noGrp="1"/>
          </p:cNvSpPr>
          <p:nvPr>
            <p:ph idx="1"/>
          </p:nvPr>
        </p:nvSpPr>
        <p:spPr/>
        <p:txBody>
          <a:bodyPr>
            <a:normAutofit fontScale="92500" lnSpcReduction="10000"/>
          </a:bodyPr>
          <a:lstStyle/>
          <a:p>
            <a:r>
              <a:rPr lang="en-US" b="1" dirty="0" smtClean="0"/>
              <a:t>Purpose:</a:t>
            </a:r>
            <a:endParaRPr lang="en-US" dirty="0" smtClean="0"/>
          </a:p>
          <a:p>
            <a:pPr lvl="1" algn="just"/>
            <a:r>
              <a:rPr lang="en-US" dirty="0" smtClean="0"/>
              <a:t>To </a:t>
            </a:r>
            <a:r>
              <a:rPr lang="en-US" dirty="0"/>
              <a:t>define and visualize the </a:t>
            </a:r>
            <a:r>
              <a:rPr lang="en-US" b="1" dirty="0"/>
              <a:t>data structure</a:t>
            </a:r>
            <a:r>
              <a:rPr lang="en-US" dirty="0"/>
              <a:t> and </a:t>
            </a:r>
            <a:r>
              <a:rPr lang="en-US" b="1" dirty="0"/>
              <a:t>relationships</a:t>
            </a:r>
            <a:r>
              <a:rPr lang="en-US" dirty="0"/>
              <a:t> between </a:t>
            </a:r>
            <a:r>
              <a:rPr lang="en-US" dirty="0" smtClean="0"/>
              <a:t>entities.</a:t>
            </a:r>
          </a:p>
          <a:p>
            <a:r>
              <a:rPr lang="en-US" b="1" dirty="0" smtClean="0"/>
              <a:t>Usage</a:t>
            </a:r>
            <a:r>
              <a:rPr lang="en-US" b="1" dirty="0"/>
              <a:t>:</a:t>
            </a:r>
            <a:endParaRPr lang="en-US" dirty="0"/>
          </a:p>
          <a:p>
            <a:pPr lvl="1" algn="just"/>
            <a:r>
              <a:rPr lang="en-US" dirty="0"/>
              <a:t>Used with tools like </a:t>
            </a:r>
            <a:r>
              <a:rPr lang="en-US" b="1" dirty="0"/>
              <a:t>ER/Studio</a:t>
            </a:r>
            <a:r>
              <a:rPr lang="en-US" dirty="0"/>
              <a:t> or </a:t>
            </a:r>
            <a:r>
              <a:rPr lang="en-US" b="1" dirty="0"/>
              <a:t>Oracle Designer</a:t>
            </a:r>
            <a:r>
              <a:rPr lang="en-US" dirty="0"/>
              <a:t>.</a:t>
            </a:r>
          </a:p>
          <a:p>
            <a:pPr lvl="1"/>
            <a:r>
              <a:rPr lang="en-US" dirty="0"/>
              <a:t>Forms the foundation for database re-engineering.</a:t>
            </a:r>
          </a:p>
          <a:p>
            <a:r>
              <a:rPr lang="en-US" b="1" dirty="0"/>
              <a:t>Example</a:t>
            </a:r>
            <a:r>
              <a:rPr lang="en-US" b="1" dirty="0" smtClean="0"/>
              <a:t>:</a:t>
            </a:r>
          </a:p>
          <a:p>
            <a:pPr lvl="1"/>
            <a:r>
              <a:rPr lang="en-US" dirty="0"/>
              <a:t>Entities: Customer, Account, </a:t>
            </a:r>
            <a:r>
              <a:rPr lang="en-US" dirty="0" smtClean="0"/>
              <a:t>Transaction</a:t>
            </a:r>
          </a:p>
          <a:p>
            <a:pPr lvl="1"/>
            <a:r>
              <a:rPr lang="en-US" dirty="0"/>
              <a:t>Relationships: One customer → many accounts; One account → many transactions.</a:t>
            </a:r>
          </a:p>
          <a:p>
            <a:endParaRPr lang="en-US" dirty="0"/>
          </a:p>
        </p:txBody>
      </p:sp>
    </p:spTree>
    <p:extLst>
      <p:ext uri="{BB962C8B-B14F-4D97-AF65-F5344CB8AC3E}">
        <p14:creationId xmlns:p14="http://schemas.microsoft.com/office/powerpoint/2010/main" val="10517586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4. Structured Analysis</a:t>
            </a:r>
          </a:p>
        </p:txBody>
      </p:sp>
      <p:sp>
        <p:nvSpPr>
          <p:cNvPr id="3" name="Content Placeholder 2"/>
          <p:cNvSpPr>
            <a:spLocks noGrp="1"/>
          </p:cNvSpPr>
          <p:nvPr>
            <p:ph idx="1"/>
          </p:nvPr>
        </p:nvSpPr>
        <p:spPr/>
        <p:txBody>
          <a:bodyPr>
            <a:normAutofit fontScale="85000" lnSpcReduction="20000"/>
          </a:bodyPr>
          <a:lstStyle/>
          <a:p>
            <a:r>
              <a:rPr lang="en-US" b="1" dirty="0" smtClean="0"/>
              <a:t>Purpose: </a:t>
            </a:r>
          </a:p>
          <a:p>
            <a:pPr lvl="1" algn="just"/>
            <a:r>
              <a:rPr lang="en-US" dirty="0" smtClean="0"/>
              <a:t>To </a:t>
            </a:r>
            <a:r>
              <a:rPr lang="en-US" dirty="0"/>
              <a:t>decompose the system into smaller, well-defined </a:t>
            </a:r>
            <a:r>
              <a:rPr lang="en-US" dirty="0" smtClean="0"/>
              <a:t>functions.</a:t>
            </a:r>
          </a:p>
          <a:p>
            <a:r>
              <a:rPr lang="en-US" b="1" dirty="0" smtClean="0"/>
              <a:t>Techniques </a:t>
            </a:r>
            <a:r>
              <a:rPr lang="en-US" b="1" dirty="0"/>
              <a:t>include:</a:t>
            </a:r>
            <a:endParaRPr lang="en-US" dirty="0"/>
          </a:p>
          <a:p>
            <a:pPr lvl="1" algn="just"/>
            <a:r>
              <a:rPr lang="en-US" b="1" dirty="0"/>
              <a:t>Process Specification (P-Specs):</a:t>
            </a:r>
            <a:r>
              <a:rPr lang="en-US" dirty="0"/>
              <a:t> Describe logic behind each DFD process.</a:t>
            </a:r>
          </a:p>
          <a:p>
            <a:pPr lvl="1" algn="just"/>
            <a:r>
              <a:rPr lang="en-US" b="1" dirty="0"/>
              <a:t>Structured English:</a:t>
            </a:r>
            <a:r>
              <a:rPr lang="en-US" dirty="0"/>
              <a:t> Combines natural language with programming control constructs.</a:t>
            </a:r>
          </a:p>
          <a:p>
            <a:pPr lvl="1"/>
            <a:r>
              <a:rPr lang="en-US" b="1" dirty="0"/>
              <a:t>Decision Tables/Trees:</a:t>
            </a:r>
            <a:r>
              <a:rPr lang="en-US" dirty="0"/>
              <a:t> Represent business rules for clarity.</a:t>
            </a:r>
          </a:p>
          <a:p>
            <a:r>
              <a:rPr lang="en-US" b="1" dirty="0" smtClean="0"/>
              <a:t>Example:</a:t>
            </a:r>
            <a:endParaRPr lang="en-US" dirty="0"/>
          </a:p>
          <a:p>
            <a:pPr lvl="1"/>
            <a:r>
              <a:rPr lang="en-US" dirty="0" smtClean="0"/>
              <a:t>Decision </a:t>
            </a:r>
            <a:r>
              <a:rPr lang="en-US" dirty="0"/>
              <a:t>table for “Interest Calculation” depending on account type and balance range.</a:t>
            </a:r>
          </a:p>
        </p:txBody>
      </p:sp>
    </p:spTree>
    <p:extLst>
      <p:ext uri="{BB962C8B-B14F-4D97-AF65-F5344CB8AC3E}">
        <p14:creationId xmlns:p14="http://schemas.microsoft.com/office/powerpoint/2010/main" val="290158350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5. Reverse Engineering</a:t>
            </a:r>
          </a:p>
        </p:txBody>
      </p:sp>
      <p:sp>
        <p:nvSpPr>
          <p:cNvPr id="3" name="Content Placeholder 2"/>
          <p:cNvSpPr>
            <a:spLocks noGrp="1"/>
          </p:cNvSpPr>
          <p:nvPr>
            <p:ph idx="1"/>
          </p:nvPr>
        </p:nvSpPr>
        <p:spPr/>
        <p:txBody>
          <a:bodyPr>
            <a:normAutofit fontScale="92500" lnSpcReduction="10000"/>
          </a:bodyPr>
          <a:lstStyle/>
          <a:p>
            <a:r>
              <a:rPr lang="en-US" b="1" dirty="0" smtClean="0"/>
              <a:t>Purpose:</a:t>
            </a:r>
            <a:endParaRPr lang="en-US" dirty="0" smtClean="0"/>
          </a:p>
          <a:p>
            <a:pPr lvl="1"/>
            <a:r>
              <a:rPr lang="en-US" dirty="0" smtClean="0"/>
              <a:t>To </a:t>
            </a:r>
            <a:r>
              <a:rPr lang="en-US" dirty="0"/>
              <a:t>extract design and logic from existing COBOL </a:t>
            </a:r>
            <a:r>
              <a:rPr lang="en-US" dirty="0" smtClean="0"/>
              <a:t>code.</a:t>
            </a:r>
          </a:p>
          <a:p>
            <a:r>
              <a:rPr lang="en-US" b="1" dirty="0" smtClean="0"/>
              <a:t>Usage</a:t>
            </a:r>
            <a:r>
              <a:rPr lang="en-US" b="1" dirty="0"/>
              <a:t>:</a:t>
            </a:r>
            <a:endParaRPr lang="en-US" dirty="0"/>
          </a:p>
          <a:p>
            <a:pPr lvl="1"/>
            <a:r>
              <a:rPr lang="en-US" dirty="0"/>
              <a:t>Tools: </a:t>
            </a:r>
            <a:r>
              <a:rPr lang="en-US" b="1" dirty="0"/>
              <a:t>Micro Focus Enterprise Analyzer</a:t>
            </a:r>
            <a:r>
              <a:rPr lang="en-US" dirty="0"/>
              <a:t>, </a:t>
            </a:r>
            <a:r>
              <a:rPr lang="en-US" b="1" dirty="0"/>
              <a:t>CAST AIP</a:t>
            </a:r>
            <a:r>
              <a:rPr lang="en-US" dirty="0"/>
              <a:t>, </a:t>
            </a:r>
            <a:r>
              <a:rPr lang="en-US" b="1" dirty="0" err="1" smtClean="0"/>
              <a:t>SonarQube</a:t>
            </a:r>
            <a:r>
              <a:rPr lang="en-US" dirty="0" smtClean="0"/>
              <a:t>.</a:t>
            </a:r>
          </a:p>
          <a:p>
            <a:pPr lvl="1"/>
            <a:r>
              <a:rPr lang="en-US" dirty="0" smtClean="0"/>
              <a:t>Generates </a:t>
            </a:r>
            <a:r>
              <a:rPr lang="en-US" dirty="0"/>
              <a:t>flowcharts, call graphs, and architecture maps automatically.</a:t>
            </a:r>
          </a:p>
          <a:p>
            <a:r>
              <a:rPr lang="en-US" b="1" dirty="0" smtClean="0"/>
              <a:t>Outcome:</a:t>
            </a:r>
            <a:endParaRPr lang="en-US" dirty="0" smtClean="0"/>
          </a:p>
          <a:p>
            <a:pPr lvl="1"/>
            <a:r>
              <a:rPr lang="en-US" dirty="0" smtClean="0"/>
              <a:t>Reconstructed </a:t>
            </a:r>
            <a:r>
              <a:rPr lang="en-US" dirty="0"/>
              <a:t>architecture and dependency diagrams help identify modules to refactor or encapsulate.</a:t>
            </a:r>
          </a:p>
        </p:txBody>
      </p:sp>
    </p:spTree>
    <p:extLst>
      <p:ext uri="{BB962C8B-B14F-4D97-AF65-F5344CB8AC3E}">
        <p14:creationId xmlns:p14="http://schemas.microsoft.com/office/powerpoint/2010/main" val="410824523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6. Data Flow and Control Flow Analysis</a:t>
            </a:r>
          </a:p>
        </p:txBody>
      </p:sp>
      <p:sp>
        <p:nvSpPr>
          <p:cNvPr id="3" name="Content Placeholder 2"/>
          <p:cNvSpPr>
            <a:spLocks noGrp="1"/>
          </p:cNvSpPr>
          <p:nvPr>
            <p:ph idx="1"/>
          </p:nvPr>
        </p:nvSpPr>
        <p:spPr/>
        <p:txBody>
          <a:bodyPr>
            <a:normAutofit fontScale="92500" lnSpcReduction="10000"/>
          </a:bodyPr>
          <a:lstStyle/>
          <a:p>
            <a:r>
              <a:rPr lang="en-US" b="1" dirty="0" smtClean="0"/>
              <a:t>Purpose:</a:t>
            </a:r>
            <a:endParaRPr lang="en-US" dirty="0" smtClean="0"/>
          </a:p>
          <a:p>
            <a:pPr lvl="1"/>
            <a:r>
              <a:rPr lang="en-US" dirty="0" smtClean="0"/>
              <a:t>To </a:t>
            </a:r>
            <a:r>
              <a:rPr lang="en-US" dirty="0"/>
              <a:t>trace how data variables and control logic move across the </a:t>
            </a:r>
            <a:r>
              <a:rPr lang="en-US" dirty="0" smtClean="0"/>
              <a:t>program.</a:t>
            </a:r>
          </a:p>
          <a:p>
            <a:r>
              <a:rPr lang="en-US" b="1" dirty="0" smtClean="0"/>
              <a:t>Usage</a:t>
            </a:r>
            <a:r>
              <a:rPr lang="en-US" b="1" dirty="0"/>
              <a:t>:</a:t>
            </a:r>
            <a:endParaRPr lang="en-US" dirty="0"/>
          </a:p>
          <a:p>
            <a:pPr lvl="1"/>
            <a:r>
              <a:rPr lang="en-US" dirty="0"/>
              <a:t>Detects unused variables, dead code, or risky data dependencies.</a:t>
            </a:r>
          </a:p>
          <a:p>
            <a:pPr lvl="1"/>
            <a:r>
              <a:rPr lang="en-US" dirty="0"/>
              <a:t>Helps evaluate program complexity and test coverage.</a:t>
            </a:r>
          </a:p>
          <a:p>
            <a:r>
              <a:rPr lang="en-US" b="1" dirty="0" smtClean="0"/>
              <a:t>Example:</a:t>
            </a:r>
            <a:endParaRPr lang="en-US" dirty="0" smtClean="0"/>
          </a:p>
          <a:p>
            <a:pPr lvl="1"/>
            <a:r>
              <a:rPr lang="en-US" dirty="0"/>
              <a:t>Mapping how TRAN-AMOUNT variable moves across deposit, validation, and posting modules.</a:t>
            </a:r>
          </a:p>
        </p:txBody>
      </p:sp>
    </p:spTree>
    <p:extLst>
      <p:ext uri="{BB962C8B-B14F-4D97-AF65-F5344CB8AC3E}">
        <p14:creationId xmlns:p14="http://schemas.microsoft.com/office/powerpoint/2010/main" val="1825620588"/>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7. Interviews and Questionnaires</a:t>
            </a:r>
          </a:p>
        </p:txBody>
      </p:sp>
      <p:sp>
        <p:nvSpPr>
          <p:cNvPr id="3" name="Content Placeholder 2"/>
          <p:cNvSpPr>
            <a:spLocks noGrp="1"/>
          </p:cNvSpPr>
          <p:nvPr>
            <p:ph idx="1"/>
          </p:nvPr>
        </p:nvSpPr>
        <p:spPr/>
        <p:txBody>
          <a:bodyPr>
            <a:normAutofit fontScale="92500"/>
          </a:bodyPr>
          <a:lstStyle/>
          <a:p>
            <a:r>
              <a:rPr lang="en-US" b="1" dirty="0" smtClean="0"/>
              <a:t>Purpose:</a:t>
            </a:r>
            <a:endParaRPr lang="en-US" dirty="0" smtClean="0"/>
          </a:p>
          <a:p>
            <a:pPr lvl="1"/>
            <a:r>
              <a:rPr lang="en-US" dirty="0" smtClean="0"/>
              <a:t>To </a:t>
            </a:r>
            <a:r>
              <a:rPr lang="en-US" dirty="0"/>
              <a:t>gather information from stakeholders, users, and IT </a:t>
            </a:r>
            <a:r>
              <a:rPr lang="en-US" dirty="0" smtClean="0"/>
              <a:t>staff.</a:t>
            </a:r>
          </a:p>
          <a:p>
            <a:r>
              <a:rPr lang="en-US" b="1" dirty="0" smtClean="0"/>
              <a:t>Usage</a:t>
            </a:r>
            <a:r>
              <a:rPr lang="en-US" b="1" dirty="0"/>
              <a:t>:</a:t>
            </a:r>
            <a:endParaRPr lang="en-US" dirty="0"/>
          </a:p>
          <a:p>
            <a:pPr lvl="1"/>
            <a:r>
              <a:rPr lang="en-US" dirty="0"/>
              <a:t>Identify functional gaps and user pain points.</a:t>
            </a:r>
          </a:p>
          <a:p>
            <a:pPr lvl="1"/>
            <a:r>
              <a:rPr lang="en-US" dirty="0"/>
              <a:t>Used early in re-engineering to confirm requirements.</a:t>
            </a:r>
          </a:p>
          <a:p>
            <a:r>
              <a:rPr lang="en-US" b="1" dirty="0"/>
              <a:t>Example Questions:</a:t>
            </a:r>
            <a:endParaRPr lang="en-US" dirty="0"/>
          </a:p>
          <a:p>
            <a:pPr lvl="1"/>
            <a:r>
              <a:rPr lang="en-US" dirty="0"/>
              <a:t>“Which processes are most prone to failure?”</a:t>
            </a:r>
          </a:p>
          <a:p>
            <a:pPr lvl="1"/>
            <a:r>
              <a:rPr lang="en-US" dirty="0"/>
              <a:t>“Which reports do you use most often?”</a:t>
            </a:r>
          </a:p>
        </p:txBody>
      </p:sp>
    </p:spTree>
    <p:extLst>
      <p:ext uri="{BB962C8B-B14F-4D97-AF65-F5344CB8AC3E}">
        <p14:creationId xmlns:p14="http://schemas.microsoft.com/office/powerpoint/2010/main" val="4024337243"/>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8. Automated Static Analysis</a:t>
            </a:r>
          </a:p>
        </p:txBody>
      </p:sp>
      <p:sp>
        <p:nvSpPr>
          <p:cNvPr id="3" name="Content Placeholder 2"/>
          <p:cNvSpPr>
            <a:spLocks noGrp="1"/>
          </p:cNvSpPr>
          <p:nvPr>
            <p:ph idx="1"/>
          </p:nvPr>
        </p:nvSpPr>
        <p:spPr/>
        <p:txBody>
          <a:bodyPr>
            <a:normAutofit fontScale="92500" lnSpcReduction="10000"/>
          </a:bodyPr>
          <a:lstStyle/>
          <a:p>
            <a:r>
              <a:rPr lang="en-US" b="1" dirty="0" smtClean="0"/>
              <a:t>Purpose:</a:t>
            </a:r>
            <a:endParaRPr lang="en-US" dirty="0" smtClean="0"/>
          </a:p>
          <a:p>
            <a:pPr lvl="1" algn="just"/>
            <a:r>
              <a:rPr lang="en-US" dirty="0" smtClean="0"/>
              <a:t>To </a:t>
            </a:r>
            <a:r>
              <a:rPr lang="en-US" dirty="0"/>
              <a:t>assess code quality and maintainability without </a:t>
            </a:r>
            <a:r>
              <a:rPr lang="en-US" dirty="0" smtClean="0"/>
              <a:t>execution.</a:t>
            </a:r>
          </a:p>
          <a:p>
            <a:pPr algn="just"/>
            <a:r>
              <a:rPr lang="en-US" b="1" dirty="0" smtClean="0"/>
              <a:t>Tools</a:t>
            </a:r>
            <a:r>
              <a:rPr lang="en-US" b="1" dirty="0"/>
              <a:t>:</a:t>
            </a:r>
            <a:r>
              <a:rPr lang="en-US" dirty="0"/>
              <a:t> CAST AIP, </a:t>
            </a:r>
            <a:r>
              <a:rPr lang="en-US" dirty="0" err="1"/>
              <a:t>SonarQube</a:t>
            </a:r>
            <a:r>
              <a:rPr lang="en-US" dirty="0"/>
              <a:t>, Micro Focus Enterprise </a:t>
            </a:r>
            <a:r>
              <a:rPr lang="en-US" dirty="0" smtClean="0"/>
              <a:t>Analyzer.</a:t>
            </a:r>
          </a:p>
          <a:p>
            <a:pPr algn="just"/>
            <a:r>
              <a:rPr lang="en-US" b="1" dirty="0" smtClean="0"/>
              <a:t>Measures</a:t>
            </a:r>
            <a:r>
              <a:rPr lang="en-US" b="1" dirty="0"/>
              <a:t>:</a:t>
            </a:r>
            <a:r>
              <a:rPr lang="en-US" dirty="0"/>
              <a:t> Complexity, duplication, documentation, and security risks.</a:t>
            </a:r>
          </a:p>
          <a:p>
            <a:r>
              <a:rPr lang="en-US" b="1" dirty="0"/>
              <a:t>Example Result:</a:t>
            </a:r>
            <a:endParaRPr lang="en-US" dirty="0"/>
          </a:p>
          <a:p>
            <a:pPr lvl="1" algn="just"/>
            <a:r>
              <a:rPr lang="en-US" dirty="0"/>
              <a:t>25 high-risk COBOL modules identified due to excessive branching and duplicated logic.</a:t>
            </a:r>
          </a:p>
        </p:txBody>
      </p:sp>
    </p:spTree>
    <p:extLst>
      <p:ext uri="{BB962C8B-B14F-4D97-AF65-F5344CB8AC3E}">
        <p14:creationId xmlns:p14="http://schemas.microsoft.com/office/powerpoint/2010/main" val="3822109349"/>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9. Prototyping</a:t>
            </a:r>
          </a:p>
        </p:txBody>
      </p:sp>
      <p:sp>
        <p:nvSpPr>
          <p:cNvPr id="3" name="Content Placeholder 2"/>
          <p:cNvSpPr>
            <a:spLocks noGrp="1"/>
          </p:cNvSpPr>
          <p:nvPr>
            <p:ph idx="1"/>
          </p:nvPr>
        </p:nvSpPr>
        <p:spPr/>
        <p:txBody>
          <a:bodyPr/>
          <a:lstStyle/>
          <a:p>
            <a:r>
              <a:rPr lang="en-US" b="1" dirty="0" smtClean="0"/>
              <a:t>Purpose:</a:t>
            </a:r>
            <a:endParaRPr lang="en-US" dirty="0" smtClean="0"/>
          </a:p>
          <a:p>
            <a:pPr lvl="1" algn="just"/>
            <a:r>
              <a:rPr lang="en-US" dirty="0" smtClean="0"/>
              <a:t>To </a:t>
            </a:r>
            <a:r>
              <a:rPr lang="en-US" dirty="0"/>
              <a:t>create small working models (mock-ups) of new system features or </a:t>
            </a:r>
            <a:r>
              <a:rPr lang="en-US" dirty="0" smtClean="0"/>
              <a:t>interfaces.</a:t>
            </a:r>
          </a:p>
          <a:p>
            <a:r>
              <a:rPr lang="en-US" b="1" dirty="0" smtClean="0"/>
              <a:t>Usage:</a:t>
            </a:r>
            <a:endParaRPr lang="en-US" dirty="0" smtClean="0"/>
          </a:p>
          <a:p>
            <a:pPr lvl="1" algn="just"/>
            <a:r>
              <a:rPr lang="en-US" dirty="0" smtClean="0"/>
              <a:t>Used </a:t>
            </a:r>
            <a:r>
              <a:rPr lang="en-US" dirty="0"/>
              <a:t>for validation with end users before full </a:t>
            </a:r>
            <a:r>
              <a:rPr lang="en-US" dirty="0" smtClean="0"/>
              <a:t>redevelopment.</a:t>
            </a:r>
          </a:p>
          <a:p>
            <a:pPr lvl="1" algn="just"/>
            <a:r>
              <a:rPr lang="en-US" dirty="0" smtClean="0"/>
              <a:t>Helps </a:t>
            </a:r>
            <a:r>
              <a:rPr lang="en-US" dirty="0"/>
              <a:t>visualize migrated banking functions on a web or cloud platform.</a:t>
            </a:r>
          </a:p>
        </p:txBody>
      </p:sp>
    </p:spTree>
    <p:extLst>
      <p:ext uri="{BB962C8B-B14F-4D97-AF65-F5344CB8AC3E}">
        <p14:creationId xmlns:p14="http://schemas.microsoft.com/office/powerpoint/2010/main" val="1683253195"/>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10. Cost–Benefit and Feasibility Analysis</a:t>
            </a:r>
          </a:p>
        </p:txBody>
      </p:sp>
      <p:sp>
        <p:nvSpPr>
          <p:cNvPr id="3" name="Content Placeholder 2"/>
          <p:cNvSpPr>
            <a:spLocks noGrp="1"/>
          </p:cNvSpPr>
          <p:nvPr>
            <p:ph idx="1"/>
          </p:nvPr>
        </p:nvSpPr>
        <p:spPr/>
        <p:txBody>
          <a:bodyPr>
            <a:normAutofit/>
          </a:bodyPr>
          <a:lstStyle/>
          <a:p>
            <a:r>
              <a:rPr lang="en-US" b="1" dirty="0" smtClean="0"/>
              <a:t>Purpose:</a:t>
            </a:r>
            <a:endParaRPr lang="en-US" dirty="0" smtClean="0"/>
          </a:p>
          <a:p>
            <a:pPr lvl="1" algn="just"/>
            <a:r>
              <a:rPr lang="en-US" dirty="0" smtClean="0"/>
              <a:t>To </a:t>
            </a:r>
            <a:r>
              <a:rPr lang="en-US" dirty="0"/>
              <a:t>evaluate whether re-engineering is </a:t>
            </a:r>
            <a:r>
              <a:rPr lang="en-US" dirty="0" smtClean="0"/>
              <a:t>justified.</a:t>
            </a:r>
          </a:p>
          <a:p>
            <a:r>
              <a:rPr lang="en-US" b="1" dirty="0" smtClean="0"/>
              <a:t>Types</a:t>
            </a:r>
            <a:r>
              <a:rPr lang="en-US" b="1" dirty="0"/>
              <a:t>:</a:t>
            </a:r>
            <a:endParaRPr lang="en-US" dirty="0"/>
          </a:p>
          <a:p>
            <a:pPr lvl="1" algn="just"/>
            <a:r>
              <a:rPr lang="en-US" b="1" dirty="0"/>
              <a:t>Technical Feasibility:</a:t>
            </a:r>
            <a:r>
              <a:rPr lang="en-US" dirty="0"/>
              <a:t> Can COBOL logic be migrated to Java or </a:t>
            </a:r>
            <a:r>
              <a:rPr lang="en-US" dirty="0" err="1"/>
              <a:t>microservices</a:t>
            </a:r>
            <a:r>
              <a:rPr lang="en-US" dirty="0"/>
              <a:t>?</a:t>
            </a:r>
          </a:p>
          <a:p>
            <a:pPr lvl="1" algn="just"/>
            <a:r>
              <a:rPr lang="en-US" b="1" dirty="0"/>
              <a:t>Economic Feasibility:</a:t>
            </a:r>
            <a:r>
              <a:rPr lang="en-US" dirty="0"/>
              <a:t> Do modernization benefits outweigh costs?</a:t>
            </a:r>
          </a:p>
          <a:p>
            <a:pPr lvl="1" algn="just"/>
            <a:r>
              <a:rPr lang="en-US" b="1" dirty="0"/>
              <a:t>Operational Feasibility:</a:t>
            </a:r>
            <a:r>
              <a:rPr lang="en-US" dirty="0"/>
              <a:t> Will users adapt to the new system?</a:t>
            </a:r>
          </a:p>
        </p:txBody>
      </p:sp>
    </p:spTree>
    <p:extLst>
      <p:ext uri="{BB962C8B-B14F-4D97-AF65-F5344CB8AC3E}">
        <p14:creationId xmlns:p14="http://schemas.microsoft.com/office/powerpoint/2010/main" val="392963571"/>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Summary Table</a:t>
            </a: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4167010314"/>
              </p:ext>
            </p:extLst>
          </p:nvPr>
        </p:nvGraphicFramePr>
        <p:xfrm>
          <a:off x="408791" y="1245515"/>
          <a:ext cx="8385588" cy="5466440"/>
        </p:xfrm>
        <a:graphic>
          <a:graphicData uri="http://schemas.openxmlformats.org/drawingml/2006/table">
            <a:tbl>
              <a:tblPr/>
              <a:tblGrid>
                <a:gridCol w="2096397"/>
                <a:gridCol w="2096397"/>
                <a:gridCol w="2096397"/>
                <a:gridCol w="2096397"/>
              </a:tblGrid>
              <a:tr h="582048">
                <a:tc>
                  <a:txBody>
                    <a:bodyPr/>
                    <a:lstStyle/>
                    <a:p>
                      <a:r>
                        <a:rPr lang="en-US" sz="1800" dirty="0"/>
                        <a:t>Technique</a:t>
                      </a:r>
                    </a:p>
                  </a:txBody>
                  <a:tcPr marL="72999" marR="72999" marT="36500" marB="36500" anchor="ctr">
                    <a:lnL>
                      <a:noFill/>
                    </a:lnL>
                    <a:lnR>
                      <a:noFill/>
                    </a:lnR>
                    <a:lnT>
                      <a:noFill/>
                    </a:lnT>
                    <a:lnB>
                      <a:noFill/>
                    </a:lnB>
                  </a:tcPr>
                </a:tc>
                <a:tc>
                  <a:txBody>
                    <a:bodyPr/>
                    <a:lstStyle/>
                    <a:p>
                      <a:r>
                        <a:rPr lang="en-US" sz="1800"/>
                        <a:t>Focus Area</a:t>
                      </a:r>
                    </a:p>
                  </a:txBody>
                  <a:tcPr marL="72999" marR="72999" marT="36500" marB="36500" anchor="ctr">
                    <a:lnL>
                      <a:noFill/>
                    </a:lnL>
                    <a:lnR>
                      <a:noFill/>
                    </a:lnR>
                    <a:lnT>
                      <a:noFill/>
                    </a:lnT>
                    <a:lnB>
                      <a:noFill/>
                    </a:lnB>
                  </a:tcPr>
                </a:tc>
                <a:tc>
                  <a:txBody>
                    <a:bodyPr/>
                    <a:lstStyle/>
                    <a:p>
                      <a:r>
                        <a:rPr lang="en-US" sz="1800"/>
                        <a:t>Tool/Method Example</a:t>
                      </a:r>
                    </a:p>
                  </a:txBody>
                  <a:tcPr marL="72999" marR="72999" marT="36500" marB="36500" anchor="ctr">
                    <a:lnL>
                      <a:noFill/>
                    </a:lnL>
                    <a:lnR>
                      <a:noFill/>
                    </a:lnR>
                    <a:lnT>
                      <a:noFill/>
                    </a:lnT>
                    <a:lnB>
                      <a:noFill/>
                    </a:lnB>
                  </a:tcPr>
                </a:tc>
                <a:tc>
                  <a:txBody>
                    <a:bodyPr/>
                    <a:lstStyle/>
                    <a:p>
                      <a:r>
                        <a:rPr lang="en-US" sz="1800"/>
                        <a:t>Output</a:t>
                      </a:r>
                    </a:p>
                  </a:txBody>
                  <a:tcPr marL="72999" marR="72999" marT="36500" marB="36500" anchor="ctr">
                    <a:lnL>
                      <a:noFill/>
                    </a:lnL>
                    <a:lnR>
                      <a:noFill/>
                    </a:lnR>
                    <a:lnT>
                      <a:noFill/>
                    </a:lnT>
                    <a:lnB>
                      <a:noFill/>
                    </a:lnB>
                  </a:tcPr>
                </a:tc>
              </a:tr>
              <a:tr h="332599">
                <a:tc>
                  <a:txBody>
                    <a:bodyPr/>
                    <a:lstStyle/>
                    <a:p>
                      <a:r>
                        <a:rPr lang="en-US" sz="1800" dirty="0"/>
                        <a:t>Data Flow Diagram</a:t>
                      </a:r>
                    </a:p>
                  </a:txBody>
                  <a:tcPr marL="72999" marR="72999" marT="36500" marB="36500" anchor="ctr">
                    <a:lnL>
                      <a:noFill/>
                    </a:lnL>
                    <a:lnR>
                      <a:noFill/>
                    </a:lnR>
                    <a:lnT>
                      <a:noFill/>
                    </a:lnT>
                    <a:lnB>
                      <a:noFill/>
                    </a:lnB>
                  </a:tcPr>
                </a:tc>
                <a:tc>
                  <a:txBody>
                    <a:bodyPr/>
                    <a:lstStyle/>
                    <a:p>
                      <a:r>
                        <a:rPr lang="en-US" sz="1800"/>
                        <a:t>Process Flow</a:t>
                      </a:r>
                    </a:p>
                  </a:txBody>
                  <a:tcPr marL="72999" marR="72999" marT="36500" marB="36500" anchor="ctr">
                    <a:lnL>
                      <a:noFill/>
                    </a:lnL>
                    <a:lnR>
                      <a:noFill/>
                    </a:lnR>
                    <a:lnT>
                      <a:noFill/>
                    </a:lnT>
                    <a:lnB>
                      <a:noFill/>
                    </a:lnB>
                  </a:tcPr>
                </a:tc>
                <a:tc>
                  <a:txBody>
                    <a:bodyPr/>
                    <a:lstStyle/>
                    <a:p>
                      <a:r>
                        <a:rPr lang="en-US" sz="1800"/>
                        <a:t>Draw.io, Lucidchart</a:t>
                      </a:r>
                    </a:p>
                  </a:txBody>
                  <a:tcPr marL="72999" marR="72999" marT="36500" marB="36500" anchor="ctr">
                    <a:lnL>
                      <a:noFill/>
                    </a:lnL>
                    <a:lnR>
                      <a:noFill/>
                    </a:lnR>
                    <a:lnT>
                      <a:noFill/>
                    </a:lnT>
                    <a:lnB>
                      <a:noFill/>
                    </a:lnB>
                  </a:tcPr>
                </a:tc>
                <a:tc>
                  <a:txBody>
                    <a:bodyPr/>
                    <a:lstStyle/>
                    <a:p>
                      <a:r>
                        <a:rPr lang="en-US" sz="1800"/>
                        <a:t>Process Model</a:t>
                      </a:r>
                    </a:p>
                  </a:txBody>
                  <a:tcPr marL="72999" marR="72999" marT="36500" marB="36500" anchor="ctr">
                    <a:lnL>
                      <a:noFill/>
                    </a:lnL>
                    <a:lnR>
                      <a:noFill/>
                    </a:lnR>
                    <a:lnT>
                      <a:noFill/>
                    </a:lnT>
                    <a:lnB>
                      <a:noFill/>
                    </a:lnB>
                  </a:tcPr>
                </a:tc>
              </a:tr>
              <a:tr h="582048">
                <a:tc>
                  <a:txBody>
                    <a:bodyPr/>
                    <a:lstStyle/>
                    <a:p>
                      <a:r>
                        <a:rPr lang="en-US" sz="1800" dirty="0"/>
                        <a:t>Data Dictionary</a:t>
                      </a:r>
                    </a:p>
                  </a:txBody>
                  <a:tcPr marL="72999" marR="72999" marT="36500" marB="36500" anchor="ctr">
                    <a:lnL>
                      <a:noFill/>
                    </a:lnL>
                    <a:lnR>
                      <a:noFill/>
                    </a:lnR>
                    <a:lnT>
                      <a:noFill/>
                    </a:lnT>
                    <a:lnB>
                      <a:noFill/>
                    </a:lnB>
                  </a:tcPr>
                </a:tc>
                <a:tc>
                  <a:txBody>
                    <a:bodyPr/>
                    <a:lstStyle/>
                    <a:p>
                      <a:r>
                        <a:rPr lang="en-US" sz="1800" dirty="0"/>
                        <a:t>Data Definition</a:t>
                      </a:r>
                    </a:p>
                  </a:txBody>
                  <a:tcPr marL="72999" marR="72999" marT="36500" marB="36500" anchor="ctr">
                    <a:lnL>
                      <a:noFill/>
                    </a:lnL>
                    <a:lnR>
                      <a:noFill/>
                    </a:lnR>
                    <a:lnT>
                      <a:noFill/>
                    </a:lnT>
                    <a:lnB>
                      <a:noFill/>
                    </a:lnB>
                  </a:tcPr>
                </a:tc>
                <a:tc>
                  <a:txBody>
                    <a:bodyPr/>
                    <a:lstStyle/>
                    <a:p>
                      <a:r>
                        <a:rPr lang="en-US" sz="1800"/>
                        <a:t>Manual/Automated Extraction</a:t>
                      </a:r>
                    </a:p>
                  </a:txBody>
                  <a:tcPr marL="72999" marR="72999" marT="36500" marB="36500" anchor="ctr">
                    <a:lnL>
                      <a:noFill/>
                    </a:lnL>
                    <a:lnR>
                      <a:noFill/>
                    </a:lnR>
                    <a:lnT>
                      <a:noFill/>
                    </a:lnT>
                    <a:lnB>
                      <a:noFill/>
                    </a:lnB>
                  </a:tcPr>
                </a:tc>
                <a:tc>
                  <a:txBody>
                    <a:bodyPr/>
                    <a:lstStyle/>
                    <a:p>
                      <a:r>
                        <a:rPr lang="en-US" sz="1800"/>
                        <a:t>Data Catalog</a:t>
                      </a:r>
                    </a:p>
                  </a:txBody>
                  <a:tcPr marL="72999" marR="72999" marT="36500" marB="36500" anchor="ctr">
                    <a:lnL>
                      <a:noFill/>
                    </a:lnL>
                    <a:lnR>
                      <a:noFill/>
                    </a:lnR>
                    <a:lnT>
                      <a:noFill/>
                    </a:lnT>
                    <a:lnB>
                      <a:noFill/>
                    </a:lnB>
                  </a:tcPr>
                </a:tc>
              </a:tr>
              <a:tr h="332599">
                <a:tc>
                  <a:txBody>
                    <a:bodyPr/>
                    <a:lstStyle/>
                    <a:p>
                      <a:r>
                        <a:rPr lang="en-US" sz="1800"/>
                        <a:t>ER Modeling</a:t>
                      </a:r>
                    </a:p>
                  </a:txBody>
                  <a:tcPr marL="72999" marR="72999" marT="36500" marB="36500" anchor="ctr">
                    <a:lnL>
                      <a:noFill/>
                    </a:lnL>
                    <a:lnR>
                      <a:noFill/>
                    </a:lnR>
                    <a:lnT>
                      <a:noFill/>
                    </a:lnT>
                    <a:lnB>
                      <a:noFill/>
                    </a:lnB>
                  </a:tcPr>
                </a:tc>
                <a:tc>
                  <a:txBody>
                    <a:bodyPr/>
                    <a:lstStyle/>
                    <a:p>
                      <a:r>
                        <a:rPr lang="en-US" sz="1800" dirty="0"/>
                        <a:t>Data Relationships</a:t>
                      </a:r>
                    </a:p>
                  </a:txBody>
                  <a:tcPr marL="72999" marR="72999" marT="36500" marB="36500" anchor="ctr">
                    <a:lnL>
                      <a:noFill/>
                    </a:lnL>
                    <a:lnR>
                      <a:noFill/>
                    </a:lnR>
                    <a:lnT>
                      <a:noFill/>
                    </a:lnT>
                    <a:lnB>
                      <a:noFill/>
                    </a:lnB>
                  </a:tcPr>
                </a:tc>
                <a:tc>
                  <a:txBody>
                    <a:bodyPr/>
                    <a:lstStyle/>
                    <a:p>
                      <a:r>
                        <a:rPr lang="en-US" sz="1800"/>
                        <a:t>ER/Studio</a:t>
                      </a:r>
                    </a:p>
                  </a:txBody>
                  <a:tcPr marL="72999" marR="72999" marT="36500" marB="36500" anchor="ctr">
                    <a:lnL>
                      <a:noFill/>
                    </a:lnL>
                    <a:lnR>
                      <a:noFill/>
                    </a:lnR>
                    <a:lnT>
                      <a:noFill/>
                    </a:lnT>
                    <a:lnB>
                      <a:noFill/>
                    </a:lnB>
                  </a:tcPr>
                </a:tc>
                <a:tc>
                  <a:txBody>
                    <a:bodyPr/>
                    <a:lstStyle/>
                    <a:p>
                      <a:r>
                        <a:rPr lang="en-US" sz="1800"/>
                        <a:t>ER Diagram</a:t>
                      </a:r>
                    </a:p>
                  </a:txBody>
                  <a:tcPr marL="72999" marR="72999" marT="36500" marB="36500" anchor="ctr">
                    <a:lnL>
                      <a:noFill/>
                    </a:lnL>
                    <a:lnR>
                      <a:noFill/>
                    </a:lnR>
                    <a:lnT>
                      <a:noFill/>
                    </a:lnT>
                    <a:lnB>
                      <a:noFill/>
                    </a:lnB>
                  </a:tcPr>
                </a:tc>
              </a:tr>
              <a:tr h="582048">
                <a:tc>
                  <a:txBody>
                    <a:bodyPr/>
                    <a:lstStyle/>
                    <a:p>
                      <a:r>
                        <a:rPr lang="en-US" sz="1800"/>
                        <a:t>Structured Analysis</a:t>
                      </a:r>
                    </a:p>
                  </a:txBody>
                  <a:tcPr marL="72999" marR="72999" marT="36500" marB="36500" anchor="ctr">
                    <a:lnL>
                      <a:noFill/>
                    </a:lnL>
                    <a:lnR>
                      <a:noFill/>
                    </a:lnR>
                    <a:lnT>
                      <a:noFill/>
                    </a:lnT>
                    <a:lnB>
                      <a:noFill/>
                    </a:lnB>
                  </a:tcPr>
                </a:tc>
                <a:tc>
                  <a:txBody>
                    <a:bodyPr/>
                    <a:lstStyle/>
                    <a:p>
                      <a:r>
                        <a:rPr lang="en-US" sz="1800" dirty="0"/>
                        <a:t>Functional Breakdown</a:t>
                      </a:r>
                    </a:p>
                  </a:txBody>
                  <a:tcPr marL="72999" marR="72999" marT="36500" marB="36500" anchor="ctr">
                    <a:lnL>
                      <a:noFill/>
                    </a:lnL>
                    <a:lnR>
                      <a:noFill/>
                    </a:lnR>
                    <a:lnT>
                      <a:noFill/>
                    </a:lnT>
                    <a:lnB>
                      <a:noFill/>
                    </a:lnB>
                  </a:tcPr>
                </a:tc>
                <a:tc>
                  <a:txBody>
                    <a:bodyPr/>
                    <a:lstStyle/>
                    <a:p>
                      <a:r>
                        <a:rPr lang="en-US" sz="1800"/>
                        <a:t>DFD + P-Specs</a:t>
                      </a:r>
                    </a:p>
                  </a:txBody>
                  <a:tcPr marL="72999" marR="72999" marT="36500" marB="36500" anchor="ctr">
                    <a:lnL>
                      <a:noFill/>
                    </a:lnL>
                    <a:lnR>
                      <a:noFill/>
                    </a:lnR>
                    <a:lnT>
                      <a:noFill/>
                    </a:lnT>
                    <a:lnB>
                      <a:noFill/>
                    </a:lnB>
                  </a:tcPr>
                </a:tc>
                <a:tc>
                  <a:txBody>
                    <a:bodyPr/>
                    <a:lstStyle/>
                    <a:p>
                      <a:r>
                        <a:rPr lang="en-US" sz="1800"/>
                        <a:t>Functional Model</a:t>
                      </a:r>
                    </a:p>
                  </a:txBody>
                  <a:tcPr marL="72999" marR="72999" marT="36500" marB="36500" anchor="ctr">
                    <a:lnL>
                      <a:noFill/>
                    </a:lnL>
                    <a:lnR>
                      <a:noFill/>
                    </a:lnR>
                    <a:lnT>
                      <a:noFill/>
                    </a:lnT>
                    <a:lnB>
                      <a:noFill/>
                    </a:lnB>
                  </a:tcPr>
                </a:tc>
              </a:tr>
              <a:tr h="582048">
                <a:tc>
                  <a:txBody>
                    <a:bodyPr/>
                    <a:lstStyle/>
                    <a:p>
                      <a:r>
                        <a:rPr lang="en-US" sz="1800"/>
                        <a:t>Reverse Engineering</a:t>
                      </a:r>
                    </a:p>
                  </a:txBody>
                  <a:tcPr marL="72999" marR="72999" marT="36500" marB="36500" anchor="ctr">
                    <a:lnL>
                      <a:noFill/>
                    </a:lnL>
                    <a:lnR>
                      <a:noFill/>
                    </a:lnR>
                    <a:lnT>
                      <a:noFill/>
                    </a:lnT>
                    <a:lnB>
                      <a:noFill/>
                    </a:lnB>
                  </a:tcPr>
                </a:tc>
                <a:tc>
                  <a:txBody>
                    <a:bodyPr/>
                    <a:lstStyle/>
                    <a:p>
                      <a:r>
                        <a:rPr lang="en-US" sz="1800"/>
                        <a:t>Code Understanding</a:t>
                      </a:r>
                    </a:p>
                  </a:txBody>
                  <a:tcPr marL="72999" marR="72999" marT="36500" marB="36500" anchor="ctr">
                    <a:lnL>
                      <a:noFill/>
                    </a:lnL>
                    <a:lnR>
                      <a:noFill/>
                    </a:lnR>
                    <a:lnT>
                      <a:noFill/>
                    </a:lnT>
                    <a:lnB>
                      <a:noFill/>
                    </a:lnB>
                  </a:tcPr>
                </a:tc>
                <a:tc>
                  <a:txBody>
                    <a:bodyPr/>
                    <a:lstStyle/>
                    <a:p>
                      <a:r>
                        <a:rPr lang="en-US" sz="1800" dirty="0"/>
                        <a:t>Micro Focus Analyzer</a:t>
                      </a:r>
                    </a:p>
                  </a:txBody>
                  <a:tcPr marL="72999" marR="72999" marT="36500" marB="36500" anchor="ctr">
                    <a:lnL>
                      <a:noFill/>
                    </a:lnL>
                    <a:lnR>
                      <a:noFill/>
                    </a:lnR>
                    <a:lnT>
                      <a:noFill/>
                    </a:lnT>
                    <a:lnB>
                      <a:noFill/>
                    </a:lnB>
                  </a:tcPr>
                </a:tc>
                <a:tc>
                  <a:txBody>
                    <a:bodyPr/>
                    <a:lstStyle/>
                    <a:p>
                      <a:r>
                        <a:rPr lang="en-US" sz="1800"/>
                        <a:t>Architecture Map</a:t>
                      </a:r>
                    </a:p>
                  </a:txBody>
                  <a:tcPr marL="72999" marR="72999" marT="36500" marB="36500" anchor="ctr">
                    <a:lnL>
                      <a:noFill/>
                    </a:lnL>
                    <a:lnR>
                      <a:noFill/>
                    </a:lnR>
                    <a:lnT>
                      <a:noFill/>
                    </a:lnT>
                    <a:lnB>
                      <a:noFill/>
                    </a:lnB>
                  </a:tcPr>
                </a:tc>
              </a:tr>
              <a:tr h="332599">
                <a:tc>
                  <a:txBody>
                    <a:bodyPr/>
                    <a:lstStyle/>
                    <a:p>
                      <a:r>
                        <a:rPr lang="en-US" sz="1800"/>
                        <a:t>Flow Analysis</a:t>
                      </a:r>
                    </a:p>
                  </a:txBody>
                  <a:tcPr marL="72999" marR="72999" marT="36500" marB="36500" anchor="ctr">
                    <a:lnL>
                      <a:noFill/>
                    </a:lnL>
                    <a:lnR>
                      <a:noFill/>
                    </a:lnR>
                    <a:lnT>
                      <a:noFill/>
                    </a:lnT>
                    <a:lnB>
                      <a:noFill/>
                    </a:lnB>
                  </a:tcPr>
                </a:tc>
                <a:tc>
                  <a:txBody>
                    <a:bodyPr/>
                    <a:lstStyle/>
                    <a:p>
                      <a:r>
                        <a:rPr lang="en-US" sz="1800"/>
                        <a:t>Logic Tracing</a:t>
                      </a:r>
                    </a:p>
                  </a:txBody>
                  <a:tcPr marL="72999" marR="72999" marT="36500" marB="36500" anchor="ctr">
                    <a:lnL>
                      <a:noFill/>
                    </a:lnL>
                    <a:lnR>
                      <a:noFill/>
                    </a:lnR>
                    <a:lnT>
                      <a:noFill/>
                    </a:lnT>
                    <a:lnB>
                      <a:noFill/>
                    </a:lnB>
                  </a:tcPr>
                </a:tc>
                <a:tc>
                  <a:txBody>
                    <a:bodyPr/>
                    <a:lstStyle/>
                    <a:p>
                      <a:r>
                        <a:rPr lang="en-US" sz="1800" dirty="0"/>
                        <a:t>CAST, </a:t>
                      </a:r>
                      <a:r>
                        <a:rPr lang="en-US" sz="1800" dirty="0" err="1"/>
                        <a:t>SonarQube</a:t>
                      </a:r>
                      <a:endParaRPr lang="en-US" sz="1800" dirty="0"/>
                    </a:p>
                  </a:txBody>
                  <a:tcPr marL="72999" marR="72999" marT="36500" marB="36500" anchor="ctr">
                    <a:lnL>
                      <a:noFill/>
                    </a:lnL>
                    <a:lnR>
                      <a:noFill/>
                    </a:lnR>
                    <a:lnT>
                      <a:noFill/>
                    </a:lnT>
                    <a:lnB>
                      <a:noFill/>
                    </a:lnB>
                  </a:tcPr>
                </a:tc>
                <a:tc>
                  <a:txBody>
                    <a:bodyPr/>
                    <a:lstStyle/>
                    <a:p>
                      <a:r>
                        <a:rPr lang="en-US" sz="1800"/>
                        <a:t>Flow Graphs</a:t>
                      </a:r>
                    </a:p>
                  </a:txBody>
                  <a:tcPr marL="72999" marR="72999" marT="36500" marB="36500" anchor="ctr">
                    <a:lnL>
                      <a:noFill/>
                    </a:lnL>
                    <a:lnR>
                      <a:noFill/>
                    </a:lnR>
                    <a:lnT>
                      <a:noFill/>
                    </a:lnT>
                    <a:lnB>
                      <a:noFill/>
                    </a:lnB>
                  </a:tcPr>
                </a:tc>
              </a:tr>
              <a:tr h="582048">
                <a:tc>
                  <a:txBody>
                    <a:bodyPr/>
                    <a:lstStyle/>
                    <a:p>
                      <a:r>
                        <a:rPr lang="en-US" sz="1800"/>
                        <a:t>Interviews</a:t>
                      </a:r>
                    </a:p>
                  </a:txBody>
                  <a:tcPr marL="72999" marR="72999" marT="36500" marB="36500" anchor="ctr">
                    <a:lnL>
                      <a:noFill/>
                    </a:lnL>
                    <a:lnR>
                      <a:noFill/>
                    </a:lnR>
                    <a:lnT>
                      <a:noFill/>
                    </a:lnT>
                    <a:lnB>
                      <a:noFill/>
                    </a:lnB>
                  </a:tcPr>
                </a:tc>
                <a:tc>
                  <a:txBody>
                    <a:bodyPr/>
                    <a:lstStyle/>
                    <a:p>
                      <a:r>
                        <a:rPr lang="en-US" sz="1800"/>
                        <a:t>User Understanding</a:t>
                      </a:r>
                    </a:p>
                  </a:txBody>
                  <a:tcPr marL="72999" marR="72999" marT="36500" marB="36500" anchor="ctr">
                    <a:lnL>
                      <a:noFill/>
                    </a:lnL>
                    <a:lnR>
                      <a:noFill/>
                    </a:lnR>
                    <a:lnT>
                      <a:noFill/>
                    </a:lnT>
                    <a:lnB>
                      <a:noFill/>
                    </a:lnB>
                  </a:tcPr>
                </a:tc>
                <a:tc>
                  <a:txBody>
                    <a:bodyPr/>
                    <a:lstStyle/>
                    <a:p>
                      <a:r>
                        <a:rPr lang="en-US" sz="1800" dirty="0"/>
                        <a:t>Surveys</a:t>
                      </a:r>
                    </a:p>
                  </a:txBody>
                  <a:tcPr marL="72999" marR="72999" marT="36500" marB="36500" anchor="ctr">
                    <a:lnL>
                      <a:noFill/>
                    </a:lnL>
                    <a:lnR>
                      <a:noFill/>
                    </a:lnR>
                    <a:lnT>
                      <a:noFill/>
                    </a:lnT>
                    <a:lnB>
                      <a:noFill/>
                    </a:lnB>
                  </a:tcPr>
                </a:tc>
                <a:tc>
                  <a:txBody>
                    <a:bodyPr/>
                    <a:lstStyle/>
                    <a:p>
                      <a:r>
                        <a:rPr lang="en-US" sz="1800"/>
                        <a:t>Requirement Summary</a:t>
                      </a:r>
                    </a:p>
                  </a:txBody>
                  <a:tcPr marL="72999" marR="72999" marT="36500" marB="36500" anchor="ctr">
                    <a:lnL>
                      <a:noFill/>
                    </a:lnL>
                    <a:lnR>
                      <a:noFill/>
                    </a:lnR>
                    <a:lnT>
                      <a:noFill/>
                    </a:lnT>
                    <a:lnB>
                      <a:noFill/>
                    </a:lnB>
                  </a:tcPr>
                </a:tc>
              </a:tr>
              <a:tr h="332599">
                <a:tc>
                  <a:txBody>
                    <a:bodyPr/>
                    <a:lstStyle/>
                    <a:p>
                      <a:r>
                        <a:rPr lang="en-US" sz="1800"/>
                        <a:t>Static Analysis</a:t>
                      </a:r>
                    </a:p>
                  </a:txBody>
                  <a:tcPr marL="72999" marR="72999" marT="36500" marB="36500" anchor="ctr">
                    <a:lnL>
                      <a:noFill/>
                    </a:lnL>
                    <a:lnR>
                      <a:noFill/>
                    </a:lnR>
                    <a:lnT>
                      <a:noFill/>
                    </a:lnT>
                    <a:lnB>
                      <a:noFill/>
                    </a:lnB>
                  </a:tcPr>
                </a:tc>
                <a:tc>
                  <a:txBody>
                    <a:bodyPr/>
                    <a:lstStyle/>
                    <a:p>
                      <a:r>
                        <a:rPr lang="en-US" sz="1800"/>
                        <a:t>Code Quality</a:t>
                      </a:r>
                    </a:p>
                  </a:txBody>
                  <a:tcPr marL="72999" marR="72999" marT="36500" marB="36500" anchor="ctr">
                    <a:lnL>
                      <a:noFill/>
                    </a:lnL>
                    <a:lnR>
                      <a:noFill/>
                    </a:lnR>
                    <a:lnT>
                      <a:noFill/>
                    </a:lnT>
                    <a:lnB>
                      <a:noFill/>
                    </a:lnB>
                  </a:tcPr>
                </a:tc>
                <a:tc>
                  <a:txBody>
                    <a:bodyPr/>
                    <a:lstStyle/>
                    <a:p>
                      <a:r>
                        <a:rPr lang="en-US" sz="1800"/>
                        <a:t>CAST AIP</a:t>
                      </a:r>
                    </a:p>
                  </a:txBody>
                  <a:tcPr marL="72999" marR="72999" marT="36500" marB="36500" anchor="ctr">
                    <a:lnL>
                      <a:noFill/>
                    </a:lnL>
                    <a:lnR>
                      <a:noFill/>
                    </a:lnR>
                    <a:lnT>
                      <a:noFill/>
                    </a:lnT>
                    <a:lnB>
                      <a:noFill/>
                    </a:lnB>
                  </a:tcPr>
                </a:tc>
                <a:tc>
                  <a:txBody>
                    <a:bodyPr/>
                    <a:lstStyle/>
                    <a:p>
                      <a:r>
                        <a:rPr lang="en-US" sz="1800" dirty="0"/>
                        <a:t>Risk Report</a:t>
                      </a:r>
                    </a:p>
                  </a:txBody>
                  <a:tcPr marL="72999" marR="72999" marT="36500" marB="36500" anchor="ctr">
                    <a:lnL>
                      <a:noFill/>
                    </a:lnL>
                    <a:lnR>
                      <a:noFill/>
                    </a:lnR>
                    <a:lnT>
                      <a:noFill/>
                    </a:lnT>
                    <a:lnB>
                      <a:noFill/>
                    </a:lnB>
                  </a:tcPr>
                </a:tc>
              </a:tr>
              <a:tr h="582048">
                <a:tc>
                  <a:txBody>
                    <a:bodyPr/>
                    <a:lstStyle/>
                    <a:p>
                      <a:r>
                        <a:rPr lang="en-US" sz="1800"/>
                        <a:t>Prototyping</a:t>
                      </a:r>
                    </a:p>
                  </a:txBody>
                  <a:tcPr marL="72999" marR="72999" marT="36500" marB="36500" anchor="ctr">
                    <a:lnL>
                      <a:noFill/>
                    </a:lnL>
                    <a:lnR>
                      <a:noFill/>
                    </a:lnR>
                    <a:lnT>
                      <a:noFill/>
                    </a:lnT>
                    <a:lnB>
                      <a:noFill/>
                    </a:lnB>
                  </a:tcPr>
                </a:tc>
                <a:tc>
                  <a:txBody>
                    <a:bodyPr/>
                    <a:lstStyle/>
                    <a:p>
                      <a:r>
                        <a:rPr lang="en-US" sz="1800"/>
                        <a:t>System Preview</a:t>
                      </a:r>
                    </a:p>
                  </a:txBody>
                  <a:tcPr marL="72999" marR="72999" marT="36500" marB="36500" anchor="ctr">
                    <a:lnL>
                      <a:noFill/>
                    </a:lnL>
                    <a:lnR>
                      <a:noFill/>
                    </a:lnR>
                    <a:lnT>
                      <a:noFill/>
                    </a:lnT>
                    <a:lnB>
                      <a:noFill/>
                    </a:lnB>
                  </a:tcPr>
                </a:tc>
                <a:tc>
                  <a:txBody>
                    <a:bodyPr/>
                    <a:lstStyle/>
                    <a:p>
                      <a:r>
                        <a:rPr lang="en-US" sz="1800"/>
                        <a:t>Figma, HTML Mockup</a:t>
                      </a:r>
                    </a:p>
                  </a:txBody>
                  <a:tcPr marL="72999" marR="72999" marT="36500" marB="36500" anchor="ctr">
                    <a:lnL>
                      <a:noFill/>
                    </a:lnL>
                    <a:lnR>
                      <a:noFill/>
                    </a:lnR>
                    <a:lnT>
                      <a:noFill/>
                    </a:lnT>
                    <a:lnB>
                      <a:noFill/>
                    </a:lnB>
                  </a:tcPr>
                </a:tc>
                <a:tc>
                  <a:txBody>
                    <a:bodyPr/>
                    <a:lstStyle/>
                    <a:p>
                      <a:r>
                        <a:rPr lang="en-US" sz="1800" dirty="0"/>
                        <a:t>Prototype Interface</a:t>
                      </a:r>
                    </a:p>
                  </a:txBody>
                  <a:tcPr marL="72999" marR="72999" marT="36500" marB="36500" anchor="ctr">
                    <a:lnL>
                      <a:noFill/>
                    </a:lnL>
                    <a:lnR>
                      <a:noFill/>
                    </a:lnR>
                    <a:lnT>
                      <a:noFill/>
                    </a:lnT>
                    <a:lnB>
                      <a:noFill/>
                    </a:lnB>
                  </a:tcPr>
                </a:tc>
              </a:tr>
              <a:tr h="332599">
                <a:tc>
                  <a:txBody>
                    <a:bodyPr/>
                    <a:lstStyle/>
                    <a:p>
                      <a:r>
                        <a:rPr lang="en-US" sz="1800"/>
                        <a:t>Feasibility Analysis</a:t>
                      </a:r>
                    </a:p>
                  </a:txBody>
                  <a:tcPr marL="72999" marR="72999" marT="36500" marB="36500" anchor="ctr">
                    <a:lnL>
                      <a:noFill/>
                    </a:lnL>
                    <a:lnR>
                      <a:noFill/>
                    </a:lnR>
                    <a:lnT>
                      <a:noFill/>
                    </a:lnT>
                    <a:lnB>
                      <a:noFill/>
                    </a:lnB>
                  </a:tcPr>
                </a:tc>
                <a:tc>
                  <a:txBody>
                    <a:bodyPr/>
                    <a:lstStyle/>
                    <a:p>
                      <a:r>
                        <a:rPr lang="en-US" sz="1800"/>
                        <a:t>Project Decision</a:t>
                      </a:r>
                    </a:p>
                  </a:txBody>
                  <a:tcPr marL="72999" marR="72999" marT="36500" marB="36500" anchor="ctr">
                    <a:lnL>
                      <a:noFill/>
                    </a:lnL>
                    <a:lnR>
                      <a:noFill/>
                    </a:lnR>
                    <a:lnT>
                      <a:noFill/>
                    </a:lnT>
                    <a:lnB>
                      <a:noFill/>
                    </a:lnB>
                  </a:tcPr>
                </a:tc>
                <a:tc>
                  <a:txBody>
                    <a:bodyPr/>
                    <a:lstStyle/>
                    <a:p>
                      <a:r>
                        <a:rPr lang="en-US" sz="1800"/>
                        <a:t>Cost/Benefit Sheet</a:t>
                      </a:r>
                    </a:p>
                  </a:txBody>
                  <a:tcPr marL="72999" marR="72999" marT="36500" marB="36500" anchor="ctr">
                    <a:lnL>
                      <a:noFill/>
                    </a:lnL>
                    <a:lnR>
                      <a:noFill/>
                    </a:lnR>
                    <a:lnT>
                      <a:noFill/>
                    </a:lnT>
                    <a:lnB>
                      <a:noFill/>
                    </a:lnB>
                  </a:tcPr>
                </a:tc>
                <a:tc>
                  <a:txBody>
                    <a:bodyPr/>
                    <a:lstStyle/>
                    <a:p>
                      <a:r>
                        <a:rPr lang="en-US" sz="1800" dirty="0"/>
                        <a:t>Feasibility Report</a:t>
                      </a:r>
                    </a:p>
                  </a:txBody>
                  <a:tcPr marL="72999" marR="72999" marT="36500" marB="36500" anchor="ctr">
                    <a:lnL>
                      <a:noFill/>
                    </a:lnL>
                    <a:lnR>
                      <a:noFill/>
                    </a:lnR>
                    <a:lnT>
                      <a:noFill/>
                    </a:lnT>
                    <a:lnB>
                      <a:noFill/>
                    </a:lnB>
                  </a:tcPr>
                </a:tc>
              </a:tr>
            </a:tbl>
          </a:graphicData>
        </a:graphic>
      </p:graphicFrame>
    </p:spTree>
    <p:extLst>
      <p:ext uri="{BB962C8B-B14F-4D97-AF65-F5344CB8AC3E}">
        <p14:creationId xmlns:p14="http://schemas.microsoft.com/office/powerpoint/2010/main" val="1670979446"/>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Outputs (Deliverables)</a:t>
            </a:r>
          </a:p>
        </p:txBody>
      </p:sp>
      <p:sp>
        <p:nvSpPr>
          <p:cNvPr id="3" name="Content Placeholder 2"/>
          <p:cNvSpPr>
            <a:spLocks noGrp="1"/>
          </p:cNvSpPr>
          <p:nvPr>
            <p:ph idx="1"/>
          </p:nvPr>
        </p:nvSpPr>
        <p:spPr/>
        <p:txBody>
          <a:bodyPr>
            <a:normAutofit/>
          </a:bodyPr>
          <a:lstStyle/>
          <a:p>
            <a:r>
              <a:rPr lang="en-US" dirty="0"/>
              <a:t>After System Analysis, you should have:</a:t>
            </a:r>
          </a:p>
          <a:p>
            <a:pPr lvl="1"/>
            <a:r>
              <a:rPr lang="en-US" dirty="0" smtClean="0"/>
              <a:t>System </a:t>
            </a:r>
            <a:r>
              <a:rPr lang="en-US" dirty="0"/>
              <a:t>Analysis </a:t>
            </a:r>
            <a:r>
              <a:rPr lang="en-US" dirty="0" smtClean="0"/>
              <a:t>Report</a:t>
            </a:r>
          </a:p>
          <a:p>
            <a:pPr lvl="1"/>
            <a:r>
              <a:rPr lang="en-US" dirty="0" smtClean="0"/>
              <a:t>Data </a:t>
            </a:r>
            <a:r>
              <a:rPr lang="en-US" dirty="0"/>
              <a:t>Flow Diagrams (</a:t>
            </a:r>
            <a:r>
              <a:rPr lang="en-US" dirty="0" smtClean="0"/>
              <a:t>DFD)</a:t>
            </a:r>
          </a:p>
          <a:p>
            <a:pPr lvl="1"/>
            <a:r>
              <a:rPr lang="en-US" dirty="0" smtClean="0"/>
              <a:t>System </a:t>
            </a:r>
            <a:r>
              <a:rPr lang="en-US" dirty="0"/>
              <a:t>Architecture </a:t>
            </a:r>
            <a:r>
              <a:rPr lang="en-US" dirty="0" smtClean="0"/>
              <a:t>Diagram</a:t>
            </a:r>
          </a:p>
          <a:p>
            <a:pPr lvl="1"/>
            <a:r>
              <a:rPr lang="en-US" dirty="0" smtClean="0"/>
              <a:t>Entity-Relationship </a:t>
            </a:r>
            <a:r>
              <a:rPr lang="en-US" dirty="0"/>
              <a:t>Diagram (</a:t>
            </a:r>
            <a:r>
              <a:rPr lang="en-US" dirty="0" smtClean="0"/>
              <a:t>ERD)</a:t>
            </a:r>
          </a:p>
          <a:p>
            <a:pPr lvl="1"/>
            <a:r>
              <a:rPr lang="en-US" dirty="0" smtClean="0"/>
              <a:t>List </a:t>
            </a:r>
            <a:r>
              <a:rPr lang="en-US" dirty="0"/>
              <a:t>of System Issues &amp; Enhancement </a:t>
            </a:r>
            <a:r>
              <a:rPr lang="en-US" dirty="0" smtClean="0"/>
              <a:t>Opportunities</a:t>
            </a:r>
          </a:p>
          <a:p>
            <a:pPr lvl="1"/>
            <a:r>
              <a:rPr lang="en-US" dirty="0" smtClean="0"/>
              <a:t>Recommendations </a:t>
            </a:r>
            <a:r>
              <a:rPr lang="en-US" dirty="0"/>
              <a:t>for Re-engineering Approach</a:t>
            </a:r>
          </a:p>
        </p:txBody>
      </p:sp>
    </p:spTree>
    <p:extLst>
      <p:ext uri="{BB962C8B-B14F-4D97-AF65-F5344CB8AC3E}">
        <p14:creationId xmlns:p14="http://schemas.microsoft.com/office/powerpoint/2010/main" val="62298161"/>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Scenario</a:t>
            </a:r>
          </a:p>
        </p:txBody>
      </p:sp>
      <p:sp>
        <p:nvSpPr>
          <p:cNvPr id="3" name="Content Placeholder 2"/>
          <p:cNvSpPr>
            <a:spLocks noGrp="1"/>
          </p:cNvSpPr>
          <p:nvPr>
            <p:ph idx="1"/>
          </p:nvPr>
        </p:nvSpPr>
        <p:spPr/>
        <p:txBody>
          <a:bodyPr/>
          <a:lstStyle/>
          <a:p>
            <a:pPr algn="just"/>
            <a:r>
              <a:rPr lang="en-US" sz="2800" dirty="0"/>
              <a:t>Let’s say you have a </a:t>
            </a:r>
            <a:r>
              <a:rPr lang="en-US" sz="2800" b="1" dirty="0"/>
              <a:t>20-year-old payroll management system</a:t>
            </a:r>
            <a:r>
              <a:rPr lang="en-US" sz="2800" dirty="0"/>
              <a:t> written in COBOL.</a:t>
            </a:r>
            <a:br>
              <a:rPr lang="en-US" sz="2800" dirty="0"/>
            </a:br>
            <a:r>
              <a:rPr lang="en-US" sz="2800" dirty="0"/>
              <a:t>During system analysis, you might find</a:t>
            </a:r>
            <a:r>
              <a:rPr lang="en-US" sz="2800" dirty="0" smtClean="0"/>
              <a:t>:</a:t>
            </a:r>
          </a:p>
          <a:p>
            <a:endParaRPr lang="en-US" dirty="0"/>
          </a:p>
        </p:txBody>
      </p:sp>
      <p:graphicFrame>
        <p:nvGraphicFramePr>
          <p:cNvPr id="4" name="Table 3"/>
          <p:cNvGraphicFramePr>
            <a:graphicFrameLocks noGrp="1"/>
          </p:cNvGraphicFramePr>
          <p:nvPr>
            <p:extLst>
              <p:ext uri="{D42A27DB-BD31-4B8C-83A1-F6EECF244321}">
                <p14:modId xmlns:p14="http://schemas.microsoft.com/office/powerpoint/2010/main" val="149140200"/>
              </p:ext>
            </p:extLst>
          </p:nvPr>
        </p:nvGraphicFramePr>
        <p:xfrm>
          <a:off x="557784" y="3246119"/>
          <a:ext cx="8229600" cy="2651760"/>
        </p:xfrm>
        <a:graphic>
          <a:graphicData uri="http://schemas.openxmlformats.org/drawingml/2006/table">
            <a:tbl>
              <a:tblPr/>
              <a:tblGrid>
                <a:gridCol w="4114800"/>
                <a:gridCol w="4114800"/>
              </a:tblGrid>
              <a:tr h="530352">
                <a:tc>
                  <a:txBody>
                    <a:bodyPr/>
                    <a:lstStyle/>
                    <a:p>
                      <a:r>
                        <a:rPr lang="en-US" sz="2400" b="1" dirty="0"/>
                        <a:t>Finding</a:t>
                      </a:r>
                    </a:p>
                  </a:txBody>
                  <a:tcPr anchor="ctr">
                    <a:lnL>
                      <a:noFill/>
                    </a:lnL>
                    <a:lnR>
                      <a:noFill/>
                    </a:lnR>
                    <a:lnT>
                      <a:noFill/>
                    </a:lnT>
                    <a:lnB>
                      <a:noFill/>
                    </a:lnB>
                  </a:tcPr>
                </a:tc>
                <a:tc>
                  <a:txBody>
                    <a:bodyPr/>
                    <a:lstStyle/>
                    <a:p>
                      <a:r>
                        <a:rPr lang="en-US" sz="2400" b="1" dirty="0"/>
                        <a:t>Action</a:t>
                      </a:r>
                    </a:p>
                  </a:txBody>
                  <a:tcPr anchor="ctr">
                    <a:lnL>
                      <a:noFill/>
                    </a:lnL>
                    <a:lnR>
                      <a:noFill/>
                    </a:lnR>
                    <a:lnT>
                      <a:noFill/>
                    </a:lnT>
                    <a:lnB>
                      <a:noFill/>
                    </a:lnB>
                  </a:tcPr>
                </a:tc>
              </a:tr>
              <a:tr h="530352">
                <a:tc>
                  <a:txBody>
                    <a:bodyPr/>
                    <a:lstStyle/>
                    <a:p>
                      <a:r>
                        <a:rPr lang="en-US" sz="2400" dirty="0"/>
                        <a:t>Business rules still valid</a:t>
                      </a:r>
                    </a:p>
                  </a:txBody>
                  <a:tcPr anchor="ctr">
                    <a:lnL>
                      <a:noFill/>
                    </a:lnL>
                    <a:lnR>
                      <a:noFill/>
                    </a:lnR>
                    <a:lnT>
                      <a:noFill/>
                    </a:lnT>
                    <a:lnB>
                      <a:noFill/>
                    </a:lnB>
                  </a:tcPr>
                </a:tc>
                <a:tc>
                  <a:txBody>
                    <a:bodyPr/>
                    <a:lstStyle/>
                    <a:p>
                      <a:r>
                        <a:rPr lang="en-US" sz="2400"/>
                        <a:t>Retain</a:t>
                      </a:r>
                    </a:p>
                  </a:txBody>
                  <a:tcPr anchor="ctr">
                    <a:lnL>
                      <a:noFill/>
                    </a:lnL>
                    <a:lnR>
                      <a:noFill/>
                    </a:lnR>
                    <a:lnT>
                      <a:noFill/>
                    </a:lnT>
                    <a:lnB>
                      <a:noFill/>
                    </a:lnB>
                  </a:tcPr>
                </a:tc>
              </a:tr>
              <a:tr h="530352">
                <a:tc>
                  <a:txBody>
                    <a:bodyPr/>
                    <a:lstStyle/>
                    <a:p>
                      <a:r>
                        <a:rPr lang="en-US" sz="2400"/>
                        <a:t>Outdated database (flat files)</a:t>
                      </a:r>
                    </a:p>
                  </a:txBody>
                  <a:tcPr anchor="ctr">
                    <a:lnL>
                      <a:noFill/>
                    </a:lnL>
                    <a:lnR>
                      <a:noFill/>
                    </a:lnR>
                    <a:lnT>
                      <a:noFill/>
                    </a:lnT>
                    <a:lnB>
                      <a:noFill/>
                    </a:lnB>
                  </a:tcPr>
                </a:tc>
                <a:tc>
                  <a:txBody>
                    <a:bodyPr/>
                    <a:lstStyle/>
                    <a:p>
                      <a:r>
                        <a:rPr lang="en-US" sz="2400" dirty="0"/>
                        <a:t>Replace with SQL DB</a:t>
                      </a:r>
                    </a:p>
                  </a:txBody>
                  <a:tcPr anchor="ctr">
                    <a:lnL>
                      <a:noFill/>
                    </a:lnL>
                    <a:lnR>
                      <a:noFill/>
                    </a:lnR>
                    <a:lnT>
                      <a:noFill/>
                    </a:lnT>
                    <a:lnB>
                      <a:noFill/>
                    </a:lnB>
                  </a:tcPr>
                </a:tc>
              </a:tr>
              <a:tr h="530352">
                <a:tc>
                  <a:txBody>
                    <a:bodyPr/>
                    <a:lstStyle/>
                    <a:p>
                      <a:r>
                        <a:rPr lang="en-US" sz="2400"/>
                        <a:t>Complex spaghetti code</a:t>
                      </a:r>
                    </a:p>
                  </a:txBody>
                  <a:tcPr anchor="ctr">
                    <a:lnL>
                      <a:noFill/>
                    </a:lnL>
                    <a:lnR>
                      <a:noFill/>
                    </a:lnR>
                    <a:lnT>
                      <a:noFill/>
                    </a:lnT>
                    <a:lnB>
                      <a:noFill/>
                    </a:lnB>
                  </a:tcPr>
                </a:tc>
                <a:tc>
                  <a:txBody>
                    <a:bodyPr/>
                    <a:lstStyle/>
                    <a:p>
                      <a:r>
                        <a:rPr lang="en-US" sz="2400" dirty="0"/>
                        <a:t>Refactor using modular design</a:t>
                      </a:r>
                    </a:p>
                  </a:txBody>
                  <a:tcPr anchor="ctr">
                    <a:lnL>
                      <a:noFill/>
                    </a:lnL>
                    <a:lnR>
                      <a:noFill/>
                    </a:lnR>
                    <a:lnT>
                      <a:noFill/>
                    </a:lnT>
                    <a:lnB>
                      <a:noFill/>
                    </a:lnB>
                  </a:tcPr>
                </a:tc>
              </a:tr>
              <a:tr h="530352">
                <a:tc>
                  <a:txBody>
                    <a:bodyPr/>
                    <a:lstStyle/>
                    <a:p>
                      <a:r>
                        <a:rPr lang="en-US" sz="2400"/>
                        <a:t>Manual report generation</a:t>
                      </a:r>
                    </a:p>
                  </a:txBody>
                  <a:tcPr anchor="ctr">
                    <a:lnL>
                      <a:noFill/>
                    </a:lnL>
                    <a:lnR>
                      <a:noFill/>
                    </a:lnR>
                    <a:lnT>
                      <a:noFill/>
                    </a:lnT>
                    <a:lnB>
                      <a:noFill/>
                    </a:lnB>
                  </a:tcPr>
                </a:tc>
                <a:tc>
                  <a:txBody>
                    <a:bodyPr/>
                    <a:lstStyle/>
                    <a:p>
                      <a:r>
                        <a:rPr lang="en-US" sz="2400" dirty="0"/>
                        <a:t>Automate with REST APIs</a:t>
                      </a:r>
                    </a:p>
                  </a:txBody>
                  <a:tcPr anchor="ctr">
                    <a:lnL>
                      <a:noFill/>
                    </a:lnL>
                    <a:lnR>
                      <a:noFill/>
                    </a:lnR>
                    <a:lnT>
                      <a:noFill/>
                    </a:lnT>
                    <a:lnB>
                      <a:noFill/>
                    </a:lnB>
                  </a:tcPr>
                </a:tc>
              </a:tr>
            </a:tbl>
          </a:graphicData>
        </a:graphic>
      </p:graphicFrame>
      <p:sp>
        <p:nvSpPr>
          <p:cNvPr id="5" name="Rectangle 4"/>
          <p:cNvSpPr/>
          <p:nvPr/>
        </p:nvSpPr>
        <p:spPr>
          <a:xfrm>
            <a:off x="649224" y="6076999"/>
            <a:ext cx="7744968" cy="369332"/>
          </a:xfrm>
          <a:prstGeom prst="rect">
            <a:avLst/>
          </a:prstGeom>
        </p:spPr>
        <p:txBody>
          <a:bodyPr wrap="square">
            <a:spAutoFit/>
          </a:bodyPr>
          <a:lstStyle/>
          <a:p>
            <a:r>
              <a:rPr lang="en-US" dirty="0"/>
              <a:t>The result: You know exactly </a:t>
            </a:r>
            <a:r>
              <a:rPr lang="en-US" i="1" dirty="0"/>
              <a:t>what to modernize and what to preserve.</a:t>
            </a:r>
            <a:endParaRPr lang="en-US" dirty="0"/>
          </a:p>
        </p:txBody>
      </p:sp>
    </p:spTree>
    <p:extLst>
      <p:ext uri="{BB962C8B-B14F-4D97-AF65-F5344CB8AC3E}">
        <p14:creationId xmlns:p14="http://schemas.microsoft.com/office/powerpoint/2010/main" val="65938263"/>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Benefits of System Analysis in Re-engineering</a:t>
            </a:r>
          </a:p>
        </p:txBody>
      </p:sp>
      <p:sp>
        <p:nvSpPr>
          <p:cNvPr id="3" name="Content Placeholder 2"/>
          <p:cNvSpPr>
            <a:spLocks noGrp="1"/>
          </p:cNvSpPr>
          <p:nvPr>
            <p:ph idx="1"/>
          </p:nvPr>
        </p:nvSpPr>
        <p:spPr/>
        <p:txBody>
          <a:bodyPr/>
          <a:lstStyle/>
          <a:p>
            <a:pPr algn="just"/>
            <a:r>
              <a:rPr lang="en-US" dirty="0"/>
              <a:t>Minimizes risk of losing essential functionality</a:t>
            </a:r>
            <a:r>
              <a:rPr lang="en-US" dirty="0" smtClean="0"/>
              <a:t>.</a:t>
            </a:r>
          </a:p>
          <a:p>
            <a:pPr algn="just"/>
            <a:r>
              <a:rPr lang="en-US" dirty="0" smtClean="0"/>
              <a:t> </a:t>
            </a:r>
            <a:r>
              <a:rPr lang="en-US" dirty="0"/>
              <a:t>Reduces rework and redevelopment </a:t>
            </a:r>
            <a:r>
              <a:rPr lang="en-US" dirty="0" smtClean="0"/>
              <a:t>costs.</a:t>
            </a:r>
          </a:p>
          <a:p>
            <a:pPr algn="just"/>
            <a:r>
              <a:rPr lang="en-US" dirty="0" smtClean="0"/>
              <a:t>Provides </a:t>
            </a:r>
            <a:r>
              <a:rPr lang="en-US" dirty="0"/>
              <a:t>a roadmap for </a:t>
            </a:r>
            <a:r>
              <a:rPr lang="en-US" dirty="0" smtClean="0"/>
              <a:t>modernization.</a:t>
            </a:r>
          </a:p>
          <a:p>
            <a:pPr algn="just"/>
            <a:r>
              <a:rPr lang="en-US" dirty="0" smtClean="0"/>
              <a:t>Improves </a:t>
            </a:r>
            <a:r>
              <a:rPr lang="en-US" dirty="0"/>
              <a:t>system quality and </a:t>
            </a:r>
            <a:r>
              <a:rPr lang="en-US" dirty="0" smtClean="0"/>
              <a:t>maintainability.</a:t>
            </a:r>
          </a:p>
          <a:p>
            <a:pPr algn="just"/>
            <a:r>
              <a:rPr lang="en-US" dirty="0" smtClean="0"/>
              <a:t>Ensures </a:t>
            </a:r>
            <a:r>
              <a:rPr lang="en-US" dirty="0"/>
              <a:t>alignment with current business processes.</a:t>
            </a:r>
          </a:p>
        </p:txBody>
      </p:sp>
    </p:spTree>
    <p:extLst>
      <p:ext uri="{BB962C8B-B14F-4D97-AF65-F5344CB8AC3E}">
        <p14:creationId xmlns:p14="http://schemas.microsoft.com/office/powerpoint/2010/main" val="2177243592"/>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System Analysis - Tools</a:t>
            </a:r>
          </a:p>
        </p:txBody>
      </p:sp>
      <p:sp>
        <p:nvSpPr>
          <p:cNvPr id="3" name="Content Placeholder 2"/>
          <p:cNvSpPr>
            <a:spLocks noGrp="1"/>
          </p:cNvSpPr>
          <p:nvPr>
            <p:ph idx="1"/>
          </p:nvPr>
        </p:nvSpPr>
        <p:spPr>
          <a:xfrm>
            <a:off x="457200" y="1417638"/>
            <a:ext cx="8229600" cy="4708525"/>
          </a:xfrm>
        </p:spPr>
        <p:txBody>
          <a:bodyPr>
            <a:normAutofit fontScale="85000" lnSpcReduction="10000"/>
          </a:bodyPr>
          <a:lstStyle/>
          <a:p>
            <a:endParaRPr dirty="0"/>
          </a:p>
          <a:p>
            <a:pPr algn="just"/>
            <a:r>
              <a:rPr lang="en-US" dirty="0"/>
              <a:t>When performing </a:t>
            </a:r>
            <a:r>
              <a:rPr lang="en-US" b="1" dirty="0"/>
              <a:t>system analysis</a:t>
            </a:r>
            <a:r>
              <a:rPr lang="en-US" dirty="0"/>
              <a:t> during </a:t>
            </a:r>
            <a:r>
              <a:rPr lang="en-US" b="1" dirty="0"/>
              <a:t>software re-engineering</a:t>
            </a:r>
            <a:r>
              <a:rPr lang="en-US" dirty="0"/>
              <a:t>, engineers rely on specialized tools to:</a:t>
            </a:r>
          </a:p>
          <a:p>
            <a:pPr lvl="1" algn="just"/>
            <a:r>
              <a:rPr lang="en-US" dirty="0"/>
              <a:t>Understand existing </a:t>
            </a:r>
            <a:r>
              <a:rPr lang="en-US" b="1" dirty="0"/>
              <a:t>code structure and logic</a:t>
            </a:r>
            <a:endParaRPr lang="en-US" dirty="0"/>
          </a:p>
          <a:p>
            <a:pPr lvl="1" algn="just"/>
            <a:r>
              <a:rPr lang="en-US" dirty="0"/>
              <a:t>Extract </a:t>
            </a:r>
            <a:r>
              <a:rPr lang="en-US" b="1" dirty="0"/>
              <a:t>design models</a:t>
            </a:r>
            <a:endParaRPr lang="en-US" dirty="0"/>
          </a:p>
          <a:p>
            <a:pPr lvl="1" algn="just"/>
            <a:r>
              <a:rPr lang="en-US" dirty="0"/>
              <a:t>Analyze </a:t>
            </a:r>
            <a:r>
              <a:rPr lang="en-US" b="1" dirty="0"/>
              <a:t>data flow, dependencies, and performance</a:t>
            </a:r>
            <a:endParaRPr lang="en-US" dirty="0"/>
          </a:p>
          <a:p>
            <a:pPr lvl="1" algn="just"/>
            <a:r>
              <a:rPr lang="en-US" dirty="0"/>
              <a:t>Document findings for re-engineering </a:t>
            </a:r>
            <a:r>
              <a:rPr lang="en-US" dirty="0" smtClean="0"/>
              <a:t>decisions</a:t>
            </a:r>
          </a:p>
          <a:p>
            <a:pPr algn="just"/>
            <a:endParaRPr lang="en-US" dirty="0" smtClean="0"/>
          </a:p>
          <a:p>
            <a:pPr algn="just"/>
            <a:r>
              <a:rPr lang="en-US" dirty="0" smtClean="0"/>
              <a:t>System </a:t>
            </a:r>
            <a:r>
              <a:rPr lang="en-US" dirty="0"/>
              <a:t>analysis tools transform complex legacy systems into understandable visual and analytical models</a:t>
            </a:r>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Objectives of Using Tools</a:t>
            </a:r>
          </a:p>
        </p:txBody>
      </p:sp>
      <p:sp>
        <p:nvSpPr>
          <p:cNvPr id="3" name="Content Placeholder 2"/>
          <p:cNvSpPr>
            <a:spLocks noGrp="1"/>
          </p:cNvSpPr>
          <p:nvPr>
            <p:ph idx="1"/>
          </p:nvPr>
        </p:nvSpPr>
        <p:spPr/>
        <p:txBody>
          <a:bodyPr/>
          <a:lstStyle/>
          <a:p>
            <a:pPr algn="just"/>
            <a:r>
              <a:rPr lang="en-US" dirty="0"/>
              <a:t>Automate the analysis of large, complex </a:t>
            </a:r>
            <a:r>
              <a:rPr lang="en-US" dirty="0" smtClean="0"/>
              <a:t>codebases</a:t>
            </a:r>
          </a:p>
          <a:p>
            <a:pPr algn="just"/>
            <a:r>
              <a:rPr lang="en-US" dirty="0" smtClean="0"/>
              <a:t>Recover </a:t>
            </a:r>
            <a:r>
              <a:rPr lang="en-US" dirty="0"/>
              <a:t>lost documentation or </a:t>
            </a:r>
            <a:r>
              <a:rPr lang="en-US" dirty="0" smtClean="0"/>
              <a:t>architecture</a:t>
            </a:r>
          </a:p>
          <a:p>
            <a:pPr algn="just"/>
            <a:r>
              <a:rPr lang="en-US" dirty="0" smtClean="0"/>
              <a:t>Identify </a:t>
            </a:r>
            <a:r>
              <a:rPr lang="en-US" dirty="0"/>
              <a:t>redundant, dead, or duplicated </a:t>
            </a:r>
            <a:r>
              <a:rPr lang="en-US" dirty="0" smtClean="0"/>
              <a:t>code</a:t>
            </a:r>
          </a:p>
          <a:p>
            <a:pPr algn="just"/>
            <a:r>
              <a:rPr lang="en-US" dirty="0" smtClean="0"/>
              <a:t>Evaluate </a:t>
            </a:r>
            <a:r>
              <a:rPr lang="en-US" dirty="0"/>
              <a:t>software quality and </a:t>
            </a:r>
            <a:r>
              <a:rPr lang="en-US" dirty="0" smtClean="0"/>
              <a:t>performance</a:t>
            </a:r>
          </a:p>
          <a:p>
            <a:pPr algn="just"/>
            <a:r>
              <a:rPr lang="en-US" dirty="0" smtClean="0"/>
              <a:t>Support </a:t>
            </a:r>
            <a:r>
              <a:rPr lang="en-US" dirty="0"/>
              <a:t>migration, refactoring, or modernization decisions</a:t>
            </a:r>
          </a:p>
        </p:txBody>
      </p:sp>
    </p:spTree>
    <p:extLst>
      <p:ext uri="{BB962C8B-B14F-4D97-AF65-F5344CB8AC3E}">
        <p14:creationId xmlns:p14="http://schemas.microsoft.com/office/powerpoint/2010/main" val="3936634097"/>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6258"/>
            <a:ext cx="8229600" cy="1143000"/>
          </a:xfrm>
        </p:spPr>
        <p:txBody>
          <a:bodyPr>
            <a:normAutofit fontScale="90000"/>
          </a:bodyPr>
          <a:lstStyle/>
          <a:p>
            <a:r>
              <a:rPr lang="en-US" dirty="0"/>
              <a:t>Categories of Re-engineering Tools for System Analysis</a:t>
            </a:r>
          </a:p>
        </p:txBody>
      </p:sp>
      <p:sp>
        <p:nvSpPr>
          <p:cNvPr id="3" name="Content Placeholder 2"/>
          <p:cNvSpPr>
            <a:spLocks noGrp="1"/>
          </p:cNvSpPr>
          <p:nvPr>
            <p:ph idx="1"/>
          </p:nvPr>
        </p:nvSpPr>
        <p:spPr>
          <a:xfrm>
            <a:off x="457200" y="1152144"/>
            <a:ext cx="8229600" cy="4525963"/>
          </a:xfrm>
        </p:spPr>
        <p:txBody>
          <a:bodyPr/>
          <a:lstStyle/>
          <a:p>
            <a:r>
              <a:rPr lang="en-US" sz="2400" dirty="0"/>
              <a:t>Let’s break them down into functional </a:t>
            </a:r>
            <a:r>
              <a:rPr lang="en-US" sz="2400" dirty="0" smtClean="0"/>
              <a:t>groups</a:t>
            </a:r>
          </a:p>
          <a:p>
            <a:pPr marL="0" indent="0">
              <a:buNone/>
            </a:pPr>
            <a:r>
              <a:rPr lang="en-US" sz="2400" b="1" dirty="0"/>
              <a:t>1. Reverse Engineering Tools</a:t>
            </a:r>
          </a:p>
          <a:p>
            <a:pPr lvl="1"/>
            <a:r>
              <a:rPr lang="en-US" sz="2400" dirty="0"/>
              <a:t>Used to extract design and architecture from source code.</a:t>
            </a:r>
          </a:p>
          <a:p>
            <a:endParaRPr lang="en-US" dirty="0"/>
          </a:p>
        </p:txBody>
      </p:sp>
      <p:graphicFrame>
        <p:nvGraphicFramePr>
          <p:cNvPr id="4" name="Table 3"/>
          <p:cNvGraphicFramePr>
            <a:graphicFrameLocks noGrp="1"/>
          </p:cNvGraphicFramePr>
          <p:nvPr>
            <p:extLst>
              <p:ext uri="{D42A27DB-BD31-4B8C-83A1-F6EECF244321}">
                <p14:modId xmlns:p14="http://schemas.microsoft.com/office/powerpoint/2010/main" val="1913945467"/>
              </p:ext>
            </p:extLst>
          </p:nvPr>
        </p:nvGraphicFramePr>
        <p:xfrm>
          <a:off x="457200" y="2692749"/>
          <a:ext cx="8229600" cy="3840480"/>
        </p:xfrm>
        <a:graphic>
          <a:graphicData uri="http://schemas.openxmlformats.org/drawingml/2006/table">
            <a:tbl>
              <a:tblPr/>
              <a:tblGrid>
                <a:gridCol w="2743200"/>
                <a:gridCol w="2743200"/>
                <a:gridCol w="2743200"/>
              </a:tblGrid>
              <a:tr h="0">
                <a:tc>
                  <a:txBody>
                    <a:bodyPr/>
                    <a:lstStyle/>
                    <a:p>
                      <a:r>
                        <a:rPr lang="en-US" dirty="0"/>
                        <a:t>Tool</a:t>
                      </a:r>
                    </a:p>
                  </a:txBody>
                  <a:tcPr anchor="ctr">
                    <a:lnL>
                      <a:noFill/>
                    </a:lnL>
                    <a:lnR>
                      <a:noFill/>
                    </a:lnR>
                    <a:lnT>
                      <a:noFill/>
                    </a:lnT>
                    <a:lnB>
                      <a:noFill/>
                    </a:lnB>
                  </a:tcPr>
                </a:tc>
                <a:tc>
                  <a:txBody>
                    <a:bodyPr/>
                    <a:lstStyle/>
                    <a:p>
                      <a:r>
                        <a:rPr lang="en-US"/>
                        <a:t>Function</a:t>
                      </a:r>
                    </a:p>
                  </a:txBody>
                  <a:tcPr anchor="ctr">
                    <a:lnL>
                      <a:noFill/>
                    </a:lnL>
                    <a:lnR>
                      <a:noFill/>
                    </a:lnR>
                    <a:lnT>
                      <a:noFill/>
                    </a:lnT>
                    <a:lnB>
                      <a:noFill/>
                    </a:lnB>
                  </a:tcPr>
                </a:tc>
                <a:tc>
                  <a:txBody>
                    <a:bodyPr/>
                    <a:lstStyle/>
                    <a:p>
                      <a:r>
                        <a:rPr lang="en-US"/>
                        <a:t>Example Uses</a:t>
                      </a:r>
                    </a:p>
                  </a:txBody>
                  <a:tcPr anchor="ctr">
                    <a:lnL>
                      <a:noFill/>
                    </a:lnL>
                    <a:lnR>
                      <a:noFill/>
                    </a:lnR>
                    <a:lnT>
                      <a:noFill/>
                    </a:lnT>
                    <a:lnB>
                      <a:noFill/>
                    </a:lnB>
                  </a:tcPr>
                </a:tc>
              </a:tr>
              <a:tr h="0">
                <a:tc>
                  <a:txBody>
                    <a:bodyPr/>
                    <a:lstStyle/>
                    <a:p>
                      <a:r>
                        <a:rPr lang="en-US" b="1"/>
                        <a:t>Enterprise Architect</a:t>
                      </a:r>
                      <a:endParaRPr lang="en-US"/>
                    </a:p>
                  </a:txBody>
                  <a:tcPr anchor="ctr">
                    <a:lnL>
                      <a:noFill/>
                    </a:lnL>
                    <a:lnR>
                      <a:noFill/>
                    </a:lnR>
                    <a:lnT>
                      <a:noFill/>
                    </a:lnT>
                    <a:lnB>
                      <a:noFill/>
                    </a:lnB>
                  </a:tcPr>
                </a:tc>
                <a:tc>
                  <a:txBody>
                    <a:bodyPr/>
                    <a:lstStyle/>
                    <a:p>
                      <a:r>
                        <a:rPr lang="en-US"/>
                        <a:t>Reverse-engineers code into UML models</a:t>
                      </a:r>
                    </a:p>
                  </a:txBody>
                  <a:tcPr anchor="ctr">
                    <a:lnL>
                      <a:noFill/>
                    </a:lnL>
                    <a:lnR>
                      <a:noFill/>
                    </a:lnR>
                    <a:lnT>
                      <a:noFill/>
                    </a:lnT>
                    <a:lnB>
                      <a:noFill/>
                    </a:lnB>
                  </a:tcPr>
                </a:tc>
                <a:tc>
                  <a:txBody>
                    <a:bodyPr/>
                    <a:lstStyle/>
                    <a:p>
                      <a:r>
                        <a:rPr lang="en-US"/>
                        <a:t>Generates class, sequence, and component diagrams</a:t>
                      </a:r>
                    </a:p>
                  </a:txBody>
                  <a:tcPr anchor="ctr">
                    <a:lnL>
                      <a:noFill/>
                    </a:lnL>
                    <a:lnR>
                      <a:noFill/>
                    </a:lnR>
                    <a:lnT>
                      <a:noFill/>
                    </a:lnT>
                    <a:lnB>
                      <a:noFill/>
                    </a:lnB>
                  </a:tcPr>
                </a:tc>
              </a:tr>
              <a:tr h="0">
                <a:tc>
                  <a:txBody>
                    <a:bodyPr/>
                    <a:lstStyle/>
                    <a:p>
                      <a:r>
                        <a:rPr lang="en-US" b="1"/>
                        <a:t>IBM Rational Rose / Rhapsody</a:t>
                      </a:r>
                      <a:endParaRPr lang="en-US"/>
                    </a:p>
                  </a:txBody>
                  <a:tcPr anchor="ctr">
                    <a:lnL>
                      <a:noFill/>
                    </a:lnL>
                    <a:lnR>
                      <a:noFill/>
                    </a:lnR>
                    <a:lnT>
                      <a:noFill/>
                    </a:lnT>
                    <a:lnB>
                      <a:noFill/>
                    </a:lnB>
                  </a:tcPr>
                </a:tc>
                <a:tc>
                  <a:txBody>
                    <a:bodyPr/>
                    <a:lstStyle/>
                    <a:p>
                      <a:r>
                        <a:rPr lang="en-US"/>
                        <a:t>Visual modeling and reverse engineering</a:t>
                      </a:r>
                    </a:p>
                  </a:txBody>
                  <a:tcPr anchor="ctr">
                    <a:lnL>
                      <a:noFill/>
                    </a:lnL>
                    <a:lnR>
                      <a:noFill/>
                    </a:lnR>
                    <a:lnT>
                      <a:noFill/>
                    </a:lnT>
                    <a:lnB>
                      <a:noFill/>
                    </a:lnB>
                  </a:tcPr>
                </a:tc>
                <a:tc>
                  <a:txBody>
                    <a:bodyPr/>
                    <a:lstStyle/>
                    <a:p>
                      <a:r>
                        <a:rPr lang="en-US"/>
                        <a:t>Understands system structure and interactions</a:t>
                      </a:r>
                    </a:p>
                  </a:txBody>
                  <a:tcPr anchor="ctr">
                    <a:lnL>
                      <a:noFill/>
                    </a:lnL>
                    <a:lnR>
                      <a:noFill/>
                    </a:lnR>
                    <a:lnT>
                      <a:noFill/>
                    </a:lnT>
                    <a:lnB>
                      <a:noFill/>
                    </a:lnB>
                  </a:tcPr>
                </a:tc>
              </a:tr>
              <a:tr h="0">
                <a:tc>
                  <a:txBody>
                    <a:bodyPr/>
                    <a:lstStyle/>
                    <a:p>
                      <a:r>
                        <a:rPr lang="en-US" b="1"/>
                        <a:t>Understand by SciTools</a:t>
                      </a:r>
                      <a:endParaRPr lang="en-US"/>
                    </a:p>
                  </a:txBody>
                  <a:tcPr anchor="ctr">
                    <a:lnL>
                      <a:noFill/>
                    </a:lnL>
                    <a:lnR>
                      <a:noFill/>
                    </a:lnR>
                    <a:lnT>
                      <a:noFill/>
                    </a:lnT>
                    <a:lnB>
                      <a:noFill/>
                    </a:lnB>
                  </a:tcPr>
                </a:tc>
                <a:tc>
                  <a:txBody>
                    <a:bodyPr/>
                    <a:lstStyle/>
                    <a:p>
                      <a:r>
                        <a:rPr lang="en-US"/>
                        <a:t>Static code analysis and dependency visualization</a:t>
                      </a:r>
                    </a:p>
                  </a:txBody>
                  <a:tcPr anchor="ctr">
                    <a:lnL>
                      <a:noFill/>
                    </a:lnL>
                    <a:lnR>
                      <a:noFill/>
                    </a:lnR>
                    <a:lnT>
                      <a:noFill/>
                    </a:lnT>
                    <a:lnB>
                      <a:noFill/>
                    </a:lnB>
                  </a:tcPr>
                </a:tc>
                <a:tc>
                  <a:txBody>
                    <a:bodyPr/>
                    <a:lstStyle/>
                    <a:p>
                      <a:r>
                        <a:rPr lang="en-US"/>
                        <a:t>Calculates metrics, detects complexity</a:t>
                      </a:r>
                    </a:p>
                  </a:txBody>
                  <a:tcPr anchor="ctr">
                    <a:lnL>
                      <a:noFill/>
                    </a:lnL>
                    <a:lnR>
                      <a:noFill/>
                    </a:lnR>
                    <a:lnT>
                      <a:noFill/>
                    </a:lnT>
                    <a:lnB>
                      <a:noFill/>
                    </a:lnB>
                  </a:tcPr>
                </a:tc>
              </a:tr>
              <a:tr h="0">
                <a:tc>
                  <a:txBody>
                    <a:bodyPr/>
                    <a:lstStyle/>
                    <a:p>
                      <a:r>
                        <a:rPr lang="en-US" b="1"/>
                        <a:t>Visual Paradigm</a:t>
                      </a:r>
                      <a:endParaRPr lang="en-US"/>
                    </a:p>
                  </a:txBody>
                  <a:tcPr anchor="ctr">
                    <a:lnL>
                      <a:noFill/>
                    </a:lnL>
                    <a:lnR>
                      <a:noFill/>
                    </a:lnR>
                    <a:lnT>
                      <a:noFill/>
                    </a:lnT>
                    <a:lnB>
                      <a:noFill/>
                    </a:lnB>
                  </a:tcPr>
                </a:tc>
                <a:tc>
                  <a:txBody>
                    <a:bodyPr/>
                    <a:lstStyle/>
                    <a:p>
                      <a:r>
                        <a:rPr lang="en-US" dirty="0"/>
                        <a:t>Generates UML and ER diagrams from code</a:t>
                      </a:r>
                    </a:p>
                  </a:txBody>
                  <a:tcPr anchor="ctr">
                    <a:lnL>
                      <a:noFill/>
                    </a:lnL>
                    <a:lnR>
                      <a:noFill/>
                    </a:lnR>
                    <a:lnT>
                      <a:noFill/>
                    </a:lnT>
                    <a:lnB>
                      <a:noFill/>
                    </a:lnB>
                  </a:tcPr>
                </a:tc>
                <a:tc>
                  <a:txBody>
                    <a:bodyPr/>
                    <a:lstStyle/>
                    <a:p>
                      <a:r>
                        <a:rPr lang="en-US"/>
                        <a:t>Aids in visual understanding of system logic</a:t>
                      </a:r>
                    </a:p>
                  </a:txBody>
                  <a:tcPr anchor="ctr">
                    <a:lnL>
                      <a:noFill/>
                    </a:lnL>
                    <a:lnR>
                      <a:noFill/>
                    </a:lnR>
                    <a:lnT>
                      <a:noFill/>
                    </a:lnT>
                    <a:lnB>
                      <a:noFill/>
                    </a:lnB>
                  </a:tcPr>
                </a:tc>
              </a:tr>
              <a:tr h="0">
                <a:tc>
                  <a:txBody>
                    <a:bodyPr/>
                    <a:lstStyle/>
                    <a:p>
                      <a:r>
                        <a:rPr lang="en-US" b="1" dirty="0"/>
                        <a:t>Eclipse / </a:t>
                      </a:r>
                      <a:r>
                        <a:rPr lang="en-US" b="1" dirty="0" err="1"/>
                        <a:t>IntelliJ</a:t>
                      </a:r>
                      <a:r>
                        <a:rPr lang="en-US" b="1" dirty="0"/>
                        <a:t> UML Plugins</a:t>
                      </a:r>
                      <a:endParaRPr lang="en-US" dirty="0"/>
                    </a:p>
                  </a:txBody>
                  <a:tcPr anchor="ctr">
                    <a:lnL>
                      <a:noFill/>
                    </a:lnL>
                    <a:lnR>
                      <a:noFill/>
                    </a:lnR>
                    <a:lnT>
                      <a:noFill/>
                    </a:lnT>
                    <a:lnB>
                      <a:noFill/>
                    </a:lnB>
                  </a:tcPr>
                </a:tc>
                <a:tc>
                  <a:txBody>
                    <a:bodyPr/>
                    <a:lstStyle/>
                    <a:p>
                      <a:r>
                        <a:rPr lang="en-US"/>
                        <a:t>Reverse-engineering add-ons</a:t>
                      </a:r>
                    </a:p>
                  </a:txBody>
                  <a:tcPr anchor="ctr">
                    <a:lnL>
                      <a:noFill/>
                    </a:lnL>
                    <a:lnR>
                      <a:noFill/>
                    </a:lnR>
                    <a:lnT>
                      <a:noFill/>
                    </a:lnT>
                    <a:lnB>
                      <a:noFill/>
                    </a:lnB>
                  </a:tcPr>
                </a:tc>
                <a:tc>
                  <a:txBody>
                    <a:bodyPr/>
                    <a:lstStyle/>
                    <a:p>
                      <a:r>
                        <a:rPr lang="en-US" dirty="0"/>
                        <a:t>Auto-create diagrams from Java or C++ code</a:t>
                      </a:r>
                    </a:p>
                  </a:txBody>
                  <a:tcPr anchor="ctr">
                    <a:lnL>
                      <a:noFill/>
                    </a:lnL>
                    <a:lnR>
                      <a:noFill/>
                    </a:lnR>
                    <a:lnT>
                      <a:noFill/>
                    </a:lnT>
                    <a:lnB>
                      <a:noFill/>
                    </a:lnB>
                  </a:tcPr>
                </a:tc>
              </a:tr>
            </a:tbl>
          </a:graphicData>
        </a:graphic>
      </p:graphicFrame>
    </p:spTree>
    <p:extLst>
      <p:ext uri="{BB962C8B-B14F-4D97-AF65-F5344CB8AC3E}">
        <p14:creationId xmlns:p14="http://schemas.microsoft.com/office/powerpoint/2010/main" val="2231744732"/>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2. </a:t>
            </a:r>
            <a:r>
              <a:rPr lang="en-US" b="1" dirty="0"/>
              <a:t>Static Code Analysis Tools</a:t>
            </a:r>
            <a:endParaRPr lang="en-US" dirty="0"/>
          </a:p>
        </p:txBody>
      </p:sp>
      <p:sp>
        <p:nvSpPr>
          <p:cNvPr id="3" name="Content Placeholder 2"/>
          <p:cNvSpPr>
            <a:spLocks noGrp="1"/>
          </p:cNvSpPr>
          <p:nvPr>
            <p:ph idx="1"/>
          </p:nvPr>
        </p:nvSpPr>
        <p:spPr>
          <a:xfrm>
            <a:off x="457200" y="1399032"/>
            <a:ext cx="8229600" cy="4525963"/>
          </a:xfrm>
        </p:spPr>
        <p:txBody>
          <a:bodyPr/>
          <a:lstStyle/>
          <a:p>
            <a:pPr marL="0" indent="0" algn="just">
              <a:buNone/>
            </a:pPr>
            <a:r>
              <a:rPr lang="en-US" sz="2800" dirty="0"/>
              <a:t>These analyze source code </a:t>
            </a:r>
            <a:r>
              <a:rPr lang="en-US" sz="2800" b="1" dirty="0"/>
              <a:t>without executing it</a:t>
            </a:r>
            <a:r>
              <a:rPr lang="en-US" sz="2800" dirty="0"/>
              <a:t>, identifying complexity, dependencies, and quality issues</a:t>
            </a:r>
            <a:r>
              <a:rPr lang="en-US" sz="2800" dirty="0" smtClean="0"/>
              <a:t>.</a:t>
            </a:r>
          </a:p>
          <a:p>
            <a:endParaRPr lang="en-US" dirty="0"/>
          </a:p>
        </p:txBody>
      </p:sp>
      <p:graphicFrame>
        <p:nvGraphicFramePr>
          <p:cNvPr id="4" name="Table 3"/>
          <p:cNvGraphicFramePr>
            <a:graphicFrameLocks noGrp="1"/>
          </p:cNvGraphicFramePr>
          <p:nvPr>
            <p:extLst>
              <p:ext uri="{D42A27DB-BD31-4B8C-83A1-F6EECF244321}">
                <p14:modId xmlns:p14="http://schemas.microsoft.com/office/powerpoint/2010/main" val="2658370813"/>
              </p:ext>
            </p:extLst>
          </p:nvPr>
        </p:nvGraphicFramePr>
        <p:xfrm>
          <a:off x="704088" y="2756757"/>
          <a:ext cx="8229600" cy="3200400"/>
        </p:xfrm>
        <a:graphic>
          <a:graphicData uri="http://schemas.openxmlformats.org/drawingml/2006/table">
            <a:tbl>
              <a:tblPr/>
              <a:tblGrid>
                <a:gridCol w="2743200"/>
                <a:gridCol w="2743200"/>
                <a:gridCol w="2743200"/>
              </a:tblGrid>
              <a:tr h="0">
                <a:tc>
                  <a:txBody>
                    <a:bodyPr/>
                    <a:lstStyle/>
                    <a:p>
                      <a:r>
                        <a:rPr lang="en-US" b="1" dirty="0"/>
                        <a:t>Tool</a:t>
                      </a:r>
                    </a:p>
                  </a:txBody>
                  <a:tcPr anchor="ctr">
                    <a:lnL>
                      <a:noFill/>
                    </a:lnL>
                    <a:lnR>
                      <a:noFill/>
                    </a:lnR>
                    <a:lnT>
                      <a:noFill/>
                    </a:lnT>
                    <a:lnB>
                      <a:noFill/>
                    </a:lnB>
                  </a:tcPr>
                </a:tc>
                <a:tc>
                  <a:txBody>
                    <a:bodyPr/>
                    <a:lstStyle/>
                    <a:p>
                      <a:r>
                        <a:rPr lang="en-US" b="1" dirty="0"/>
                        <a:t>Function</a:t>
                      </a:r>
                    </a:p>
                  </a:txBody>
                  <a:tcPr anchor="ctr">
                    <a:lnL>
                      <a:noFill/>
                    </a:lnL>
                    <a:lnR>
                      <a:noFill/>
                    </a:lnR>
                    <a:lnT>
                      <a:noFill/>
                    </a:lnT>
                    <a:lnB>
                      <a:noFill/>
                    </a:lnB>
                  </a:tcPr>
                </a:tc>
                <a:tc>
                  <a:txBody>
                    <a:bodyPr/>
                    <a:lstStyle/>
                    <a:p>
                      <a:r>
                        <a:rPr lang="en-US" b="1" dirty="0"/>
                        <a:t>Example Uses</a:t>
                      </a:r>
                    </a:p>
                  </a:txBody>
                  <a:tcPr anchor="ctr">
                    <a:lnL>
                      <a:noFill/>
                    </a:lnL>
                    <a:lnR>
                      <a:noFill/>
                    </a:lnR>
                    <a:lnT>
                      <a:noFill/>
                    </a:lnT>
                    <a:lnB>
                      <a:noFill/>
                    </a:lnB>
                  </a:tcPr>
                </a:tc>
              </a:tr>
              <a:tr h="0">
                <a:tc>
                  <a:txBody>
                    <a:bodyPr/>
                    <a:lstStyle/>
                    <a:p>
                      <a:r>
                        <a:rPr lang="en-US" b="1"/>
                        <a:t>SonarQube</a:t>
                      </a:r>
                      <a:endParaRPr lang="en-US"/>
                    </a:p>
                  </a:txBody>
                  <a:tcPr anchor="ctr">
                    <a:lnL>
                      <a:noFill/>
                    </a:lnL>
                    <a:lnR>
                      <a:noFill/>
                    </a:lnR>
                    <a:lnT>
                      <a:noFill/>
                    </a:lnT>
                    <a:lnB>
                      <a:noFill/>
                    </a:lnB>
                  </a:tcPr>
                </a:tc>
                <a:tc>
                  <a:txBody>
                    <a:bodyPr/>
                    <a:lstStyle/>
                    <a:p>
                      <a:r>
                        <a:rPr lang="en-US"/>
                        <a:t>Code quality and maintainability metrics</a:t>
                      </a:r>
                    </a:p>
                  </a:txBody>
                  <a:tcPr anchor="ctr">
                    <a:lnL>
                      <a:noFill/>
                    </a:lnL>
                    <a:lnR>
                      <a:noFill/>
                    </a:lnR>
                    <a:lnT>
                      <a:noFill/>
                    </a:lnT>
                    <a:lnB>
                      <a:noFill/>
                    </a:lnB>
                  </a:tcPr>
                </a:tc>
                <a:tc>
                  <a:txBody>
                    <a:bodyPr/>
                    <a:lstStyle/>
                    <a:p>
                      <a:r>
                        <a:rPr lang="en-US"/>
                        <a:t>Detects duplicated, dead, or insecure code</a:t>
                      </a:r>
                    </a:p>
                  </a:txBody>
                  <a:tcPr anchor="ctr">
                    <a:lnL>
                      <a:noFill/>
                    </a:lnL>
                    <a:lnR>
                      <a:noFill/>
                    </a:lnR>
                    <a:lnT>
                      <a:noFill/>
                    </a:lnT>
                    <a:lnB>
                      <a:noFill/>
                    </a:lnB>
                  </a:tcPr>
                </a:tc>
              </a:tr>
              <a:tr h="0">
                <a:tc>
                  <a:txBody>
                    <a:bodyPr/>
                    <a:lstStyle/>
                    <a:p>
                      <a:r>
                        <a:rPr lang="en-US" b="1"/>
                        <a:t>PMD / Checkstyle</a:t>
                      </a:r>
                      <a:endParaRPr lang="en-US"/>
                    </a:p>
                  </a:txBody>
                  <a:tcPr anchor="ctr">
                    <a:lnL>
                      <a:noFill/>
                    </a:lnL>
                    <a:lnR>
                      <a:noFill/>
                    </a:lnR>
                    <a:lnT>
                      <a:noFill/>
                    </a:lnT>
                    <a:lnB>
                      <a:noFill/>
                    </a:lnB>
                  </a:tcPr>
                </a:tc>
                <a:tc>
                  <a:txBody>
                    <a:bodyPr/>
                    <a:lstStyle/>
                    <a:p>
                      <a:r>
                        <a:rPr lang="en-US"/>
                        <a:t>Static analysis for code style and defects</a:t>
                      </a:r>
                    </a:p>
                  </a:txBody>
                  <a:tcPr anchor="ctr">
                    <a:lnL>
                      <a:noFill/>
                    </a:lnL>
                    <a:lnR>
                      <a:noFill/>
                    </a:lnR>
                    <a:lnT>
                      <a:noFill/>
                    </a:lnT>
                    <a:lnB>
                      <a:noFill/>
                    </a:lnB>
                  </a:tcPr>
                </a:tc>
                <a:tc>
                  <a:txBody>
                    <a:bodyPr/>
                    <a:lstStyle/>
                    <a:p>
                      <a:r>
                        <a:rPr lang="en-US"/>
                        <a:t>Ensures coding standard compliance</a:t>
                      </a:r>
                    </a:p>
                  </a:txBody>
                  <a:tcPr anchor="ctr">
                    <a:lnL>
                      <a:noFill/>
                    </a:lnL>
                    <a:lnR>
                      <a:noFill/>
                    </a:lnR>
                    <a:lnT>
                      <a:noFill/>
                    </a:lnT>
                    <a:lnB>
                      <a:noFill/>
                    </a:lnB>
                  </a:tcPr>
                </a:tc>
              </a:tr>
              <a:tr h="0">
                <a:tc>
                  <a:txBody>
                    <a:bodyPr/>
                    <a:lstStyle/>
                    <a:p>
                      <a:r>
                        <a:rPr lang="en-US" b="1"/>
                        <a:t>CodeSonar / Coverity</a:t>
                      </a:r>
                      <a:endParaRPr lang="en-US"/>
                    </a:p>
                  </a:txBody>
                  <a:tcPr anchor="ctr">
                    <a:lnL>
                      <a:noFill/>
                    </a:lnL>
                    <a:lnR>
                      <a:noFill/>
                    </a:lnR>
                    <a:lnT>
                      <a:noFill/>
                    </a:lnT>
                    <a:lnB>
                      <a:noFill/>
                    </a:lnB>
                  </a:tcPr>
                </a:tc>
                <a:tc>
                  <a:txBody>
                    <a:bodyPr/>
                    <a:lstStyle/>
                    <a:p>
                      <a:r>
                        <a:rPr lang="en-US"/>
                        <a:t>Deep static analysis for C/C++/Java</a:t>
                      </a:r>
                    </a:p>
                  </a:txBody>
                  <a:tcPr anchor="ctr">
                    <a:lnL>
                      <a:noFill/>
                    </a:lnL>
                    <a:lnR>
                      <a:noFill/>
                    </a:lnR>
                    <a:lnT>
                      <a:noFill/>
                    </a:lnT>
                    <a:lnB>
                      <a:noFill/>
                    </a:lnB>
                  </a:tcPr>
                </a:tc>
                <a:tc>
                  <a:txBody>
                    <a:bodyPr/>
                    <a:lstStyle/>
                    <a:p>
                      <a:r>
                        <a:rPr lang="en-US" dirty="0"/>
                        <a:t>Finds hidden bugs, memory leaks, vulnerabilities</a:t>
                      </a:r>
                    </a:p>
                  </a:txBody>
                  <a:tcPr anchor="ctr">
                    <a:lnL>
                      <a:noFill/>
                    </a:lnL>
                    <a:lnR>
                      <a:noFill/>
                    </a:lnR>
                    <a:lnT>
                      <a:noFill/>
                    </a:lnT>
                    <a:lnB>
                      <a:noFill/>
                    </a:lnB>
                  </a:tcPr>
                </a:tc>
              </a:tr>
              <a:tr h="0">
                <a:tc>
                  <a:txBody>
                    <a:bodyPr/>
                    <a:lstStyle/>
                    <a:p>
                      <a:r>
                        <a:rPr lang="en-US" b="1" dirty="0" err="1"/>
                        <a:t>Lattix</a:t>
                      </a:r>
                      <a:r>
                        <a:rPr lang="en-US" b="1" dirty="0"/>
                        <a:t> Architect</a:t>
                      </a:r>
                      <a:endParaRPr lang="en-US" dirty="0"/>
                    </a:p>
                  </a:txBody>
                  <a:tcPr anchor="ctr">
                    <a:lnL>
                      <a:noFill/>
                    </a:lnL>
                    <a:lnR>
                      <a:noFill/>
                    </a:lnR>
                    <a:lnT>
                      <a:noFill/>
                    </a:lnT>
                    <a:lnB>
                      <a:noFill/>
                    </a:lnB>
                  </a:tcPr>
                </a:tc>
                <a:tc>
                  <a:txBody>
                    <a:bodyPr/>
                    <a:lstStyle/>
                    <a:p>
                      <a:r>
                        <a:rPr lang="en-US" dirty="0"/>
                        <a:t>Dependency structure analysis</a:t>
                      </a:r>
                    </a:p>
                  </a:txBody>
                  <a:tcPr anchor="ctr">
                    <a:lnL>
                      <a:noFill/>
                    </a:lnL>
                    <a:lnR>
                      <a:noFill/>
                    </a:lnR>
                    <a:lnT>
                      <a:noFill/>
                    </a:lnT>
                    <a:lnB>
                      <a:noFill/>
                    </a:lnB>
                  </a:tcPr>
                </a:tc>
                <a:tc>
                  <a:txBody>
                    <a:bodyPr/>
                    <a:lstStyle/>
                    <a:p>
                      <a:r>
                        <a:rPr lang="en-US" dirty="0"/>
                        <a:t>Detects architecture violations and cycles</a:t>
                      </a:r>
                    </a:p>
                  </a:txBody>
                  <a:tcPr anchor="ctr">
                    <a:lnL>
                      <a:noFill/>
                    </a:lnL>
                    <a:lnR>
                      <a:noFill/>
                    </a:lnR>
                    <a:lnT>
                      <a:noFill/>
                    </a:lnT>
                    <a:lnB>
                      <a:noFill/>
                    </a:lnB>
                  </a:tcPr>
                </a:tc>
              </a:tr>
            </a:tbl>
          </a:graphicData>
        </a:graphic>
      </p:graphicFrame>
      <p:sp>
        <p:nvSpPr>
          <p:cNvPr id="5" name="Rectangle 4"/>
          <p:cNvSpPr/>
          <p:nvPr/>
        </p:nvSpPr>
        <p:spPr>
          <a:xfrm>
            <a:off x="1591056" y="6150787"/>
            <a:ext cx="5266944" cy="369332"/>
          </a:xfrm>
          <a:prstGeom prst="rect">
            <a:avLst/>
          </a:prstGeom>
        </p:spPr>
        <p:txBody>
          <a:bodyPr wrap="square">
            <a:spAutoFit/>
          </a:bodyPr>
          <a:lstStyle/>
          <a:p>
            <a:r>
              <a:rPr lang="en-US" i="1" dirty="0"/>
              <a:t>Helps determine system health and refactoring needs.</a:t>
            </a:r>
            <a:endParaRPr lang="en-US" dirty="0"/>
          </a:p>
        </p:txBody>
      </p:sp>
    </p:spTree>
    <p:extLst>
      <p:ext uri="{BB962C8B-B14F-4D97-AF65-F5344CB8AC3E}">
        <p14:creationId xmlns:p14="http://schemas.microsoft.com/office/powerpoint/2010/main" val="814547815"/>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3. </a:t>
            </a:r>
            <a:r>
              <a:rPr lang="en-US" b="1" dirty="0"/>
              <a:t>Dynamic Analysis Tools</a:t>
            </a:r>
            <a:endParaRPr lang="en-US" dirty="0"/>
          </a:p>
        </p:txBody>
      </p:sp>
      <p:sp>
        <p:nvSpPr>
          <p:cNvPr id="3" name="Content Placeholder 2"/>
          <p:cNvSpPr>
            <a:spLocks noGrp="1"/>
          </p:cNvSpPr>
          <p:nvPr>
            <p:ph idx="1"/>
          </p:nvPr>
        </p:nvSpPr>
        <p:spPr/>
        <p:txBody>
          <a:bodyPr/>
          <a:lstStyle/>
          <a:p>
            <a:pPr marL="0" indent="0">
              <a:buNone/>
            </a:pPr>
            <a:r>
              <a:rPr lang="en-US" sz="2800" dirty="0"/>
              <a:t>These tools observe system behavior during runtime to understand performance and logic flow</a:t>
            </a:r>
            <a:r>
              <a:rPr lang="en-US" sz="2800" dirty="0" smtClean="0"/>
              <a:t>.</a:t>
            </a:r>
          </a:p>
          <a:p>
            <a:endParaRPr lang="en-US" dirty="0"/>
          </a:p>
        </p:txBody>
      </p:sp>
      <p:graphicFrame>
        <p:nvGraphicFramePr>
          <p:cNvPr id="4" name="Table 3"/>
          <p:cNvGraphicFramePr>
            <a:graphicFrameLocks noGrp="1"/>
          </p:cNvGraphicFramePr>
          <p:nvPr>
            <p:extLst>
              <p:ext uri="{D42A27DB-BD31-4B8C-83A1-F6EECF244321}">
                <p14:modId xmlns:p14="http://schemas.microsoft.com/office/powerpoint/2010/main" val="716113749"/>
              </p:ext>
            </p:extLst>
          </p:nvPr>
        </p:nvGraphicFramePr>
        <p:xfrm>
          <a:off x="539496" y="2679191"/>
          <a:ext cx="8229600" cy="3204814"/>
        </p:xfrm>
        <a:graphic>
          <a:graphicData uri="http://schemas.openxmlformats.org/drawingml/2006/table">
            <a:tbl>
              <a:tblPr/>
              <a:tblGrid>
                <a:gridCol w="2743200"/>
                <a:gridCol w="2743200"/>
                <a:gridCol w="2743200"/>
              </a:tblGrid>
              <a:tr h="400602">
                <a:tc>
                  <a:txBody>
                    <a:bodyPr/>
                    <a:lstStyle/>
                    <a:p>
                      <a:r>
                        <a:rPr lang="en-US" dirty="0"/>
                        <a:t>Tool</a:t>
                      </a:r>
                    </a:p>
                  </a:txBody>
                  <a:tcPr anchor="ctr">
                    <a:lnL>
                      <a:noFill/>
                    </a:lnL>
                    <a:lnR>
                      <a:noFill/>
                    </a:lnR>
                    <a:lnT>
                      <a:noFill/>
                    </a:lnT>
                    <a:lnB>
                      <a:noFill/>
                    </a:lnB>
                  </a:tcPr>
                </a:tc>
                <a:tc>
                  <a:txBody>
                    <a:bodyPr/>
                    <a:lstStyle/>
                    <a:p>
                      <a:r>
                        <a:rPr lang="en-US"/>
                        <a:t>Function</a:t>
                      </a:r>
                    </a:p>
                  </a:txBody>
                  <a:tcPr anchor="ctr">
                    <a:lnL>
                      <a:noFill/>
                    </a:lnL>
                    <a:lnR>
                      <a:noFill/>
                    </a:lnR>
                    <a:lnT>
                      <a:noFill/>
                    </a:lnT>
                    <a:lnB>
                      <a:noFill/>
                    </a:lnB>
                  </a:tcPr>
                </a:tc>
                <a:tc>
                  <a:txBody>
                    <a:bodyPr/>
                    <a:lstStyle/>
                    <a:p>
                      <a:r>
                        <a:rPr lang="en-US"/>
                        <a:t>Example Uses</a:t>
                      </a:r>
                    </a:p>
                  </a:txBody>
                  <a:tcPr anchor="ctr">
                    <a:lnL>
                      <a:noFill/>
                    </a:lnL>
                    <a:lnR>
                      <a:noFill/>
                    </a:lnR>
                    <a:lnT>
                      <a:noFill/>
                    </a:lnT>
                    <a:lnB>
                      <a:noFill/>
                    </a:lnB>
                  </a:tcPr>
                </a:tc>
              </a:tr>
              <a:tr h="701053">
                <a:tc>
                  <a:txBody>
                    <a:bodyPr/>
                    <a:lstStyle/>
                    <a:p>
                      <a:r>
                        <a:rPr lang="en-US" b="1"/>
                        <a:t>JProfiler / YourKit</a:t>
                      </a:r>
                      <a:endParaRPr lang="en-US"/>
                    </a:p>
                  </a:txBody>
                  <a:tcPr anchor="ctr">
                    <a:lnL>
                      <a:noFill/>
                    </a:lnL>
                    <a:lnR>
                      <a:noFill/>
                    </a:lnR>
                    <a:lnT>
                      <a:noFill/>
                    </a:lnT>
                    <a:lnB>
                      <a:noFill/>
                    </a:lnB>
                  </a:tcPr>
                </a:tc>
                <a:tc>
                  <a:txBody>
                    <a:bodyPr/>
                    <a:lstStyle/>
                    <a:p>
                      <a:r>
                        <a:rPr lang="en-US"/>
                        <a:t>Java performance profilers</a:t>
                      </a:r>
                    </a:p>
                  </a:txBody>
                  <a:tcPr anchor="ctr">
                    <a:lnL>
                      <a:noFill/>
                    </a:lnL>
                    <a:lnR>
                      <a:noFill/>
                    </a:lnR>
                    <a:lnT>
                      <a:noFill/>
                    </a:lnT>
                    <a:lnB>
                      <a:noFill/>
                    </a:lnB>
                  </a:tcPr>
                </a:tc>
                <a:tc>
                  <a:txBody>
                    <a:bodyPr/>
                    <a:lstStyle/>
                    <a:p>
                      <a:r>
                        <a:rPr lang="en-US"/>
                        <a:t>Track memory leaks, slow methods</a:t>
                      </a:r>
                    </a:p>
                  </a:txBody>
                  <a:tcPr anchor="ctr">
                    <a:lnL>
                      <a:noFill/>
                    </a:lnL>
                    <a:lnR>
                      <a:noFill/>
                    </a:lnR>
                    <a:lnT>
                      <a:noFill/>
                    </a:lnT>
                    <a:lnB>
                      <a:noFill/>
                    </a:lnB>
                  </a:tcPr>
                </a:tc>
              </a:tr>
              <a:tr h="701053">
                <a:tc>
                  <a:txBody>
                    <a:bodyPr/>
                    <a:lstStyle/>
                    <a:p>
                      <a:r>
                        <a:rPr lang="en-US" b="1" dirty="0" err="1"/>
                        <a:t>Dynatrace</a:t>
                      </a:r>
                      <a:r>
                        <a:rPr lang="en-US" b="1" dirty="0"/>
                        <a:t> / New Relic / </a:t>
                      </a:r>
                      <a:r>
                        <a:rPr lang="en-US" b="1" dirty="0" err="1"/>
                        <a:t>AppDynamics</a:t>
                      </a:r>
                      <a:endParaRPr lang="en-US" dirty="0"/>
                    </a:p>
                  </a:txBody>
                  <a:tcPr anchor="ctr">
                    <a:lnL>
                      <a:noFill/>
                    </a:lnL>
                    <a:lnR>
                      <a:noFill/>
                    </a:lnR>
                    <a:lnT>
                      <a:noFill/>
                    </a:lnT>
                    <a:lnB>
                      <a:noFill/>
                    </a:lnB>
                  </a:tcPr>
                </a:tc>
                <a:tc>
                  <a:txBody>
                    <a:bodyPr/>
                    <a:lstStyle/>
                    <a:p>
                      <a:r>
                        <a:rPr lang="en-US"/>
                        <a:t>Cloud-based monitoring</a:t>
                      </a:r>
                    </a:p>
                  </a:txBody>
                  <a:tcPr anchor="ctr">
                    <a:lnL>
                      <a:noFill/>
                    </a:lnL>
                    <a:lnR>
                      <a:noFill/>
                    </a:lnR>
                    <a:lnT>
                      <a:noFill/>
                    </a:lnT>
                    <a:lnB>
                      <a:noFill/>
                    </a:lnB>
                  </a:tcPr>
                </a:tc>
                <a:tc>
                  <a:txBody>
                    <a:bodyPr/>
                    <a:lstStyle/>
                    <a:p>
                      <a:r>
                        <a:rPr lang="en-US"/>
                        <a:t>Real-time tracing of microservices</a:t>
                      </a:r>
                    </a:p>
                  </a:txBody>
                  <a:tcPr anchor="ctr">
                    <a:lnL>
                      <a:noFill/>
                    </a:lnL>
                    <a:lnR>
                      <a:noFill/>
                    </a:lnR>
                    <a:lnT>
                      <a:noFill/>
                    </a:lnT>
                    <a:lnB>
                      <a:noFill/>
                    </a:lnB>
                  </a:tcPr>
                </a:tc>
              </a:tr>
              <a:tr h="701053">
                <a:tc>
                  <a:txBody>
                    <a:bodyPr/>
                    <a:lstStyle/>
                    <a:p>
                      <a:r>
                        <a:rPr lang="en-US" b="1"/>
                        <a:t>Valgrind</a:t>
                      </a:r>
                      <a:endParaRPr lang="en-US"/>
                    </a:p>
                  </a:txBody>
                  <a:tcPr anchor="ctr">
                    <a:lnL>
                      <a:noFill/>
                    </a:lnL>
                    <a:lnR>
                      <a:noFill/>
                    </a:lnR>
                    <a:lnT>
                      <a:noFill/>
                    </a:lnT>
                    <a:lnB>
                      <a:noFill/>
                    </a:lnB>
                  </a:tcPr>
                </a:tc>
                <a:tc>
                  <a:txBody>
                    <a:bodyPr/>
                    <a:lstStyle/>
                    <a:p>
                      <a:r>
                        <a:rPr lang="en-US"/>
                        <a:t>Memory debugging for C/C++</a:t>
                      </a:r>
                    </a:p>
                  </a:txBody>
                  <a:tcPr anchor="ctr">
                    <a:lnL>
                      <a:noFill/>
                    </a:lnL>
                    <a:lnR>
                      <a:noFill/>
                    </a:lnR>
                    <a:lnT>
                      <a:noFill/>
                    </a:lnT>
                    <a:lnB>
                      <a:noFill/>
                    </a:lnB>
                  </a:tcPr>
                </a:tc>
                <a:tc>
                  <a:txBody>
                    <a:bodyPr/>
                    <a:lstStyle/>
                    <a:p>
                      <a:r>
                        <a:rPr lang="en-US"/>
                        <a:t>Detects memory leaks and threading issues</a:t>
                      </a:r>
                    </a:p>
                  </a:txBody>
                  <a:tcPr anchor="ctr">
                    <a:lnL>
                      <a:noFill/>
                    </a:lnL>
                    <a:lnR>
                      <a:noFill/>
                    </a:lnR>
                    <a:lnT>
                      <a:noFill/>
                    </a:lnT>
                    <a:lnB>
                      <a:noFill/>
                    </a:lnB>
                  </a:tcPr>
                </a:tc>
              </a:tr>
              <a:tr h="701053">
                <a:tc>
                  <a:txBody>
                    <a:bodyPr/>
                    <a:lstStyle/>
                    <a:p>
                      <a:r>
                        <a:rPr lang="en-US" b="1"/>
                        <a:t>Perf / DTrace</a:t>
                      </a:r>
                      <a:endParaRPr lang="en-US"/>
                    </a:p>
                  </a:txBody>
                  <a:tcPr anchor="ctr">
                    <a:lnL>
                      <a:noFill/>
                    </a:lnL>
                    <a:lnR>
                      <a:noFill/>
                    </a:lnR>
                    <a:lnT>
                      <a:noFill/>
                    </a:lnT>
                    <a:lnB>
                      <a:noFill/>
                    </a:lnB>
                  </a:tcPr>
                </a:tc>
                <a:tc>
                  <a:txBody>
                    <a:bodyPr/>
                    <a:lstStyle/>
                    <a:p>
                      <a:r>
                        <a:rPr lang="en-US"/>
                        <a:t>System-level profiling</a:t>
                      </a:r>
                    </a:p>
                  </a:txBody>
                  <a:tcPr anchor="ctr">
                    <a:lnL>
                      <a:noFill/>
                    </a:lnL>
                    <a:lnR>
                      <a:noFill/>
                    </a:lnR>
                    <a:lnT>
                      <a:noFill/>
                    </a:lnT>
                    <a:lnB>
                      <a:noFill/>
                    </a:lnB>
                  </a:tcPr>
                </a:tc>
                <a:tc>
                  <a:txBody>
                    <a:bodyPr/>
                    <a:lstStyle/>
                    <a:p>
                      <a:r>
                        <a:rPr lang="en-US" dirty="0"/>
                        <a:t>Performance monitoring in Linux/Unix</a:t>
                      </a:r>
                    </a:p>
                  </a:txBody>
                  <a:tcPr anchor="ctr">
                    <a:lnL>
                      <a:noFill/>
                    </a:lnL>
                    <a:lnR>
                      <a:noFill/>
                    </a:lnR>
                    <a:lnT>
                      <a:noFill/>
                    </a:lnT>
                    <a:lnB>
                      <a:noFill/>
                    </a:lnB>
                  </a:tcPr>
                </a:tc>
              </a:tr>
            </a:tbl>
          </a:graphicData>
        </a:graphic>
      </p:graphicFrame>
      <p:sp>
        <p:nvSpPr>
          <p:cNvPr id="5" name="Rectangle 4"/>
          <p:cNvSpPr/>
          <p:nvPr/>
        </p:nvSpPr>
        <p:spPr>
          <a:xfrm>
            <a:off x="749808" y="6077635"/>
            <a:ext cx="7315200" cy="369332"/>
          </a:xfrm>
          <a:prstGeom prst="rect">
            <a:avLst/>
          </a:prstGeom>
        </p:spPr>
        <p:txBody>
          <a:bodyPr wrap="square">
            <a:spAutoFit/>
          </a:bodyPr>
          <a:lstStyle/>
          <a:p>
            <a:r>
              <a:rPr lang="en-US" i="1" dirty="0"/>
              <a:t>Helps identify runtime issues, bottlenecks, and optimization areas.</a:t>
            </a:r>
            <a:endParaRPr lang="en-US" dirty="0"/>
          </a:p>
        </p:txBody>
      </p:sp>
    </p:spTree>
    <p:extLst>
      <p:ext uri="{BB962C8B-B14F-4D97-AF65-F5344CB8AC3E}">
        <p14:creationId xmlns:p14="http://schemas.microsoft.com/office/powerpoint/2010/main" val="556348226"/>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4. </a:t>
            </a:r>
            <a:r>
              <a:rPr lang="en-US" b="1" dirty="0"/>
              <a:t>Database and Data Flow Analysis Tools</a:t>
            </a:r>
            <a:endParaRPr lang="en-US" dirty="0"/>
          </a:p>
        </p:txBody>
      </p:sp>
      <p:sp>
        <p:nvSpPr>
          <p:cNvPr id="3" name="Content Placeholder 2"/>
          <p:cNvSpPr>
            <a:spLocks noGrp="1"/>
          </p:cNvSpPr>
          <p:nvPr>
            <p:ph idx="1"/>
          </p:nvPr>
        </p:nvSpPr>
        <p:spPr/>
        <p:txBody>
          <a:bodyPr>
            <a:normAutofit/>
          </a:bodyPr>
          <a:lstStyle/>
          <a:p>
            <a:pPr algn="just"/>
            <a:r>
              <a:rPr lang="en-US" sz="2800" dirty="0"/>
              <a:t>Used to analyze and visualize data relationships and dependencies</a:t>
            </a:r>
            <a:r>
              <a:rPr lang="en-US" sz="2800" dirty="0" smtClean="0"/>
              <a:t>.</a:t>
            </a:r>
          </a:p>
          <a:p>
            <a:pPr algn="just"/>
            <a:endParaRPr lang="en-US" sz="2800" dirty="0"/>
          </a:p>
        </p:txBody>
      </p:sp>
      <p:graphicFrame>
        <p:nvGraphicFramePr>
          <p:cNvPr id="4" name="Table 3"/>
          <p:cNvGraphicFramePr>
            <a:graphicFrameLocks noGrp="1"/>
          </p:cNvGraphicFramePr>
          <p:nvPr>
            <p:extLst>
              <p:ext uri="{D42A27DB-BD31-4B8C-83A1-F6EECF244321}">
                <p14:modId xmlns:p14="http://schemas.microsoft.com/office/powerpoint/2010/main" val="644718657"/>
              </p:ext>
            </p:extLst>
          </p:nvPr>
        </p:nvGraphicFramePr>
        <p:xfrm>
          <a:off x="457200" y="2784189"/>
          <a:ext cx="8229600" cy="3200400"/>
        </p:xfrm>
        <a:graphic>
          <a:graphicData uri="http://schemas.openxmlformats.org/drawingml/2006/table">
            <a:tbl>
              <a:tblPr/>
              <a:tblGrid>
                <a:gridCol w="2743200"/>
                <a:gridCol w="2743200"/>
                <a:gridCol w="2743200"/>
              </a:tblGrid>
              <a:tr h="0">
                <a:tc>
                  <a:txBody>
                    <a:bodyPr/>
                    <a:lstStyle/>
                    <a:p>
                      <a:r>
                        <a:rPr lang="en-US" b="1" dirty="0"/>
                        <a:t>Tool</a:t>
                      </a:r>
                    </a:p>
                  </a:txBody>
                  <a:tcPr anchor="ctr">
                    <a:lnL>
                      <a:noFill/>
                    </a:lnL>
                    <a:lnR>
                      <a:noFill/>
                    </a:lnR>
                    <a:lnT>
                      <a:noFill/>
                    </a:lnT>
                    <a:lnB>
                      <a:noFill/>
                    </a:lnB>
                  </a:tcPr>
                </a:tc>
                <a:tc>
                  <a:txBody>
                    <a:bodyPr/>
                    <a:lstStyle/>
                    <a:p>
                      <a:r>
                        <a:rPr lang="en-US" b="1" dirty="0"/>
                        <a:t>Function</a:t>
                      </a:r>
                    </a:p>
                  </a:txBody>
                  <a:tcPr anchor="ctr">
                    <a:lnL>
                      <a:noFill/>
                    </a:lnL>
                    <a:lnR>
                      <a:noFill/>
                    </a:lnR>
                    <a:lnT>
                      <a:noFill/>
                    </a:lnT>
                    <a:lnB>
                      <a:noFill/>
                    </a:lnB>
                  </a:tcPr>
                </a:tc>
                <a:tc>
                  <a:txBody>
                    <a:bodyPr/>
                    <a:lstStyle/>
                    <a:p>
                      <a:r>
                        <a:rPr lang="en-US" b="1" dirty="0"/>
                        <a:t>Example Uses</a:t>
                      </a:r>
                    </a:p>
                  </a:txBody>
                  <a:tcPr anchor="ctr">
                    <a:lnL>
                      <a:noFill/>
                    </a:lnL>
                    <a:lnR>
                      <a:noFill/>
                    </a:lnR>
                    <a:lnT>
                      <a:noFill/>
                    </a:lnT>
                    <a:lnB>
                      <a:noFill/>
                    </a:lnB>
                  </a:tcPr>
                </a:tc>
              </a:tr>
              <a:tr h="0">
                <a:tc>
                  <a:txBody>
                    <a:bodyPr/>
                    <a:lstStyle/>
                    <a:p>
                      <a:r>
                        <a:rPr lang="en-US" b="1"/>
                        <a:t>ER/Studio</a:t>
                      </a:r>
                      <a:endParaRPr lang="en-US"/>
                    </a:p>
                  </a:txBody>
                  <a:tcPr anchor="ctr">
                    <a:lnL>
                      <a:noFill/>
                    </a:lnL>
                    <a:lnR>
                      <a:noFill/>
                    </a:lnR>
                    <a:lnT>
                      <a:noFill/>
                    </a:lnT>
                    <a:lnB>
                      <a:noFill/>
                    </a:lnB>
                  </a:tcPr>
                </a:tc>
                <a:tc>
                  <a:txBody>
                    <a:bodyPr/>
                    <a:lstStyle/>
                    <a:p>
                      <a:r>
                        <a:rPr lang="en-US"/>
                        <a:t>Reverse-engineers databases</a:t>
                      </a:r>
                    </a:p>
                  </a:txBody>
                  <a:tcPr anchor="ctr">
                    <a:lnL>
                      <a:noFill/>
                    </a:lnL>
                    <a:lnR>
                      <a:noFill/>
                    </a:lnR>
                    <a:lnT>
                      <a:noFill/>
                    </a:lnT>
                    <a:lnB>
                      <a:noFill/>
                    </a:lnB>
                  </a:tcPr>
                </a:tc>
                <a:tc>
                  <a:txBody>
                    <a:bodyPr/>
                    <a:lstStyle/>
                    <a:p>
                      <a:r>
                        <a:rPr lang="en-US"/>
                        <a:t>Generates Entity-Relationship Diagrams (ERDs)</a:t>
                      </a:r>
                    </a:p>
                  </a:txBody>
                  <a:tcPr anchor="ctr">
                    <a:lnL>
                      <a:noFill/>
                    </a:lnL>
                    <a:lnR>
                      <a:noFill/>
                    </a:lnR>
                    <a:lnT>
                      <a:noFill/>
                    </a:lnT>
                    <a:lnB>
                      <a:noFill/>
                    </a:lnB>
                  </a:tcPr>
                </a:tc>
              </a:tr>
              <a:tr h="0">
                <a:tc>
                  <a:txBody>
                    <a:bodyPr/>
                    <a:lstStyle/>
                    <a:p>
                      <a:r>
                        <a:rPr lang="en-US" b="1"/>
                        <a:t>Toad Data Modeler</a:t>
                      </a:r>
                      <a:endParaRPr lang="en-US"/>
                    </a:p>
                  </a:txBody>
                  <a:tcPr anchor="ctr">
                    <a:lnL>
                      <a:noFill/>
                    </a:lnL>
                    <a:lnR>
                      <a:noFill/>
                    </a:lnR>
                    <a:lnT>
                      <a:noFill/>
                    </a:lnT>
                    <a:lnB>
                      <a:noFill/>
                    </a:lnB>
                  </a:tcPr>
                </a:tc>
                <a:tc>
                  <a:txBody>
                    <a:bodyPr/>
                    <a:lstStyle/>
                    <a:p>
                      <a:r>
                        <a:rPr lang="en-US"/>
                        <a:t>Database structure visualization</a:t>
                      </a:r>
                    </a:p>
                  </a:txBody>
                  <a:tcPr anchor="ctr">
                    <a:lnL>
                      <a:noFill/>
                    </a:lnL>
                    <a:lnR>
                      <a:noFill/>
                    </a:lnR>
                    <a:lnT>
                      <a:noFill/>
                    </a:lnT>
                    <a:lnB>
                      <a:noFill/>
                    </a:lnB>
                  </a:tcPr>
                </a:tc>
                <a:tc>
                  <a:txBody>
                    <a:bodyPr/>
                    <a:lstStyle/>
                    <a:p>
                      <a:r>
                        <a:rPr lang="en-US"/>
                        <a:t>Identifies schema dependencies</a:t>
                      </a:r>
                    </a:p>
                  </a:txBody>
                  <a:tcPr anchor="ctr">
                    <a:lnL>
                      <a:noFill/>
                    </a:lnL>
                    <a:lnR>
                      <a:noFill/>
                    </a:lnR>
                    <a:lnT>
                      <a:noFill/>
                    </a:lnT>
                    <a:lnB>
                      <a:noFill/>
                    </a:lnB>
                  </a:tcPr>
                </a:tc>
              </a:tr>
              <a:tr h="0">
                <a:tc>
                  <a:txBody>
                    <a:bodyPr/>
                    <a:lstStyle/>
                    <a:p>
                      <a:r>
                        <a:rPr lang="en-US" b="1"/>
                        <a:t>DBVisualizer</a:t>
                      </a:r>
                      <a:endParaRPr lang="en-US"/>
                    </a:p>
                  </a:txBody>
                  <a:tcPr anchor="ctr">
                    <a:lnL>
                      <a:noFill/>
                    </a:lnL>
                    <a:lnR>
                      <a:noFill/>
                    </a:lnR>
                    <a:lnT>
                      <a:noFill/>
                    </a:lnT>
                    <a:lnB>
                      <a:noFill/>
                    </a:lnB>
                  </a:tcPr>
                </a:tc>
                <a:tc>
                  <a:txBody>
                    <a:bodyPr/>
                    <a:lstStyle/>
                    <a:p>
                      <a:r>
                        <a:rPr lang="en-US"/>
                        <a:t>Database analysis and documentation</a:t>
                      </a:r>
                    </a:p>
                  </a:txBody>
                  <a:tcPr anchor="ctr">
                    <a:lnL>
                      <a:noFill/>
                    </a:lnL>
                    <a:lnR>
                      <a:noFill/>
                    </a:lnR>
                    <a:lnT>
                      <a:noFill/>
                    </a:lnT>
                    <a:lnB>
                      <a:noFill/>
                    </a:lnB>
                  </a:tcPr>
                </a:tc>
                <a:tc>
                  <a:txBody>
                    <a:bodyPr/>
                    <a:lstStyle/>
                    <a:p>
                      <a:r>
                        <a:rPr lang="en-US"/>
                        <a:t>Queries and maps database connections</a:t>
                      </a:r>
                    </a:p>
                  </a:txBody>
                  <a:tcPr anchor="ctr">
                    <a:lnL>
                      <a:noFill/>
                    </a:lnL>
                    <a:lnR>
                      <a:noFill/>
                    </a:lnR>
                    <a:lnT>
                      <a:noFill/>
                    </a:lnT>
                    <a:lnB>
                      <a:noFill/>
                    </a:lnB>
                  </a:tcPr>
                </a:tc>
              </a:tr>
              <a:tr h="0">
                <a:tc>
                  <a:txBody>
                    <a:bodyPr/>
                    <a:lstStyle/>
                    <a:p>
                      <a:r>
                        <a:rPr lang="en-US" b="1"/>
                        <a:t>PowerDesigner (SAP)</a:t>
                      </a:r>
                      <a:endParaRPr lang="en-US"/>
                    </a:p>
                  </a:txBody>
                  <a:tcPr anchor="ctr">
                    <a:lnL>
                      <a:noFill/>
                    </a:lnL>
                    <a:lnR>
                      <a:noFill/>
                    </a:lnR>
                    <a:lnT>
                      <a:noFill/>
                    </a:lnT>
                    <a:lnB>
                      <a:noFill/>
                    </a:lnB>
                  </a:tcPr>
                </a:tc>
                <a:tc>
                  <a:txBody>
                    <a:bodyPr/>
                    <a:lstStyle/>
                    <a:p>
                      <a:r>
                        <a:rPr lang="en-US"/>
                        <a:t>Enterprise data modeling</a:t>
                      </a:r>
                    </a:p>
                  </a:txBody>
                  <a:tcPr anchor="ctr">
                    <a:lnL>
                      <a:noFill/>
                    </a:lnL>
                    <a:lnR>
                      <a:noFill/>
                    </a:lnR>
                    <a:lnT>
                      <a:noFill/>
                    </a:lnT>
                    <a:lnB>
                      <a:noFill/>
                    </a:lnB>
                  </a:tcPr>
                </a:tc>
                <a:tc>
                  <a:txBody>
                    <a:bodyPr/>
                    <a:lstStyle/>
                    <a:p>
                      <a:r>
                        <a:rPr lang="en-US" dirty="0"/>
                        <a:t>Integrates data and process flow diagrams</a:t>
                      </a:r>
                    </a:p>
                  </a:txBody>
                  <a:tcPr anchor="ctr">
                    <a:lnL>
                      <a:noFill/>
                    </a:lnL>
                    <a:lnR>
                      <a:noFill/>
                    </a:lnR>
                    <a:lnT>
                      <a:noFill/>
                    </a:lnT>
                    <a:lnB>
                      <a:noFill/>
                    </a:lnB>
                  </a:tcPr>
                </a:tc>
              </a:tr>
            </a:tbl>
          </a:graphicData>
        </a:graphic>
      </p:graphicFrame>
      <p:sp>
        <p:nvSpPr>
          <p:cNvPr id="5" name="Rectangle 4"/>
          <p:cNvSpPr/>
          <p:nvPr/>
        </p:nvSpPr>
        <p:spPr>
          <a:xfrm>
            <a:off x="722376" y="6141643"/>
            <a:ext cx="7964424" cy="369332"/>
          </a:xfrm>
          <a:prstGeom prst="rect">
            <a:avLst/>
          </a:prstGeom>
        </p:spPr>
        <p:txBody>
          <a:bodyPr wrap="square">
            <a:spAutoFit/>
          </a:bodyPr>
          <a:lstStyle/>
          <a:p>
            <a:r>
              <a:rPr lang="en-US" dirty="0"/>
              <a:t>Helps reveal how data moves through the system and where redundancy occurs.</a:t>
            </a:r>
          </a:p>
        </p:txBody>
      </p:sp>
    </p:spTree>
    <p:extLst>
      <p:ext uri="{BB962C8B-B14F-4D97-AF65-F5344CB8AC3E}">
        <p14:creationId xmlns:p14="http://schemas.microsoft.com/office/powerpoint/2010/main" val="1700571325"/>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5. </a:t>
            </a:r>
            <a:r>
              <a:rPr lang="en-US" b="1" dirty="0"/>
              <a:t>Documentation and Reporting Tools</a:t>
            </a:r>
            <a:endParaRPr lang="en-US" dirty="0"/>
          </a:p>
        </p:txBody>
      </p:sp>
      <p:sp>
        <p:nvSpPr>
          <p:cNvPr id="3" name="Content Placeholder 2"/>
          <p:cNvSpPr>
            <a:spLocks noGrp="1"/>
          </p:cNvSpPr>
          <p:nvPr>
            <p:ph idx="1"/>
          </p:nvPr>
        </p:nvSpPr>
        <p:spPr/>
        <p:txBody>
          <a:bodyPr>
            <a:normAutofit/>
          </a:bodyPr>
          <a:lstStyle/>
          <a:p>
            <a:pPr algn="just"/>
            <a:r>
              <a:rPr lang="en-US" sz="2800" dirty="0"/>
              <a:t>Used to automatically generate technical documentation from analysis results</a:t>
            </a:r>
            <a:r>
              <a:rPr lang="en-US" sz="2800" dirty="0" smtClean="0"/>
              <a:t>.</a:t>
            </a:r>
          </a:p>
          <a:p>
            <a:pPr algn="just"/>
            <a:endParaRPr lang="en-US" sz="2800" dirty="0"/>
          </a:p>
        </p:txBody>
      </p:sp>
      <p:graphicFrame>
        <p:nvGraphicFramePr>
          <p:cNvPr id="4" name="Table 3"/>
          <p:cNvGraphicFramePr>
            <a:graphicFrameLocks noGrp="1"/>
          </p:cNvGraphicFramePr>
          <p:nvPr>
            <p:extLst>
              <p:ext uri="{D42A27DB-BD31-4B8C-83A1-F6EECF244321}">
                <p14:modId xmlns:p14="http://schemas.microsoft.com/office/powerpoint/2010/main" val="1569399386"/>
              </p:ext>
            </p:extLst>
          </p:nvPr>
        </p:nvGraphicFramePr>
        <p:xfrm>
          <a:off x="621792" y="2674461"/>
          <a:ext cx="8229600" cy="2560320"/>
        </p:xfrm>
        <a:graphic>
          <a:graphicData uri="http://schemas.openxmlformats.org/drawingml/2006/table">
            <a:tbl>
              <a:tblPr/>
              <a:tblGrid>
                <a:gridCol w="2743200"/>
                <a:gridCol w="2743200"/>
                <a:gridCol w="2743200"/>
              </a:tblGrid>
              <a:tr h="0">
                <a:tc>
                  <a:txBody>
                    <a:bodyPr/>
                    <a:lstStyle/>
                    <a:p>
                      <a:r>
                        <a:rPr lang="en-US"/>
                        <a:t>Tool</a:t>
                      </a:r>
                    </a:p>
                  </a:txBody>
                  <a:tcPr anchor="ctr">
                    <a:lnL>
                      <a:noFill/>
                    </a:lnL>
                    <a:lnR>
                      <a:noFill/>
                    </a:lnR>
                    <a:lnT>
                      <a:noFill/>
                    </a:lnT>
                    <a:lnB>
                      <a:noFill/>
                    </a:lnB>
                  </a:tcPr>
                </a:tc>
                <a:tc>
                  <a:txBody>
                    <a:bodyPr/>
                    <a:lstStyle/>
                    <a:p>
                      <a:r>
                        <a:rPr lang="en-US"/>
                        <a:t>Function</a:t>
                      </a:r>
                    </a:p>
                  </a:txBody>
                  <a:tcPr anchor="ctr">
                    <a:lnL>
                      <a:noFill/>
                    </a:lnL>
                    <a:lnR>
                      <a:noFill/>
                    </a:lnR>
                    <a:lnT>
                      <a:noFill/>
                    </a:lnT>
                    <a:lnB>
                      <a:noFill/>
                    </a:lnB>
                  </a:tcPr>
                </a:tc>
                <a:tc>
                  <a:txBody>
                    <a:bodyPr/>
                    <a:lstStyle/>
                    <a:p>
                      <a:r>
                        <a:rPr lang="en-US"/>
                        <a:t>Example Uses</a:t>
                      </a:r>
                    </a:p>
                  </a:txBody>
                  <a:tcPr anchor="ctr">
                    <a:lnL>
                      <a:noFill/>
                    </a:lnL>
                    <a:lnR>
                      <a:noFill/>
                    </a:lnR>
                    <a:lnT>
                      <a:noFill/>
                    </a:lnT>
                    <a:lnB>
                      <a:noFill/>
                    </a:lnB>
                  </a:tcPr>
                </a:tc>
              </a:tr>
              <a:tr h="0">
                <a:tc>
                  <a:txBody>
                    <a:bodyPr/>
                    <a:lstStyle/>
                    <a:p>
                      <a:r>
                        <a:rPr lang="en-US" b="1"/>
                        <a:t>Doxygen</a:t>
                      </a:r>
                      <a:endParaRPr lang="en-US"/>
                    </a:p>
                  </a:txBody>
                  <a:tcPr anchor="ctr">
                    <a:lnL>
                      <a:noFill/>
                    </a:lnL>
                    <a:lnR>
                      <a:noFill/>
                    </a:lnR>
                    <a:lnT>
                      <a:noFill/>
                    </a:lnT>
                    <a:lnB>
                      <a:noFill/>
                    </a:lnB>
                  </a:tcPr>
                </a:tc>
                <a:tc>
                  <a:txBody>
                    <a:bodyPr/>
                    <a:lstStyle/>
                    <a:p>
                      <a:r>
                        <a:rPr lang="fr-FR"/>
                        <a:t>Generates documentation from source code comments</a:t>
                      </a:r>
                    </a:p>
                  </a:txBody>
                  <a:tcPr anchor="ctr">
                    <a:lnL>
                      <a:noFill/>
                    </a:lnL>
                    <a:lnR>
                      <a:noFill/>
                    </a:lnR>
                    <a:lnT>
                      <a:noFill/>
                    </a:lnT>
                    <a:lnB>
                      <a:noFill/>
                    </a:lnB>
                  </a:tcPr>
                </a:tc>
                <a:tc>
                  <a:txBody>
                    <a:bodyPr/>
                    <a:lstStyle/>
                    <a:p>
                      <a:r>
                        <a:rPr lang="en-US"/>
                        <a:t>Supports C/C++, Java, Python</a:t>
                      </a:r>
                    </a:p>
                  </a:txBody>
                  <a:tcPr anchor="ctr">
                    <a:lnL>
                      <a:noFill/>
                    </a:lnL>
                    <a:lnR>
                      <a:noFill/>
                    </a:lnR>
                    <a:lnT>
                      <a:noFill/>
                    </a:lnT>
                    <a:lnB>
                      <a:noFill/>
                    </a:lnB>
                  </a:tcPr>
                </a:tc>
              </a:tr>
              <a:tr h="0">
                <a:tc>
                  <a:txBody>
                    <a:bodyPr/>
                    <a:lstStyle/>
                    <a:p>
                      <a:r>
                        <a:rPr lang="en-US" b="1"/>
                        <a:t>DocFX / Javadoc</a:t>
                      </a:r>
                      <a:endParaRPr lang="en-US"/>
                    </a:p>
                  </a:txBody>
                  <a:tcPr anchor="ctr">
                    <a:lnL>
                      <a:noFill/>
                    </a:lnL>
                    <a:lnR>
                      <a:noFill/>
                    </a:lnR>
                    <a:lnT>
                      <a:noFill/>
                    </a:lnT>
                    <a:lnB>
                      <a:noFill/>
                    </a:lnB>
                  </a:tcPr>
                </a:tc>
                <a:tc>
                  <a:txBody>
                    <a:bodyPr/>
                    <a:lstStyle/>
                    <a:p>
                      <a:r>
                        <a:rPr lang="en-US"/>
                        <a:t>Creates API and code documentation</a:t>
                      </a:r>
                    </a:p>
                  </a:txBody>
                  <a:tcPr anchor="ctr">
                    <a:lnL>
                      <a:noFill/>
                    </a:lnL>
                    <a:lnR>
                      <a:noFill/>
                    </a:lnR>
                    <a:lnT>
                      <a:noFill/>
                    </a:lnT>
                    <a:lnB>
                      <a:noFill/>
                    </a:lnB>
                  </a:tcPr>
                </a:tc>
                <a:tc>
                  <a:txBody>
                    <a:bodyPr/>
                    <a:lstStyle/>
                    <a:p>
                      <a:r>
                        <a:rPr lang="en-US"/>
                        <a:t>Useful in understanding code interfaces</a:t>
                      </a:r>
                    </a:p>
                  </a:txBody>
                  <a:tcPr anchor="ctr">
                    <a:lnL>
                      <a:noFill/>
                    </a:lnL>
                    <a:lnR>
                      <a:noFill/>
                    </a:lnR>
                    <a:lnT>
                      <a:noFill/>
                    </a:lnT>
                    <a:lnB>
                      <a:noFill/>
                    </a:lnB>
                  </a:tcPr>
                </a:tc>
              </a:tr>
              <a:tr h="0">
                <a:tc>
                  <a:txBody>
                    <a:bodyPr/>
                    <a:lstStyle/>
                    <a:p>
                      <a:r>
                        <a:rPr lang="en-US" b="1"/>
                        <a:t>Sphinx (Python)</a:t>
                      </a:r>
                      <a:endParaRPr lang="en-US"/>
                    </a:p>
                  </a:txBody>
                  <a:tcPr anchor="ctr">
                    <a:lnL>
                      <a:noFill/>
                    </a:lnL>
                    <a:lnR>
                      <a:noFill/>
                    </a:lnR>
                    <a:lnT>
                      <a:noFill/>
                    </a:lnT>
                    <a:lnB>
                      <a:noFill/>
                    </a:lnB>
                  </a:tcPr>
                </a:tc>
                <a:tc>
                  <a:txBody>
                    <a:bodyPr/>
                    <a:lstStyle/>
                    <a:p>
                      <a:r>
                        <a:rPr lang="en-US"/>
                        <a:t>Auto-generates project documentation</a:t>
                      </a:r>
                    </a:p>
                  </a:txBody>
                  <a:tcPr anchor="ctr">
                    <a:lnL>
                      <a:noFill/>
                    </a:lnL>
                    <a:lnR>
                      <a:noFill/>
                    </a:lnR>
                    <a:lnT>
                      <a:noFill/>
                    </a:lnT>
                    <a:lnB>
                      <a:noFill/>
                    </a:lnB>
                  </a:tcPr>
                </a:tc>
                <a:tc>
                  <a:txBody>
                    <a:bodyPr/>
                    <a:lstStyle/>
                    <a:p>
                      <a:r>
                        <a:rPr lang="en-US" dirty="0"/>
                        <a:t>Often used with re-engineered Python systems</a:t>
                      </a:r>
                    </a:p>
                  </a:txBody>
                  <a:tcPr anchor="ctr">
                    <a:lnL>
                      <a:noFill/>
                    </a:lnL>
                    <a:lnR>
                      <a:noFill/>
                    </a:lnR>
                    <a:lnT>
                      <a:noFill/>
                    </a:lnT>
                    <a:lnB>
                      <a:noFill/>
                    </a:lnB>
                  </a:tcPr>
                </a:tc>
              </a:tr>
            </a:tbl>
          </a:graphicData>
        </a:graphic>
      </p:graphicFrame>
      <p:sp>
        <p:nvSpPr>
          <p:cNvPr id="5" name="Rectangle 4"/>
          <p:cNvSpPr/>
          <p:nvPr/>
        </p:nvSpPr>
        <p:spPr>
          <a:xfrm>
            <a:off x="1124712" y="5647867"/>
            <a:ext cx="6419088" cy="369332"/>
          </a:xfrm>
          <a:prstGeom prst="rect">
            <a:avLst/>
          </a:prstGeom>
        </p:spPr>
        <p:txBody>
          <a:bodyPr wrap="square">
            <a:spAutoFit/>
          </a:bodyPr>
          <a:lstStyle/>
          <a:p>
            <a:r>
              <a:rPr lang="en-US" dirty="0"/>
              <a:t>Creates clear documentation for the re-engineering process.</a:t>
            </a:r>
          </a:p>
        </p:txBody>
      </p:sp>
    </p:spTree>
    <p:extLst>
      <p:ext uri="{BB962C8B-B14F-4D97-AF65-F5344CB8AC3E}">
        <p14:creationId xmlns:p14="http://schemas.microsoft.com/office/powerpoint/2010/main" val="2857457432"/>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6. </a:t>
            </a:r>
            <a:r>
              <a:rPr lang="en-US" b="1" dirty="0"/>
              <a:t>Integrated Re-engineering Suites</a:t>
            </a:r>
            <a:endParaRPr lang="en-US" dirty="0"/>
          </a:p>
        </p:txBody>
      </p:sp>
      <p:sp>
        <p:nvSpPr>
          <p:cNvPr id="3" name="Content Placeholder 2"/>
          <p:cNvSpPr>
            <a:spLocks noGrp="1"/>
          </p:cNvSpPr>
          <p:nvPr>
            <p:ph idx="1"/>
          </p:nvPr>
        </p:nvSpPr>
        <p:spPr/>
        <p:txBody>
          <a:bodyPr>
            <a:normAutofit/>
          </a:bodyPr>
          <a:lstStyle/>
          <a:p>
            <a:pPr algn="just"/>
            <a:r>
              <a:rPr lang="en-US" sz="2800" dirty="0"/>
              <a:t>Comprehensive tools combining multiple analysis capabilities (reverse, static, and visualization</a:t>
            </a:r>
            <a:r>
              <a:rPr lang="en-US" sz="2800" dirty="0" smtClean="0"/>
              <a:t>).</a:t>
            </a:r>
            <a:endParaRPr lang="en-US" sz="2800" dirty="0"/>
          </a:p>
          <a:p>
            <a:pPr algn="just"/>
            <a:endParaRPr lang="en-US" sz="2800" dirty="0"/>
          </a:p>
        </p:txBody>
      </p:sp>
      <p:graphicFrame>
        <p:nvGraphicFramePr>
          <p:cNvPr id="4" name="Table 3"/>
          <p:cNvGraphicFramePr>
            <a:graphicFrameLocks noGrp="1"/>
          </p:cNvGraphicFramePr>
          <p:nvPr>
            <p:extLst>
              <p:ext uri="{D42A27DB-BD31-4B8C-83A1-F6EECF244321}">
                <p14:modId xmlns:p14="http://schemas.microsoft.com/office/powerpoint/2010/main" val="3843381536"/>
              </p:ext>
            </p:extLst>
          </p:nvPr>
        </p:nvGraphicFramePr>
        <p:xfrm>
          <a:off x="457200" y="2701893"/>
          <a:ext cx="8229600" cy="3474720"/>
        </p:xfrm>
        <a:graphic>
          <a:graphicData uri="http://schemas.openxmlformats.org/drawingml/2006/table">
            <a:tbl>
              <a:tblPr/>
              <a:tblGrid>
                <a:gridCol w="2743200"/>
                <a:gridCol w="2743200"/>
                <a:gridCol w="2743200"/>
              </a:tblGrid>
              <a:tr h="0">
                <a:tc>
                  <a:txBody>
                    <a:bodyPr/>
                    <a:lstStyle/>
                    <a:p>
                      <a:r>
                        <a:rPr lang="en-US"/>
                        <a:t>Tool</a:t>
                      </a:r>
                    </a:p>
                  </a:txBody>
                  <a:tcPr anchor="ctr">
                    <a:lnL>
                      <a:noFill/>
                    </a:lnL>
                    <a:lnR>
                      <a:noFill/>
                    </a:lnR>
                    <a:lnT>
                      <a:noFill/>
                    </a:lnT>
                    <a:lnB>
                      <a:noFill/>
                    </a:lnB>
                  </a:tcPr>
                </a:tc>
                <a:tc>
                  <a:txBody>
                    <a:bodyPr/>
                    <a:lstStyle/>
                    <a:p>
                      <a:r>
                        <a:rPr lang="en-US"/>
                        <a:t>Function</a:t>
                      </a:r>
                    </a:p>
                  </a:txBody>
                  <a:tcPr anchor="ctr">
                    <a:lnL>
                      <a:noFill/>
                    </a:lnL>
                    <a:lnR>
                      <a:noFill/>
                    </a:lnR>
                    <a:lnT>
                      <a:noFill/>
                    </a:lnT>
                    <a:lnB>
                      <a:noFill/>
                    </a:lnB>
                  </a:tcPr>
                </a:tc>
                <a:tc>
                  <a:txBody>
                    <a:bodyPr/>
                    <a:lstStyle/>
                    <a:p>
                      <a:r>
                        <a:rPr lang="en-US"/>
                        <a:t>Example Uses</a:t>
                      </a:r>
                    </a:p>
                  </a:txBody>
                  <a:tcPr anchor="ctr">
                    <a:lnL>
                      <a:noFill/>
                    </a:lnL>
                    <a:lnR>
                      <a:noFill/>
                    </a:lnR>
                    <a:lnT>
                      <a:noFill/>
                    </a:lnT>
                    <a:lnB>
                      <a:noFill/>
                    </a:lnB>
                  </a:tcPr>
                </a:tc>
              </a:tr>
              <a:tr h="0">
                <a:tc>
                  <a:txBody>
                    <a:bodyPr/>
                    <a:lstStyle/>
                    <a:p>
                      <a:r>
                        <a:rPr lang="en-US" b="1"/>
                        <a:t>Modern Systems (ASR)</a:t>
                      </a:r>
                      <a:endParaRPr lang="en-US"/>
                    </a:p>
                  </a:txBody>
                  <a:tcPr anchor="ctr">
                    <a:lnL>
                      <a:noFill/>
                    </a:lnL>
                    <a:lnR>
                      <a:noFill/>
                    </a:lnR>
                    <a:lnT>
                      <a:noFill/>
                    </a:lnT>
                    <a:lnB>
                      <a:noFill/>
                    </a:lnB>
                  </a:tcPr>
                </a:tc>
                <a:tc>
                  <a:txBody>
                    <a:bodyPr/>
                    <a:lstStyle/>
                    <a:p>
                      <a:r>
                        <a:rPr lang="en-US"/>
                        <a:t>Legacy COBOL/PL1 re-engineering</a:t>
                      </a:r>
                    </a:p>
                  </a:txBody>
                  <a:tcPr anchor="ctr">
                    <a:lnL>
                      <a:noFill/>
                    </a:lnL>
                    <a:lnR>
                      <a:noFill/>
                    </a:lnR>
                    <a:lnT>
                      <a:noFill/>
                    </a:lnT>
                    <a:lnB>
                      <a:noFill/>
                    </a:lnB>
                  </a:tcPr>
                </a:tc>
                <a:tc>
                  <a:txBody>
                    <a:bodyPr/>
                    <a:lstStyle/>
                    <a:p>
                      <a:r>
                        <a:rPr lang="en-US"/>
                        <a:t>Converts legacy code to modern languages</a:t>
                      </a:r>
                    </a:p>
                  </a:txBody>
                  <a:tcPr anchor="ctr">
                    <a:lnL>
                      <a:noFill/>
                    </a:lnL>
                    <a:lnR>
                      <a:noFill/>
                    </a:lnR>
                    <a:lnT>
                      <a:noFill/>
                    </a:lnT>
                    <a:lnB>
                      <a:noFill/>
                    </a:lnB>
                  </a:tcPr>
                </a:tc>
              </a:tr>
              <a:tr h="0">
                <a:tc>
                  <a:txBody>
                    <a:bodyPr/>
                    <a:lstStyle/>
                    <a:p>
                      <a:r>
                        <a:rPr lang="en-US" b="1"/>
                        <a:t>Micro Focus Enterprise Analyzer</a:t>
                      </a:r>
                      <a:endParaRPr lang="en-US"/>
                    </a:p>
                  </a:txBody>
                  <a:tcPr anchor="ctr">
                    <a:lnL>
                      <a:noFill/>
                    </a:lnL>
                    <a:lnR>
                      <a:noFill/>
                    </a:lnR>
                    <a:lnT>
                      <a:noFill/>
                    </a:lnT>
                    <a:lnB>
                      <a:noFill/>
                    </a:lnB>
                  </a:tcPr>
                </a:tc>
                <a:tc>
                  <a:txBody>
                    <a:bodyPr/>
                    <a:lstStyle/>
                    <a:p>
                      <a:r>
                        <a:rPr lang="da-DK"/>
                        <a:t>End-to-end system analysis for legacy systems</a:t>
                      </a:r>
                    </a:p>
                  </a:txBody>
                  <a:tcPr anchor="ctr">
                    <a:lnL>
                      <a:noFill/>
                    </a:lnL>
                    <a:lnR>
                      <a:noFill/>
                    </a:lnR>
                    <a:lnT>
                      <a:noFill/>
                    </a:lnT>
                    <a:lnB>
                      <a:noFill/>
                    </a:lnB>
                  </a:tcPr>
                </a:tc>
                <a:tc>
                  <a:txBody>
                    <a:bodyPr/>
                    <a:lstStyle/>
                    <a:p>
                      <a:r>
                        <a:rPr lang="en-US"/>
                        <a:t>Visualizes data flows and program dependencies</a:t>
                      </a:r>
                    </a:p>
                  </a:txBody>
                  <a:tcPr anchor="ctr">
                    <a:lnL>
                      <a:noFill/>
                    </a:lnL>
                    <a:lnR>
                      <a:noFill/>
                    </a:lnR>
                    <a:lnT>
                      <a:noFill/>
                    </a:lnT>
                    <a:lnB>
                      <a:noFill/>
                    </a:lnB>
                  </a:tcPr>
                </a:tc>
              </a:tr>
              <a:tr h="0">
                <a:tc>
                  <a:txBody>
                    <a:bodyPr/>
                    <a:lstStyle/>
                    <a:p>
                      <a:r>
                        <a:rPr lang="en-US" b="1"/>
                        <a:t>CAST Software</a:t>
                      </a:r>
                      <a:endParaRPr lang="en-US"/>
                    </a:p>
                  </a:txBody>
                  <a:tcPr anchor="ctr">
                    <a:lnL>
                      <a:noFill/>
                    </a:lnL>
                    <a:lnR>
                      <a:noFill/>
                    </a:lnR>
                    <a:lnT>
                      <a:noFill/>
                    </a:lnT>
                    <a:lnB>
                      <a:noFill/>
                    </a:lnB>
                  </a:tcPr>
                </a:tc>
                <a:tc>
                  <a:txBody>
                    <a:bodyPr/>
                    <a:lstStyle/>
                    <a:p>
                      <a:r>
                        <a:rPr lang="en-US"/>
                        <a:t>Application Intelligence Platform</a:t>
                      </a:r>
                    </a:p>
                  </a:txBody>
                  <a:tcPr anchor="ctr">
                    <a:lnL>
                      <a:noFill/>
                    </a:lnL>
                    <a:lnR>
                      <a:noFill/>
                    </a:lnR>
                    <a:lnT>
                      <a:noFill/>
                    </a:lnT>
                    <a:lnB>
                      <a:noFill/>
                    </a:lnB>
                  </a:tcPr>
                </a:tc>
                <a:tc>
                  <a:txBody>
                    <a:bodyPr/>
                    <a:lstStyle/>
                    <a:p>
                      <a:r>
                        <a:rPr lang="en-US"/>
                        <a:t>Provides code quality, architecture, and impact analysis</a:t>
                      </a:r>
                    </a:p>
                  </a:txBody>
                  <a:tcPr anchor="ctr">
                    <a:lnL>
                      <a:noFill/>
                    </a:lnL>
                    <a:lnR>
                      <a:noFill/>
                    </a:lnR>
                    <a:lnT>
                      <a:noFill/>
                    </a:lnT>
                    <a:lnB>
                      <a:noFill/>
                    </a:lnB>
                  </a:tcPr>
                </a:tc>
              </a:tr>
              <a:tr h="0">
                <a:tc>
                  <a:txBody>
                    <a:bodyPr/>
                    <a:lstStyle/>
                    <a:p>
                      <a:r>
                        <a:rPr lang="en-US" b="1"/>
                        <a:t>Imagix 4D</a:t>
                      </a:r>
                      <a:endParaRPr lang="en-US"/>
                    </a:p>
                  </a:txBody>
                  <a:tcPr anchor="ctr">
                    <a:lnL>
                      <a:noFill/>
                    </a:lnL>
                    <a:lnR>
                      <a:noFill/>
                    </a:lnR>
                    <a:lnT>
                      <a:noFill/>
                    </a:lnT>
                    <a:lnB>
                      <a:noFill/>
                    </a:lnB>
                  </a:tcPr>
                </a:tc>
                <a:tc>
                  <a:txBody>
                    <a:bodyPr/>
                    <a:lstStyle/>
                    <a:p>
                      <a:r>
                        <a:rPr lang="en-US"/>
                        <a:t>Code visualization and analysis</a:t>
                      </a:r>
                    </a:p>
                  </a:txBody>
                  <a:tcPr anchor="ctr">
                    <a:lnL>
                      <a:noFill/>
                    </a:lnL>
                    <a:lnR>
                      <a:noFill/>
                    </a:lnR>
                    <a:lnT>
                      <a:noFill/>
                    </a:lnT>
                    <a:lnB>
                      <a:noFill/>
                    </a:lnB>
                  </a:tcPr>
                </a:tc>
                <a:tc>
                  <a:txBody>
                    <a:bodyPr/>
                    <a:lstStyle/>
                    <a:p>
                      <a:r>
                        <a:rPr lang="en-US" dirty="0"/>
                        <a:t>Generates architecture, control flow, and metrics reports</a:t>
                      </a:r>
                    </a:p>
                  </a:txBody>
                  <a:tcPr anchor="ctr">
                    <a:lnL>
                      <a:noFill/>
                    </a:lnL>
                    <a:lnR>
                      <a:noFill/>
                    </a:lnR>
                    <a:lnT>
                      <a:noFill/>
                    </a:lnT>
                    <a:lnB>
                      <a:noFill/>
                    </a:lnB>
                  </a:tcPr>
                </a:tc>
              </a:tr>
            </a:tbl>
          </a:graphicData>
        </a:graphic>
      </p:graphicFrame>
      <p:sp>
        <p:nvSpPr>
          <p:cNvPr id="5" name="Rectangle 4"/>
          <p:cNvSpPr/>
          <p:nvPr/>
        </p:nvSpPr>
        <p:spPr>
          <a:xfrm>
            <a:off x="813816" y="6214795"/>
            <a:ext cx="7616952" cy="369332"/>
          </a:xfrm>
          <a:prstGeom prst="rect">
            <a:avLst/>
          </a:prstGeom>
        </p:spPr>
        <p:txBody>
          <a:bodyPr wrap="square">
            <a:spAutoFit/>
          </a:bodyPr>
          <a:lstStyle/>
          <a:p>
            <a:r>
              <a:rPr lang="en-US" dirty="0"/>
              <a:t>These tools automate much of the re-engineering system analysis process.</a:t>
            </a:r>
          </a:p>
        </p:txBody>
      </p:sp>
    </p:spTree>
    <p:extLst>
      <p:ext uri="{BB962C8B-B14F-4D97-AF65-F5344CB8AC3E}">
        <p14:creationId xmlns:p14="http://schemas.microsoft.com/office/powerpoint/2010/main" val="1513311131"/>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How Tools Fit into the System Analysis Phase</a:t>
            </a:r>
          </a:p>
        </p:txBody>
      </p:sp>
      <p:sp>
        <p:nvSpPr>
          <p:cNvPr id="3" name="Content Placeholder 2"/>
          <p:cNvSpPr>
            <a:spLocks noGrp="1"/>
          </p:cNvSpPr>
          <p:nvPr>
            <p:ph idx="1"/>
          </p:nvPr>
        </p:nvSpPr>
        <p:spPr/>
        <p:txBody>
          <a:bodyPr>
            <a:normAutofit fontScale="62500" lnSpcReduction="20000"/>
          </a:bodyPr>
          <a:lstStyle/>
          <a:p>
            <a:r>
              <a:rPr lang="en-US" dirty="0"/>
              <a:t>System Re-engineering Workflow with Tools</a:t>
            </a:r>
            <a:r>
              <a:rPr lang="en-US" dirty="0" smtClean="0"/>
              <a:t>:</a:t>
            </a:r>
          </a:p>
          <a:p>
            <a:pPr marL="800100" lvl="2" indent="0">
              <a:buNone/>
            </a:pPr>
            <a:r>
              <a:rPr lang="en-US" dirty="0"/>
              <a:t>┌────────────────────────┐</a:t>
            </a:r>
          </a:p>
          <a:p>
            <a:pPr marL="800100" lvl="2" indent="0">
              <a:buNone/>
            </a:pPr>
            <a:r>
              <a:rPr lang="en-US" dirty="0"/>
              <a:t>│ Existing Legacy System  │</a:t>
            </a:r>
          </a:p>
          <a:p>
            <a:pPr marL="800100" lvl="2" indent="0">
              <a:buNone/>
            </a:pPr>
            <a:r>
              <a:rPr lang="en-US" dirty="0"/>
              <a:t>└───────────┬────────────┘</a:t>
            </a:r>
          </a:p>
          <a:p>
            <a:pPr marL="800100" lvl="2" indent="0">
              <a:buNone/>
            </a:pPr>
            <a:r>
              <a:rPr lang="en-US" dirty="0"/>
              <a:t>            │</a:t>
            </a:r>
          </a:p>
          <a:p>
            <a:pPr marL="800100" lvl="2" indent="0">
              <a:buNone/>
            </a:pPr>
            <a:r>
              <a:rPr lang="en-US" dirty="0"/>
              <a:t>      (1) Reverse Engineering Tools</a:t>
            </a:r>
          </a:p>
          <a:p>
            <a:pPr marL="800100" lvl="2" indent="0">
              <a:buNone/>
            </a:pPr>
            <a:r>
              <a:rPr lang="en-US" dirty="0"/>
              <a:t>            │</a:t>
            </a:r>
          </a:p>
          <a:p>
            <a:pPr marL="800100" lvl="2" indent="0">
              <a:buNone/>
            </a:pPr>
            <a:r>
              <a:rPr lang="en-US" dirty="0"/>
              <a:t>      (2) Static/Dynamic Analysis Tools</a:t>
            </a:r>
          </a:p>
          <a:p>
            <a:pPr marL="800100" lvl="2" indent="0">
              <a:buNone/>
            </a:pPr>
            <a:r>
              <a:rPr lang="en-US" dirty="0"/>
              <a:t>            │</a:t>
            </a:r>
          </a:p>
          <a:p>
            <a:pPr marL="800100" lvl="2" indent="0">
              <a:buNone/>
            </a:pPr>
            <a:r>
              <a:rPr lang="en-US" dirty="0"/>
              <a:t>      (3) Data Flow &amp; Dependency Tools</a:t>
            </a:r>
          </a:p>
          <a:p>
            <a:pPr marL="800100" lvl="2" indent="0">
              <a:buNone/>
            </a:pPr>
            <a:r>
              <a:rPr lang="en-US" dirty="0"/>
              <a:t>            │</a:t>
            </a:r>
          </a:p>
          <a:p>
            <a:pPr marL="800100" lvl="2" indent="0">
              <a:buNone/>
            </a:pPr>
            <a:r>
              <a:rPr lang="en-US" dirty="0"/>
              <a:t>      (4) Documentation &amp; Visualization</a:t>
            </a:r>
          </a:p>
          <a:p>
            <a:pPr marL="800100" lvl="2" indent="0">
              <a:buNone/>
            </a:pPr>
            <a:r>
              <a:rPr lang="en-US" dirty="0"/>
              <a:t>            │</a:t>
            </a:r>
          </a:p>
          <a:p>
            <a:pPr marL="800100" lvl="2" indent="0">
              <a:buNone/>
            </a:pPr>
            <a:r>
              <a:rPr lang="en-US" dirty="0"/>
              <a:t>┌────────────────────────┐</a:t>
            </a:r>
          </a:p>
          <a:p>
            <a:pPr marL="800100" lvl="2" indent="0">
              <a:buNone/>
            </a:pPr>
            <a:r>
              <a:rPr lang="en-US" dirty="0"/>
              <a:t>│   System Analysis </a:t>
            </a:r>
            <a:r>
              <a:rPr lang="en-US" dirty="0" smtClean="0"/>
              <a:t>Report          │</a:t>
            </a:r>
            <a:endParaRPr lang="en-US" dirty="0"/>
          </a:p>
          <a:p>
            <a:pPr marL="800100" lvl="2" indent="0">
              <a:buNone/>
            </a:pPr>
            <a:r>
              <a:rPr lang="en-US" dirty="0"/>
              <a:t>│  + Architecture Models  </a:t>
            </a:r>
            <a:r>
              <a:rPr lang="en-US" dirty="0" smtClean="0"/>
              <a:t>          │</a:t>
            </a:r>
            <a:endParaRPr lang="en-US" dirty="0"/>
          </a:p>
          <a:p>
            <a:pPr marL="800100" lvl="2" indent="0">
              <a:buNone/>
            </a:pPr>
            <a:r>
              <a:rPr lang="en-US" dirty="0"/>
              <a:t>│  + Recommendations      </a:t>
            </a:r>
            <a:r>
              <a:rPr lang="en-US" dirty="0" smtClean="0"/>
              <a:t>         │</a:t>
            </a:r>
            <a:endParaRPr lang="en-US" dirty="0"/>
          </a:p>
          <a:p>
            <a:pPr marL="800100" lvl="2" indent="0">
              <a:buNone/>
            </a:pPr>
            <a:r>
              <a:rPr lang="en-US" dirty="0"/>
              <a:t>└────────────────────────┘</a:t>
            </a:r>
          </a:p>
          <a:p>
            <a:pPr lvl="2"/>
            <a:endParaRPr lang="en-US" dirty="0"/>
          </a:p>
        </p:txBody>
      </p:sp>
    </p:spTree>
    <p:extLst>
      <p:ext uri="{BB962C8B-B14F-4D97-AF65-F5344CB8AC3E}">
        <p14:creationId xmlns:p14="http://schemas.microsoft.com/office/powerpoint/2010/main" val="838214445"/>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Benefits of Using Tools</a:t>
            </a:r>
          </a:p>
        </p:txBody>
      </p:sp>
      <p:sp>
        <p:nvSpPr>
          <p:cNvPr id="3" name="Content Placeholder 2"/>
          <p:cNvSpPr>
            <a:spLocks noGrp="1"/>
          </p:cNvSpPr>
          <p:nvPr>
            <p:ph idx="1"/>
          </p:nvPr>
        </p:nvSpPr>
        <p:spPr/>
        <p:txBody>
          <a:bodyPr>
            <a:normAutofit/>
          </a:bodyPr>
          <a:lstStyle/>
          <a:p>
            <a:pPr algn="just"/>
            <a:r>
              <a:rPr lang="en-US" dirty="0"/>
              <a:t>Saves time analyzing large </a:t>
            </a:r>
            <a:r>
              <a:rPr lang="en-US" dirty="0" smtClean="0"/>
              <a:t>codebases</a:t>
            </a:r>
          </a:p>
          <a:p>
            <a:pPr algn="just"/>
            <a:r>
              <a:rPr lang="en-US" dirty="0" smtClean="0"/>
              <a:t>Increases </a:t>
            </a:r>
            <a:r>
              <a:rPr lang="en-US" dirty="0"/>
              <a:t>accuracy of understanding legacy </a:t>
            </a:r>
            <a:r>
              <a:rPr lang="en-US" dirty="0" smtClean="0"/>
              <a:t>systems</a:t>
            </a:r>
          </a:p>
          <a:p>
            <a:pPr algn="just"/>
            <a:r>
              <a:rPr lang="en-US" dirty="0" smtClean="0"/>
              <a:t>Recovers </a:t>
            </a:r>
            <a:r>
              <a:rPr lang="en-US" dirty="0"/>
              <a:t>lost design and </a:t>
            </a:r>
            <a:r>
              <a:rPr lang="en-US" dirty="0" smtClean="0"/>
              <a:t>documentation</a:t>
            </a:r>
          </a:p>
          <a:p>
            <a:pPr algn="just"/>
            <a:r>
              <a:rPr lang="en-US" dirty="0" smtClean="0"/>
              <a:t>Supports </a:t>
            </a:r>
            <a:r>
              <a:rPr lang="en-US" dirty="0"/>
              <a:t>architecture </a:t>
            </a:r>
            <a:r>
              <a:rPr lang="en-US" dirty="0" smtClean="0"/>
              <a:t>visualization</a:t>
            </a:r>
          </a:p>
          <a:p>
            <a:pPr algn="just"/>
            <a:r>
              <a:rPr lang="en-US" dirty="0" smtClean="0"/>
              <a:t>Enables </a:t>
            </a:r>
            <a:r>
              <a:rPr lang="en-US" dirty="0"/>
              <a:t>impact analysis before re-engineering </a:t>
            </a:r>
            <a:r>
              <a:rPr lang="en-US" dirty="0" smtClean="0"/>
              <a:t>changes</a:t>
            </a:r>
          </a:p>
          <a:p>
            <a:pPr algn="just"/>
            <a:r>
              <a:rPr lang="en-US" dirty="0" smtClean="0"/>
              <a:t>Improves </a:t>
            </a:r>
            <a:r>
              <a:rPr lang="en-US" dirty="0"/>
              <a:t>code quality and maintainability</a:t>
            </a:r>
          </a:p>
        </p:txBody>
      </p:sp>
    </p:spTree>
    <p:extLst>
      <p:ext uri="{BB962C8B-B14F-4D97-AF65-F5344CB8AC3E}">
        <p14:creationId xmlns:p14="http://schemas.microsoft.com/office/powerpoint/2010/main" val="1175003991"/>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Scenario</a:t>
            </a:r>
          </a:p>
        </p:txBody>
      </p:sp>
      <p:sp>
        <p:nvSpPr>
          <p:cNvPr id="3" name="Content Placeholder 2"/>
          <p:cNvSpPr>
            <a:spLocks noGrp="1"/>
          </p:cNvSpPr>
          <p:nvPr>
            <p:ph idx="1"/>
          </p:nvPr>
        </p:nvSpPr>
        <p:spPr/>
        <p:txBody>
          <a:bodyPr/>
          <a:lstStyle/>
          <a:p>
            <a:r>
              <a:rPr lang="en-US" sz="2800" dirty="0"/>
              <a:t>Suppose your organization has a </a:t>
            </a:r>
            <a:r>
              <a:rPr lang="en-US" sz="2800" b="1" dirty="0"/>
              <a:t>banking system written in COBOL</a:t>
            </a:r>
            <a:r>
              <a:rPr lang="en-US" sz="2800" dirty="0" smtClean="0"/>
              <a:t>.</a:t>
            </a:r>
          </a:p>
          <a:p>
            <a:endParaRPr lang="en-US" dirty="0"/>
          </a:p>
        </p:txBody>
      </p:sp>
      <p:graphicFrame>
        <p:nvGraphicFramePr>
          <p:cNvPr id="4" name="Table 3"/>
          <p:cNvGraphicFramePr>
            <a:graphicFrameLocks noGrp="1"/>
          </p:cNvGraphicFramePr>
          <p:nvPr>
            <p:extLst>
              <p:ext uri="{D42A27DB-BD31-4B8C-83A1-F6EECF244321}">
                <p14:modId xmlns:p14="http://schemas.microsoft.com/office/powerpoint/2010/main" val="1147905687"/>
              </p:ext>
            </p:extLst>
          </p:nvPr>
        </p:nvGraphicFramePr>
        <p:xfrm>
          <a:off x="457200" y="2656173"/>
          <a:ext cx="8229600" cy="3566160"/>
        </p:xfrm>
        <a:graphic>
          <a:graphicData uri="http://schemas.openxmlformats.org/drawingml/2006/table">
            <a:tbl>
              <a:tblPr/>
              <a:tblGrid>
                <a:gridCol w="2743200"/>
                <a:gridCol w="2743200"/>
                <a:gridCol w="2743200"/>
              </a:tblGrid>
              <a:tr h="0">
                <a:tc>
                  <a:txBody>
                    <a:bodyPr/>
                    <a:lstStyle/>
                    <a:p>
                      <a:r>
                        <a:rPr lang="en-US" dirty="0"/>
                        <a:t>Step</a:t>
                      </a:r>
                    </a:p>
                  </a:txBody>
                  <a:tcPr anchor="ctr">
                    <a:lnL>
                      <a:noFill/>
                    </a:lnL>
                    <a:lnR>
                      <a:noFill/>
                    </a:lnR>
                    <a:lnT>
                      <a:noFill/>
                    </a:lnT>
                    <a:lnB>
                      <a:noFill/>
                    </a:lnB>
                  </a:tcPr>
                </a:tc>
                <a:tc>
                  <a:txBody>
                    <a:bodyPr/>
                    <a:lstStyle/>
                    <a:p>
                      <a:r>
                        <a:rPr lang="en-US"/>
                        <a:t>Tool</a:t>
                      </a:r>
                    </a:p>
                  </a:txBody>
                  <a:tcPr anchor="ctr">
                    <a:lnL>
                      <a:noFill/>
                    </a:lnL>
                    <a:lnR>
                      <a:noFill/>
                    </a:lnR>
                    <a:lnT>
                      <a:noFill/>
                    </a:lnT>
                    <a:lnB>
                      <a:noFill/>
                    </a:lnB>
                  </a:tcPr>
                </a:tc>
                <a:tc>
                  <a:txBody>
                    <a:bodyPr/>
                    <a:lstStyle/>
                    <a:p>
                      <a:r>
                        <a:rPr lang="en-US"/>
                        <a:t>Output</a:t>
                      </a:r>
                    </a:p>
                  </a:txBody>
                  <a:tcPr anchor="ctr">
                    <a:lnL>
                      <a:noFill/>
                    </a:lnL>
                    <a:lnR>
                      <a:noFill/>
                    </a:lnR>
                    <a:lnT>
                      <a:noFill/>
                    </a:lnT>
                    <a:lnB>
                      <a:noFill/>
                    </a:lnB>
                  </a:tcPr>
                </a:tc>
              </a:tr>
              <a:tr h="0">
                <a:tc>
                  <a:txBody>
                    <a:bodyPr/>
                    <a:lstStyle/>
                    <a:p>
                      <a:r>
                        <a:rPr lang="en-US" dirty="0"/>
                        <a:t>Reverse Engineering</a:t>
                      </a:r>
                    </a:p>
                  </a:txBody>
                  <a:tcPr anchor="ctr">
                    <a:lnL>
                      <a:noFill/>
                    </a:lnL>
                    <a:lnR>
                      <a:noFill/>
                    </a:lnR>
                    <a:lnT>
                      <a:noFill/>
                    </a:lnT>
                    <a:lnB>
                      <a:noFill/>
                    </a:lnB>
                  </a:tcPr>
                </a:tc>
                <a:tc>
                  <a:txBody>
                    <a:bodyPr/>
                    <a:lstStyle/>
                    <a:p>
                      <a:r>
                        <a:rPr lang="en-US" dirty="0"/>
                        <a:t>Micro Focus Enterprise Analyzer</a:t>
                      </a:r>
                    </a:p>
                  </a:txBody>
                  <a:tcPr anchor="ctr">
                    <a:lnL>
                      <a:noFill/>
                    </a:lnL>
                    <a:lnR>
                      <a:noFill/>
                    </a:lnR>
                    <a:lnT>
                      <a:noFill/>
                    </a:lnT>
                    <a:lnB>
                      <a:noFill/>
                    </a:lnB>
                  </a:tcPr>
                </a:tc>
                <a:tc>
                  <a:txBody>
                    <a:bodyPr/>
                    <a:lstStyle/>
                    <a:p>
                      <a:r>
                        <a:rPr lang="en-US"/>
                        <a:t>Architecture map of modules</a:t>
                      </a:r>
                    </a:p>
                  </a:txBody>
                  <a:tcPr anchor="ctr">
                    <a:lnL>
                      <a:noFill/>
                    </a:lnL>
                    <a:lnR>
                      <a:noFill/>
                    </a:lnR>
                    <a:lnT>
                      <a:noFill/>
                    </a:lnT>
                    <a:lnB>
                      <a:noFill/>
                    </a:lnB>
                  </a:tcPr>
                </a:tc>
              </a:tr>
              <a:tr h="0">
                <a:tc>
                  <a:txBody>
                    <a:bodyPr/>
                    <a:lstStyle/>
                    <a:p>
                      <a:r>
                        <a:rPr lang="en-US" dirty="0"/>
                        <a:t>Static Analysis</a:t>
                      </a:r>
                    </a:p>
                  </a:txBody>
                  <a:tcPr anchor="ctr">
                    <a:lnL>
                      <a:noFill/>
                    </a:lnL>
                    <a:lnR>
                      <a:noFill/>
                    </a:lnR>
                    <a:lnT>
                      <a:noFill/>
                    </a:lnT>
                    <a:lnB>
                      <a:noFill/>
                    </a:lnB>
                  </a:tcPr>
                </a:tc>
                <a:tc>
                  <a:txBody>
                    <a:bodyPr/>
                    <a:lstStyle/>
                    <a:p>
                      <a:r>
                        <a:rPr lang="en-US" dirty="0" err="1"/>
                        <a:t>SonarQube</a:t>
                      </a:r>
                      <a:endParaRPr lang="en-US" dirty="0"/>
                    </a:p>
                  </a:txBody>
                  <a:tcPr anchor="ctr">
                    <a:lnL>
                      <a:noFill/>
                    </a:lnL>
                    <a:lnR>
                      <a:noFill/>
                    </a:lnR>
                    <a:lnT>
                      <a:noFill/>
                    </a:lnT>
                    <a:lnB>
                      <a:noFill/>
                    </a:lnB>
                  </a:tcPr>
                </a:tc>
                <a:tc>
                  <a:txBody>
                    <a:bodyPr/>
                    <a:lstStyle/>
                    <a:p>
                      <a:r>
                        <a:rPr lang="en-US" dirty="0"/>
                        <a:t>Code smells and duplicated logic</a:t>
                      </a:r>
                    </a:p>
                  </a:txBody>
                  <a:tcPr anchor="ctr">
                    <a:lnL>
                      <a:noFill/>
                    </a:lnL>
                    <a:lnR>
                      <a:noFill/>
                    </a:lnR>
                    <a:lnT>
                      <a:noFill/>
                    </a:lnT>
                    <a:lnB>
                      <a:noFill/>
                    </a:lnB>
                  </a:tcPr>
                </a:tc>
              </a:tr>
              <a:tr h="0">
                <a:tc>
                  <a:txBody>
                    <a:bodyPr/>
                    <a:lstStyle/>
                    <a:p>
                      <a:r>
                        <a:rPr lang="en-US"/>
                        <a:t>Data Flow Analysis</a:t>
                      </a:r>
                    </a:p>
                  </a:txBody>
                  <a:tcPr anchor="ctr">
                    <a:lnL>
                      <a:noFill/>
                    </a:lnL>
                    <a:lnR>
                      <a:noFill/>
                    </a:lnR>
                    <a:lnT>
                      <a:noFill/>
                    </a:lnT>
                    <a:lnB>
                      <a:noFill/>
                    </a:lnB>
                  </a:tcPr>
                </a:tc>
                <a:tc>
                  <a:txBody>
                    <a:bodyPr/>
                    <a:lstStyle/>
                    <a:p>
                      <a:r>
                        <a:rPr lang="en-US" dirty="0"/>
                        <a:t>ER/Studio</a:t>
                      </a:r>
                    </a:p>
                  </a:txBody>
                  <a:tcPr anchor="ctr">
                    <a:lnL>
                      <a:noFill/>
                    </a:lnL>
                    <a:lnR>
                      <a:noFill/>
                    </a:lnR>
                    <a:lnT>
                      <a:noFill/>
                    </a:lnT>
                    <a:lnB>
                      <a:noFill/>
                    </a:lnB>
                  </a:tcPr>
                </a:tc>
                <a:tc>
                  <a:txBody>
                    <a:bodyPr/>
                    <a:lstStyle/>
                    <a:p>
                      <a:r>
                        <a:rPr lang="en-US" dirty="0"/>
                        <a:t>ER diagram of accounts and transactions</a:t>
                      </a:r>
                    </a:p>
                  </a:txBody>
                  <a:tcPr anchor="ctr">
                    <a:lnL>
                      <a:noFill/>
                    </a:lnL>
                    <a:lnR>
                      <a:noFill/>
                    </a:lnR>
                    <a:lnT>
                      <a:noFill/>
                    </a:lnT>
                    <a:lnB>
                      <a:noFill/>
                    </a:lnB>
                  </a:tcPr>
                </a:tc>
              </a:tr>
              <a:tr h="0">
                <a:tc>
                  <a:txBody>
                    <a:bodyPr/>
                    <a:lstStyle/>
                    <a:p>
                      <a:r>
                        <a:rPr lang="en-US"/>
                        <a:t>Documentation</a:t>
                      </a:r>
                    </a:p>
                  </a:txBody>
                  <a:tcPr anchor="ctr">
                    <a:lnL>
                      <a:noFill/>
                    </a:lnL>
                    <a:lnR>
                      <a:noFill/>
                    </a:lnR>
                    <a:lnT>
                      <a:noFill/>
                    </a:lnT>
                    <a:lnB>
                      <a:noFill/>
                    </a:lnB>
                  </a:tcPr>
                </a:tc>
                <a:tc>
                  <a:txBody>
                    <a:bodyPr/>
                    <a:lstStyle/>
                    <a:p>
                      <a:r>
                        <a:rPr lang="en-US" dirty="0" err="1"/>
                        <a:t>Doxygen</a:t>
                      </a:r>
                      <a:endParaRPr lang="en-US" dirty="0"/>
                    </a:p>
                  </a:txBody>
                  <a:tcPr anchor="ctr">
                    <a:lnL>
                      <a:noFill/>
                    </a:lnL>
                    <a:lnR>
                      <a:noFill/>
                    </a:lnR>
                    <a:lnT>
                      <a:noFill/>
                    </a:lnT>
                    <a:lnB>
                      <a:noFill/>
                    </a:lnB>
                  </a:tcPr>
                </a:tc>
                <a:tc>
                  <a:txBody>
                    <a:bodyPr/>
                    <a:lstStyle/>
                    <a:p>
                      <a:r>
                        <a:rPr lang="en-US" dirty="0"/>
                        <a:t>HTML docs for COBOL functions</a:t>
                      </a:r>
                    </a:p>
                  </a:txBody>
                  <a:tcPr anchor="ctr">
                    <a:lnL>
                      <a:noFill/>
                    </a:lnL>
                    <a:lnR>
                      <a:noFill/>
                    </a:lnR>
                    <a:lnT>
                      <a:noFill/>
                    </a:lnT>
                    <a:lnB>
                      <a:noFill/>
                    </a:lnB>
                  </a:tcPr>
                </a:tc>
              </a:tr>
              <a:tr h="0">
                <a:tc>
                  <a:txBody>
                    <a:bodyPr/>
                    <a:lstStyle/>
                    <a:p>
                      <a:r>
                        <a:rPr lang="en-US" dirty="0"/>
                        <a:t>Reporting</a:t>
                      </a:r>
                    </a:p>
                  </a:txBody>
                  <a:tcPr anchor="ctr">
                    <a:lnL>
                      <a:noFill/>
                    </a:lnL>
                    <a:lnR>
                      <a:noFill/>
                    </a:lnR>
                    <a:lnT>
                      <a:noFill/>
                    </a:lnT>
                    <a:lnB>
                      <a:noFill/>
                    </a:lnB>
                  </a:tcPr>
                </a:tc>
                <a:tc>
                  <a:txBody>
                    <a:bodyPr/>
                    <a:lstStyle/>
                    <a:p>
                      <a:r>
                        <a:rPr lang="en-US"/>
                        <a:t>CAST AIP</a:t>
                      </a:r>
                    </a:p>
                  </a:txBody>
                  <a:tcPr anchor="ctr">
                    <a:lnL>
                      <a:noFill/>
                    </a:lnL>
                    <a:lnR>
                      <a:noFill/>
                    </a:lnR>
                    <a:lnT>
                      <a:noFill/>
                    </a:lnT>
                    <a:lnB>
                      <a:noFill/>
                    </a:lnB>
                  </a:tcPr>
                </a:tc>
                <a:tc>
                  <a:txBody>
                    <a:bodyPr/>
                    <a:lstStyle/>
                    <a:p>
                      <a:r>
                        <a:rPr lang="en-US" dirty="0"/>
                        <a:t>Maintainability and risk report</a:t>
                      </a:r>
                    </a:p>
                  </a:txBody>
                  <a:tcPr anchor="ctr">
                    <a:lnL>
                      <a:noFill/>
                    </a:lnL>
                    <a:lnR>
                      <a:noFill/>
                    </a:lnR>
                    <a:lnT>
                      <a:noFill/>
                    </a:lnT>
                    <a:lnB>
                      <a:noFill/>
                    </a:lnB>
                  </a:tcPr>
                </a:tc>
              </a:tr>
            </a:tbl>
          </a:graphicData>
        </a:graphic>
      </p:graphicFrame>
      <p:sp>
        <p:nvSpPr>
          <p:cNvPr id="5" name="Rectangle 4"/>
          <p:cNvSpPr/>
          <p:nvPr/>
        </p:nvSpPr>
        <p:spPr>
          <a:xfrm>
            <a:off x="457200" y="6148108"/>
            <a:ext cx="7955280" cy="646331"/>
          </a:xfrm>
          <a:prstGeom prst="rect">
            <a:avLst/>
          </a:prstGeom>
        </p:spPr>
        <p:txBody>
          <a:bodyPr wrap="square">
            <a:spAutoFit/>
          </a:bodyPr>
          <a:lstStyle/>
          <a:p>
            <a:pPr algn="just"/>
            <a:r>
              <a:rPr lang="en-US" dirty="0"/>
              <a:t>Result → A complete understanding of the legacy system, enabling effective modernization to Java or cloud-based architecture.</a:t>
            </a:r>
          </a:p>
        </p:txBody>
      </p:sp>
    </p:spTree>
    <p:extLst>
      <p:ext uri="{BB962C8B-B14F-4D97-AF65-F5344CB8AC3E}">
        <p14:creationId xmlns:p14="http://schemas.microsoft.com/office/powerpoint/2010/main" val="4265062930"/>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0" y="1"/>
            <a:ext cx="9144000" cy="6753726"/>
          </a:xfrm>
          <a:prstGeom prst="rect">
            <a:avLst/>
          </a:prstGeom>
        </p:spPr>
      </p:pic>
    </p:spTree>
    <p:extLst>
      <p:ext uri="{BB962C8B-B14F-4D97-AF65-F5344CB8AC3E}">
        <p14:creationId xmlns:p14="http://schemas.microsoft.com/office/powerpoint/2010/main" val="583093437"/>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How </a:t>
            </a:r>
            <a:r>
              <a:rPr lang="en-US" b="1" dirty="0" err="1"/>
              <a:t>SonarQube</a:t>
            </a:r>
            <a:r>
              <a:rPr lang="en-US" dirty="0"/>
              <a:t> is used during the </a:t>
            </a:r>
            <a:r>
              <a:rPr lang="en-US" b="1" dirty="0"/>
              <a:t>static analysis</a:t>
            </a:r>
            <a:r>
              <a:rPr lang="en-US" dirty="0"/>
              <a:t> phase of re-engineering</a:t>
            </a:r>
          </a:p>
        </p:txBody>
      </p:sp>
      <p:sp>
        <p:nvSpPr>
          <p:cNvPr id="3" name="Content Placeholder 2"/>
          <p:cNvSpPr>
            <a:spLocks noGrp="1"/>
          </p:cNvSpPr>
          <p:nvPr>
            <p:ph idx="1"/>
          </p:nvPr>
        </p:nvSpPr>
        <p:spPr/>
        <p:txBody>
          <a:bodyPr/>
          <a:lstStyle/>
          <a:p>
            <a:pPr marL="0" indent="0">
              <a:buNone/>
            </a:pPr>
            <a:r>
              <a:rPr lang="en-US" b="1" dirty="0"/>
              <a:t>Objective</a:t>
            </a:r>
          </a:p>
          <a:p>
            <a:r>
              <a:rPr lang="en-US" dirty="0"/>
              <a:t>The goal of static analysis with </a:t>
            </a:r>
            <a:r>
              <a:rPr lang="en-US" dirty="0" err="1"/>
              <a:t>SonarQube</a:t>
            </a:r>
            <a:r>
              <a:rPr lang="en-US" dirty="0"/>
              <a:t> is to:</a:t>
            </a:r>
          </a:p>
          <a:p>
            <a:pPr lvl="1"/>
            <a:r>
              <a:rPr lang="en-US" dirty="0"/>
              <a:t>Identify </a:t>
            </a:r>
            <a:r>
              <a:rPr lang="en-US" b="1" dirty="0"/>
              <a:t>maintainability issues</a:t>
            </a:r>
            <a:r>
              <a:rPr lang="en-US" dirty="0"/>
              <a:t> (code smells)</a:t>
            </a:r>
          </a:p>
          <a:p>
            <a:pPr lvl="1"/>
            <a:r>
              <a:rPr lang="en-US" dirty="0"/>
              <a:t>Detect </a:t>
            </a:r>
            <a:r>
              <a:rPr lang="en-US" b="1" dirty="0"/>
              <a:t>duplicated or redundant logic</a:t>
            </a:r>
            <a:endParaRPr lang="en-US" dirty="0"/>
          </a:p>
          <a:p>
            <a:pPr lvl="1"/>
            <a:r>
              <a:rPr lang="en-US" dirty="0"/>
              <a:t>Highlight </a:t>
            </a:r>
            <a:r>
              <a:rPr lang="en-US" b="1" dirty="0"/>
              <a:t>complex or risky COBOL modules</a:t>
            </a:r>
            <a:endParaRPr lang="en-US" dirty="0"/>
          </a:p>
          <a:p>
            <a:pPr lvl="1"/>
            <a:r>
              <a:rPr lang="en-US" dirty="0"/>
              <a:t>Provide a </a:t>
            </a:r>
            <a:r>
              <a:rPr lang="en-US" b="1" dirty="0"/>
              <a:t>quantitative technical debt overview</a:t>
            </a:r>
            <a:r>
              <a:rPr lang="en-US" dirty="0"/>
              <a:t> before </a:t>
            </a:r>
            <a:r>
              <a:rPr lang="en-US" dirty="0" smtClean="0"/>
              <a:t>modernization</a:t>
            </a:r>
          </a:p>
          <a:p>
            <a:endParaRPr lang="en-US" dirty="0"/>
          </a:p>
        </p:txBody>
      </p:sp>
    </p:spTree>
    <p:extLst>
      <p:ext uri="{BB962C8B-B14F-4D97-AF65-F5344CB8AC3E}">
        <p14:creationId xmlns:p14="http://schemas.microsoft.com/office/powerpoint/2010/main" val="2049231344"/>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Setup Overview</a:t>
            </a:r>
          </a:p>
        </p:txBody>
      </p:sp>
      <p:sp>
        <p:nvSpPr>
          <p:cNvPr id="3" name="Content Placeholder 2"/>
          <p:cNvSpPr>
            <a:spLocks noGrp="1"/>
          </p:cNvSpPr>
          <p:nvPr>
            <p:ph idx="1"/>
          </p:nvPr>
        </p:nvSpPr>
        <p:spPr/>
        <p:txBody>
          <a:bodyPr>
            <a:normAutofit fontScale="85000" lnSpcReduction="20000"/>
          </a:bodyPr>
          <a:lstStyle/>
          <a:p>
            <a:pPr marL="514350" indent="-514350">
              <a:buFont typeface="+mj-lt"/>
              <a:buAutoNum type="arabicPeriod"/>
            </a:pPr>
            <a:r>
              <a:rPr lang="en-US" b="1" dirty="0"/>
              <a:t>Import COBOL Source Code</a:t>
            </a:r>
            <a:endParaRPr lang="en-US" dirty="0"/>
          </a:p>
          <a:p>
            <a:pPr lvl="1"/>
            <a:r>
              <a:rPr lang="en-US" dirty="0"/>
              <a:t>Load all COBOL source files, copybooks, and JCL scripts into </a:t>
            </a:r>
            <a:r>
              <a:rPr lang="en-US" dirty="0" err="1"/>
              <a:t>SonarQube</a:t>
            </a:r>
            <a:r>
              <a:rPr lang="en-US" dirty="0"/>
              <a:t> via a </a:t>
            </a:r>
            <a:r>
              <a:rPr lang="en-US" b="1" dirty="0" err="1"/>
              <a:t>SonarScanner</a:t>
            </a:r>
            <a:r>
              <a:rPr lang="en-US" dirty="0"/>
              <a:t> or </a:t>
            </a:r>
            <a:r>
              <a:rPr lang="en-US" b="1" dirty="0"/>
              <a:t>Micro Focus Enterprise Analyzer export</a:t>
            </a:r>
            <a:r>
              <a:rPr lang="en-US" dirty="0"/>
              <a:t>.</a:t>
            </a:r>
          </a:p>
          <a:p>
            <a:pPr lvl="1"/>
            <a:r>
              <a:rPr lang="en-US" dirty="0"/>
              <a:t>Configure the </a:t>
            </a:r>
            <a:r>
              <a:rPr lang="en-US" b="1" dirty="0" err="1"/>
              <a:t>SonarQube</a:t>
            </a:r>
            <a:r>
              <a:rPr lang="en-US" b="1" dirty="0"/>
              <a:t> COBOL plugin</a:t>
            </a:r>
            <a:r>
              <a:rPr lang="en-US" dirty="0"/>
              <a:t> (supports COBOL85 and Enterprise COBOL</a:t>
            </a:r>
            <a:r>
              <a:rPr lang="en-US" dirty="0" smtClean="0"/>
              <a:t>).</a:t>
            </a:r>
          </a:p>
          <a:p>
            <a:pPr marL="514350" indent="-514350">
              <a:buFont typeface="+mj-lt"/>
              <a:buAutoNum type="arabicPeriod"/>
            </a:pPr>
            <a:r>
              <a:rPr lang="en-US" b="1" dirty="0"/>
              <a:t>Define Quality Gate</a:t>
            </a:r>
            <a:endParaRPr lang="en-US" dirty="0"/>
          </a:p>
          <a:p>
            <a:pPr lvl="1"/>
            <a:r>
              <a:rPr lang="en-US" dirty="0"/>
              <a:t>Set rules for what constitutes a pass/fail (e.g., &lt;5% duplication, &lt;10 critical smells).</a:t>
            </a:r>
          </a:p>
          <a:p>
            <a:pPr marL="514350" indent="-514350">
              <a:buFont typeface="+mj-lt"/>
              <a:buAutoNum type="arabicPeriod"/>
            </a:pPr>
            <a:r>
              <a:rPr lang="en-US" b="1" dirty="0"/>
              <a:t>Run Static Analysis</a:t>
            </a:r>
            <a:endParaRPr lang="en-US" dirty="0"/>
          </a:p>
          <a:p>
            <a:pPr lvl="1"/>
            <a:r>
              <a:rPr lang="en-US" dirty="0" err="1"/>
              <a:t>SonarQube</a:t>
            </a:r>
            <a:r>
              <a:rPr lang="en-US" dirty="0"/>
              <a:t> parses COBOL programs, identifies syntax structures, computes metrics (</a:t>
            </a:r>
            <a:r>
              <a:rPr lang="en-US" dirty="0" err="1"/>
              <a:t>cyclomatic</a:t>
            </a:r>
            <a:r>
              <a:rPr lang="en-US" dirty="0"/>
              <a:t> complexity, maintainability index), and reports issues.</a:t>
            </a:r>
          </a:p>
          <a:p>
            <a:endParaRPr lang="en-US" dirty="0"/>
          </a:p>
        </p:txBody>
      </p:sp>
    </p:spTree>
    <p:extLst>
      <p:ext uri="{BB962C8B-B14F-4D97-AF65-F5344CB8AC3E}">
        <p14:creationId xmlns:p14="http://schemas.microsoft.com/office/powerpoint/2010/main" val="3989557801"/>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31418"/>
          </a:xfrm>
        </p:spPr>
        <p:txBody>
          <a:bodyPr>
            <a:normAutofit fontScale="90000"/>
          </a:bodyPr>
          <a:lstStyle/>
          <a:p>
            <a:r>
              <a:rPr lang="en-US" dirty="0"/>
              <a:t>Example Results</a:t>
            </a:r>
          </a:p>
        </p:txBody>
      </p:sp>
      <p:sp>
        <p:nvSpPr>
          <p:cNvPr id="3" name="Content Placeholder 2"/>
          <p:cNvSpPr>
            <a:spLocks noGrp="1"/>
          </p:cNvSpPr>
          <p:nvPr>
            <p:ph idx="1"/>
          </p:nvPr>
        </p:nvSpPr>
        <p:spPr>
          <a:xfrm>
            <a:off x="457200" y="697375"/>
            <a:ext cx="8229600" cy="1177724"/>
          </a:xfrm>
        </p:spPr>
        <p:txBody>
          <a:bodyPr>
            <a:normAutofit fontScale="85000" lnSpcReduction="10000"/>
          </a:bodyPr>
          <a:lstStyle/>
          <a:p>
            <a:pPr marL="0" indent="0">
              <a:buNone/>
            </a:pPr>
            <a:r>
              <a:rPr lang="en-US" b="1" dirty="0"/>
              <a:t>1. Code Smells</a:t>
            </a:r>
          </a:p>
          <a:p>
            <a:r>
              <a:rPr lang="en-US" dirty="0"/>
              <a:t>These indicate maintainability and clarity problems.</a:t>
            </a:r>
          </a:p>
        </p:txBody>
      </p:sp>
      <p:graphicFrame>
        <p:nvGraphicFramePr>
          <p:cNvPr id="4" name="Table 3"/>
          <p:cNvGraphicFramePr>
            <a:graphicFrameLocks noGrp="1"/>
          </p:cNvGraphicFramePr>
          <p:nvPr>
            <p:extLst>
              <p:ext uri="{D42A27DB-BD31-4B8C-83A1-F6EECF244321}">
                <p14:modId xmlns:p14="http://schemas.microsoft.com/office/powerpoint/2010/main" val="2437096851"/>
              </p:ext>
            </p:extLst>
          </p:nvPr>
        </p:nvGraphicFramePr>
        <p:xfrm>
          <a:off x="96820" y="1600200"/>
          <a:ext cx="8827260" cy="5078392"/>
        </p:xfrm>
        <a:graphic>
          <a:graphicData uri="http://schemas.openxmlformats.org/drawingml/2006/table">
            <a:tbl>
              <a:tblPr/>
              <a:tblGrid>
                <a:gridCol w="2206815"/>
                <a:gridCol w="2773974"/>
                <a:gridCol w="2463502"/>
                <a:gridCol w="1382969"/>
              </a:tblGrid>
              <a:tr h="564266">
                <a:tc>
                  <a:txBody>
                    <a:bodyPr/>
                    <a:lstStyle/>
                    <a:p>
                      <a:r>
                        <a:rPr lang="en-US" sz="1800" b="1" dirty="0"/>
                        <a:t>Issue Type</a:t>
                      </a:r>
                    </a:p>
                  </a:txBody>
                  <a:tcPr marL="71841" marR="71841" marT="35920" marB="35920" anchor="ctr">
                    <a:lnL>
                      <a:noFill/>
                    </a:lnL>
                    <a:lnR>
                      <a:noFill/>
                    </a:lnR>
                    <a:lnT>
                      <a:noFill/>
                    </a:lnT>
                    <a:lnB>
                      <a:noFill/>
                    </a:lnB>
                  </a:tcPr>
                </a:tc>
                <a:tc>
                  <a:txBody>
                    <a:bodyPr/>
                    <a:lstStyle/>
                    <a:p>
                      <a:r>
                        <a:rPr lang="en-US" sz="1800" b="1" dirty="0"/>
                        <a:t>Example COBOL Pattern</a:t>
                      </a:r>
                    </a:p>
                  </a:txBody>
                  <a:tcPr marL="71841" marR="71841" marT="35920" marB="35920" anchor="ctr">
                    <a:lnL>
                      <a:noFill/>
                    </a:lnL>
                    <a:lnR>
                      <a:noFill/>
                    </a:lnR>
                    <a:lnT>
                      <a:noFill/>
                    </a:lnT>
                    <a:lnB>
                      <a:noFill/>
                    </a:lnB>
                  </a:tcPr>
                </a:tc>
                <a:tc>
                  <a:txBody>
                    <a:bodyPr/>
                    <a:lstStyle/>
                    <a:p>
                      <a:r>
                        <a:rPr lang="en-US" sz="1800" b="1" dirty="0"/>
                        <a:t>Description</a:t>
                      </a:r>
                    </a:p>
                  </a:txBody>
                  <a:tcPr marL="71841" marR="71841" marT="35920" marB="35920" anchor="ctr">
                    <a:lnL>
                      <a:noFill/>
                    </a:lnL>
                    <a:lnR>
                      <a:noFill/>
                    </a:lnR>
                    <a:lnT>
                      <a:noFill/>
                    </a:lnT>
                    <a:lnB>
                      <a:noFill/>
                    </a:lnB>
                  </a:tcPr>
                </a:tc>
                <a:tc>
                  <a:txBody>
                    <a:bodyPr/>
                    <a:lstStyle/>
                    <a:p>
                      <a:r>
                        <a:rPr lang="en-US" sz="1800" b="1" dirty="0"/>
                        <a:t>Severity</a:t>
                      </a:r>
                    </a:p>
                  </a:txBody>
                  <a:tcPr marL="71841" marR="71841" marT="35920" marB="35920" anchor="ctr">
                    <a:lnL>
                      <a:noFill/>
                    </a:lnL>
                    <a:lnR>
                      <a:noFill/>
                    </a:lnR>
                    <a:lnT>
                      <a:noFill/>
                    </a:lnT>
                    <a:lnB>
                      <a:noFill/>
                    </a:lnB>
                  </a:tcPr>
                </a:tc>
              </a:tr>
              <a:tr h="806094">
                <a:tc>
                  <a:txBody>
                    <a:bodyPr/>
                    <a:lstStyle/>
                    <a:p>
                      <a:r>
                        <a:rPr lang="en-US" sz="1800" dirty="0"/>
                        <a:t>Long Paragraph</a:t>
                      </a:r>
                    </a:p>
                  </a:txBody>
                  <a:tcPr marL="71841" marR="71841" marT="35920" marB="35920" anchor="ctr">
                    <a:lnL>
                      <a:noFill/>
                    </a:lnL>
                    <a:lnR>
                      <a:noFill/>
                    </a:lnR>
                    <a:lnT>
                      <a:noFill/>
                    </a:lnT>
                    <a:lnB>
                      <a:noFill/>
                    </a:lnB>
                  </a:tcPr>
                </a:tc>
                <a:tc>
                  <a:txBody>
                    <a:bodyPr/>
                    <a:lstStyle/>
                    <a:p>
                      <a:r>
                        <a:rPr lang="en-US" sz="1800" dirty="0"/>
                        <a:t>A paragraph exceeds 300 lines</a:t>
                      </a:r>
                    </a:p>
                  </a:txBody>
                  <a:tcPr marL="71841" marR="71841" marT="35920" marB="35920" anchor="ctr">
                    <a:lnL>
                      <a:noFill/>
                    </a:lnL>
                    <a:lnR>
                      <a:noFill/>
                    </a:lnR>
                    <a:lnT>
                      <a:noFill/>
                    </a:lnT>
                    <a:lnB>
                      <a:noFill/>
                    </a:lnB>
                  </a:tcPr>
                </a:tc>
                <a:tc>
                  <a:txBody>
                    <a:bodyPr/>
                    <a:lstStyle/>
                    <a:p>
                      <a:r>
                        <a:rPr lang="en-US" sz="1800" dirty="0"/>
                        <a:t>Difficult to understand and modify</a:t>
                      </a:r>
                    </a:p>
                  </a:txBody>
                  <a:tcPr marL="71841" marR="71841" marT="35920" marB="35920" anchor="ctr">
                    <a:lnL>
                      <a:noFill/>
                    </a:lnL>
                    <a:lnR>
                      <a:noFill/>
                    </a:lnR>
                    <a:lnT>
                      <a:noFill/>
                    </a:lnT>
                    <a:lnB>
                      <a:noFill/>
                    </a:lnB>
                  </a:tcPr>
                </a:tc>
                <a:tc>
                  <a:txBody>
                    <a:bodyPr/>
                    <a:lstStyle/>
                    <a:p>
                      <a:r>
                        <a:rPr lang="en-US" sz="1800"/>
                        <a:t>Major</a:t>
                      </a:r>
                    </a:p>
                  </a:txBody>
                  <a:tcPr marL="71841" marR="71841" marT="35920" marB="35920" anchor="ctr">
                    <a:lnL>
                      <a:noFill/>
                    </a:lnL>
                    <a:lnR>
                      <a:noFill/>
                    </a:lnR>
                    <a:lnT>
                      <a:noFill/>
                    </a:lnT>
                    <a:lnB>
                      <a:noFill/>
                    </a:lnB>
                  </a:tcPr>
                </a:tc>
              </a:tr>
              <a:tr h="806094">
                <a:tc>
                  <a:txBody>
                    <a:bodyPr/>
                    <a:lstStyle/>
                    <a:p>
                      <a:r>
                        <a:rPr lang="en-US" sz="1800"/>
                        <a:t>Hard-coded Values</a:t>
                      </a:r>
                    </a:p>
                  </a:txBody>
                  <a:tcPr marL="71841" marR="71841" marT="35920" marB="35920" anchor="ctr">
                    <a:lnL>
                      <a:noFill/>
                    </a:lnL>
                    <a:lnR>
                      <a:noFill/>
                    </a:lnR>
                    <a:lnT>
                      <a:noFill/>
                    </a:lnT>
                    <a:lnB>
                      <a:noFill/>
                    </a:lnB>
                  </a:tcPr>
                </a:tc>
                <a:tc>
                  <a:txBody>
                    <a:bodyPr/>
                    <a:lstStyle/>
                    <a:p>
                      <a:r>
                        <a:rPr lang="en-US" sz="1800"/>
                        <a:t>MOVE 0.07 TO WS-INTEREST-RATE</a:t>
                      </a:r>
                    </a:p>
                  </a:txBody>
                  <a:tcPr marL="71841" marR="71841" marT="35920" marB="35920" anchor="ctr">
                    <a:lnL>
                      <a:noFill/>
                    </a:lnL>
                    <a:lnR>
                      <a:noFill/>
                    </a:lnR>
                    <a:lnT>
                      <a:noFill/>
                    </a:lnT>
                    <a:lnB>
                      <a:noFill/>
                    </a:lnB>
                  </a:tcPr>
                </a:tc>
                <a:tc>
                  <a:txBody>
                    <a:bodyPr/>
                    <a:lstStyle/>
                    <a:p>
                      <a:r>
                        <a:rPr lang="en-US" sz="1800" dirty="0"/>
                        <a:t>Business rules should not be hardcoded</a:t>
                      </a:r>
                    </a:p>
                  </a:txBody>
                  <a:tcPr marL="71841" marR="71841" marT="35920" marB="35920" anchor="ctr">
                    <a:lnL>
                      <a:noFill/>
                    </a:lnL>
                    <a:lnR>
                      <a:noFill/>
                    </a:lnR>
                    <a:lnT>
                      <a:noFill/>
                    </a:lnT>
                    <a:lnB>
                      <a:noFill/>
                    </a:lnB>
                  </a:tcPr>
                </a:tc>
                <a:tc>
                  <a:txBody>
                    <a:bodyPr/>
                    <a:lstStyle/>
                    <a:p>
                      <a:r>
                        <a:rPr lang="en-US" sz="1800" dirty="0"/>
                        <a:t>Critical</a:t>
                      </a:r>
                    </a:p>
                  </a:txBody>
                  <a:tcPr marL="71841" marR="71841" marT="35920" marB="35920" anchor="ctr">
                    <a:lnL>
                      <a:noFill/>
                    </a:lnL>
                    <a:lnR>
                      <a:noFill/>
                    </a:lnR>
                    <a:lnT>
                      <a:noFill/>
                    </a:lnT>
                    <a:lnB>
                      <a:noFill/>
                    </a:lnB>
                  </a:tcPr>
                </a:tc>
              </a:tr>
              <a:tr h="1047922">
                <a:tc>
                  <a:txBody>
                    <a:bodyPr/>
                    <a:lstStyle/>
                    <a:p>
                      <a:r>
                        <a:rPr lang="en-US" sz="1800"/>
                        <a:t>Unused Variables</a:t>
                      </a:r>
                    </a:p>
                  </a:txBody>
                  <a:tcPr marL="71841" marR="71841" marT="35920" marB="35920" anchor="ctr">
                    <a:lnL>
                      <a:noFill/>
                    </a:lnL>
                    <a:lnR>
                      <a:noFill/>
                    </a:lnR>
                    <a:lnT>
                      <a:noFill/>
                    </a:lnT>
                    <a:lnB>
                      <a:noFill/>
                    </a:lnB>
                  </a:tcPr>
                </a:tc>
                <a:tc>
                  <a:txBody>
                    <a:bodyPr/>
                    <a:lstStyle/>
                    <a:p>
                      <a:r>
                        <a:rPr lang="en-US" sz="1800" dirty="0"/>
                        <a:t>Declared WORKING-STORAGE fields never referenced</a:t>
                      </a:r>
                    </a:p>
                  </a:txBody>
                  <a:tcPr marL="71841" marR="71841" marT="35920" marB="35920" anchor="ctr">
                    <a:lnL>
                      <a:noFill/>
                    </a:lnL>
                    <a:lnR>
                      <a:noFill/>
                    </a:lnR>
                    <a:lnT>
                      <a:noFill/>
                    </a:lnT>
                    <a:lnB>
                      <a:noFill/>
                    </a:lnB>
                  </a:tcPr>
                </a:tc>
                <a:tc>
                  <a:txBody>
                    <a:bodyPr/>
                    <a:lstStyle/>
                    <a:p>
                      <a:r>
                        <a:rPr lang="en-US" sz="1800"/>
                        <a:t>Memory and readability issue</a:t>
                      </a:r>
                    </a:p>
                  </a:txBody>
                  <a:tcPr marL="71841" marR="71841" marT="35920" marB="35920" anchor="ctr">
                    <a:lnL>
                      <a:noFill/>
                    </a:lnL>
                    <a:lnR>
                      <a:noFill/>
                    </a:lnR>
                    <a:lnT>
                      <a:noFill/>
                    </a:lnT>
                    <a:lnB>
                      <a:noFill/>
                    </a:lnB>
                  </a:tcPr>
                </a:tc>
                <a:tc>
                  <a:txBody>
                    <a:bodyPr/>
                    <a:lstStyle/>
                    <a:p>
                      <a:r>
                        <a:rPr lang="en-US" sz="1800" dirty="0"/>
                        <a:t>Minor</a:t>
                      </a:r>
                    </a:p>
                  </a:txBody>
                  <a:tcPr marL="71841" marR="71841" marT="35920" marB="35920" anchor="ctr">
                    <a:lnL>
                      <a:noFill/>
                    </a:lnL>
                    <a:lnR>
                      <a:noFill/>
                    </a:lnR>
                    <a:lnT>
                      <a:noFill/>
                    </a:lnT>
                    <a:lnB>
                      <a:noFill/>
                    </a:lnB>
                  </a:tcPr>
                </a:tc>
              </a:tr>
              <a:tr h="806094">
                <a:tc>
                  <a:txBody>
                    <a:bodyPr/>
                    <a:lstStyle/>
                    <a:p>
                      <a:r>
                        <a:rPr lang="en-US" sz="1800"/>
                        <a:t>Nested IF Statements</a:t>
                      </a:r>
                    </a:p>
                  </a:txBody>
                  <a:tcPr marL="71841" marR="71841" marT="35920" marB="35920" anchor="ctr">
                    <a:lnL>
                      <a:noFill/>
                    </a:lnL>
                    <a:lnR>
                      <a:noFill/>
                    </a:lnR>
                    <a:lnT>
                      <a:noFill/>
                    </a:lnT>
                    <a:lnB>
                      <a:noFill/>
                    </a:lnB>
                  </a:tcPr>
                </a:tc>
                <a:tc>
                  <a:txBody>
                    <a:bodyPr/>
                    <a:lstStyle/>
                    <a:p>
                      <a:r>
                        <a:rPr lang="en-US" sz="1800"/>
                        <a:t>4+ nested levels</a:t>
                      </a:r>
                    </a:p>
                  </a:txBody>
                  <a:tcPr marL="71841" marR="71841" marT="35920" marB="35920" anchor="ctr">
                    <a:lnL>
                      <a:noFill/>
                    </a:lnL>
                    <a:lnR>
                      <a:noFill/>
                    </a:lnR>
                    <a:lnT>
                      <a:noFill/>
                    </a:lnT>
                    <a:lnB>
                      <a:noFill/>
                    </a:lnB>
                  </a:tcPr>
                </a:tc>
                <a:tc>
                  <a:txBody>
                    <a:bodyPr/>
                    <a:lstStyle/>
                    <a:p>
                      <a:r>
                        <a:rPr lang="en-US" sz="1800"/>
                        <a:t>Violates structured programming principles</a:t>
                      </a:r>
                    </a:p>
                  </a:txBody>
                  <a:tcPr marL="71841" marR="71841" marT="35920" marB="35920" anchor="ctr">
                    <a:lnL>
                      <a:noFill/>
                    </a:lnL>
                    <a:lnR>
                      <a:noFill/>
                    </a:lnR>
                    <a:lnT>
                      <a:noFill/>
                    </a:lnT>
                    <a:lnB>
                      <a:noFill/>
                    </a:lnB>
                  </a:tcPr>
                </a:tc>
                <a:tc>
                  <a:txBody>
                    <a:bodyPr/>
                    <a:lstStyle/>
                    <a:p>
                      <a:r>
                        <a:rPr lang="en-US" sz="1800" dirty="0"/>
                        <a:t>Major</a:t>
                      </a:r>
                    </a:p>
                  </a:txBody>
                  <a:tcPr marL="71841" marR="71841" marT="35920" marB="35920" anchor="ctr">
                    <a:lnL>
                      <a:noFill/>
                    </a:lnL>
                    <a:lnR>
                      <a:noFill/>
                    </a:lnR>
                    <a:lnT>
                      <a:noFill/>
                    </a:lnT>
                    <a:lnB>
                      <a:noFill/>
                    </a:lnB>
                  </a:tcPr>
                </a:tc>
              </a:tr>
              <a:tr h="1047922">
                <a:tc>
                  <a:txBody>
                    <a:bodyPr/>
                    <a:lstStyle/>
                    <a:p>
                      <a:r>
                        <a:rPr lang="en-US" sz="1800"/>
                        <a:t>Repeated MOVE Chains</a:t>
                      </a:r>
                    </a:p>
                  </a:txBody>
                  <a:tcPr marL="71841" marR="71841" marT="35920" marB="35920" anchor="ctr">
                    <a:lnL>
                      <a:noFill/>
                    </a:lnL>
                    <a:lnR>
                      <a:noFill/>
                    </a:lnR>
                    <a:lnT>
                      <a:noFill/>
                    </a:lnT>
                    <a:lnB>
                      <a:noFill/>
                    </a:lnB>
                  </a:tcPr>
                </a:tc>
                <a:tc>
                  <a:txBody>
                    <a:bodyPr/>
                    <a:lstStyle/>
                    <a:p>
                      <a:r>
                        <a:rPr lang="en-US" sz="1800"/>
                        <a:t>Same group of MOVE statements repeated in multiple modules</a:t>
                      </a:r>
                    </a:p>
                  </a:txBody>
                  <a:tcPr marL="71841" marR="71841" marT="35920" marB="35920" anchor="ctr">
                    <a:lnL>
                      <a:noFill/>
                    </a:lnL>
                    <a:lnR>
                      <a:noFill/>
                    </a:lnR>
                    <a:lnT>
                      <a:noFill/>
                    </a:lnT>
                    <a:lnB>
                      <a:noFill/>
                    </a:lnB>
                  </a:tcPr>
                </a:tc>
                <a:tc>
                  <a:txBody>
                    <a:bodyPr/>
                    <a:lstStyle/>
                    <a:p>
                      <a:r>
                        <a:rPr lang="en-US" sz="1800"/>
                        <a:t>Candidate for subroutine extraction</a:t>
                      </a:r>
                    </a:p>
                  </a:txBody>
                  <a:tcPr marL="71841" marR="71841" marT="35920" marB="35920" anchor="ctr">
                    <a:lnL>
                      <a:noFill/>
                    </a:lnL>
                    <a:lnR>
                      <a:noFill/>
                    </a:lnR>
                    <a:lnT>
                      <a:noFill/>
                    </a:lnT>
                    <a:lnB>
                      <a:noFill/>
                    </a:lnB>
                  </a:tcPr>
                </a:tc>
                <a:tc>
                  <a:txBody>
                    <a:bodyPr/>
                    <a:lstStyle/>
                    <a:p>
                      <a:r>
                        <a:rPr lang="en-US" sz="1800" dirty="0"/>
                        <a:t>Major</a:t>
                      </a:r>
                    </a:p>
                  </a:txBody>
                  <a:tcPr marL="71841" marR="71841" marT="35920" marB="35920" anchor="ctr">
                    <a:lnL>
                      <a:noFill/>
                    </a:lnL>
                    <a:lnR>
                      <a:noFill/>
                    </a:lnR>
                    <a:lnT>
                      <a:noFill/>
                    </a:lnT>
                    <a:lnB>
                      <a:noFill/>
                    </a:lnB>
                  </a:tcPr>
                </a:tc>
              </a:tr>
            </a:tbl>
          </a:graphicData>
        </a:graphic>
      </p:graphicFrame>
    </p:spTree>
    <p:extLst>
      <p:ext uri="{BB962C8B-B14F-4D97-AF65-F5344CB8AC3E}">
        <p14:creationId xmlns:p14="http://schemas.microsoft.com/office/powerpoint/2010/main" val="1166166506"/>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Sample Finding (from </a:t>
            </a:r>
            <a:r>
              <a:rPr lang="en-US" dirty="0" err="1"/>
              <a:t>SonarQube</a:t>
            </a:r>
            <a:r>
              <a:rPr lang="en-US" dirty="0"/>
              <a:t> Dashboard)</a:t>
            </a:r>
          </a:p>
        </p:txBody>
      </p:sp>
      <p:sp>
        <p:nvSpPr>
          <p:cNvPr id="3" name="Content Placeholder 2"/>
          <p:cNvSpPr>
            <a:spLocks noGrp="1"/>
          </p:cNvSpPr>
          <p:nvPr>
            <p:ph idx="1"/>
          </p:nvPr>
        </p:nvSpPr>
        <p:spPr/>
        <p:txBody>
          <a:bodyPr/>
          <a:lstStyle/>
          <a:p>
            <a:pPr algn="just"/>
            <a:r>
              <a:rPr lang="en-US" dirty="0" err="1"/>
              <a:t>COBOL:LongParagraph</a:t>
            </a:r>
            <a:r>
              <a:rPr lang="en-US" dirty="0"/>
              <a:t>— Paragraph “CALC-INTEREST” is 348 lines long</a:t>
            </a:r>
            <a:r>
              <a:rPr lang="en-US" dirty="0" smtClean="0"/>
              <a:t>.</a:t>
            </a:r>
          </a:p>
          <a:p>
            <a:pPr algn="just"/>
            <a:r>
              <a:rPr lang="en-US" i="1" dirty="0"/>
              <a:t>Recommendation:</a:t>
            </a:r>
            <a:r>
              <a:rPr lang="en-US" dirty="0"/>
              <a:t> Split logic into smaller paragraphs (e.g., CALC-DAILY-INTEREST, CALC-MONTHLY-INTEREST).</a:t>
            </a:r>
          </a:p>
        </p:txBody>
      </p:sp>
    </p:spTree>
    <p:extLst>
      <p:ext uri="{BB962C8B-B14F-4D97-AF65-F5344CB8AC3E}">
        <p14:creationId xmlns:p14="http://schemas.microsoft.com/office/powerpoint/2010/main" val="3749051787"/>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60767"/>
            <a:ext cx="8229600" cy="1143000"/>
          </a:xfrm>
        </p:spPr>
        <p:txBody>
          <a:bodyPr/>
          <a:lstStyle/>
          <a:p>
            <a:r>
              <a:rPr lang="en-US" dirty="0"/>
              <a:t>2. </a:t>
            </a:r>
            <a:r>
              <a:rPr lang="en-US" b="1" dirty="0"/>
              <a:t>Duplicated Logic</a:t>
            </a:r>
            <a:endParaRPr lang="en-US" dirty="0"/>
          </a:p>
        </p:txBody>
      </p:sp>
      <p:sp>
        <p:nvSpPr>
          <p:cNvPr id="3" name="Content Placeholder 2"/>
          <p:cNvSpPr>
            <a:spLocks noGrp="1"/>
          </p:cNvSpPr>
          <p:nvPr>
            <p:ph idx="1"/>
          </p:nvPr>
        </p:nvSpPr>
        <p:spPr>
          <a:xfrm>
            <a:off x="457200" y="1252959"/>
            <a:ext cx="8229600" cy="5471932"/>
          </a:xfrm>
        </p:spPr>
        <p:txBody>
          <a:bodyPr>
            <a:normAutofit fontScale="70000" lnSpcReduction="20000"/>
          </a:bodyPr>
          <a:lstStyle/>
          <a:p>
            <a:r>
              <a:rPr lang="en-US" dirty="0" err="1"/>
              <a:t>SonarQube</a:t>
            </a:r>
            <a:r>
              <a:rPr lang="en-US" dirty="0"/>
              <a:t> automatically detects </a:t>
            </a:r>
            <a:r>
              <a:rPr lang="en-US" b="1" dirty="0"/>
              <a:t>duplicate blocks</a:t>
            </a:r>
            <a:r>
              <a:rPr lang="en-US" dirty="0"/>
              <a:t> across programs</a:t>
            </a:r>
            <a:r>
              <a:rPr lang="en-US" dirty="0" smtClean="0"/>
              <a:t>.</a:t>
            </a:r>
          </a:p>
          <a:p>
            <a:endParaRPr lang="en-US" dirty="0"/>
          </a:p>
          <a:p>
            <a:endParaRPr lang="en-US" dirty="0" smtClean="0"/>
          </a:p>
          <a:p>
            <a:endParaRPr lang="en-US" dirty="0"/>
          </a:p>
          <a:p>
            <a:endParaRPr lang="en-US" dirty="0" smtClean="0"/>
          </a:p>
          <a:p>
            <a:endParaRPr lang="en-US" dirty="0"/>
          </a:p>
          <a:p>
            <a:endParaRPr lang="en-US" b="1" dirty="0" smtClean="0"/>
          </a:p>
          <a:p>
            <a:endParaRPr lang="en-US" b="1" dirty="0"/>
          </a:p>
          <a:p>
            <a:endParaRPr lang="en-US" b="1" dirty="0" smtClean="0"/>
          </a:p>
          <a:p>
            <a:endParaRPr lang="en-US" b="1" dirty="0"/>
          </a:p>
          <a:p>
            <a:endParaRPr lang="en-US" b="1" dirty="0" smtClean="0"/>
          </a:p>
          <a:p>
            <a:endParaRPr lang="en-US" b="1" dirty="0"/>
          </a:p>
          <a:p>
            <a:r>
              <a:rPr lang="en-US" b="1" dirty="0" smtClean="0"/>
              <a:t>Dashboard </a:t>
            </a:r>
            <a:r>
              <a:rPr lang="en-US" b="1" dirty="0"/>
              <a:t>Visualization:</a:t>
            </a:r>
            <a:endParaRPr lang="en-US" dirty="0"/>
          </a:p>
          <a:p>
            <a:pPr lvl="1"/>
            <a:r>
              <a:rPr lang="en-US" b="1" dirty="0"/>
              <a:t>Duplications:</a:t>
            </a:r>
            <a:r>
              <a:rPr lang="en-US" dirty="0"/>
              <a:t> 14.5% of total lines</a:t>
            </a:r>
          </a:p>
          <a:p>
            <a:pPr lvl="1"/>
            <a:r>
              <a:rPr lang="en-US" b="1" dirty="0"/>
              <a:t>Duplicated Blocks:</a:t>
            </a:r>
            <a:r>
              <a:rPr lang="en-US" dirty="0"/>
              <a:t> 220</a:t>
            </a:r>
          </a:p>
          <a:p>
            <a:pPr lvl="1"/>
            <a:r>
              <a:rPr lang="en-US" b="1" dirty="0" smtClean="0"/>
              <a:t>Duplicated Files:</a:t>
            </a:r>
            <a:r>
              <a:rPr lang="en-US" dirty="0" smtClean="0"/>
              <a:t> 47</a:t>
            </a:r>
          </a:p>
          <a:p>
            <a:endParaRPr lang="en-US" dirty="0"/>
          </a:p>
        </p:txBody>
      </p:sp>
      <p:graphicFrame>
        <p:nvGraphicFramePr>
          <p:cNvPr id="4" name="Table 3"/>
          <p:cNvGraphicFramePr>
            <a:graphicFrameLocks noGrp="1"/>
          </p:cNvGraphicFramePr>
          <p:nvPr>
            <p:extLst>
              <p:ext uri="{D42A27DB-BD31-4B8C-83A1-F6EECF244321}">
                <p14:modId xmlns:p14="http://schemas.microsoft.com/office/powerpoint/2010/main" val="1017389717"/>
              </p:ext>
            </p:extLst>
          </p:nvPr>
        </p:nvGraphicFramePr>
        <p:xfrm>
          <a:off x="457200" y="2042477"/>
          <a:ext cx="8229600" cy="3108960"/>
        </p:xfrm>
        <a:graphic>
          <a:graphicData uri="http://schemas.openxmlformats.org/drawingml/2006/table">
            <a:tbl>
              <a:tblPr/>
              <a:tblGrid>
                <a:gridCol w="2057400"/>
                <a:gridCol w="2057400"/>
                <a:gridCol w="2057400"/>
                <a:gridCol w="2057400"/>
              </a:tblGrid>
              <a:tr h="0">
                <a:tc>
                  <a:txBody>
                    <a:bodyPr/>
                    <a:lstStyle/>
                    <a:p>
                      <a:r>
                        <a:rPr lang="en-US" dirty="0"/>
                        <a:t>Duplicate ID</a:t>
                      </a:r>
                    </a:p>
                  </a:txBody>
                  <a:tcPr anchor="ctr">
                    <a:lnL>
                      <a:noFill/>
                    </a:lnL>
                    <a:lnR>
                      <a:noFill/>
                    </a:lnR>
                    <a:lnT>
                      <a:noFill/>
                    </a:lnT>
                    <a:lnB>
                      <a:noFill/>
                    </a:lnB>
                  </a:tcPr>
                </a:tc>
                <a:tc>
                  <a:txBody>
                    <a:bodyPr/>
                    <a:lstStyle/>
                    <a:p>
                      <a:r>
                        <a:rPr lang="en-US"/>
                        <a:t>Affected Programs</a:t>
                      </a:r>
                    </a:p>
                  </a:txBody>
                  <a:tcPr anchor="ctr">
                    <a:lnL>
                      <a:noFill/>
                    </a:lnL>
                    <a:lnR>
                      <a:noFill/>
                    </a:lnR>
                    <a:lnT>
                      <a:noFill/>
                    </a:lnT>
                    <a:lnB>
                      <a:noFill/>
                    </a:lnB>
                  </a:tcPr>
                </a:tc>
                <a:tc>
                  <a:txBody>
                    <a:bodyPr/>
                    <a:lstStyle/>
                    <a:p>
                      <a:r>
                        <a:rPr lang="en-US"/>
                        <a:t>Lines Duplicated</a:t>
                      </a:r>
                    </a:p>
                  </a:txBody>
                  <a:tcPr anchor="ctr">
                    <a:lnL>
                      <a:noFill/>
                    </a:lnL>
                    <a:lnR>
                      <a:noFill/>
                    </a:lnR>
                    <a:lnT>
                      <a:noFill/>
                    </a:lnT>
                    <a:lnB>
                      <a:noFill/>
                    </a:lnB>
                  </a:tcPr>
                </a:tc>
                <a:tc>
                  <a:txBody>
                    <a:bodyPr/>
                    <a:lstStyle/>
                    <a:p>
                      <a:r>
                        <a:rPr lang="en-US"/>
                        <a:t>Suggestion</a:t>
                      </a:r>
                    </a:p>
                  </a:txBody>
                  <a:tcPr anchor="ctr">
                    <a:lnL>
                      <a:noFill/>
                    </a:lnL>
                    <a:lnR>
                      <a:noFill/>
                    </a:lnR>
                    <a:lnT>
                      <a:noFill/>
                    </a:lnT>
                    <a:lnB>
                      <a:noFill/>
                    </a:lnB>
                  </a:tcPr>
                </a:tc>
              </a:tr>
              <a:tr h="0">
                <a:tc>
                  <a:txBody>
                    <a:bodyPr/>
                    <a:lstStyle/>
                    <a:p>
                      <a:r>
                        <a:rPr lang="en-US"/>
                        <a:t>D01</a:t>
                      </a:r>
                    </a:p>
                  </a:txBody>
                  <a:tcPr anchor="ctr">
                    <a:lnL>
                      <a:noFill/>
                    </a:lnL>
                    <a:lnR>
                      <a:noFill/>
                    </a:lnR>
                    <a:lnT>
                      <a:noFill/>
                    </a:lnT>
                    <a:lnB>
                      <a:noFill/>
                    </a:lnB>
                  </a:tcPr>
                </a:tc>
                <a:tc>
                  <a:txBody>
                    <a:bodyPr/>
                    <a:lstStyle/>
                    <a:p>
                      <a:r>
                        <a:rPr lang="en-US" dirty="0"/>
                        <a:t>ACCUPDT.CBL, ACCTRN.CBL</a:t>
                      </a:r>
                    </a:p>
                  </a:txBody>
                  <a:tcPr anchor="ctr">
                    <a:lnL>
                      <a:noFill/>
                    </a:lnL>
                    <a:lnR>
                      <a:noFill/>
                    </a:lnR>
                    <a:lnT>
                      <a:noFill/>
                    </a:lnT>
                    <a:lnB>
                      <a:noFill/>
                    </a:lnB>
                  </a:tcPr>
                </a:tc>
                <a:tc>
                  <a:txBody>
                    <a:bodyPr/>
                    <a:lstStyle/>
                    <a:p>
                      <a:r>
                        <a:rPr lang="en-US"/>
                        <a:t>56</a:t>
                      </a:r>
                    </a:p>
                  </a:txBody>
                  <a:tcPr anchor="ctr">
                    <a:lnL>
                      <a:noFill/>
                    </a:lnL>
                    <a:lnR>
                      <a:noFill/>
                    </a:lnR>
                    <a:lnT>
                      <a:noFill/>
                    </a:lnT>
                    <a:lnB>
                      <a:noFill/>
                    </a:lnB>
                  </a:tcPr>
                </a:tc>
                <a:tc>
                  <a:txBody>
                    <a:bodyPr/>
                    <a:lstStyle/>
                    <a:p>
                      <a:r>
                        <a:rPr lang="en-US"/>
                        <a:t>Move common validation logic into a shared subroutine</a:t>
                      </a:r>
                    </a:p>
                  </a:txBody>
                  <a:tcPr anchor="ctr">
                    <a:lnL>
                      <a:noFill/>
                    </a:lnL>
                    <a:lnR>
                      <a:noFill/>
                    </a:lnR>
                    <a:lnT>
                      <a:noFill/>
                    </a:lnT>
                    <a:lnB>
                      <a:noFill/>
                    </a:lnB>
                  </a:tcPr>
                </a:tc>
              </a:tr>
              <a:tr h="0">
                <a:tc>
                  <a:txBody>
                    <a:bodyPr/>
                    <a:lstStyle/>
                    <a:p>
                      <a:r>
                        <a:rPr lang="en-US" dirty="0" smtClean="0"/>
                        <a:t>D02</a:t>
                      </a:r>
                      <a:endParaRPr lang="en-US" dirty="0"/>
                    </a:p>
                  </a:txBody>
                  <a:tcPr anchor="ctr">
                    <a:lnL>
                      <a:noFill/>
                    </a:lnL>
                    <a:lnR>
                      <a:noFill/>
                    </a:lnR>
                    <a:lnT>
                      <a:noFill/>
                    </a:lnT>
                    <a:lnB>
                      <a:noFill/>
                    </a:lnB>
                  </a:tcPr>
                </a:tc>
                <a:tc>
                  <a:txBody>
                    <a:bodyPr/>
                    <a:lstStyle/>
                    <a:p>
                      <a:r>
                        <a:rPr lang="en-US"/>
                        <a:t>LNPOST.CBL, LNINTC.CBL</a:t>
                      </a:r>
                    </a:p>
                  </a:txBody>
                  <a:tcPr anchor="ctr">
                    <a:lnL>
                      <a:noFill/>
                    </a:lnL>
                    <a:lnR>
                      <a:noFill/>
                    </a:lnR>
                    <a:lnT>
                      <a:noFill/>
                    </a:lnT>
                    <a:lnB>
                      <a:noFill/>
                    </a:lnB>
                  </a:tcPr>
                </a:tc>
                <a:tc>
                  <a:txBody>
                    <a:bodyPr/>
                    <a:lstStyle/>
                    <a:p>
                      <a:r>
                        <a:rPr lang="en-US"/>
                        <a:t>42</a:t>
                      </a:r>
                    </a:p>
                  </a:txBody>
                  <a:tcPr anchor="ctr">
                    <a:lnL>
                      <a:noFill/>
                    </a:lnL>
                    <a:lnR>
                      <a:noFill/>
                    </a:lnR>
                    <a:lnT>
                      <a:noFill/>
                    </a:lnT>
                    <a:lnB>
                      <a:noFill/>
                    </a:lnB>
                  </a:tcPr>
                </a:tc>
                <a:tc>
                  <a:txBody>
                    <a:bodyPr/>
                    <a:lstStyle/>
                    <a:p>
                      <a:r>
                        <a:rPr lang="en-US"/>
                        <a:t>Extract loan interest calculation as a callable service</a:t>
                      </a:r>
                    </a:p>
                  </a:txBody>
                  <a:tcPr anchor="ctr">
                    <a:lnL>
                      <a:noFill/>
                    </a:lnL>
                    <a:lnR>
                      <a:noFill/>
                    </a:lnR>
                    <a:lnT>
                      <a:noFill/>
                    </a:lnT>
                    <a:lnB>
                      <a:noFill/>
                    </a:lnB>
                  </a:tcPr>
                </a:tc>
              </a:tr>
              <a:tr h="0">
                <a:tc>
                  <a:txBody>
                    <a:bodyPr/>
                    <a:lstStyle/>
                    <a:p>
                      <a:r>
                        <a:rPr lang="en-US" dirty="0" smtClean="0"/>
                        <a:t>D03</a:t>
                      </a:r>
                      <a:endParaRPr lang="en-US" dirty="0"/>
                    </a:p>
                  </a:txBody>
                  <a:tcPr anchor="ctr">
                    <a:lnL>
                      <a:noFill/>
                    </a:lnL>
                    <a:lnR>
                      <a:noFill/>
                    </a:lnR>
                    <a:lnT>
                      <a:noFill/>
                    </a:lnT>
                    <a:lnB>
                      <a:noFill/>
                    </a:lnB>
                  </a:tcPr>
                </a:tc>
                <a:tc>
                  <a:txBody>
                    <a:bodyPr/>
                    <a:lstStyle/>
                    <a:p>
                      <a:r>
                        <a:rPr lang="en-US"/>
                        <a:t>CUSREG.CBL, CUSBAL.CBL</a:t>
                      </a:r>
                    </a:p>
                  </a:txBody>
                  <a:tcPr anchor="ctr">
                    <a:lnL>
                      <a:noFill/>
                    </a:lnL>
                    <a:lnR>
                      <a:noFill/>
                    </a:lnR>
                    <a:lnT>
                      <a:noFill/>
                    </a:lnT>
                    <a:lnB>
                      <a:noFill/>
                    </a:lnB>
                  </a:tcPr>
                </a:tc>
                <a:tc>
                  <a:txBody>
                    <a:bodyPr/>
                    <a:lstStyle/>
                    <a:p>
                      <a:r>
                        <a:rPr lang="en-US"/>
                        <a:t>33</a:t>
                      </a:r>
                    </a:p>
                  </a:txBody>
                  <a:tcPr anchor="ctr">
                    <a:lnL>
                      <a:noFill/>
                    </a:lnL>
                    <a:lnR>
                      <a:noFill/>
                    </a:lnR>
                    <a:lnT>
                      <a:noFill/>
                    </a:lnT>
                    <a:lnB>
                      <a:noFill/>
                    </a:lnB>
                  </a:tcPr>
                </a:tc>
                <a:tc>
                  <a:txBody>
                    <a:bodyPr/>
                    <a:lstStyle/>
                    <a:p>
                      <a:r>
                        <a:rPr lang="en-US" dirty="0"/>
                        <a:t>Centralize customer info formatting routine</a:t>
                      </a:r>
                    </a:p>
                  </a:txBody>
                  <a:tcPr anchor="ctr">
                    <a:lnL>
                      <a:noFill/>
                    </a:lnL>
                    <a:lnR>
                      <a:noFill/>
                    </a:lnR>
                    <a:lnT>
                      <a:noFill/>
                    </a:lnT>
                    <a:lnB>
                      <a:noFill/>
                    </a:lnB>
                  </a:tcPr>
                </a:tc>
              </a:tr>
            </a:tbl>
          </a:graphicData>
        </a:graphic>
      </p:graphicFrame>
    </p:spTree>
    <p:extLst>
      <p:ext uri="{BB962C8B-B14F-4D97-AF65-F5344CB8AC3E}">
        <p14:creationId xmlns:p14="http://schemas.microsoft.com/office/powerpoint/2010/main" val="2887879951"/>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3. </a:t>
            </a:r>
            <a:r>
              <a:rPr lang="en-US" b="1" dirty="0"/>
              <a:t>Complexity Metrics</a:t>
            </a:r>
            <a:endParaRPr lang="en-US" dirty="0"/>
          </a:p>
        </p:txBody>
      </p:sp>
      <p:graphicFrame>
        <p:nvGraphicFramePr>
          <p:cNvPr id="5" name="Content Placeholder 4"/>
          <p:cNvGraphicFramePr>
            <a:graphicFrameLocks noGrp="1"/>
          </p:cNvGraphicFramePr>
          <p:nvPr>
            <p:ph idx="1"/>
            <p:extLst>
              <p:ext uri="{D42A27DB-BD31-4B8C-83A1-F6EECF244321}">
                <p14:modId xmlns:p14="http://schemas.microsoft.com/office/powerpoint/2010/main" val="4267917813"/>
              </p:ext>
            </p:extLst>
          </p:nvPr>
        </p:nvGraphicFramePr>
        <p:xfrm>
          <a:off x="335666" y="1574157"/>
          <a:ext cx="8090703" cy="3020992"/>
        </p:xfrm>
        <a:graphic>
          <a:graphicData uri="http://schemas.openxmlformats.org/drawingml/2006/table">
            <a:tbl>
              <a:tblPr/>
              <a:tblGrid>
                <a:gridCol w="3136739"/>
                <a:gridCol w="1620456"/>
                <a:gridCol w="3333508"/>
              </a:tblGrid>
              <a:tr h="549182">
                <a:tc>
                  <a:txBody>
                    <a:bodyPr/>
                    <a:lstStyle/>
                    <a:p>
                      <a:r>
                        <a:rPr lang="en-US" sz="1800" dirty="0"/>
                        <a:t>Metric</a:t>
                      </a:r>
                    </a:p>
                  </a:txBody>
                  <a:tcPr marL="65881" marR="65881" marT="32941" marB="32941" anchor="ctr">
                    <a:lnL>
                      <a:noFill/>
                    </a:lnL>
                    <a:lnR>
                      <a:noFill/>
                    </a:lnR>
                    <a:lnT>
                      <a:noFill/>
                    </a:lnT>
                    <a:lnB>
                      <a:noFill/>
                    </a:lnB>
                  </a:tcPr>
                </a:tc>
                <a:tc>
                  <a:txBody>
                    <a:bodyPr/>
                    <a:lstStyle/>
                    <a:p>
                      <a:r>
                        <a:rPr lang="en-US" sz="1800"/>
                        <a:t>Example Value</a:t>
                      </a:r>
                    </a:p>
                  </a:txBody>
                  <a:tcPr marL="65881" marR="65881" marT="32941" marB="32941" anchor="ctr">
                    <a:lnL>
                      <a:noFill/>
                    </a:lnL>
                    <a:lnR>
                      <a:noFill/>
                    </a:lnR>
                    <a:lnT>
                      <a:noFill/>
                    </a:lnT>
                    <a:lnB>
                      <a:noFill/>
                    </a:lnB>
                  </a:tcPr>
                </a:tc>
                <a:tc>
                  <a:txBody>
                    <a:bodyPr/>
                    <a:lstStyle/>
                    <a:p>
                      <a:r>
                        <a:rPr lang="en-US" sz="1800" dirty="0"/>
                        <a:t>Interpretation</a:t>
                      </a:r>
                    </a:p>
                  </a:txBody>
                  <a:tcPr marL="65881" marR="65881" marT="32941" marB="32941" anchor="ctr">
                    <a:lnL>
                      <a:noFill/>
                    </a:lnL>
                    <a:lnR>
                      <a:noFill/>
                    </a:lnR>
                    <a:lnT>
                      <a:noFill/>
                    </a:lnT>
                    <a:lnB>
                      <a:noFill/>
                    </a:lnB>
                  </a:tcPr>
                </a:tc>
              </a:tr>
              <a:tr h="961314">
                <a:tc>
                  <a:txBody>
                    <a:bodyPr/>
                    <a:lstStyle/>
                    <a:p>
                      <a:r>
                        <a:rPr lang="en-US" sz="1800" b="1" dirty="0"/>
                        <a:t>Average </a:t>
                      </a:r>
                      <a:r>
                        <a:rPr lang="en-US" sz="1800" b="1" dirty="0" err="1"/>
                        <a:t>Cyclomatic</a:t>
                      </a:r>
                      <a:r>
                        <a:rPr lang="en-US" sz="1800" b="1" dirty="0"/>
                        <a:t> Complexity:</a:t>
                      </a:r>
                      <a:endParaRPr lang="en-US" sz="1800" dirty="0"/>
                    </a:p>
                  </a:txBody>
                  <a:tcPr marL="65881" marR="65881" marT="32941" marB="32941" anchor="ctr">
                    <a:lnL>
                      <a:noFill/>
                    </a:lnL>
                    <a:lnR>
                      <a:noFill/>
                    </a:lnR>
                    <a:lnT>
                      <a:noFill/>
                    </a:lnT>
                    <a:lnB>
                      <a:noFill/>
                    </a:lnB>
                  </a:tcPr>
                </a:tc>
                <a:tc>
                  <a:txBody>
                    <a:bodyPr/>
                    <a:lstStyle/>
                    <a:p>
                      <a:r>
                        <a:rPr lang="en-US" sz="1800" dirty="0"/>
                        <a:t>18</a:t>
                      </a:r>
                    </a:p>
                  </a:txBody>
                  <a:tcPr marL="65881" marR="65881" marT="32941" marB="32941" anchor="ctr">
                    <a:lnL>
                      <a:noFill/>
                    </a:lnL>
                    <a:lnR>
                      <a:noFill/>
                    </a:lnR>
                    <a:lnT>
                      <a:noFill/>
                    </a:lnT>
                    <a:lnB>
                      <a:noFill/>
                    </a:lnB>
                  </a:tcPr>
                </a:tc>
                <a:tc>
                  <a:txBody>
                    <a:bodyPr/>
                    <a:lstStyle/>
                    <a:p>
                      <a:r>
                        <a:rPr lang="en-US" sz="1800"/>
                        <a:t>Higher than standard (10) — indicates tangled logic</a:t>
                      </a:r>
                    </a:p>
                  </a:txBody>
                  <a:tcPr marL="65881" marR="65881" marT="32941" marB="32941" anchor="ctr">
                    <a:lnL>
                      <a:noFill/>
                    </a:lnL>
                    <a:lnR>
                      <a:noFill/>
                    </a:lnR>
                    <a:lnT>
                      <a:noFill/>
                    </a:lnT>
                    <a:lnB>
                      <a:noFill/>
                    </a:lnB>
                  </a:tcPr>
                </a:tc>
              </a:tr>
              <a:tr h="549182">
                <a:tc>
                  <a:txBody>
                    <a:bodyPr/>
                    <a:lstStyle/>
                    <a:p>
                      <a:r>
                        <a:rPr lang="en-US" sz="1800" b="1"/>
                        <a:t>Maintainability Rating:</a:t>
                      </a:r>
                      <a:endParaRPr lang="en-US" sz="1800"/>
                    </a:p>
                  </a:txBody>
                  <a:tcPr marL="65881" marR="65881" marT="32941" marB="32941" anchor="ctr">
                    <a:lnL>
                      <a:noFill/>
                    </a:lnL>
                    <a:lnR>
                      <a:noFill/>
                    </a:lnR>
                    <a:lnT>
                      <a:noFill/>
                    </a:lnT>
                    <a:lnB>
                      <a:noFill/>
                    </a:lnB>
                  </a:tcPr>
                </a:tc>
                <a:tc>
                  <a:txBody>
                    <a:bodyPr/>
                    <a:lstStyle/>
                    <a:p>
                      <a:r>
                        <a:rPr lang="en-US" sz="1800" dirty="0"/>
                        <a:t>D</a:t>
                      </a:r>
                    </a:p>
                  </a:txBody>
                  <a:tcPr marL="65881" marR="65881" marT="32941" marB="32941" anchor="ctr">
                    <a:lnL>
                      <a:noFill/>
                    </a:lnL>
                    <a:lnR>
                      <a:noFill/>
                    </a:lnR>
                    <a:lnT>
                      <a:noFill/>
                    </a:lnT>
                    <a:lnB>
                      <a:noFill/>
                    </a:lnB>
                  </a:tcPr>
                </a:tc>
                <a:tc>
                  <a:txBody>
                    <a:bodyPr/>
                    <a:lstStyle/>
                    <a:p>
                      <a:r>
                        <a:rPr lang="en-US" sz="1800" dirty="0"/>
                        <a:t>Large refactoring needed</a:t>
                      </a:r>
                    </a:p>
                  </a:txBody>
                  <a:tcPr marL="65881" marR="65881" marT="32941" marB="32941" anchor="ctr">
                    <a:lnL>
                      <a:noFill/>
                    </a:lnL>
                    <a:lnR>
                      <a:noFill/>
                    </a:lnR>
                    <a:lnT>
                      <a:noFill/>
                    </a:lnT>
                    <a:lnB>
                      <a:noFill/>
                    </a:lnB>
                  </a:tcPr>
                </a:tc>
              </a:tr>
              <a:tr h="961314">
                <a:tc>
                  <a:txBody>
                    <a:bodyPr/>
                    <a:lstStyle/>
                    <a:p>
                      <a:r>
                        <a:rPr lang="en-US" sz="1800" b="1"/>
                        <a:t>Technical Debt (estimated):</a:t>
                      </a:r>
                      <a:endParaRPr lang="en-US" sz="1800"/>
                    </a:p>
                  </a:txBody>
                  <a:tcPr marL="65881" marR="65881" marT="32941" marB="32941" anchor="ctr">
                    <a:lnL>
                      <a:noFill/>
                    </a:lnL>
                    <a:lnR>
                      <a:noFill/>
                    </a:lnR>
                    <a:lnT>
                      <a:noFill/>
                    </a:lnT>
                    <a:lnB>
                      <a:noFill/>
                    </a:lnB>
                  </a:tcPr>
                </a:tc>
                <a:tc>
                  <a:txBody>
                    <a:bodyPr/>
                    <a:lstStyle/>
                    <a:p>
                      <a:r>
                        <a:rPr lang="en-US" sz="1800"/>
                        <a:t>230 days</a:t>
                      </a:r>
                    </a:p>
                  </a:txBody>
                  <a:tcPr marL="65881" marR="65881" marT="32941" marB="32941" anchor="ctr">
                    <a:lnL>
                      <a:noFill/>
                    </a:lnL>
                    <a:lnR>
                      <a:noFill/>
                    </a:lnR>
                    <a:lnT>
                      <a:noFill/>
                    </a:lnT>
                    <a:lnB>
                      <a:noFill/>
                    </a:lnB>
                  </a:tcPr>
                </a:tc>
                <a:tc>
                  <a:txBody>
                    <a:bodyPr/>
                    <a:lstStyle/>
                    <a:p>
                      <a:r>
                        <a:rPr lang="en-US" sz="1800" dirty="0"/>
                        <a:t>Time to fix all issues and smells</a:t>
                      </a:r>
                    </a:p>
                  </a:txBody>
                  <a:tcPr marL="65881" marR="65881" marT="32941" marB="32941" anchor="ctr">
                    <a:lnL>
                      <a:noFill/>
                    </a:lnL>
                    <a:lnR>
                      <a:noFill/>
                    </a:lnR>
                    <a:lnT>
                      <a:noFill/>
                    </a:lnT>
                    <a:lnB>
                      <a:noFill/>
                    </a:lnB>
                  </a:tcPr>
                </a:tc>
              </a:tr>
            </a:tbl>
          </a:graphicData>
        </a:graphic>
      </p:graphicFrame>
      <p:sp>
        <p:nvSpPr>
          <p:cNvPr id="6" name="Rectangle 5"/>
          <p:cNvSpPr/>
          <p:nvPr/>
        </p:nvSpPr>
        <p:spPr>
          <a:xfrm>
            <a:off x="335665" y="4749440"/>
            <a:ext cx="6585995" cy="1200329"/>
          </a:xfrm>
          <a:prstGeom prst="rect">
            <a:avLst/>
          </a:prstGeom>
        </p:spPr>
        <p:txBody>
          <a:bodyPr wrap="square">
            <a:spAutoFit/>
          </a:bodyPr>
          <a:lstStyle/>
          <a:p>
            <a:r>
              <a:rPr lang="en-US" b="1" dirty="0" err="1"/>
              <a:t>SonarQube</a:t>
            </a:r>
            <a:r>
              <a:rPr lang="en-US" b="1" dirty="0"/>
              <a:t> Dashboard View (</a:t>
            </a:r>
            <a:r>
              <a:rPr lang="en-US" b="1" dirty="0" smtClean="0"/>
              <a:t>Conceptual) Modules:</a:t>
            </a:r>
          </a:p>
          <a:p>
            <a:pPr marL="285750" indent="-285750">
              <a:buFont typeface="Arial" panose="020B0604020202020204" pitchFamily="34" charset="0"/>
              <a:buChar char="•"/>
            </a:pPr>
            <a:r>
              <a:rPr lang="en-US" dirty="0" smtClean="0"/>
              <a:t>ACCTMGMT— </a:t>
            </a:r>
            <a:r>
              <a:rPr lang="en-US" dirty="0"/>
              <a:t>45 issues, 10% </a:t>
            </a:r>
            <a:r>
              <a:rPr lang="en-US" dirty="0" smtClean="0"/>
              <a:t>duplication</a:t>
            </a:r>
          </a:p>
          <a:p>
            <a:pPr marL="285750" indent="-285750">
              <a:buFont typeface="Arial" panose="020B0604020202020204" pitchFamily="34" charset="0"/>
              <a:buChar char="•"/>
            </a:pPr>
            <a:r>
              <a:rPr lang="en-US" dirty="0"/>
              <a:t>LOANPROC— 88 issues, 15% </a:t>
            </a:r>
            <a:r>
              <a:rPr lang="en-US" dirty="0" smtClean="0"/>
              <a:t>duplication</a:t>
            </a:r>
          </a:p>
          <a:p>
            <a:pPr marL="285750" indent="-285750">
              <a:buFont typeface="Arial" panose="020B0604020202020204" pitchFamily="34" charset="0"/>
              <a:buChar char="•"/>
            </a:pPr>
            <a:r>
              <a:rPr lang="en-US" dirty="0"/>
              <a:t>TRANPOST— 30 issues, 8% duplication</a:t>
            </a:r>
          </a:p>
        </p:txBody>
      </p:sp>
    </p:spTree>
    <p:extLst>
      <p:ext uri="{BB962C8B-B14F-4D97-AF65-F5344CB8AC3E}">
        <p14:creationId xmlns:p14="http://schemas.microsoft.com/office/powerpoint/2010/main" val="2561227994"/>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a:t>Top Code Smells (Severity Critical</a:t>
            </a:r>
            <a:r>
              <a:rPr lang="en-US" dirty="0" smtClean="0"/>
              <a:t>):</a:t>
            </a:r>
          </a:p>
          <a:p>
            <a:pPr lvl="1"/>
            <a:r>
              <a:rPr lang="en-US" dirty="0"/>
              <a:t>Hard-coded business </a:t>
            </a:r>
            <a:r>
              <a:rPr lang="en-US" dirty="0" smtClean="0"/>
              <a:t>constants</a:t>
            </a:r>
          </a:p>
          <a:p>
            <a:pPr lvl="1"/>
            <a:r>
              <a:rPr lang="en-US" dirty="0"/>
              <a:t>Copy-pasted validation </a:t>
            </a:r>
            <a:r>
              <a:rPr lang="en-US" dirty="0" smtClean="0"/>
              <a:t>logic</a:t>
            </a:r>
          </a:p>
          <a:p>
            <a:pPr lvl="1"/>
            <a:r>
              <a:rPr lang="en-US" dirty="0"/>
              <a:t>Overly long </a:t>
            </a:r>
            <a:r>
              <a:rPr lang="en-US" dirty="0" smtClean="0"/>
              <a:t>paragraphs</a:t>
            </a:r>
          </a:p>
          <a:p>
            <a:pPr lvl="1"/>
            <a:r>
              <a:rPr lang="en-US" dirty="0"/>
              <a:t>Deprecated COBOL verbs (e.g., ALTER)</a:t>
            </a:r>
          </a:p>
          <a:p>
            <a:endParaRPr lang="en-US" dirty="0"/>
          </a:p>
        </p:txBody>
      </p:sp>
    </p:spTree>
    <p:extLst>
      <p:ext uri="{BB962C8B-B14F-4D97-AF65-F5344CB8AC3E}">
        <p14:creationId xmlns:p14="http://schemas.microsoft.com/office/powerpoint/2010/main" val="2614285360"/>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75304" y="1883664"/>
            <a:ext cx="9206398" cy="4974336"/>
          </a:xfrm>
          <a:prstGeom prst="rect">
            <a:avLst/>
          </a:prstGeom>
        </p:spPr>
      </p:pic>
      <p:sp>
        <p:nvSpPr>
          <p:cNvPr id="3" name="Rectangle 2"/>
          <p:cNvSpPr/>
          <p:nvPr/>
        </p:nvSpPr>
        <p:spPr>
          <a:xfrm>
            <a:off x="392834" y="697158"/>
            <a:ext cx="7758984" cy="646331"/>
          </a:xfrm>
          <a:prstGeom prst="rect">
            <a:avLst/>
          </a:prstGeom>
        </p:spPr>
        <p:txBody>
          <a:bodyPr wrap="none">
            <a:spAutoFit/>
          </a:bodyPr>
          <a:lstStyle/>
          <a:p>
            <a:r>
              <a:rPr lang="en-US" sz="3600" dirty="0"/>
              <a:t>ER </a:t>
            </a:r>
            <a:r>
              <a:rPr lang="en-US" sz="3600" dirty="0" smtClean="0"/>
              <a:t>diagram of accounts and transactions</a:t>
            </a:r>
            <a:endParaRPr lang="en-US" sz="3600" dirty="0"/>
          </a:p>
        </p:txBody>
      </p:sp>
    </p:spTree>
    <p:extLst>
      <p:ext uri="{BB962C8B-B14F-4D97-AF65-F5344CB8AC3E}">
        <p14:creationId xmlns:p14="http://schemas.microsoft.com/office/powerpoint/2010/main" val="2506721928"/>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0607" y="274638"/>
            <a:ext cx="8853544" cy="1143000"/>
          </a:xfrm>
        </p:spPr>
        <p:txBody>
          <a:bodyPr>
            <a:normAutofit fontScale="90000"/>
          </a:bodyPr>
          <a:lstStyle/>
          <a:p>
            <a:r>
              <a:rPr lang="en-US" b="1" dirty="0"/>
              <a:t>Maintainability and Risk Report</a:t>
            </a:r>
            <a:r>
              <a:rPr lang="en-US" dirty="0"/>
              <a:t> using </a:t>
            </a:r>
            <a:r>
              <a:rPr lang="en-US" b="1" dirty="0"/>
              <a:t>CAST Application Intelligence Platform (AIP)</a:t>
            </a:r>
            <a:endParaRPr lang="en-US" dirty="0"/>
          </a:p>
        </p:txBody>
      </p:sp>
      <p:sp>
        <p:nvSpPr>
          <p:cNvPr id="3" name="Content Placeholder 2"/>
          <p:cNvSpPr>
            <a:spLocks noGrp="1"/>
          </p:cNvSpPr>
          <p:nvPr>
            <p:ph idx="1"/>
          </p:nvPr>
        </p:nvSpPr>
        <p:spPr/>
        <p:txBody>
          <a:bodyPr>
            <a:normAutofit fontScale="85000" lnSpcReduction="20000"/>
          </a:bodyPr>
          <a:lstStyle/>
          <a:p>
            <a:pPr marL="0" indent="0">
              <a:buNone/>
            </a:pPr>
            <a:r>
              <a:rPr lang="en-US" dirty="0"/>
              <a:t>Objective of Reporting </a:t>
            </a:r>
            <a:r>
              <a:rPr lang="en-US" dirty="0" smtClean="0"/>
              <a:t>Phase</a:t>
            </a:r>
          </a:p>
          <a:p>
            <a:pPr algn="just"/>
            <a:r>
              <a:rPr lang="en-US" dirty="0"/>
              <a:t>The </a:t>
            </a:r>
            <a:r>
              <a:rPr lang="en-US" b="1" dirty="0"/>
              <a:t>Reporting phase</a:t>
            </a:r>
            <a:r>
              <a:rPr lang="en-US" dirty="0"/>
              <a:t> translates static analysis and architectural data into </a:t>
            </a:r>
            <a:r>
              <a:rPr lang="en-US" b="1" dirty="0"/>
              <a:t>quantitative software quality metrics</a:t>
            </a:r>
            <a:r>
              <a:rPr lang="en-US" dirty="0"/>
              <a:t>.</a:t>
            </a:r>
            <a:br>
              <a:rPr lang="en-US" dirty="0"/>
            </a:br>
            <a:r>
              <a:rPr lang="en-US" dirty="0"/>
              <a:t>CAST AIP automates this process by analyzing COBOL source code, copybooks, JCLs, DB2 schemas, and other system artifacts to measure </a:t>
            </a:r>
            <a:r>
              <a:rPr lang="en-US" b="1" dirty="0"/>
              <a:t>maintainability</a:t>
            </a:r>
            <a:r>
              <a:rPr lang="en-US" dirty="0"/>
              <a:t>, </a:t>
            </a:r>
            <a:r>
              <a:rPr lang="en-US" b="1" dirty="0"/>
              <a:t>complexity</a:t>
            </a:r>
            <a:r>
              <a:rPr lang="en-US" dirty="0"/>
              <a:t>, and </a:t>
            </a:r>
            <a:r>
              <a:rPr lang="en-US" b="1" dirty="0"/>
              <a:t>risk exposure</a:t>
            </a:r>
            <a:r>
              <a:rPr lang="en-US" dirty="0" smtClean="0"/>
              <a:t>.</a:t>
            </a:r>
          </a:p>
          <a:p>
            <a:pPr marL="0" indent="0" algn="just">
              <a:buNone/>
            </a:pPr>
            <a:r>
              <a:rPr lang="en-US" dirty="0"/>
              <a:t>Tools </a:t>
            </a:r>
            <a:r>
              <a:rPr lang="en-US" dirty="0" smtClean="0"/>
              <a:t>Used</a:t>
            </a:r>
          </a:p>
          <a:p>
            <a:pPr algn="just"/>
            <a:r>
              <a:rPr lang="en-US" b="1" dirty="0"/>
              <a:t>Tool:</a:t>
            </a:r>
            <a:r>
              <a:rPr lang="en-US" dirty="0"/>
              <a:t> CAST AIP (Application Intelligence Platform)</a:t>
            </a:r>
            <a:br>
              <a:rPr lang="en-US" dirty="0"/>
            </a:br>
            <a:r>
              <a:rPr lang="en-US" b="1" dirty="0"/>
              <a:t>Purpose:</a:t>
            </a:r>
            <a:r>
              <a:rPr lang="en-US" dirty="0"/>
              <a:t> Generate </a:t>
            </a:r>
            <a:r>
              <a:rPr lang="en-US" b="1" dirty="0"/>
              <a:t>software quality dashboards</a:t>
            </a:r>
            <a:r>
              <a:rPr lang="en-US" dirty="0"/>
              <a:t> and </a:t>
            </a:r>
            <a:r>
              <a:rPr lang="en-US" b="1" dirty="0"/>
              <a:t>risk assessment reports</a:t>
            </a:r>
            <a:r>
              <a:rPr lang="en-US" dirty="0"/>
              <a:t> from static analysis data.</a:t>
            </a:r>
          </a:p>
        </p:txBody>
      </p:sp>
    </p:spTree>
    <p:extLst>
      <p:ext uri="{BB962C8B-B14F-4D97-AF65-F5344CB8AC3E}">
        <p14:creationId xmlns:p14="http://schemas.microsoft.com/office/powerpoint/2010/main" val="774429249"/>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87940"/>
            <a:ext cx="8229600" cy="1143000"/>
          </a:xfrm>
        </p:spPr>
        <p:txBody>
          <a:bodyPr/>
          <a:lstStyle/>
          <a:p>
            <a:r>
              <a:rPr lang="en-US" dirty="0"/>
              <a:t>Process Overview</a:t>
            </a: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490901073"/>
              </p:ext>
            </p:extLst>
          </p:nvPr>
        </p:nvGraphicFramePr>
        <p:xfrm>
          <a:off x="204396" y="1231879"/>
          <a:ext cx="8724450" cy="5517664"/>
        </p:xfrm>
        <a:graphic>
          <a:graphicData uri="http://schemas.openxmlformats.org/drawingml/2006/table">
            <a:tbl>
              <a:tblPr/>
              <a:tblGrid>
                <a:gridCol w="580912"/>
                <a:gridCol w="2560320"/>
                <a:gridCol w="5583218"/>
              </a:tblGrid>
              <a:tr h="232609">
                <a:tc>
                  <a:txBody>
                    <a:bodyPr/>
                    <a:lstStyle/>
                    <a:p>
                      <a:r>
                        <a:rPr lang="en-US" sz="2000" b="1" dirty="0"/>
                        <a:t>Step</a:t>
                      </a:r>
                    </a:p>
                  </a:txBody>
                  <a:tcPr marL="49736" marR="49736" marT="24868" marB="24868" anchor="ctr">
                    <a:lnL>
                      <a:noFill/>
                    </a:lnL>
                    <a:lnR>
                      <a:noFill/>
                    </a:lnR>
                    <a:lnT>
                      <a:noFill/>
                    </a:lnT>
                    <a:lnB>
                      <a:noFill/>
                    </a:lnB>
                  </a:tcPr>
                </a:tc>
                <a:tc>
                  <a:txBody>
                    <a:bodyPr/>
                    <a:lstStyle/>
                    <a:p>
                      <a:r>
                        <a:rPr lang="en-US" sz="2000" b="1"/>
                        <a:t>Activity</a:t>
                      </a:r>
                    </a:p>
                  </a:txBody>
                  <a:tcPr marL="49736" marR="49736" marT="24868" marB="24868" anchor="ctr">
                    <a:lnL>
                      <a:noFill/>
                    </a:lnL>
                    <a:lnR>
                      <a:noFill/>
                    </a:lnR>
                    <a:lnT>
                      <a:noFill/>
                    </a:lnT>
                    <a:lnB>
                      <a:noFill/>
                    </a:lnB>
                  </a:tcPr>
                </a:tc>
                <a:tc>
                  <a:txBody>
                    <a:bodyPr/>
                    <a:lstStyle/>
                    <a:p>
                      <a:r>
                        <a:rPr lang="en-US" sz="2000" b="1" dirty="0"/>
                        <a:t>Description</a:t>
                      </a:r>
                    </a:p>
                  </a:txBody>
                  <a:tcPr marL="49736" marR="49736" marT="24868" marB="24868" anchor="ctr">
                    <a:lnL>
                      <a:noFill/>
                    </a:lnL>
                    <a:lnR>
                      <a:noFill/>
                    </a:lnR>
                    <a:lnT>
                      <a:noFill/>
                    </a:lnT>
                    <a:lnB>
                      <a:noFill/>
                    </a:lnB>
                  </a:tcPr>
                </a:tc>
              </a:tr>
              <a:tr h="744039">
                <a:tc>
                  <a:txBody>
                    <a:bodyPr/>
                    <a:lstStyle/>
                    <a:p>
                      <a:r>
                        <a:rPr lang="en-US" sz="2000" dirty="0"/>
                        <a:t>1</a:t>
                      </a:r>
                    </a:p>
                  </a:txBody>
                  <a:tcPr marL="49736" marR="49736" marT="24868" marB="24868" anchor="ctr">
                    <a:lnL>
                      <a:noFill/>
                    </a:lnL>
                    <a:lnR>
                      <a:noFill/>
                    </a:lnR>
                    <a:lnT>
                      <a:noFill/>
                    </a:lnT>
                    <a:lnB>
                      <a:noFill/>
                    </a:lnB>
                  </a:tcPr>
                </a:tc>
                <a:tc>
                  <a:txBody>
                    <a:bodyPr/>
                    <a:lstStyle/>
                    <a:p>
                      <a:r>
                        <a:rPr lang="en-US" sz="2000" b="1" dirty="0"/>
                        <a:t>Code Upload and Analysis</a:t>
                      </a:r>
                      <a:endParaRPr lang="en-US" sz="2000" dirty="0"/>
                    </a:p>
                  </a:txBody>
                  <a:tcPr marL="49736" marR="49736" marT="24868" marB="24868" anchor="ctr">
                    <a:lnL>
                      <a:noFill/>
                    </a:lnL>
                    <a:lnR>
                      <a:noFill/>
                    </a:lnR>
                    <a:lnT>
                      <a:noFill/>
                    </a:lnT>
                    <a:lnB>
                      <a:noFill/>
                    </a:lnB>
                  </a:tcPr>
                </a:tc>
                <a:tc>
                  <a:txBody>
                    <a:bodyPr/>
                    <a:lstStyle/>
                    <a:p>
                      <a:r>
                        <a:rPr lang="en-US" sz="2000" dirty="0"/>
                        <a:t>COBOL, copybooks, and DB2 schema files are scanned. CAST builds a meta-model of the system.</a:t>
                      </a:r>
                    </a:p>
                  </a:txBody>
                  <a:tcPr marL="49736" marR="49736" marT="24868" marB="24868" anchor="ctr">
                    <a:lnL>
                      <a:noFill/>
                    </a:lnL>
                    <a:lnR>
                      <a:noFill/>
                    </a:lnR>
                    <a:lnT>
                      <a:noFill/>
                    </a:lnT>
                    <a:lnB>
                      <a:noFill/>
                    </a:lnB>
                  </a:tcPr>
                </a:tc>
              </a:tr>
              <a:tr h="1087442">
                <a:tc>
                  <a:txBody>
                    <a:bodyPr/>
                    <a:lstStyle/>
                    <a:p>
                      <a:r>
                        <a:rPr lang="en-US" sz="2000"/>
                        <a:t>2</a:t>
                      </a:r>
                    </a:p>
                  </a:txBody>
                  <a:tcPr marL="49736" marR="49736" marT="24868" marB="24868" anchor="ctr">
                    <a:lnL>
                      <a:noFill/>
                    </a:lnL>
                    <a:lnR>
                      <a:noFill/>
                    </a:lnR>
                    <a:lnT>
                      <a:noFill/>
                    </a:lnT>
                    <a:lnB>
                      <a:noFill/>
                    </a:lnB>
                  </a:tcPr>
                </a:tc>
                <a:tc>
                  <a:txBody>
                    <a:bodyPr/>
                    <a:lstStyle/>
                    <a:p>
                      <a:r>
                        <a:rPr lang="en-US" sz="2000" b="1" dirty="0"/>
                        <a:t>Quality Rule Execution</a:t>
                      </a:r>
                      <a:endParaRPr lang="en-US" sz="2000" dirty="0"/>
                    </a:p>
                  </a:txBody>
                  <a:tcPr marL="49736" marR="49736" marT="24868" marB="24868" anchor="ctr">
                    <a:lnL>
                      <a:noFill/>
                    </a:lnL>
                    <a:lnR>
                      <a:noFill/>
                    </a:lnR>
                    <a:lnT>
                      <a:noFill/>
                    </a:lnT>
                    <a:lnB>
                      <a:noFill/>
                    </a:lnB>
                  </a:tcPr>
                </a:tc>
                <a:tc>
                  <a:txBody>
                    <a:bodyPr/>
                    <a:lstStyle/>
                    <a:p>
                      <a:r>
                        <a:rPr lang="en-US" sz="2000" dirty="0"/>
                        <a:t>CAST runs 600+ built-in rules detecting violations such as dead code, complex procedures, missing error handling, and data coupling.</a:t>
                      </a:r>
                    </a:p>
                  </a:txBody>
                  <a:tcPr marL="49736" marR="49736" marT="24868" marB="24868" anchor="ctr">
                    <a:lnL>
                      <a:noFill/>
                    </a:lnL>
                    <a:lnR>
                      <a:noFill/>
                    </a:lnR>
                    <a:lnT>
                      <a:noFill/>
                    </a:lnT>
                    <a:lnB>
                      <a:noFill/>
                    </a:lnB>
                  </a:tcPr>
                </a:tc>
              </a:tr>
              <a:tr h="915741">
                <a:tc>
                  <a:txBody>
                    <a:bodyPr/>
                    <a:lstStyle/>
                    <a:p>
                      <a:r>
                        <a:rPr lang="en-US" sz="2000"/>
                        <a:t>3</a:t>
                      </a:r>
                    </a:p>
                  </a:txBody>
                  <a:tcPr marL="49736" marR="49736" marT="24868" marB="24868" anchor="ctr">
                    <a:lnL>
                      <a:noFill/>
                    </a:lnL>
                    <a:lnR>
                      <a:noFill/>
                    </a:lnR>
                    <a:lnT>
                      <a:noFill/>
                    </a:lnT>
                    <a:lnB>
                      <a:noFill/>
                    </a:lnB>
                  </a:tcPr>
                </a:tc>
                <a:tc>
                  <a:txBody>
                    <a:bodyPr/>
                    <a:lstStyle/>
                    <a:p>
                      <a:r>
                        <a:rPr lang="en-US" sz="2000" b="1" dirty="0"/>
                        <a:t>Metric Calculation</a:t>
                      </a:r>
                      <a:endParaRPr lang="en-US" sz="2000" dirty="0"/>
                    </a:p>
                  </a:txBody>
                  <a:tcPr marL="49736" marR="49736" marT="24868" marB="24868" anchor="ctr">
                    <a:lnL>
                      <a:noFill/>
                    </a:lnL>
                    <a:lnR>
                      <a:noFill/>
                    </a:lnR>
                    <a:lnT>
                      <a:noFill/>
                    </a:lnT>
                    <a:lnB>
                      <a:noFill/>
                    </a:lnB>
                  </a:tcPr>
                </a:tc>
                <a:tc>
                  <a:txBody>
                    <a:bodyPr/>
                    <a:lstStyle/>
                    <a:p>
                      <a:r>
                        <a:rPr lang="en-US" sz="2000" dirty="0"/>
                        <a:t>Metrics like </a:t>
                      </a:r>
                      <a:r>
                        <a:rPr lang="en-US" sz="2000" dirty="0" err="1"/>
                        <a:t>Cyclomatic</a:t>
                      </a:r>
                      <a:r>
                        <a:rPr lang="en-US" sz="2000" dirty="0"/>
                        <a:t> Complexity, Comment Density, Fan-In/Fan-Out, and Change Propagation are calculated.</a:t>
                      </a:r>
                    </a:p>
                  </a:txBody>
                  <a:tcPr marL="49736" marR="49736" marT="24868" marB="24868" anchor="ctr">
                    <a:lnL>
                      <a:noFill/>
                    </a:lnL>
                    <a:lnR>
                      <a:noFill/>
                    </a:lnR>
                    <a:lnT>
                      <a:noFill/>
                    </a:lnT>
                    <a:lnB>
                      <a:noFill/>
                    </a:lnB>
                  </a:tcPr>
                </a:tc>
              </a:tr>
              <a:tr h="744039">
                <a:tc>
                  <a:txBody>
                    <a:bodyPr/>
                    <a:lstStyle/>
                    <a:p>
                      <a:r>
                        <a:rPr lang="en-US" sz="2000"/>
                        <a:t>4</a:t>
                      </a:r>
                    </a:p>
                  </a:txBody>
                  <a:tcPr marL="49736" marR="49736" marT="24868" marB="24868" anchor="ctr">
                    <a:lnL>
                      <a:noFill/>
                    </a:lnL>
                    <a:lnR>
                      <a:noFill/>
                    </a:lnR>
                    <a:lnT>
                      <a:noFill/>
                    </a:lnT>
                    <a:lnB>
                      <a:noFill/>
                    </a:lnB>
                  </a:tcPr>
                </a:tc>
                <a:tc>
                  <a:txBody>
                    <a:bodyPr/>
                    <a:lstStyle/>
                    <a:p>
                      <a:r>
                        <a:rPr lang="en-US" sz="2000" b="1"/>
                        <a:t>Quality Indicators</a:t>
                      </a:r>
                      <a:endParaRPr lang="en-US" sz="2000"/>
                    </a:p>
                  </a:txBody>
                  <a:tcPr marL="49736" marR="49736" marT="24868" marB="24868" anchor="ctr">
                    <a:lnL>
                      <a:noFill/>
                    </a:lnL>
                    <a:lnR>
                      <a:noFill/>
                    </a:lnR>
                    <a:lnT>
                      <a:noFill/>
                    </a:lnT>
                    <a:lnB>
                      <a:noFill/>
                    </a:lnB>
                  </a:tcPr>
                </a:tc>
                <a:tc>
                  <a:txBody>
                    <a:bodyPr/>
                    <a:lstStyle/>
                    <a:p>
                      <a:r>
                        <a:rPr lang="en-US" sz="2000" dirty="0"/>
                        <a:t>CAST computes ISO/IEC 5055 indices — </a:t>
                      </a:r>
                      <a:r>
                        <a:rPr lang="en-US" sz="2000" b="1" dirty="0"/>
                        <a:t>Maintainability</a:t>
                      </a:r>
                      <a:r>
                        <a:rPr lang="en-US" sz="2000" dirty="0"/>
                        <a:t>, </a:t>
                      </a:r>
                      <a:r>
                        <a:rPr lang="en-US" sz="2000" b="1" dirty="0"/>
                        <a:t>Efficiency</a:t>
                      </a:r>
                      <a:r>
                        <a:rPr lang="en-US" sz="2000" dirty="0"/>
                        <a:t>, </a:t>
                      </a:r>
                      <a:r>
                        <a:rPr lang="en-US" sz="2000" b="1" dirty="0"/>
                        <a:t>Reliability</a:t>
                      </a:r>
                      <a:r>
                        <a:rPr lang="en-US" sz="2000" dirty="0"/>
                        <a:t>, and </a:t>
                      </a:r>
                      <a:r>
                        <a:rPr lang="en-US" sz="2000" b="1" dirty="0"/>
                        <a:t>Security</a:t>
                      </a:r>
                      <a:r>
                        <a:rPr lang="en-US" sz="2000" dirty="0"/>
                        <a:t>.</a:t>
                      </a:r>
                    </a:p>
                  </a:txBody>
                  <a:tcPr marL="49736" marR="49736" marT="24868" marB="24868" anchor="ctr">
                    <a:lnL>
                      <a:noFill/>
                    </a:lnL>
                    <a:lnR>
                      <a:noFill/>
                    </a:lnR>
                    <a:lnT>
                      <a:noFill/>
                    </a:lnT>
                    <a:lnB>
                      <a:noFill/>
                    </a:lnB>
                  </a:tcPr>
                </a:tc>
              </a:tr>
              <a:tr h="915741">
                <a:tc>
                  <a:txBody>
                    <a:bodyPr/>
                    <a:lstStyle/>
                    <a:p>
                      <a:r>
                        <a:rPr lang="en-US" sz="2000"/>
                        <a:t>5</a:t>
                      </a:r>
                    </a:p>
                  </a:txBody>
                  <a:tcPr marL="49736" marR="49736" marT="24868" marB="24868" anchor="ctr">
                    <a:lnL>
                      <a:noFill/>
                    </a:lnL>
                    <a:lnR>
                      <a:noFill/>
                    </a:lnR>
                    <a:lnT>
                      <a:noFill/>
                    </a:lnT>
                    <a:lnB>
                      <a:noFill/>
                    </a:lnB>
                  </a:tcPr>
                </a:tc>
                <a:tc>
                  <a:txBody>
                    <a:bodyPr/>
                    <a:lstStyle/>
                    <a:p>
                      <a:r>
                        <a:rPr lang="en-US" sz="2000" b="1"/>
                        <a:t>Risk Modeling</a:t>
                      </a:r>
                      <a:endParaRPr lang="en-US" sz="2000"/>
                    </a:p>
                  </a:txBody>
                  <a:tcPr marL="49736" marR="49736" marT="24868" marB="24868" anchor="ctr">
                    <a:lnL>
                      <a:noFill/>
                    </a:lnL>
                    <a:lnR>
                      <a:noFill/>
                    </a:lnR>
                    <a:lnT>
                      <a:noFill/>
                    </a:lnT>
                    <a:lnB>
                      <a:noFill/>
                    </a:lnB>
                  </a:tcPr>
                </a:tc>
                <a:tc>
                  <a:txBody>
                    <a:bodyPr/>
                    <a:lstStyle/>
                    <a:p>
                      <a:r>
                        <a:rPr lang="en-US" sz="2000" dirty="0"/>
                        <a:t>CAST AIP identifies risk patterns such as data anomalies, duplicate logic, and tightly coupled modules.</a:t>
                      </a:r>
                    </a:p>
                  </a:txBody>
                  <a:tcPr marL="49736" marR="49736" marT="24868" marB="24868" anchor="ctr">
                    <a:lnL>
                      <a:noFill/>
                    </a:lnL>
                    <a:lnR>
                      <a:noFill/>
                    </a:lnR>
                    <a:lnT>
                      <a:noFill/>
                    </a:lnT>
                    <a:lnB>
                      <a:noFill/>
                    </a:lnB>
                  </a:tcPr>
                </a:tc>
              </a:tr>
              <a:tr h="572338">
                <a:tc>
                  <a:txBody>
                    <a:bodyPr/>
                    <a:lstStyle/>
                    <a:p>
                      <a:r>
                        <a:rPr lang="en-US" sz="2000"/>
                        <a:t>6</a:t>
                      </a:r>
                    </a:p>
                  </a:txBody>
                  <a:tcPr marL="49736" marR="49736" marT="24868" marB="24868" anchor="ctr">
                    <a:lnL>
                      <a:noFill/>
                    </a:lnL>
                    <a:lnR>
                      <a:noFill/>
                    </a:lnR>
                    <a:lnT>
                      <a:noFill/>
                    </a:lnT>
                    <a:lnB>
                      <a:noFill/>
                    </a:lnB>
                  </a:tcPr>
                </a:tc>
                <a:tc>
                  <a:txBody>
                    <a:bodyPr/>
                    <a:lstStyle/>
                    <a:p>
                      <a:r>
                        <a:rPr lang="en-US" sz="2000" b="1"/>
                        <a:t>Report Generation</a:t>
                      </a:r>
                      <a:endParaRPr lang="en-US" sz="2000"/>
                    </a:p>
                  </a:txBody>
                  <a:tcPr marL="49736" marR="49736" marT="24868" marB="24868" anchor="ctr">
                    <a:lnL>
                      <a:noFill/>
                    </a:lnL>
                    <a:lnR>
                      <a:noFill/>
                    </a:lnR>
                    <a:lnT>
                      <a:noFill/>
                    </a:lnT>
                    <a:lnB>
                      <a:noFill/>
                    </a:lnB>
                  </a:tcPr>
                </a:tc>
                <a:tc>
                  <a:txBody>
                    <a:bodyPr/>
                    <a:lstStyle/>
                    <a:p>
                      <a:r>
                        <a:rPr lang="en-US" sz="2000" dirty="0"/>
                        <a:t>CAST dashboards and PDF/Excel reports summarize findings.</a:t>
                      </a:r>
                    </a:p>
                  </a:txBody>
                  <a:tcPr marL="49736" marR="49736" marT="24868" marB="24868" anchor="ctr">
                    <a:lnL>
                      <a:noFill/>
                    </a:lnL>
                    <a:lnR>
                      <a:noFill/>
                    </a:lnR>
                    <a:lnT>
                      <a:noFill/>
                    </a:lnT>
                    <a:lnB>
                      <a:noFill/>
                    </a:lnB>
                  </a:tcPr>
                </a:tc>
              </a:tr>
            </a:tbl>
          </a:graphicData>
        </a:graphic>
      </p:graphicFrame>
    </p:spTree>
    <p:extLst>
      <p:ext uri="{BB962C8B-B14F-4D97-AF65-F5344CB8AC3E}">
        <p14:creationId xmlns:p14="http://schemas.microsoft.com/office/powerpoint/2010/main" val="487336354"/>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Key Maintainability Metrics</a:t>
            </a:r>
          </a:p>
        </p:txBody>
      </p:sp>
      <p:graphicFrame>
        <p:nvGraphicFramePr>
          <p:cNvPr id="6" name="Content Placeholder 5"/>
          <p:cNvGraphicFramePr>
            <a:graphicFrameLocks noGrp="1"/>
          </p:cNvGraphicFramePr>
          <p:nvPr>
            <p:ph idx="1"/>
            <p:extLst>
              <p:ext uri="{D42A27DB-BD31-4B8C-83A1-F6EECF244321}">
                <p14:modId xmlns:p14="http://schemas.microsoft.com/office/powerpoint/2010/main" val="1437311467"/>
              </p:ext>
            </p:extLst>
          </p:nvPr>
        </p:nvGraphicFramePr>
        <p:xfrm>
          <a:off x="457200" y="1538346"/>
          <a:ext cx="8229600" cy="4840939"/>
        </p:xfrm>
        <a:graphic>
          <a:graphicData uri="http://schemas.openxmlformats.org/drawingml/2006/table">
            <a:tbl>
              <a:tblPr/>
              <a:tblGrid>
                <a:gridCol w="2743200"/>
                <a:gridCol w="2743200"/>
                <a:gridCol w="2743200"/>
              </a:tblGrid>
              <a:tr h="430306">
                <a:tc>
                  <a:txBody>
                    <a:bodyPr/>
                    <a:lstStyle/>
                    <a:p>
                      <a:r>
                        <a:rPr lang="en-US" b="1" dirty="0"/>
                        <a:t>Metric</a:t>
                      </a:r>
                    </a:p>
                  </a:txBody>
                  <a:tcPr anchor="ctr">
                    <a:lnL>
                      <a:noFill/>
                    </a:lnL>
                    <a:lnR>
                      <a:noFill/>
                    </a:lnR>
                    <a:lnT>
                      <a:noFill/>
                    </a:lnT>
                    <a:lnB>
                      <a:noFill/>
                    </a:lnB>
                  </a:tcPr>
                </a:tc>
                <a:tc>
                  <a:txBody>
                    <a:bodyPr/>
                    <a:lstStyle/>
                    <a:p>
                      <a:r>
                        <a:rPr lang="en-US" b="1" dirty="0"/>
                        <a:t>Description</a:t>
                      </a:r>
                    </a:p>
                  </a:txBody>
                  <a:tcPr anchor="ctr">
                    <a:lnL>
                      <a:noFill/>
                    </a:lnL>
                    <a:lnR>
                      <a:noFill/>
                    </a:lnR>
                    <a:lnT>
                      <a:noFill/>
                    </a:lnT>
                    <a:lnB>
                      <a:noFill/>
                    </a:lnB>
                  </a:tcPr>
                </a:tc>
                <a:tc>
                  <a:txBody>
                    <a:bodyPr/>
                    <a:lstStyle/>
                    <a:p>
                      <a:r>
                        <a:rPr lang="en-US" b="1" dirty="0"/>
                        <a:t>Example (Legacy COBOL)</a:t>
                      </a:r>
                    </a:p>
                  </a:txBody>
                  <a:tcPr anchor="ctr">
                    <a:lnL>
                      <a:noFill/>
                    </a:lnL>
                    <a:lnR>
                      <a:noFill/>
                    </a:lnR>
                    <a:lnT>
                      <a:noFill/>
                    </a:lnT>
                    <a:lnB>
                      <a:noFill/>
                    </a:lnB>
                  </a:tcPr>
                </a:tc>
              </a:tr>
              <a:tr h="1075764">
                <a:tc>
                  <a:txBody>
                    <a:bodyPr/>
                    <a:lstStyle/>
                    <a:p>
                      <a:r>
                        <a:rPr lang="en-US" b="1"/>
                        <a:t>Cyclomatic Complexity</a:t>
                      </a:r>
                      <a:endParaRPr lang="en-US"/>
                    </a:p>
                  </a:txBody>
                  <a:tcPr anchor="ctr">
                    <a:lnL>
                      <a:noFill/>
                    </a:lnL>
                    <a:lnR>
                      <a:noFill/>
                    </a:lnR>
                    <a:lnT>
                      <a:noFill/>
                    </a:lnT>
                    <a:lnB>
                      <a:noFill/>
                    </a:lnB>
                  </a:tcPr>
                </a:tc>
                <a:tc>
                  <a:txBody>
                    <a:bodyPr/>
                    <a:lstStyle/>
                    <a:p>
                      <a:r>
                        <a:rPr lang="en-US"/>
                        <a:t>Measures logical complexity</a:t>
                      </a:r>
                    </a:p>
                  </a:txBody>
                  <a:tcPr anchor="ctr">
                    <a:lnL>
                      <a:noFill/>
                    </a:lnL>
                    <a:lnR>
                      <a:noFill/>
                    </a:lnR>
                    <a:lnT>
                      <a:noFill/>
                    </a:lnT>
                    <a:lnB>
                      <a:noFill/>
                    </a:lnB>
                  </a:tcPr>
                </a:tc>
                <a:tc>
                  <a:txBody>
                    <a:bodyPr/>
                    <a:lstStyle/>
                    <a:p>
                      <a:r>
                        <a:rPr lang="en-US" dirty="0"/>
                        <a:t>COBOL procedure “</a:t>
                      </a:r>
                      <a:r>
                        <a:rPr lang="en-US" dirty="0" err="1"/>
                        <a:t>Calculate_Interest</a:t>
                      </a:r>
                      <a:r>
                        <a:rPr lang="en-US" dirty="0"/>
                        <a:t>” = 35 (High)</a:t>
                      </a:r>
                    </a:p>
                  </a:txBody>
                  <a:tcPr anchor="ctr">
                    <a:lnL>
                      <a:noFill/>
                    </a:lnL>
                    <a:lnR>
                      <a:noFill/>
                    </a:lnR>
                    <a:lnT>
                      <a:noFill/>
                    </a:lnT>
                    <a:lnB>
                      <a:noFill/>
                    </a:lnB>
                  </a:tcPr>
                </a:tc>
              </a:tr>
              <a:tr h="753035">
                <a:tc>
                  <a:txBody>
                    <a:bodyPr/>
                    <a:lstStyle/>
                    <a:p>
                      <a:r>
                        <a:rPr lang="en-US" b="1"/>
                        <a:t>Comment Density</a:t>
                      </a:r>
                      <a:endParaRPr lang="en-US"/>
                    </a:p>
                  </a:txBody>
                  <a:tcPr anchor="ctr">
                    <a:lnL>
                      <a:noFill/>
                    </a:lnL>
                    <a:lnR>
                      <a:noFill/>
                    </a:lnR>
                    <a:lnT>
                      <a:noFill/>
                    </a:lnT>
                    <a:lnB>
                      <a:noFill/>
                    </a:lnB>
                  </a:tcPr>
                </a:tc>
                <a:tc>
                  <a:txBody>
                    <a:bodyPr/>
                    <a:lstStyle/>
                    <a:p>
                      <a:r>
                        <a:rPr lang="en-US"/>
                        <a:t>Ratio of comments to code lines</a:t>
                      </a:r>
                    </a:p>
                  </a:txBody>
                  <a:tcPr anchor="ctr">
                    <a:lnL>
                      <a:noFill/>
                    </a:lnL>
                    <a:lnR>
                      <a:noFill/>
                    </a:lnR>
                    <a:lnT>
                      <a:noFill/>
                    </a:lnT>
                    <a:lnB>
                      <a:noFill/>
                    </a:lnB>
                  </a:tcPr>
                </a:tc>
                <a:tc>
                  <a:txBody>
                    <a:bodyPr/>
                    <a:lstStyle/>
                    <a:p>
                      <a:r>
                        <a:rPr lang="en-US"/>
                        <a:t>5% (Low maintainability)</a:t>
                      </a:r>
                    </a:p>
                  </a:txBody>
                  <a:tcPr anchor="ctr">
                    <a:lnL>
                      <a:noFill/>
                    </a:lnL>
                    <a:lnR>
                      <a:noFill/>
                    </a:lnR>
                    <a:lnT>
                      <a:noFill/>
                    </a:lnT>
                    <a:lnB>
                      <a:noFill/>
                    </a:lnB>
                  </a:tcPr>
                </a:tc>
              </a:tr>
              <a:tr h="753035">
                <a:tc>
                  <a:txBody>
                    <a:bodyPr/>
                    <a:lstStyle/>
                    <a:p>
                      <a:r>
                        <a:rPr lang="en-US" b="1"/>
                        <a:t>Duplication</a:t>
                      </a:r>
                      <a:endParaRPr lang="en-US"/>
                    </a:p>
                  </a:txBody>
                  <a:tcPr anchor="ctr">
                    <a:lnL>
                      <a:noFill/>
                    </a:lnL>
                    <a:lnR>
                      <a:noFill/>
                    </a:lnR>
                    <a:lnT>
                      <a:noFill/>
                    </a:lnT>
                    <a:lnB>
                      <a:noFill/>
                    </a:lnB>
                  </a:tcPr>
                </a:tc>
                <a:tc>
                  <a:txBody>
                    <a:bodyPr/>
                    <a:lstStyle/>
                    <a:p>
                      <a:r>
                        <a:rPr lang="en-US"/>
                        <a:t>% of cloned code blocks</a:t>
                      </a:r>
                    </a:p>
                  </a:txBody>
                  <a:tcPr anchor="ctr">
                    <a:lnL>
                      <a:noFill/>
                    </a:lnL>
                    <a:lnR>
                      <a:noFill/>
                    </a:lnR>
                    <a:lnT>
                      <a:noFill/>
                    </a:lnT>
                    <a:lnB>
                      <a:noFill/>
                    </a:lnB>
                  </a:tcPr>
                </a:tc>
                <a:tc>
                  <a:txBody>
                    <a:bodyPr/>
                    <a:lstStyle/>
                    <a:p>
                      <a:r>
                        <a:rPr lang="en-US"/>
                        <a:t>14% (Detected in multiple transaction programs)</a:t>
                      </a:r>
                    </a:p>
                  </a:txBody>
                  <a:tcPr anchor="ctr">
                    <a:lnL>
                      <a:noFill/>
                    </a:lnL>
                    <a:lnR>
                      <a:noFill/>
                    </a:lnR>
                    <a:lnT>
                      <a:noFill/>
                    </a:lnT>
                    <a:lnB>
                      <a:noFill/>
                    </a:lnB>
                  </a:tcPr>
                </a:tc>
              </a:tr>
              <a:tr h="1075764">
                <a:tc>
                  <a:txBody>
                    <a:bodyPr/>
                    <a:lstStyle/>
                    <a:p>
                      <a:r>
                        <a:rPr lang="en-US" b="1"/>
                        <a:t>Modular Coupling</a:t>
                      </a:r>
                      <a:endParaRPr lang="en-US"/>
                    </a:p>
                  </a:txBody>
                  <a:tcPr anchor="ctr">
                    <a:lnL>
                      <a:noFill/>
                    </a:lnL>
                    <a:lnR>
                      <a:noFill/>
                    </a:lnR>
                    <a:lnT>
                      <a:noFill/>
                    </a:lnT>
                    <a:lnB>
                      <a:noFill/>
                    </a:lnB>
                  </a:tcPr>
                </a:tc>
                <a:tc>
                  <a:txBody>
                    <a:bodyPr/>
                    <a:lstStyle/>
                    <a:p>
                      <a:r>
                        <a:rPr lang="en-US"/>
                        <a:t>Measures inter-module dependency</a:t>
                      </a:r>
                    </a:p>
                  </a:txBody>
                  <a:tcPr anchor="ctr">
                    <a:lnL>
                      <a:noFill/>
                    </a:lnL>
                    <a:lnR>
                      <a:noFill/>
                    </a:lnR>
                    <a:lnT>
                      <a:noFill/>
                    </a:lnT>
                    <a:lnB>
                      <a:noFill/>
                    </a:lnB>
                  </a:tcPr>
                </a:tc>
                <a:tc>
                  <a:txBody>
                    <a:bodyPr/>
                    <a:lstStyle/>
                    <a:p>
                      <a:r>
                        <a:rPr lang="en-US"/>
                        <a:t>High coupling between ACCT_UPD and TRAN_PROC</a:t>
                      </a:r>
                    </a:p>
                  </a:txBody>
                  <a:tcPr anchor="ctr">
                    <a:lnL>
                      <a:noFill/>
                    </a:lnL>
                    <a:lnR>
                      <a:noFill/>
                    </a:lnR>
                    <a:lnT>
                      <a:noFill/>
                    </a:lnT>
                    <a:lnB>
                      <a:noFill/>
                    </a:lnB>
                  </a:tcPr>
                </a:tc>
              </a:tr>
              <a:tr h="753035">
                <a:tc>
                  <a:txBody>
                    <a:bodyPr/>
                    <a:lstStyle/>
                    <a:p>
                      <a:r>
                        <a:rPr lang="en-US" b="1"/>
                        <a:t>Technical Debt</a:t>
                      </a:r>
                      <a:endParaRPr lang="en-US"/>
                    </a:p>
                  </a:txBody>
                  <a:tcPr anchor="ctr">
                    <a:lnL>
                      <a:noFill/>
                    </a:lnL>
                    <a:lnR>
                      <a:noFill/>
                    </a:lnR>
                    <a:lnT>
                      <a:noFill/>
                    </a:lnT>
                    <a:lnB>
                      <a:noFill/>
                    </a:lnB>
                  </a:tcPr>
                </a:tc>
                <a:tc>
                  <a:txBody>
                    <a:bodyPr/>
                    <a:lstStyle/>
                    <a:p>
                      <a:r>
                        <a:rPr lang="en-US"/>
                        <a:t>Effort (in days) to fix violations</a:t>
                      </a:r>
                    </a:p>
                  </a:txBody>
                  <a:tcPr anchor="ctr">
                    <a:lnL>
                      <a:noFill/>
                    </a:lnL>
                    <a:lnR>
                      <a:noFill/>
                    </a:lnR>
                    <a:lnT>
                      <a:noFill/>
                    </a:lnT>
                    <a:lnB>
                      <a:noFill/>
                    </a:lnB>
                  </a:tcPr>
                </a:tc>
                <a:tc>
                  <a:txBody>
                    <a:bodyPr/>
                    <a:lstStyle/>
                    <a:p>
                      <a:r>
                        <a:rPr lang="en-US" dirty="0"/>
                        <a:t>62 days estimated effort</a:t>
                      </a:r>
                    </a:p>
                  </a:txBody>
                  <a:tcPr anchor="ctr">
                    <a:lnL>
                      <a:noFill/>
                    </a:lnL>
                    <a:lnR>
                      <a:noFill/>
                    </a:lnR>
                    <a:lnT>
                      <a:noFill/>
                    </a:lnT>
                    <a:lnB>
                      <a:noFill/>
                    </a:lnB>
                  </a:tcPr>
                </a:tc>
              </a:tr>
            </a:tbl>
          </a:graphicData>
        </a:graphic>
      </p:graphicFrame>
    </p:spTree>
    <p:extLst>
      <p:ext uri="{BB962C8B-B14F-4D97-AF65-F5344CB8AC3E}">
        <p14:creationId xmlns:p14="http://schemas.microsoft.com/office/powerpoint/2010/main" val="2791671378"/>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064"/>
            <a:ext cx="9144000" cy="1143000"/>
          </a:xfrm>
        </p:spPr>
        <p:txBody>
          <a:bodyPr>
            <a:normAutofit fontScale="90000"/>
          </a:bodyPr>
          <a:lstStyle/>
          <a:p>
            <a:r>
              <a:rPr lang="en-US" dirty="0"/>
              <a:t>Risk Report Summary (Generated by CAST AIP)</a:t>
            </a: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1030978151"/>
              </p:ext>
            </p:extLst>
          </p:nvPr>
        </p:nvGraphicFramePr>
        <p:xfrm>
          <a:off x="204398" y="1266709"/>
          <a:ext cx="8821270" cy="5590210"/>
        </p:xfrm>
        <a:graphic>
          <a:graphicData uri="http://schemas.openxmlformats.org/drawingml/2006/table">
            <a:tbl>
              <a:tblPr/>
              <a:tblGrid>
                <a:gridCol w="1764254"/>
                <a:gridCol w="1764254"/>
                <a:gridCol w="1764254"/>
                <a:gridCol w="1172581"/>
                <a:gridCol w="2355927"/>
              </a:tblGrid>
              <a:tr h="496436">
                <a:tc>
                  <a:txBody>
                    <a:bodyPr/>
                    <a:lstStyle/>
                    <a:p>
                      <a:r>
                        <a:rPr lang="en-US" sz="1800" dirty="0"/>
                        <a:t>Risk Type</a:t>
                      </a:r>
                    </a:p>
                  </a:txBody>
                  <a:tcPr marL="61999" marR="61999" marT="31000" marB="31000" anchor="ctr">
                    <a:lnL>
                      <a:noFill/>
                    </a:lnL>
                    <a:lnR>
                      <a:noFill/>
                    </a:lnR>
                    <a:lnT>
                      <a:noFill/>
                    </a:lnT>
                    <a:lnB>
                      <a:noFill/>
                    </a:lnB>
                  </a:tcPr>
                </a:tc>
                <a:tc>
                  <a:txBody>
                    <a:bodyPr/>
                    <a:lstStyle/>
                    <a:p>
                      <a:r>
                        <a:rPr lang="en-US" sz="1800"/>
                        <a:t>Description</a:t>
                      </a:r>
                    </a:p>
                  </a:txBody>
                  <a:tcPr marL="61999" marR="61999" marT="31000" marB="31000" anchor="ctr">
                    <a:lnL>
                      <a:noFill/>
                    </a:lnL>
                    <a:lnR>
                      <a:noFill/>
                    </a:lnR>
                    <a:lnT>
                      <a:noFill/>
                    </a:lnT>
                    <a:lnB>
                      <a:noFill/>
                    </a:lnB>
                  </a:tcPr>
                </a:tc>
                <a:tc>
                  <a:txBody>
                    <a:bodyPr/>
                    <a:lstStyle/>
                    <a:p>
                      <a:r>
                        <a:rPr lang="en-US" sz="1800"/>
                        <a:t>Detected Issues</a:t>
                      </a:r>
                    </a:p>
                  </a:txBody>
                  <a:tcPr marL="61999" marR="61999" marT="31000" marB="31000" anchor="ctr">
                    <a:lnL>
                      <a:noFill/>
                    </a:lnL>
                    <a:lnR>
                      <a:noFill/>
                    </a:lnR>
                    <a:lnT>
                      <a:noFill/>
                    </a:lnT>
                    <a:lnB>
                      <a:noFill/>
                    </a:lnB>
                  </a:tcPr>
                </a:tc>
                <a:tc>
                  <a:txBody>
                    <a:bodyPr/>
                    <a:lstStyle/>
                    <a:p>
                      <a:r>
                        <a:rPr lang="en-US" sz="1800"/>
                        <a:t>Severity</a:t>
                      </a:r>
                    </a:p>
                  </a:txBody>
                  <a:tcPr marL="61999" marR="61999" marT="31000" marB="31000" anchor="ctr">
                    <a:lnL>
                      <a:noFill/>
                    </a:lnL>
                    <a:lnR>
                      <a:noFill/>
                    </a:lnR>
                    <a:lnT>
                      <a:noFill/>
                    </a:lnT>
                    <a:lnB>
                      <a:noFill/>
                    </a:lnB>
                  </a:tcPr>
                </a:tc>
                <a:tc>
                  <a:txBody>
                    <a:bodyPr/>
                    <a:lstStyle/>
                    <a:p>
                      <a:r>
                        <a:rPr lang="en-US" sz="1800"/>
                        <a:t>Recommendation</a:t>
                      </a:r>
                    </a:p>
                  </a:txBody>
                  <a:tcPr marL="61999" marR="61999" marT="31000" marB="31000" anchor="ctr">
                    <a:lnL>
                      <a:noFill/>
                    </a:lnL>
                    <a:lnR>
                      <a:noFill/>
                    </a:lnR>
                    <a:lnT>
                      <a:noFill/>
                    </a:lnT>
                    <a:lnB>
                      <a:noFill/>
                    </a:lnB>
                  </a:tcPr>
                </a:tc>
              </a:tr>
              <a:tr h="709194">
                <a:tc>
                  <a:txBody>
                    <a:bodyPr/>
                    <a:lstStyle/>
                    <a:p>
                      <a:r>
                        <a:rPr lang="en-US" sz="1800" b="1" dirty="0"/>
                        <a:t>Complexity Risk</a:t>
                      </a:r>
                      <a:endParaRPr lang="en-US" sz="1800" dirty="0"/>
                    </a:p>
                  </a:txBody>
                  <a:tcPr marL="61999" marR="61999" marT="31000" marB="31000" anchor="ctr">
                    <a:lnL>
                      <a:noFill/>
                    </a:lnL>
                    <a:lnR>
                      <a:noFill/>
                    </a:lnR>
                    <a:lnT>
                      <a:noFill/>
                    </a:lnT>
                    <a:lnB>
                      <a:noFill/>
                    </a:lnB>
                  </a:tcPr>
                </a:tc>
                <a:tc>
                  <a:txBody>
                    <a:bodyPr/>
                    <a:lstStyle/>
                    <a:p>
                      <a:r>
                        <a:rPr lang="en-US" sz="1800" dirty="0"/>
                        <a:t>Overly complex COBOL modules</a:t>
                      </a:r>
                    </a:p>
                  </a:txBody>
                  <a:tcPr marL="61999" marR="61999" marT="31000" marB="31000" anchor="ctr">
                    <a:lnL>
                      <a:noFill/>
                    </a:lnL>
                    <a:lnR>
                      <a:noFill/>
                    </a:lnR>
                    <a:lnT>
                      <a:noFill/>
                    </a:lnT>
                    <a:lnB>
                      <a:noFill/>
                    </a:lnB>
                  </a:tcPr>
                </a:tc>
                <a:tc>
                  <a:txBody>
                    <a:bodyPr/>
                    <a:lstStyle/>
                    <a:p>
                      <a:r>
                        <a:rPr lang="en-US" sz="1800"/>
                        <a:t>25 modules exceed threshold</a:t>
                      </a:r>
                    </a:p>
                  </a:txBody>
                  <a:tcPr marL="61999" marR="61999" marT="31000" marB="31000" anchor="ctr">
                    <a:lnL>
                      <a:noFill/>
                    </a:lnL>
                    <a:lnR>
                      <a:noFill/>
                    </a:lnR>
                    <a:lnT>
                      <a:noFill/>
                    </a:lnT>
                    <a:lnB>
                      <a:noFill/>
                    </a:lnB>
                  </a:tcPr>
                </a:tc>
                <a:tc>
                  <a:txBody>
                    <a:bodyPr/>
                    <a:lstStyle/>
                    <a:p>
                      <a:r>
                        <a:rPr lang="en-US" sz="1800"/>
                        <a:t>High</a:t>
                      </a:r>
                    </a:p>
                  </a:txBody>
                  <a:tcPr marL="61999" marR="61999" marT="31000" marB="31000" anchor="ctr">
                    <a:lnL>
                      <a:noFill/>
                    </a:lnL>
                    <a:lnR>
                      <a:noFill/>
                    </a:lnR>
                    <a:lnT>
                      <a:noFill/>
                    </a:lnT>
                    <a:lnB>
                      <a:noFill/>
                    </a:lnB>
                  </a:tcPr>
                </a:tc>
                <a:tc>
                  <a:txBody>
                    <a:bodyPr/>
                    <a:lstStyle/>
                    <a:p>
                      <a:r>
                        <a:rPr lang="en-US" sz="1800"/>
                        <a:t>Refactor or split programs</a:t>
                      </a:r>
                    </a:p>
                  </a:txBody>
                  <a:tcPr marL="61999" marR="61999" marT="31000" marB="31000" anchor="ctr">
                    <a:lnL>
                      <a:noFill/>
                    </a:lnL>
                    <a:lnR>
                      <a:noFill/>
                    </a:lnR>
                    <a:lnT>
                      <a:noFill/>
                    </a:lnT>
                    <a:lnB>
                      <a:noFill/>
                    </a:lnB>
                  </a:tcPr>
                </a:tc>
              </a:tr>
              <a:tr h="709194">
                <a:tc>
                  <a:txBody>
                    <a:bodyPr/>
                    <a:lstStyle/>
                    <a:p>
                      <a:r>
                        <a:rPr lang="en-US" sz="1800" b="1"/>
                        <a:t>Change Impact Risk</a:t>
                      </a:r>
                      <a:endParaRPr lang="en-US" sz="1800"/>
                    </a:p>
                  </a:txBody>
                  <a:tcPr marL="61999" marR="61999" marT="31000" marB="31000" anchor="ctr">
                    <a:lnL>
                      <a:noFill/>
                    </a:lnL>
                    <a:lnR>
                      <a:noFill/>
                    </a:lnR>
                    <a:lnT>
                      <a:noFill/>
                    </a:lnT>
                    <a:lnB>
                      <a:noFill/>
                    </a:lnB>
                  </a:tcPr>
                </a:tc>
                <a:tc>
                  <a:txBody>
                    <a:bodyPr/>
                    <a:lstStyle/>
                    <a:p>
                      <a:r>
                        <a:rPr lang="en-US" sz="1800" dirty="0"/>
                        <a:t>High coupling affects maintainability</a:t>
                      </a:r>
                    </a:p>
                  </a:txBody>
                  <a:tcPr marL="61999" marR="61999" marT="31000" marB="31000" anchor="ctr">
                    <a:lnL>
                      <a:noFill/>
                    </a:lnL>
                    <a:lnR>
                      <a:noFill/>
                    </a:lnR>
                    <a:lnT>
                      <a:noFill/>
                    </a:lnT>
                    <a:lnB>
                      <a:noFill/>
                    </a:lnB>
                  </a:tcPr>
                </a:tc>
                <a:tc>
                  <a:txBody>
                    <a:bodyPr/>
                    <a:lstStyle/>
                    <a:p>
                      <a:r>
                        <a:rPr lang="en-US" sz="1800"/>
                        <a:t>14 dependencies on shared data</a:t>
                      </a:r>
                    </a:p>
                  </a:txBody>
                  <a:tcPr marL="61999" marR="61999" marT="31000" marB="31000" anchor="ctr">
                    <a:lnL>
                      <a:noFill/>
                    </a:lnL>
                    <a:lnR>
                      <a:noFill/>
                    </a:lnR>
                    <a:lnT>
                      <a:noFill/>
                    </a:lnT>
                    <a:lnB>
                      <a:noFill/>
                    </a:lnB>
                  </a:tcPr>
                </a:tc>
                <a:tc>
                  <a:txBody>
                    <a:bodyPr/>
                    <a:lstStyle/>
                    <a:p>
                      <a:r>
                        <a:rPr lang="en-US" sz="1800"/>
                        <a:t>High</a:t>
                      </a:r>
                    </a:p>
                  </a:txBody>
                  <a:tcPr marL="61999" marR="61999" marT="31000" marB="31000" anchor="ctr">
                    <a:lnL>
                      <a:noFill/>
                    </a:lnL>
                    <a:lnR>
                      <a:noFill/>
                    </a:lnR>
                    <a:lnT>
                      <a:noFill/>
                    </a:lnT>
                    <a:lnB>
                      <a:noFill/>
                    </a:lnB>
                  </a:tcPr>
                </a:tc>
                <a:tc>
                  <a:txBody>
                    <a:bodyPr/>
                    <a:lstStyle/>
                    <a:p>
                      <a:r>
                        <a:rPr lang="en-US" sz="1800"/>
                        <a:t>Modularize and isolate data</a:t>
                      </a:r>
                    </a:p>
                  </a:txBody>
                  <a:tcPr marL="61999" marR="61999" marT="31000" marB="31000" anchor="ctr">
                    <a:lnL>
                      <a:noFill/>
                    </a:lnL>
                    <a:lnR>
                      <a:noFill/>
                    </a:lnR>
                    <a:lnT>
                      <a:noFill/>
                    </a:lnT>
                    <a:lnB>
                      <a:noFill/>
                    </a:lnB>
                  </a:tcPr>
                </a:tc>
              </a:tr>
              <a:tr h="709194">
                <a:tc>
                  <a:txBody>
                    <a:bodyPr/>
                    <a:lstStyle/>
                    <a:p>
                      <a:r>
                        <a:rPr lang="en-US" sz="1800" b="1"/>
                        <a:t>Data Integrity Risk</a:t>
                      </a:r>
                      <a:endParaRPr lang="en-US" sz="1800"/>
                    </a:p>
                  </a:txBody>
                  <a:tcPr marL="61999" marR="61999" marT="31000" marB="31000" anchor="ctr">
                    <a:lnL>
                      <a:noFill/>
                    </a:lnL>
                    <a:lnR>
                      <a:noFill/>
                    </a:lnR>
                    <a:lnT>
                      <a:noFill/>
                    </a:lnT>
                    <a:lnB>
                      <a:noFill/>
                    </a:lnB>
                  </a:tcPr>
                </a:tc>
                <a:tc>
                  <a:txBody>
                    <a:bodyPr/>
                    <a:lstStyle/>
                    <a:p>
                      <a:r>
                        <a:rPr lang="en-US" sz="1800"/>
                        <a:t>Inconsistent data manipulation</a:t>
                      </a:r>
                    </a:p>
                  </a:txBody>
                  <a:tcPr marL="61999" marR="61999" marT="31000" marB="31000" anchor="ctr">
                    <a:lnL>
                      <a:noFill/>
                    </a:lnL>
                    <a:lnR>
                      <a:noFill/>
                    </a:lnR>
                    <a:lnT>
                      <a:noFill/>
                    </a:lnT>
                    <a:lnB>
                      <a:noFill/>
                    </a:lnB>
                  </a:tcPr>
                </a:tc>
                <a:tc>
                  <a:txBody>
                    <a:bodyPr/>
                    <a:lstStyle/>
                    <a:p>
                      <a:r>
                        <a:rPr lang="en-US" sz="1800" dirty="0"/>
                        <a:t>7 files show redundant logic</a:t>
                      </a:r>
                    </a:p>
                  </a:txBody>
                  <a:tcPr marL="61999" marR="61999" marT="31000" marB="31000" anchor="ctr">
                    <a:lnL>
                      <a:noFill/>
                    </a:lnL>
                    <a:lnR>
                      <a:noFill/>
                    </a:lnR>
                    <a:lnT>
                      <a:noFill/>
                    </a:lnT>
                    <a:lnB>
                      <a:noFill/>
                    </a:lnB>
                  </a:tcPr>
                </a:tc>
                <a:tc>
                  <a:txBody>
                    <a:bodyPr/>
                    <a:lstStyle/>
                    <a:p>
                      <a:r>
                        <a:rPr lang="en-US" sz="1800"/>
                        <a:t>Medium</a:t>
                      </a:r>
                    </a:p>
                  </a:txBody>
                  <a:tcPr marL="61999" marR="61999" marT="31000" marB="31000" anchor="ctr">
                    <a:lnL>
                      <a:noFill/>
                    </a:lnL>
                    <a:lnR>
                      <a:noFill/>
                    </a:lnR>
                    <a:lnT>
                      <a:noFill/>
                    </a:lnT>
                    <a:lnB>
                      <a:noFill/>
                    </a:lnB>
                  </a:tcPr>
                </a:tc>
                <a:tc>
                  <a:txBody>
                    <a:bodyPr/>
                    <a:lstStyle/>
                    <a:p>
                      <a:r>
                        <a:rPr lang="en-US" sz="1800"/>
                        <a:t>Centralize file handling routines</a:t>
                      </a:r>
                    </a:p>
                  </a:txBody>
                  <a:tcPr marL="61999" marR="61999" marT="31000" marB="31000" anchor="ctr">
                    <a:lnL>
                      <a:noFill/>
                    </a:lnL>
                    <a:lnR>
                      <a:noFill/>
                    </a:lnR>
                    <a:lnT>
                      <a:noFill/>
                    </a:lnT>
                    <a:lnB>
                      <a:noFill/>
                    </a:lnB>
                  </a:tcPr>
                </a:tc>
              </a:tr>
              <a:tr h="921952">
                <a:tc>
                  <a:txBody>
                    <a:bodyPr/>
                    <a:lstStyle/>
                    <a:p>
                      <a:r>
                        <a:rPr lang="en-US" sz="1800" b="1"/>
                        <a:t>Duplicate Logic</a:t>
                      </a:r>
                      <a:endParaRPr lang="en-US" sz="1800"/>
                    </a:p>
                  </a:txBody>
                  <a:tcPr marL="61999" marR="61999" marT="31000" marB="31000" anchor="ctr">
                    <a:lnL>
                      <a:noFill/>
                    </a:lnL>
                    <a:lnR>
                      <a:noFill/>
                    </a:lnR>
                    <a:lnT>
                      <a:noFill/>
                    </a:lnT>
                    <a:lnB>
                      <a:noFill/>
                    </a:lnB>
                  </a:tcPr>
                </a:tc>
                <a:tc>
                  <a:txBody>
                    <a:bodyPr/>
                    <a:lstStyle/>
                    <a:p>
                      <a:r>
                        <a:rPr lang="en-US" sz="1800"/>
                        <a:t>Repeated business rules in multiple programs</a:t>
                      </a:r>
                    </a:p>
                  </a:txBody>
                  <a:tcPr marL="61999" marR="61999" marT="31000" marB="31000" anchor="ctr">
                    <a:lnL>
                      <a:noFill/>
                    </a:lnL>
                    <a:lnR>
                      <a:noFill/>
                    </a:lnR>
                    <a:lnT>
                      <a:noFill/>
                    </a:lnT>
                    <a:lnB>
                      <a:noFill/>
                    </a:lnB>
                  </a:tcPr>
                </a:tc>
                <a:tc>
                  <a:txBody>
                    <a:bodyPr/>
                    <a:lstStyle/>
                    <a:p>
                      <a:r>
                        <a:rPr lang="en-US" sz="1800" dirty="0"/>
                        <a:t>Found in 5 interest calculation modules</a:t>
                      </a:r>
                    </a:p>
                  </a:txBody>
                  <a:tcPr marL="61999" marR="61999" marT="31000" marB="31000" anchor="ctr">
                    <a:lnL>
                      <a:noFill/>
                    </a:lnL>
                    <a:lnR>
                      <a:noFill/>
                    </a:lnR>
                    <a:lnT>
                      <a:noFill/>
                    </a:lnT>
                    <a:lnB>
                      <a:noFill/>
                    </a:lnB>
                  </a:tcPr>
                </a:tc>
                <a:tc>
                  <a:txBody>
                    <a:bodyPr/>
                    <a:lstStyle/>
                    <a:p>
                      <a:r>
                        <a:rPr lang="en-US" sz="1800" dirty="0"/>
                        <a:t>Medium</a:t>
                      </a:r>
                    </a:p>
                  </a:txBody>
                  <a:tcPr marL="61999" marR="61999" marT="31000" marB="31000" anchor="ctr">
                    <a:lnL>
                      <a:noFill/>
                    </a:lnL>
                    <a:lnR>
                      <a:noFill/>
                    </a:lnR>
                    <a:lnT>
                      <a:noFill/>
                    </a:lnT>
                    <a:lnB>
                      <a:noFill/>
                    </a:lnB>
                  </a:tcPr>
                </a:tc>
                <a:tc>
                  <a:txBody>
                    <a:bodyPr/>
                    <a:lstStyle/>
                    <a:p>
                      <a:r>
                        <a:rPr lang="en-US" sz="1800"/>
                        <a:t>Consolidate into reusable module</a:t>
                      </a:r>
                    </a:p>
                  </a:txBody>
                  <a:tcPr marL="61999" marR="61999" marT="31000" marB="31000" anchor="ctr">
                    <a:lnL>
                      <a:noFill/>
                    </a:lnL>
                    <a:lnR>
                      <a:noFill/>
                    </a:lnR>
                    <a:lnT>
                      <a:noFill/>
                    </a:lnT>
                    <a:lnB>
                      <a:noFill/>
                    </a:lnB>
                  </a:tcPr>
                </a:tc>
              </a:tr>
              <a:tr h="921952">
                <a:tc>
                  <a:txBody>
                    <a:bodyPr/>
                    <a:lstStyle/>
                    <a:p>
                      <a:r>
                        <a:rPr lang="en-US" sz="1800" b="1"/>
                        <a:t>Error Handling Risk</a:t>
                      </a:r>
                      <a:endParaRPr lang="en-US" sz="1800"/>
                    </a:p>
                  </a:txBody>
                  <a:tcPr marL="61999" marR="61999" marT="31000" marB="31000" anchor="ctr">
                    <a:lnL>
                      <a:noFill/>
                    </a:lnL>
                    <a:lnR>
                      <a:noFill/>
                    </a:lnR>
                    <a:lnT>
                      <a:noFill/>
                    </a:lnT>
                    <a:lnB>
                      <a:noFill/>
                    </a:lnB>
                  </a:tcPr>
                </a:tc>
                <a:tc>
                  <a:txBody>
                    <a:bodyPr/>
                    <a:lstStyle/>
                    <a:p>
                      <a:r>
                        <a:rPr lang="en-US" sz="1800"/>
                        <a:t>Missing exception paths</a:t>
                      </a:r>
                    </a:p>
                  </a:txBody>
                  <a:tcPr marL="61999" marR="61999" marT="31000" marB="31000" anchor="ctr">
                    <a:lnL>
                      <a:noFill/>
                    </a:lnL>
                    <a:lnR>
                      <a:noFill/>
                    </a:lnR>
                    <a:lnT>
                      <a:noFill/>
                    </a:lnT>
                    <a:lnB>
                      <a:noFill/>
                    </a:lnB>
                  </a:tcPr>
                </a:tc>
                <a:tc>
                  <a:txBody>
                    <a:bodyPr/>
                    <a:lstStyle/>
                    <a:p>
                      <a:r>
                        <a:rPr lang="en-US" sz="1800"/>
                        <a:t>10 modules without validation checks</a:t>
                      </a:r>
                    </a:p>
                  </a:txBody>
                  <a:tcPr marL="61999" marR="61999" marT="31000" marB="31000" anchor="ctr">
                    <a:lnL>
                      <a:noFill/>
                    </a:lnL>
                    <a:lnR>
                      <a:noFill/>
                    </a:lnR>
                    <a:lnT>
                      <a:noFill/>
                    </a:lnT>
                    <a:lnB>
                      <a:noFill/>
                    </a:lnB>
                  </a:tcPr>
                </a:tc>
                <a:tc>
                  <a:txBody>
                    <a:bodyPr/>
                    <a:lstStyle/>
                    <a:p>
                      <a:r>
                        <a:rPr lang="en-US" sz="1800" dirty="0"/>
                        <a:t>High</a:t>
                      </a:r>
                    </a:p>
                  </a:txBody>
                  <a:tcPr marL="61999" marR="61999" marT="31000" marB="31000" anchor="ctr">
                    <a:lnL>
                      <a:noFill/>
                    </a:lnL>
                    <a:lnR>
                      <a:noFill/>
                    </a:lnR>
                    <a:lnT>
                      <a:noFill/>
                    </a:lnT>
                    <a:lnB>
                      <a:noFill/>
                    </a:lnB>
                  </a:tcPr>
                </a:tc>
                <a:tc>
                  <a:txBody>
                    <a:bodyPr/>
                    <a:lstStyle/>
                    <a:p>
                      <a:r>
                        <a:rPr lang="en-US" sz="1800" dirty="0"/>
                        <a:t>Add structured error handling</a:t>
                      </a:r>
                    </a:p>
                  </a:txBody>
                  <a:tcPr marL="61999" marR="61999" marT="31000" marB="31000" anchor="ctr">
                    <a:lnL>
                      <a:noFill/>
                    </a:lnL>
                    <a:lnR>
                      <a:noFill/>
                    </a:lnR>
                    <a:lnT>
                      <a:noFill/>
                    </a:lnT>
                    <a:lnB>
                      <a:noFill/>
                    </a:lnB>
                  </a:tcPr>
                </a:tc>
              </a:tr>
              <a:tr h="709194">
                <a:tc>
                  <a:txBody>
                    <a:bodyPr/>
                    <a:lstStyle/>
                    <a:p>
                      <a:r>
                        <a:rPr lang="en-US" sz="1800" b="1"/>
                        <a:t>Documentation Gap</a:t>
                      </a:r>
                      <a:endParaRPr lang="en-US" sz="1800"/>
                    </a:p>
                  </a:txBody>
                  <a:tcPr marL="61999" marR="61999" marT="31000" marB="31000" anchor="ctr">
                    <a:lnL>
                      <a:noFill/>
                    </a:lnL>
                    <a:lnR>
                      <a:noFill/>
                    </a:lnR>
                    <a:lnT>
                      <a:noFill/>
                    </a:lnT>
                    <a:lnB>
                      <a:noFill/>
                    </a:lnB>
                  </a:tcPr>
                </a:tc>
                <a:tc>
                  <a:txBody>
                    <a:bodyPr/>
                    <a:lstStyle/>
                    <a:p>
                      <a:r>
                        <a:rPr lang="en-US" sz="1800"/>
                        <a:t>Low comment ratio</a:t>
                      </a:r>
                    </a:p>
                  </a:txBody>
                  <a:tcPr marL="61999" marR="61999" marT="31000" marB="31000" anchor="ctr">
                    <a:lnL>
                      <a:noFill/>
                    </a:lnL>
                    <a:lnR>
                      <a:noFill/>
                    </a:lnR>
                    <a:lnT>
                      <a:noFill/>
                    </a:lnT>
                    <a:lnB>
                      <a:noFill/>
                    </a:lnB>
                  </a:tcPr>
                </a:tc>
                <a:tc>
                  <a:txBody>
                    <a:bodyPr/>
                    <a:lstStyle/>
                    <a:p>
                      <a:r>
                        <a:rPr lang="en-US" sz="1800"/>
                        <a:t>Overall &lt; 10%</a:t>
                      </a:r>
                    </a:p>
                  </a:txBody>
                  <a:tcPr marL="61999" marR="61999" marT="31000" marB="31000" anchor="ctr">
                    <a:lnL>
                      <a:noFill/>
                    </a:lnL>
                    <a:lnR>
                      <a:noFill/>
                    </a:lnR>
                    <a:lnT>
                      <a:noFill/>
                    </a:lnT>
                    <a:lnB>
                      <a:noFill/>
                    </a:lnB>
                  </a:tcPr>
                </a:tc>
                <a:tc>
                  <a:txBody>
                    <a:bodyPr/>
                    <a:lstStyle/>
                    <a:p>
                      <a:r>
                        <a:rPr lang="en-US" sz="1800"/>
                        <a:t>Medium</a:t>
                      </a:r>
                    </a:p>
                  </a:txBody>
                  <a:tcPr marL="61999" marR="61999" marT="31000" marB="31000" anchor="ctr">
                    <a:lnL>
                      <a:noFill/>
                    </a:lnL>
                    <a:lnR>
                      <a:noFill/>
                    </a:lnR>
                    <a:lnT>
                      <a:noFill/>
                    </a:lnT>
                    <a:lnB>
                      <a:noFill/>
                    </a:lnB>
                  </a:tcPr>
                </a:tc>
                <a:tc>
                  <a:txBody>
                    <a:bodyPr/>
                    <a:lstStyle/>
                    <a:p>
                      <a:r>
                        <a:rPr lang="en-US" sz="1800" dirty="0"/>
                        <a:t>Enforce documentation policy</a:t>
                      </a:r>
                    </a:p>
                  </a:txBody>
                  <a:tcPr marL="61999" marR="61999" marT="31000" marB="31000" anchor="ctr">
                    <a:lnL>
                      <a:noFill/>
                    </a:lnL>
                    <a:lnR>
                      <a:noFill/>
                    </a:lnR>
                    <a:lnT>
                      <a:noFill/>
                    </a:lnT>
                    <a:lnB>
                      <a:noFill/>
                    </a:lnB>
                  </a:tcPr>
                </a:tc>
              </a:tr>
            </a:tbl>
          </a:graphicData>
        </a:graphic>
      </p:graphicFrame>
    </p:spTree>
    <p:extLst>
      <p:ext uri="{BB962C8B-B14F-4D97-AF65-F5344CB8AC3E}">
        <p14:creationId xmlns:p14="http://schemas.microsoft.com/office/powerpoint/2010/main" val="2104719603"/>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CAST AIP Dashboard Insights</a:t>
            </a:r>
          </a:p>
        </p:txBody>
      </p:sp>
      <p:sp>
        <p:nvSpPr>
          <p:cNvPr id="3" name="Content Placeholder 2"/>
          <p:cNvSpPr>
            <a:spLocks noGrp="1"/>
          </p:cNvSpPr>
          <p:nvPr>
            <p:ph idx="1"/>
          </p:nvPr>
        </p:nvSpPr>
        <p:spPr/>
        <p:txBody>
          <a:bodyPr/>
          <a:lstStyle/>
          <a:p>
            <a:r>
              <a:rPr lang="en-US" dirty="0"/>
              <a:t>CAST AIP generates an interactive </a:t>
            </a:r>
            <a:r>
              <a:rPr lang="en-US" b="1" dirty="0"/>
              <a:t>Dashboard</a:t>
            </a:r>
            <a:r>
              <a:rPr lang="en-US" dirty="0"/>
              <a:t> for stakeholders</a:t>
            </a:r>
            <a:r>
              <a:rPr lang="en-US" dirty="0" smtClean="0"/>
              <a:t>:</a:t>
            </a:r>
          </a:p>
          <a:p>
            <a:r>
              <a:rPr lang="en-US" dirty="0"/>
              <a:t>1. Quality Indicators (ISO/IEC 5055</a:t>
            </a:r>
            <a:r>
              <a:rPr lang="en-US" dirty="0" smtClean="0"/>
              <a:t>):</a:t>
            </a:r>
          </a:p>
          <a:p>
            <a:endParaRPr lang="en-US" dirty="0"/>
          </a:p>
        </p:txBody>
      </p:sp>
      <p:graphicFrame>
        <p:nvGraphicFramePr>
          <p:cNvPr id="4" name="Table 3"/>
          <p:cNvGraphicFramePr>
            <a:graphicFrameLocks noGrp="1"/>
          </p:cNvGraphicFramePr>
          <p:nvPr>
            <p:extLst>
              <p:ext uri="{D42A27DB-BD31-4B8C-83A1-F6EECF244321}">
                <p14:modId xmlns:p14="http://schemas.microsoft.com/office/powerpoint/2010/main" val="2711336272"/>
              </p:ext>
            </p:extLst>
          </p:nvPr>
        </p:nvGraphicFramePr>
        <p:xfrm>
          <a:off x="457200" y="3496235"/>
          <a:ext cx="8229600" cy="2947595"/>
        </p:xfrm>
        <a:graphic>
          <a:graphicData uri="http://schemas.openxmlformats.org/drawingml/2006/table">
            <a:tbl>
              <a:tblPr/>
              <a:tblGrid>
                <a:gridCol w="2743200"/>
                <a:gridCol w="2743200"/>
                <a:gridCol w="2743200"/>
              </a:tblGrid>
              <a:tr h="589519">
                <a:tc>
                  <a:txBody>
                    <a:bodyPr/>
                    <a:lstStyle/>
                    <a:p>
                      <a:r>
                        <a:rPr lang="en-US"/>
                        <a:t>Characteristic</a:t>
                      </a:r>
                    </a:p>
                  </a:txBody>
                  <a:tcPr anchor="ctr">
                    <a:lnL>
                      <a:noFill/>
                    </a:lnL>
                    <a:lnR>
                      <a:noFill/>
                    </a:lnR>
                    <a:lnT>
                      <a:noFill/>
                    </a:lnT>
                    <a:lnB>
                      <a:noFill/>
                    </a:lnB>
                  </a:tcPr>
                </a:tc>
                <a:tc>
                  <a:txBody>
                    <a:bodyPr/>
                    <a:lstStyle/>
                    <a:p>
                      <a:r>
                        <a:rPr lang="en-US"/>
                        <a:t>Score (0–4)</a:t>
                      </a:r>
                    </a:p>
                  </a:txBody>
                  <a:tcPr anchor="ctr">
                    <a:lnL>
                      <a:noFill/>
                    </a:lnL>
                    <a:lnR>
                      <a:noFill/>
                    </a:lnR>
                    <a:lnT>
                      <a:noFill/>
                    </a:lnT>
                    <a:lnB>
                      <a:noFill/>
                    </a:lnB>
                  </a:tcPr>
                </a:tc>
                <a:tc>
                  <a:txBody>
                    <a:bodyPr/>
                    <a:lstStyle/>
                    <a:p>
                      <a:r>
                        <a:rPr lang="en-US"/>
                        <a:t>Status</a:t>
                      </a:r>
                    </a:p>
                  </a:txBody>
                  <a:tcPr anchor="ctr">
                    <a:lnL>
                      <a:noFill/>
                    </a:lnL>
                    <a:lnR>
                      <a:noFill/>
                    </a:lnR>
                    <a:lnT>
                      <a:noFill/>
                    </a:lnT>
                    <a:lnB>
                      <a:noFill/>
                    </a:lnB>
                  </a:tcPr>
                </a:tc>
              </a:tr>
              <a:tr h="589519">
                <a:tc>
                  <a:txBody>
                    <a:bodyPr/>
                    <a:lstStyle/>
                    <a:p>
                      <a:r>
                        <a:rPr lang="en-US" b="1"/>
                        <a:t>Maintainability</a:t>
                      </a:r>
                      <a:endParaRPr lang="en-US"/>
                    </a:p>
                  </a:txBody>
                  <a:tcPr anchor="ctr">
                    <a:lnL>
                      <a:noFill/>
                    </a:lnL>
                    <a:lnR>
                      <a:noFill/>
                    </a:lnR>
                    <a:lnT>
                      <a:noFill/>
                    </a:lnT>
                    <a:lnB>
                      <a:noFill/>
                    </a:lnB>
                  </a:tcPr>
                </a:tc>
                <a:tc>
                  <a:txBody>
                    <a:bodyPr/>
                    <a:lstStyle/>
                    <a:p>
                      <a:r>
                        <a:rPr lang="en-US"/>
                        <a:t>2.3</a:t>
                      </a:r>
                    </a:p>
                  </a:txBody>
                  <a:tcPr anchor="ctr">
                    <a:lnL>
                      <a:noFill/>
                    </a:lnL>
                    <a:lnR>
                      <a:noFill/>
                    </a:lnR>
                    <a:lnT>
                      <a:noFill/>
                    </a:lnT>
                    <a:lnB>
                      <a:noFill/>
                    </a:lnB>
                  </a:tcPr>
                </a:tc>
                <a:tc>
                  <a:txBody>
                    <a:bodyPr/>
                    <a:lstStyle/>
                    <a:p>
                      <a:r>
                        <a:rPr lang="en-US"/>
                        <a:t>⚠️ Needs improvement</a:t>
                      </a:r>
                    </a:p>
                  </a:txBody>
                  <a:tcPr anchor="ctr">
                    <a:lnL>
                      <a:noFill/>
                    </a:lnL>
                    <a:lnR>
                      <a:noFill/>
                    </a:lnR>
                    <a:lnT>
                      <a:noFill/>
                    </a:lnT>
                    <a:lnB>
                      <a:noFill/>
                    </a:lnB>
                  </a:tcPr>
                </a:tc>
              </a:tr>
              <a:tr h="589519">
                <a:tc>
                  <a:txBody>
                    <a:bodyPr/>
                    <a:lstStyle/>
                    <a:p>
                      <a:r>
                        <a:rPr lang="en-US" b="1"/>
                        <a:t>Reliability</a:t>
                      </a:r>
                      <a:endParaRPr lang="en-US"/>
                    </a:p>
                  </a:txBody>
                  <a:tcPr anchor="ctr">
                    <a:lnL>
                      <a:noFill/>
                    </a:lnL>
                    <a:lnR>
                      <a:noFill/>
                    </a:lnR>
                    <a:lnT>
                      <a:noFill/>
                    </a:lnT>
                    <a:lnB>
                      <a:noFill/>
                    </a:lnB>
                  </a:tcPr>
                </a:tc>
                <a:tc>
                  <a:txBody>
                    <a:bodyPr/>
                    <a:lstStyle/>
                    <a:p>
                      <a:r>
                        <a:rPr lang="en-US"/>
                        <a:t>3.1</a:t>
                      </a:r>
                    </a:p>
                  </a:txBody>
                  <a:tcPr anchor="ctr">
                    <a:lnL>
                      <a:noFill/>
                    </a:lnL>
                    <a:lnR>
                      <a:noFill/>
                    </a:lnR>
                    <a:lnT>
                      <a:noFill/>
                    </a:lnT>
                    <a:lnB>
                      <a:noFill/>
                    </a:lnB>
                  </a:tcPr>
                </a:tc>
                <a:tc>
                  <a:txBody>
                    <a:bodyPr/>
                    <a:lstStyle/>
                    <a:p>
                      <a:r>
                        <a:rPr lang="en-US"/>
                        <a:t>✅ Acceptable</a:t>
                      </a:r>
                    </a:p>
                  </a:txBody>
                  <a:tcPr anchor="ctr">
                    <a:lnL>
                      <a:noFill/>
                    </a:lnL>
                    <a:lnR>
                      <a:noFill/>
                    </a:lnR>
                    <a:lnT>
                      <a:noFill/>
                    </a:lnT>
                    <a:lnB>
                      <a:noFill/>
                    </a:lnB>
                  </a:tcPr>
                </a:tc>
              </a:tr>
              <a:tr h="589519">
                <a:tc>
                  <a:txBody>
                    <a:bodyPr/>
                    <a:lstStyle/>
                    <a:p>
                      <a:r>
                        <a:rPr lang="en-US" b="1"/>
                        <a:t>Efficiency</a:t>
                      </a:r>
                      <a:endParaRPr lang="en-US"/>
                    </a:p>
                  </a:txBody>
                  <a:tcPr anchor="ctr">
                    <a:lnL>
                      <a:noFill/>
                    </a:lnL>
                    <a:lnR>
                      <a:noFill/>
                    </a:lnR>
                    <a:lnT>
                      <a:noFill/>
                    </a:lnT>
                    <a:lnB>
                      <a:noFill/>
                    </a:lnB>
                  </a:tcPr>
                </a:tc>
                <a:tc>
                  <a:txBody>
                    <a:bodyPr/>
                    <a:lstStyle/>
                    <a:p>
                      <a:r>
                        <a:rPr lang="en-US"/>
                        <a:t>2.8</a:t>
                      </a:r>
                    </a:p>
                  </a:txBody>
                  <a:tcPr anchor="ctr">
                    <a:lnL>
                      <a:noFill/>
                    </a:lnL>
                    <a:lnR>
                      <a:noFill/>
                    </a:lnR>
                    <a:lnT>
                      <a:noFill/>
                    </a:lnT>
                    <a:lnB>
                      <a:noFill/>
                    </a:lnB>
                  </a:tcPr>
                </a:tc>
                <a:tc>
                  <a:txBody>
                    <a:bodyPr/>
                    <a:lstStyle/>
                    <a:p>
                      <a:r>
                        <a:rPr lang="en-US"/>
                        <a:t>⚠️ Moderate</a:t>
                      </a:r>
                    </a:p>
                  </a:txBody>
                  <a:tcPr anchor="ctr">
                    <a:lnL>
                      <a:noFill/>
                    </a:lnL>
                    <a:lnR>
                      <a:noFill/>
                    </a:lnR>
                    <a:lnT>
                      <a:noFill/>
                    </a:lnT>
                    <a:lnB>
                      <a:noFill/>
                    </a:lnB>
                  </a:tcPr>
                </a:tc>
              </a:tr>
              <a:tr h="589519">
                <a:tc>
                  <a:txBody>
                    <a:bodyPr/>
                    <a:lstStyle/>
                    <a:p>
                      <a:r>
                        <a:rPr lang="en-US" b="1"/>
                        <a:t>Security</a:t>
                      </a:r>
                      <a:endParaRPr lang="en-US"/>
                    </a:p>
                  </a:txBody>
                  <a:tcPr anchor="ctr">
                    <a:lnL>
                      <a:noFill/>
                    </a:lnL>
                    <a:lnR>
                      <a:noFill/>
                    </a:lnR>
                    <a:lnT>
                      <a:noFill/>
                    </a:lnT>
                    <a:lnB>
                      <a:noFill/>
                    </a:lnB>
                  </a:tcPr>
                </a:tc>
                <a:tc>
                  <a:txBody>
                    <a:bodyPr/>
                    <a:lstStyle/>
                    <a:p>
                      <a:r>
                        <a:rPr lang="en-US"/>
                        <a:t>3.5</a:t>
                      </a:r>
                    </a:p>
                  </a:txBody>
                  <a:tcPr anchor="ctr">
                    <a:lnL>
                      <a:noFill/>
                    </a:lnL>
                    <a:lnR>
                      <a:noFill/>
                    </a:lnR>
                    <a:lnT>
                      <a:noFill/>
                    </a:lnT>
                    <a:lnB>
                      <a:noFill/>
                    </a:lnB>
                  </a:tcPr>
                </a:tc>
                <a:tc>
                  <a:txBody>
                    <a:bodyPr/>
                    <a:lstStyle/>
                    <a:p>
                      <a:r>
                        <a:rPr lang="en-US" dirty="0"/>
                        <a:t>✅ Good</a:t>
                      </a:r>
                    </a:p>
                  </a:txBody>
                  <a:tcPr anchor="ctr">
                    <a:lnL>
                      <a:noFill/>
                    </a:lnL>
                    <a:lnR>
                      <a:noFill/>
                    </a:lnR>
                    <a:lnT>
                      <a:noFill/>
                    </a:lnT>
                    <a:lnB>
                      <a:noFill/>
                    </a:lnB>
                  </a:tcPr>
                </a:tc>
              </a:tr>
            </a:tbl>
          </a:graphicData>
        </a:graphic>
      </p:graphicFrame>
    </p:spTree>
    <p:extLst>
      <p:ext uri="{BB962C8B-B14F-4D97-AF65-F5344CB8AC3E}">
        <p14:creationId xmlns:p14="http://schemas.microsoft.com/office/powerpoint/2010/main" val="2417483852"/>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2278" y="274638"/>
            <a:ext cx="8805134" cy="1143000"/>
          </a:xfrm>
        </p:spPr>
        <p:txBody>
          <a:bodyPr>
            <a:normAutofit fontScale="90000"/>
          </a:bodyPr>
          <a:lstStyle/>
          <a:p>
            <a:r>
              <a:rPr lang="en-US" dirty="0"/>
              <a:t>2. Hotspot Visualization (CAST Imaging)</a:t>
            </a:r>
          </a:p>
        </p:txBody>
      </p:sp>
      <p:sp>
        <p:nvSpPr>
          <p:cNvPr id="3" name="Content Placeholder 2"/>
          <p:cNvSpPr>
            <a:spLocks noGrp="1"/>
          </p:cNvSpPr>
          <p:nvPr>
            <p:ph idx="1"/>
          </p:nvPr>
        </p:nvSpPr>
        <p:spPr/>
        <p:txBody>
          <a:bodyPr/>
          <a:lstStyle/>
          <a:p>
            <a:r>
              <a:rPr lang="en-US" dirty="0"/>
              <a:t>CAST Imaging visually maps:</a:t>
            </a:r>
          </a:p>
          <a:p>
            <a:pPr lvl="1"/>
            <a:r>
              <a:rPr lang="en-US" dirty="0"/>
              <a:t>High-risk COBOL programs</a:t>
            </a:r>
          </a:p>
          <a:p>
            <a:pPr lvl="1"/>
            <a:r>
              <a:rPr lang="en-US" dirty="0"/>
              <a:t>Complex transaction flows</a:t>
            </a:r>
          </a:p>
          <a:p>
            <a:pPr lvl="1"/>
            <a:r>
              <a:rPr lang="en-US" dirty="0"/>
              <a:t>Modules with highest technical debt</a:t>
            </a:r>
          </a:p>
          <a:p>
            <a:pPr algn="just"/>
            <a:r>
              <a:rPr lang="en-US" dirty="0"/>
              <a:t>You’d see clusters showing </a:t>
            </a:r>
            <a:r>
              <a:rPr lang="en-US" b="1" dirty="0"/>
              <a:t>“Account Processing”</a:t>
            </a:r>
            <a:r>
              <a:rPr lang="en-US" dirty="0"/>
              <a:t> and </a:t>
            </a:r>
            <a:r>
              <a:rPr lang="en-US" b="1" dirty="0"/>
              <a:t>“Interest Computation”</a:t>
            </a:r>
            <a:r>
              <a:rPr lang="en-US" dirty="0"/>
              <a:t> as red zones — indicating complex and interdependent modules needing refactoring.</a:t>
            </a:r>
          </a:p>
        </p:txBody>
      </p:sp>
    </p:spTree>
    <p:extLst>
      <p:ext uri="{BB962C8B-B14F-4D97-AF65-F5344CB8AC3E}">
        <p14:creationId xmlns:p14="http://schemas.microsoft.com/office/powerpoint/2010/main" val="2679622951"/>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Conclusion &amp; Recommendation</a:t>
            </a:r>
          </a:p>
        </p:txBody>
      </p:sp>
      <p:sp>
        <p:nvSpPr>
          <p:cNvPr id="3" name="Content Placeholder 2"/>
          <p:cNvSpPr>
            <a:spLocks noGrp="1"/>
          </p:cNvSpPr>
          <p:nvPr>
            <p:ph idx="1"/>
          </p:nvPr>
        </p:nvSpPr>
        <p:spPr/>
        <p:txBody>
          <a:bodyPr>
            <a:normAutofit fontScale="92500" lnSpcReduction="10000"/>
          </a:bodyPr>
          <a:lstStyle/>
          <a:p>
            <a:r>
              <a:rPr lang="en-US" b="1" dirty="0"/>
              <a:t>Refactor High-Complexity Modules:</a:t>
            </a:r>
            <a:r>
              <a:rPr lang="en-US" dirty="0"/>
              <a:t> Reduce </a:t>
            </a:r>
            <a:r>
              <a:rPr lang="en-US" dirty="0" err="1"/>
              <a:t>cyclomatic</a:t>
            </a:r>
            <a:r>
              <a:rPr lang="en-US" dirty="0"/>
              <a:t> complexity by modularizing large COBOL programs</a:t>
            </a:r>
            <a:r>
              <a:rPr lang="en-US" dirty="0" smtClean="0"/>
              <a:t>.</a:t>
            </a:r>
          </a:p>
          <a:p>
            <a:r>
              <a:rPr lang="en-US" b="1" dirty="0"/>
              <a:t>Remove Duplicate Logic:</a:t>
            </a:r>
            <a:r>
              <a:rPr lang="en-US" dirty="0"/>
              <a:t> Consolidate repeated business logic into centralized APIs</a:t>
            </a:r>
            <a:r>
              <a:rPr lang="en-US" dirty="0" smtClean="0"/>
              <a:t>.</a:t>
            </a:r>
          </a:p>
          <a:p>
            <a:r>
              <a:rPr lang="en-US" b="1" dirty="0"/>
              <a:t>Improve Documentation:</a:t>
            </a:r>
            <a:r>
              <a:rPr lang="en-US" dirty="0"/>
              <a:t> Increase comment density and enforce code documentation </a:t>
            </a:r>
            <a:r>
              <a:rPr lang="en-US" dirty="0" smtClean="0"/>
              <a:t>standards.</a:t>
            </a:r>
          </a:p>
          <a:p>
            <a:r>
              <a:rPr lang="en-US" b="1" dirty="0"/>
              <a:t>Plan Gradual Migration:</a:t>
            </a:r>
            <a:r>
              <a:rPr lang="en-US" dirty="0"/>
              <a:t> Prioritize modernization of modules flagged as </a:t>
            </a:r>
            <a:r>
              <a:rPr lang="en-US" dirty="0" smtClean="0"/>
              <a:t>high-risk.</a:t>
            </a:r>
            <a:endParaRPr lang="en-US" dirty="0"/>
          </a:p>
        </p:txBody>
      </p:sp>
    </p:spTree>
    <p:extLst>
      <p:ext uri="{BB962C8B-B14F-4D97-AF65-F5344CB8AC3E}">
        <p14:creationId xmlns:p14="http://schemas.microsoft.com/office/powerpoint/2010/main" val="809917572"/>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System Analysis - Example</a:t>
            </a:r>
          </a:p>
        </p:txBody>
      </p:sp>
      <p:sp>
        <p:nvSpPr>
          <p:cNvPr id="3" name="Content Placeholder 2"/>
          <p:cNvSpPr>
            <a:spLocks noGrp="1"/>
          </p:cNvSpPr>
          <p:nvPr>
            <p:ph idx="1"/>
          </p:nvPr>
        </p:nvSpPr>
        <p:spPr/>
        <p:txBody>
          <a:bodyPr/>
          <a:lstStyle/>
          <a:p>
            <a:endParaRPr/>
          </a:p>
          <a:p>
            <a:r>
              <a:t>Analyzing HR system for performance bottlenecks</a:t>
            </a:r>
          </a:p>
          <a:p>
            <a:r>
              <a:t>Identifying unused modules</a:t>
            </a:r>
          </a:p>
        </p:txBody>
      </p:sp>
    </p:spTree>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System Analysis - Outcomes</a:t>
            </a:r>
          </a:p>
        </p:txBody>
      </p:sp>
      <p:sp>
        <p:nvSpPr>
          <p:cNvPr id="3" name="Content Placeholder 2"/>
          <p:cNvSpPr>
            <a:spLocks noGrp="1"/>
          </p:cNvSpPr>
          <p:nvPr>
            <p:ph idx="1"/>
          </p:nvPr>
        </p:nvSpPr>
        <p:spPr/>
        <p:txBody>
          <a:bodyPr/>
          <a:lstStyle/>
          <a:p>
            <a:endParaRPr/>
          </a:p>
          <a:p>
            <a:r>
              <a:t>Clear understanding of system scope</a:t>
            </a:r>
          </a:p>
          <a:p>
            <a:r>
              <a:t>Foundation for reverse engineering</a:t>
            </a:r>
          </a:p>
        </p:txBody>
      </p:sp>
    </p:spTree>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3118231"/>
          </a:xfrm>
        </p:spPr>
        <p:txBody>
          <a:bodyPr/>
          <a:lstStyle/>
          <a:p>
            <a:r>
              <a:rPr lang="en-US" dirty="0" smtClean="0"/>
              <a:t>Re-Engineering process flow</a:t>
            </a:r>
            <a:br>
              <a:rPr lang="en-US" dirty="0" smtClean="0"/>
            </a:br>
            <a:r>
              <a:rPr lang="en-US" dirty="0" smtClean="0"/>
              <a:t> </a:t>
            </a:r>
            <a:br>
              <a:rPr lang="en-US" dirty="0" smtClean="0"/>
            </a:br>
            <a:r>
              <a:rPr lang="en-US" dirty="0" smtClean="0"/>
              <a:t>2. Reverse Engineering</a:t>
            </a:r>
            <a:endParaRPr lang="en-US" dirty="0"/>
          </a:p>
        </p:txBody>
      </p:sp>
      <p:sp>
        <p:nvSpPr>
          <p:cNvPr id="3" name="Subtitle 2"/>
          <p:cNvSpPr>
            <a:spLocks noGrp="1"/>
          </p:cNvSpPr>
          <p:nvPr>
            <p:ph type="subTitle" idx="1"/>
          </p:nvPr>
        </p:nvSpPr>
        <p:spPr/>
        <p:txBody>
          <a:bodyPr/>
          <a:lstStyle/>
          <a:p>
            <a:r>
              <a:rPr lang="en-US" dirty="0" smtClean="0"/>
              <a:t> </a:t>
            </a:r>
            <a:endParaRPr lang="en-US" dirty="0"/>
          </a:p>
        </p:txBody>
      </p:sp>
    </p:spTree>
    <p:extLst>
      <p:ext uri="{BB962C8B-B14F-4D97-AF65-F5344CB8AC3E}">
        <p14:creationId xmlns:p14="http://schemas.microsoft.com/office/powerpoint/2010/main" val="3277671031"/>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Reverse Engineering - Role</a:t>
            </a:r>
          </a:p>
        </p:txBody>
      </p:sp>
      <p:sp>
        <p:nvSpPr>
          <p:cNvPr id="3" name="Content Placeholder 2"/>
          <p:cNvSpPr>
            <a:spLocks noGrp="1"/>
          </p:cNvSpPr>
          <p:nvPr>
            <p:ph idx="1"/>
          </p:nvPr>
        </p:nvSpPr>
        <p:spPr/>
        <p:txBody>
          <a:bodyPr/>
          <a:lstStyle/>
          <a:p>
            <a:endParaRPr/>
          </a:p>
          <a:p>
            <a:r>
              <a:t>Recover design and specification from code</a:t>
            </a:r>
          </a:p>
          <a:p>
            <a:r>
              <a:t>Helps generate documentation</a:t>
            </a:r>
          </a:p>
        </p:txBody>
      </p:sp>
    </p:spTree>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Importance of Reverse Engineering</a:t>
            </a:r>
          </a:p>
        </p:txBody>
      </p:sp>
      <p:sp>
        <p:nvSpPr>
          <p:cNvPr id="3" name="Content Placeholder 2"/>
          <p:cNvSpPr>
            <a:spLocks noGrp="1"/>
          </p:cNvSpPr>
          <p:nvPr>
            <p:ph idx="1"/>
          </p:nvPr>
        </p:nvSpPr>
        <p:spPr/>
        <p:txBody>
          <a:bodyPr/>
          <a:lstStyle/>
          <a:p>
            <a:endParaRPr dirty="0"/>
          </a:p>
          <a:p>
            <a:pPr algn="just"/>
            <a:r>
              <a:rPr dirty="0"/>
              <a:t>Essential for understanding legacy systems</a:t>
            </a:r>
          </a:p>
          <a:p>
            <a:r>
              <a:rPr dirty="0"/>
              <a:t>Facilitates system re-engineering</a:t>
            </a:r>
          </a:p>
          <a:p>
            <a:pPr algn="just"/>
            <a:r>
              <a:rPr dirty="0"/>
              <a:t>Helps in documentation and knowledge recovery</a:t>
            </a:r>
          </a:p>
        </p:txBody>
      </p:sp>
    </p:spTree>
    <p:extLst>
      <p:ext uri="{BB962C8B-B14F-4D97-AF65-F5344CB8AC3E}">
        <p14:creationId xmlns:p14="http://schemas.microsoft.com/office/powerpoint/2010/main" val="2364189325"/>
      </p:ext>
    </p:extLst>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smtClean="0"/>
              <a:t>Definition</a:t>
            </a:r>
            <a:endParaRPr dirty="0"/>
          </a:p>
        </p:txBody>
      </p:sp>
      <p:sp>
        <p:nvSpPr>
          <p:cNvPr id="3" name="Content Placeholder 2"/>
          <p:cNvSpPr>
            <a:spLocks noGrp="1"/>
          </p:cNvSpPr>
          <p:nvPr>
            <p:ph idx="1"/>
          </p:nvPr>
        </p:nvSpPr>
        <p:spPr>
          <a:xfrm>
            <a:off x="457200" y="1289304"/>
            <a:ext cx="8229600" cy="4525963"/>
          </a:xfrm>
        </p:spPr>
        <p:txBody>
          <a:bodyPr>
            <a:normAutofit fontScale="92500" lnSpcReduction="10000"/>
          </a:bodyPr>
          <a:lstStyle/>
          <a:p>
            <a:endParaRPr dirty="0"/>
          </a:p>
          <a:p>
            <a:pPr algn="just"/>
            <a:r>
              <a:rPr lang="en-US" b="1" dirty="0"/>
              <a:t>Reverse Engineering</a:t>
            </a:r>
            <a:r>
              <a:rPr lang="en-US" dirty="0"/>
              <a:t> is the process of </a:t>
            </a:r>
            <a:r>
              <a:rPr lang="en-US" b="1" dirty="0"/>
              <a:t>analyzing an existing system</a:t>
            </a:r>
            <a:r>
              <a:rPr lang="en-US" dirty="0"/>
              <a:t> — software, hardware, or process — to </a:t>
            </a:r>
            <a:r>
              <a:rPr lang="en-US" b="1" dirty="0"/>
              <a:t>understand its structure, components, and functionality</a:t>
            </a:r>
            <a:r>
              <a:rPr lang="en-US" dirty="0"/>
              <a:t>, often with the goal of </a:t>
            </a:r>
            <a:r>
              <a:rPr lang="en-US" b="1" dirty="0"/>
              <a:t>rebuilding, improving, or integrating it</a:t>
            </a:r>
            <a:r>
              <a:rPr lang="en-US" dirty="0"/>
              <a:t> into newer systems</a:t>
            </a:r>
            <a:r>
              <a:rPr lang="en-US" dirty="0" smtClean="0"/>
              <a:t>.</a:t>
            </a:r>
          </a:p>
          <a:p>
            <a:pPr algn="just"/>
            <a:r>
              <a:rPr lang="en-US" dirty="0"/>
              <a:t>Reverse Engineering means </a:t>
            </a:r>
            <a:r>
              <a:rPr lang="en-US" b="1" dirty="0"/>
              <a:t>going backward from product to design</a:t>
            </a:r>
            <a:r>
              <a:rPr lang="en-US" dirty="0"/>
              <a:t> — understanding </a:t>
            </a:r>
            <a:r>
              <a:rPr lang="en-US" i="1" dirty="0"/>
              <a:t>how it was made</a:t>
            </a:r>
            <a:r>
              <a:rPr lang="en-US" dirty="0"/>
              <a:t>, rather than </a:t>
            </a:r>
            <a:r>
              <a:rPr lang="en-US" i="1" dirty="0"/>
              <a:t>making it from scratch</a:t>
            </a:r>
            <a:r>
              <a:rPr lang="en-US" dirty="0"/>
              <a:t>.</a:t>
            </a:r>
            <a:endParaRPr lang="en-US" dirty="0" smtClean="0"/>
          </a:p>
          <a:p>
            <a:pPr algn="just"/>
            <a:endParaRPr dirty="0"/>
          </a:p>
        </p:txBody>
      </p:sp>
    </p:spTree>
    <p:extLst>
      <p:ext uri="{BB962C8B-B14F-4D97-AF65-F5344CB8AC3E}">
        <p14:creationId xmlns:p14="http://schemas.microsoft.com/office/powerpoint/2010/main" val="3730359866"/>
      </p:ext>
    </p:extLst>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Formal Definition (Software Context)</a:t>
            </a:r>
          </a:p>
        </p:txBody>
      </p:sp>
      <p:sp>
        <p:nvSpPr>
          <p:cNvPr id="3" name="Content Placeholder 2"/>
          <p:cNvSpPr>
            <a:spLocks noGrp="1"/>
          </p:cNvSpPr>
          <p:nvPr>
            <p:ph idx="1"/>
          </p:nvPr>
        </p:nvSpPr>
        <p:spPr/>
        <p:txBody>
          <a:bodyPr/>
          <a:lstStyle/>
          <a:p>
            <a:pPr algn="just"/>
            <a:r>
              <a:rPr lang="en-US" dirty="0"/>
              <a:t>Reverse Engineering is the process of examining a system’s source code, architecture, and behavior to extract higher-level representations such as design models, data structures, and requirements that were not available or documented before.</a:t>
            </a:r>
          </a:p>
        </p:txBody>
      </p:sp>
    </p:spTree>
    <p:extLst>
      <p:ext uri="{BB962C8B-B14F-4D97-AF65-F5344CB8AC3E}">
        <p14:creationId xmlns:p14="http://schemas.microsoft.com/office/powerpoint/2010/main" val="2159549843"/>
      </p:ext>
    </p:extLst>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Definition (Industry View)</a:t>
            </a:r>
          </a:p>
        </p:txBody>
      </p:sp>
      <p:sp>
        <p:nvSpPr>
          <p:cNvPr id="3" name="Content Placeholder 2"/>
          <p:cNvSpPr>
            <a:spLocks noGrp="1"/>
          </p:cNvSpPr>
          <p:nvPr>
            <p:ph idx="1"/>
          </p:nvPr>
        </p:nvSpPr>
        <p:spPr/>
        <p:txBody>
          <a:bodyPr/>
          <a:lstStyle/>
          <a:p>
            <a:endParaRPr dirty="0"/>
          </a:p>
          <a:p>
            <a:pPr algn="just"/>
            <a:r>
              <a:rPr dirty="0"/>
              <a:t>Used to recover lost knowledge of legacy systems</a:t>
            </a:r>
          </a:p>
          <a:p>
            <a:pPr algn="just"/>
            <a:r>
              <a:rPr dirty="0"/>
              <a:t>Common in modernization and security analysis</a:t>
            </a:r>
          </a:p>
        </p:txBody>
      </p:sp>
    </p:spTree>
    <p:extLst>
      <p:ext uri="{BB962C8B-B14F-4D97-AF65-F5344CB8AC3E}">
        <p14:creationId xmlns:p14="http://schemas.microsoft.com/office/powerpoint/2010/main" val="2674258993"/>
      </p:ext>
    </p:extLst>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Purpose of Reverse Engineering</a:t>
            </a:r>
          </a:p>
        </p:txBody>
      </p:sp>
      <p:sp>
        <p:nvSpPr>
          <p:cNvPr id="3" name="Content Placeholder 2"/>
          <p:cNvSpPr>
            <a:spLocks noGrp="1"/>
          </p:cNvSpPr>
          <p:nvPr>
            <p:ph idx="1"/>
          </p:nvPr>
        </p:nvSpPr>
        <p:spPr>
          <a:xfrm>
            <a:off x="457200" y="1291472"/>
            <a:ext cx="8229600" cy="5410986"/>
          </a:xfrm>
        </p:spPr>
        <p:txBody>
          <a:bodyPr>
            <a:normAutofit fontScale="62500" lnSpcReduction="20000"/>
          </a:bodyPr>
          <a:lstStyle/>
          <a:p>
            <a:endParaRPr dirty="0"/>
          </a:p>
          <a:p>
            <a:r>
              <a:rPr lang="en-US" b="1" dirty="0"/>
              <a:t>Understanding Legacy Systems:</a:t>
            </a:r>
            <a:r>
              <a:rPr lang="en-US" dirty="0"/>
              <a:t/>
            </a:r>
            <a:br>
              <a:rPr lang="en-US" dirty="0"/>
            </a:br>
            <a:r>
              <a:rPr lang="en-US" dirty="0"/>
              <a:t>When documentation is missing or outdated, reverse engineering helps recover knowledge about system design, logic, and data flow</a:t>
            </a:r>
            <a:r>
              <a:rPr lang="en-US" dirty="0" smtClean="0"/>
              <a:t>.</a:t>
            </a:r>
          </a:p>
          <a:p>
            <a:endParaRPr lang="en-US" dirty="0" smtClean="0"/>
          </a:p>
          <a:p>
            <a:r>
              <a:rPr lang="en-US" b="1" dirty="0"/>
              <a:t>Maintenance and Re-Engineering:</a:t>
            </a:r>
            <a:r>
              <a:rPr lang="en-US" dirty="0"/>
              <a:t/>
            </a:r>
            <a:br>
              <a:rPr lang="en-US" dirty="0"/>
            </a:br>
            <a:r>
              <a:rPr lang="en-US" dirty="0"/>
              <a:t>It provides insight required to </a:t>
            </a:r>
            <a:r>
              <a:rPr lang="en-US" b="1" dirty="0"/>
              <a:t>migrate</a:t>
            </a:r>
            <a:r>
              <a:rPr lang="en-US" dirty="0"/>
              <a:t>, </a:t>
            </a:r>
            <a:r>
              <a:rPr lang="en-US" b="1" dirty="0"/>
              <a:t>modernize</a:t>
            </a:r>
            <a:r>
              <a:rPr lang="en-US" dirty="0"/>
              <a:t>, or </a:t>
            </a:r>
            <a:r>
              <a:rPr lang="en-US" b="1" dirty="0"/>
              <a:t>integrate</a:t>
            </a:r>
            <a:r>
              <a:rPr lang="en-US" dirty="0"/>
              <a:t> legacy software (like COBOL-based banking systems) into modern architectures</a:t>
            </a:r>
            <a:r>
              <a:rPr lang="en-US" dirty="0" smtClean="0"/>
              <a:t>.</a:t>
            </a:r>
          </a:p>
          <a:p>
            <a:endParaRPr lang="en-US" dirty="0" smtClean="0"/>
          </a:p>
          <a:p>
            <a:r>
              <a:rPr lang="en-US" b="1" dirty="0" smtClean="0"/>
              <a:t>Error </a:t>
            </a:r>
            <a:r>
              <a:rPr lang="en-US" b="1" dirty="0"/>
              <a:t>Detection and Debugging:</a:t>
            </a:r>
            <a:r>
              <a:rPr lang="en-US" dirty="0"/>
              <a:t/>
            </a:r>
            <a:br>
              <a:rPr lang="en-US" dirty="0"/>
            </a:br>
            <a:r>
              <a:rPr lang="en-US" dirty="0"/>
              <a:t>Helps identify bugs, inefficiencies, or vulnerabilities in old or third-party software</a:t>
            </a:r>
            <a:r>
              <a:rPr lang="en-US" dirty="0" smtClean="0"/>
              <a:t>.</a:t>
            </a:r>
          </a:p>
          <a:p>
            <a:endParaRPr lang="en-US" dirty="0" smtClean="0"/>
          </a:p>
          <a:p>
            <a:r>
              <a:rPr lang="en-US" b="1" dirty="0"/>
              <a:t>Interoperability and Integration:</a:t>
            </a:r>
            <a:r>
              <a:rPr lang="en-US" dirty="0"/>
              <a:t/>
            </a:r>
            <a:br>
              <a:rPr lang="en-US" dirty="0"/>
            </a:br>
            <a:r>
              <a:rPr lang="en-US" dirty="0"/>
              <a:t>Used to make new systems compatible with existing (or obsolete) ones</a:t>
            </a:r>
            <a:r>
              <a:rPr lang="en-US" dirty="0" smtClean="0"/>
              <a:t>.</a:t>
            </a:r>
          </a:p>
          <a:p>
            <a:endParaRPr lang="en-US" dirty="0" smtClean="0"/>
          </a:p>
          <a:p>
            <a:r>
              <a:rPr lang="en-US" b="1" dirty="0"/>
              <a:t>Security Analysis:</a:t>
            </a:r>
            <a:r>
              <a:rPr lang="en-US" dirty="0"/>
              <a:t/>
            </a:r>
            <a:br>
              <a:rPr lang="en-US" dirty="0"/>
            </a:br>
            <a:r>
              <a:rPr lang="en-US" dirty="0"/>
              <a:t>Commonly used in </a:t>
            </a:r>
            <a:r>
              <a:rPr lang="en-US" dirty="0" err="1"/>
              <a:t>cybersecurity</a:t>
            </a:r>
            <a:r>
              <a:rPr lang="en-US" dirty="0"/>
              <a:t> to detect malware behavior or to test system vulnerabilities.</a:t>
            </a:r>
            <a:endParaRPr dirty="0"/>
          </a:p>
        </p:txBody>
      </p:sp>
    </p:spTree>
    <p:extLst>
      <p:ext uri="{BB962C8B-B14F-4D97-AF65-F5344CB8AC3E}">
        <p14:creationId xmlns:p14="http://schemas.microsoft.com/office/powerpoint/2010/main" val="2606339706"/>
      </p:ext>
    </p:extLst>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Why Reverse Engineering Matters</a:t>
            </a:r>
          </a:p>
        </p:txBody>
      </p:sp>
      <p:sp>
        <p:nvSpPr>
          <p:cNvPr id="3" name="Content Placeholder 2"/>
          <p:cNvSpPr>
            <a:spLocks noGrp="1"/>
          </p:cNvSpPr>
          <p:nvPr>
            <p:ph idx="1"/>
          </p:nvPr>
        </p:nvSpPr>
        <p:spPr/>
        <p:txBody>
          <a:bodyPr/>
          <a:lstStyle/>
          <a:p>
            <a:endParaRPr/>
          </a:p>
          <a:p>
            <a:r>
              <a:t>Legacy systems often lack documentation</a:t>
            </a:r>
          </a:p>
          <a:p>
            <a:r>
              <a:t>Critical for safe system migration</a:t>
            </a:r>
          </a:p>
          <a:p>
            <a:r>
              <a:t>Supports compliance and auditing</a:t>
            </a:r>
          </a:p>
        </p:txBody>
      </p:sp>
    </p:spTree>
    <p:extLst>
      <p:ext uri="{BB962C8B-B14F-4D97-AF65-F5344CB8AC3E}">
        <p14:creationId xmlns:p14="http://schemas.microsoft.com/office/powerpoint/2010/main" val="2396155201"/>
      </p:ext>
    </p:extLst>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Phases of Reverse Engineering (Software Systems)</a:t>
            </a:r>
            <a:endParaRPr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527797898"/>
              </p:ext>
            </p:extLst>
          </p:nvPr>
        </p:nvGraphicFramePr>
        <p:xfrm>
          <a:off x="374905" y="1600201"/>
          <a:ext cx="8586216" cy="4910327"/>
        </p:xfrm>
        <a:graphic>
          <a:graphicData uri="http://schemas.openxmlformats.org/drawingml/2006/table">
            <a:tbl>
              <a:tblPr/>
              <a:tblGrid>
                <a:gridCol w="2862072"/>
                <a:gridCol w="2862072"/>
                <a:gridCol w="2862072"/>
              </a:tblGrid>
              <a:tr h="338643">
                <a:tc>
                  <a:txBody>
                    <a:bodyPr/>
                    <a:lstStyle/>
                    <a:p>
                      <a:r>
                        <a:rPr lang="en-US" sz="1500" b="1"/>
                        <a:t>Phase</a:t>
                      </a:r>
                      <a:endParaRPr lang="en-US" sz="1500"/>
                    </a:p>
                  </a:txBody>
                  <a:tcPr marL="78034" marR="78034" marT="39017" marB="39017" anchor="ctr">
                    <a:lnL>
                      <a:noFill/>
                    </a:lnL>
                    <a:lnR>
                      <a:noFill/>
                    </a:lnR>
                    <a:lnT>
                      <a:noFill/>
                    </a:lnT>
                    <a:lnB>
                      <a:noFill/>
                    </a:lnB>
                  </a:tcPr>
                </a:tc>
                <a:tc>
                  <a:txBody>
                    <a:bodyPr/>
                    <a:lstStyle/>
                    <a:p>
                      <a:r>
                        <a:rPr lang="en-US" sz="1500" b="1"/>
                        <a:t>Description</a:t>
                      </a:r>
                      <a:endParaRPr lang="en-US" sz="1500"/>
                    </a:p>
                  </a:txBody>
                  <a:tcPr marL="78034" marR="78034" marT="39017" marB="39017" anchor="ctr">
                    <a:lnL>
                      <a:noFill/>
                    </a:lnL>
                    <a:lnR>
                      <a:noFill/>
                    </a:lnR>
                    <a:lnT>
                      <a:noFill/>
                    </a:lnT>
                    <a:lnB>
                      <a:noFill/>
                    </a:lnB>
                  </a:tcPr>
                </a:tc>
                <a:tc>
                  <a:txBody>
                    <a:bodyPr/>
                    <a:lstStyle/>
                    <a:p>
                      <a:r>
                        <a:rPr lang="en-US" sz="1500" b="1"/>
                        <a:t>Example Tools/Techniques</a:t>
                      </a:r>
                      <a:endParaRPr lang="en-US" sz="1500"/>
                    </a:p>
                  </a:txBody>
                  <a:tcPr marL="78034" marR="78034" marT="39017" marB="39017" anchor="ctr">
                    <a:lnL>
                      <a:noFill/>
                    </a:lnL>
                    <a:lnR>
                      <a:noFill/>
                    </a:lnR>
                    <a:lnT>
                      <a:noFill/>
                    </a:lnT>
                    <a:lnB>
                      <a:noFill/>
                    </a:lnB>
                  </a:tcPr>
                </a:tc>
              </a:tr>
              <a:tr h="846608">
                <a:tc>
                  <a:txBody>
                    <a:bodyPr/>
                    <a:lstStyle/>
                    <a:p>
                      <a:r>
                        <a:rPr lang="en-US" sz="1500" b="1"/>
                        <a:t>1. Information Extraction</a:t>
                      </a:r>
                      <a:endParaRPr lang="en-US" sz="1500"/>
                    </a:p>
                  </a:txBody>
                  <a:tcPr marL="78034" marR="78034" marT="39017" marB="39017" anchor="ctr">
                    <a:lnL>
                      <a:noFill/>
                    </a:lnL>
                    <a:lnR>
                      <a:noFill/>
                    </a:lnR>
                    <a:lnT>
                      <a:noFill/>
                    </a:lnT>
                    <a:lnB>
                      <a:noFill/>
                    </a:lnB>
                  </a:tcPr>
                </a:tc>
                <a:tc>
                  <a:txBody>
                    <a:bodyPr/>
                    <a:lstStyle/>
                    <a:p>
                      <a:r>
                        <a:rPr lang="en-US" sz="1500"/>
                        <a:t>Collecting source code, database schemas, and configuration files.</a:t>
                      </a:r>
                    </a:p>
                  </a:txBody>
                  <a:tcPr marL="78034" marR="78034" marT="39017" marB="39017" anchor="ctr">
                    <a:lnL>
                      <a:noFill/>
                    </a:lnL>
                    <a:lnR>
                      <a:noFill/>
                    </a:lnR>
                    <a:lnT>
                      <a:noFill/>
                    </a:lnT>
                    <a:lnB>
                      <a:noFill/>
                    </a:lnB>
                  </a:tcPr>
                </a:tc>
                <a:tc>
                  <a:txBody>
                    <a:bodyPr/>
                    <a:lstStyle/>
                    <a:p>
                      <a:r>
                        <a:rPr lang="en-US" sz="1500"/>
                        <a:t>Source analyzers, decompilers</a:t>
                      </a:r>
                    </a:p>
                  </a:txBody>
                  <a:tcPr marL="78034" marR="78034" marT="39017" marB="39017" anchor="ctr">
                    <a:lnL>
                      <a:noFill/>
                    </a:lnL>
                    <a:lnR>
                      <a:noFill/>
                    </a:lnR>
                    <a:lnT>
                      <a:noFill/>
                    </a:lnT>
                    <a:lnB>
                      <a:noFill/>
                    </a:lnB>
                  </a:tcPr>
                </a:tc>
              </a:tr>
              <a:tr h="592626">
                <a:tc>
                  <a:txBody>
                    <a:bodyPr/>
                    <a:lstStyle/>
                    <a:p>
                      <a:r>
                        <a:rPr lang="en-US" sz="1500" b="1"/>
                        <a:t>2. Static Analysis</a:t>
                      </a:r>
                      <a:endParaRPr lang="en-US" sz="1500"/>
                    </a:p>
                  </a:txBody>
                  <a:tcPr marL="78034" marR="78034" marT="39017" marB="39017" anchor="ctr">
                    <a:lnL>
                      <a:noFill/>
                    </a:lnL>
                    <a:lnR>
                      <a:noFill/>
                    </a:lnR>
                    <a:lnT>
                      <a:noFill/>
                    </a:lnT>
                    <a:lnB>
                      <a:noFill/>
                    </a:lnB>
                  </a:tcPr>
                </a:tc>
                <a:tc>
                  <a:txBody>
                    <a:bodyPr/>
                    <a:lstStyle/>
                    <a:p>
                      <a:r>
                        <a:rPr lang="en-US" sz="1500"/>
                        <a:t>Analyzing code structure without executing it.</a:t>
                      </a:r>
                    </a:p>
                  </a:txBody>
                  <a:tcPr marL="78034" marR="78034" marT="39017" marB="39017" anchor="ctr">
                    <a:lnL>
                      <a:noFill/>
                    </a:lnL>
                    <a:lnR>
                      <a:noFill/>
                    </a:lnR>
                    <a:lnT>
                      <a:noFill/>
                    </a:lnT>
                    <a:lnB>
                      <a:noFill/>
                    </a:lnB>
                  </a:tcPr>
                </a:tc>
                <a:tc>
                  <a:txBody>
                    <a:bodyPr/>
                    <a:lstStyle/>
                    <a:p>
                      <a:r>
                        <a:rPr lang="en-US" sz="1500"/>
                        <a:t>SonarQube, Understand, CAST AIP</a:t>
                      </a:r>
                    </a:p>
                  </a:txBody>
                  <a:tcPr marL="78034" marR="78034" marT="39017" marB="39017" anchor="ctr">
                    <a:lnL>
                      <a:noFill/>
                    </a:lnL>
                    <a:lnR>
                      <a:noFill/>
                    </a:lnR>
                    <a:lnT>
                      <a:noFill/>
                    </a:lnT>
                    <a:lnB>
                      <a:noFill/>
                    </a:lnB>
                  </a:tcPr>
                </a:tc>
              </a:tr>
              <a:tr h="846608">
                <a:tc>
                  <a:txBody>
                    <a:bodyPr/>
                    <a:lstStyle/>
                    <a:p>
                      <a:r>
                        <a:rPr lang="en-US" sz="1500" b="1"/>
                        <a:t>3. Dynamic Analysis</a:t>
                      </a:r>
                      <a:endParaRPr lang="en-US" sz="1500"/>
                    </a:p>
                  </a:txBody>
                  <a:tcPr marL="78034" marR="78034" marT="39017" marB="39017" anchor="ctr">
                    <a:lnL>
                      <a:noFill/>
                    </a:lnL>
                    <a:lnR>
                      <a:noFill/>
                    </a:lnR>
                    <a:lnT>
                      <a:noFill/>
                    </a:lnT>
                    <a:lnB>
                      <a:noFill/>
                    </a:lnB>
                  </a:tcPr>
                </a:tc>
                <a:tc>
                  <a:txBody>
                    <a:bodyPr/>
                    <a:lstStyle/>
                    <a:p>
                      <a:r>
                        <a:rPr lang="en-US" sz="1500"/>
                        <a:t>Observing runtime behavior (execution flow, memory, data access).</a:t>
                      </a:r>
                    </a:p>
                  </a:txBody>
                  <a:tcPr marL="78034" marR="78034" marT="39017" marB="39017" anchor="ctr">
                    <a:lnL>
                      <a:noFill/>
                    </a:lnL>
                    <a:lnR>
                      <a:noFill/>
                    </a:lnR>
                    <a:lnT>
                      <a:noFill/>
                    </a:lnT>
                    <a:lnB>
                      <a:noFill/>
                    </a:lnB>
                  </a:tcPr>
                </a:tc>
                <a:tc>
                  <a:txBody>
                    <a:bodyPr/>
                    <a:lstStyle/>
                    <a:p>
                      <a:r>
                        <a:rPr lang="en-US" sz="1500"/>
                        <a:t>Debuggers, profilers</a:t>
                      </a:r>
                    </a:p>
                  </a:txBody>
                  <a:tcPr marL="78034" marR="78034" marT="39017" marB="39017" anchor="ctr">
                    <a:lnL>
                      <a:noFill/>
                    </a:lnL>
                    <a:lnR>
                      <a:noFill/>
                    </a:lnR>
                    <a:lnT>
                      <a:noFill/>
                    </a:lnT>
                    <a:lnB>
                      <a:noFill/>
                    </a:lnB>
                  </a:tcPr>
                </a:tc>
              </a:tr>
              <a:tr h="592626">
                <a:tc>
                  <a:txBody>
                    <a:bodyPr/>
                    <a:lstStyle/>
                    <a:p>
                      <a:r>
                        <a:rPr lang="en-US" sz="1500" b="1"/>
                        <a:t>4. Data/Control Flow Analysis</a:t>
                      </a:r>
                      <a:endParaRPr lang="en-US" sz="1500"/>
                    </a:p>
                  </a:txBody>
                  <a:tcPr marL="78034" marR="78034" marT="39017" marB="39017" anchor="ctr">
                    <a:lnL>
                      <a:noFill/>
                    </a:lnL>
                    <a:lnR>
                      <a:noFill/>
                    </a:lnR>
                    <a:lnT>
                      <a:noFill/>
                    </a:lnT>
                    <a:lnB>
                      <a:noFill/>
                    </a:lnB>
                  </a:tcPr>
                </a:tc>
                <a:tc>
                  <a:txBody>
                    <a:bodyPr/>
                    <a:lstStyle/>
                    <a:p>
                      <a:r>
                        <a:rPr lang="en-US" sz="1500"/>
                        <a:t>Mapping how data moves and how modules interact.</a:t>
                      </a:r>
                    </a:p>
                  </a:txBody>
                  <a:tcPr marL="78034" marR="78034" marT="39017" marB="39017" anchor="ctr">
                    <a:lnL>
                      <a:noFill/>
                    </a:lnL>
                    <a:lnR>
                      <a:noFill/>
                    </a:lnR>
                    <a:lnT>
                      <a:noFill/>
                    </a:lnT>
                    <a:lnB>
                      <a:noFill/>
                    </a:lnB>
                  </a:tcPr>
                </a:tc>
                <a:tc>
                  <a:txBody>
                    <a:bodyPr/>
                    <a:lstStyle/>
                    <a:p>
                      <a:r>
                        <a:rPr lang="en-US" sz="1500"/>
                        <a:t>ER/Studio, DFD tools</a:t>
                      </a:r>
                    </a:p>
                  </a:txBody>
                  <a:tcPr marL="78034" marR="78034" marT="39017" marB="39017" anchor="ctr">
                    <a:lnL>
                      <a:noFill/>
                    </a:lnL>
                    <a:lnR>
                      <a:noFill/>
                    </a:lnR>
                    <a:lnT>
                      <a:noFill/>
                    </a:lnT>
                    <a:lnB>
                      <a:noFill/>
                    </a:lnB>
                  </a:tcPr>
                </a:tc>
              </a:tr>
              <a:tr h="846608">
                <a:tc>
                  <a:txBody>
                    <a:bodyPr/>
                    <a:lstStyle/>
                    <a:p>
                      <a:r>
                        <a:rPr lang="en-US" sz="1500" b="1"/>
                        <a:t>5. Design Recovery</a:t>
                      </a:r>
                      <a:endParaRPr lang="en-US" sz="1500"/>
                    </a:p>
                  </a:txBody>
                  <a:tcPr marL="78034" marR="78034" marT="39017" marB="39017" anchor="ctr">
                    <a:lnL>
                      <a:noFill/>
                    </a:lnL>
                    <a:lnR>
                      <a:noFill/>
                    </a:lnR>
                    <a:lnT>
                      <a:noFill/>
                    </a:lnT>
                    <a:lnB>
                      <a:noFill/>
                    </a:lnB>
                  </a:tcPr>
                </a:tc>
                <a:tc>
                  <a:txBody>
                    <a:bodyPr/>
                    <a:lstStyle/>
                    <a:p>
                      <a:r>
                        <a:rPr lang="en-US" sz="1500"/>
                        <a:t>Reconstructing high-level models (UML, architecture diagrams).</a:t>
                      </a:r>
                    </a:p>
                  </a:txBody>
                  <a:tcPr marL="78034" marR="78034" marT="39017" marB="39017" anchor="ctr">
                    <a:lnL>
                      <a:noFill/>
                    </a:lnL>
                    <a:lnR>
                      <a:noFill/>
                    </a:lnR>
                    <a:lnT>
                      <a:noFill/>
                    </a:lnT>
                    <a:lnB>
                      <a:noFill/>
                    </a:lnB>
                  </a:tcPr>
                </a:tc>
                <a:tc>
                  <a:txBody>
                    <a:bodyPr/>
                    <a:lstStyle/>
                    <a:p>
                      <a:r>
                        <a:rPr lang="en-US" sz="1500"/>
                        <a:t>Rational Rose, Enterprise Architect</a:t>
                      </a:r>
                    </a:p>
                  </a:txBody>
                  <a:tcPr marL="78034" marR="78034" marT="39017" marB="39017" anchor="ctr">
                    <a:lnL>
                      <a:noFill/>
                    </a:lnL>
                    <a:lnR>
                      <a:noFill/>
                    </a:lnR>
                    <a:lnT>
                      <a:noFill/>
                    </a:lnT>
                    <a:lnB>
                      <a:noFill/>
                    </a:lnB>
                  </a:tcPr>
                </a:tc>
              </a:tr>
              <a:tr h="846608">
                <a:tc>
                  <a:txBody>
                    <a:bodyPr/>
                    <a:lstStyle/>
                    <a:p>
                      <a:r>
                        <a:rPr lang="en-US" sz="1500" b="1"/>
                        <a:t>6. Documentation and Reporting</a:t>
                      </a:r>
                      <a:endParaRPr lang="en-US" sz="1500"/>
                    </a:p>
                  </a:txBody>
                  <a:tcPr marL="78034" marR="78034" marT="39017" marB="39017" anchor="ctr">
                    <a:lnL>
                      <a:noFill/>
                    </a:lnL>
                    <a:lnR>
                      <a:noFill/>
                    </a:lnR>
                    <a:lnT>
                      <a:noFill/>
                    </a:lnT>
                    <a:lnB>
                      <a:noFill/>
                    </a:lnB>
                  </a:tcPr>
                </a:tc>
                <a:tc>
                  <a:txBody>
                    <a:bodyPr/>
                    <a:lstStyle/>
                    <a:p>
                      <a:r>
                        <a:rPr lang="en-US" sz="1500"/>
                        <a:t>Producing maintainable documentation for re-engineering.</a:t>
                      </a:r>
                    </a:p>
                  </a:txBody>
                  <a:tcPr marL="78034" marR="78034" marT="39017" marB="39017" anchor="ctr">
                    <a:lnL>
                      <a:noFill/>
                    </a:lnL>
                    <a:lnR>
                      <a:noFill/>
                    </a:lnR>
                    <a:lnT>
                      <a:noFill/>
                    </a:lnT>
                    <a:lnB>
                      <a:noFill/>
                    </a:lnB>
                  </a:tcPr>
                </a:tc>
                <a:tc>
                  <a:txBody>
                    <a:bodyPr/>
                    <a:lstStyle/>
                    <a:p>
                      <a:r>
                        <a:rPr lang="en-US" sz="1500" dirty="0"/>
                        <a:t>CAST Report Generator, </a:t>
                      </a:r>
                      <a:r>
                        <a:rPr lang="en-US" sz="1500" dirty="0" err="1"/>
                        <a:t>DocTools</a:t>
                      </a:r>
                      <a:endParaRPr lang="en-US" sz="1500" dirty="0"/>
                    </a:p>
                  </a:txBody>
                  <a:tcPr marL="78034" marR="78034" marT="39017" marB="39017" anchor="ctr">
                    <a:lnL>
                      <a:noFill/>
                    </a:lnL>
                    <a:lnR>
                      <a:noFill/>
                    </a:lnR>
                    <a:lnT>
                      <a:noFill/>
                    </a:lnT>
                    <a:lnB>
                      <a:noFill/>
                    </a:lnB>
                  </a:tcPr>
                </a:tc>
              </a:tr>
            </a:tbl>
          </a:graphicData>
        </a:graphic>
      </p:graphicFrame>
    </p:spTree>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Phase 1: Information Extraction (Data Collection)</a:t>
            </a:r>
          </a:p>
        </p:txBody>
      </p:sp>
      <p:sp>
        <p:nvSpPr>
          <p:cNvPr id="3" name="Content Placeholder 2"/>
          <p:cNvSpPr>
            <a:spLocks noGrp="1"/>
          </p:cNvSpPr>
          <p:nvPr>
            <p:ph idx="1"/>
          </p:nvPr>
        </p:nvSpPr>
        <p:spPr>
          <a:xfrm>
            <a:off x="457200" y="1600200"/>
            <a:ext cx="8229600" cy="5001768"/>
          </a:xfrm>
        </p:spPr>
        <p:txBody>
          <a:bodyPr>
            <a:normAutofit fontScale="77500" lnSpcReduction="20000"/>
          </a:bodyPr>
          <a:lstStyle/>
          <a:p>
            <a:r>
              <a:rPr lang="en-US" b="1" dirty="0" smtClean="0"/>
              <a:t>Purpose</a:t>
            </a:r>
          </a:p>
          <a:p>
            <a:pPr lvl="1"/>
            <a:r>
              <a:rPr lang="en-US" dirty="0"/>
              <a:t>To gather </a:t>
            </a:r>
            <a:r>
              <a:rPr lang="en-US" b="1" dirty="0"/>
              <a:t>all available artifacts</a:t>
            </a:r>
            <a:r>
              <a:rPr lang="en-US" dirty="0"/>
              <a:t> related to the existing system — source code, </a:t>
            </a:r>
            <a:r>
              <a:rPr lang="en-US" dirty="0" err="1"/>
              <a:t>executables</a:t>
            </a:r>
            <a:r>
              <a:rPr lang="en-US" dirty="0"/>
              <a:t>, database schemas, configuration files, documentation (if any), and user manuals</a:t>
            </a:r>
            <a:r>
              <a:rPr lang="en-US" dirty="0" smtClean="0"/>
              <a:t>.</a:t>
            </a:r>
          </a:p>
          <a:p>
            <a:r>
              <a:rPr lang="en-US" b="1" dirty="0" smtClean="0"/>
              <a:t>Techniques</a:t>
            </a:r>
          </a:p>
          <a:p>
            <a:pPr lvl="1"/>
            <a:r>
              <a:rPr lang="en-US" b="1" dirty="0"/>
              <a:t>Code extraction</a:t>
            </a:r>
            <a:r>
              <a:rPr lang="en-US" dirty="0"/>
              <a:t> – collecting source files from repositories</a:t>
            </a:r>
            <a:r>
              <a:rPr lang="en-US" dirty="0" smtClean="0"/>
              <a:t>.</a:t>
            </a:r>
          </a:p>
          <a:p>
            <a:pPr lvl="1"/>
            <a:r>
              <a:rPr lang="en-US" b="1" dirty="0"/>
              <a:t>Version history mining</a:t>
            </a:r>
            <a:r>
              <a:rPr lang="en-US" dirty="0"/>
              <a:t> – retrieving past changes from tools like </a:t>
            </a:r>
            <a:r>
              <a:rPr lang="en-US" dirty="0" err="1"/>
              <a:t>Git</a:t>
            </a:r>
            <a:r>
              <a:rPr lang="en-US" dirty="0" smtClean="0"/>
              <a:t>.</a:t>
            </a:r>
          </a:p>
          <a:p>
            <a:pPr lvl="1"/>
            <a:r>
              <a:rPr lang="en-US" b="1" dirty="0"/>
              <a:t>Artifact correlation</a:t>
            </a:r>
            <a:r>
              <a:rPr lang="en-US" dirty="0"/>
              <a:t> – linking code modules with database tables or user interfaces</a:t>
            </a:r>
            <a:r>
              <a:rPr lang="en-US" dirty="0" smtClean="0"/>
              <a:t>.</a:t>
            </a:r>
          </a:p>
          <a:p>
            <a:r>
              <a:rPr lang="en-US" b="1" dirty="0" smtClean="0"/>
              <a:t>Tools</a:t>
            </a:r>
          </a:p>
          <a:p>
            <a:pPr lvl="1"/>
            <a:r>
              <a:rPr lang="en-US" dirty="0"/>
              <a:t>File explorers, </a:t>
            </a:r>
            <a:r>
              <a:rPr lang="en-US" dirty="0" err="1"/>
              <a:t>Git</a:t>
            </a:r>
            <a:r>
              <a:rPr lang="en-US" dirty="0"/>
              <a:t>, SVN, or </a:t>
            </a:r>
            <a:r>
              <a:rPr lang="en-US" dirty="0" smtClean="0"/>
              <a:t>CVS</a:t>
            </a:r>
          </a:p>
          <a:p>
            <a:pPr lvl="1"/>
            <a:r>
              <a:rPr lang="en-US" dirty="0"/>
              <a:t>Code repositories (</a:t>
            </a:r>
            <a:r>
              <a:rPr lang="en-US" dirty="0" err="1"/>
              <a:t>GitHub</a:t>
            </a:r>
            <a:r>
              <a:rPr lang="en-US" dirty="0"/>
              <a:t>, </a:t>
            </a:r>
            <a:r>
              <a:rPr lang="en-US" dirty="0" err="1"/>
              <a:t>Bitbucket</a:t>
            </a:r>
            <a:r>
              <a:rPr lang="en-US" dirty="0" smtClean="0"/>
              <a:t>)</a:t>
            </a:r>
          </a:p>
          <a:p>
            <a:pPr lvl="1"/>
            <a:r>
              <a:rPr lang="en-US" dirty="0"/>
              <a:t>Dependency scanners like </a:t>
            </a:r>
            <a:r>
              <a:rPr lang="en-US" i="1" dirty="0"/>
              <a:t>Dependency Walker</a:t>
            </a:r>
            <a:r>
              <a:rPr lang="en-US" dirty="0"/>
              <a:t> or </a:t>
            </a:r>
            <a:r>
              <a:rPr lang="en-US" i="1" dirty="0"/>
              <a:t>Understand</a:t>
            </a:r>
            <a:endParaRPr lang="en-US" dirty="0"/>
          </a:p>
        </p:txBody>
      </p:sp>
    </p:spTree>
    <p:extLst>
      <p:ext uri="{BB962C8B-B14F-4D97-AF65-F5344CB8AC3E}">
        <p14:creationId xmlns:p14="http://schemas.microsoft.com/office/powerpoint/2010/main" val="33701541"/>
      </p:ext>
    </p:extLst>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 </a:t>
            </a:r>
            <a:endParaRPr lang="en-US" dirty="0"/>
          </a:p>
        </p:txBody>
      </p:sp>
      <p:sp>
        <p:nvSpPr>
          <p:cNvPr id="3" name="Content Placeholder 2"/>
          <p:cNvSpPr>
            <a:spLocks noGrp="1"/>
          </p:cNvSpPr>
          <p:nvPr>
            <p:ph idx="1"/>
          </p:nvPr>
        </p:nvSpPr>
        <p:spPr>
          <a:xfrm>
            <a:off x="457200" y="886968"/>
            <a:ext cx="8229600" cy="4525963"/>
          </a:xfrm>
        </p:spPr>
        <p:txBody>
          <a:bodyPr>
            <a:normAutofit/>
          </a:bodyPr>
          <a:lstStyle/>
          <a:p>
            <a:r>
              <a:rPr lang="en-US" b="1" dirty="0" smtClean="0"/>
              <a:t>Example</a:t>
            </a:r>
          </a:p>
          <a:p>
            <a:pPr lvl="1"/>
            <a:r>
              <a:rPr lang="en-US" dirty="0"/>
              <a:t>In a </a:t>
            </a:r>
            <a:r>
              <a:rPr lang="en-US" b="1" dirty="0"/>
              <a:t>legacy banking system (COBOL</a:t>
            </a:r>
            <a:r>
              <a:rPr lang="en-US" b="1" dirty="0" smtClean="0"/>
              <a:t>)</a:t>
            </a:r>
            <a:r>
              <a:rPr lang="en-US" dirty="0" smtClean="0"/>
              <a:t>:</a:t>
            </a:r>
          </a:p>
          <a:p>
            <a:pPr lvl="1"/>
            <a:r>
              <a:rPr lang="en-US" dirty="0"/>
              <a:t>Extract source programs (.</a:t>
            </a:r>
            <a:r>
              <a:rPr lang="en-US" dirty="0" err="1"/>
              <a:t>cblfiles</a:t>
            </a:r>
            <a:r>
              <a:rPr lang="en-US" dirty="0"/>
              <a:t>), copybooks, job control language (JCL) scripts, and transaction files for analysis</a:t>
            </a:r>
            <a:r>
              <a:rPr lang="en-US" dirty="0" smtClean="0"/>
              <a:t>.</a:t>
            </a:r>
          </a:p>
          <a:p>
            <a:r>
              <a:rPr lang="en-US" b="1" dirty="0" smtClean="0"/>
              <a:t>Output</a:t>
            </a:r>
          </a:p>
          <a:p>
            <a:pPr lvl="1"/>
            <a:r>
              <a:rPr lang="en-US" dirty="0"/>
              <a:t>A </a:t>
            </a:r>
            <a:r>
              <a:rPr lang="en-US" b="1" dirty="0"/>
              <a:t>comprehensive collection of system artifacts</a:t>
            </a:r>
            <a:r>
              <a:rPr lang="en-US" dirty="0"/>
              <a:t>, forming the input for deeper analysis.</a:t>
            </a:r>
          </a:p>
        </p:txBody>
      </p:sp>
    </p:spTree>
    <p:extLst>
      <p:ext uri="{BB962C8B-B14F-4D97-AF65-F5344CB8AC3E}">
        <p14:creationId xmlns:p14="http://schemas.microsoft.com/office/powerpoint/2010/main" val="1708421439"/>
      </p:ext>
    </p:extLst>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Phase 2: Static Analysis</a:t>
            </a:r>
          </a:p>
        </p:txBody>
      </p:sp>
      <p:sp>
        <p:nvSpPr>
          <p:cNvPr id="3" name="Content Placeholder 2"/>
          <p:cNvSpPr>
            <a:spLocks noGrp="1"/>
          </p:cNvSpPr>
          <p:nvPr>
            <p:ph idx="1"/>
          </p:nvPr>
        </p:nvSpPr>
        <p:spPr/>
        <p:txBody>
          <a:bodyPr>
            <a:normAutofit fontScale="85000" lnSpcReduction="20000"/>
          </a:bodyPr>
          <a:lstStyle/>
          <a:p>
            <a:r>
              <a:rPr lang="en-US" b="1" dirty="0" smtClean="0"/>
              <a:t>Purpose</a:t>
            </a:r>
          </a:p>
          <a:p>
            <a:pPr lvl="1"/>
            <a:r>
              <a:rPr lang="en-US" dirty="0"/>
              <a:t>To analyze the system </a:t>
            </a:r>
            <a:r>
              <a:rPr lang="en-US" b="1" dirty="0"/>
              <a:t>without executing it</a:t>
            </a:r>
            <a:r>
              <a:rPr lang="en-US" dirty="0"/>
              <a:t>, focusing on </a:t>
            </a:r>
            <a:r>
              <a:rPr lang="en-US" b="1" dirty="0"/>
              <a:t>code structure</a:t>
            </a:r>
            <a:r>
              <a:rPr lang="en-US" dirty="0"/>
              <a:t>, </a:t>
            </a:r>
            <a:r>
              <a:rPr lang="en-US" b="1" dirty="0"/>
              <a:t>control flow</a:t>
            </a:r>
            <a:r>
              <a:rPr lang="en-US" dirty="0"/>
              <a:t>, </a:t>
            </a:r>
            <a:r>
              <a:rPr lang="en-US" b="1" dirty="0"/>
              <a:t>dependencies</a:t>
            </a:r>
            <a:r>
              <a:rPr lang="en-US" dirty="0"/>
              <a:t>, and </a:t>
            </a:r>
            <a:r>
              <a:rPr lang="en-US" b="1" dirty="0"/>
              <a:t>potential issues</a:t>
            </a:r>
            <a:r>
              <a:rPr lang="en-US" dirty="0" smtClean="0"/>
              <a:t>.</a:t>
            </a:r>
          </a:p>
          <a:p>
            <a:r>
              <a:rPr lang="en-US" b="1" dirty="0" smtClean="0"/>
              <a:t>Techniques</a:t>
            </a:r>
          </a:p>
          <a:p>
            <a:pPr lvl="1"/>
            <a:r>
              <a:rPr lang="en-US" b="1" dirty="0"/>
              <a:t>Lexical and syntactic analysis</a:t>
            </a:r>
            <a:r>
              <a:rPr lang="en-US" dirty="0"/>
              <a:t> – parsing the source code to identify modules, variables, and functions</a:t>
            </a:r>
            <a:r>
              <a:rPr lang="en-US" dirty="0" smtClean="0"/>
              <a:t>.</a:t>
            </a:r>
          </a:p>
          <a:p>
            <a:pPr lvl="1"/>
            <a:r>
              <a:rPr lang="en-US" b="1" dirty="0"/>
              <a:t>Control Flow Analysis (CFA)</a:t>
            </a:r>
            <a:r>
              <a:rPr lang="en-US" dirty="0"/>
              <a:t> – understanding logic paths (if-else, loops</a:t>
            </a:r>
            <a:r>
              <a:rPr lang="en-US" dirty="0" smtClean="0"/>
              <a:t>).</a:t>
            </a:r>
          </a:p>
          <a:p>
            <a:pPr lvl="1"/>
            <a:r>
              <a:rPr lang="en-US" b="1" dirty="0"/>
              <a:t>Dependency analysis</a:t>
            </a:r>
            <a:r>
              <a:rPr lang="en-US" dirty="0"/>
              <a:t> – identifying inter-module dependencies</a:t>
            </a:r>
            <a:r>
              <a:rPr lang="en-US" dirty="0" smtClean="0"/>
              <a:t>.</a:t>
            </a:r>
          </a:p>
          <a:p>
            <a:pPr lvl="1"/>
            <a:r>
              <a:rPr lang="en-US" b="1" dirty="0"/>
              <a:t>Code quality analysis</a:t>
            </a:r>
            <a:r>
              <a:rPr lang="en-US" dirty="0"/>
              <a:t> – detecting code smells, duplication, or complexity.</a:t>
            </a:r>
          </a:p>
        </p:txBody>
      </p:sp>
    </p:spTree>
    <p:extLst>
      <p:ext uri="{BB962C8B-B14F-4D97-AF65-F5344CB8AC3E}">
        <p14:creationId xmlns:p14="http://schemas.microsoft.com/office/powerpoint/2010/main" val="601843236"/>
      </p:ext>
    </p:extLst>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 </a:t>
            </a:r>
            <a:endParaRPr lang="en-US" dirty="0"/>
          </a:p>
        </p:txBody>
      </p:sp>
      <p:sp>
        <p:nvSpPr>
          <p:cNvPr id="3" name="Content Placeholder 2"/>
          <p:cNvSpPr>
            <a:spLocks noGrp="1"/>
          </p:cNvSpPr>
          <p:nvPr>
            <p:ph idx="1"/>
          </p:nvPr>
        </p:nvSpPr>
        <p:spPr>
          <a:xfrm>
            <a:off x="457200" y="969264"/>
            <a:ext cx="8229600" cy="5522659"/>
          </a:xfrm>
        </p:spPr>
        <p:txBody>
          <a:bodyPr>
            <a:normAutofit/>
          </a:bodyPr>
          <a:lstStyle/>
          <a:p>
            <a:r>
              <a:rPr lang="en-US" b="1" dirty="0" smtClean="0"/>
              <a:t>Tools</a:t>
            </a:r>
            <a:endParaRPr lang="en-US" b="1" dirty="0"/>
          </a:p>
          <a:p>
            <a:pPr lvl="1" algn="just"/>
            <a:r>
              <a:rPr lang="en-US" b="1" dirty="0" err="1"/>
              <a:t>SonarQube</a:t>
            </a:r>
            <a:r>
              <a:rPr lang="en-US" dirty="0"/>
              <a:t> – detects duplicated logic, complexity, and maintainability issues</a:t>
            </a:r>
            <a:r>
              <a:rPr lang="en-US" dirty="0" smtClean="0"/>
              <a:t>.</a:t>
            </a:r>
          </a:p>
          <a:p>
            <a:pPr lvl="1" algn="just"/>
            <a:r>
              <a:rPr lang="en-US" b="1" dirty="0"/>
              <a:t>CAST AIP</a:t>
            </a:r>
            <a:r>
              <a:rPr lang="en-US" dirty="0"/>
              <a:t> – performs deep static analysis and risk assessment</a:t>
            </a:r>
            <a:r>
              <a:rPr lang="en-US" dirty="0" smtClean="0"/>
              <a:t>.</a:t>
            </a:r>
          </a:p>
          <a:p>
            <a:pPr lvl="1" algn="just"/>
            <a:r>
              <a:rPr lang="en-US" b="1" dirty="0"/>
              <a:t>Understand (</a:t>
            </a:r>
            <a:r>
              <a:rPr lang="en-US" b="1" dirty="0" err="1"/>
              <a:t>SciTools</a:t>
            </a:r>
            <a:r>
              <a:rPr lang="en-US" b="1" dirty="0"/>
              <a:t>)</a:t>
            </a:r>
            <a:r>
              <a:rPr lang="en-US" dirty="0"/>
              <a:t> – extracts architecture and dependency graphs</a:t>
            </a:r>
            <a:r>
              <a:rPr lang="en-US" dirty="0" smtClean="0"/>
              <a:t>.</a:t>
            </a:r>
          </a:p>
          <a:p>
            <a:pPr lvl="1" algn="just"/>
            <a:r>
              <a:rPr lang="en-US" b="1" dirty="0"/>
              <a:t>IDEs</a:t>
            </a:r>
            <a:r>
              <a:rPr lang="en-US" dirty="0"/>
              <a:t> (Eclipse, </a:t>
            </a:r>
            <a:r>
              <a:rPr lang="en-US" dirty="0" err="1"/>
              <a:t>IntelliJ</a:t>
            </a:r>
            <a:r>
              <a:rPr lang="en-US" dirty="0"/>
              <a:t>, Visual Studio) – provide structure and class explorers.</a:t>
            </a:r>
          </a:p>
        </p:txBody>
      </p:sp>
    </p:spTree>
    <p:extLst>
      <p:ext uri="{BB962C8B-B14F-4D97-AF65-F5344CB8AC3E}">
        <p14:creationId xmlns:p14="http://schemas.microsoft.com/office/powerpoint/2010/main" val="1838573162"/>
      </p:ext>
    </p:extLst>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 </a:t>
            </a:r>
            <a:endParaRPr lang="en-US" dirty="0"/>
          </a:p>
        </p:txBody>
      </p:sp>
      <p:sp>
        <p:nvSpPr>
          <p:cNvPr id="3" name="Content Placeholder 2"/>
          <p:cNvSpPr>
            <a:spLocks noGrp="1"/>
          </p:cNvSpPr>
          <p:nvPr>
            <p:ph idx="1"/>
          </p:nvPr>
        </p:nvSpPr>
        <p:spPr>
          <a:xfrm>
            <a:off x="457200" y="1078992"/>
            <a:ext cx="8229600" cy="4525963"/>
          </a:xfrm>
        </p:spPr>
        <p:txBody>
          <a:bodyPr>
            <a:normAutofit/>
          </a:bodyPr>
          <a:lstStyle/>
          <a:p>
            <a:r>
              <a:rPr lang="en-US" b="1" dirty="0" smtClean="0"/>
              <a:t>Example</a:t>
            </a:r>
          </a:p>
          <a:p>
            <a:pPr lvl="1"/>
            <a:r>
              <a:rPr lang="en-US" dirty="0"/>
              <a:t>Using </a:t>
            </a:r>
            <a:r>
              <a:rPr lang="en-US" b="1" dirty="0" err="1"/>
              <a:t>SonarQube</a:t>
            </a:r>
            <a:r>
              <a:rPr lang="en-US" dirty="0"/>
              <a:t> on a COBOL banking application can identify:</a:t>
            </a:r>
          </a:p>
          <a:p>
            <a:pPr lvl="2"/>
            <a:r>
              <a:rPr lang="en-US" dirty="0"/>
              <a:t>Duplicate account validation routines</a:t>
            </a:r>
          </a:p>
          <a:p>
            <a:pPr lvl="2"/>
            <a:r>
              <a:rPr lang="en-US" dirty="0"/>
              <a:t>Hard-coded constants</a:t>
            </a:r>
          </a:p>
          <a:p>
            <a:pPr lvl="2"/>
            <a:r>
              <a:rPr lang="en-US" dirty="0"/>
              <a:t>Unused variables or dead code</a:t>
            </a:r>
          </a:p>
          <a:p>
            <a:r>
              <a:rPr lang="en-US" b="1" dirty="0"/>
              <a:t>Output</a:t>
            </a:r>
          </a:p>
          <a:p>
            <a:pPr lvl="1"/>
            <a:r>
              <a:rPr lang="en-US" dirty="0"/>
              <a:t>Static code metrics, dependency graphs, and code quality reports.</a:t>
            </a:r>
          </a:p>
          <a:p>
            <a:endParaRPr lang="en-US" dirty="0"/>
          </a:p>
        </p:txBody>
      </p:sp>
    </p:spTree>
    <p:extLst>
      <p:ext uri="{BB962C8B-B14F-4D97-AF65-F5344CB8AC3E}">
        <p14:creationId xmlns:p14="http://schemas.microsoft.com/office/powerpoint/2010/main" val="4130565670"/>
      </p:ext>
    </p:extLst>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Phase 3: Dynamic Analysis</a:t>
            </a:r>
          </a:p>
        </p:txBody>
      </p:sp>
      <p:sp>
        <p:nvSpPr>
          <p:cNvPr id="3" name="Content Placeholder 2"/>
          <p:cNvSpPr>
            <a:spLocks noGrp="1"/>
          </p:cNvSpPr>
          <p:nvPr>
            <p:ph idx="1"/>
          </p:nvPr>
        </p:nvSpPr>
        <p:spPr/>
        <p:txBody>
          <a:bodyPr>
            <a:normAutofit fontScale="85000" lnSpcReduction="20000"/>
          </a:bodyPr>
          <a:lstStyle/>
          <a:p>
            <a:r>
              <a:rPr lang="en-US" b="1" dirty="0"/>
              <a:t>Purpose</a:t>
            </a:r>
          </a:p>
          <a:p>
            <a:pPr lvl="1" algn="just"/>
            <a:r>
              <a:rPr lang="en-US" dirty="0"/>
              <a:t>To study the </a:t>
            </a:r>
            <a:r>
              <a:rPr lang="en-US" b="1" dirty="0"/>
              <a:t>runtime behavior</a:t>
            </a:r>
            <a:r>
              <a:rPr lang="en-US" dirty="0"/>
              <a:t> of the system — how it executes, interacts with inputs/outputs, and manages data flow during operation</a:t>
            </a:r>
            <a:r>
              <a:rPr lang="en-US" dirty="0" smtClean="0"/>
              <a:t>.</a:t>
            </a:r>
          </a:p>
          <a:p>
            <a:r>
              <a:rPr lang="en-US" b="1" dirty="0" smtClean="0"/>
              <a:t>Techniques</a:t>
            </a:r>
          </a:p>
          <a:p>
            <a:pPr lvl="1" algn="just"/>
            <a:r>
              <a:rPr lang="en-US" b="1" dirty="0"/>
              <a:t>Execution tracing</a:t>
            </a:r>
            <a:r>
              <a:rPr lang="en-US" dirty="0"/>
              <a:t> – recording the flow of function calls during execution</a:t>
            </a:r>
            <a:r>
              <a:rPr lang="en-US" dirty="0" smtClean="0"/>
              <a:t>.</a:t>
            </a:r>
          </a:p>
          <a:p>
            <a:pPr lvl="1" algn="just"/>
            <a:r>
              <a:rPr lang="en-US" b="1" dirty="0"/>
              <a:t>Profiling</a:t>
            </a:r>
            <a:r>
              <a:rPr lang="en-US" dirty="0"/>
              <a:t> – measuring resource usage (CPU, memory, I/O</a:t>
            </a:r>
            <a:r>
              <a:rPr lang="en-US" dirty="0" smtClean="0"/>
              <a:t>).</a:t>
            </a:r>
          </a:p>
          <a:p>
            <a:pPr lvl="1" algn="just"/>
            <a:r>
              <a:rPr lang="en-US" b="1" dirty="0"/>
              <a:t>Logging and monitoring</a:t>
            </a:r>
            <a:r>
              <a:rPr lang="en-US" dirty="0"/>
              <a:t> – capturing system events during operation</a:t>
            </a:r>
            <a:r>
              <a:rPr lang="en-US" dirty="0" smtClean="0"/>
              <a:t>.</a:t>
            </a:r>
          </a:p>
          <a:p>
            <a:pPr lvl="1" algn="just"/>
            <a:r>
              <a:rPr lang="en-US" b="1" dirty="0"/>
              <a:t>Behavioral modeling</a:t>
            </a:r>
            <a:r>
              <a:rPr lang="en-US" dirty="0"/>
              <a:t> – analyzing how inputs are transformed into outputs.</a:t>
            </a:r>
          </a:p>
        </p:txBody>
      </p:sp>
    </p:spTree>
    <p:extLst>
      <p:ext uri="{BB962C8B-B14F-4D97-AF65-F5344CB8AC3E}">
        <p14:creationId xmlns:p14="http://schemas.microsoft.com/office/powerpoint/2010/main" val="1235632497"/>
      </p:ext>
    </p:extLst>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 </a:t>
            </a:r>
            <a:endParaRPr lang="en-US" dirty="0"/>
          </a:p>
        </p:txBody>
      </p:sp>
      <p:sp>
        <p:nvSpPr>
          <p:cNvPr id="3" name="Content Placeholder 2"/>
          <p:cNvSpPr>
            <a:spLocks noGrp="1"/>
          </p:cNvSpPr>
          <p:nvPr>
            <p:ph idx="1"/>
          </p:nvPr>
        </p:nvSpPr>
        <p:spPr/>
        <p:txBody>
          <a:bodyPr/>
          <a:lstStyle/>
          <a:p>
            <a:r>
              <a:rPr lang="en-US" dirty="0" smtClean="0"/>
              <a:t>Tools</a:t>
            </a:r>
            <a:endParaRPr lang="en-US" dirty="0"/>
          </a:p>
          <a:p>
            <a:pPr lvl="1"/>
            <a:r>
              <a:rPr lang="en-US" b="1" dirty="0"/>
              <a:t>Debuggers</a:t>
            </a:r>
            <a:r>
              <a:rPr lang="en-US" dirty="0"/>
              <a:t> (GDB, </a:t>
            </a:r>
            <a:r>
              <a:rPr lang="en-US" dirty="0" err="1"/>
              <a:t>WinDbg</a:t>
            </a:r>
            <a:r>
              <a:rPr lang="en-US" dirty="0"/>
              <a:t>, COBOL Debugger</a:t>
            </a:r>
            <a:r>
              <a:rPr lang="en-US" dirty="0" smtClean="0"/>
              <a:t>)</a:t>
            </a:r>
          </a:p>
          <a:p>
            <a:pPr lvl="1"/>
            <a:r>
              <a:rPr lang="en-US" b="1" dirty="0"/>
              <a:t>Profilers</a:t>
            </a:r>
            <a:r>
              <a:rPr lang="en-US" dirty="0"/>
              <a:t> (</a:t>
            </a:r>
            <a:r>
              <a:rPr lang="en-US" dirty="0" err="1"/>
              <a:t>JProfiler</a:t>
            </a:r>
            <a:r>
              <a:rPr lang="en-US" dirty="0"/>
              <a:t>, </a:t>
            </a:r>
            <a:r>
              <a:rPr lang="en-US" dirty="0" err="1"/>
              <a:t>Perf</a:t>
            </a:r>
            <a:r>
              <a:rPr lang="en-US" dirty="0"/>
              <a:t>, </a:t>
            </a:r>
            <a:r>
              <a:rPr lang="en-US" dirty="0" err="1"/>
              <a:t>VisualVM</a:t>
            </a:r>
            <a:r>
              <a:rPr lang="en-US" dirty="0" smtClean="0"/>
              <a:t>)</a:t>
            </a:r>
          </a:p>
          <a:p>
            <a:pPr lvl="1"/>
            <a:r>
              <a:rPr lang="en-US" b="1" dirty="0"/>
              <a:t>Dynamic analyzers</a:t>
            </a:r>
            <a:r>
              <a:rPr lang="en-US" dirty="0"/>
              <a:t> (Pin, </a:t>
            </a:r>
            <a:r>
              <a:rPr lang="en-US" dirty="0" err="1"/>
              <a:t>Valgrind</a:t>
            </a:r>
            <a:r>
              <a:rPr lang="en-US" dirty="0" smtClean="0"/>
              <a:t>)</a:t>
            </a:r>
          </a:p>
          <a:p>
            <a:pPr lvl="1"/>
            <a:r>
              <a:rPr lang="en-US" b="1" dirty="0"/>
              <a:t>Monitoring tools</a:t>
            </a:r>
            <a:r>
              <a:rPr lang="en-US" dirty="0"/>
              <a:t> (</a:t>
            </a:r>
            <a:r>
              <a:rPr lang="en-US" dirty="0" err="1"/>
              <a:t>Splunk</a:t>
            </a:r>
            <a:r>
              <a:rPr lang="en-US" dirty="0"/>
              <a:t>, </a:t>
            </a:r>
            <a:r>
              <a:rPr lang="en-US" dirty="0" err="1"/>
              <a:t>AppDynamics</a:t>
            </a:r>
            <a:r>
              <a:rPr lang="en-US" dirty="0"/>
              <a:t>)</a:t>
            </a:r>
          </a:p>
        </p:txBody>
      </p:sp>
    </p:spTree>
    <p:extLst>
      <p:ext uri="{BB962C8B-B14F-4D97-AF65-F5344CB8AC3E}">
        <p14:creationId xmlns:p14="http://schemas.microsoft.com/office/powerpoint/2010/main" val="3907117544"/>
      </p:ext>
    </p:extLst>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  </a:t>
            </a:r>
            <a:endParaRPr lang="en-US" dirty="0"/>
          </a:p>
        </p:txBody>
      </p:sp>
      <p:sp>
        <p:nvSpPr>
          <p:cNvPr id="3" name="Content Placeholder 2"/>
          <p:cNvSpPr>
            <a:spLocks noGrp="1"/>
          </p:cNvSpPr>
          <p:nvPr>
            <p:ph idx="1"/>
          </p:nvPr>
        </p:nvSpPr>
        <p:spPr>
          <a:xfrm>
            <a:off x="457200" y="886968"/>
            <a:ext cx="8229600" cy="5239195"/>
          </a:xfrm>
        </p:spPr>
        <p:txBody>
          <a:bodyPr>
            <a:normAutofit/>
          </a:bodyPr>
          <a:lstStyle/>
          <a:p>
            <a:r>
              <a:rPr lang="en-US" dirty="0" smtClean="0"/>
              <a:t>Example</a:t>
            </a:r>
            <a:endParaRPr lang="en-US" dirty="0"/>
          </a:p>
          <a:p>
            <a:pPr lvl="1"/>
            <a:r>
              <a:rPr lang="en-US" dirty="0" smtClean="0"/>
              <a:t>Running </a:t>
            </a:r>
            <a:r>
              <a:rPr lang="en-US" dirty="0"/>
              <a:t>the legacy banking application with test data and tracing:</a:t>
            </a:r>
          </a:p>
          <a:p>
            <a:pPr lvl="2"/>
            <a:r>
              <a:rPr lang="en-US" dirty="0"/>
              <a:t>Transaction processing flow</a:t>
            </a:r>
          </a:p>
          <a:p>
            <a:pPr lvl="2"/>
            <a:r>
              <a:rPr lang="en-US" dirty="0"/>
              <a:t>Account update sequences</a:t>
            </a:r>
          </a:p>
          <a:p>
            <a:pPr lvl="2"/>
            <a:r>
              <a:rPr lang="en-US" dirty="0"/>
              <a:t>Performance bottlenecks during peak </a:t>
            </a:r>
            <a:r>
              <a:rPr lang="en-US" dirty="0" smtClean="0"/>
              <a:t>loads</a:t>
            </a:r>
          </a:p>
          <a:p>
            <a:r>
              <a:rPr lang="en-US" b="1" dirty="0"/>
              <a:t>Output</a:t>
            </a:r>
          </a:p>
          <a:p>
            <a:pPr lvl="1"/>
            <a:r>
              <a:rPr lang="en-US" dirty="0"/>
              <a:t>Runtime behavior reports, function call sequences, and performance analysis charts.</a:t>
            </a:r>
          </a:p>
          <a:p>
            <a:endParaRPr lang="en-US" dirty="0"/>
          </a:p>
          <a:p>
            <a:endParaRPr lang="en-US" dirty="0"/>
          </a:p>
        </p:txBody>
      </p:sp>
    </p:spTree>
    <p:extLst>
      <p:ext uri="{BB962C8B-B14F-4D97-AF65-F5344CB8AC3E}">
        <p14:creationId xmlns:p14="http://schemas.microsoft.com/office/powerpoint/2010/main" val="1348310764"/>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Phase 4: Data and Control Flow Analysis</a:t>
            </a:r>
          </a:p>
        </p:txBody>
      </p:sp>
      <p:sp>
        <p:nvSpPr>
          <p:cNvPr id="3" name="Content Placeholder 2"/>
          <p:cNvSpPr>
            <a:spLocks noGrp="1"/>
          </p:cNvSpPr>
          <p:nvPr>
            <p:ph idx="1"/>
          </p:nvPr>
        </p:nvSpPr>
        <p:spPr/>
        <p:txBody>
          <a:bodyPr>
            <a:normAutofit fontScale="85000" lnSpcReduction="20000"/>
          </a:bodyPr>
          <a:lstStyle/>
          <a:p>
            <a:r>
              <a:rPr lang="en-US" b="1" dirty="0"/>
              <a:t>Purpose</a:t>
            </a:r>
          </a:p>
          <a:p>
            <a:pPr lvl="1" algn="just"/>
            <a:r>
              <a:rPr lang="en-US" dirty="0"/>
              <a:t>To understand how data moves through the system and how control is transferred between modules and components</a:t>
            </a:r>
            <a:r>
              <a:rPr lang="en-US" dirty="0" smtClean="0"/>
              <a:t>.</a:t>
            </a:r>
          </a:p>
          <a:p>
            <a:r>
              <a:rPr lang="en-US" b="1" dirty="0"/>
              <a:t>Techniques</a:t>
            </a:r>
          </a:p>
          <a:p>
            <a:pPr lvl="1" algn="just"/>
            <a:r>
              <a:rPr lang="en-US" b="1" dirty="0"/>
              <a:t>Data Flow Diagrams (DFDs)</a:t>
            </a:r>
            <a:r>
              <a:rPr lang="en-US" dirty="0"/>
              <a:t> – visualize data movement between processes.</a:t>
            </a:r>
          </a:p>
          <a:p>
            <a:pPr lvl="1" algn="just"/>
            <a:r>
              <a:rPr lang="en-US" b="1" dirty="0"/>
              <a:t>Entity-Relationship (ER) Diagrams</a:t>
            </a:r>
            <a:r>
              <a:rPr lang="en-US" dirty="0"/>
              <a:t> – model database structure.</a:t>
            </a:r>
          </a:p>
          <a:p>
            <a:pPr lvl="1" algn="just"/>
            <a:r>
              <a:rPr lang="en-US" b="1" dirty="0"/>
              <a:t>Control Flow Graphs (CFGs)</a:t>
            </a:r>
            <a:r>
              <a:rPr lang="en-US" dirty="0"/>
              <a:t> – represent decision and loop paths.</a:t>
            </a:r>
          </a:p>
          <a:p>
            <a:pPr lvl="1" algn="just"/>
            <a:r>
              <a:rPr lang="en-US" b="1" dirty="0"/>
              <a:t>State Transition Diagrams (STDs)</a:t>
            </a:r>
            <a:r>
              <a:rPr lang="en-US" dirty="0"/>
              <a:t> – capture system state changes.</a:t>
            </a:r>
          </a:p>
          <a:p>
            <a:endParaRPr lang="en-US" dirty="0"/>
          </a:p>
        </p:txBody>
      </p:sp>
    </p:spTree>
    <p:extLst>
      <p:ext uri="{BB962C8B-B14F-4D97-AF65-F5344CB8AC3E}">
        <p14:creationId xmlns:p14="http://schemas.microsoft.com/office/powerpoint/2010/main" val="3727335426"/>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 </a:t>
            </a:r>
            <a:endParaRPr lang="en-US" dirty="0"/>
          </a:p>
        </p:txBody>
      </p:sp>
      <p:sp>
        <p:nvSpPr>
          <p:cNvPr id="3" name="Content Placeholder 2"/>
          <p:cNvSpPr>
            <a:spLocks noGrp="1"/>
          </p:cNvSpPr>
          <p:nvPr>
            <p:ph idx="1"/>
          </p:nvPr>
        </p:nvSpPr>
        <p:spPr/>
        <p:txBody>
          <a:bodyPr>
            <a:normAutofit lnSpcReduction="10000"/>
          </a:bodyPr>
          <a:lstStyle/>
          <a:p>
            <a:pPr marL="0" indent="0">
              <a:buNone/>
            </a:pPr>
            <a:r>
              <a:rPr lang="en-US" dirty="0" smtClean="0"/>
              <a:t>Tools</a:t>
            </a:r>
          </a:p>
          <a:p>
            <a:r>
              <a:rPr lang="en-US" b="1" dirty="0"/>
              <a:t>ER/Studio</a:t>
            </a:r>
            <a:r>
              <a:rPr lang="en-US" dirty="0"/>
              <a:t> or </a:t>
            </a:r>
            <a:r>
              <a:rPr lang="en-US" b="1" dirty="0"/>
              <a:t>Oracle Data Modeler</a:t>
            </a:r>
            <a:r>
              <a:rPr lang="en-US" dirty="0"/>
              <a:t> – for ER diagrams</a:t>
            </a:r>
            <a:r>
              <a:rPr lang="en-US" dirty="0" smtClean="0"/>
              <a:t>.</a:t>
            </a:r>
          </a:p>
          <a:p>
            <a:r>
              <a:rPr lang="en-US" b="1" dirty="0"/>
              <a:t>IBM Rational Rose</a:t>
            </a:r>
            <a:r>
              <a:rPr lang="en-US" dirty="0"/>
              <a:t> or </a:t>
            </a:r>
            <a:r>
              <a:rPr lang="en-US" b="1" dirty="0"/>
              <a:t>Enterprise Architect</a:t>
            </a:r>
            <a:r>
              <a:rPr lang="en-US" dirty="0"/>
              <a:t> – for UML modeling</a:t>
            </a:r>
            <a:r>
              <a:rPr lang="en-US" dirty="0" smtClean="0"/>
              <a:t>.</a:t>
            </a:r>
          </a:p>
          <a:p>
            <a:r>
              <a:rPr lang="en-US" b="1" dirty="0"/>
              <a:t>Code2Flow</a:t>
            </a:r>
            <a:r>
              <a:rPr lang="en-US" dirty="0"/>
              <a:t>, </a:t>
            </a:r>
            <a:r>
              <a:rPr lang="en-US" b="1" dirty="0" err="1"/>
              <a:t>Flowgorithm</a:t>
            </a:r>
            <a:r>
              <a:rPr lang="en-US" dirty="0"/>
              <a:t>, or </a:t>
            </a:r>
            <a:r>
              <a:rPr lang="en-US" b="1" dirty="0" err="1"/>
              <a:t>PlantUML</a:t>
            </a:r>
            <a:r>
              <a:rPr lang="en-US" dirty="0"/>
              <a:t> – for control flow visualization</a:t>
            </a:r>
            <a:r>
              <a:rPr lang="en-US" dirty="0" smtClean="0"/>
              <a:t>.</a:t>
            </a:r>
          </a:p>
          <a:p>
            <a:r>
              <a:rPr lang="en-US" b="1" dirty="0"/>
              <a:t>CAST AIP</a:t>
            </a:r>
            <a:r>
              <a:rPr lang="en-US" dirty="0"/>
              <a:t> – auto-generates dataflow diagrams from code.</a:t>
            </a:r>
          </a:p>
        </p:txBody>
      </p:sp>
    </p:spTree>
    <p:extLst>
      <p:ext uri="{BB962C8B-B14F-4D97-AF65-F5344CB8AC3E}">
        <p14:creationId xmlns:p14="http://schemas.microsoft.com/office/powerpoint/2010/main" val="2019958173"/>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 </a:t>
            </a:r>
            <a:endParaRPr lang="en-US" dirty="0"/>
          </a:p>
        </p:txBody>
      </p:sp>
      <p:sp>
        <p:nvSpPr>
          <p:cNvPr id="3" name="Content Placeholder 2"/>
          <p:cNvSpPr>
            <a:spLocks noGrp="1"/>
          </p:cNvSpPr>
          <p:nvPr>
            <p:ph idx="1"/>
          </p:nvPr>
        </p:nvSpPr>
        <p:spPr>
          <a:xfrm>
            <a:off x="457200" y="886968"/>
            <a:ext cx="8229600" cy="4525963"/>
          </a:xfrm>
        </p:spPr>
        <p:txBody>
          <a:bodyPr/>
          <a:lstStyle/>
          <a:p>
            <a:r>
              <a:rPr lang="en-US" b="1" dirty="0" smtClean="0"/>
              <a:t>Example</a:t>
            </a:r>
          </a:p>
          <a:p>
            <a:pPr lvl="1"/>
            <a:r>
              <a:rPr lang="en-US" dirty="0"/>
              <a:t>In the banking system:</a:t>
            </a:r>
          </a:p>
          <a:p>
            <a:pPr lvl="2"/>
            <a:r>
              <a:rPr lang="en-US" dirty="0"/>
              <a:t>DFDs show data movement from </a:t>
            </a:r>
            <a:r>
              <a:rPr lang="en-US" i="1" dirty="0"/>
              <a:t>customer input → transaction module → database → audit logs</a:t>
            </a:r>
            <a:endParaRPr lang="en-US" dirty="0"/>
          </a:p>
          <a:p>
            <a:pPr lvl="2"/>
            <a:r>
              <a:rPr lang="en-US" dirty="0"/>
              <a:t>ER diagrams represent entities like </a:t>
            </a:r>
            <a:r>
              <a:rPr lang="en-US" i="1" dirty="0"/>
              <a:t>Accounts, Transactions, </a:t>
            </a:r>
            <a:r>
              <a:rPr lang="en-US" i="1" dirty="0" smtClean="0"/>
              <a:t>Customers</a:t>
            </a:r>
          </a:p>
          <a:p>
            <a:r>
              <a:rPr lang="en-US" b="1" dirty="0"/>
              <a:t>Output</a:t>
            </a:r>
          </a:p>
          <a:p>
            <a:pPr lvl="1"/>
            <a:r>
              <a:rPr lang="en-US" dirty="0"/>
              <a:t>A clear set of diagrams illustrating system logic, process flow, and data relationships.</a:t>
            </a:r>
          </a:p>
          <a:p>
            <a:endParaRPr lang="en-US" dirty="0"/>
          </a:p>
          <a:p>
            <a:endParaRPr lang="en-US" dirty="0"/>
          </a:p>
        </p:txBody>
      </p:sp>
    </p:spTree>
    <p:extLst>
      <p:ext uri="{BB962C8B-B14F-4D97-AF65-F5344CB8AC3E}">
        <p14:creationId xmlns:p14="http://schemas.microsoft.com/office/powerpoint/2010/main" val="1240284638"/>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Phase 5: Design Recovery</a:t>
            </a:r>
          </a:p>
        </p:txBody>
      </p:sp>
      <p:sp>
        <p:nvSpPr>
          <p:cNvPr id="3" name="Content Placeholder 2"/>
          <p:cNvSpPr>
            <a:spLocks noGrp="1"/>
          </p:cNvSpPr>
          <p:nvPr>
            <p:ph idx="1"/>
          </p:nvPr>
        </p:nvSpPr>
        <p:spPr/>
        <p:txBody>
          <a:bodyPr>
            <a:normAutofit fontScale="85000" lnSpcReduction="20000"/>
          </a:bodyPr>
          <a:lstStyle/>
          <a:p>
            <a:r>
              <a:rPr lang="en-US" b="1" dirty="0"/>
              <a:t>Purpose</a:t>
            </a:r>
          </a:p>
          <a:p>
            <a:pPr lvl="1"/>
            <a:r>
              <a:rPr lang="en-US" dirty="0"/>
              <a:t>To reconstruct higher-level design and architecture from the analyzed information — essentially moving from code</a:t>
            </a:r>
            <a:r>
              <a:rPr lang="en-US" b="1" dirty="0"/>
              <a:t> to </a:t>
            </a:r>
            <a:r>
              <a:rPr lang="en-US" dirty="0"/>
              <a:t>design</a:t>
            </a:r>
            <a:r>
              <a:rPr lang="en-US" dirty="0" smtClean="0"/>
              <a:t>.</a:t>
            </a:r>
          </a:p>
          <a:p>
            <a:r>
              <a:rPr lang="en-US" b="1" dirty="0" smtClean="0"/>
              <a:t>Techniques</a:t>
            </a:r>
            <a:endParaRPr lang="en-US" b="1" dirty="0"/>
          </a:p>
          <a:p>
            <a:pPr lvl="1" algn="just"/>
            <a:r>
              <a:rPr lang="en-US" b="1" dirty="0"/>
              <a:t>Architecture recovery</a:t>
            </a:r>
            <a:r>
              <a:rPr lang="en-US" dirty="0"/>
              <a:t> – identifying system layers, patterns, and frameworks.</a:t>
            </a:r>
          </a:p>
          <a:p>
            <a:pPr lvl="1" algn="just"/>
            <a:r>
              <a:rPr lang="en-US" b="1" dirty="0"/>
              <a:t>UML model generation</a:t>
            </a:r>
            <a:r>
              <a:rPr lang="en-US" dirty="0"/>
              <a:t> – class, sequence, component, and deployment diagrams.</a:t>
            </a:r>
          </a:p>
          <a:p>
            <a:pPr lvl="1" algn="just"/>
            <a:r>
              <a:rPr lang="en-US" b="1" dirty="0"/>
              <a:t>Pattern recognition</a:t>
            </a:r>
            <a:r>
              <a:rPr lang="en-US" dirty="0"/>
              <a:t> – detecting recurring design </a:t>
            </a:r>
            <a:r>
              <a:rPr lang="en-US" dirty="0" smtClean="0"/>
              <a:t>patterns.</a:t>
            </a:r>
            <a:endParaRPr lang="en-US" dirty="0"/>
          </a:p>
          <a:p>
            <a:pPr lvl="1" algn="just"/>
            <a:r>
              <a:rPr lang="en-US" b="1" dirty="0"/>
              <a:t>Abstraction synthesis</a:t>
            </a:r>
            <a:r>
              <a:rPr lang="en-US" dirty="0"/>
              <a:t> – deriving conceptual and architectural views.</a:t>
            </a:r>
          </a:p>
          <a:p>
            <a:endParaRPr lang="en-US" dirty="0"/>
          </a:p>
        </p:txBody>
      </p:sp>
    </p:spTree>
    <p:extLst>
      <p:ext uri="{BB962C8B-B14F-4D97-AF65-F5344CB8AC3E}">
        <p14:creationId xmlns:p14="http://schemas.microsoft.com/office/powerpoint/2010/main" val="2887077315"/>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  </a:t>
            </a:r>
            <a:endParaRPr lang="en-US" dirty="0"/>
          </a:p>
        </p:txBody>
      </p:sp>
      <p:sp>
        <p:nvSpPr>
          <p:cNvPr id="3" name="Content Placeholder 2"/>
          <p:cNvSpPr>
            <a:spLocks noGrp="1"/>
          </p:cNvSpPr>
          <p:nvPr>
            <p:ph idx="1"/>
          </p:nvPr>
        </p:nvSpPr>
        <p:spPr>
          <a:xfrm>
            <a:off x="457200" y="941832"/>
            <a:ext cx="8229600" cy="5184331"/>
          </a:xfrm>
        </p:spPr>
        <p:txBody>
          <a:bodyPr>
            <a:normAutofit fontScale="85000" lnSpcReduction="20000"/>
          </a:bodyPr>
          <a:lstStyle/>
          <a:p>
            <a:r>
              <a:rPr lang="en-US" b="1" dirty="0"/>
              <a:t>Tools</a:t>
            </a:r>
          </a:p>
          <a:p>
            <a:pPr lvl="1"/>
            <a:r>
              <a:rPr lang="en-US" b="1" dirty="0"/>
              <a:t>Enterprise Architect</a:t>
            </a:r>
            <a:r>
              <a:rPr lang="en-US" dirty="0"/>
              <a:t>, </a:t>
            </a:r>
            <a:r>
              <a:rPr lang="en-US" b="1" dirty="0"/>
              <a:t>Rational Rose</a:t>
            </a:r>
            <a:r>
              <a:rPr lang="en-US" dirty="0"/>
              <a:t>, or </a:t>
            </a:r>
            <a:r>
              <a:rPr lang="en-US" b="1" dirty="0"/>
              <a:t>Visual Paradigm</a:t>
            </a:r>
            <a:r>
              <a:rPr lang="en-US" dirty="0"/>
              <a:t> – for UML modeling.</a:t>
            </a:r>
          </a:p>
          <a:p>
            <a:pPr lvl="1"/>
            <a:r>
              <a:rPr lang="en-US" b="1" dirty="0" err="1"/>
              <a:t>Modelio</a:t>
            </a:r>
            <a:r>
              <a:rPr lang="en-US" dirty="0"/>
              <a:t>, </a:t>
            </a:r>
            <a:r>
              <a:rPr lang="en-US" b="1" dirty="0" err="1"/>
              <a:t>Archi</a:t>
            </a:r>
            <a:r>
              <a:rPr lang="en-US" dirty="0"/>
              <a:t>, or </a:t>
            </a:r>
            <a:r>
              <a:rPr lang="en-US" b="1" dirty="0" err="1"/>
              <a:t>StarUML</a:t>
            </a:r>
            <a:r>
              <a:rPr lang="en-US" dirty="0"/>
              <a:t> – for architecture modeling.</a:t>
            </a:r>
          </a:p>
          <a:p>
            <a:pPr lvl="1"/>
            <a:r>
              <a:rPr lang="en-US" b="1" dirty="0"/>
              <a:t>CAST AIP</a:t>
            </a:r>
            <a:r>
              <a:rPr lang="en-US" dirty="0"/>
              <a:t>, </a:t>
            </a:r>
            <a:r>
              <a:rPr lang="en-US" b="1" dirty="0" err="1"/>
              <a:t>MoDisco</a:t>
            </a:r>
            <a:r>
              <a:rPr lang="en-US" dirty="0"/>
              <a:t>, or </a:t>
            </a:r>
            <a:r>
              <a:rPr lang="en-US" b="1" dirty="0" err="1"/>
              <a:t>ReEngineer</a:t>
            </a:r>
            <a:r>
              <a:rPr lang="en-US" dirty="0"/>
              <a:t> – for automated model extraction</a:t>
            </a:r>
            <a:r>
              <a:rPr lang="en-US" dirty="0" smtClean="0"/>
              <a:t>.</a:t>
            </a:r>
          </a:p>
          <a:p>
            <a:r>
              <a:rPr lang="en-US" b="1" dirty="0"/>
              <a:t>Example</a:t>
            </a:r>
          </a:p>
          <a:p>
            <a:pPr lvl="1"/>
            <a:r>
              <a:rPr lang="en-US" dirty="0"/>
              <a:t>From a COBOL legacy system:</a:t>
            </a:r>
          </a:p>
          <a:p>
            <a:pPr lvl="2"/>
            <a:r>
              <a:rPr lang="en-US" dirty="0"/>
              <a:t>Recreate a 3-tier architecture (presentation, business, database layers)</a:t>
            </a:r>
          </a:p>
          <a:p>
            <a:pPr lvl="2"/>
            <a:r>
              <a:rPr lang="en-US" dirty="0"/>
              <a:t>Generate UML class and sequence diagrams to represent transaction workflows</a:t>
            </a:r>
          </a:p>
          <a:p>
            <a:r>
              <a:rPr lang="en-US" b="1" dirty="0"/>
              <a:t>Output</a:t>
            </a:r>
          </a:p>
          <a:p>
            <a:pPr lvl="1"/>
            <a:r>
              <a:rPr lang="en-US" dirty="0"/>
              <a:t>A full architectural and design-level understanding of the system — suitable for modernization or re-engineering</a:t>
            </a:r>
            <a:r>
              <a:rPr lang="en-US" dirty="0" smtClean="0"/>
              <a:t>.</a:t>
            </a:r>
            <a:endParaRPr lang="en-US" dirty="0"/>
          </a:p>
        </p:txBody>
      </p:sp>
    </p:spTree>
    <p:extLst>
      <p:ext uri="{BB962C8B-B14F-4D97-AF65-F5344CB8AC3E}">
        <p14:creationId xmlns:p14="http://schemas.microsoft.com/office/powerpoint/2010/main" val="2334286575"/>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Phase 6: Documentation and Reporting</a:t>
            </a:r>
          </a:p>
        </p:txBody>
      </p:sp>
      <p:sp>
        <p:nvSpPr>
          <p:cNvPr id="3" name="Content Placeholder 2"/>
          <p:cNvSpPr>
            <a:spLocks noGrp="1"/>
          </p:cNvSpPr>
          <p:nvPr>
            <p:ph idx="1"/>
          </p:nvPr>
        </p:nvSpPr>
        <p:spPr/>
        <p:txBody>
          <a:bodyPr>
            <a:normAutofit fontScale="92500" lnSpcReduction="10000"/>
          </a:bodyPr>
          <a:lstStyle/>
          <a:p>
            <a:r>
              <a:rPr lang="en-US" b="1" dirty="0"/>
              <a:t>Purpose</a:t>
            </a:r>
          </a:p>
          <a:p>
            <a:pPr lvl="1" algn="just"/>
            <a:r>
              <a:rPr lang="en-US" dirty="0"/>
              <a:t>To compile all discovered knowledge into structured documentation that aids maintenance, migration, or future development</a:t>
            </a:r>
            <a:r>
              <a:rPr lang="en-US" dirty="0" smtClean="0"/>
              <a:t>.</a:t>
            </a:r>
          </a:p>
          <a:p>
            <a:r>
              <a:rPr lang="en-US" b="1" dirty="0"/>
              <a:t>Techniques</a:t>
            </a:r>
          </a:p>
          <a:p>
            <a:pPr lvl="1" algn="just"/>
            <a:r>
              <a:rPr lang="en-US" dirty="0"/>
              <a:t>Automated documentation generation</a:t>
            </a:r>
          </a:p>
          <a:p>
            <a:pPr lvl="1" algn="just"/>
            <a:r>
              <a:rPr lang="en-US" dirty="0"/>
              <a:t>Knowledge graph construction</a:t>
            </a:r>
          </a:p>
          <a:p>
            <a:pPr lvl="1" algn="just"/>
            <a:r>
              <a:rPr lang="en-US" dirty="0"/>
              <a:t>Reporting on maintainability and risk</a:t>
            </a:r>
          </a:p>
          <a:p>
            <a:pPr lvl="1" algn="just"/>
            <a:r>
              <a:rPr lang="en-US" dirty="0"/>
              <a:t>Traceability matrix creation (requirements → modules)</a:t>
            </a:r>
          </a:p>
          <a:p>
            <a:endParaRPr lang="en-US" dirty="0"/>
          </a:p>
        </p:txBody>
      </p:sp>
    </p:spTree>
    <p:extLst>
      <p:ext uri="{BB962C8B-B14F-4D97-AF65-F5344CB8AC3E}">
        <p14:creationId xmlns:p14="http://schemas.microsoft.com/office/powerpoint/2010/main" val="1120246477"/>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   </a:t>
            </a:r>
            <a:endParaRPr lang="en-US" dirty="0"/>
          </a:p>
        </p:txBody>
      </p:sp>
      <p:sp>
        <p:nvSpPr>
          <p:cNvPr id="3" name="Content Placeholder 2"/>
          <p:cNvSpPr>
            <a:spLocks noGrp="1"/>
          </p:cNvSpPr>
          <p:nvPr>
            <p:ph idx="1"/>
          </p:nvPr>
        </p:nvSpPr>
        <p:spPr>
          <a:xfrm>
            <a:off x="457200" y="941832"/>
            <a:ext cx="8229600" cy="5184331"/>
          </a:xfrm>
        </p:spPr>
        <p:txBody>
          <a:bodyPr>
            <a:normAutofit fontScale="92500" lnSpcReduction="10000"/>
          </a:bodyPr>
          <a:lstStyle/>
          <a:p>
            <a:r>
              <a:rPr lang="en-US" b="1" dirty="0"/>
              <a:t>Tools</a:t>
            </a:r>
          </a:p>
          <a:p>
            <a:pPr lvl="1"/>
            <a:r>
              <a:rPr lang="en-US" dirty="0"/>
              <a:t>CAST Report Generator, </a:t>
            </a:r>
            <a:r>
              <a:rPr lang="en-US" dirty="0" err="1"/>
              <a:t>DocTools</a:t>
            </a:r>
            <a:r>
              <a:rPr lang="en-US" dirty="0"/>
              <a:t>, </a:t>
            </a:r>
            <a:r>
              <a:rPr lang="en-US" dirty="0" err="1"/>
              <a:t>Doxygen</a:t>
            </a:r>
            <a:r>
              <a:rPr lang="en-US" dirty="0"/>
              <a:t>, or Sphinx</a:t>
            </a:r>
          </a:p>
          <a:p>
            <a:pPr lvl="1"/>
            <a:r>
              <a:rPr lang="en-US" dirty="0"/>
              <a:t>Microsoft Word, Confluence, or </a:t>
            </a:r>
            <a:r>
              <a:rPr lang="en-US" dirty="0" err="1"/>
              <a:t>LaTeX</a:t>
            </a:r>
            <a:r>
              <a:rPr lang="en-US" dirty="0"/>
              <a:t> for manual documentation</a:t>
            </a:r>
          </a:p>
          <a:p>
            <a:pPr lvl="1"/>
            <a:r>
              <a:rPr lang="en-US" dirty="0"/>
              <a:t>Visualization dashboards (Power BI, </a:t>
            </a:r>
            <a:r>
              <a:rPr lang="en-US" dirty="0" err="1"/>
              <a:t>Grafana</a:t>
            </a:r>
            <a:r>
              <a:rPr lang="en-US" dirty="0"/>
              <a:t>) for metrics </a:t>
            </a:r>
            <a:r>
              <a:rPr lang="en-US" dirty="0" smtClean="0"/>
              <a:t>reporting</a:t>
            </a:r>
          </a:p>
          <a:p>
            <a:r>
              <a:rPr lang="en-US" b="1" dirty="0"/>
              <a:t>Example</a:t>
            </a:r>
          </a:p>
          <a:p>
            <a:pPr lvl="1"/>
            <a:r>
              <a:rPr lang="en-US" dirty="0"/>
              <a:t>Produce a Maintainability and Risk Report using CAST AIP summarizing:</a:t>
            </a:r>
          </a:p>
          <a:p>
            <a:pPr lvl="2"/>
            <a:r>
              <a:rPr lang="en-US" dirty="0"/>
              <a:t>Code complexity</a:t>
            </a:r>
          </a:p>
          <a:p>
            <a:pPr lvl="2"/>
            <a:r>
              <a:rPr lang="en-US" dirty="0"/>
              <a:t>Security vulnerabilities</a:t>
            </a:r>
          </a:p>
          <a:p>
            <a:pPr lvl="2"/>
            <a:r>
              <a:rPr lang="en-US" dirty="0"/>
              <a:t>Re-engineering recommendations</a:t>
            </a:r>
          </a:p>
          <a:p>
            <a:endParaRPr lang="en-US" dirty="0"/>
          </a:p>
        </p:txBody>
      </p:sp>
    </p:spTree>
    <p:extLst>
      <p:ext uri="{BB962C8B-B14F-4D97-AF65-F5344CB8AC3E}">
        <p14:creationId xmlns:p14="http://schemas.microsoft.com/office/powerpoint/2010/main" val="1206718390"/>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30618"/>
          </a:xfrm>
        </p:spPr>
        <p:txBody>
          <a:bodyPr>
            <a:normAutofit fontScale="90000"/>
          </a:bodyPr>
          <a:lstStyle/>
          <a:p>
            <a:r>
              <a:rPr lang="en-US" dirty="0" smtClean="0"/>
              <a:t>  </a:t>
            </a:r>
            <a:endParaRPr lang="en-US" dirty="0"/>
          </a:p>
        </p:txBody>
      </p:sp>
      <p:sp>
        <p:nvSpPr>
          <p:cNvPr id="3" name="Content Placeholder 2"/>
          <p:cNvSpPr>
            <a:spLocks noGrp="1"/>
          </p:cNvSpPr>
          <p:nvPr>
            <p:ph idx="1"/>
          </p:nvPr>
        </p:nvSpPr>
        <p:spPr/>
        <p:txBody>
          <a:bodyPr/>
          <a:lstStyle/>
          <a:p>
            <a:r>
              <a:rPr lang="en-US" b="1" dirty="0"/>
              <a:t>Output</a:t>
            </a:r>
          </a:p>
          <a:p>
            <a:pPr lvl="1"/>
            <a:r>
              <a:rPr lang="en-US" dirty="0"/>
              <a:t>Complete technical documentation, including:</a:t>
            </a:r>
          </a:p>
          <a:p>
            <a:pPr lvl="1"/>
            <a:r>
              <a:rPr lang="en-US" dirty="0"/>
              <a:t>Architecture diagrams</a:t>
            </a:r>
          </a:p>
          <a:p>
            <a:pPr lvl="1"/>
            <a:r>
              <a:rPr lang="en-US" dirty="0"/>
              <a:t>DFDs and ER diagrams</a:t>
            </a:r>
          </a:p>
          <a:p>
            <a:pPr lvl="1"/>
            <a:r>
              <a:rPr lang="en-US" dirty="0"/>
              <a:t>Code quality and risk metrics</a:t>
            </a:r>
          </a:p>
          <a:p>
            <a:pPr lvl="1"/>
            <a:r>
              <a:rPr lang="en-US" dirty="0"/>
              <a:t>Recommendations for modernization</a:t>
            </a:r>
          </a:p>
        </p:txBody>
      </p:sp>
    </p:spTree>
    <p:extLst>
      <p:ext uri="{BB962C8B-B14F-4D97-AF65-F5344CB8AC3E}">
        <p14:creationId xmlns:p14="http://schemas.microsoft.com/office/powerpoint/2010/main" val="4226909278"/>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Example Summary (Banking System Re-engineering)</a:t>
            </a:r>
          </a:p>
        </p:txBody>
      </p:sp>
      <p:sp>
        <p:nvSpPr>
          <p:cNvPr id="3" name="Content Placeholder 2"/>
          <p:cNvSpPr>
            <a:spLocks noGrp="1"/>
          </p:cNvSpPr>
          <p:nvPr>
            <p:ph idx="1"/>
          </p:nvPr>
        </p:nvSpPr>
        <p:spPr/>
        <p:txBody>
          <a:bodyPr>
            <a:normAutofit fontScale="92500" lnSpcReduction="20000"/>
          </a:bodyPr>
          <a:lstStyle/>
          <a:p>
            <a:r>
              <a:rPr lang="en-US" b="1" dirty="0"/>
              <a:t>Input:</a:t>
            </a:r>
            <a:r>
              <a:rPr lang="en-US" dirty="0"/>
              <a:t> COBOL-based legacy system</a:t>
            </a:r>
            <a:br>
              <a:rPr lang="en-US" dirty="0"/>
            </a:br>
            <a:r>
              <a:rPr lang="en-US" b="1" dirty="0"/>
              <a:t>Process:</a:t>
            </a:r>
            <a:endParaRPr lang="en-US" dirty="0"/>
          </a:p>
          <a:p>
            <a:pPr lvl="1"/>
            <a:r>
              <a:rPr lang="en-US" dirty="0"/>
              <a:t>Extract source and data.</a:t>
            </a:r>
          </a:p>
          <a:p>
            <a:pPr lvl="1"/>
            <a:r>
              <a:rPr lang="en-US" dirty="0"/>
              <a:t>Perform static analysis in </a:t>
            </a:r>
            <a:r>
              <a:rPr lang="en-US" dirty="0" err="1"/>
              <a:t>SonarQube</a:t>
            </a:r>
            <a:r>
              <a:rPr lang="en-US" dirty="0"/>
              <a:t>.</a:t>
            </a:r>
          </a:p>
          <a:p>
            <a:pPr lvl="1"/>
            <a:r>
              <a:rPr lang="en-US" dirty="0"/>
              <a:t>Trace runtime behavior using COBOL debugger.</a:t>
            </a:r>
          </a:p>
          <a:p>
            <a:pPr lvl="1"/>
            <a:r>
              <a:rPr lang="en-US" dirty="0"/>
              <a:t>Map transactions and accounts in ER/Studio.</a:t>
            </a:r>
          </a:p>
          <a:p>
            <a:pPr lvl="1"/>
            <a:r>
              <a:rPr lang="en-US" dirty="0"/>
              <a:t>Generate UML architecture in Rational Rose.</a:t>
            </a:r>
          </a:p>
          <a:p>
            <a:pPr lvl="1"/>
            <a:r>
              <a:rPr lang="en-US" dirty="0"/>
              <a:t>Produce maintainability report using CAST AIP.</a:t>
            </a:r>
          </a:p>
          <a:p>
            <a:pPr algn="just"/>
            <a:r>
              <a:rPr lang="en-US" b="1" dirty="0"/>
              <a:t>Output:</a:t>
            </a:r>
            <a:r>
              <a:rPr lang="en-US" dirty="0"/>
              <a:t> A complete, documented understanding ready for modernization into Java or </a:t>
            </a:r>
            <a:r>
              <a:rPr lang="en-US" dirty="0" err="1"/>
              <a:t>microservices</a:t>
            </a:r>
            <a:r>
              <a:rPr lang="en-US" dirty="0"/>
              <a:t>.</a:t>
            </a:r>
          </a:p>
          <a:p>
            <a:endParaRPr lang="en-US" dirty="0"/>
          </a:p>
        </p:txBody>
      </p:sp>
    </p:spTree>
    <p:extLst>
      <p:ext uri="{BB962C8B-B14F-4D97-AF65-F5344CB8AC3E}">
        <p14:creationId xmlns:p14="http://schemas.microsoft.com/office/powerpoint/2010/main" val="1627539831"/>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Reverse Engineering in Software Re-Engineering</a:t>
            </a:r>
          </a:p>
        </p:txBody>
      </p:sp>
      <p:sp>
        <p:nvSpPr>
          <p:cNvPr id="3" name="Content Placeholder 2"/>
          <p:cNvSpPr>
            <a:spLocks noGrp="1"/>
          </p:cNvSpPr>
          <p:nvPr>
            <p:ph idx="1"/>
          </p:nvPr>
        </p:nvSpPr>
        <p:spPr>
          <a:xfrm>
            <a:off x="457200" y="1600200"/>
            <a:ext cx="8229600" cy="5166360"/>
          </a:xfrm>
        </p:spPr>
        <p:txBody>
          <a:bodyPr>
            <a:normAutofit fontScale="77500" lnSpcReduction="20000"/>
          </a:bodyPr>
          <a:lstStyle/>
          <a:p>
            <a:r>
              <a:rPr lang="en-US" dirty="0"/>
              <a:t>Reverse Engineering is the first phase in the Software Re-Engineering process</a:t>
            </a:r>
            <a:r>
              <a:rPr lang="en-US" dirty="0" smtClean="0"/>
              <a:t>.</a:t>
            </a:r>
          </a:p>
          <a:p>
            <a:r>
              <a:rPr lang="en-US" dirty="0"/>
              <a:t>Flow</a:t>
            </a:r>
            <a:r>
              <a:rPr lang="en-US" dirty="0" smtClean="0"/>
              <a:t>:</a:t>
            </a:r>
          </a:p>
          <a:p>
            <a:pPr lvl="1"/>
            <a:r>
              <a:rPr lang="en-US" dirty="0"/>
              <a:t>Reverse Engineering → Analysis → Forward Engineering (Reconstruction</a:t>
            </a:r>
            <a:r>
              <a:rPr lang="en-US" dirty="0" smtClean="0"/>
              <a:t>)</a:t>
            </a:r>
          </a:p>
          <a:p>
            <a:r>
              <a:rPr lang="en-US" dirty="0"/>
              <a:t>It helps extract:</a:t>
            </a:r>
          </a:p>
          <a:p>
            <a:pPr lvl="1"/>
            <a:r>
              <a:rPr lang="en-US" dirty="0"/>
              <a:t>Design Models (UML diagrams)</a:t>
            </a:r>
          </a:p>
          <a:p>
            <a:pPr lvl="1"/>
            <a:r>
              <a:rPr lang="en-US" dirty="0"/>
              <a:t>Entity-Relationship (ER) diagrams</a:t>
            </a:r>
          </a:p>
          <a:p>
            <a:pPr lvl="1"/>
            <a:r>
              <a:rPr lang="en-US" dirty="0"/>
              <a:t>Process models</a:t>
            </a:r>
          </a:p>
          <a:p>
            <a:pPr lvl="1"/>
            <a:r>
              <a:rPr lang="en-US" dirty="0"/>
              <a:t>Business rules</a:t>
            </a:r>
          </a:p>
          <a:p>
            <a:pPr lvl="1"/>
            <a:r>
              <a:rPr lang="en-US" dirty="0"/>
              <a:t>Data flow </a:t>
            </a:r>
            <a:r>
              <a:rPr lang="en-US" dirty="0" smtClean="0"/>
              <a:t>representations</a:t>
            </a:r>
          </a:p>
          <a:p>
            <a:r>
              <a:rPr lang="en-US" dirty="0"/>
              <a:t>This knowledge is then used in </a:t>
            </a:r>
            <a:r>
              <a:rPr lang="en-US" b="1" dirty="0"/>
              <a:t>Forward Engineering</a:t>
            </a:r>
            <a:r>
              <a:rPr lang="en-US" dirty="0"/>
              <a:t> to:</a:t>
            </a:r>
          </a:p>
          <a:p>
            <a:pPr lvl="1"/>
            <a:r>
              <a:rPr lang="en-US" dirty="0"/>
              <a:t>Rebuild the system using modern technologies</a:t>
            </a:r>
          </a:p>
          <a:p>
            <a:pPr lvl="1"/>
            <a:r>
              <a:rPr lang="en-US" dirty="0"/>
              <a:t>Improve maintainability, performance, and scalability</a:t>
            </a:r>
          </a:p>
          <a:p>
            <a:endParaRPr lang="en-US" dirty="0"/>
          </a:p>
          <a:p>
            <a:endParaRPr lang="en-US" dirty="0"/>
          </a:p>
        </p:txBody>
      </p:sp>
    </p:spTree>
    <p:extLst>
      <p:ext uri="{BB962C8B-B14F-4D97-AF65-F5344CB8AC3E}">
        <p14:creationId xmlns:p14="http://schemas.microsoft.com/office/powerpoint/2010/main" val="1968133875"/>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Types of Reverse Engineering</a:t>
            </a:r>
          </a:p>
        </p:txBody>
      </p:sp>
      <p:sp>
        <p:nvSpPr>
          <p:cNvPr id="3" name="Content Placeholder 2"/>
          <p:cNvSpPr>
            <a:spLocks noGrp="1"/>
          </p:cNvSpPr>
          <p:nvPr>
            <p:ph idx="1"/>
          </p:nvPr>
        </p:nvSpPr>
        <p:spPr>
          <a:xfrm>
            <a:off x="457200" y="1307592"/>
            <a:ext cx="8229600" cy="5550408"/>
          </a:xfrm>
        </p:spPr>
        <p:txBody>
          <a:bodyPr>
            <a:normAutofit fontScale="70000" lnSpcReduction="20000"/>
          </a:bodyPr>
          <a:lstStyle/>
          <a:p>
            <a:pPr marL="0" indent="0">
              <a:buNone/>
            </a:pPr>
            <a:r>
              <a:rPr lang="en-US" dirty="0"/>
              <a:t>Reverse engineering can be categorized based on purpose, level of abstraction, or focus area.</a:t>
            </a:r>
            <a:br>
              <a:rPr lang="en-US" dirty="0"/>
            </a:br>
            <a:r>
              <a:rPr lang="en-US" dirty="0"/>
              <a:t>Here are the major types</a:t>
            </a:r>
            <a:r>
              <a:rPr lang="en-US" dirty="0" smtClean="0"/>
              <a:t>:</a:t>
            </a:r>
          </a:p>
          <a:p>
            <a:pPr marL="0" indent="0" algn="just">
              <a:buNone/>
            </a:pPr>
            <a:endParaRPr lang="en-US" dirty="0" smtClean="0"/>
          </a:p>
          <a:p>
            <a:pPr marL="0" indent="0">
              <a:buNone/>
            </a:pPr>
            <a:r>
              <a:rPr lang="en-US" b="1" dirty="0"/>
              <a:t>1. Program (Code-Level) Reverse Engineering</a:t>
            </a:r>
          </a:p>
          <a:p>
            <a:pPr algn="just"/>
            <a:r>
              <a:rPr lang="en-US" b="1" dirty="0"/>
              <a:t>Focus:</a:t>
            </a:r>
            <a:r>
              <a:rPr lang="en-US" dirty="0"/>
              <a:t> Source code or binary analysis.</a:t>
            </a:r>
            <a:br>
              <a:rPr lang="en-US" dirty="0"/>
            </a:br>
            <a:r>
              <a:rPr lang="en-US" b="1" dirty="0"/>
              <a:t>Goal:</a:t>
            </a:r>
            <a:r>
              <a:rPr lang="en-US" dirty="0"/>
              <a:t> Understand the internal logic, algorithms, data structures, and dependencies</a:t>
            </a:r>
            <a:r>
              <a:rPr lang="en-US" dirty="0" smtClean="0"/>
              <a:t>.</a:t>
            </a:r>
          </a:p>
          <a:p>
            <a:r>
              <a:rPr lang="en-US" b="1" dirty="0"/>
              <a:t>Used in:</a:t>
            </a:r>
            <a:endParaRPr lang="en-US" dirty="0"/>
          </a:p>
          <a:p>
            <a:pPr lvl="1"/>
            <a:r>
              <a:rPr lang="en-US" dirty="0"/>
              <a:t>Legacy COBOL or C system analysis.</a:t>
            </a:r>
          </a:p>
          <a:p>
            <a:pPr lvl="1"/>
            <a:r>
              <a:rPr lang="en-US" dirty="0"/>
              <a:t>Identifying code smells, duplicated logic, and unused modules</a:t>
            </a:r>
            <a:r>
              <a:rPr lang="en-US" dirty="0" smtClean="0"/>
              <a:t>.</a:t>
            </a:r>
          </a:p>
          <a:p>
            <a:r>
              <a:rPr lang="en-US" b="1" dirty="0"/>
              <a:t>Techniques/Tools:</a:t>
            </a:r>
            <a:endParaRPr lang="en-US" dirty="0"/>
          </a:p>
          <a:p>
            <a:pPr lvl="1"/>
            <a:r>
              <a:rPr lang="en-US" dirty="0"/>
              <a:t>Static analysis (e.g., </a:t>
            </a:r>
            <a:r>
              <a:rPr lang="en-US" dirty="0" err="1"/>
              <a:t>SonarQube</a:t>
            </a:r>
            <a:r>
              <a:rPr lang="en-US" dirty="0"/>
              <a:t>, Understand)</a:t>
            </a:r>
          </a:p>
          <a:p>
            <a:pPr lvl="1"/>
            <a:r>
              <a:rPr lang="en-US" dirty="0"/>
              <a:t>Dynamic analysis (profilers, debuggers)</a:t>
            </a:r>
          </a:p>
          <a:p>
            <a:pPr lvl="1"/>
            <a:r>
              <a:rPr lang="en-US" dirty="0" err="1"/>
              <a:t>Decompilation</a:t>
            </a:r>
            <a:r>
              <a:rPr lang="en-US" dirty="0"/>
              <a:t> (if source code missing)</a:t>
            </a:r>
          </a:p>
          <a:p>
            <a:pPr lvl="1"/>
            <a:r>
              <a:rPr lang="en-US" b="1" dirty="0"/>
              <a:t>Example:</a:t>
            </a:r>
            <a:r>
              <a:rPr lang="en-US" dirty="0"/>
              <a:t/>
            </a:r>
            <a:br>
              <a:rPr lang="en-US" dirty="0"/>
            </a:br>
            <a:r>
              <a:rPr lang="en-US" dirty="0"/>
              <a:t>Analyzing COBOL banking modules to extract transaction rules and file access logic.</a:t>
            </a:r>
          </a:p>
          <a:p>
            <a:pPr lvl="1"/>
            <a:endParaRPr lang="en-US" dirty="0"/>
          </a:p>
          <a:p>
            <a:pPr algn="just"/>
            <a:endParaRPr lang="en-US" dirty="0"/>
          </a:p>
          <a:p>
            <a:pPr marL="0" indent="0" algn="just">
              <a:buNone/>
            </a:pPr>
            <a:endParaRPr lang="en-US" dirty="0"/>
          </a:p>
        </p:txBody>
      </p:sp>
    </p:spTree>
    <p:extLst>
      <p:ext uri="{BB962C8B-B14F-4D97-AF65-F5344CB8AC3E}">
        <p14:creationId xmlns:p14="http://schemas.microsoft.com/office/powerpoint/2010/main" val="405081413"/>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2. Data Reverse Engineering</a:t>
            </a:r>
          </a:p>
        </p:txBody>
      </p:sp>
      <p:sp>
        <p:nvSpPr>
          <p:cNvPr id="3" name="Content Placeholder 2"/>
          <p:cNvSpPr>
            <a:spLocks noGrp="1"/>
          </p:cNvSpPr>
          <p:nvPr>
            <p:ph idx="1"/>
          </p:nvPr>
        </p:nvSpPr>
        <p:spPr>
          <a:xfrm>
            <a:off x="457200" y="1600200"/>
            <a:ext cx="8229600" cy="4919472"/>
          </a:xfrm>
        </p:spPr>
        <p:txBody>
          <a:bodyPr>
            <a:normAutofit fontScale="85000" lnSpcReduction="20000"/>
          </a:bodyPr>
          <a:lstStyle/>
          <a:p>
            <a:r>
              <a:rPr lang="en-US" b="1" dirty="0"/>
              <a:t>Focus:</a:t>
            </a:r>
            <a:r>
              <a:rPr lang="en-US" dirty="0"/>
              <a:t> Database, data files (like VSAM), or data </a:t>
            </a:r>
            <a:r>
              <a:rPr lang="en-US" dirty="0" smtClean="0"/>
              <a:t>models.</a:t>
            </a:r>
          </a:p>
          <a:p>
            <a:r>
              <a:rPr lang="en-US" b="1" dirty="0" smtClean="0"/>
              <a:t>Goal</a:t>
            </a:r>
            <a:r>
              <a:rPr lang="en-US" b="1" dirty="0"/>
              <a:t>:</a:t>
            </a:r>
            <a:r>
              <a:rPr lang="en-US" dirty="0"/>
              <a:t> Discover the logical and physical structure of data, relationships, and constraints.</a:t>
            </a:r>
          </a:p>
          <a:p>
            <a:r>
              <a:rPr lang="en-US" b="1" dirty="0"/>
              <a:t>Used in:</a:t>
            </a:r>
            <a:endParaRPr lang="en-US" dirty="0"/>
          </a:p>
          <a:p>
            <a:pPr lvl="1"/>
            <a:r>
              <a:rPr lang="en-US" dirty="0"/>
              <a:t>Migration from mainframe files to relational databases (e.g., DB2 → Oracle).</a:t>
            </a:r>
          </a:p>
          <a:p>
            <a:pPr lvl="1"/>
            <a:r>
              <a:rPr lang="en-US" dirty="0"/>
              <a:t>Rebuilding missing ER diagrams.</a:t>
            </a:r>
          </a:p>
          <a:p>
            <a:r>
              <a:rPr lang="en-US" b="1" dirty="0"/>
              <a:t>Techniques/Tools:</a:t>
            </a:r>
            <a:endParaRPr lang="en-US" dirty="0"/>
          </a:p>
          <a:p>
            <a:pPr lvl="1"/>
            <a:r>
              <a:rPr lang="en-US" dirty="0"/>
              <a:t>ER/Studio, Oracle Data Modeler, SQL Reverse Engineering tools.</a:t>
            </a:r>
          </a:p>
          <a:p>
            <a:pPr lvl="1"/>
            <a:r>
              <a:rPr lang="en-US" b="1" dirty="0"/>
              <a:t>Example:</a:t>
            </a:r>
            <a:r>
              <a:rPr lang="en-US" dirty="0"/>
              <a:t/>
            </a:r>
            <a:br>
              <a:rPr lang="en-US" dirty="0"/>
            </a:br>
            <a:r>
              <a:rPr lang="en-US" dirty="0"/>
              <a:t>Reverse-engineering VSAM or DB2 schemas to create an </a:t>
            </a:r>
            <a:r>
              <a:rPr lang="en-US" dirty="0" smtClean="0"/>
              <a:t>ER diagram of </a:t>
            </a:r>
            <a:r>
              <a:rPr lang="en-US" dirty="0"/>
              <a:t>accounts, transactions, and customers.</a:t>
            </a:r>
          </a:p>
        </p:txBody>
      </p:sp>
    </p:spTree>
    <p:extLst>
      <p:ext uri="{BB962C8B-B14F-4D97-AF65-F5344CB8AC3E}">
        <p14:creationId xmlns:p14="http://schemas.microsoft.com/office/powerpoint/2010/main" val="4179987112"/>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3. Architecture Reverse Engineering</a:t>
            </a:r>
          </a:p>
        </p:txBody>
      </p:sp>
      <p:sp>
        <p:nvSpPr>
          <p:cNvPr id="3" name="Content Placeholder 2"/>
          <p:cNvSpPr>
            <a:spLocks noGrp="1"/>
          </p:cNvSpPr>
          <p:nvPr>
            <p:ph idx="1"/>
          </p:nvPr>
        </p:nvSpPr>
        <p:spPr/>
        <p:txBody>
          <a:bodyPr>
            <a:normAutofit fontScale="85000" lnSpcReduction="20000"/>
          </a:bodyPr>
          <a:lstStyle/>
          <a:p>
            <a:r>
              <a:rPr lang="en-US" b="1" dirty="0"/>
              <a:t>Focus:</a:t>
            </a:r>
            <a:r>
              <a:rPr lang="en-US" dirty="0"/>
              <a:t> Software architecture — components, modules, and </a:t>
            </a:r>
            <a:r>
              <a:rPr lang="en-US" dirty="0" smtClean="0"/>
              <a:t>dependencies.</a:t>
            </a:r>
          </a:p>
          <a:p>
            <a:r>
              <a:rPr lang="en-US" b="1" dirty="0" smtClean="0"/>
              <a:t>Goal</a:t>
            </a:r>
            <a:r>
              <a:rPr lang="en-US" b="1" dirty="0"/>
              <a:t>:</a:t>
            </a:r>
            <a:r>
              <a:rPr lang="en-US" dirty="0"/>
              <a:t> Identify the overall system structure, control flow, and inter-module relationships.</a:t>
            </a:r>
          </a:p>
          <a:p>
            <a:r>
              <a:rPr lang="en-US" b="1" dirty="0"/>
              <a:t>Used in:</a:t>
            </a:r>
            <a:endParaRPr lang="en-US" dirty="0"/>
          </a:p>
          <a:p>
            <a:pPr lvl="1"/>
            <a:r>
              <a:rPr lang="en-US" dirty="0"/>
              <a:t>Large monolithic legacy systems.</a:t>
            </a:r>
          </a:p>
          <a:p>
            <a:pPr lvl="1"/>
            <a:r>
              <a:rPr lang="en-US" dirty="0"/>
              <a:t>Planning for modularization or </a:t>
            </a:r>
            <a:r>
              <a:rPr lang="en-US" dirty="0" err="1"/>
              <a:t>microservices</a:t>
            </a:r>
            <a:r>
              <a:rPr lang="en-US" dirty="0"/>
              <a:t> migration.</a:t>
            </a:r>
          </a:p>
          <a:p>
            <a:r>
              <a:rPr lang="en-US" b="1" dirty="0"/>
              <a:t>Techniques/Tools:</a:t>
            </a:r>
            <a:endParaRPr lang="en-US" dirty="0"/>
          </a:p>
          <a:p>
            <a:pPr lvl="1"/>
            <a:r>
              <a:rPr lang="en-US" dirty="0"/>
              <a:t>CAST AIP, Structure101, </a:t>
            </a:r>
            <a:r>
              <a:rPr lang="en-US" dirty="0" err="1"/>
              <a:t>Lattix</a:t>
            </a:r>
            <a:r>
              <a:rPr lang="en-US" dirty="0"/>
              <a:t>, Visual Paradigm.</a:t>
            </a:r>
          </a:p>
          <a:p>
            <a:pPr lvl="1"/>
            <a:r>
              <a:rPr lang="en-US" b="1" dirty="0"/>
              <a:t>Example:</a:t>
            </a:r>
            <a:r>
              <a:rPr lang="en-US" dirty="0"/>
              <a:t/>
            </a:r>
            <a:br>
              <a:rPr lang="en-US" dirty="0"/>
            </a:br>
            <a:r>
              <a:rPr lang="en-US" dirty="0"/>
              <a:t>Extracting a component diagram of a banking system showing </a:t>
            </a:r>
            <a:r>
              <a:rPr lang="en-US" dirty="0" smtClean="0"/>
              <a:t>modules</a:t>
            </a:r>
            <a:endParaRPr lang="en-US" dirty="0"/>
          </a:p>
        </p:txBody>
      </p:sp>
    </p:spTree>
    <p:extLst>
      <p:ext uri="{BB962C8B-B14F-4D97-AF65-F5344CB8AC3E}">
        <p14:creationId xmlns:p14="http://schemas.microsoft.com/office/powerpoint/2010/main" val="2764796944"/>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4. Design Reverse Engineering</a:t>
            </a:r>
          </a:p>
        </p:txBody>
      </p:sp>
      <p:sp>
        <p:nvSpPr>
          <p:cNvPr id="3" name="Content Placeholder 2"/>
          <p:cNvSpPr>
            <a:spLocks noGrp="1"/>
          </p:cNvSpPr>
          <p:nvPr>
            <p:ph idx="1"/>
          </p:nvPr>
        </p:nvSpPr>
        <p:spPr/>
        <p:txBody>
          <a:bodyPr>
            <a:normAutofit fontScale="77500" lnSpcReduction="20000"/>
          </a:bodyPr>
          <a:lstStyle/>
          <a:p>
            <a:r>
              <a:rPr lang="en-US" b="1" dirty="0"/>
              <a:t>Focus:</a:t>
            </a:r>
            <a:r>
              <a:rPr lang="en-US" dirty="0"/>
              <a:t> Software design (UML diagrams, data flow, control structures</a:t>
            </a:r>
            <a:r>
              <a:rPr lang="en-US" dirty="0" smtClean="0"/>
              <a:t>).</a:t>
            </a:r>
          </a:p>
          <a:p>
            <a:r>
              <a:rPr lang="en-US" b="1" dirty="0" smtClean="0"/>
              <a:t>Goal</a:t>
            </a:r>
            <a:r>
              <a:rPr lang="en-US" b="1" dirty="0"/>
              <a:t>:</a:t>
            </a:r>
            <a:r>
              <a:rPr lang="en-US" dirty="0"/>
              <a:t> Reconstruct design documentation (UML, DFDs, class diagrams) from code.</a:t>
            </a:r>
          </a:p>
          <a:p>
            <a:r>
              <a:rPr lang="en-US" b="1" dirty="0"/>
              <a:t>Used in:</a:t>
            </a:r>
            <a:endParaRPr lang="en-US" dirty="0"/>
          </a:p>
          <a:p>
            <a:pPr lvl="1"/>
            <a:r>
              <a:rPr lang="en-US" dirty="0"/>
              <a:t>When design documents are lost or outdated.</a:t>
            </a:r>
          </a:p>
          <a:p>
            <a:pPr lvl="1"/>
            <a:r>
              <a:rPr lang="en-US" dirty="0"/>
              <a:t>For maintenance and modernization planning.</a:t>
            </a:r>
          </a:p>
          <a:p>
            <a:r>
              <a:rPr lang="en-US" b="1" dirty="0"/>
              <a:t>Techniques/Tools:</a:t>
            </a:r>
            <a:endParaRPr lang="en-US" dirty="0"/>
          </a:p>
          <a:p>
            <a:pPr lvl="1"/>
            <a:r>
              <a:rPr lang="en-US" dirty="0"/>
              <a:t>Rational Rose, Enterprise Architect, Visual Paradigm, Code2Flow.</a:t>
            </a:r>
          </a:p>
          <a:p>
            <a:pPr lvl="1"/>
            <a:r>
              <a:rPr lang="en-US" b="1" dirty="0"/>
              <a:t>Example:</a:t>
            </a:r>
            <a:r>
              <a:rPr lang="en-US" dirty="0"/>
              <a:t/>
            </a:r>
            <a:br>
              <a:rPr lang="en-US" dirty="0"/>
            </a:br>
            <a:r>
              <a:rPr lang="en-US" dirty="0"/>
              <a:t>Generating a </a:t>
            </a:r>
            <a:r>
              <a:rPr lang="en-US" b="1" dirty="0"/>
              <a:t>DFD (Data Flow Diagram)</a:t>
            </a:r>
            <a:r>
              <a:rPr lang="en-US" dirty="0"/>
              <a:t> for “Deposit Transaction” from COBOL code.</a:t>
            </a:r>
          </a:p>
        </p:txBody>
      </p:sp>
    </p:spTree>
    <p:extLst>
      <p:ext uri="{BB962C8B-B14F-4D97-AF65-F5344CB8AC3E}">
        <p14:creationId xmlns:p14="http://schemas.microsoft.com/office/powerpoint/2010/main" val="1319727531"/>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5. Interface Reverse Engineering</a:t>
            </a:r>
          </a:p>
        </p:txBody>
      </p:sp>
      <p:sp>
        <p:nvSpPr>
          <p:cNvPr id="3" name="Content Placeholder 2"/>
          <p:cNvSpPr>
            <a:spLocks noGrp="1"/>
          </p:cNvSpPr>
          <p:nvPr>
            <p:ph idx="1"/>
          </p:nvPr>
        </p:nvSpPr>
        <p:spPr/>
        <p:txBody>
          <a:bodyPr>
            <a:normAutofit fontScale="77500" lnSpcReduction="20000"/>
          </a:bodyPr>
          <a:lstStyle/>
          <a:p>
            <a:pPr algn="just"/>
            <a:r>
              <a:rPr lang="en-US" b="1" dirty="0" smtClean="0"/>
              <a:t>Focus</a:t>
            </a:r>
            <a:r>
              <a:rPr lang="en-US" b="1" dirty="0"/>
              <a:t>:</a:t>
            </a:r>
            <a:r>
              <a:rPr lang="en-US" dirty="0"/>
              <a:t> System interfaces — APIs, file formats, communication </a:t>
            </a:r>
            <a:r>
              <a:rPr lang="en-US" dirty="0" smtClean="0"/>
              <a:t>protocols.</a:t>
            </a:r>
          </a:p>
          <a:p>
            <a:r>
              <a:rPr lang="en-US" b="1" dirty="0" smtClean="0"/>
              <a:t>Goal</a:t>
            </a:r>
            <a:r>
              <a:rPr lang="en-US" b="1" dirty="0"/>
              <a:t>:</a:t>
            </a:r>
            <a:r>
              <a:rPr lang="en-US" dirty="0"/>
              <a:t> Understand how different systems or components interact.</a:t>
            </a:r>
          </a:p>
          <a:p>
            <a:r>
              <a:rPr lang="en-US" b="1" dirty="0"/>
              <a:t>Used in:</a:t>
            </a:r>
            <a:endParaRPr lang="en-US" dirty="0"/>
          </a:p>
          <a:p>
            <a:pPr lvl="1"/>
            <a:r>
              <a:rPr lang="en-US" dirty="0"/>
              <a:t>Integration or replacement of legacy subsystems.</a:t>
            </a:r>
          </a:p>
          <a:p>
            <a:pPr lvl="1"/>
            <a:r>
              <a:rPr lang="en-US" dirty="0"/>
              <a:t>Creating wrappers or adapters.</a:t>
            </a:r>
          </a:p>
          <a:p>
            <a:r>
              <a:rPr lang="en-US" b="1" dirty="0"/>
              <a:t>Techniques/Tools:</a:t>
            </a:r>
            <a:endParaRPr lang="en-US" dirty="0"/>
          </a:p>
          <a:p>
            <a:pPr lvl="1"/>
            <a:r>
              <a:rPr lang="en-US" dirty="0" err="1"/>
              <a:t>Wireshark</a:t>
            </a:r>
            <a:r>
              <a:rPr lang="en-US" dirty="0"/>
              <a:t> (network), API sniffers, Swagger/</a:t>
            </a:r>
            <a:r>
              <a:rPr lang="en-US" dirty="0" err="1"/>
              <a:t>OpenAPI</a:t>
            </a:r>
            <a:r>
              <a:rPr lang="en-US" dirty="0"/>
              <a:t> generation tools.</a:t>
            </a:r>
          </a:p>
          <a:p>
            <a:pPr lvl="1"/>
            <a:r>
              <a:rPr lang="en-US" b="1" dirty="0"/>
              <a:t>Example:</a:t>
            </a:r>
            <a:r>
              <a:rPr lang="en-US" dirty="0"/>
              <a:t/>
            </a:r>
            <a:br>
              <a:rPr lang="en-US" dirty="0"/>
            </a:br>
            <a:r>
              <a:rPr lang="en-US" dirty="0"/>
              <a:t>Revealing how COBOL batch jobs send transaction data to external settlement systems.</a:t>
            </a:r>
          </a:p>
        </p:txBody>
      </p:sp>
    </p:spTree>
    <p:extLst>
      <p:ext uri="{BB962C8B-B14F-4D97-AF65-F5344CB8AC3E}">
        <p14:creationId xmlns:p14="http://schemas.microsoft.com/office/powerpoint/2010/main" val="133085145"/>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6. Security Reverse Engineering</a:t>
            </a:r>
          </a:p>
        </p:txBody>
      </p:sp>
      <p:sp>
        <p:nvSpPr>
          <p:cNvPr id="3" name="Content Placeholder 2"/>
          <p:cNvSpPr>
            <a:spLocks noGrp="1"/>
          </p:cNvSpPr>
          <p:nvPr>
            <p:ph idx="1"/>
          </p:nvPr>
        </p:nvSpPr>
        <p:spPr/>
        <p:txBody>
          <a:bodyPr>
            <a:normAutofit fontScale="77500" lnSpcReduction="20000"/>
          </a:bodyPr>
          <a:lstStyle/>
          <a:p>
            <a:r>
              <a:rPr lang="en-US" b="1" dirty="0"/>
              <a:t>Focus:</a:t>
            </a:r>
            <a:r>
              <a:rPr lang="en-US" dirty="0"/>
              <a:t> Security mechanisms, encryption, and </a:t>
            </a:r>
            <a:r>
              <a:rPr lang="en-US" dirty="0" smtClean="0"/>
              <a:t>vulnerabilities.</a:t>
            </a:r>
          </a:p>
          <a:p>
            <a:r>
              <a:rPr lang="en-US" b="1" dirty="0" smtClean="0"/>
              <a:t>Goal</a:t>
            </a:r>
            <a:r>
              <a:rPr lang="en-US" b="1" dirty="0"/>
              <a:t>:</a:t>
            </a:r>
            <a:r>
              <a:rPr lang="en-US" dirty="0"/>
              <a:t> Identify weaknesses, malicious code, or recover lost algorithms.</a:t>
            </a:r>
          </a:p>
          <a:p>
            <a:r>
              <a:rPr lang="en-US" b="1" dirty="0"/>
              <a:t>Used in:</a:t>
            </a:r>
            <a:endParaRPr lang="en-US" dirty="0"/>
          </a:p>
          <a:p>
            <a:pPr lvl="1"/>
            <a:r>
              <a:rPr lang="en-US" dirty="0"/>
              <a:t>Security audits or malware analysis (ethical contexts).</a:t>
            </a:r>
          </a:p>
          <a:p>
            <a:pPr lvl="1"/>
            <a:r>
              <a:rPr lang="en-US" dirty="0"/>
              <a:t>Verifying compliance and access control logic.</a:t>
            </a:r>
          </a:p>
          <a:p>
            <a:r>
              <a:rPr lang="en-US" b="1" dirty="0"/>
              <a:t>Techniques/Tools:</a:t>
            </a:r>
            <a:endParaRPr lang="en-US" dirty="0"/>
          </a:p>
          <a:p>
            <a:pPr lvl="1"/>
            <a:r>
              <a:rPr lang="en-US" dirty="0"/>
              <a:t>Disassemblers (IDA Pro), debuggers, penetration testing tools.</a:t>
            </a:r>
          </a:p>
          <a:p>
            <a:pPr lvl="1"/>
            <a:r>
              <a:rPr lang="en-US" b="1" dirty="0"/>
              <a:t>Example:</a:t>
            </a:r>
            <a:r>
              <a:rPr lang="en-US" dirty="0"/>
              <a:t/>
            </a:r>
            <a:br>
              <a:rPr lang="en-US" dirty="0"/>
            </a:br>
            <a:r>
              <a:rPr lang="en-US" dirty="0"/>
              <a:t>Analyzing COBOL code that encrypts customer PINs or stores credentials.</a:t>
            </a:r>
          </a:p>
        </p:txBody>
      </p:sp>
    </p:spTree>
    <p:extLst>
      <p:ext uri="{BB962C8B-B14F-4D97-AF65-F5344CB8AC3E}">
        <p14:creationId xmlns:p14="http://schemas.microsoft.com/office/powerpoint/2010/main" val="2878928006"/>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7. Network/Protocol Reverse Engineering</a:t>
            </a:r>
          </a:p>
        </p:txBody>
      </p:sp>
      <p:sp>
        <p:nvSpPr>
          <p:cNvPr id="3" name="Content Placeholder 2"/>
          <p:cNvSpPr>
            <a:spLocks noGrp="1"/>
          </p:cNvSpPr>
          <p:nvPr>
            <p:ph idx="1"/>
          </p:nvPr>
        </p:nvSpPr>
        <p:spPr/>
        <p:txBody>
          <a:bodyPr>
            <a:normAutofit fontScale="77500" lnSpcReduction="20000"/>
          </a:bodyPr>
          <a:lstStyle/>
          <a:p>
            <a:r>
              <a:rPr lang="en-US" b="1" dirty="0"/>
              <a:t>Focus:</a:t>
            </a:r>
            <a:r>
              <a:rPr lang="en-US" dirty="0"/>
              <a:t> Communication protocols and message </a:t>
            </a:r>
            <a:r>
              <a:rPr lang="en-US" dirty="0" smtClean="0"/>
              <a:t>structures.</a:t>
            </a:r>
          </a:p>
          <a:p>
            <a:r>
              <a:rPr lang="en-US" b="1" dirty="0" smtClean="0"/>
              <a:t>Goal</a:t>
            </a:r>
            <a:r>
              <a:rPr lang="en-US" b="1" dirty="0"/>
              <a:t>:</a:t>
            </a:r>
            <a:r>
              <a:rPr lang="en-US" dirty="0"/>
              <a:t> Decode undocumented network interactions or legacy message formats.</a:t>
            </a:r>
          </a:p>
          <a:p>
            <a:r>
              <a:rPr lang="en-US" b="1" dirty="0"/>
              <a:t>Used in:</a:t>
            </a:r>
            <a:endParaRPr lang="en-US" dirty="0"/>
          </a:p>
          <a:p>
            <a:pPr lvl="1"/>
            <a:r>
              <a:rPr lang="en-US" dirty="0"/>
              <a:t>Integrating legacy mainframes with modern web or mobile systems.</a:t>
            </a:r>
          </a:p>
          <a:p>
            <a:pPr lvl="1"/>
            <a:r>
              <a:rPr lang="en-US" dirty="0"/>
              <a:t>Migrating to REST or SOAP-based APIs.</a:t>
            </a:r>
          </a:p>
          <a:p>
            <a:r>
              <a:rPr lang="en-US" b="1" dirty="0"/>
              <a:t>Techniques/Tools:</a:t>
            </a:r>
            <a:endParaRPr lang="en-US" dirty="0"/>
          </a:p>
          <a:p>
            <a:pPr lvl="1"/>
            <a:r>
              <a:rPr lang="en-US" dirty="0" err="1"/>
              <a:t>Wireshark</a:t>
            </a:r>
            <a:r>
              <a:rPr lang="en-US" dirty="0"/>
              <a:t>, Fiddler, </a:t>
            </a:r>
            <a:r>
              <a:rPr lang="en-US" dirty="0" err="1"/>
              <a:t>tcpdump</a:t>
            </a:r>
            <a:r>
              <a:rPr lang="en-US" dirty="0"/>
              <a:t>.</a:t>
            </a:r>
          </a:p>
          <a:p>
            <a:pPr lvl="1"/>
            <a:r>
              <a:rPr lang="en-US" b="1" dirty="0"/>
              <a:t>Example:</a:t>
            </a:r>
            <a:r>
              <a:rPr lang="en-US" dirty="0"/>
              <a:t/>
            </a:r>
            <a:br>
              <a:rPr lang="en-US" dirty="0"/>
            </a:br>
            <a:r>
              <a:rPr lang="en-US" dirty="0"/>
              <a:t>Understanding how a COBOL-based batch job communicates with ATM host systems.</a:t>
            </a:r>
          </a:p>
        </p:txBody>
      </p:sp>
    </p:spTree>
    <p:extLst>
      <p:ext uri="{BB962C8B-B14F-4D97-AF65-F5344CB8AC3E}">
        <p14:creationId xmlns:p14="http://schemas.microsoft.com/office/powerpoint/2010/main" val="1825673026"/>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8. Model Reverse Engineering</a:t>
            </a:r>
            <a:endParaRPr lang="en-US" dirty="0"/>
          </a:p>
        </p:txBody>
      </p:sp>
      <p:sp>
        <p:nvSpPr>
          <p:cNvPr id="3" name="Content Placeholder 2"/>
          <p:cNvSpPr>
            <a:spLocks noGrp="1"/>
          </p:cNvSpPr>
          <p:nvPr>
            <p:ph idx="1"/>
          </p:nvPr>
        </p:nvSpPr>
        <p:spPr/>
        <p:txBody>
          <a:bodyPr>
            <a:normAutofit fontScale="85000" lnSpcReduction="20000"/>
          </a:bodyPr>
          <a:lstStyle/>
          <a:p>
            <a:r>
              <a:rPr lang="en-US" b="1" dirty="0"/>
              <a:t>Focus:</a:t>
            </a:r>
            <a:r>
              <a:rPr lang="en-US" dirty="0"/>
              <a:t> Reconstructing high-level models (UML, BPMN, flowcharts</a:t>
            </a:r>
            <a:r>
              <a:rPr lang="en-US" dirty="0" smtClean="0"/>
              <a:t>).</a:t>
            </a:r>
          </a:p>
          <a:p>
            <a:r>
              <a:rPr lang="en-US" b="1" dirty="0" smtClean="0"/>
              <a:t>Goal</a:t>
            </a:r>
            <a:r>
              <a:rPr lang="en-US" b="1" dirty="0"/>
              <a:t>:</a:t>
            </a:r>
            <a:r>
              <a:rPr lang="en-US" dirty="0"/>
              <a:t> Visualize logic for understanding, maintenance, or training.</a:t>
            </a:r>
          </a:p>
          <a:p>
            <a:r>
              <a:rPr lang="en-US" b="1" dirty="0"/>
              <a:t>Used in:</a:t>
            </a:r>
            <a:endParaRPr lang="en-US" dirty="0"/>
          </a:p>
          <a:p>
            <a:pPr lvl="1"/>
            <a:r>
              <a:rPr lang="en-US" dirty="0"/>
              <a:t>Documentation and modernization projects.</a:t>
            </a:r>
          </a:p>
          <a:p>
            <a:pPr lvl="1"/>
            <a:r>
              <a:rPr lang="en-US" dirty="0"/>
              <a:t>Generating visual process models.</a:t>
            </a:r>
          </a:p>
          <a:p>
            <a:r>
              <a:rPr lang="en-US" b="1" dirty="0"/>
              <a:t>Techniques/Tools:</a:t>
            </a:r>
            <a:endParaRPr lang="en-US" dirty="0"/>
          </a:p>
          <a:p>
            <a:pPr lvl="1"/>
            <a:r>
              <a:rPr lang="en-US" dirty="0"/>
              <a:t>Enterprise Architect, Visual Paradigm, </a:t>
            </a:r>
            <a:r>
              <a:rPr lang="en-US" dirty="0" err="1"/>
              <a:t>StarUML</a:t>
            </a:r>
            <a:r>
              <a:rPr lang="en-US" dirty="0"/>
              <a:t>.</a:t>
            </a:r>
          </a:p>
          <a:p>
            <a:r>
              <a:rPr lang="en-US" b="1" dirty="0" smtClean="0"/>
              <a:t>Example:</a:t>
            </a:r>
            <a:endParaRPr lang="en-US" dirty="0" smtClean="0"/>
          </a:p>
          <a:p>
            <a:pPr lvl="1"/>
            <a:r>
              <a:rPr lang="en-US" dirty="0" smtClean="0"/>
              <a:t>Deriving </a:t>
            </a:r>
            <a:r>
              <a:rPr lang="en-US" dirty="0"/>
              <a:t>a UML Activity Diagram from COBOL code showing transaction processing flow.</a:t>
            </a:r>
          </a:p>
        </p:txBody>
      </p:sp>
    </p:spTree>
    <p:extLst>
      <p:ext uri="{BB962C8B-B14F-4D97-AF65-F5344CB8AC3E}">
        <p14:creationId xmlns:p14="http://schemas.microsoft.com/office/powerpoint/2010/main" val="4294820994"/>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Benefits of Reverse Engineering</a:t>
            </a:r>
          </a:p>
        </p:txBody>
      </p:sp>
      <p:sp>
        <p:nvSpPr>
          <p:cNvPr id="3" name="Content Placeholder 2"/>
          <p:cNvSpPr>
            <a:spLocks noGrp="1"/>
          </p:cNvSpPr>
          <p:nvPr>
            <p:ph idx="1"/>
          </p:nvPr>
        </p:nvSpPr>
        <p:spPr/>
        <p:txBody>
          <a:bodyPr/>
          <a:lstStyle/>
          <a:p>
            <a:endParaRPr/>
          </a:p>
          <a:p>
            <a:r>
              <a:t>Knowledge recovery</a:t>
            </a:r>
          </a:p>
          <a:p>
            <a:r>
              <a:t>Improved system maintainability</a:t>
            </a:r>
          </a:p>
          <a:p>
            <a:r>
              <a:t>Supports modernization projects</a:t>
            </a:r>
          </a:p>
        </p:txBody>
      </p:sp>
    </p:spTree>
    <p:extLst>
      <p:ext uri="{BB962C8B-B14F-4D97-AF65-F5344CB8AC3E}">
        <p14:creationId xmlns:p14="http://schemas.microsoft.com/office/powerpoint/2010/main" val="4221659861"/>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Challenges of Reverse Engineering</a:t>
            </a:r>
          </a:p>
        </p:txBody>
      </p:sp>
      <p:sp>
        <p:nvSpPr>
          <p:cNvPr id="3" name="Content Placeholder 2"/>
          <p:cNvSpPr>
            <a:spLocks noGrp="1"/>
          </p:cNvSpPr>
          <p:nvPr>
            <p:ph idx="1"/>
          </p:nvPr>
        </p:nvSpPr>
        <p:spPr/>
        <p:txBody>
          <a:bodyPr/>
          <a:lstStyle/>
          <a:p>
            <a:endParaRPr/>
          </a:p>
          <a:p>
            <a:r>
              <a:t>Time-consuming</a:t>
            </a:r>
          </a:p>
          <a:p>
            <a:r>
              <a:t>May not recover full intent</a:t>
            </a:r>
          </a:p>
          <a:p>
            <a:r>
              <a:t>Requires expertise and tools</a:t>
            </a:r>
          </a:p>
        </p:txBody>
      </p:sp>
    </p:spTree>
    <p:extLst>
      <p:ext uri="{BB962C8B-B14F-4D97-AF65-F5344CB8AC3E}">
        <p14:creationId xmlns:p14="http://schemas.microsoft.com/office/powerpoint/2010/main" val="31701146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10418</TotalTime>
  <Words>5135</Words>
  <Application>Microsoft Office PowerPoint</Application>
  <PresentationFormat>On-screen Show (4:3)</PresentationFormat>
  <Paragraphs>951</Paragraphs>
  <Slides>95</Slides>
  <Notes>11</Notes>
  <HiddenSlides>0</HiddenSlides>
  <MMClips>0</MMClips>
  <ScaleCrop>false</ScaleCrop>
  <HeadingPairs>
    <vt:vector size="4" baseType="variant">
      <vt:variant>
        <vt:lpstr>Theme</vt:lpstr>
      </vt:variant>
      <vt:variant>
        <vt:i4>1</vt:i4>
      </vt:variant>
      <vt:variant>
        <vt:lpstr>Slide Titles</vt:lpstr>
      </vt:variant>
      <vt:variant>
        <vt:i4>95</vt:i4>
      </vt:variant>
    </vt:vector>
  </HeadingPairs>
  <TitlesOfParts>
    <vt:vector size="96" baseType="lpstr">
      <vt:lpstr>Office Theme</vt:lpstr>
      <vt:lpstr>Chapter 3: Re-Engineering Process Activities</vt:lpstr>
      <vt:lpstr>Why Process Activities Matter</vt:lpstr>
      <vt:lpstr>Major Activities</vt:lpstr>
      <vt:lpstr>Re-engineering Activities Workflow</vt:lpstr>
      <vt:lpstr>System Analysis - Definition</vt:lpstr>
      <vt:lpstr>Why It’s Important</vt:lpstr>
      <vt:lpstr>Objectives of System Analysis</vt:lpstr>
      <vt:lpstr>Steps in System Analysis for Re-engineering</vt:lpstr>
      <vt:lpstr>2. Data and Process Analysis</vt:lpstr>
      <vt:lpstr>3. Performance and Quality Assessment</vt:lpstr>
      <vt:lpstr>4. Requirements Recovery</vt:lpstr>
      <vt:lpstr>5. Gap Analysis</vt:lpstr>
      <vt:lpstr>6. Documentation</vt:lpstr>
      <vt:lpstr>Techniques Used in System Analysis</vt:lpstr>
      <vt:lpstr>1. Data Flow Diagrams (DFD)</vt:lpstr>
      <vt:lpstr>PowerPoint Presentation</vt:lpstr>
      <vt:lpstr>2. Data Dictionary</vt:lpstr>
      <vt:lpstr>3. Entity–Relationship (ER) Modeling</vt:lpstr>
      <vt:lpstr>4. Structured Analysis</vt:lpstr>
      <vt:lpstr>5. Reverse Engineering</vt:lpstr>
      <vt:lpstr>6. Data Flow and Control Flow Analysis</vt:lpstr>
      <vt:lpstr>7. Interviews and Questionnaires</vt:lpstr>
      <vt:lpstr>8. Automated Static Analysis</vt:lpstr>
      <vt:lpstr>9. Prototyping</vt:lpstr>
      <vt:lpstr>10. Cost–Benefit and Feasibility Analysis</vt:lpstr>
      <vt:lpstr>Summary Table</vt:lpstr>
      <vt:lpstr>Outputs (Deliverables)</vt:lpstr>
      <vt:lpstr>Example Scenario</vt:lpstr>
      <vt:lpstr>Benefits of System Analysis in Re-engineering</vt:lpstr>
      <vt:lpstr>System Analysis - Tools</vt:lpstr>
      <vt:lpstr>Objectives of Using Tools</vt:lpstr>
      <vt:lpstr>Categories of Re-engineering Tools for System Analysis</vt:lpstr>
      <vt:lpstr>2. Static Code Analysis Tools</vt:lpstr>
      <vt:lpstr>3. Dynamic Analysis Tools</vt:lpstr>
      <vt:lpstr>4. Database and Data Flow Analysis Tools</vt:lpstr>
      <vt:lpstr>5. Documentation and Reporting Tools</vt:lpstr>
      <vt:lpstr>6. Integrated Re-engineering Suites</vt:lpstr>
      <vt:lpstr>How Tools Fit into the System Analysis Phase</vt:lpstr>
      <vt:lpstr>Benefits of Using Tools</vt:lpstr>
      <vt:lpstr>Example Scenario</vt:lpstr>
      <vt:lpstr>PowerPoint Presentation</vt:lpstr>
      <vt:lpstr>How SonarQube is used during the static analysis phase of re-engineering</vt:lpstr>
      <vt:lpstr>Setup Overview</vt:lpstr>
      <vt:lpstr>Example Results</vt:lpstr>
      <vt:lpstr>Sample Finding (from SonarQube Dashboard)</vt:lpstr>
      <vt:lpstr>2. Duplicated Logic</vt:lpstr>
      <vt:lpstr>3. Complexity Metrics</vt:lpstr>
      <vt:lpstr>PowerPoint Presentation</vt:lpstr>
      <vt:lpstr>PowerPoint Presentation</vt:lpstr>
      <vt:lpstr>Maintainability and Risk Report using CAST Application Intelligence Platform (AIP)</vt:lpstr>
      <vt:lpstr>Process Overview</vt:lpstr>
      <vt:lpstr>Key Maintainability Metrics</vt:lpstr>
      <vt:lpstr>Risk Report Summary (Generated by CAST AIP)</vt:lpstr>
      <vt:lpstr>CAST AIP Dashboard Insights</vt:lpstr>
      <vt:lpstr>2. Hotspot Visualization (CAST Imaging)</vt:lpstr>
      <vt:lpstr>Conclusion &amp; Recommendation</vt:lpstr>
      <vt:lpstr>System Analysis - Example</vt:lpstr>
      <vt:lpstr>System Analysis - Outcomes</vt:lpstr>
      <vt:lpstr>Re-Engineering process flow   2. Reverse Engineering</vt:lpstr>
      <vt:lpstr>Reverse Engineering - Role</vt:lpstr>
      <vt:lpstr>Importance of Reverse Engineering</vt:lpstr>
      <vt:lpstr>Definition</vt:lpstr>
      <vt:lpstr>Formal Definition (Software Context)</vt:lpstr>
      <vt:lpstr>Definition (Industry View)</vt:lpstr>
      <vt:lpstr>Purpose of Reverse Engineering</vt:lpstr>
      <vt:lpstr>Why Reverse Engineering Matters</vt:lpstr>
      <vt:lpstr>Phases of Reverse Engineering (Software Systems)</vt:lpstr>
      <vt:lpstr>Phase 1: Information Extraction (Data Collection)</vt:lpstr>
      <vt:lpstr> </vt:lpstr>
      <vt:lpstr>Phase 2: Static Analysis</vt:lpstr>
      <vt:lpstr> </vt:lpstr>
      <vt:lpstr> </vt:lpstr>
      <vt:lpstr>Phase 3: Dynamic Analysis</vt:lpstr>
      <vt:lpstr> </vt:lpstr>
      <vt:lpstr>  </vt:lpstr>
      <vt:lpstr>Phase 4: Data and Control Flow Analysis</vt:lpstr>
      <vt:lpstr> </vt:lpstr>
      <vt:lpstr> </vt:lpstr>
      <vt:lpstr>Phase 5: Design Recovery</vt:lpstr>
      <vt:lpstr>  </vt:lpstr>
      <vt:lpstr>Phase 6: Documentation and Reporting</vt:lpstr>
      <vt:lpstr>   </vt:lpstr>
      <vt:lpstr>  </vt:lpstr>
      <vt:lpstr>Example Summary (Banking System Re-engineering)</vt:lpstr>
      <vt:lpstr>Reverse Engineering in Software Re-Engineering</vt:lpstr>
      <vt:lpstr>Types of Reverse Engineering</vt:lpstr>
      <vt:lpstr>2. Data Reverse Engineering</vt:lpstr>
      <vt:lpstr>3. Architecture Reverse Engineering</vt:lpstr>
      <vt:lpstr>4. Design Reverse Engineering</vt:lpstr>
      <vt:lpstr>5. Interface Reverse Engineering</vt:lpstr>
      <vt:lpstr>6. Security Reverse Engineering</vt:lpstr>
      <vt:lpstr>7. Network/Protocol Reverse Engineering</vt:lpstr>
      <vt:lpstr>8. Model Reverse Engineering</vt:lpstr>
      <vt:lpstr>Benefits of Reverse Engineering</vt:lpstr>
      <vt:lpstr>Challenges of Reverse Engineering</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Week 5: Re-Engineering Process Activities</dc:title>
  <dc:subject/>
  <dc:creator>Rafia Naz</dc:creator>
  <cp:keywords/>
  <dc:description>generated using python-pptx</dc:description>
  <cp:lastModifiedBy>Bashir Dahri</cp:lastModifiedBy>
  <cp:revision>66</cp:revision>
  <dcterms:created xsi:type="dcterms:W3CDTF">2013-01-27T09:14:16Z</dcterms:created>
  <dcterms:modified xsi:type="dcterms:W3CDTF">2026-02-19T05:18:52Z</dcterms:modified>
  <cp:category/>
</cp:coreProperties>
</file>