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259" r:id="rId4"/>
    <p:sldId id="260" r:id="rId5"/>
    <p:sldId id="300" r:id="rId6"/>
    <p:sldId id="302" r:id="rId7"/>
    <p:sldId id="303" r:id="rId8"/>
    <p:sldId id="304" r:id="rId9"/>
    <p:sldId id="305" r:id="rId10"/>
    <p:sldId id="306" r:id="rId11"/>
    <p:sldId id="307" r:id="rId12"/>
    <p:sldId id="308" r:id="rId13"/>
    <p:sldId id="309" r:id="rId14"/>
    <p:sldId id="301" r:id="rId15"/>
    <p:sldId id="310" r:id="rId16"/>
    <p:sldId id="311" r:id="rId17"/>
    <p:sldId id="312" r:id="rId18"/>
    <p:sldId id="313" r:id="rId19"/>
    <p:sldId id="318" r:id="rId20"/>
    <p:sldId id="320" r:id="rId21"/>
    <p:sldId id="322" r:id="rId22"/>
    <p:sldId id="268" r:id="rId23"/>
    <p:sldId id="328" r:id="rId24"/>
    <p:sldId id="329" r:id="rId25"/>
    <p:sldId id="330" r:id="rId26"/>
    <p:sldId id="331" r:id="rId27"/>
    <p:sldId id="332" r:id="rId28"/>
    <p:sldId id="333" r:id="rId29"/>
    <p:sldId id="334" r:id="rId30"/>
    <p:sldId id="335" r:id="rId31"/>
    <p:sldId id="336" r:id="rId32"/>
    <p:sldId id="337" r:id="rId33"/>
    <p:sldId id="338" r:id="rId34"/>
    <p:sldId id="339" r:id="rId35"/>
    <p:sldId id="340" r:id="rId36"/>
    <p:sldId id="341" r:id="rId37"/>
    <p:sldId id="342" r:id="rId38"/>
    <p:sldId id="343" r:id="rId39"/>
    <p:sldId id="269" r:id="rId40"/>
    <p:sldId id="270" r:id="rId41"/>
    <p:sldId id="271" r:id="rId42"/>
    <p:sldId id="324" r:id="rId43"/>
    <p:sldId id="272" r:id="rId44"/>
    <p:sldId id="273" r:id="rId45"/>
    <p:sldId id="274" r:id="rId46"/>
    <p:sldId id="366" r:id="rId47"/>
    <p:sldId id="367" r:id="rId48"/>
    <p:sldId id="368" r:id="rId49"/>
    <p:sldId id="369" r:id="rId50"/>
    <p:sldId id="344" r:id="rId51"/>
    <p:sldId id="345" r:id="rId52"/>
    <p:sldId id="346" r:id="rId53"/>
    <p:sldId id="347" r:id="rId54"/>
    <p:sldId id="348" r:id="rId55"/>
    <p:sldId id="349" r:id="rId56"/>
    <p:sldId id="350" r:id="rId57"/>
    <p:sldId id="351" r:id="rId58"/>
    <p:sldId id="352" r:id="rId59"/>
    <p:sldId id="353" r:id="rId60"/>
    <p:sldId id="364" r:id="rId61"/>
    <p:sldId id="365" r:id="rId62"/>
    <p:sldId id="362"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142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33CFDB-3F86-4E71-8AC0-8E7BDB3B5252}" type="datetimeFigureOut">
              <a:rPr lang="en-US" smtClean="0"/>
              <a:t>10/6/2025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75592A-EB21-4163-AC0C-12315033315C}" type="slidenum">
              <a:rPr lang="en-US" smtClean="0"/>
              <a:t>‹#›</a:t>
            </a:fld>
            <a:endParaRPr lang="en-US"/>
          </a:p>
        </p:txBody>
      </p:sp>
    </p:spTree>
    <p:extLst>
      <p:ext uri="{BB962C8B-B14F-4D97-AF65-F5344CB8AC3E}">
        <p14:creationId xmlns:p14="http://schemas.microsoft.com/office/powerpoint/2010/main" val="4012780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1" dirty="0" smtClean="0"/>
              <a:t>Y2K problem</a:t>
            </a:r>
            <a:r>
              <a:rPr lang="en-US" dirty="0" smtClean="0"/>
              <a:t> (also called the </a:t>
            </a:r>
            <a:r>
              <a:rPr lang="en-US" b="1" dirty="0" smtClean="0"/>
              <a:t>Year 2000 problem</a:t>
            </a:r>
            <a:r>
              <a:rPr lang="en-US" dirty="0" smtClean="0"/>
              <a:t> or the </a:t>
            </a:r>
            <a:r>
              <a:rPr lang="en-US" b="1" dirty="0" smtClean="0"/>
              <a:t>Millennium Bug</a:t>
            </a:r>
            <a:r>
              <a:rPr lang="en-US" dirty="0" smtClean="0"/>
              <a:t>) was a computer issue that arose because many older computer systems and software stored years using only the last two digits (e.g., 99 for 1999 instead of 1999).</a:t>
            </a:r>
          </a:p>
          <a:p>
            <a:r>
              <a:rPr lang="en-US" dirty="0" smtClean="0"/>
              <a:t>This design saved memory in the early days of computing but created a serious flaw:</a:t>
            </a:r>
          </a:p>
          <a:p>
            <a:r>
              <a:rPr lang="en-US" dirty="0" smtClean="0"/>
              <a:t>When the year rolled over from 99 (1999) to 00 (2000), many systems would interpret 00 as </a:t>
            </a:r>
            <a:r>
              <a:rPr lang="en-US" b="1" dirty="0" smtClean="0"/>
              <a:t>1900</a:t>
            </a:r>
            <a:r>
              <a:rPr lang="en-US" dirty="0" smtClean="0"/>
              <a:t> instead of </a:t>
            </a:r>
            <a:r>
              <a:rPr lang="en-US" b="1" dirty="0" smtClean="0"/>
              <a:t>2000</a:t>
            </a:r>
            <a:r>
              <a:rPr lang="en-US" dirty="0" smtClean="0"/>
              <a:t>.</a:t>
            </a:r>
          </a:p>
          <a:p>
            <a:r>
              <a:rPr lang="en-US" dirty="0" smtClean="0"/>
              <a:t>This could cause errors in date-related calculations, sorting, comparisons, or even system crashes.</a:t>
            </a:r>
          </a:p>
          <a:p>
            <a:r>
              <a:rPr lang="en-US" b="1" dirty="0" smtClean="0"/>
              <a:t>Example</a:t>
            </a:r>
          </a:p>
          <a:p>
            <a:r>
              <a:rPr lang="en-US" dirty="0" smtClean="0"/>
              <a:t>A bank calculating interest from 1999-12-31 to 2000-01-01 might interpret the second date as </a:t>
            </a:r>
            <a:r>
              <a:rPr lang="en-US" b="1" dirty="0" smtClean="0"/>
              <a:t>1900-01-01</a:t>
            </a:r>
            <a:r>
              <a:rPr lang="en-US" dirty="0" smtClean="0"/>
              <a:t>, making it seem like a negative 99-year period.</a:t>
            </a:r>
          </a:p>
          <a:p>
            <a:r>
              <a:rPr lang="en-US" dirty="0" smtClean="0"/>
              <a:t>Air traffic control, billing systems, power grids, and hospital equipment were feared to malfunction.</a:t>
            </a:r>
          </a:p>
          <a:p>
            <a:r>
              <a:rPr lang="en-US" b="1" dirty="0" smtClean="0"/>
              <a:t>The Response</a:t>
            </a:r>
          </a:p>
          <a:p>
            <a:r>
              <a:rPr lang="en-US" dirty="0" smtClean="0"/>
              <a:t>In the late 1990s, governments and businesses worldwide spent </a:t>
            </a:r>
            <a:r>
              <a:rPr lang="en-US" b="1" dirty="0" smtClean="0"/>
              <a:t>hundreds of billions of dollars</a:t>
            </a:r>
            <a:r>
              <a:rPr lang="en-US" dirty="0" smtClean="0"/>
              <a:t> auditing, fixing, and testing software and embedded systems to prevent failures.</a:t>
            </a:r>
          </a:p>
          <a:p>
            <a:r>
              <a:rPr lang="en-US" b="1" dirty="0" smtClean="0"/>
              <a:t>The Outcome</a:t>
            </a:r>
          </a:p>
          <a:p>
            <a:r>
              <a:rPr lang="en-US" dirty="0" smtClean="0"/>
              <a:t>Thanks to massive preparation, very few critical failures occurred when the date switched to January 1, 2000.</a:t>
            </a:r>
          </a:p>
          <a:p>
            <a:r>
              <a:rPr lang="en-US" dirty="0" smtClean="0"/>
              <a:t>The Y2K bug is often remembered as a major example of </a:t>
            </a:r>
            <a:r>
              <a:rPr lang="en-US" b="1" dirty="0" smtClean="0"/>
              <a:t>software maintenance, risk management, and large-scale testing</a:t>
            </a:r>
            <a:r>
              <a:rPr lang="en-US" dirty="0" smtClean="0"/>
              <a:t>.</a:t>
            </a:r>
          </a:p>
          <a:p>
            <a:endParaRPr lang="en-US" dirty="0"/>
          </a:p>
        </p:txBody>
      </p:sp>
      <p:sp>
        <p:nvSpPr>
          <p:cNvPr id="4" name="Slide Number Placeholder 3"/>
          <p:cNvSpPr>
            <a:spLocks noGrp="1"/>
          </p:cNvSpPr>
          <p:nvPr>
            <p:ph type="sldNum" sz="quarter" idx="10"/>
          </p:nvPr>
        </p:nvSpPr>
        <p:spPr/>
        <p:txBody>
          <a:bodyPr/>
          <a:lstStyle/>
          <a:p>
            <a:fld id="{1475592A-EB21-4163-AC0C-12315033315C}" type="slidenum">
              <a:rPr lang="en-US" smtClean="0"/>
              <a:t>22</a:t>
            </a:fld>
            <a:endParaRPr lang="en-US"/>
          </a:p>
        </p:txBody>
      </p:sp>
    </p:spTree>
    <p:extLst>
      <p:ext uri="{BB962C8B-B14F-4D97-AF65-F5344CB8AC3E}">
        <p14:creationId xmlns:p14="http://schemas.microsoft.com/office/powerpoint/2010/main" val="3888651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daptability</a:t>
            </a:r>
            <a:r>
              <a:rPr lang="en-US" dirty="0" smtClean="0"/>
              <a:t> is the </a:t>
            </a:r>
            <a:r>
              <a:rPr lang="en-US" b="1" dirty="0" smtClean="0"/>
              <a:t>ability of a system to adjust to changes in its environment, requirements, or technology with minimal effort and cost</a:t>
            </a:r>
            <a:r>
              <a:rPr lang="en-US" dirty="0" smtClean="0"/>
              <a:t>.</a:t>
            </a:r>
            <a:endParaRPr lang="en-US" dirty="0"/>
          </a:p>
        </p:txBody>
      </p:sp>
      <p:sp>
        <p:nvSpPr>
          <p:cNvPr id="4" name="Slide Number Placeholder 3"/>
          <p:cNvSpPr>
            <a:spLocks noGrp="1"/>
          </p:cNvSpPr>
          <p:nvPr>
            <p:ph type="sldNum" sz="quarter" idx="10"/>
          </p:nvPr>
        </p:nvSpPr>
        <p:spPr/>
        <p:txBody>
          <a:bodyPr/>
          <a:lstStyle/>
          <a:p>
            <a:fld id="{C09605AC-0CBD-4DAB-BC23-F2640C5934C6}" type="slidenum">
              <a:rPr lang="en-US" smtClean="0"/>
              <a:t>24</a:t>
            </a:fld>
            <a:endParaRPr lang="en-US"/>
          </a:p>
        </p:txBody>
      </p:sp>
    </p:spTree>
    <p:extLst>
      <p:ext uri="{BB962C8B-B14F-4D97-AF65-F5344CB8AC3E}">
        <p14:creationId xmlns:p14="http://schemas.microsoft.com/office/powerpoint/2010/main" val="2668620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b="1" dirty="0" smtClean="0"/>
              <a:t>security patch</a:t>
            </a:r>
            <a:r>
              <a:rPr lang="en-US" dirty="0" smtClean="0"/>
              <a:t> is a small piece of software code released by developers or vendors to </a:t>
            </a:r>
            <a:r>
              <a:rPr lang="en-US" b="1" dirty="0" smtClean="0"/>
              <a:t>fix security vulnerabilities</a:t>
            </a:r>
            <a:r>
              <a:rPr lang="en-US" dirty="0" smtClean="0"/>
              <a:t> in an application, operating system, or device.</a:t>
            </a:r>
            <a:endParaRPr lang="en-US" dirty="0"/>
          </a:p>
        </p:txBody>
      </p:sp>
      <p:sp>
        <p:nvSpPr>
          <p:cNvPr id="4" name="Slide Number Placeholder 3"/>
          <p:cNvSpPr>
            <a:spLocks noGrp="1"/>
          </p:cNvSpPr>
          <p:nvPr>
            <p:ph type="sldNum" sz="quarter" idx="10"/>
          </p:nvPr>
        </p:nvSpPr>
        <p:spPr/>
        <p:txBody>
          <a:bodyPr/>
          <a:lstStyle/>
          <a:p>
            <a:fld id="{C09605AC-0CBD-4DAB-BC23-F2640C5934C6}" type="slidenum">
              <a:rPr lang="en-US" smtClean="0"/>
              <a:t>26</a:t>
            </a:fld>
            <a:endParaRPr lang="en-US"/>
          </a:p>
        </p:txBody>
      </p:sp>
    </p:spTree>
    <p:extLst>
      <p:ext uri="{BB962C8B-B14F-4D97-AF65-F5344CB8AC3E}">
        <p14:creationId xmlns:p14="http://schemas.microsoft.com/office/powerpoint/2010/main" val="4254380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Regression testing is </a:t>
            </a:r>
            <a:r>
              <a:rPr lang="en-US" dirty="0" smtClean="0"/>
              <a:t>a software testing method to verify that </a:t>
            </a:r>
            <a:r>
              <a:rPr lang="en-US" b="1" dirty="0" smtClean="0">
                <a:effectLst/>
              </a:rPr>
              <a:t>recent changes</a:t>
            </a:r>
            <a:r>
              <a:rPr lang="en-US" dirty="0" smtClean="0"/>
              <a:t>, such as bug fixes, new features, or code updates, haven't negatively impacted existing, previously working functionalities</a:t>
            </a:r>
            <a:endParaRPr lang="en-US" dirty="0"/>
          </a:p>
        </p:txBody>
      </p:sp>
      <p:sp>
        <p:nvSpPr>
          <p:cNvPr id="4" name="Slide Number Placeholder 3"/>
          <p:cNvSpPr>
            <a:spLocks noGrp="1"/>
          </p:cNvSpPr>
          <p:nvPr>
            <p:ph type="sldNum" sz="quarter" idx="10"/>
          </p:nvPr>
        </p:nvSpPr>
        <p:spPr/>
        <p:txBody>
          <a:bodyPr/>
          <a:lstStyle/>
          <a:p>
            <a:fld id="{1475592A-EB21-4163-AC0C-12315033315C}" type="slidenum">
              <a:rPr lang="en-US" smtClean="0"/>
              <a:t>36</a:t>
            </a:fld>
            <a:endParaRPr lang="en-US"/>
          </a:p>
        </p:txBody>
      </p:sp>
    </p:spTree>
    <p:extLst>
      <p:ext uri="{BB962C8B-B14F-4D97-AF65-F5344CB8AC3E}">
        <p14:creationId xmlns:p14="http://schemas.microsoft.com/office/powerpoint/2010/main" val="251469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Logging=sorting</a:t>
            </a:r>
          </a:p>
          <a:p>
            <a:r>
              <a:rPr lang="en-US" dirty="0" smtClean="0"/>
              <a:t>Ripple=wave/wrinkle</a:t>
            </a:r>
            <a:endParaRPr lang="en-US" dirty="0"/>
          </a:p>
        </p:txBody>
      </p:sp>
      <p:sp>
        <p:nvSpPr>
          <p:cNvPr id="4" name="Slide Number Placeholder 3"/>
          <p:cNvSpPr>
            <a:spLocks noGrp="1"/>
          </p:cNvSpPr>
          <p:nvPr>
            <p:ph type="sldNum" sz="quarter" idx="10"/>
          </p:nvPr>
        </p:nvSpPr>
        <p:spPr/>
        <p:txBody>
          <a:bodyPr/>
          <a:lstStyle/>
          <a:p>
            <a:fld id="{1475592A-EB21-4163-AC0C-12315033315C}" type="slidenum">
              <a:rPr lang="en-US" smtClean="0"/>
              <a:t>37</a:t>
            </a:fld>
            <a:endParaRPr lang="en-US"/>
          </a:p>
        </p:txBody>
      </p:sp>
    </p:spTree>
    <p:extLst>
      <p:ext uri="{BB962C8B-B14F-4D97-AF65-F5344CB8AC3E}">
        <p14:creationId xmlns:p14="http://schemas.microsoft.com/office/powerpoint/2010/main" val="3324438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Debt=responsibility</a:t>
            </a:r>
            <a:endParaRPr lang="en-US" dirty="0"/>
          </a:p>
        </p:txBody>
      </p:sp>
      <p:sp>
        <p:nvSpPr>
          <p:cNvPr id="4" name="Slide Number Placeholder 3"/>
          <p:cNvSpPr>
            <a:spLocks noGrp="1"/>
          </p:cNvSpPr>
          <p:nvPr>
            <p:ph type="sldNum" sz="quarter" idx="10"/>
          </p:nvPr>
        </p:nvSpPr>
        <p:spPr/>
        <p:txBody>
          <a:bodyPr/>
          <a:lstStyle/>
          <a:p>
            <a:fld id="{1475592A-EB21-4163-AC0C-12315033315C}" type="slidenum">
              <a:rPr lang="en-US" smtClean="0"/>
              <a:t>43</a:t>
            </a:fld>
            <a:endParaRPr lang="en-US"/>
          </a:p>
        </p:txBody>
      </p:sp>
    </p:spTree>
    <p:extLst>
      <p:ext uri="{BB962C8B-B14F-4D97-AF65-F5344CB8AC3E}">
        <p14:creationId xmlns:p14="http://schemas.microsoft.com/office/powerpoint/2010/main" val="1751867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Evolve=change/grow/progress</a:t>
            </a:r>
            <a:endParaRPr lang="en-US"/>
          </a:p>
        </p:txBody>
      </p:sp>
      <p:sp>
        <p:nvSpPr>
          <p:cNvPr id="4" name="Slide Number Placeholder 3"/>
          <p:cNvSpPr>
            <a:spLocks noGrp="1"/>
          </p:cNvSpPr>
          <p:nvPr>
            <p:ph type="sldNum" sz="quarter" idx="10"/>
          </p:nvPr>
        </p:nvSpPr>
        <p:spPr/>
        <p:txBody>
          <a:bodyPr/>
          <a:lstStyle/>
          <a:p>
            <a:fld id="{1475592A-EB21-4163-AC0C-12315033315C}" type="slidenum">
              <a:rPr lang="en-US" smtClean="0"/>
              <a:t>51</a:t>
            </a:fld>
            <a:endParaRPr lang="en-US"/>
          </a:p>
        </p:txBody>
      </p:sp>
    </p:spTree>
    <p:extLst>
      <p:ext uri="{BB962C8B-B14F-4D97-AF65-F5344CB8AC3E}">
        <p14:creationId xmlns:p14="http://schemas.microsoft.com/office/powerpoint/2010/main" val="41897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Evolution follows an </a:t>
            </a:r>
            <a:r>
              <a:rPr lang="en-US" b="1" dirty="0" smtClean="0"/>
              <a:t>equilibrium-like behavior</a:t>
            </a:r>
            <a:r>
              <a:rPr lang="en-US" dirty="0" smtClean="0"/>
              <a:t>.</a:t>
            </a:r>
          </a:p>
          <a:p>
            <a:r>
              <a:rPr lang="en-US" dirty="0" smtClean="0"/>
              <a:t>Just like traffic flow or ecosystems, </a:t>
            </a:r>
            <a:r>
              <a:rPr lang="en-US" b="1" dirty="0" smtClean="0"/>
              <a:t>natural limits</a:t>
            </a:r>
            <a:r>
              <a:rPr lang="en-US" dirty="0" smtClean="0"/>
              <a:t> balance productivity, complexity, and quality.</a:t>
            </a:r>
          </a:p>
          <a:p>
            <a:r>
              <a:rPr lang="en-US" sz="1200" b="0" i="0" kern="1200" dirty="0" smtClean="0">
                <a:solidFill>
                  <a:schemeClr val="tx1"/>
                </a:solidFill>
                <a:effectLst/>
                <a:latin typeface="+mn-lt"/>
                <a:ea typeface="+mn-ea"/>
                <a:cs typeface="+mn-cs"/>
              </a:rPr>
              <a:t>Equilibrium is a state of balance achieved in a reversible process where </a:t>
            </a:r>
            <a:r>
              <a:rPr lang="en-US" dirty="0" smtClean="0"/>
              <a:t>the rate of the forward process equals the rate of the reverse process, resulting in no net change in the system's overall properties or concentrations of reactants and products over time</a:t>
            </a:r>
            <a:r>
              <a:rPr lang="en-US"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1475592A-EB21-4163-AC0C-12315033315C}" type="slidenum">
              <a:rPr lang="en-US" smtClean="0"/>
              <a:t>53</a:t>
            </a:fld>
            <a:endParaRPr lang="en-US"/>
          </a:p>
        </p:txBody>
      </p:sp>
    </p:spTree>
    <p:extLst>
      <p:ext uri="{BB962C8B-B14F-4D97-AF65-F5344CB8AC3E}">
        <p14:creationId xmlns:p14="http://schemas.microsoft.com/office/powerpoint/2010/main" val="1887722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Rot=decay</a:t>
            </a:r>
            <a:endParaRPr lang="en-US" dirty="0"/>
          </a:p>
        </p:txBody>
      </p:sp>
      <p:sp>
        <p:nvSpPr>
          <p:cNvPr id="4" name="Slide Number Placeholder 3"/>
          <p:cNvSpPr>
            <a:spLocks noGrp="1"/>
          </p:cNvSpPr>
          <p:nvPr>
            <p:ph type="sldNum" sz="quarter" idx="10"/>
          </p:nvPr>
        </p:nvSpPr>
        <p:spPr/>
        <p:txBody>
          <a:bodyPr/>
          <a:lstStyle/>
          <a:p>
            <a:fld id="{1475592A-EB21-4163-AC0C-12315033315C}" type="slidenum">
              <a:rPr lang="en-US" smtClean="0"/>
              <a:t>60</a:t>
            </a:fld>
            <a:endParaRPr lang="en-US"/>
          </a:p>
        </p:txBody>
      </p:sp>
    </p:spTree>
    <p:extLst>
      <p:ext uri="{BB962C8B-B14F-4D97-AF65-F5344CB8AC3E}">
        <p14:creationId xmlns:p14="http://schemas.microsoft.com/office/powerpoint/2010/main" val="378591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Telemetry=</a:t>
            </a:r>
            <a:r>
              <a:rPr lang="en-US" sz="1200" b="0" i="0" kern="1200" smtClean="0">
                <a:solidFill>
                  <a:schemeClr val="tx1"/>
                </a:solidFill>
                <a:effectLst/>
                <a:latin typeface="+mn-lt"/>
                <a:ea typeface="+mn-ea"/>
                <a:cs typeface="+mn-cs"/>
              </a:rPr>
              <a:t>Telemetry is the process of gathering the performance data of any product and communicating it to a remote location for monitoring and analysis.</a:t>
            </a:r>
            <a:endParaRPr lang="en-US"/>
          </a:p>
        </p:txBody>
      </p:sp>
      <p:sp>
        <p:nvSpPr>
          <p:cNvPr id="4" name="Slide Number Placeholder 3"/>
          <p:cNvSpPr>
            <a:spLocks noGrp="1"/>
          </p:cNvSpPr>
          <p:nvPr>
            <p:ph type="sldNum" sz="quarter" idx="10"/>
          </p:nvPr>
        </p:nvSpPr>
        <p:spPr/>
        <p:txBody>
          <a:bodyPr/>
          <a:lstStyle/>
          <a:p>
            <a:fld id="{1475592A-EB21-4163-AC0C-12315033315C}" type="slidenum">
              <a:rPr lang="en-US" smtClean="0"/>
              <a:t>61</a:t>
            </a:fld>
            <a:endParaRPr lang="en-US"/>
          </a:p>
        </p:txBody>
      </p:sp>
    </p:spTree>
    <p:extLst>
      <p:ext uri="{BB962C8B-B14F-4D97-AF65-F5344CB8AC3E}">
        <p14:creationId xmlns:p14="http://schemas.microsoft.com/office/powerpoint/2010/main" val="1490274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a:t>
            </a:r>
            <a:r>
              <a:rPr dirty="0" smtClean="0"/>
              <a:t> </a:t>
            </a:r>
            <a:r>
              <a:rPr dirty="0"/>
              <a:t>1: </a:t>
            </a:r>
            <a:r>
              <a:rPr dirty="0" smtClean="0"/>
              <a:t>Software Re-engineering</a:t>
            </a:r>
            <a:r>
              <a:rPr lang="en-US" dirty="0" smtClean="0"/>
              <a:t> and Software Maintenance</a:t>
            </a:r>
            <a:endParaRPr dirty="0"/>
          </a:p>
        </p:txBody>
      </p:sp>
      <p:sp>
        <p:nvSpPr>
          <p:cNvPr id="3" name="Subtitle 2"/>
          <p:cNvSpPr>
            <a:spLocks noGrp="1"/>
          </p:cNvSpPr>
          <p:nvPr>
            <p:ph type="subTitle" idx="1"/>
          </p:nvPr>
        </p:nvSpPr>
        <p:spPr/>
        <p:txBody>
          <a:bodyPr/>
          <a:lstStyle/>
          <a:p>
            <a:r>
              <a:t>Software Re-engineering - Undergraduate Course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Objectives</a:t>
            </a:r>
          </a:p>
        </p:txBody>
      </p:sp>
      <p:sp>
        <p:nvSpPr>
          <p:cNvPr id="3" name="Content Placeholder 2"/>
          <p:cNvSpPr>
            <a:spLocks noGrp="1"/>
          </p:cNvSpPr>
          <p:nvPr>
            <p:ph idx="1"/>
          </p:nvPr>
        </p:nvSpPr>
        <p:spPr/>
        <p:txBody>
          <a:bodyPr/>
          <a:lstStyle/>
          <a:p>
            <a:endParaRPr/>
          </a:p>
          <a:p>
            <a:r>
              <a:t>Introduce concepts of software re-engineering</a:t>
            </a:r>
          </a:p>
          <a:p>
            <a:r>
              <a:t>Understand difference between maintenance and re-engineering</a:t>
            </a:r>
          </a:p>
          <a:p>
            <a:r>
              <a:t>Explore legacy systems and their challenges</a:t>
            </a:r>
          </a:p>
          <a:p>
            <a:r>
              <a:t>Discuss economic &amp; technical motivations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(Textbook View)</a:t>
            </a:r>
          </a:p>
        </p:txBody>
      </p:sp>
      <p:sp>
        <p:nvSpPr>
          <p:cNvPr id="3" name="Content Placeholder 2"/>
          <p:cNvSpPr>
            <a:spLocks noGrp="1"/>
          </p:cNvSpPr>
          <p:nvPr>
            <p:ph idx="1"/>
          </p:nvPr>
        </p:nvSpPr>
        <p:spPr>
          <a:xfrm>
            <a:off x="457200" y="1298448"/>
            <a:ext cx="8229600" cy="5321808"/>
          </a:xfrm>
        </p:spPr>
        <p:txBody>
          <a:bodyPr>
            <a:normAutofit fontScale="62500" lnSpcReduction="20000"/>
          </a:bodyPr>
          <a:lstStyle/>
          <a:p>
            <a:endParaRPr dirty="0"/>
          </a:p>
          <a:p>
            <a:r>
              <a:rPr dirty="0"/>
              <a:t>Software re-engineering is the process of improving existing </a:t>
            </a:r>
            <a:r>
              <a:rPr dirty="0" smtClean="0"/>
              <a:t>systems</a:t>
            </a:r>
            <a:r>
              <a:rPr lang="en-US" dirty="0" smtClean="0"/>
              <a:t>.</a:t>
            </a:r>
          </a:p>
          <a:p>
            <a:endParaRPr dirty="0"/>
          </a:p>
          <a:p>
            <a:r>
              <a:rPr dirty="0"/>
              <a:t>It focuses on maintainability, performance, and </a:t>
            </a:r>
            <a:r>
              <a:rPr dirty="0" smtClean="0"/>
              <a:t>modernization</a:t>
            </a:r>
            <a:r>
              <a:rPr lang="en-US" dirty="0" smtClean="0"/>
              <a:t>.</a:t>
            </a:r>
          </a:p>
          <a:p>
            <a:pPr algn="just" fontAlgn="base"/>
            <a:endParaRPr lang="en-US" b="1" dirty="0" smtClean="0"/>
          </a:p>
          <a:p>
            <a:pPr algn="just" fontAlgn="base"/>
            <a:r>
              <a:rPr lang="en-US" b="1" dirty="0" smtClean="0"/>
              <a:t>Software </a:t>
            </a:r>
            <a:r>
              <a:rPr lang="en-US" b="1" dirty="0"/>
              <a:t>Re-Engineering</a:t>
            </a:r>
            <a:r>
              <a:rPr lang="en-US" dirty="0"/>
              <a:t> is the examination and alteration of a system to reconstitute it in a new form. The principle of Re-Engineering when applied to the software development process is called software re-engineering. It positively affects software cost, quality, customer service, and delivery speed. In Software Re-engineering, we are improving the software to make it more efficient and effective. </a:t>
            </a:r>
          </a:p>
          <a:p>
            <a:pPr algn="just" fontAlgn="base"/>
            <a:endParaRPr lang="en-US" dirty="0"/>
          </a:p>
          <a:p>
            <a:pPr algn="just" fontAlgn="base"/>
            <a:r>
              <a:rPr lang="en-US" dirty="0"/>
              <a:t>It is a process where the software’s design is changed and the source code is created from scratch. Sometimes software engineers notice that certain software product components need more upkeep than other components, necessitating their re-engineering</a:t>
            </a:r>
            <a:r>
              <a:rPr lang="en-US" dirty="0" smtClean="0"/>
              <a: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(Industry View)</a:t>
            </a:r>
          </a:p>
        </p:txBody>
      </p:sp>
      <p:sp>
        <p:nvSpPr>
          <p:cNvPr id="3" name="Content Placeholder 2"/>
          <p:cNvSpPr>
            <a:spLocks noGrp="1"/>
          </p:cNvSpPr>
          <p:nvPr>
            <p:ph idx="1"/>
          </p:nvPr>
        </p:nvSpPr>
        <p:spPr/>
        <p:txBody>
          <a:bodyPr/>
          <a:lstStyle/>
          <a:p>
            <a:endParaRPr dirty="0"/>
          </a:p>
          <a:p>
            <a:r>
              <a:rPr dirty="0"/>
              <a:t>In industry, re-engineering often involves migration to new </a:t>
            </a:r>
            <a:r>
              <a:rPr dirty="0" smtClean="0"/>
              <a:t>tech</a:t>
            </a:r>
            <a:r>
              <a:rPr lang="en-US" dirty="0" smtClean="0"/>
              <a:t>nology</a:t>
            </a:r>
            <a:endParaRPr dirty="0"/>
          </a:p>
          <a:p>
            <a:r>
              <a:rPr dirty="0"/>
              <a:t>Preserving business logic while modernizing platforms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 y="274638"/>
            <a:ext cx="8915400" cy="1143000"/>
          </a:xfrm>
        </p:spPr>
        <p:txBody>
          <a:bodyPr>
            <a:normAutofit fontScale="90000"/>
          </a:bodyPr>
          <a:lstStyle/>
          <a:p>
            <a:r>
              <a:rPr lang="en-US" dirty="0"/>
              <a:t>Reasons of initiating Software re-engineering</a:t>
            </a:r>
          </a:p>
        </p:txBody>
      </p:sp>
      <p:sp>
        <p:nvSpPr>
          <p:cNvPr id="3" name="Content Placeholder 2"/>
          <p:cNvSpPr>
            <a:spLocks noGrp="1"/>
          </p:cNvSpPr>
          <p:nvPr>
            <p:ph idx="1"/>
          </p:nvPr>
        </p:nvSpPr>
        <p:spPr>
          <a:xfrm>
            <a:off x="457200" y="1609344"/>
            <a:ext cx="8229600" cy="4525963"/>
          </a:xfrm>
        </p:spPr>
        <p:txBody>
          <a:bodyPr>
            <a:normAutofit fontScale="77500" lnSpcReduction="20000"/>
          </a:bodyPr>
          <a:lstStyle/>
          <a:p>
            <a:pPr algn="just" fontAlgn="base"/>
            <a:r>
              <a:rPr lang="en-US" b="1" dirty="0"/>
              <a:t>Improving software quality:</a:t>
            </a:r>
            <a:r>
              <a:rPr lang="en-US" dirty="0"/>
              <a:t> Re-engineering can help improve the quality of software by eliminating defects, improving performance, and enhancing reliability and maintainability.</a:t>
            </a:r>
          </a:p>
          <a:p>
            <a:pPr algn="just" fontAlgn="base"/>
            <a:r>
              <a:rPr lang="en-US" b="1" dirty="0"/>
              <a:t>Updating technology:</a:t>
            </a:r>
            <a:r>
              <a:rPr lang="en-US" dirty="0"/>
              <a:t> Re-engineering can help modernize the software system by updating the technology used to develop, test, and deploy the system.</a:t>
            </a:r>
          </a:p>
          <a:p>
            <a:pPr algn="just" fontAlgn="base"/>
            <a:r>
              <a:rPr lang="en-US" b="1" dirty="0"/>
              <a:t>Enhancing functionality:</a:t>
            </a:r>
            <a:r>
              <a:rPr lang="en-US" dirty="0"/>
              <a:t> Re-engineering can help enhance the functionality of the software system by adding new features or improving existing ones.</a:t>
            </a:r>
          </a:p>
          <a:p>
            <a:pPr algn="just" fontAlgn="base"/>
            <a:r>
              <a:rPr lang="en-US" b="1" dirty="0"/>
              <a:t>Resolving issues:</a:t>
            </a:r>
            <a:r>
              <a:rPr lang="en-US" dirty="0"/>
              <a:t> Re-engineering can help resolve issues related to scalability, security, or compatibility with other systems.</a:t>
            </a:r>
          </a:p>
        </p:txBody>
      </p:sp>
    </p:spTree>
    <p:extLst>
      <p:ext uri="{BB962C8B-B14F-4D97-AF65-F5344CB8AC3E}">
        <p14:creationId xmlns:p14="http://schemas.microsoft.com/office/powerpoint/2010/main" val="39552977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rmAutofit fontScale="90000"/>
          </a:bodyPr>
          <a:lstStyle/>
          <a:p>
            <a:pPr algn="l"/>
            <a:r>
              <a:rPr lang="en-US" dirty="0"/>
              <a:t>The software reengineering is necessary for having:</a:t>
            </a:r>
          </a:p>
        </p:txBody>
      </p:sp>
      <p:sp>
        <p:nvSpPr>
          <p:cNvPr id="3" name="Content Placeholder 2"/>
          <p:cNvSpPr>
            <a:spLocks noGrp="1"/>
          </p:cNvSpPr>
          <p:nvPr>
            <p:ph idx="1"/>
          </p:nvPr>
        </p:nvSpPr>
        <p:spPr/>
        <p:txBody>
          <a:bodyPr>
            <a:normAutofit fontScale="77500" lnSpcReduction="20000"/>
          </a:bodyPr>
          <a:lstStyle/>
          <a:p>
            <a:pPr algn="just" fontAlgn="base"/>
            <a:r>
              <a:rPr lang="en-US" b="1" dirty="0"/>
              <a:t>a) </a:t>
            </a:r>
            <a:r>
              <a:rPr lang="en-US" b="1" u="sng" dirty="0"/>
              <a:t>Boost up productivity</a:t>
            </a:r>
            <a:r>
              <a:rPr lang="en-US" b="1" dirty="0"/>
              <a:t>: </a:t>
            </a:r>
            <a:r>
              <a:rPr lang="en-US" dirty="0"/>
              <a:t>Software reengineering increase productivity by optimizing the code and database so that processing gets faster.</a:t>
            </a:r>
          </a:p>
          <a:p>
            <a:pPr algn="just" fontAlgn="base"/>
            <a:r>
              <a:rPr lang="en-US" b="1" dirty="0"/>
              <a:t>b) </a:t>
            </a:r>
            <a:r>
              <a:rPr lang="en-US" b="1" u="sng" dirty="0"/>
              <a:t>Processes in continuity</a:t>
            </a:r>
            <a:r>
              <a:rPr lang="en-US" b="1" dirty="0"/>
              <a:t>:</a:t>
            </a:r>
            <a:r>
              <a:rPr lang="en-US" dirty="0"/>
              <a:t> The functionality of older software products can be still used while the testing or development of software.</a:t>
            </a:r>
          </a:p>
          <a:p>
            <a:pPr algn="just" fontAlgn="base"/>
            <a:r>
              <a:rPr lang="en-US" b="1" dirty="0"/>
              <a:t>c) </a:t>
            </a:r>
            <a:r>
              <a:rPr lang="en-US" b="1" u="sng" dirty="0"/>
              <a:t>Improvement opportunity</a:t>
            </a:r>
            <a:r>
              <a:rPr lang="en-US" b="1" dirty="0"/>
              <a:t>: </a:t>
            </a:r>
            <a:r>
              <a:rPr lang="en-US" dirty="0"/>
              <a:t>Meanwhile the process of software reengineering, not only software qualities, features, and functionality but also your skills are refined, and new ideas hit your mind. This makes the developer’s mind accustomed to capturing new opportunities so that more and more new features can be developed.</a:t>
            </a:r>
          </a:p>
        </p:txBody>
      </p:sp>
    </p:spTree>
    <p:extLst>
      <p:ext uri="{BB962C8B-B14F-4D97-AF65-F5344CB8AC3E}">
        <p14:creationId xmlns:p14="http://schemas.microsoft.com/office/powerpoint/2010/main" val="36815032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9496"/>
            <a:ext cx="8229600" cy="5586667"/>
          </a:xfrm>
        </p:spPr>
        <p:txBody>
          <a:bodyPr>
            <a:normAutofit fontScale="77500" lnSpcReduction="20000"/>
          </a:bodyPr>
          <a:lstStyle/>
          <a:p>
            <a:pPr algn="just" fontAlgn="base"/>
            <a:r>
              <a:rPr lang="en-US" b="1" dirty="0"/>
              <a:t>d) </a:t>
            </a:r>
            <a:r>
              <a:rPr lang="en-US" b="1" u="sng" dirty="0"/>
              <a:t>Reduction in risks</a:t>
            </a:r>
            <a:r>
              <a:rPr lang="en-US" b="1" dirty="0"/>
              <a:t>: </a:t>
            </a:r>
            <a:r>
              <a:rPr lang="en-US" dirty="0"/>
              <a:t>Instead of developing the software product from scratch or from the beginning stage, developers develop the product from its existing stage to enhance some specific features brought in concern by stakeholders or its users. Such kind of practice reduces the chances of fault fallibility.</a:t>
            </a:r>
          </a:p>
          <a:p>
            <a:pPr fontAlgn="base"/>
            <a:endParaRPr lang="en-US" dirty="0"/>
          </a:p>
          <a:p>
            <a:pPr algn="just" fontAlgn="base"/>
            <a:r>
              <a:rPr lang="en-US" b="1" dirty="0"/>
              <a:t>e) </a:t>
            </a:r>
            <a:r>
              <a:rPr lang="en-US" b="1" u="sng" dirty="0"/>
              <a:t>Saves time</a:t>
            </a:r>
            <a:r>
              <a:rPr lang="en-US" b="1" dirty="0"/>
              <a:t>: </a:t>
            </a:r>
            <a:r>
              <a:rPr lang="en-US" dirty="0"/>
              <a:t>As stated above, the product is developed from the existing stage rather than the beginning stage, so the time consumed in software engineering is lesser.</a:t>
            </a:r>
          </a:p>
          <a:p>
            <a:pPr fontAlgn="base"/>
            <a:endParaRPr lang="en-US" dirty="0"/>
          </a:p>
          <a:p>
            <a:pPr algn="just" fontAlgn="base"/>
            <a:r>
              <a:rPr lang="en-US" b="1" dirty="0"/>
              <a:t>f) </a:t>
            </a:r>
            <a:r>
              <a:rPr lang="en-US" b="1" u="sng" dirty="0"/>
              <a:t>Optimization</a:t>
            </a:r>
            <a:r>
              <a:rPr lang="en-US" b="1" dirty="0"/>
              <a:t>: </a:t>
            </a:r>
            <a:r>
              <a:rPr lang="en-US" dirty="0"/>
              <a:t>This process refines the system features, and functionalities and reduces the complexity of the product by consistent optimization as maximum as possible. </a:t>
            </a:r>
          </a:p>
        </p:txBody>
      </p:sp>
    </p:spTree>
    <p:extLst>
      <p:ext uri="{BB962C8B-B14F-4D97-AF65-F5344CB8AC3E}">
        <p14:creationId xmlns:p14="http://schemas.microsoft.com/office/powerpoint/2010/main" val="38661362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67344" cy="1143000"/>
          </a:xfrm>
        </p:spPr>
        <p:txBody>
          <a:bodyPr>
            <a:normAutofit fontScale="90000"/>
          </a:bodyPr>
          <a:lstStyle/>
          <a:p>
            <a:pPr algn="l"/>
            <a:r>
              <a:rPr lang="en-US" sz="3200" b="1" dirty="0">
                <a:solidFill>
                  <a:prstClr val="black"/>
                </a:solidFill>
                <a:latin typeface="Calibri Light" panose="020F0302020204030204"/>
              </a:rPr>
              <a:t>Re-engineering can be a costly process, and there are several factors that can affect the cost of re-engineering a software system:</a:t>
            </a:r>
            <a:endParaRPr lang="en-US" dirty="0"/>
          </a:p>
        </p:txBody>
      </p:sp>
      <p:sp>
        <p:nvSpPr>
          <p:cNvPr id="3" name="Content Placeholder 2"/>
          <p:cNvSpPr>
            <a:spLocks noGrp="1"/>
          </p:cNvSpPr>
          <p:nvPr>
            <p:ph idx="1"/>
          </p:nvPr>
        </p:nvSpPr>
        <p:spPr/>
        <p:txBody>
          <a:bodyPr>
            <a:normAutofit fontScale="62500" lnSpcReduction="20000"/>
          </a:bodyPr>
          <a:lstStyle/>
          <a:p>
            <a:pPr algn="just" fontAlgn="base"/>
            <a:r>
              <a:rPr lang="en-US" dirty="0"/>
              <a:t>Size and complexity of the software: The larger and more complex the software system, the more time and resources will be required to analyze, design, and modify it.</a:t>
            </a:r>
          </a:p>
          <a:p>
            <a:pPr fontAlgn="base"/>
            <a:endParaRPr lang="en-US" dirty="0"/>
          </a:p>
          <a:p>
            <a:pPr algn="just" fontAlgn="base"/>
            <a:r>
              <a:rPr lang="en-US" dirty="0"/>
              <a:t>Number of features to be added or modified: The more features that need to be added or modified, the more time and resources will be required.</a:t>
            </a:r>
          </a:p>
          <a:p>
            <a:pPr fontAlgn="base"/>
            <a:endParaRPr lang="en-US" dirty="0"/>
          </a:p>
          <a:p>
            <a:pPr algn="just" fontAlgn="base"/>
            <a:r>
              <a:rPr lang="en-US" dirty="0"/>
              <a:t>Tools and technologies used: The cost of re-engineering can be affected by the tools and technologies used, such as the cost of software development tools and the cost of hardware and infrastructure.</a:t>
            </a:r>
          </a:p>
          <a:p>
            <a:pPr fontAlgn="base"/>
            <a:endParaRPr lang="en-US" dirty="0"/>
          </a:p>
          <a:p>
            <a:pPr algn="just" fontAlgn="base"/>
            <a:r>
              <a:rPr lang="en-US" dirty="0"/>
              <a:t>Availability of documentation: If the documentation of the existing system is not available or is not accurate, then it will take more time and resources to understand the system.</a:t>
            </a:r>
          </a:p>
        </p:txBody>
      </p:sp>
    </p:spTree>
    <p:extLst>
      <p:ext uri="{BB962C8B-B14F-4D97-AF65-F5344CB8AC3E}">
        <p14:creationId xmlns:p14="http://schemas.microsoft.com/office/powerpoint/2010/main" val="35601736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0624"/>
            <a:ext cx="8229600" cy="5705539"/>
          </a:xfrm>
        </p:spPr>
        <p:txBody>
          <a:bodyPr>
            <a:normAutofit fontScale="70000" lnSpcReduction="20000"/>
          </a:bodyPr>
          <a:lstStyle/>
          <a:p>
            <a:pPr algn="just" fontAlgn="base"/>
            <a:r>
              <a:rPr lang="en-US" dirty="0"/>
              <a:t>Team size and skill level: The size and skill level of the development team can also affect the cost of re-engineering. A larger and more experienced team may be able to complete the project faster and with fewer resources.</a:t>
            </a:r>
          </a:p>
          <a:p>
            <a:pPr fontAlgn="base"/>
            <a:endParaRPr lang="en-US" dirty="0"/>
          </a:p>
          <a:p>
            <a:pPr algn="just" fontAlgn="base"/>
            <a:r>
              <a:rPr lang="en-US" dirty="0"/>
              <a:t>Location and rate of the team: The location and rate of the development team can also affect the cost of re-engineering. Hiring a team in a lower-cost location or with lower rates can help to reduce the cost of re-engineering.</a:t>
            </a:r>
          </a:p>
          <a:p>
            <a:pPr algn="just" fontAlgn="base"/>
            <a:endParaRPr lang="en-US" dirty="0"/>
          </a:p>
          <a:p>
            <a:pPr algn="just" fontAlgn="base"/>
            <a:r>
              <a:rPr lang="en-US" dirty="0"/>
              <a:t>Testing and quality assurance: Testing and quality assurance are important aspects of re-engineering, and they can add significant costs to the project.</a:t>
            </a:r>
          </a:p>
          <a:p>
            <a:pPr algn="just" fontAlgn="base"/>
            <a:endParaRPr lang="en-US" dirty="0"/>
          </a:p>
          <a:p>
            <a:pPr algn="just" fontAlgn="base"/>
            <a:r>
              <a:rPr lang="en-US" dirty="0"/>
              <a:t>Post-deployment maintenance: The cost of post-deployment maintenance such as bug fixing, security updates, and feature additions can also play a role in the cost of re-engineering.</a:t>
            </a:r>
          </a:p>
        </p:txBody>
      </p:sp>
    </p:spTree>
    <p:extLst>
      <p:ext uri="{BB962C8B-B14F-4D97-AF65-F5344CB8AC3E}">
        <p14:creationId xmlns:p14="http://schemas.microsoft.com/office/powerpoint/2010/main" val="33796765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Re-engineering:</a:t>
            </a:r>
            <a:r>
              <a:rPr lang="en-US" dirty="0"/>
              <a:t> </a:t>
            </a:r>
          </a:p>
        </p:txBody>
      </p:sp>
      <p:sp>
        <p:nvSpPr>
          <p:cNvPr id="3" name="Content Placeholder 2"/>
          <p:cNvSpPr>
            <a:spLocks noGrp="1"/>
          </p:cNvSpPr>
          <p:nvPr>
            <p:ph idx="1"/>
          </p:nvPr>
        </p:nvSpPr>
        <p:spPr/>
        <p:txBody>
          <a:bodyPr>
            <a:normAutofit fontScale="55000" lnSpcReduction="20000"/>
          </a:bodyPr>
          <a:lstStyle/>
          <a:p>
            <a:pPr algn="just" fontAlgn="base"/>
            <a:r>
              <a:rPr lang="en-US" b="1" dirty="0"/>
              <a:t>Reduced Risk:</a:t>
            </a:r>
            <a:r>
              <a:rPr lang="en-US" dirty="0"/>
              <a:t> As the software is already existing, the risk is less as compared to new software development. Development problems, staffing problems and specification problems are the lots of problems that may arise in new software development. </a:t>
            </a:r>
          </a:p>
          <a:p>
            <a:pPr algn="just" fontAlgn="base"/>
            <a:endParaRPr lang="en-US" dirty="0"/>
          </a:p>
          <a:p>
            <a:pPr algn="just" fontAlgn="base"/>
            <a:r>
              <a:rPr lang="en-US" b="1" dirty="0"/>
              <a:t>Reduced Cost:</a:t>
            </a:r>
            <a:r>
              <a:rPr lang="en-US" dirty="0"/>
              <a:t> The cost of re-engineering is less than the costs of developing new software.</a:t>
            </a:r>
          </a:p>
          <a:p>
            <a:pPr algn="just" fontAlgn="base"/>
            <a:endParaRPr lang="en-US" dirty="0"/>
          </a:p>
          <a:p>
            <a:pPr algn="just" fontAlgn="base"/>
            <a:r>
              <a:rPr lang="en-US" b="1" dirty="0"/>
              <a:t>Better use of Existing Staff: </a:t>
            </a:r>
            <a:r>
              <a:rPr lang="en-US" dirty="0"/>
              <a:t>Existing staff expertise can be maintained and extended accommodate new skills during re-engineering.</a:t>
            </a:r>
          </a:p>
          <a:p>
            <a:pPr algn="just" fontAlgn="base"/>
            <a:endParaRPr lang="en-US" dirty="0"/>
          </a:p>
          <a:p>
            <a:pPr algn="just" fontAlgn="base"/>
            <a:r>
              <a:rPr lang="en-US" b="1" dirty="0"/>
              <a:t>Improved efficiency:</a:t>
            </a:r>
            <a:r>
              <a:rPr lang="en-US" dirty="0"/>
              <a:t> By analyzing and redesigning processes, re-engineering can lead to significant improvements in productivity, speed, and cost-effectiveness.</a:t>
            </a:r>
          </a:p>
          <a:p>
            <a:pPr algn="just" fontAlgn="base"/>
            <a:endParaRPr lang="en-US" dirty="0"/>
          </a:p>
          <a:p>
            <a:pPr algn="just" fontAlgn="base"/>
            <a:r>
              <a:rPr lang="en-US" b="1" dirty="0"/>
              <a:t>Increased flexibility:</a:t>
            </a:r>
            <a:r>
              <a:rPr lang="en-US" dirty="0"/>
              <a:t> Re-engineering can make systems more adaptable to changing business needs and market conditions.</a:t>
            </a:r>
          </a:p>
        </p:txBody>
      </p:sp>
    </p:spTree>
    <p:extLst>
      <p:ext uri="{BB962C8B-B14F-4D97-AF65-F5344CB8AC3E}">
        <p14:creationId xmlns:p14="http://schemas.microsoft.com/office/powerpoint/2010/main" val="28054971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74904"/>
            <a:ext cx="8229600" cy="5751259"/>
          </a:xfrm>
        </p:spPr>
        <p:txBody>
          <a:bodyPr>
            <a:normAutofit fontScale="70000" lnSpcReduction="20000"/>
          </a:bodyPr>
          <a:lstStyle/>
          <a:p>
            <a:pPr algn="just" fontAlgn="base"/>
            <a:r>
              <a:rPr lang="en-US" b="1" dirty="0"/>
              <a:t>Better customer service:</a:t>
            </a:r>
            <a:r>
              <a:rPr lang="en-US" dirty="0"/>
              <a:t> By redesigning processes to focus on customer needs, re-engineering can lead to improved customer satisfaction and loyalty.</a:t>
            </a:r>
          </a:p>
          <a:p>
            <a:pPr algn="just" fontAlgn="base"/>
            <a:endParaRPr lang="en-US" b="1" dirty="0"/>
          </a:p>
          <a:p>
            <a:pPr algn="just" fontAlgn="base"/>
            <a:r>
              <a:rPr lang="en-US" b="1" dirty="0"/>
              <a:t>Increased competitiveness:</a:t>
            </a:r>
            <a:r>
              <a:rPr lang="en-US" dirty="0"/>
              <a:t> Re-engineering can help organizations become more competitive by improving efficiency, flexibility, and customer service.</a:t>
            </a:r>
          </a:p>
          <a:p>
            <a:pPr algn="just" fontAlgn="base"/>
            <a:endParaRPr lang="en-US" dirty="0"/>
          </a:p>
          <a:p>
            <a:pPr algn="just" fontAlgn="base"/>
            <a:r>
              <a:rPr lang="en-US" b="1" dirty="0"/>
              <a:t>Improved quality:</a:t>
            </a:r>
            <a:r>
              <a:rPr lang="en-US" dirty="0"/>
              <a:t> Re-engineering can lead to better quality products and services by identifying and eliminating defects and inefficiencies in processes.</a:t>
            </a:r>
          </a:p>
          <a:p>
            <a:pPr algn="just" fontAlgn="base"/>
            <a:endParaRPr lang="en-US" dirty="0"/>
          </a:p>
          <a:p>
            <a:pPr algn="just" fontAlgn="base"/>
            <a:r>
              <a:rPr lang="en-US" b="1" dirty="0"/>
              <a:t>Increased innovation:</a:t>
            </a:r>
            <a:r>
              <a:rPr lang="en-US" dirty="0"/>
              <a:t> Re-engineering can lead to new and innovative ways of doing things, helping organizations to stay ahead of their competitors.</a:t>
            </a:r>
          </a:p>
          <a:p>
            <a:pPr algn="just" fontAlgn="base"/>
            <a:endParaRPr lang="en-US" dirty="0"/>
          </a:p>
          <a:p>
            <a:pPr algn="just" fontAlgn="base"/>
            <a:r>
              <a:rPr lang="en-US" b="1" dirty="0"/>
              <a:t>Improved compliance:</a:t>
            </a:r>
            <a:r>
              <a:rPr lang="en-US" dirty="0"/>
              <a:t> Re-engineering can help organizations to comply with industry standards and regulations by identifying and addressing areas of non-compliance.</a:t>
            </a:r>
          </a:p>
        </p:txBody>
      </p:sp>
    </p:spTree>
    <p:extLst>
      <p:ext uri="{BB962C8B-B14F-4D97-AF65-F5344CB8AC3E}">
        <p14:creationId xmlns:p14="http://schemas.microsoft.com/office/powerpoint/2010/main" val="1041597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Re-engineering:</a:t>
            </a: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dirty="0"/>
              <a:t>Major architectural changes or radical reorganizing of the systems data management has to be done manually.</a:t>
            </a:r>
          </a:p>
          <a:p>
            <a:pPr fontAlgn="base"/>
            <a:endParaRPr lang="en-US" dirty="0"/>
          </a:p>
          <a:p>
            <a:pPr fontAlgn="base"/>
            <a:r>
              <a:rPr lang="en-US" dirty="0"/>
              <a:t>Re-engineered system is not likely to be as maintainable as a new system developed using modern software Re-engineering methods. </a:t>
            </a:r>
          </a:p>
          <a:p>
            <a:pPr fontAlgn="base"/>
            <a:endParaRPr lang="en-US" dirty="0"/>
          </a:p>
          <a:p>
            <a:pPr fontAlgn="base"/>
            <a:r>
              <a:rPr lang="en-US" dirty="0"/>
              <a:t>High costs: Re-engineering can be a costly process, requiring significant investments in time, resources, and technology.</a:t>
            </a:r>
          </a:p>
          <a:p>
            <a:pPr fontAlgn="base"/>
            <a:endParaRPr lang="en-US" dirty="0"/>
          </a:p>
          <a:p>
            <a:pPr fontAlgn="base"/>
            <a:r>
              <a:rPr lang="en-US" dirty="0"/>
              <a:t>Disruption to business operations: Re-engineering can disrupt normal business operations and cause inconvenience to customers, employees and other stakeholders.</a:t>
            </a:r>
          </a:p>
          <a:p>
            <a:pPr fontAlgn="base"/>
            <a:endParaRPr lang="en-US" dirty="0"/>
          </a:p>
          <a:p>
            <a:pPr fontAlgn="base"/>
            <a:r>
              <a:rPr lang="en-US" dirty="0"/>
              <a:t>Resistance to change: Re-engineering can encounter resistance from employees who may be resistant to change and uncomfortable with new processes and technologies.</a:t>
            </a:r>
          </a:p>
        </p:txBody>
      </p:sp>
    </p:spTree>
    <p:extLst>
      <p:ext uri="{BB962C8B-B14F-4D97-AF65-F5344CB8AC3E}">
        <p14:creationId xmlns:p14="http://schemas.microsoft.com/office/powerpoint/2010/main" val="1027949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48056"/>
            <a:ext cx="8229600" cy="5678107"/>
          </a:xfrm>
        </p:spPr>
        <p:txBody>
          <a:bodyPr>
            <a:normAutofit fontScale="70000" lnSpcReduction="20000"/>
          </a:bodyPr>
          <a:lstStyle/>
          <a:p>
            <a:pPr algn="just" fontAlgn="base"/>
            <a:r>
              <a:rPr lang="en-US" dirty="0"/>
              <a:t>Risk of failure: Re-engineering projects can fail if they are not planned and executed properly, resulting in wasted resources and lost opportunities.</a:t>
            </a:r>
          </a:p>
          <a:p>
            <a:pPr algn="just" fontAlgn="base"/>
            <a:endParaRPr lang="en-US" dirty="0"/>
          </a:p>
          <a:p>
            <a:pPr algn="just" fontAlgn="base"/>
            <a:r>
              <a:rPr lang="en-US" dirty="0"/>
              <a:t>Lack of employee involvement: Re-engineering projects that are not properly communicated and involve employees, may lead to lack of employee engagement and ownership resulting in failure of the project.</a:t>
            </a:r>
          </a:p>
          <a:p>
            <a:pPr algn="just" fontAlgn="base"/>
            <a:endParaRPr lang="en-US" dirty="0"/>
          </a:p>
          <a:p>
            <a:pPr algn="just" fontAlgn="base"/>
            <a:r>
              <a:rPr lang="en-US" dirty="0"/>
              <a:t>Difficulty in measuring success: Re-engineering can be difficult to measure in terms of success, making it difficult to justify the cost and effort involved.</a:t>
            </a:r>
          </a:p>
          <a:p>
            <a:pPr algn="just" fontAlgn="base"/>
            <a:endParaRPr lang="en-US" dirty="0"/>
          </a:p>
          <a:p>
            <a:pPr algn="just" fontAlgn="base"/>
            <a:r>
              <a:rPr lang="en-US" dirty="0"/>
              <a:t>Difficulty in maintaining continuity: Re-engineering can lead to significant changes in processes and systems, making it difficult to maintain continuity and consistency in the organization.</a:t>
            </a:r>
          </a:p>
        </p:txBody>
      </p:sp>
    </p:spTree>
    <p:extLst>
      <p:ext uri="{BB962C8B-B14F-4D97-AF65-F5344CB8AC3E}">
        <p14:creationId xmlns:p14="http://schemas.microsoft.com/office/powerpoint/2010/main" val="31784320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re-engineering procedure requires the following steps</a:t>
            </a:r>
          </a:p>
        </p:txBody>
      </p:sp>
      <p:sp>
        <p:nvSpPr>
          <p:cNvPr id="3" name="Content Placeholder 2"/>
          <p:cNvSpPr>
            <a:spLocks noGrp="1"/>
          </p:cNvSpPr>
          <p:nvPr>
            <p:ph idx="1"/>
          </p:nvPr>
        </p:nvSpPr>
        <p:spPr/>
        <p:txBody>
          <a:bodyPr>
            <a:normAutofit fontScale="92500" lnSpcReduction="20000"/>
          </a:bodyPr>
          <a:lstStyle/>
          <a:p>
            <a:pPr algn="just" fontAlgn="base"/>
            <a:r>
              <a:rPr lang="en-US" b="1" dirty="0"/>
              <a:t>Decide</a:t>
            </a:r>
            <a:r>
              <a:rPr lang="en-US" dirty="0"/>
              <a:t> which components of the software we want to re-engineer. Is it the complete software or just some components of the software?</a:t>
            </a:r>
          </a:p>
          <a:p>
            <a:pPr algn="just" fontAlgn="base"/>
            <a:r>
              <a:rPr lang="en-US" b="1" dirty="0"/>
              <a:t>Do </a:t>
            </a:r>
            <a:r>
              <a:rPr lang="en-US" dirty="0"/>
              <a:t>Reverse Engineering to learn about existing software functionalities.</a:t>
            </a:r>
          </a:p>
          <a:p>
            <a:pPr algn="just" fontAlgn="base"/>
            <a:r>
              <a:rPr lang="en-US" b="1" dirty="0"/>
              <a:t>Perform restructuring  of source code</a:t>
            </a:r>
            <a:r>
              <a:rPr lang="en-US" dirty="0"/>
              <a:t> if needed for example modifying functional-Oriented programs in Object-Oriented programs </a:t>
            </a:r>
          </a:p>
          <a:p>
            <a:pPr fontAlgn="base"/>
            <a:r>
              <a:rPr lang="en-US" b="1" dirty="0"/>
              <a:t>Perform restructuring of data</a:t>
            </a:r>
            <a:r>
              <a:rPr lang="en-US" dirty="0"/>
              <a:t> if required </a:t>
            </a:r>
          </a:p>
          <a:p>
            <a:pPr fontAlgn="base"/>
            <a:r>
              <a:rPr lang="en-US" b="1" dirty="0"/>
              <a:t>Use Forward Engineering</a:t>
            </a:r>
            <a:r>
              <a:rPr lang="en-US" dirty="0"/>
              <a:t> ideas to generate re-engineered software </a:t>
            </a:r>
          </a:p>
        </p:txBody>
      </p:sp>
    </p:spTree>
    <p:extLst>
      <p:ext uri="{BB962C8B-B14F-4D97-AF65-F5344CB8AC3E}">
        <p14:creationId xmlns:p14="http://schemas.microsoft.com/office/powerpoint/2010/main" val="1608724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Software Re-Engineering Activities:</a:t>
            </a:r>
            <a:r>
              <a:rPr lang="en-US" dirty="0"/>
              <a:t> </a:t>
            </a:r>
          </a:p>
        </p:txBody>
      </p:sp>
      <p:pic>
        <p:nvPicPr>
          <p:cNvPr id="4" name="Content Placeholder 3"/>
          <p:cNvPicPr>
            <a:picLocks noGrp="1" noChangeAspect="1"/>
          </p:cNvPicPr>
          <p:nvPr>
            <p:ph idx="1"/>
          </p:nvPr>
        </p:nvPicPr>
        <p:blipFill>
          <a:blip r:embed="rId2"/>
          <a:stretch>
            <a:fillRect/>
          </a:stretch>
        </p:blipFill>
        <p:spPr>
          <a:xfrm>
            <a:off x="1271016" y="1892808"/>
            <a:ext cx="7077456" cy="3716445"/>
          </a:xfrm>
          <a:prstGeom prst="rect">
            <a:avLst/>
          </a:prstGeom>
        </p:spPr>
      </p:pic>
    </p:spTree>
    <p:extLst>
      <p:ext uri="{BB962C8B-B14F-4D97-AF65-F5344CB8AC3E}">
        <p14:creationId xmlns:p14="http://schemas.microsoft.com/office/powerpoint/2010/main" val="29588586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Inventory Analysis:</a:t>
            </a:r>
            <a:r>
              <a:rPr lang="en-US" dirty="0"/>
              <a:t> </a:t>
            </a:r>
          </a:p>
        </p:txBody>
      </p:sp>
      <p:sp>
        <p:nvSpPr>
          <p:cNvPr id="3" name="Content Placeholder 2"/>
          <p:cNvSpPr>
            <a:spLocks noGrp="1"/>
          </p:cNvSpPr>
          <p:nvPr>
            <p:ph idx="1"/>
          </p:nvPr>
        </p:nvSpPr>
        <p:spPr/>
        <p:txBody>
          <a:bodyPr>
            <a:normAutofit fontScale="85000" lnSpcReduction="20000"/>
          </a:bodyPr>
          <a:lstStyle/>
          <a:p>
            <a:pPr marL="0" indent="0" fontAlgn="base">
              <a:buNone/>
            </a:pPr>
            <a:r>
              <a:rPr lang="en-US" dirty="0"/>
              <a:t>Every software organization should have an inventory of all the applications. </a:t>
            </a:r>
            <a:br>
              <a:rPr lang="en-US" dirty="0"/>
            </a:br>
            <a:r>
              <a:rPr lang="en-US" dirty="0"/>
              <a:t> </a:t>
            </a:r>
          </a:p>
          <a:p>
            <a:pPr algn="just" fontAlgn="base"/>
            <a:r>
              <a:rPr lang="en-US" dirty="0"/>
              <a:t>Inventory can be nothing more than a spreadsheet model containing information that provides a detailed description of every active application.</a:t>
            </a:r>
          </a:p>
          <a:p>
            <a:pPr algn="just" fontAlgn="base"/>
            <a:r>
              <a:rPr lang="en-US" dirty="0"/>
              <a:t>By sorting this information according to business criticality, longevity, current maintainability, and other local important criteria, candidates for re-engineering appear.</a:t>
            </a:r>
          </a:p>
          <a:p>
            <a:pPr algn="just" fontAlgn="base"/>
            <a:r>
              <a:rPr lang="en-US" dirty="0"/>
              <a:t>The resource can then be allocated to a candidate application for re-engineering work.</a:t>
            </a:r>
          </a:p>
        </p:txBody>
      </p:sp>
    </p:spTree>
    <p:extLst>
      <p:ext uri="{BB962C8B-B14F-4D97-AF65-F5344CB8AC3E}">
        <p14:creationId xmlns:p14="http://schemas.microsoft.com/office/powerpoint/2010/main" val="25881081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Document reconstructing:</a:t>
            </a:r>
            <a:r>
              <a:rPr lang="en-US" dirty="0"/>
              <a:t> </a:t>
            </a:r>
          </a:p>
        </p:txBody>
      </p:sp>
      <p:sp>
        <p:nvSpPr>
          <p:cNvPr id="3" name="Content Placeholder 2"/>
          <p:cNvSpPr>
            <a:spLocks noGrp="1"/>
          </p:cNvSpPr>
          <p:nvPr>
            <p:ph idx="1"/>
          </p:nvPr>
        </p:nvSpPr>
        <p:spPr/>
        <p:txBody>
          <a:bodyPr/>
          <a:lstStyle/>
          <a:p>
            <a:pPr marL="0" indent="0" fontAlgn="base">
              <a:buNone/>
            </a:pPr>
            <a:r>
              <a:rPr lang="en-US" dirty="0"/>
              <a:t>Documentation of a system either explains how it operates or how to use it. </a:t>
            </a:r>
            <a:br>
              <a:rPr lang="en-US" dirty="0"/>
            </a:br>
            <a:r>
              <a:rPr lang="en-US" dirty="0"/>
              <a:t> </a:t>
            </a:r>
          </a:p>
          <a:p>
            <a:pPr fontAlgn="base"/>
            <a:r>
              <a:rPr lang="en-US" dirty="0"/>
              <a:t>Documentation must be updated.</a:t>
            </a:r>
          </a:p>
          <a:p>
            <a:pPr fontAlgn="base"/>
            <a:r>
              <a:rPr lang="en-US" dirty="0"/>
              <a:t>It may not be necessary to fully document an application.</a:t>
            </a:r>
          </a:p>
          <a:p>
            <a:pPr fontAlgn="base"/>
            <a:r>
              <a:rPr lang="en-US" dirty="0"/>
              <a:t>The system is business-critical and must be fully re-documented.</a:t>
            </a:r>
          </a:p>
        </p:txBody>
      </p:sp>
    </p:spTree>
    <p:extLst>
      <p:ext uri="{BB962C8B-B14F-4D97-AF65-F5344CB8AC3E}">
        <p14:creationId xmlns:p14="http://schemas.microsoft.com/office/powerpoint/2010/main" val="32456614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Reverse Engineering:</a:t>
            </a:r>
            <a:r>
              <a:rPr lang="en-US" dirty="0"/>
              <a:t> </a:t>
            </a:r>
          </a:p>
        </p:txBody>
      </p:sp>
      <p:sp>
        <p:nvSpPr>
          <p:cNvPr id="3" name="Content Placeholder 2"/>
          <p:cNvSpPr>
            <a:spLocks noGrp="1"/>
          </p:cNvSpPr>
          <p:nvPr>
            <p:ph idx="1"/>
          </p:nvPr>
        </p:nvSpPr>
        <p:spPr/>
        <p:txBody>
          <a:bodyPr/>
          <a:lstStyle/>
          <a:p>
            <a:pPr algn="just"/>
            <a:r>
              <a:rPr lang="en-US" dirty="0"/>
              <a:t>Reverse engineering is a process of design recovery. Reverse engineering tools extract data and architectural and procedural design information from an existing program. </a:t>
            </a:r>
          </a:p>
        </p:txBody>
      </p:sp>
    </p:spTree>
    <p:extLst>
      <p:ext uri="{BB962C8B-B14F-4D97-AF65-F5344CB8AC3E}">
        <p14:creationId xmlns:p14="http://schemas.microsoft.com/office/powerpoint/2010/main" val="15212189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Code Reconstructing:</a:t>
            </a:r>
            <a:r>
              <a:rPr lang="en-US" dirty="0"/>
              <a:t> </a:t>
            </a:r>
          </a:p>
        </p:txBody>
      </p:sp>
      <p:sp>
        <p:nvSpPr>
          <p:cNvPr id="3" name="Content Placeholder 2"/>
          <p:cNvSpPr>
            <a:spLocks noGrp="1"/>
          </p:cNvSpPr>
          <p:nvPr>
            <p:ph idx="1"/>
          </p:nvPr>
        </p:nvSpPr>
        <p:spPr/>
        <p:txBody>
          <a:bodyPr/>
          <a:lstStyle/>
          <a:p>
            <a:pPr algn="just" fontAlgn="base"/>
            <a:r>
              <a:rPr lang="en-US" dirty="0"/>
              <a:t>To accomplish code reconstruction, the source code is analyzed using a reconstructing tool. Violations of structured programming construct are noted and code is then reconstructed.</a:t>
            </a:r>
          </a:p>
          <a:p>
            <a:pPr algn="just" fontAlgn="base"/>
            <a:r>
              <a:rPr lang="en-US" dirty="0"/>
              <a:t>The resultant restructured code is reviewed and tested to ensure that no anomalies have been introduced.</a:t>
            </a:r>
          </a:p>
        </p:txBody>
      </p:sp>
    </p:spTree>
    <p:extLst>
      <p:ext uri="{BB962C8B-B14F-4D97-AF65-F5344CB8AC3E}">
        <p14:creationId xmlns:p14="http://schemas.microsoft.com/office/powerpoint/2010/main" val="19053494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Data Restructuring:</a:t>
            </a:r>
            <a:r>
              <a:rPr lang="en-US" dirty="0"/>
              <a:t> </a:t>
            </a:r>
          </a:p>
        </p:txBody>
      </p:sp>
      <p:sp>
        <p:nvSpPr>
          <p:cNvPr id="3" name="Content Placeholder 2"/>
          <p:cNvSpPr>
            <a:spLocks noGrp="1"/>
          </p:cNvSpPr>
          <p:nvPr>
            <p:ph idx="1"/>
          </p:nvPr>
        </p:nvSpPr>
        <p:spPr/>
        <p:txBody>
          <a:bodyPr/>
          <a:lstStyle/>
          <a:p>
            <a:pPr algn="just" fontAlgn="base"/>
            <a:r>
              <a:rPr lang="en-US" dirty="0"/>
              <a:t>Data restructuring begins with a reverse engineering activity.</a:t>
            </a:r>
          </a:p>
          <a:p>
            <a:pPr algn="just" fontAlgn="base"/>
            <a:r>
              <a:rPr lang="en-US" dirty="0"/>
              <a:t>The current data architecture is dissected, and the necessary data models are defined.</a:t>
            </a:r>
          </a:p>
          <a:p>
            <a:pPr algn="just" fontAlgn="base"/>
            <a:r>
              <a:rPr lang="en-US" dirty="0"/>
              <a:t>Data objects and attributes are identified, and existing data structures are reviewed for quality.</a:t>
            </a:r>
          </a:p>
        </p:txBody>
      </p:sp>
    </p:spTree>
    <p:extLst>
      <p:ext uri="{BB962C8B-B14F-4D97-AF65-F5344CB8AC3E}">
        <p14:creationId xmlns:p14="http://schemas.microsoft.com/office/powerpoint/2010/main" val="8437888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Forward Engineering:</a:t>
            </a:r>
            <a:r>
              <a:rPr lang="en-US" dirty="0"/>
              <a:t> </a:t>
            </a:r>
          </a:p>
        </p:txBody>
      </p:sp>
      <p:sp>
        <p:nvSpPr>
          <p:cNvPr id="3" name="Content Placeholder 2"/>
          <p:cNvSpPr>
            <a:spLocks noGrp="1"/>
          </p:cNvSpPr>
          <p:nvPr>
            <p:ph idx="1"/>
          </p:nvPr>
        </p:nvSpPr>
        <p:spPr/>
        <p:txBody>
          <a:bodyPr/>
          <a:lstStyle/>
          <a:p>
            <a:pPr algn="just"/>
            <a:r>
              <a:rPr lang="en-US" dirty="0"/>
              <a:t>Forward Engineering also called renovation or reclamation not only recovers design information from existing software but uses this information to alter or reconstitute the existing system to improve its overall quality.</a:t>
            </a:r>
          </a:p>
        </p:txBody>
      </p:sp>
    </p:spTree>
    <p:extLst>
      <p:ext uri="{BB962C8B-B14F-4D97-AF65-F5344CB8AC3E}">
        <p14:creationId xmlns:p14="http://schemas.microsoft.com/office/powerpoint/2010/main" val="6589260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Case Example: Y2K Problem</a:t>
            </a:r>
          </a:p>
        </p:txBody>
      </p:sp>
      <p:sp>
        <p:nvSpPr>
          <p:cNvPr id="3" name="Content Placeholder 2"/>
          <p:cNvSpPr>
            <a:spLocks noGrp="1"/>
          </p:cNvSpPr>
          <p:nvPr>
            <p:ph idx="1"/>
          </p:nvPr>
        </p:nvSpPr>
        <p:spPr/>
        <p:txBody>
          <a:bodyPr/>
          <a:lstStyle/>
          <a:p>
            <a:endParaRPr/>
          </a:p>
          <a:p>
            <a:r>
              <a:t>Millions spent on re-engineering systems to handle 2000 date</a:t>
            </a:r>
          </a:p>
          <a:p>
            <a:r>
              <a:t>Preserved business continuity globally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888" y="2679510"/>
            <a:ext cx="8229600" cy="1143000"/>
          </a:xfrm>
        </p:spPr>
        <p:txBody>
          <a:bodyPr/>
          <a:lstStyle/>
          <a:p>
            <a:r>
              <a:rPr lang="en-US" dirty="0" smtClean="0"/>
              <a:t>Software maintenance</a:t>
            </a:r>
            <a:endParaRPr lang="en-US" dirty="0"/>
          </a:p>
        </p:txBody>
      </p:sp>
    </p:spTree>
    <p:extLst>
      <p:ext uri="{BB962C8B-B14F-4D97-AF65-F5344CB8AC3E}">
        <p14:creationId xmlns:p14="http://schemas.microsoft.com/office/powerpoint/2010/main" val="35904709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Maintenance</a:t>
            </a:r>
          </a:p>
        </p:txBody>
      </p:sp>
      <p:sp>
        <p:nvSpPr>
          <p:cNvPr id="3" name="Content Placeholder 2"/>
          <p:cNvSpPr>
            <a:spLocks noGrp="1"/>
          </p:cNvSpPr>
          <p:nvPr>
            <p:ph idx="1"/>
          </p:nvPr>
        </p:nvSpPr>
        <p:spPr/>
        <p:txBody>
          <a:bodyPr/>
          <a:lstStyle/>
          <a:p>
            <a:endParaRPr dirty="0"/>
          </a:p>
          <a:p>
            <a:r>
              <a:rPr dirty="0"/>
              <a:t>Software maintenance = 60-80% of total lifecycle cost</a:t>
            </a:r>
          </a:p>
          <a:p>
            <a:r>
              <a:rPr dirty="0"/>
              <a:t>Ensures system longevity and adaptability</a:t>
            </a:r>
          </a:p>
          <a:p>
            <a:r>
              <a:rPr dirty="0"/>
              <a:t>Critical for business continuity</a:t>
            </a:r>
          </a:p>
        </p:txBody>
      </p:sp>
    </p:spTree>
    <p:extLst>
      <p:ext uri="{BB962C8B-B14F-4D97-AF65-F5344CB8AC3E}">
        <p14:creationId xmlns:p14="http://schemas.microsoft.com/office/powerpoint/2010/main" val="42205146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Definition of Maintenance</a:t>
            </a:r>
          </a:p>
        </p:txBody>
      </p:sp>
      <p:sp>
        <p:nvSpPr>
          <p:cNvPr id="3" name="Content Placeholder 2"/>
          <p:cNvSpPr>
            <a:spLocks noGrp="1"/>
          </p:cNvSpPr>
          <p:nvPr>
            <p:ph idx="1"/>
          </p:nvPr>
        </p:nvSpPr>
        <p:spPr/>
        <p:txBody>
          <a:bodyPr/>
          <a:lstStyle/>
          <a:p>
            <a:endParaRPr dirty="0"/>
          </a:p>
          <a:p>
            <a:pPr algn="just"/>
            <a:r>
              <a:rPr dirty="0"/>
              <a:t>Modification of software after delivery to correct faults, improve performance, or adapt to environment</a:t>
            </a:r>
          </a:p>
        </p:txBody>
      </p:sp>
    </p:spTree>
    <p:extLst>
      <p:ext uri="{BB962C8B-B14F-4D97-AF65-F5344CB8AC3E}">
        <p14:creationId xmlns:p14="http://schemas.microsoft.com/office/powerpoint/2010/main" val="36281959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Scope of Maintenance</a:t>
            </a:r>
          </a:p>
        </p:txBody>
      </p:sp>
      <p:sp>
        <p:nvSpPr>
          <p:cNvPr id="3" name="Content Placeholder 2"/>
          <p:cNvSpPr>
            <a:spLocks noGrp="1"/>
          </p:cNvSpPr>
          <p:nvPr>
            <p:ph idx="1"/>
          </p:nvPr>
        </p:nvSpPr>
        <p:spPr/>
        <p:txBody>
          <a:bodyPr/>
          <a:lstStyle/>
          <a:p>
            <a:endParaRPr dirty="0"/>
          </a:p>
          <a:p>
            <a:r>
              <a:rPr dirty="0"/>
              <a:t>Bug fixes</a:t>
            </a:r>
          </a:p>
          <a:p>
            <a:r>
              <a:rPr dirty="0"/>
              <a:t>Performance improvements</a:t>
            </a:r>
          </a:p>
          <a:p>
            <a:r>
              <a:rPr dirty="0"/>
              <a:t>Platform adaptation</a:t>
            </a:r>
          </a:p>
          <a:p>
            <a:r>
              <a:rPr dirty="0"/>
              <a:t>Security patches</a:t>
            </a:r>
          </a:p>
        </p:txBody>
      </p:sp>
    </p:spTree>
    <p:extLst>
      <p:ext uri="{BB962C8B-B14F-4D97-AF65-F5344CB8AC3E}">
        <p14:creationId xmlns:p14="http://schemas.microsoft.com/office/powerpoint/2010/main" val="25624057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Maintenance vs Development Costs</a:t>
            </a:r>
          </a:p>
        </p:txBody>
      </p:sp>
      <p:sp>
        <p:nvSpPr>
          <p:cNvPr id="3" name="Content Placeholder 2"/>
          <p:cNvSpPr>
            <a:spLocks noGrp="1"/>
          </p:cNvSpPr>
          <p:nvPr>
            <p:ph idx="1"/>
          </p:nvPr>
        </p:nvSpPr>
        <p:spPr/>
        <p:txBody>
          <a:bodyPr/>
          <a:lstStyle/>
          <a:p>
            <a:endParaRPr/>
          </a:p>
          <a:p>
            <a:r>
              <a:t>Development: One-time cost</a:t>
            </a:r>
          </a:p>
          <a:p>
            <a:r>
              <a:t>Maintenance: Recurring cost</a:t>
            </a:r>
          </a:p>
          <a:p>
            <a:r>
              <a:t>Can exceed initial development cost over time</a:t>
            </a:r>
          </a:p>
        </p:txBody>
      </p:sp>
    </p:spTree>
    <p:extLst>
      <p:ext uri="{BB962C8B-B14F-4D97-AF65-F5344CB8AC3E}">
        <p14:creationId xmlns:p14="http://schemas.microsoft.com/office/powerpoint/2010/main" val="41278792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Operating Systems</a:t>
            </a:r>
          </a:p>
        </p:txBody>
      </p:sp>
      <p:sp>
        <p:nvSpPr>
          <p:cNvPr id="3" name="Content Placeholder 2"/>
          <p:cNvSpPr>
            <a:spLocks noGrp="1"/>
          </p:cNvSpPr>
          <p:nvPr>
            <p:ph idx="1"/>
          </p:nvPr>
        </p:nvSpPr>
        <p:spPr/>
        <p:txBody>
          <a:bodyPr/>
          <a:lstStyle/>
          <a:p>
            <a:endParaRPr/>
          </a:p>
          <a:p>
            <a:r>
              <a:t>Windows, Linux, macOS</a:t>
            </a:r>
          </a:p>
          <a:p>
            <a:r>
              <a:t>Constant updates, patches, improvements</a:t>
            </a:r>
          </a:p>
        </p:txBody>
      </p:sp>
    </p:spTree>
    <p:extLst>
      <p:ext uri="{BB962C8B-B14F-4D97-AF65-F5344CB8AC3E}">
        <p14:creationId xmlns:p14="http://schemas.microsoft.com/office/powerpoint/2010/main" val="20176437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Maintenance - Overview</a:t>
            </a:r>
          </a:p>
        </p:txBody>
      </p:sp>
      <p:sp>
        <p:nvSpPr>
          <p:cNvPr id="3" name="Content Placeholder 2"/>
          <p:cNvSpPr>
            <a:spLocks noGrp="1"/>
          </p:cNvSpPr>
          <p:nvPr>
            <p:ph idx="1"/>
          </p:nvPr>
        </p:nvSpPr>
        <p:spPr/>
        <p:txBody>
          <a:bodyPr/>
          <a:lstStyle/>
          <a:p>
            <a:endParaRPr/>
          </a:p>
          <a:p>
            <a:r>
              <a:t>Corrective</a:t>
            </a:r>
          </a:p>
          <a:p>
            <a:r>
              <a:t>Adaptive</a:t>
            </a:r>
          </a:p>
          <a:p>
            <a:r>
              <a:t>Perfective</a:t>
            </a:r>
          </a:p>
          <a:p>
            <a:r>
              <a:t>Preventive</a:t>
            </a:r>
          </a:p>
        </p:txBody>
      </p:sp>
    </p:spTree>
    <p:extLst>
      <p:ext uri="{BB962C8B-B14F-4D97-AF65-F5344CB8AC3E}">
        <p14:creationId xmlns:p14="http://schemas.microsoft.com/office/powerpoint/2010/main" val="30645240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Maintenance Diagram</a:t>
            </a:r>
          </a:p>
        </p:txBody>
      </p:sp>
      <p:sp>
        <p:nvSpPr>
          <p:cNvPr id="3" name="Rectangle 2"/>
          <p:cNvSpPr/>
          <p:nvPr/>
        </p:nvSpPr>
        <p:spPr>
          <a:xfrm>
            <a:off x="4572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Corrective</a:t>
            </a:r>
          </a:p>
        </p:txBody>
      </p:sp>
      <p:cxnSp>
        <p:nvCxnSpPr>
          <p:cNvPr id="4" name="Connector 3"/>
          <p:cNvCxnSpPr/>
          <p:nvPr/>
        </p:nvCxnSpPr>
        <p:spPr>
          <a:xfrm>
            <a:off x="27432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2004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Adaptive</a:t>
            </a:r>
          </a:p>
        </p:txBody>
      </p:sp>
      <p:cxnSp>
        <p:nvCxnSpPr>
          <p:cNvPr id="6" name="Connector 5"/>
          <p:cNvCxnSpPr/>
          <p:nvPr/>
        </p:nvCxnSpPr>
        <p:spPr>
          <a:xfrm>
            <a:off x="54864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Perfective</a:t>
            </a:r>
          </a:p>
        </p:txBody>
      </p:sp>
      <p:cxnSp>
        <p:nvCxnSpPr>
          <p:cNvPr id="8" name="Connector 7"/>
          <p:cNvCxnSpPr/>
          <p:nvPr/>
        </p:nvCxnSpPr>
        <p:spPr>
          <a:xfrm>
            <a:off x="82296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32004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Preventive</a:t>
            </a:r>
          </a:p>
        </p:txBody>
      </p:sp>
    </p:spTree>
    <p:extLst>
      <p:ext uri="{BB962C8B-B14F-4D97-AF65-F5344CB8AC3E}">
        <p14:creationId xmlns:p14="http://schemas.microsoft.com/office/powerpoint/2010/main" val="22948482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Corrective Maintenance - Definition</a:t>
            </a:r>
          </a:p>
        </p:txBody>
      </p:sp>
      <p:sp>
        <p:nvSpPr>
          <p:cNvPr id="3" name="Content Placeholder 2"/>
          <p:cNvSpPr>
            <a:spLocks noGrp="1"/>
          </p:cNvSpPr>
          <p:nvPr>
            <p:ph idx="1"/>
          </p:nvPr>
        </p:nvSpPr>
        <p:spPr/>
        <p:txBody>
          <a:bodyPr/>
          <a:lstStyle/>
          <a:p>
            <a:endParaRPr dirty="0"/>
          </a:p>
          <a:p>
            <a:r>
              <a:rPr dirty="0"/>
              <a:t>Fixing errors after software delivery</a:t>
            </a:r>
          </a:p>
          <a:p>
            <a:r>
              <a:rPr dirty="0"/>
              <a:t>Reactive </a:t>
            </a:r>
            <a:r>
              <a:rPr dirty="0" smtClean="0"/>
              <a:t>process</a:t>
            </a:r>
            <a:endParaRPr lang="en-US" dirty="0" smtClean="0"/>
          </a:p>
          <a:p>
            <a:endParaRPr lang="en-US" dirty="0"/>
          </a:p>
          <a:p>
            <a:pPr marL="0" indent="0">
              <a:buNone/>
            </a:pPr>
            <a:r>
              <a:rPr lang="en-US" dirty="0" smtClean="0"/>
              <a:t>Examples</a:t>
            </a:r>
          </a:p>
          <a:p>
            <a:r>
              <a:rPr lang="en-US" dirty="0"/>
              <a:t>Fixing login bug in web app</a:t>
            </a:r>
          </a:p>
          <a:p>
            <a:r>
              <a:rPr lang="en-US" dirty="0"/>
              <a:t>Correcting calculation errors in payroll system</a:t>
            </a:r>
          </a:p>
          <a:p>
            <a:endParaRPr dirty="0"/>
          </a:p>
        </p:txBody>
      </p:sp>
    </p:spTree>
    <p:extLst>
      <p:ext uri="{BB962C8B-B14F-4D97-AF65-F5344CB8AC3E}">
        <p14:creationId xmlns:p14="http://schemas.microsoft.com/office/powerpoint/2010/main" val="22962251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Adaptive Maintenance - Definition</a:t>
            </a:r>
          </a:p>
        </p:txBody>
      </p:sp>
      <p:sp>
        <p:nvSpPr>
          <p:cNvPr id="3" name="Content Placeholder 2"/>
          <p:cNvSpPr>
            <a:spLocks noGrp="1"/>
          </p:cNvSpPr>
          <p:nvPr>
            <p:ph idx="1"/>
          </p:nvPr>
        </p:nvSpPr>
        <p:spPr/>
        <p:txBody>
          <a:bodyPr/>
          <a:lstStyle/>
          <a:p>
            <a:endParaRPr dirty="0"/>
          </a:p>
          <a:p>
            <a:r>
              <a:rPr dirty="0"/>
              <a:t>Adapting system to new environment</a:t>
            </a:r>
          </a:p>
          <a:p>
            <a:r>
              <a:rPr dirty="0"/>
              <a:t>Proactive </a:t>
            </a:r>
            <a:r>
              <a:rPr dirty="0" smtClean="0"/>
              <a:t>process</a:t>
            </a:r>
            <a:endParaRPr lang="en-US" dirty="0" smtClean="0"/>
          </a:p>
          <a:p>
            <a:pPr marL="0" indent="0">
              <a:buNone/>
            </a:pPr>
            <a:endParaRPr lang="en-US" dirty="0"/>
          </a:p>
          <a:p>
            <a:pPr marL="0" indent="0">
              <a:buNone/>
            </a:pPr>
            <a:r>
              <a:rPr lang="en-US" dirty="0"/>
              <a:t>Examples</a:t>
            </a:r>
          </a:p>
          <a:p>
            <a:r>
              <a:rPr lang="en-US" dirty="0"/>
              <a:t>Migrating database to cloud</a:t>
            </a:r>
          </a:p>
          <a:p>
            <a:r>
              <a:rPr lang="en-US" dirty="0"/>
              <a:t>Updating system for new operating system</a:t>
            </a:r>
          </a:p>
          <a:p>
            <a:endParaRPr dirty="0"/>
          </a:p>
        </p:txBody>
      </p:sp>
    </p:spTree>
    <p:extLst>
      <p:ext uri="{BB962C8B-B14F-4D97-AF65-F5344CB8AC3E}">
        <p14:creationId xmlns:p14="http://schemas.microsoft.com/office/powerpoint/2010/main" val="24269407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Perfective Maintenance - Definition</a:t>
            </a:r>
          </a:p>
        </p:txBody>
      </p:sp>
      <p:sp>
        <p:nvSpPr>
          <p:cNvPr id="3" name="Content Placeholder 2"/>
          <p:cNvSpPr>
            <a:spLocks noGrp="1"/>
          </p:cNvSpPr>
          <p:nvPr>
            <p:ph idx="1"/>
          </p:nvPr>
        </p:nvSpPr>
        <p:spPr/>
        <p:txBody>
          <a:bodyPr/>
          <a:lstStyle/>
          <a:p>
            <a:endParaRPr dirty="0"/>
          </a:p>
          <a:p>
            <a:r>
              <a:rPr dirty="0"/>
              <a:t>Improving performance or adding </a:t>
            </a:r>
            <a:r>
              <a:rPr dirty="0" smtClean="0"/>
              <a:t>features</a:t>
            </a:r>
            <a:endParaRPr lang="en-US" dirty="0" smtClean="0"/>
          </a:p>
          <a:p>
            <a:endParaRPr lang="en-US" dirty="0"/>
          </a:p>
          <a:p>
            <a:pPr marL="0" indent="0">
              <a:buNone/>
            </a:pPr>
            <a:r>
              <a:rPr lang="en-US" dirty="0"/>
              <a:t>Examples</a:t>
            </a:r>
          </a:p>
          <a:p>
            <a:r>
              <a:rPr lang="en-US" dirty="0"/>
              <a:t>Adding search functionality</a:t>
            </a:r>
          </a:p>
          <a:p>
            <a:r>
              <a:rPr lang="en-US" dirty="0"/>
              <a:t>Improving system response time</a:t>
            </a:r>
          </a:p>
          <a:p>
            <a:endParaRPr dirty="0"/>
          </a:p>
        </p:txBody>
      </p:sp>
    </p:spTree>
    <p:extLst>
      <p:ext uri="{BB962C8B-B14F-4D97-AF65-F5344CB8AC3E}">
        <p14:creationId xmlns:p14="http://schemas.microsoft.com/office/powerpoint/2010/main" val="4811432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Preventive Maintenance - Definition</a:t>
            </a:r>
          </a:p>
        </p:txBody>
      </p:sp>
      <p:sp>
        <p:nvSpPr>
          <p:cNvPr id="3" name="Content Placeholder 2"/>
          <p:cNvSpPr>
            <a:spLocks noGrp="1"/>
          </p:cNvSpPr>
          <p:nvPr>
            <p:ph idx="1"/>
          </p:nvPr>
        </p:nvSpPr>
        <p:spPr/>
        <p:txBody>
          <a:bodyPr/>
          <a:lstStyle/>
          <a:p>
            <a:endParaRPr dirty="0"/>
          </a:p>
          <a:p>
            <a:r>
              <a:rPr dirty="0"/>
              <a:t>Modifying software to prevent future </a:t>
            </a:r>
            <a:r>
              <a:rPr dirty="0" smtClean="0"/>
              <a:t>issues</a:t>
            </a:r>
            <a:endParaRPr lang="en-US" dirty="0" smtClean="0"/>
          </a:p>
          <a:p>
            <a:endParaRPr lang="en-US" dirty="0"/>
          </a:p>
          <a:p>
            <a:pPr marL="0" indent="0">
              <a:buNone/>
            </a:pPr>
            <a:r>
              <a:rPr lang="en-US" dirty="0"/>
              <a:t>Examples</a:t>
            </a:r>
          </a:p>
          <a:p>
            <a:r>
              <a:rPr lang="en-US" dirty="0"/>
              <a:t>Code refactoring</a:t>
            </a:r>
          </a:p>
          <a:p>
            <a:r>
              <a:rPr lang="en-US" dirty="0"/>
              <a:t>Improving documentation</a:t>
            </a:r>
          </a:p>
          <a:p>
            <a:r>
              <a:rPr lang="en-US" dirty="0"/>
              <a:t>Security hardening</a:t>
            </a:r>
          </a:p>
          <a:p>
            <a:endParaRPr dirty="0"/>
          </a:p>
        </p:txBody>
      </p:sp>
    </p:spTree>
    <p:extLst>
      <p:ext uri="{BB962C8B-B14F-4D97-AF65-F5344CB8AC3E}">
        <p14:creationId xmlns:p14="http://schemas.microsoft.com/office/powerpoint/2010/main" val="17798488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Software Maintenance </a:t>
            </a:r>
            <a:r>
              <a:rPr dirty="0" smtClean="0"/>
              <a:t>Cycle</a:t>
            </a:r>
            <a:r>
              <a:rPr lang="en-US" dirty="0" smtClean="0"/>
              <a:t>-Overview</a:t>
            </a:r>
            <a:endParaRPr dirty="0"/>
          </a:p>
        </p:txBody>
      </p:sp>
      <p:sp>
        <p:nvSpPr>
          <p:cNvPr id="3" name="Content Placeholder 2"/>
          <p:cNvSpPr>
            <a:spLocks noGrp="1"/>
          </p:cNvSpPr>
          <p:nvPr>
            <p:ph idx="1"/>
          </p:nvPr>
        </p:nvSpPr>
        <p:spPr/>
        <p:txBody>
          <a:bodyPr>
            <a:normAutofit/>
          </a:bodyPr>
          <a:lstStyle/>
          <a:p>
            <a:pPr algn="just"/>
            <a:r>
              <a:rPr lang="en-US" dirty="0"/>
              <a:t>The </a:t>
            </a:r>
            <a:r>
              <a:rPr lang="en-US" b="1" dirty="0"/>
              <a:t>Software Maintenance Cycle</a:t>
            </a:r>
            <a:r>
              <a:rPr lang="en-US" dirty="0"/>
              <a:t> defines the </a:t>
            </a:r>
            <a:r>
              <a:rPr lang="en-US" b="1" dirty="0"/>
              <a:t>process stages</a:t>
            </a:r>
            <a:r>
              <a:rPr lang="en-US" dirty="0"/>
              <a:t> involved in maintaining a software system after its initial release.</a:t>
            </a:r>
            <a:br>
              <a:rPr lang="en-US" dirty="0"/>
            </a:br>
            <a:r>
              <a:rPr lang="en-US" dirty="0"/>
              <a:t>It ensures the system remains reliable, secure, and aligned with changing user and business needs</a:t>
            </a:r>
            <a:r>
              <a:rPr lang="en-US" dirty="0" smtClean="0"/>
              <a:t>.</a:t>
            </a:r>
            <a:endParaRPr dirty="0"/>
          </a:p>
        </p:txBody>
      </p:sp>
    </p:spTree>
    <p:extLst>
      <p:ext uri="{BB962C8B-B14F-4D97-AF65-F5344CB8AC3E}">
        <p14:creationId xmlns:p14="http://schemas.microsoft.com/office/powerpoint/2010/main" val="25749551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76338"/>
          </a:xfrm>
        </p:spPr>
        <p:txBody>
          <a:bodyPr>
            <a:normAutofit fontScale="90000"/>
          </a:bodyPr>
          <a:lstStyle/>
          <a:p>
            <a:r>
              <a:rPr lang="en-US" b="1" dirty="0"/>
              <a:t>Phases of the Cycle</a:t>
            </a:r>
          </a:p>
        </p:txBody>
      </p:sp>
      <p:sp>
        <p:nvSpPr>
          <p:cNvPr id="3" name="Content Placeholder 2"/>
          <p:cNvSpPr>
            <a:spLocks noGrp="1"/>
          </p:cNvSpPr>
          <p:nvPr>
            <p:ph idx="1"/>
          </p:nvPr>
        </p:nvSpPr>
        <p:spPr>
          <a:xfrm>
            <a:off x="457200" y="978408"/>
            <a:ext cx="8412480" cy="6336792"/>
          </a:xfrm>
        </p:spPr>
        <p:txBody>
          <a:bodyPr>
            <a:normAutofit fontScale="55000" lnSpcReduction="20000"/>
          </a:bodyPr>
          <a:lstStyle/>
          <a:p>
            <a:r>
              <a:rPr lang="en-US" dirty="0"/>
              <a:t>Identification &amp; </a:t>
            </a:r>
            <a:r>
              <a:rPr lang="en-US" dirty="0" smtClean="0"/>
              <a:t>Tracing</a:t>
            </a:r>
          </a:p>
          <a:p>
            <a:pPr lvl="1"/>
            <a:r>
              <a:rPr lang="en-US" dirty="0" smtClean="0"/>
              <a:t>Problems</a:t>
            </a:r>
            <a:r>
              <a:rPr lang="en-US" dirty="0"/>
              <a:t>, errors, or change requests are identified (via users, monitoring tools, or audits</a:t>
            </a:r>
            <a:r>
              <a:rPr lang="en-US" dirty="0" smtClean="0"/>
              <a:t>).</a:t>
            </a:r>
          </a:p>
          <a:p>
            <a:pPr lvl="1"/>
            <a:r>
              <a:rPr lang="en-US" dirty="0" smtClean="0"/>
              <a:t>Requests </a:t>
            </a:r>
            <a:r>
              <a:rPr lang="en-US" dirty="0"/>
              <a:t>are logged and traced for further action</a:t>
            </a:r>
            <a:r>
              <a:rPr lang="en-US" dirty="0" smtClean="0"/>
              <a:t>.</a:t>
            </a:r>
          </a:p>
          <a:p>
            <a:r>
              <a:rPr lang="en-US" dirty="0" smtClean="0"/>
              <a:t>Analysis</a:t>
            </a:r>
          </a:p>
          <a:p>
            <a:pPr lvl="1"/>
            <a:r>
              <a:rPr lang="en-US" dirty="0" smtClean="0"/>
              <a:t>Assess </a:t>
            </a:r>
            <a:r>
              <a:rPr lang="en-US" dirty="0"/>
              <a:t>the change request or issue</a:t>
            </a:r>
            <a:r>
              <a:rPr lang="en-US" dirty="0" smtClean="0"/>
              <a:t>.</a:t>
            </a:r>
          </a:p>
          <a:p>
            <a:pPr lvl="1"/>
            <a:r>
              <a:rPr lang="en-US" dirty="0" smtClean="0"/>
              <a:t>Determine </a:t>
            </a:r>
            <a:r>
              <a:rPr lang="en-US" dirty="0"/>
              <a:t>the impact on the system (cost, risk, time, and resources needed</a:t>
            </a:r>
            <a:r>
              <a:rPr lang="en-US" dirty="0" smtClean="0"/>
              <a:t>).</a:t>
            </a:r>
          </a:p>
          <a:p>
            <a:r>
              <a:rPr lang="en-US" dirty="0" smtClean="0"/>
              <a:t>Design</a:t>
            </a:r>
          </a:p>
          <a:p>
            <a:pPr lvl="1"/>
            <a:r>
              <a:rPr lang="en-US" dirty="0" smtClean="0"/>
              <a:t>Plan </a:t>
            </a:r>
            <a:r>
              <a:rPr lang="en-US" dirty="0"/>
              <a:t>modifications or enhancements</a:t>
            </a:r>
            <a:r>
              <a:rPr lang="en-US" dirty="0" smtClean="0"/>
              <a:t>.</a:t>
            </a:r>
          </a:p>
          <a:p>
            <a:pPr lvl="1"/>
            <a:r>
              <a:rPr lang="en-US" dirty="0" smtClean="0"/>
              <a:t>Update </a:t>
            </a:r>
            <a:r>
              <a:rPr lang="en-US" dirty="0"/>
              <a:t>design documents, data structures, or architecture if needed</a:t>
            </a:r>
            <a:r>
              <a:rPr lang="en-US" dirty="0" smtClean="0"/>
              <a:t>.</a:t>
            </a:r>
          </a:p>
          <a:p>
            <a:r>
              <a:rPr lang="en-US" dirty="0" smtClean="0"/>
              <a:t>Implementation</a:t>
            </a:r>
          </a:p>
          <a:p>
            <a:pPr lvl="1"/>
            <a:r>
              <a:rPr lang="en-US" dirty="0" smtClean="0"/>
              <a:t>Apply </a:t>
            </a:r>
            <a:r>
              <a:rPr lang="en-US" dirty="0"/>
              <a:t>the necessary code changes</a:t>
            </a:r>
            <a:r>
              <a:rPr lang="en-US" dirty="0" smtClean="0"/>
              <a:t>.</a:t>
            </a:r>
          </a:p>
          <a:p>
            <a:pPr lvl="1"/>
            <a:r>
              <a:rPr lang="en-US" dirty="0" smtClean="0"/>
              <a:t>Develop </a:t>
            </a:r>
            <a:r>
              <a:rPr lang="en-US" dirty="0"/>
              <a:t>security patches, bug fixes, or feature updates</a:t>
            </a:r>
            <a:r>
              <a:rPr lang="en-US" dirty="0" smtClean="0"/>
              <a:t>.</a:t>
            </a:r>
          </a:p>
          <a:p>
            <a:r>
              <a:rPr lang="en-US" dirty="0" smtClean="0"/>
              <a:t>Testing</a:t>
            </a:r>
          </a:p>
          <a:p>
            <a:pPr lvl="1"/>
            <a:r>
              <a:rPr lang="en-US" dirty="0" smtClean="0"/>
              <a:t>Verify </a:t>
            </a:r>
            <a:r>
              <a:rPr lang="en-US" dirty="0"/>
              <a:t>that the changes solve the problem without breaking other functionality</a:t>
            </a:r>
            <a:r>
              <a:rPr lang="en-US" dirty="0" smtClean="0"/>
              <a:t>.</a:t>
            </a:r>
          </a:p>
          <a:p>
            <a:pPr lvl="1"/>
            <a:r>
              <a:rPr lang="en-US" dirty="0" smtClean="0"/>
              <a:t>Includes </a:t>
            </a:r>
            <a:r>
              <a:rPr lang="en-US" dirty="0"/>
              <a:t>regression testing</a:t>
            </a:r>
            <a:r>
              <a:rPr lang="en-US" dirty="0" smtClean="0"/>
              <a:t>.</a:t>
            </a:r>
          </a:p>
          <a:p>
            <a:r>
              <a:rPr lang="en-US" dirty="0" smtClean="0"/>
              <a:t>Delivery </a:t>
            </a:r>
            <a:r>
              <a:rPr lang="en-US" dirty="0"/>
              <a:t>&amp; </a:t>
            </a:r>
            <a:r>
              <a:rPr lang="en-US" dirty="0" smtClean="0"/>
              <a:t>Deployment</a:t>
            </a:r>
          </a:p>
          <a:p>
            <a:pPr lvl="1"/>
            <a:r>
              <a:rPr lang="en-US" dirty="0" smtClean="0"/>
              <a:t>Roll </a:t>
            </a:r>
            <a:r>
              <a:rPr lang="en-US" dirty="0"/>
              <a:t>out the update/patch to the live environment</a:t>
            </a:r>
            <a:r>
              <a:rPr lang="en-US" dirty="0" smtClean="0"/>
              <a:t>.</a:t>
            </a:r>
          </a:p>
          <a:p>
            <a:pPr lvl="1"/>
            <a:r>
              <a:rPr lang="en-US" dirty="0" smtClean="0"/>
              <a:t>Inform </a:t>
            </a:r>
            <a:r>
              <a:rPr lang="en-US" dirty="0"/>
              <a:t>users and provide updated documentation if needed</a:t>
            </a:r>
            <a:r>
              <a:rPr lang="en-US" dirty="0" smtClean="0"/>
              <a:t>.</a:t>
            </a:r>
          </a:p>
          <a:p>
            <a:r>
              <a:rPr lang="en-US" dirty="0" smtClean="0"/>
              <a:t>Maintenance </a:t>
            </a:r>
            <a:r>
              <a:rPr lang="en-US" dirty="0"/>
              <a:t>Review (Post-Delivery</a:t>
            </a:r>
            <a:r>
              <a:rPr lang="en-US" dirty="0" smtClean="0"/>
              <a:t>)</a:t>
            </a:r>
          </a:p>
          <a:p>
            <a:pPr lvl="1"/>
            <a:r>
              <a:rPr lang="en-US" dirty="0" smtClean="0"/>
              <a:t>Evaluate </a:t>
            </a:r>
            <a:r>
              <a:rPr lang="en-US" dirty="0"/>
              <a:t>whether the change achieved its purpose</a:t>
            </a:r>
            <a:r>
              <a:rPr lang="en-US" dirty="0" smtClean="0"/>
              <a:t>.</a:t>
            </a:r>
          </a:p>
          <a:p>
            <a:pPr lvl="1"/>
            <a:r>
              <a:rPr lang="en-US" dirty="0" smtClean="0"/>
              <a:t>Monitor </a:t>
            </a:r>
            <a:r>
              <a:rPr lang="en-US" dirty="0"/>
              <a:t>for side effects, new errors, or user feedback</a:t>
            </a:r>
            <a:r>
              <a:rPr lang="en-US" dirty="0" smtClean="0"/>
              <a:t>.</a:t>
            </a:r>
          </a:p>
          <a:p>
            <a:pPr lvl="1"/>
            <a:r>
              <a:rPr lang="en-US" dirty="0" smtClean="0"/>
              <a:t>Cycle </a:t>
            </a:r>
            <a:r>
              <a:rPr lang="en-US" dirty="0"/>
              <a:t>may restart with new issues.</a:t>
            </a:r>
          </a:p>
        </p:txBody>
      </p:sp>
    </p:spTree>
    <p:extLst>
      <p:ext uri="{BB962C8B-B14F-4D97-AF65-F5344CB8AC3E}">
        <p14:creationId xmlns:p14="http://schemas.microsoft.com/office/powerpoint/2010/main" val="294869629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Challenges in Maintenance Cycle</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1. Identification &amp; Tracing Challenges</a:t>
            </a:r>
          </a:p>
          <a:p>
            <a:r>
              <a:rPr lang="en-US" dirty="0"/>
              <a:t>Poorly documented systems make it hard to trace errors.</a:t>
            </a:r>
          </a:p>
          <a:p>
            <a:r>
              <a:rPr lang="en-US" dirty="0"/>
              <a:t>Legacy code may lack proper logging/monitoring.</a:t>
            </a:r>
          </a:p>
          <a:p>
            <a:r>
              <a:rPr lang="en-US" dirty="0"/>
              <a:t>Users may report vague or incomplete issues.</a:t>
            </a:r>
          </a:p>
          <a:p>
            <a:pPr marL="0" indent="0">
              <a:buNone/>
            </a:pPr>
            <a:r>
              <a:rPr lang="en-US" b="1" dirty="0"/>
              <a:t>2. Analysis Challenges</a:t>
            </a:r>
          </a:p>
          <a:p>
            <a:r>
              <a:rPr lang="en-US" dirty="0"/>
              <a:t>High </a:t>
            </a:r>
            <a:r>
              <a:rPr lang="en-US" b="1" dirty="0"/>
              <a:t>impact analysis cost</a:t>
            </a:r>
            <a:r>
              <a:rPr lang="en-US" dirty="0"/>
              <a:t> (time-consuming to evaluate ripple effects).</a:t>
            </a:r>
          </a:p>
          <a:p>
            <a:r>
              <a:rPr lang="en-US" dirty="0"/>
              <a:t>Hidden dependencies in old systems.</a:t>
            </a:r>
          </a:p>
          <a:p>
            <a:r>
              <a:rPr lang="en-US" dirty="0"/>
              <a:t>Lack of skilled personnel familiar with outdated technology.</a:t>
            </a:r>
          </a:p>
          <a:p>
            <a:pPr marL="0" indent="0">
              <a:buNone/>
            </a:pPr>
            <a:r>
              <a:rPr lang="en-US" b="1" dirty="0"/>
              <a:t>3. Design Challenges</a:t>
            </a:r>
          </a:p>
          <a:p>
            <a:r>
              <a:rPr lang="en-US" dirty="0"/>
              <a:t>Difficult to fit changes into </a:t>
            </a:r>
            <a:r>
              <a:rPr lang="en-US" b="1" dirty="0"/>
              <a:t>rigid or poorly structured systems</a:t>
            </a:r>
            <a:r>
              <a:rPr lang="en-US" dirty="0"/>
              <a:t>.</a:t>
            </a:r>
          </a:p>
          <a:p>
            <a:r>
              <a:rPr lang="en-US" dirty="0"/>
              <a:t>Technical debt and spaghetti code reduce flexibility.</a:t>
            </a:r>
          </a:p>
          <a:p>
            <a:r>
              <a:rPr lang="en-US" dirty="0"/>
              <a:t>Limited modularity makes small changes complex.</a:t>
            </a:r>
          </a:p>
          <a:p>
            <a:endParaRPr dirty="0"/>
          </a:p>
        </p:txBody>
      </p:sp>
    </p:spTree>
    <p:extLst>
      <p:ext uri="{BB962C8B-B14F-4D97-AF65-F5344CB8AC3E}">
        <p14:creationId xmlns:p14="http://schemas.microsoft.com/office/powerpoint/2010/main" val="22120886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6616"/>
            <a:ext cx="8229600" cy="5915851"/>
          </a:xfrm>
        </p:spPr>
        <p:txBody>
          <a:bodyPr>
            <a:normAutofit fontScale="70000" lnSpcReduction="20000"/>
          </a:bodyPr>
          <a:lstStyle/>
          <a:p>
            <a:pPr marL="0" indent="0">
              <a:buNone/>
            </a:pPr>
            <a:r>
              <a:rPr lang="en-US" b="1" dirty="0"/>
              <a:t>4. Implementation Challenges</a:t>
            </a:r>
          </a:p>
          <a:p>
            <a:r>
              <a:rPr lang="en-US" dirty="0"/>
              <a:t>Fear of breaking existing functionality.</a:t>
            </a:r>
          </a:p>
          <a:p>
            <a:r>
              <a:rPr lang="en-US" dirty="0"/>
              <a:t>Lack of coding standards in older systems.</a:t>
            </a:r>
          </a:p>
          <a:p>
            <a:r>
              <a:rPr lang="en-US" dirty="0"/>
              <a:t>Inconsistent environments (development vs. production</a:t>
            </a:r>
            <a:r>
              <a:rPr lang="en-US" dirty="0" smtClean="0"/>
              <a:t>).</a:t>
            </a:r>
          </a:p>
          <a:p>
            <a:pPr marL="0" indent="0">
              <a:buNone/>
            </a:pPr>
            <a:r>
              <a:rPr lang="en-US" b="1" dirty="0"/>
              <a:t>5. Testing Challenges</a:t>
            </a:r>
          </a:p>
          <a:p>
            <a:r>
              <a:rPr lang="en-US" dirty="0"/>
              <a:t>Incomplete or outdated test cases.</a:t>
            </a:r>
          </a:p>
          <a:p>
            <a:r>
              <a:rPr lang="en-US" dirty="0"/>
              <a:t>Regression testing is time-intensive.</a:t>
            </a:r>
          </a:p>
          <a:p>
            <a:r>
              <a:rPr lang="en-US" dirty="0"/>
              <a:t>Legacy systems may not support automated testing easily.</a:t>
            </a:r>
          </a:p>
          <a:p>
            <a:pPr marL="0" indent="0">
              <a:buNone/>
            </a:pPr>
            <a:r>
              <a:rPr lang="en-US" b="1" dirty="0"/>
              <a:t>6. Deployment Challenges</a:t>
            </a:r>
          </a:p>
          <a:p>
            <a:r>
              <a:rPr lang="en-US" dirty="0"/>
              <a:t>Downtime risks during patch/upgrade.</a:t>
            </a:r>
          </a:p>
          <a:p>
            <a:r>
              <a:rPr lang="en-US" dirty="0"/>
              <a:t>Integration with modern systems may fail.</a:t>
            </a:r>
          </a:p>
          <a:p>
            <a:r>
              <a:rPr lang="en-US" dirty="0"/>
              <a:t>Version control and rollback issues.</a:t>
            </a:r>
          </a:p>
          <a:p>
            <a:pPr marL="0" indent="0">
              <a:buNone/>
            </a:pPr>
            <a:r>
              <a:rPr lang="en-US" b="1" dirty="0"/>
              <a:t>7. Review &amp; Monitoring Challenges</a:t>
            </a:r>
          </a:p>
          <a:p>
            <a:r>
              <a:rPr lang="en-US" dirty="0"/>
              <a:t>Users may resist changes (training &amp; acceptance issues).</a:t>
            </a:r>
          </a:p>
          <a:p>
            <a:r>
              <a:rPr lang="en-US" dirty="0"/>
              <a:t>Continuous monitoring adds operational cost.</a:t>
            </a:r>
          </a:p>
          <a:p>
            <a:r>
              <a:rPr lang="en-US" dirty="0"/>
              <a:t>Fixes may introduce </a:t>
            </a:r>
            <a:r>
              <a:rPr lang="en-US" b="1" dirty="0"/>
              <a:t>new bugs</a:t>
            </a:r>
            <a:r>
              <a:rPr lang="en-US" dirty="0"/>
              <a:t>, restarting the cycle.</a:t>
            </a:r>
          </a:p>
          <a:p>
            <a:endParaRPr lang="en-US" dirty="0"/>
          </a:p>
        </p:txBody>
      </p:sp>
    </p:spTree>
    <p:extLst>
      <p:ext uri="{BB962C8B-B14F-4D97-AF65-F5344CB8AC3E}">
        <p14:creationId xmlns:p14="http://schemas.microsoft.com/office/powerpoint/2010/main" val="1787294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Maintenance </a:t>
            </a:r>
            <a:r>
              <a:rPr dirty="0" err="1"/>
              <a:t>vs</a:t>
            </a:r>
            <a:r>
              <a:rPr dirty="0"/>
              <a:t> </a:t>
            </a:r>
            <a:r>
              <a:rPr dirty="0" smtClean="0"/>
              <a:t>Re-engineering</a:t>
            </a:r>
            <a:endParaRPr dirty="0"/>
          </a:p>
        </p:txBody>
      </p:sp>
      <p:sp>
        <p:nvSpPr>
          <p:cNvPr id="3" name="Content Placeholder 2"/>
          <p:cNvSpPr>
            <a:spLocks noGrp="1"/>
          </p:cNvSpPr>
          <p:nvPr>
            <p:ph idx="1"/>
          </p:nvPr>
        </p:nvSpPr>
        <p:spPr/>
        <p:txBody>
          <a:bodyPr/>
          <a:lstStyle/>
          <a:p>
            <a:endParaRPr dirty="0"/>
          </a:p>
          <a:p>
            <a:r>
              <a:rPr dirty="0"/>
              <a:t>Maintenance: minor fixes and adaptations</a:t>
            </a:r>
          </a:p>
          <a:p>
            <a:r>
              <a:rPr dirty="0"/>
              <a:t>Re-engineering: significant </a:t>
            </a:r>
            <a:r>
              <a:rPr dirty="0" smtClean="0"/>
              <a:t>restructuring</a:t>
            </a:r>
            <a:endParaRPr lang="en-US" dirty="0" smtClean="0"/>
          </a:p>
          <a:p>
            <a:endParaRPr lang="en-US" dirty="0"/>
          </a:p>
          <a:p>
            <a:pPr marL="0" lvl="0" indent="0" defTabSz="914400" eaLnBrk="0" fontAlgn="base" hangingPunct="0">
              <a:spcBef>
                <a:spcPct val="0"/>
              </a:spcBef>
              <a:spcAft>
                <a:spcPct val="0"/>
              </a:spcAft>
              <a:buFontTx/>
              <a:buChar char="•"/>
            </a:pPr>
            <a:r>
              <a:rPr lang="en-US" dirty="0"/>
              <a:t>Maintenance = keep it running</a:t>
            </a:r>
          </a:p>
          <a:p>
            <a:pPr marL="0" lvl="0" indent="0" defTabSz="914400" eaLnBrk="0" fontAlgn="base" hangingPunct="0">
              <a:spcBef>
                <a:spcPct val="0"/>
              </a:spcBef>
              <a:spcAft>
                <a:spcPct val="0"/>
              </a:spcAft>
              <a:buFontTx/>
              <a:buChar char="•"/>
            </a:pPr>
            <a:r>
              <a:rPr lang="en-US" dirty="0"/>
              <a:t>Re-engineering = make it better for the long </a:t>
            </a:r>
            <a:r>
              <a:rPr lang="en-US" dirty="0" smtClean="0"/>
              <a:t>  term</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Maintenance Workflow</a:t>
            </a:r>
          </a:p>
        </p:txBody>
      </p:sp>
      <p:sp>
        <p:nvSpPr>
          <p:cNvPr id="3" name="Rectangle 2"/>
          <p:cNvSpPr/>
          <p:nvPr/>
        </p:nvSpPr>
        <p:spPr>
          <a:xfrm>
            <a:off x="4572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Detect Issue</a:t>
            </a:r>
          </a:p>
        </p:txBody>
      </p:sp>
      <p:cxnSp>
        <p:nvCxnSpPr>
          <p:cNvPr id="4" name="Connector 3"/>
          <p:cNvCxnSpPr/>
          <p:nvPr/>
        </p:nvCxnSpPr>
        <p:spPr>
          <a:xfrm>
            <a:off x="27432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2004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Apply Fix</a:t>
            </a:r>
          </a:p>
        </p:txBody>
      </p:sp>
      <p:cxnSp>
        <p:nvCxnSpPr>
          <p:cNvPr id="6" name="Connector 5"/>
          <p:cNvCxnSpPr/>
          <p:nvPr/>
        </p:nvCxnSpPr>
        <p:spPr>
          <a:xfrm>
            <a:off x="54864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Test</a:t>
            </a:r>
          </a:p>
        </p:txBody>
      </p:sp>
      <p:cxnSp>
        <p:nvCxnSpPr>
          <p:cNvPr id="8" name="Connector 7"/>
          <p:cNvCxnSpPr/>
          <p:nvPr/>
        </p:nvCxnSpPr>
        <p:spPr>
          <a:xfrm>
            <a:off x="82296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32004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Deploy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Re-engineering Workflow</a:t>
            </a:r>
          </a:p>
        </p:txBody>
      </p:sp>
      <p:sp>
        <p:nvSpPr>
          <p:cNvPr id="3" name="Rectangle 2"/>
          <p:cNvSpPr/>
          <p:nvPr/>
        </p:nvSpPr>
        <p:spPr>
          <a:xfrm>
            <a:off x="4572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Analyze</a:t>
            </a:r>
          </a:p>
        </p:txBody>
      </p:sp>
      <p:cxnSp>
        <p:nvCxnSpPr>
          <p:cNvPr id="4" name="Connector 3"/>
          <p:cNvCxnSpPr/>
          <p:nvPr/>
        </p:nvCxnSpPr>
        <p:spPr>
          <a:xfrm>
            <a:off x="27432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32004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Reverse Engineer</a:t>
            </a:r>
          </a:p>
        </p:txBody>
      </p:sp>
      <p:cxnSp>
        <p:nvCxnSpPr>
          <p:cNvPr id="6" name="Connector 5"/>
          <p:cNvCxnSpPr/>
          <p:nvPr/>
        </p:nvCxnSpPr>
        <p:spPr>
          <a:xfrm>
            <a:off x="54864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943600" y="18288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Refactor</a:t>
            </a:r>
          </a:p>
        </p:txBody>
      </p:sp>
      <p:cxnSp>
        <p:nvCxnSpPr>
          <p:cNvPr id="8" name="Connector 7"/>
          <p:cNvCxnSpPr/>
          <p:nvPr/>
        </p:nvCxnSpPr>
        <p:spPr>
          <a:xfrm>
            <a:off x="8229600" y="2286000"/>
            <a:ext cx="4572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3200400"/>
            <a:ext cx="22860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Test &amp; Deploy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702622915"/>
              </p:ext>
            </p:extLst>
          </p:nvPr>
        </p:nvGraphicFramePr>
        <p:xfrm>
          <a:off x="356616" y="922908"/>
          <a:ext cx="8229600" cy="365760"/>
        </p:xfrm>
        <a:graphic>
          <a:graphicData uri="http://schemas.openxmlformats.org/drawingml/2006/table">
            <a:tbl>
              <a:tblPr/>
              <a:tblGrid>
                <a:gridCol w="2743200"/>
                <a:gridCol w="2743200"/>
                <a:gridCol w="2743200"/>
              </a:tblGrid>
              <a:tr h="0">
                <a:tc>
                  <a:txBody>
                    <a:bodyPr/>
                    <a:lstStyle/>
                    <a:p>
                      <a:r>
                        <a:rPr lang="en-US" b="1" dirty="0"/>
                        <a:t>Aspect</a:t>
                      </a:r>
                      <a:endParaRPr lang="en-US" dirty="0"/>
                    </a:p>
                  </a:txBody>
                  <a:tcPr anchor="ctr">
                    <a:lnL>
                      <a:noFill/>
                    </a:lnL>
                    <a:lnR>
                      <a:noFill/>
                    </a:lnR>
                    <a:lnT>
                      <a:noFill/>
                    </a:lnT>
                    <a:lnB>
                      <a:noFill/>
                    </a:lnB>
                  </a:tcPr>
                </a:tc>
                <a:tc>
                  <a:txBody>
                    <a:bodyPr/>
                    <a:lstStyle/>
                    <a:p>
                      <a:r>
                        <a:rPr lang="en-US" b="1" dirty="0"/>
                        <a:t>Software Re-engineering</a:t>
                      </a:r>
                      <a:endParaRPr lang="en-US" dirty="0"/>
                    </a:p>
                  </a:txBody>
                  <a:tcPr anchor="ctr">
                    <a:lnL>
                      <a:noFill/>
                    </a:lnL>
                    <a:lnR>
                      <a:noFill/>
                    </a:lnR>
                    <a:lnT>
                      <a:noFill/>
                    </a:lnT>
                    <a:lnB>
                      <a:noFill/>
                    </a:lnB>
                  </a:tcPr>
                </a:tc>
                <a:tc>
                  <a:txBody>
                    <a:bodyPr/>
                    <a:lstStyle/>
                    <a:p>
                      <a:r>
                        <a:rPr lang="en-US" b="1" dirty="0"/>
                        <a:t>Software Maintenance</a:t>
                      </a:r>
                      <a:endParaRPr lang="en-US" dirty="0"/>
                    </a:p>
                  </a:txBody>
                  <a:tcPr anchor="ctr">
                    <a:lnL>
                      <a:noFill/>
                    </a:lnL>
                    <a:lnR>
                      <a:noFill/>
                    </a:lnR>
                    <a:lnT>
                      <a:noFill/>
                    </a:lnT>
                    <a:lnB>
                      <a:noFill/>
                    </a:lnB>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069405338"/>
              </p:ext>
            </p:extLst>
          </p:nvPr>
        </p:nvGraphicFramePr>
        <p:xfrm>
          <a:off x="356616" y="1302543"/>
          <a:ext cx="8229600" cy="2011680"/>
        </p:xfrm>
        <a:graphic>
          <a:graphicData uri="http://schemas.openxmlformats.org/drawingml/2006/table">
            <a:tbl>
              <a:tblPr/>
              <a:tblGrid>
                <a:gridCol w="2743200"/>
                <a:gridCol w="2743200"/>
                <a:gridCol w="2743200"/>
              </a:tblGrid>
              <a:tr h="0">
                <a:tc>
                  <a:txBody>
                    <a:bodyPr/>
                    <a:lstStyle/>
                    <a:p>
                      <a:r>
                        <a:rPr lang="en-US" b="1" dirty="0"/>
                        <a:t>Definition</a:t>
                      </a:r>
                      <a:endParaRPr lang="en-US" dirty="0"/>
                    </a:p>
                  </a:txBody>
                  <a:tcPr anchor="ctr">
                    <a:lnL>
                      <a:noFill/>
                    </a:lnL>
                    <a:lnR>
                      <a:noFill/>
                    </a:lnR>
                    <a:lnT>
                      <a:noFill/>
                    </a:lnT>
                    <a:lnB>
                      <a:noFill/>
                    </a:lnB>
                  </a:tcPr>
                </a:tc>
                <a:tc>
                  <a:txBody>
                    <a:bodyPr/>
                    <a:lstStyle/>
                    <a:p>
                      <a:r>
                        <a:rPr lang="en-US" dirty="0"/>
                        <a:t>The process of analyzing and modifying an existing system to improve its structure, performance, and maintainability without changing its core functionality.</a:t>
                      </a:r>
                    </a:p>
                  </a:txBody>
                  <a:tcPr anchor="ctr">
                    <a:lnL>
                      <a:noFill/>
                    </a:lnL>
                    <a:lnR>
                      <a:noFill/>
                    </a:lnR>
                    <a:lnT>
                      <a:noFill/>
                    </a:lnT>
                    <a:lnB>
                      <a:noFill/>
                    </a:lnB>
                  </a:tcPr>
                </a:tc>
                <a:tc>
                  <a:txBody>
                    <a:bodyPr/>
                    <a:lstStyle/>
                    <a:p>
                      <a:r>
                        <a:rPr lang="en-US" dirty="0"/>
                        <a:t>The process of modifying a software system after delivery to correct faults, improve performance, or adapt it to a changed environment.</a:t>
                      </a:r>
                    </a:p>
                  </a:txBody>
                  <a:tcPr anchor="ctr">
                    <a:lnL>
                      <a:noFill/>
                    </a:lnL>
                    <a:lnR>
                      <a:noFill/>
                    </a:lnR>
                    <a:lnT>
                      <a:noFill/>
                    </a:lnT>
                    <a:lnB>
                      <a:noFill/>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703110343"/>
              </p:ext>
            </p:extLst>
          </p:nvPr>
        </p:nvGraphicFramePr>
        <p:xfrm>
          <a:off x="356616" y="3287109"/>
          <a:ext cx="8229600" cy="914400"/>
        </p:xfrm>
        <a:graphic>
          <a:graphicData uri="http://schemas.openxmlformats.org/drawingml/2006/table">
            <a:tbl>
              <a:tblPr/>
              <a:tblGrid>
                <a:gridCol w="2743200"/>
                <a:gridCol w="2743200"/>
                <a:gridCol w="2743200"/>
              </a:tblGrid>
              <a:tr h="0">
                <a:tc>
                  <a:txBody>
                    <a:bodyPr/>
                    <a:lstStyle/>
                    <a:p>
                      <a:r>
                        <a:rPr lang="en-US" b="1" dirty="0"/>
                        <a:t>Goal</a:t>
                      </a:r>
                      <a:endParaRPr lang="en-US" dirty="0"/>
                    </a:p>
                  </a:txBody>
                  <a:tcPr anchor="ctr">
                    <a:lnL>
                      <a:noFill/>
                    </a:lnL>
                    <a:lnR>
                      <a:noFill/>
                    </a:lnR>
                    <a:lnT>
                      <a:noFill/>
                    </a:lnT>
                    <a:lnB>
                      <a:noFill/>
                    </a:lnB>
                  </a:tcPr>
                </a:tc>
                <a:tc>
                  <a:txBody>
                    <a:bodyPr/>
                    <a:lstStyle/>
                    <a:p>
                      <a:r>
                        <a:rPr lang="en-US" dirty="0"/>
                        <a:t>Improve system quality, structure, and longevity.</a:t>
                      </a:r>
                    </a:p>
                  </a:txBody>
                  <a:tcPr anchor="ctr">
                    <a:lnL>
                      <a:noFill/>
                    </a:lnL>
                    <a:lnR>
                      <a:noFill/>
                    </a:lnR>
                    <a:lnT>
                      <a:noFill/>
                    </a:lnT>
                    <a:lnB>
                      <a:noFill/>
                    </a:lnB>
                  </a:tcPr>
                </a:tc>
                <a:tc>
                  <a:txBody>
                    <a:bodyPr/>
                    <a:lstStyle/>
                    <a:p>
                      <a:r>
                        <a:rPr lang="en-US" dirty="0"/>
                        <a:t>Keep the system operational and useful for end-users.</a:t>
                      </a:r>
                    </a:p>
                  </a:txBody>
                  <a:tcPr anchor="ctr">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76034146"/>
              </p:ext>
            </p:extLst>
          </p:nvPr>
        </p:nvGraphicFramePr>
        <p:xfrm>
          <a:off x="356616" y="4320381"/>
          <a:ext cx="8229600" cy="914400"/>
        </p:xfrm>
        <a:graphic>
          <a:graphicData uri="http://schemas.openxmlformats.org/drawingml/2006/table">
            <a:tbl>
              <a:tblPr/>
              <a:tblGrid>
                <a:gridCol w="2743200"/>
                <a:gridCol w="2743200"/>
                <a:gridCol w="2743200"/>
              </a:tblGrid>
              <a:tr h="0">
                <a:tc>
                  <a:txBody>
                    <a:bodyPr/>
                    <a:lstStyle/>
                    <a:p>
                      <a:r>
                        <a:rPr lang="en-US" b="1" dirty="0"/>
                        <a:t>Focus</a:t>
                      </a:r>
                      <a:endParaRPr lang="en-US" dirty="0"/>
                    </a:p>
                  </a:txBody>
                  <a:tcPr anchor="ctr">
                    <a:lnL>
                      <a:noFill/>
                    </a:lnL>
                    <a:lnR>
                      <a:noFill/>
                    </a:lnR>
                    <a:lnT>
                      <a:noFill/>
                    </a:lnT>
                    <a:lnB>
                      <a:noFill/>
                    </a:lnB>
                  </a:tcPr>
                </a:tc>
                <a:tc>
                  <a:txBody>
                    <a:bodyPr/>
                    <a:lstStyle/>
                    <a:p>
                      <a:r>
                        <a:rPr lang="en-US" dirty="0"/>
                        <a:t>Long-term improvement, modernization, and restructuring.</a:t>
                      </a:r>
                    </a:p>
                  </a:txBody>
                  <a:tcPr anchor="ctr">
                    <a:lnL>
                      <a:noFill/>
                    </a:lnL>
                    <a:lnR>
                      <a:noFill/>
                    </a:lnR>
                    <a:lnT>
                      <a:noFill/>
                    </a:lnT>
                    <a:lnB>
                      <a:noFill/>
                    </a:lnB>
                  </a:tcPr>
                </a:tc>
                <a:tc>
                  <a:txBody>
                    <a:bodyPr/>
                    <a:lstStyle/>
                    <a:p>
                      <a:r>
                        <a:rPr lang="en-US" dirty="0"/>
                        <a:t>Immediate fixes, adaptations, and small enhancements.</a:t>
                      </a:r>
                    </a:p>
                  </a:txBody>
                  <a:tcPr anchor="ctr">
                    <a:lnL>
                      <a:noFill/>
                    </a:lnL>
                    <a:lnR>
                      <a:noFill/>
                    </a:lnR>
                    <a:lnT>
                      <a:noFill/>
                    </a:lnT>
                    <a:lnB>
                      <a:noFill/>
                    </a:lnB>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402602824"/>
              </p:ext>
            </p:extLst>
          </p:nvPr>
        </p:nvGraphicFramePr>
        <p:xfrm>
          <a:off x="356616" y="5385498"/>
          <a:ext cx="8229600" cy="1463040"/>
        </p:xfrm>
        <a:graphic>
          <a:graphicData uri="http://schemas.openxmlformats.org/drawingml/2006/table">
            <a:tbl>
              <a:tblPr/>
              <a:tblGrid>
                <a:gridCol w="2743200"/>
                <a:gridCol w="2743200"/>
                <a:gridCol w="2743200"/>
              </a:tblGrid>
              <a:tr h="0">
                <a:tc>
                  <a:txBody>
                    <a:bodyPr/>
                    <a:lstStyle/>
                    <a:p>
                      <a:r>
                        <a:rPr lang="en-US" b="1" dirty="0"/>
                        <a:t>Scope of Change</a:t>
                      </a:r>
                      <a:endParaRPr lang="en-US" dirty="0"/>
                    </a:p>
                  </a:txBody>
                  <a:tcPr anchor="ctr">
                    <a:lnL>
                      <a:noFill/>
                    </a:lnL>
                    <a:lnR>
                      <a:noFill/>
                    </a:lnR>
                    <a:lnT>
                      <a:noFill/>
                    </a:lnT>
                    <a:lnB>
                      <a:noFill/>
                    </a:lnB>
                  </a:tcPr>
                </a:tc>
                <a:tc>
                  <a:txBody>
                    <a:bodyPr/>
                    <a:lstStyle/>
                    <a:p>
                      <a:r>
                        <a:rPr lang="en-US"/>
                        <a:t>Larger, system-wide changes (e.g., redesigning modules, re-documentation, migrating platforms).</a:t>
                      </a:r>
                    </a:p>
                  </a:txBody>
                  <a:tcPr anchor="ctr">
                    <a:lnL>
                      <a:noFill/>
                    </a:lnL>
                    <a:lnR>
                      <a:noFill/>
                    </a:lnR>
                    <a:lnT>
                      <a:noFill/>
                    </a:lnT>
                    <a:lnB>
                      <a:noFill/>
                    </a:lnB>
                  </a:tcPr>
                </a:tc>
                <a:tc>
                  <a:txBody>
                    <a:bodyPr/>
                    <a:lstStyle/>
                    <a:p>
                      <a:r>
                        <a:rPr lang="en-US" dirty="0"/>
                        <a:t>Smaller, localized changes (bug fixes, updates, patches).</a:t>
                      </a:r>
                    </a:p>
                  </a:txBody>
                  <a:tcPr anchor="ctr">
                    <a:lnL>
                      <a:noFill/>
                    </a:lnL>
                    <a:lnR>
                      <a:noFill/>
                    </a:lnR>
                    <a:lnT>
                      <a:noFill/>
                    </a:lnT>
                    <a:lnB>
                      <a:noFill/>
                    </a:lnB>
                  </a:tcPr>
                </a:tc>
              </a:tr>
            </a:tbl>
          </a:graphicData>
        </a:graphic>
      </p:graphicFrame>
      <p:sp>
        <p:nvSpPr>
          <p:cNvPr id="13" name="Title 1"/>
          <p:cNvSpPr txBox="1">
            <a:spLocks/>
          </p:cNvSpPr>
          <p:nvPr/>
        </p:nvSpPr>
        <p:spPr>
          <a:xfrm>
            <a:off x="457200" y="55182"/>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smtClean="0"/>
              <a:t>Comparison table</a:t>
            </a:r>
            <a:endParaRPr lang="en-US" dirty="0"/>
          </a:p>
        </p:txBody>
      </p:sp>
    </p:spTree>
    <p:extLst>
      <p:ext uri="{BB962C8B-B14F-4D97-AF65-F5344CB8AC3E}">
        <p14:creationId xmlns:p14="http://schemas.microsoft.com/office/powerpoint/2010/main" val="41865928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90963719"/>
              </p:ext>
            </p:extLst>
          </p:nvPr>
        </p:nvGraphicFramePr>
        <p:xfrm>
          <a:off x="201168" y="4068762"/>
          <a:ext cx="8229600" cy="1463040"/>
        </p:xfrm>
        <a:graphic>
          <a:graphicData uri="http://schemas.openxmlformats.org/drawingml/2006/table">
            <a:tbl>
              <a:tblPr/>
              <a:tblGrid>
                <a:gridCol w="2743200"/>
                <a:gridCol w="2743200"/>
                <a:gridCol w="2743200"/>
              </a:tblGrid>
              <a:tr h="0">
                <a:tc>
                  <a:txBody>
                    <a:bodyPr/>
                    <a:lstStyle/>
                    <a:p>
                      <a:r>
                        <a:rPr lang="en-US" b="1" dirty="0"/>
                        <a:t>Examples</a:t>
                      </a:r>
                      <a:endParaRPr lang="en-US" dirty="0"/>
                    </a:p>
                  </a:txBody>
                  <a:tcPr anchor="ctr">
                    <a:lnL>
                      <a:noFill/>
                    </a:lnL>
                    <a:lnR>
                      <a:noFill/>
                    </a:lnR>
                    <a:lnT>
                      <a:noFill/>
                    </a:lnT>
                    <a:lnB>
                      <a:noFill/>
                    </a:lnB>
                  </a:tcPr>
                </a:tc>
                <a:tc>
                  <a:txBody>
                    <a:bodyPr/>
                    <a:lstStyle/>
                    <a:p>
                      <a:r>
                        <a:rPr lang="en-US"/>
                        <a:t>- Migrating a legacy system from COBOL to Java. </a:t>
                      </a:r>
                      <a:br>
                        <a:rPr lang="en-US"/>
                      </a:br>
                      <a:r>
                        <a:rPr lang="en-US"/>
                        <a:t>- Re-structuring code for modularity. </a:t>
                      </a:r>
                      <a:br>
                        <a:rPr lang="en-US"/>
                      </a:br>
                      <a:r>
                        <a:rPr lang="en-US"/>
                        <a:t>- Database re-engineering.</a:t>
                      </a:r>
                    </a:p>
                  </a:txBody>
                  <a:tcPr anchor="ctr">
                    <a:lnL>
                      <a:noFill/>
                    </a:lnL>
                    <a:lnR>
                      <a:noFill/>
                    </a:lnR>
                    <a:lnT>
                      <a:noFill/>
                    </a:lnT>
                    <a:lnB>
                      <a:noFill/>
                    </a:lnB>
                  </a:tcPr>
                </a:tc>
                <a:tc>
                  <a:txBody>
                    <a:bodyPr/>
                    <a:lstStyle/>
                    <a:p>
                      <a:r>
                        <a:rPr lang="en-US" dirty="0"/>
                        <a:t>- Fixing bugs. </a:t>
                      </a:r>
                      <a:br>
                        <a:rPr lang="en-US" dirty="0"/>
                      </a:br>
                      <a:r>
                        <a:rPr lang="en-US" dirty="0"/>
                        <a:t>- Updating software for new OS compatibility. </a:t>
                      </a:r>
                      <a:br>
                        <a:rPr lang="en-US" dirty="0"/>
                      </a:br>
                      <a:r>
                        <a:rPr lang="en-US" dirty="0"/>
                        <a:t>- Adding small features requested by users.</a:t>
                      </a:r>
                    </a:p>
                  </a:txBody>
                  <a:tcPr anchor="ctr">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425578207"/>
              </p:ext>
            </p:extLst>
          </p:nvPr>
        </p:nvGraphicFramePr>
        <p:xfrm>
          <a:off x="201168" y="5765133"/>
          <a:ext cx="8229600" cy="914400"/>
        </p:xfrm>
        <a:graphic>
          <a:graphicData uri="http://schemas.openxmlformats.org/drawingml/2006/table">
            <a:tbl>
              <a:tblPr/>
              <a:tblGrid>
                <a:gridCol w="2743200"/>
                <a:gridCol w="2743200"/>
                <a:gridCol w="2743200"/>
              </a:tblGrid>
              <a:tr h="0">
                <a:tc>
                  <a:txBody>
                    <a:bodyPr/>
                    <a:lstStyle/>
                    <a:p>
                      <a:r>
                        <a:rPr lang="en-US" b="1" dirty="0"/>
                        <a:t>Outcome</a:t>
                      </a:r>
                      <a:endParaRPr lang="en-US" dirty="0"/>
                    </a:p>
                  </a:txBody>
                  <a:tcPr anchor="ctr">
                    <a:lnL>
                      <a:noFill/>
                    </a:lnL>
                    <a:lnR>
                      <a:noFill/>
                    </a:lnR>
                    <a:lnT>
                      <a:noFill/>
                    </a:lnT>
                    <a:lnB>
                      <a:noFill/>
                    </a:lnB>
                  </a:tcPr>
                </a:tc>
                <a:tc>
                  <a:txBody>
                    <a:bodyPr/>
                    <a:lstStyle/>
                    <a:p>
                      <a:r>
                        <a:rPr lang="en-US" dirty="0"/>
                        <a:t>A modernized, maintainable, and often extended software system.</a:t>
                      </a:r>
                    </a:p>
                  </a:txBody>
                  <a:tcPr anchor="ctr">
                    <a:lnL>
                      <a:noFill/>
                    </a:lnL>
                    <a:lnR>
                      <a:noFill/>
                    </a:lnR>
                    <a:lnT>
                      <a:noFill/>
                    </a:lnT>
                    <a:lnB>
                      <a:noFill/>
                    </a:lnB>
                  </a:tcPr>
                </a:tc>
                <a:tc>
                  <a:txBody>
                    <a:bodyPr/>
                    <a:lstStyle/>
                    <a:p>
                      <a:r>
                        <a:rPr lang="en-US" dirty="0"/>
                        <a:t>A system that continues to function correctly and meets current needs.</a:t>
                      </a:r>
                    </a:p>
                  </a:txBody>
                  <a:tcPr anchor="ctr">
                    <a:lnL>
                      <a:noFill/>
                    </a:lnL>
                    <a:lnR>
                      <a:noFill/>
                    </a:lnR>
                    <a:lnT>
                      <a:noFill/>
                    </a:lnT>
                    <a:lnB>
                      <a:noFill/>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87415087"/>
              </p:ext>
            </p:extLst>
          </p:nvPr>
        </p:nvGraphicFramePr>
        <p:xfrm>
          <a:off x="128016" y="2957925"/>
          <a:ext cx="8229600" cy="1188720"/>
        </p:xfrm>
        <a:graphic>
          <a:graphicData uri="http://schemas.openxmlformats.org/drawingml/2006/table">
            <a:tbl>
              <a:tblPr/>
              <a:tblGrid>
                <a:gridCol w="2743200"/>
                <a:gridCol w="2743200"/>
                <a:gridCol w="2743200"/>
              </a:tblGrid>
              <a:tr h="0">
                <a:tc>
                  <a:txBody>
                    <a:bodyPr/>
                    <a:lstStyle/>
                    <a:p>
                      <a:r>
                        <a:rPr lang="en-US" b="1" dirty="0"/>
                        <a:t>Cost &amp; </a:t>
                      </a:r>
                      <a:r>
                        <a:rPr lang="en-US" b="1" dirty="0" smtClean="0"/>
                        <a:t>Effort</a:t>
                      </a:r>
                      <a:endParaRPr lang="en-US" dirty="0"/>
                    </a:p>
                  </a:txBody>
                  <a:tcPr anchor="ctr">
                    <a:lnL>
                      <a:noFill/>
                    </a:lnL>
                    <a:lnR>
                      <a:noFill/>
                    </a:lnR>
                    <a:lnT>
                      <a:noFill/>
                    </a:lnT>
                    <a:lnB>
                      <a:noFill/>
                    </a:lnB>
                  </a:tcPr>
                </a:tc>
                <a:tc>
                  <a:txBody>
                    <a:bodyPr/>
                    <a:lstStyle/>
                    <a:p>
                      <a:r>
                        <a:rPr lang="en-US"/>
                        <a:t>Higher upfront cost but reduces long-term maintenance costs.</a:t>
                      </a:r>
                    </a:p>
                  </a:txBody>
                  <a:tcPr anchor="ctr">
                    <a:lnL>
                      <a:noFill/>
                    </a:lnL>
                    <a:lnR>
                      <a:noFill/>
                    </a:lnR>
                    <a:lnT>
                      <a:noFill/>
                    </a:lnT>
                    <a:lnB>
                      <a:noFill/>
                    </a:lnB>
                  </a:tcPr>
                </a:tc>
                <a:tc>
                  <a:txBody>
                    <a:bodyPr/>
                    <a:lstStyle/>
                    <a:p>
                      <a:r>
                        <a:rPr lang="en-US" dirty="0"/>
                        <a:t>Generally lower short-term cost but can accumulate higher costs over time if frequent.</a:t>
                      </a:r>
                    </a:p>
                  </a:txBody>
                  <a:tcPr anchor="ctr">
                    <a:lnL>
                      <a:noFill/>
                    </a:lnL>
                    <a:lnR>
                      <a:noFill/>
                    </a:lnR>
                    <a:lnT>
                      <a:noFill/>
                    </a:lnT>
                    <a:lnB>
                      <a:noFill/>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549460904"/>
              </p:ext>
            </p:extLst>
          </p:nvPr>
        </p:nvGraphicFramePr>
        <p:xfrm>
          <a:off x="274320" y="1632045"/>
          <a:ext cx="8229600" cy="1463040"/>
        </p:xfrm>
        <a:graphic>
          <a:graphicData uri="http://schemas.openxmlformats.org/drawingml/2006/table">
            <a:tbl>
              <a:tblPr/>
              <a:tblGrid>
                <a:gridCol w="2743200"/>
                <a:gridCol w="2743200"/>
                <a:gridCol w="2743200"/>
              </a:tblGrid>
              <a:tr h="0">
                <a:tc>
                  <a:txBody>
                    <a:bodyPr/>
                    <a:lstStyle/>
                    <a:p>
                      <a:r>
                        <a:rPr lang="en-US" b="1" dirty="0" smtClean="0"/>
                        <a:t>Approach</a:t>
                      </a:r>
                      <a:endParaRPr lang="en-US" dirty="0"/>
                    </a:p>
                  </a:txBody>
                  <a:tcPr anchor="ctr">
                    <a:lnL>
                      <a:noFill/>
                    </a:lnL>
                    <a:lnR>
                      <a:noFill/>
                    </a:lnR>
                    <a:lnT>
                      <a:noFill/>
                    </a:lnT>
                    <a:lnB>
                      <a:noFill/>
                    </a:lnB>
                  </a:tcPr>
                </a:tc>
                <a:tc>
                  <a:txBody>
                    <a:bodyPr/>
                    <a:lstStyle/>
                    <a:p>
                      <a:r>
                        <a:rPr lang="en-US" dirty="0"/>
                        <a:t>More strategic – focuses on improving design, removing technical debt, and increasing maintainability.</a:t>
                      </a:r>
                    </a:p>
                  </a:txBody>
                  <a:tcPr anchor="ctr">
                    <a:lnL>
                      <a:noFill/>
                    </a:lnL>
                    <a:lnR>
                      <a:noFill/>
                    </a:lnR>
                    <a:lnT>
                      <a:noFill/>
                    </a:lnT>
                    <a:lnB>
                      <a:noFill/>
                    </a:lnB>
                  </a:tcPr>
                </a:tc>
                <a:tc>
                  <a:txBody>
                    <a:bodyPr/>
                    <a:lstStyle/>
                    <a:p>
                      <a:r>
                        <a:rPr lang="en-US" dirty="0"/>
                        <a:t>More tactical – addresses issues as they arise to keep system running.</a:t>
                      </a:r>
                    </a:p>
                  </a:txBody>
                  <a:tcPr anchor="ctr">
                    <a:lnL>
                      <a:noFill/>
                    </a:lnL>
                    <a:lnR>
                      <a:noFill/>
                    </a:lnR>
                    <a:lnT>
                      <a:noFill/>
                    </a:lnT>
                    <a:lnB>
                      <a:noFill/>
                    </a:lnB>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555686633"/>
              </p:ext>
            </p:extLst>
          </p:nvPr>
        </p:nvGraphicFramePr>
        <p:xfrm>
          <a:off x="201168" y="991965"/>
          <a:ext cx="8229600" cy="640080"/>
        </p:xfrm>
        <a:graphic>
          <a:graphicData uri="http://schemas.openxmlformats.org/drawingml/2006/table">
            <a:tbl>
              <a:tblPr/>
              <a:tblGrid>
                <a:gridCol w="2743200"/>
                <a:gridCol w="2743200"/>
                <a:gridCol w="2743200"/>
              </a:tblGrid>
              <a:tr h="0">
                <a:tc>
                  <a:txBody>
                    <a:bodyPr/>
                    <a:lstStyle/>
                    <a:p>
                      <a:r>
                        <a:rPr lang="en-US" b="1" dirty="0"/>
                        <a:t>Nature of Work</a:t>
                      </a:r>
                      <a:endParaRPr lang="en-US" dirty="0"/>
                    </a:p>
                  </a:txBody>
                  <a:tcPr anchor="ctr">
                    <a:lnL>
                      <a:noFill/>
                    </a:lnL>
                    <a:lnR>
                      <a:noFill/>
                    </a:lnR>
                    <a:lnT>
                      <a:noFill/>
                    </a:lnT>
                    <a:lnB>
                      <a:noFill/>
                    </a:lnB>
                  </a:tcPr>
                </a:tc>
                <a:tc>
                  <a:txBody>
                    <a:bodyPr/>
                    <a:lstStyle/>
                    <a:p>
                      <a:r>
                        <a:rPr lang="en-US"/>
                        <a:t>Preventive and perfective in nature.</a:t>
                      </a:r>
                    </a:p>
                  </a:txBody>
                  <a:tcPr anchor="ctr">
                    <a:lnL>
                      <a:noFill/>
                    </a:lnL>
                    <a:lnR>
                      <a:noFill/>
                    </a:lnR>
                    <a:lnT>
                      <a:noFill/>
                    </a:lnT>
                    <a:lnB>
                      <a:noFill/>
                    </a:lnB>
                  </a:tcPr>
                </a:tc>
                <a:tc>
                  <a:txBody>
                    <a:bodyPr/>
                    <a:lstStyle/>
                    <a:p>
                      <a:r>
                        <a:rPr lang="en-US" dirty="0"/>
                        <a:t>Corrective, adaptive, and perfective.</a:t>
                      </a:r>
                    </a:p>
                  </a:txBody>
                  <a:tcPr anchor="ctr">
                    <a:lnL>
                      <a:noFill/>
                    </a:lnL>
                    <a:lnR>
                      <a:noFill/>
                    </a:lnR>
                    <a:lnT>
                      <a:noFill/>
                    </a:lnT>
                    <a:lnB>
                      <a:noFill/>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Maintenance</a:t>
            </a:r>
          </a:p>
        </p:txBody>
      </p:sp>
      <p:sp>
        <p:nvSpPr>
          <p:cNvPr id="3" name="Content Placeholder 2"/>
          <p:cNvSpPr>
            <a:spLocks noGrp="1"/>
          </p:cNvSpPr>
          <p:nvPr>
            <p:ph idx="1"/>
          </p:nvPr>
        </p:nvSpPr>
        <p:spPr/>
        <p:txBody>
          <a:bodyPr/>
          <a:lstStyle/>
          <a:p>
            <a:endParaRPr/>
          </a:p>
          <a:p>
            <a:r>
              <a:t>Quick fixes</a:t>
            </a:r>
          </a:p>
          <a:p>
            <a:r>
              <a:t>Low immediate cost</a:t>
            </a:r>
          </a:p>
          <a:p>
            <a:r>
              <a:t>Minimal disruption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of Re-engineering</a:t>
            </a:r>
          </a:p>
        </p:txBody>
      </p:sp>
      <p:sp>
        <p:nvSpPr>
          <p:cNvPr id="3" name="Content Placeholder 2"/>
          <p:cNvSpPr>
            <a:spLocks noGrp="1"/>
          </p:cNvSpPr>
          <p:nvPr>
            <p:ph idx="1"/>
          </p:nvPr>
        </p:nvSpPr>
        <p:spPr/>
        <p:txBody>
          <a:bodyPr/>
          <a:lstStyle/>
          <a:p>
            <a:endParaRPr/>
          </a:p>
          <a:p>
            <a:r>
              <a:t>Improves system life</a:t>
            </a:r>
          </a:p>
          <a:p>
            <a:r>
              <a:t>Adopts modern technologies</a:t>
            </a:r>
          </a:p>
          <a:p>
            <a:r>
              <a:t>Improves documentation and quality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Case Study - Online Banking System</a:t>
            </a:r>
          </a:p>
        </p:txBody>
      </p:sp>
      <p:sp>
        <p:nvSpPr>
          <p:cNvPr id="3" name="Content Placeholder 2"/>
          <p:cNvSpPr>
            <a:spLocks noGrp="1"/>
          </p:cNvSpPr>
          <p:nvPr>
            <p:ph idx="1"/>
          </p:nvPr>
        </p:nvSpPr>
        <p:spPr/>
        <p:txBody>
          <a:bodyPr/>
          <a:lstStyle/>
          <a:p>
            <a:endParaRPr/>
          </a:p>
          <a:p>
            <a:r>
              <a:t>Legacy core banking system</a:t>
            </a:r>
          </a:p>
          <a:p>
            <a:r>
              <a:t>Initially maintained with corrective updates</a:t>
            </a:r>
          </a:p>
        </p:txBody>
      </p:sp>
    </p:spTree>
    <p:extLst>
      <p:ext uri="{BB962C8B-B14F-4D97-AF65-F5344CB8AC3E}">
        <p14:creationId xmlns:p14="http://schemas.microsoft.com/office/powerpoint/2010/main" val="3869587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Problems</a:t>
            </a:r>
          </a:p>
        </p:txBody>
      </p:sp>
      <p:sp>
        <p:nvSpPr>
          <p:cNvPr id="3" name="Content Placeholder 2"/>
          <p:cNvSpPr>
            <a:spLocks noGrp="1"/>
          </p:cNvSpPr>
          <p:nvPr>
            <p:ph idx="1"/>
          </p:nvPr>
        </p:nvSpPr>
        <p:spPr/>
        <p:txBody>
          <a:bodyPr/>
          <a:lstStyle/>
          <a:p>
            <a:endParaRPr/>
          </a:p>
          <a:p>
            <a:r>
              <a:t>Unable to integrate with mobile apps</a:t>
            </a:r>
          </a:p>
          <a:p>
            <a:r>
              <a:t>High maintenance costs</a:t>
            </a:r>
          </a:p>
          <a:p>
            <a:r>
              <a:t>Security concerns</a:t>
            </a:r>
          </a:p>
        </p:txBody>
      </p:sp>
    </p:spTree>
    <p:extLst>
      <p:ext uri="{BB962C8B-B14F-4D97-AF65-F5344CB8AC3E}">
        <p14:creationId xmlns:p14="http://schemas.microsoft.com/office/powerpoint/2010/main" val="25417284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Evolution</a:t>
            </a:r>
          </a:p>
        </p:txBody>
      </p:sp>
      <p:sp>
        <p:nvSpPr>
          <p:cNvPr id="3" name="Content Placeholder 2"/>
          <p:cNvSpPr>
            <a:spLocks noGrp="1"/>
          </p:cNvSpPr>
          <p:nvPr>
            <p:ph idx="1"/>
          </p:nvPr>
        </p:nvSpPr>
        <p:spPr/>
        <p:txBody>
          <a:bodyPr/>
          <a:lstStyle/>
          <a:p>
            <a:endParaRPr/>
          </a:p>
          <a:p>
            <a:r>
              <a:t>Adaptive maintenance to support ATMs and online portals</a:t>
            </a:r>
          </a:p>
          <a:p>
            <a:r>
              <a:t>Perfective maintenance to improve performance</a:t>
            </a:r>
          </a:p>
          <a:p>
            <a:r>
              <a:t>Preventive maintenance for security hardening</a:t>
            </a:r>
          </a:p>
        </p:txBody>
      </p:sp>
    </p:spTree>
    <p:extLst>
      <p:ext uri="{BB962C8B-B14F-4D97-AF65-F5344CB8AC3E}">
        <p14:creationId xmlns:p14="http://schemas.microsoft.com/office/powerpoint/2010/main" val="2816375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Re-engineering Need</a:t>
            </a:r>
          </a:p>
        </p:txBody>
      </p:sp>
      <p:sp>
        <p:nvSpPr>
          <p:cNvPr id="3" name="Content Placeholder 2"/>
          <p:cNvSpPr>
            <a:spLocks noGrp="1"/>
          </p:cNvSpPr>
          <p:nvPr>
            <p:ph idx="1"/>
          </p:nvPr>
        </p:nvSpPr>
        <p:spPr/>
        <p:txBody>
          <a:bodyPr/>
          <a:lstStyle/>
          <a:p>
            <a:endParaRPr/>
          </a:p>
          <a:p>
            <a:r>
              <a:t>Eventually re-engineered to cloud-based microservices</a:t>
            </a:r>
          </a:p>
          <a:p>
            <a:r>
              <a:t>Improved scalability and integration</a:t>
            </a:r>
          </a:p>
        </p:txBody>
      </p:sp>
    </p:spTree>
    <p:extLst>
      <p:ext uri="{BB962C8B-B14F-4D97-AF65-F5344CB8AC3E}">
        <p14:creationId xmlns:p14="http://schemas.microsoft.com/office/powerpoint/2010/main" val="16520694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Lehman’s Laws of Software Evolution - Overview</a:t>
            </a:r>
          </a:p>
        </p:txBody>
      </p:sp>
      <p:sp>
        <p:nvSpPr>
          <p:cNvPr id="3" name="Content Placeholder 2"/>
          <p:cNvSpPr>
            <a:spLocks noGrp="1"/>
          </p:cNvSpPr>
          <p:nvPr>
            <p:ph idx="1"/>
          </p:nvPr>
        </p:nvSpPr>
        <p:spPr/>
        <p:txBody>
          <a:bodyPr/>
          <a:lstStyle/>
          <a:p>
            <a:endParaRPr dirty="0"/>
          </a:p>
          <a:p>
            <a:pPr algn="just"/>
            <a:r>
              <a:rPr lang="en-US" dirty="0"/>
              <a:t>Manny Lehman studied large, real-world evolving software systems and proposed </a:t>
            </a:r>
            <a:r>
              <a:rPr lang="en-US" b="1" dirty="0"/>
              <a:t>eight laws</a:t>
            </a:r>
            <a:r>
              <a:rPr lang="en-US" dirty="0"/>
              <a:t> that describe their behavior. These are widely accepted in software engineering.</a:t>
            </a:r>
          </a:p>
          <a:p>
            <a:r>
              <a:rPr dirty="0" smtClean="0"/>
              <a:t>Laws </a:t>
            </a:r>
            <a:r>
              <a:rPr dirty="0"/>
              <a:t>describe inevitable trends in long-lived software systems</a:t>
            </a:r>
          </a:p>
        </p:txBody>
      </p:sp>
    </p:spTree>
    <p:extLst>
      <p:ext uri="{BB962C8B-B14F-4D97-AF65-F5344CB8AC3E}">
        <p14:creationId xmlns:p14="http://schemas.microsoft.com/office/powerpoint/2010/main" val="19358644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Lehman’s Law: Continuing Change</a:t>
            </a:r>
          </a:p>
        </p:txBody>
      </p:sp>
      <p:sp>
        <p:nvSpPr>
          <p:cNvPr id="3" name="Content Placeholder 2"/>
          <p:cNvSpPr>
            <a:spLocks noGrp="1"/>
          </p:cNvSpPr>
          <p:nvPr>
            <p:ph idx="1"/>
          </p:nvPr>
        </p:nvSpPr>
        <p:spPr/>
        <p:txBody>
          <a:bodyPr/>
          <a:lstStyle/>
          <a:p>
            <a:endParaRPr dirty="0"/>
          </a:p>
          <a:p>
            <a:pPr algn="just"/>
            <a:r>
              <a:rPr lang="en-US" dirty="0"/>
              <a:t>A software system must continually evolve, or it becomes progressively less useful in a changing environment.</a:t>
            </a:r>
          </a:p>
          <a:p>
            <a:pPr algn="just"/>
            <a:r>
              <a:rPr lang="en-US" dirty="0"/>
              <a:t>Example: Banking software must keep updating for new regulations and customer needs.</a:t>
            </a:r>
          </a:p>
        </p:txBody>
      </p:sp>
    </p:spTree>
    <p:extLst>
      <p:ext uri="{BB962C8B-B14F-4D97-AF65-F5344CB8AC3E}">
        <p14:creationId xmlns:p14="http://schemas.microsoft.com/office/powerpoint/2010/main" val="20432436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Lehman’s Law: Increasing Complexity</a:t>
            </a:r>
          </a:p>
        </p:txBody>
      </p:sp>
      <p:sp>
        <p:nvSpPr>
          <p:cNvPr id="3" name="Content Placeholder 2"/>
          <p:cNvSpPr>
            <a:spLocks noGrp="1"/>
          </p:cNvSpPr>
          <p:nvPr>
            <p:ph idx="1"/>
          </p:nvPr>
        </p:nvSpPr>
        <p:spPr/>
        <p:txBody>
          <a:bodyPr/>
          <a:lstStyle/>
          <a:p>
            <a:endParaRPr dirty="0"/>
          </a:p>
          <a:p>
            <a:endParaRPr lang="en-US" dirty="0" smtClean="0"/>
          </a:p>
          <a:p>
            <a:pPr algn="just"/>
            <a:r>
              <a:rPr lang="en-US" dirty="0" smtClean="0"/>
              <a:t>As software evolves, its complexity increases unless measures (</a:t>
            </a:r>
            <a:r>
              <a:rPr lang="en-US" dirty="0"/>
              <a:t>like refactoring) </a:t>
            </a:r>
            <a:r>
              <a:rPr lang="en-US" dirty="0" smtClean="0"/>
              <a:t>are taken.</a:t>
            </a:r>
            <a:endParaRPr dirty="0"/>
          </a:p>
          <a:p>
            <a:pPr algn="just"/>
            <a:r>
              <a:rPr lang="en-US" dirty="0"/>
              <a:t>Without regular restructuring, the system becomes harder to maintain</a:t>
            </a:r>
            <a:r>
              <a:rPr dirty="0" smtClean="0"/>
              <a:t>.</a:t>
            </a:r>
            <a:endParaRPr dirty="0"/>
          </a:p>
        </p:txBody>
      </p:sp>
      <p:sp>
        <p:nvSpPr>
          <p:cNvPr id="5" name="Content Placeholder 2"/>
          <p:cNvSpPr txBox="1">
            <a:spLocks/>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smtClean="0"/>
          </a:p>
          <a:p>
            <a:endParaRPr lang="en-US" dirty="0" smtClean="0"/>
          </a:p>
        </p:txBody>
      </p:sp>
    </p:spTree>
    <p:extLst>
      <p:ext uri="{BB962C8B-B14F-4D97-AF65-F5344CB8AC3E}">
        <p14:creationId xmlns:p14="http://schemas.microsoft.com/office/powerpoint/2010/main" val="4307307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Lehman’s Law: Self-Regulation</a:t>
            </a:r>
          </a:p>
        </p:txBody>
      </p:sp>
      <p:sp>
        <p:nvSpPr>
          <p:cNvPr id="3" name="Content Placeholder 2"/>
          <p:cNvSpPr>
            <a:spLocks noGrp="1"/>
          </p:cNvSpPr>
          <p:nvPr>
            <p:ph idx="1"/>
          </p:nvPr>
        </p:nvSpPr>
        <p:spPr/>
        <p:txBody>
          <a:bodyPr>
            <a:normAutofit fontScale="70000" lnSpcReduction="20000"/>
          </a:bodyPr>
          <a:lstStyle/>
          <a:p>
            <a:endParaRPr dirty="0"/>
          </a:p>
          <a:p>
            <a:pPr algn="just"/>
            <a:r>
              <a:rPr lang="en-US" dirty="0"/>
              <a:t>Software evolution is a self-regulating process, with measurable attributes (like productivity, quality, resources) tending towards </a:t>
            </a:r>
            <a:r>
              <a:rPr lang="en-US" dirty="0" smtClean="0"/>
              <a:t>equilibrium.</a:t>
            </a:r>
          </a:p>
          <a:p>
            <a:pPr marL="0" indent="0">
              <a:buNone/>
            </a:pPr>
            <a:r>
              <a:rPr lang="en-US" b="1" dirty="0"/>
              <a:t>Example</a:t>
            </a:r>
          </a:p>
          <a:p>
            <a:r>
              <a:rPr lang="en-US" dirty="0"/>
              <a:t>Suppose a team maintains a large banking software system.</a:t>
            </a:r>
          </a:p>
          <a:p>
            <a:r>
              <a:rPr lang="en-US" dirty="0"/>
              <a:t>Management hires 10 more developers to </a:t>
            </a:r>
            <a:r>
              <a:rPr lang="en-US" b="1" dirty="0"/>
              <a:t>double the speed</a:t>
            </a:r>
            <a:r>
              <a:rPr lang="en-US" dirty="0"/>
              <a:t> of updates.</a:t>
            </a:r>
          </a:p>
          <a:p>
            <a:r>
              <a:rPr lang="en-US" dirty="0"/>
              <a:t>Instead, output stabilizes — maybe it only increases slightly — because:</a:t>
            </a:r>
          </a:p>
          <a:p>
            <a:pPr lvl="1"/>
            <a:r>
              <a:rPr lang="en-US" dirty="0"/>
              <a:t>New developers need training (loss of productivity).</a:t>
            </a:r>
          </a:p>
          <a:p>
            <a:pPr lvl="1"/>
            <a:r>
              <a:rPr lang="en-US" dirty="0"/>
              <a:t>Code complexity increases.</a:t>
            </a:r>
          </a:p>
          <a:p>
            <a:pPr lvl="1"/>
            <a:r>
              <a:rPr lang="en-US" dirty="0"/>
              <a:t>Communication overhead rises.</a:t>
            </a:r>
          </a:p>
          <a:p>
            <a:r>
              <a:rPr lang="en-US" dirty="0"/>
              <a:t>Eventually, the system returns to a </a:t>
            </a:r>
            <a:r>
              <a:rPr lang="en-US" b="1" dirty="0"/>
              <a:t>“steady-state” </a:t>
            </a:r>
            <a:r>
              <a:rPr lang="en-US" dirty="0"/>
              <a:t>rate of evolution.</a:t>
            </a:r>
          </a:p>
          <a:p>
            <a:pPr algn="just"/>
            <a:endParaRPr lang="en-US" dirty="0"/>
          </a:p>
        </p:txBody>
      </p:sp>
    </p:spTree>
    <p:extLst>
      <p:ext uri="{BB962C8B-B14F-4D97-AF65-F5344CB8AC3E}">
        <p14:creationId xmlns:p14="http://schemas.microsoft.com/office/powerpoint/2010/main" val="8779745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274638"/>
            <a:ext cx="8677656" cy="1143000"/>
          </a:xfrm>
        </p:spPr>
        <p:txBody>
          <a:bodyPr>
            <a:noAutofit/>
          </a:bodyPr>
          <a:lstStyle/>
          <a:p>
            <a:r>
              <a:rPr sz="3600" dirty="0"/>
              <a:t>Lehman’s Law: Conservation of </a:t>
            </a:r>
            <a:r>
              <a:rPr lang="en-US" sz="3600" dirty="0"/>
              <a:t>Organizational Stability (Invariant Work Rate)</a:t>
            </a:r>
          </a:p>
        </p:txBody>
      </p:sp>
      <p:sp>
        <p:nvSpPr>
          <p:cNvPr id="3" name="Content Placeholder 2"/>
          <p:cNvSpPr>
            <a:spLocks noGrp="1"/>
          </p:cNvSpPr>
          <p:nvPr>
            <p:ph idx="1"/>
          </p:nvPr>
        </p:nvSpPr>
        <p:spPr/>
        <p:txBody>
          <a:bodyPr/>
          <a:lstStyle/>
          <a:p>
            <a:endParaRPr dirty="0"/>
          </a:p>
          <a:p>
            <a:pPr algn="just"/>
            <a:r>
              <a:rPr lang="en-US" dirty="0"/>
              <a:t>The rate of development of a software system tends to remain constant over its lifetime</a:t>
            </a:r>
            <a:r>
              <a:rPr dirty="0" smtClean="0"/>
              <a:t>.</a:t>
            </a:r>
            <a:endParaRPr dirty="0"/>
          </a:p>
          <a:p>
            <a:pPr algn="just"/>
            <a:r>
              <a:rPr lang="en-US" dirty="0" smtClean="0"/>
              <a:t>Example</a:t>
            </a:r>
            <a:r>
              <a:rPr lang="en-US" dirty="0"/>
              <a:t>: Even with more people, output per unit time remains relatively stable</a:t>
            </a:r>
            <a:r>
              <a:rPr dirty="0" smtClean="0"/>
              <a:t>.</a:t>
            </a:r>
            <a:endParaRPr dirty="0"/>
          </a:p>
        </p:txBody>
      </p:sp>
    </p:spTree>
    <p:extLst>
      <p:ext uri="{BB962C8B-B14F-4D97-AF65-F5344CB8AC3E}">
        <p14:creationId xmlns:p14="http://schemas.microsoft.com/office/powerpoint/2010/main" val="36151648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Lehman’s Law: Conservation of Familiarity</a:t>
            </a:r>
          </a:p>
        </p:txBody>
      </p:sp>
      <p:sp>
        <p:nvSpPr>
          <p:cNvPr id="3" name="Content Placeholder 2"/>
          <p:cNvSpPr>
            <a:spLocks noGrp="1"/>
          </p:cNvSpPr>
          <p:nvPr>
            <p:ph idx="1"/>
          </p:nvPr>
        </p:nvSpPr>
        <p:spPr/>
        <p:txBody>
          <a:bodyPr/>
          <a:lstStyle/>
          <a:p>
            <a:endParaRPr dirty="0"/>
          </a:p>
          <a:p>
            <a:pPr algn="just"/>
            <a:r>
              <a:rPr lang="en-US" dirty="0"/>
              <a:t>As a system evolves, developers must maintain familiarity with it</a:t>
            </a:r>
            <a:r>
              <a:rPr dirty="0" smtClean="0"/>
              <a:t>.</a:t>
            </a:r>
            <a:endParaRPr dirty="0"/>
          </a:p>
          <a:p>
            <a:pPr algn="just"/>
            <a:r>
              <a:rPr lang="en-US" dirty="0"/>
              <a:t>This restricts the rate of growth, since too many changes at once reduce understanding and stability</a:t>
            </a:r>
            <a:r>
              <a:rPr dirty="0" smtClean="0"/>
              <a:t>.</a:t>
            </a:r>
            <a:endParaRPr dirty="0"/>
          </a:p>
        </p:txBody>
      </p:sp>
    </p:spTree>
    <p:extLst>
      <p:ext uri="{BB962C8B-B14F-4D97-AF65-F5344CB8AC3E}">
        <p14:creationId xmlns:p14="http://schemas.microsoft.com/office/powerpoint/2010/main" val="10205000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Lehman’s Law: Continuing Growth</a:t>
            </a:r>
          </a:p>
        </p:txBody>
      </p:sp>
      <p:sp>
        <p:nvSpPr>
          <p:cNvPr id="3" name="Content Placeholder 2"/>
          <p:cNvSpPr>
            <a:spLocks noGrp="1"/>
          </p:cNvSpPr>
          <p:nvPr>
            <p:ph idx="1"/>
          </p:nvPr>
        </p:nvSpPr>
        <p:spPr/>
        <p:txBody>
          <a:bodyPr/>
          <a:lstStyle/>
          <a:p>
            <a:endParaRPr dirty="0"/>
          </a:p>
          <a:p>
            <a:pPr algn="just"/>
            <a:r>
              <a:rPr lang="en-US" dirty="0"/>
              <a:t>Functional capability of software must continually increase to maintain user satisfaction over time</a:t>
            </a:r>
            <a:r>
              <a:rPr dirty="0" smtClean="0"/>
              <a:t>.</a:t>
            </a:r>
            <a:endParaRPr dirty="0"/>
          </a:p>
          <a:p>
            <a:pPr algn="just"/>
            <a:r>
              <a:rPr lang="en-US" dirty="0"/>
              <a:t>Example: Mobile apps keep adding new features to retain users.</a:t>
            </a:r>
            <a:endParaRPr dirty="0"/>
          </a:p>
        </p:txBody>
      </p:sp>
    </p:spTree>
    <p:extLst>
      <p:ext uri="{BB962C8B-B14F-4D97-AF65-F5344CB8AC3E}">
        <p14:creationId xmlns:p14="http://schemas.microsoft.com/office/powerpoint/2010/main" val="33507906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Lehman’s Law: Declining Quality</a:t>
            </a:r>
          </a:p>
        </p:txBody>
      </p:sp>
      <p:sp>
        <p:nvSpPr>
          <p:cNvPr id="3" name="Content Placeholder 2"/>
          <p:cNvSpPr>
            <a:spLocks noGrp="1"/>
          </p:cNvSpPr>
          <p:nvPr>
            <p:ph idx="1"/>
          </p:nvPr>
        </p:nvSpPr>
        <p:spPr/>
        <p:txBody>
          <a:bodyPr/>
          <a:lstStyle/>
          <a:p>
            <a:endParaRPr dirty="0"/>
          </a:p>
          <a:p>
            <a:r>
              <a:rPr lang="en-US" dirty="0"/>
              <a:t>Unless rigorously maintained and adapted, software quality declines over time. </a:t>
            </a:r>
            <a:endParaRPr lang="en-US" dirty="0" smtClean="0"/>
          </a:p>
          <a:p>
            <a:pPr algn="just"/>
            <a:r>
              <a:rPr lang="en-US" dirty="0"/>
              <a:t>Example: Performance issues, outdated dependencies, security vulnerabilities.</a:t>
            </a:r>
          </a:p>
        </p:txBody>
      </p:sp>
    </p:spTree>
    <p:extLst>
      <p:ext uri="{BB962C8B-B14F-4D97-AF65-F5344CB8AC3E}">
        <p14:creationId xmlns:p14="http://schemas.microsoft.com/office/powerpoint/2010/main" val="2511094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Lehman’s Law: Feedback System</a:t>
            </a:r>
          </a:p>
        </p:txBody>
      </p:sp>
      <p:sp>
        <p:nvSpPr>
          <p:cNvPr id="3" name="Content Placeholder 2"/>
          <p:cNvSpPr>
            <a:spLocks noGrp="1"/>
          </p:cNvSpPr>
          <p:nvPr>
            <p:ph idx="1"/>
          </p:nvPr>
        </p:nvSpPr>
        <p:spPr/>
        <p:txBody>
          <a:bodyPr/>
          <a:lstStyle/>
          <a:p>
            <a:endParaRPr dirty="0"/>
          </a:p>
          <a:p>
            <a:pPr algn="just"/>
            <a:r>
              <a:rPr lang="en-US" dirty="0"/>
              <a:t>Software evolution involves multi-level feedback, and successful evolution depends on effective feedback mechanisms. </a:t>
            </a:r>
            <a:endParaRPr lang="en-US" dirty="0" smtClean="0"/>
          </a:p>
          <a:p>
            <a:pPr algn="just"/>
            <a:r>
              <a:rPr lang="en-US" dirty="0"/>
              <a:t>Example: User feedback, bug reports, performance monitoring</a:t>
            </a:r>
            <a:r>
              <a:rPr dirty="0" smtClean="0"/>
              <a:t>.</a:t>
            </a:r>
            <a:endParaRPr dirty="0"/>
          </a:p>
        </p:txBody>
      </p:sp>
    </p:spTree>
    <p:extLst>
      <p:ext uri="{BB962C8B-B14F-4D97-AF65-F5344CB8AC3E}">
        <p14:creationId xmlns:p14="http://schemas.microsoft.com/office/powerpoint/2010/main" val="26927031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Lehman’s Laws</a:t>
            </a:r>
          </a:p>
        </p:txBody>
      </p:sp>
      <p:sp>
        <p:nvSpPr>
          <p:cNvPr id="3" name="Content Placeholder 2"/>
          <p:cNvSpPr>
            <a:spLocks noGrp="1"/>
          </p:cNvSpPr>
          <p:nvPr>
            <p:ph idx="1"/>
          </p:nvPr>
        </p:nvSpPr>
        <p:spPr/>
        <p:txBody>
          <a:bodyPr>
            <a:normAutofit fontScale="92500" lnSpcReduction="20000"/>
          </a:bodyPr>
          <a:lstStyle/>
          <a:p>
            <a:endParaRPr dirty="0"/>
          </a:p>
          <a:p>
            <a:r>
              <a:rPr dirty="0"/>
              <a:t>Change is inevitable</a:t>
            </a:r>
          </a:p>
          <a:p>
            <a:r>
              <a:rPr dirty="0"/>
              <a:t>Complexity grows</a:t>
            </a:r>
          </a:p>
          <a:p>
            <a:r>
              <a:rPr dirty="0"/>
              <a:t>Quality declines without active maintenance</a:t>
            </a:r>
          </a:p>
          <a:p>
            <a:r>
              <a:rPr dirty="0"/>
              <a:t>Growth is necessary but </a:t>
            </a:r>
            <a:r>
              <a:rPr dirty="0" smtClean="0"/>
              <a:t>constrained</a:t>
            </a:r>
            <a:endParaRPr lang="en-US" dirty="0" smtClean="0"/>
          </a:p>
          <a:p>
            <a:endParaRPr lang="en-US" dirty="0"/>
          </a:p>
          <a:p>
            <a:pPr algn="just"/>
            <a:r>
              <a:rPr lang="en-US" dirty="0"/>
              <a:t>In short, Lehman’s laws highlight that software systems are like </a:t>
            </a:r>
            <a:r>
              <a:rPr lang="en-US" b="1"/>
              <a:t>living </a:t>
            </a:r>
            <a:r>
              <a:rPr lang="en-US" b="1" smtClean="0"/>
              <a:t>creatures</a:t>
            </a:r>
            <a:r>
              <a:rPr lang="en-US" smtClean="0"/>
              <a:t> </a:t>
            </a:r>
            <a:r>
              <a:rPr lang="en-US" dirty="0"/>
              <a:t>— they must evolve continuously, otherwise they degrade and die</a:t>
            </a:r>
            <a:endParaRPr dirty="0"/>
          </a:p>
        </p:txBody>
      </p:sp>
    </p:spTree>
    <p:extLst>
      <p:ext uri="{BB962C8B-B14F-4D97-AF65-F5344CB8AC3E}">
        <p14:creationId xmlns:p14="http://schemas.microsoft.com/office/powerpoint/2010/main" val="40267473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 y="320040"/>
            <a:ext cx="9043417" cy="6364224"/>
          </a:xfrm>
          <a:prstGeom prst="rect">
            <a:avLst/>
          </a:prstGeom>
        </p:spPr>
      </p:pic>
    </p:spTree>
    <p:extLst>
      <p:ext uri="{BB962C8B-B14F-4D97-AF65-F5344CB8AC3E}">
        <p14:creationId xmlns:p14="http://schemas.microsoft.com/office/powerpoint/2010/main" val="11815215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19457" y="603504"/>
            <a:ext cx="8394192" cy="5276088"/>
          </a:xfrm>
          <a:prstGeom prst="rect">
            <a:avLst/>
          </a:prstGeom>
        </p:spPr>
      </p:pic>
    </p:spTree>
    <p:extLst>
      <p:ext uri="{BB962C8B-B14F-4D97-AF65-F5344CB8AC3E}">
        <p14:creationId xmlns:p14="http://schemas.microsoft.com/office/powerpoint/2010/main" val="2984403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 Key Points</a:t>
            </a:r>
          </a:p>
        </p:txBody>
      </p:sp>
      <p:sp>
        <p:nvSpPr>
          <p:cNvPr id="3" name="Content Placeholder 2"/>
          <p:cNvSpPr>
            <a:spLocks noGrp="1"/>
          </p:cNvSpPr>
          <p:nvPr>
            <p:ph idx="1"/>
          </p:nvPr>
        </p:nvSpPr>
        <p:spPr/>
        <p:txBody>
          <a:bodyPr/>
          <a:lstStyle/>
          <a:p>
            <a:endParaRPr/>
          </a:p>
          <a:p>
            <a:r>
              <a:t>Maintenance is essential for software longevity</a:t>
            </a:r>
          </a:p>
          <a:p>
            <a:r>
              <a:t>Four types of maintenance: Corrective, Adaptive, Perfective, Preventive</a:t>
            </a:r>
          </a:p>
          <a:p>
            <a:r>
              <a:t>Lehman’s Laws highlight inevitable trends in evolution</a:t>
            </a:r>
          </a:p>
        </p:txBody>
      </p:sp>
    </p:spTree>
    <p:extLst>
      <p:ext uri="{BB962C8B-B14F-4D97-AF65-F5344CB8AC3E}">
        <p14:creationId xmlns:p14="http://schemas.microsoft.com/office/powerpoint/2010/main" val="2563706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3558</TotalTime>
  <Words>2529</Words>
  <Application>Microsoft Office PowerPoint</Application>
  <PresentationFormat>On-screen Show (4:3)</PresentationFormat>
  <Paragraphs>405</Paragraphs>
  <Slides>62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Calibri Light</vt:lpstr>
      <vt:lpstr>Office Theme</vt:lpstr>
      <vt:lpstr>Chapter 1: Software Re-engineering and Software Maintenance</vt:lpstr>
      <vt:lpstr>Course Objectives</vt:lpstr>
      <vt:lpstr>Definition (Textbook View)</vt:lpstr>
      <vt:lpstr>Definition (Industry View)</vt:lpstr>
      <vt:lpstr>Reasons of initiating Software re-engineering</vt:lpstr>
      <vt:lpstr>The software reengineering is necessary for having:</vt:lpstr>
      <vt:lpstr>PowerPoint Presentation</vt:lpstr>
      <vt:lpstr>Re-engineering can be a costly process, and there are several factors that can affect the cost of re-engineering a software system:</vt:lpstr>
      <vt:lpstr>PowerPoint Presentation</vt:lpstr>
      <vt:lpstr>Advantages of Re-engineering: </vt:lpstr>
      <vt:lpstr>PowerPoint Presentation</vt:lpstr>
      <vt:lpstr>Disadvantages of Re-engineering:</vt:lpstr>
      <vt:lpstr>PowerPoint Presentation</vt:lpstr>
      <vt:lpstr>The re-engineering procedure requires the following steps</vt:lpstr>
      <vt:lpstr>Software Re-Engineering Activities: </vt:lpstr>
      <vt:lpstr>1. Inventory Analysis: </vt:lpstr>
      <vt:lpstr>2. Document reconstructing: </vt:lpstr>
      <vt:lpstr>3. Reverse Engineering: </vt:lpstr>
      <vt:lpstr>4. Code Reconstructing: </vt:lpstr>
      <vt:lpstr>5. Data Restructuring: </vt:lpstr>
      <vt:lpstr>6. Forward Engineering: </vt:lpstr>
      <vt:lpstr>Case Example: Y2K Problem</vt:lpstr>
      <vt:lpstr>Software maintenance</vt:lpstr>
      <vt:lpstr>Importance of Maintenance</vt:lpstr>
      <vt:lpstr>Definition of Maintenance</vt:lpstr>
      <vt:lpstr>Scope of Maintenance</vt:lpstr>
      <vt:lpstr>Maintenance vs Development Costs</vt:lpstr>
      <vt:lpstr>Example: Operating Systems</vt:lpstr>
      <vt:lpstr>Types of Maintenance - Overview</vt:lpstr>
      <vt:lpstr>Types of Maintenance Diagram</vt:lpstr>
      <vt:lpstr>Corrective Maintenance - Definition</vt:lpstr>
      <vt:lpstr>Adaptive Maintenance - Definition</vt:lpstr>
      <vt:lpstr>Perfective Maintenance - Definition</vt:lpstr>
      <vt:lpstr>Preventive Maintenance - Definition</vt:lpstr>
      <vt:lpstr>Software Maintenance Cycle-Overview</vt:lpstr>
      <vt:lpstr>Phases of the Cycle</vt:lpstr>
      <vt:lpstr>Challenges in Maintenance Cycle</vt:lpstr>
      <vt:lpstr>PowerPoint Presentation</vt:lpstr>
      <vt:lpstr>Maintenance vs Re-engineering</vt:lpstr>
      <vt:lpstr>Maintenance Workflow</vt:lpstr>
      <vt:lpstr>Re-engineering Workflow</vt:lpstr>
      <vt:lpstr>PowerPoint Presentation</vt:lpstr>
      <vt:lpstr>PowerPoint Presentation</vt:lpstr>
      <vt:lpstr>Advantages of Maintenance</vt:lpstr>
      <vt:lpstr>Advantages of Re-engineering</vt:lpstr>
      <vt:lpstr>Case Study - Online Banking System</vt:lpstr>
      <vt:lpstr>Case Study - Problems</vt:lpstr>
      <vt:lpstr>Case Study - Evolution</vt:lpstr>
      <vt:lpstr>Case Study - Re-engineering Need</vt:lpstr>
      <vt:lpstr>Lehman’s Laws of Software Evolution - Overview</vt:lpstr>
      <vt:lpstr>Lehman’s Law: Continuing Change</vt:lpstr>
      <vt:lpstr>Lehman’s Law: Increasing Complexity</vt:lpstr>
      <vt:lpstr>Lehman’s Law: Self-Regulation</vt:lpstr>
      <vt:lpstr>Lehman’s Law: Conservation of Organizational Stability (Invariant Work Rate)</vt:lpstr>
      <vt:lpstr>Lehman’s Law: Conservation of Familiarity</vt:lpstr>
      <vt:lpstr>Lehman’s Law: Continuing Growth</vt:lpstr>
      <vt:lpstr>Lehman’s Law: Declining Quality</vt:lpstr>
      <vt:lpstr>Lehman’s Law: Feedback System</vt:lpstr>
      <vt:lpstr>Summary of Lehman’s Laws</vt:lpstr>
      <vt:lpstr>PowerPoint Presentation</vt:lpstr>
      <vt:lpstr>PowerPoint Presentation</vt:lpstr>
      <vt:lpstr>Summary - Key Points</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Introduction to Software Re-engineering</dc:title>
  <dc:subject/>
  <dc:creator>Rafia Naz</dc:creator>
  <cp:keywords/>
  <dc:description>generated using python-pptx</dc:description>
  <cp:lastModifiedBy>Rafia Naz</cp:lastModifiedBy>
  <cp:revision>23</cp:revision>
  <dcterms:created xsi:type="dcterms:W3CDTF">2013-01-27T09:14:16Z</dcterms:created>
  <dcterms:modified xsi:type="dcterms:W3CDTF">2025-10-06T17:14:05Z</dcterms:modified>
  <cp:category/>
</cp:coreProperties>
</file>