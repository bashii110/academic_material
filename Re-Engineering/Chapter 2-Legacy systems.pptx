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7"/>
  </p:notesMasterIdLst>
  <p:sldIdLst>
    <p:sldId id="256" r:id="rId2"/>
    <p:sldId id="296" r:id="rId3"/>
    <p:sldId id="306" r:id="rId4"/>
    <p:sldId id="297" r:id="rId5"/>
    <p:sldId id="298" r:id="rId6"/>
    <p:sldId id="299" r:id="rId7"/>
    <p:sldId id="300" r:id="rId8"/>
    <p:sldId id="301" r:id="rId9"/>
    <p:sldId id="302" r:id="rId10"/>
    <p:sldId id="303" r:id="rId11"/>
    <p:sldId id="304" r:id="rId12"/>
    <p:sldId id="307" r:id="rId13"/>
    <p:sldId id="332" r:id="rId14"/>
    <p:sldId id="333" r:id="rId15"/>
    <p:sldId id="309" r:id="rId16"/>
    <p:sldId id="310" r:id="rId17"/>
    <p:sldId id="311" r:id="rId18"/>
    <p:sldId id="312" r:id="rId19"/>
    <p:sldId id="313" r:id="rId20"/>
    <p:sldId id="334" r:id="rId21"/>
    <p:sldId id="335" r:id="rId22"/>
    <p:sldId id="315" r:id="rId23"/>
    <p:sldId id="316" r:id="rId24"/>
    <p:sldId id="336" r:id="rId25"/>
    <p:sldId id="337" r:id="rId26"/>
    <p:sldId id="338" r:id="rId27"/>
    <p:sldId id="318" r:id="rId28"/>
    <p:sldId id="340" r:id="rId29"/>
    <p:sldId id="341" r:id="rId30"/>
    <p:sldId id="342" r:id="rId31"/>
    <p:sldId id="320" r:id="rId32"/>
    <p:sldId id="321" r:id="rId33"/>
    <p:sldId id="322" r:id="rId34"/>
    <p:sldId id="323" r:id="rId35"/>
    <p:sldId id="324" r:id="rId3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7941" autoAdjust="0"/>
  </p:normalViewPr>
  <p:slideViewPr>
    <p:cSldViewPr snapToGrid="0" snapToObjects="1">
      <p:cViewPr varScale="1">
        <p:scale>
          <a:sx n="68" d="100"/>
          <a:sy n="68" d="100"/>
        </p:scale>
        <p:origin x="1858" y="53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F00B4D-082D-4DA2-B14A-5D2D24419556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9605AC-0CBD-4DAB-BC23-F2640C5934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3097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oogle.com/search?q=API&amp;sca_esv=4c05546fddc29260&amp;ei=InDjaI7aJtT-7_UP6YOesQ4&amp;ved=2ahUKEwjCnPCqh4-QAxV_hP0HHYvOCDoQgK4QegYIAQgAEAM&amp;uact=5&amp;oq=APIs&amp;gs_lp=Egxnd3Mtd2l6LXNlcnAiBEFQSXMyChAAGIAEGEMYigUyBRAAGIAEMgUQABiABDIFEAAYgAQyBRAuGIAEMgUQABiABDIFEAAYgAQyBRAAGIAEMgUQABiABDIFEC4YgARIkitQ9AJY0CRwAngBkAEEmAGVA6ABzhKqAQcyLTcuMS4xuAEDyAEA-AEBmAIHoALnCqgCFMICChAAGLADGNYEGEfCAg0QABiABBiwAxhDGIoFwgITEAAYgAQYQxi0AhiKBRjqAtgBAcICFRAAGIAEGEMYtAIYigUY6gIYCtgBAcICEBAuGAMYtAIY6gIYjwHYAQLCAhAQABgDGLQCGOoCGI8B2AECwgIQEC4YgAQY0QMYQxjHARiKBcICCBAAGIAEGLEDwgIOEAAYgAQYsQMYgwEYigXCAgsQABiABBixAxiDAcICHxAuGIAEGNEDGEMYxwEYigUYlwUY3AQY3gQY4ATYAQLCAgsQABiABBiRAhiKBcICDhAuGIAEGLEDGNEDGMcBwgIOEC4YgAQYsQMYxwEYrwHCAhEQABiABBiRAhixAxjJAxiKBcICDhAAGIAEGJECGLEDGIoFwgINEAAYgAQYsQMYQxiKBcICCxAAGIAEGJIDGIoFwgIOEC4YgAQYsQMYgwEYigWYAwnxBQnpAf7AmsCniAYBkAYKugYECAEYB7oGBggCEAEYCpIHBzIuMC40LjGgB6hTsgcFMi00LjG4B9IKwgcHMC4xLjQuMsgHIw&amp;sclient=gws-wiz-serp" TargetMode="External"/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oogle.com/search?q=lines+of+code&amp;sca_esv=4c05546fddc29260&amp;ei=dfjjaJ3eIart7_UPvcjV4Ao&amp;ved=2ahUKEwip_pmIi5CQAxVh_7sIHedQHW4QgK4QegQIARAE&amp;uact=5&amp;oq=code+metrices?&amp;gs_lp=Egxnd3Mtd2l6LXNlcnAiDmNvZGUgbWV0cmljZXM_MgcQABiABBgNMgcQABiABBgNMgcQABiABBgNMgcQABiABBgNMgYQABgNGB4yBhAAGA0YHjIGEAAYDRgeMgYQABgNGB4yBhAAGA0YHjIGEAAYDRgeSMJBULYDWKs_cAJ4AZABAJgB1QKgAbEpqgEGMi0yMC4yuAEDyAEA-AEBmAIRoAL5HKgCFMICChAAGLADGNYEGEfCAg0QABiABBiwAxhDGIoFwgIKEAAYgAQYQxiKBcICEBAAGIAEGLEDGEMYgwEYigXCAggQABiABBixA8ICCxAAGIAEGLEDGIMBwgITEAAYgAQYQxi0AhiKBRjqAtgBAcICEBAAGAMYtAIY6gIYjwHYAQLCAhAQLhgDGLQCGOoCGI8B2AECwgIREC4YgAQYsQMY0QMYgwEYxwHCAg0QABiABBixAxhDGIoFwgIFEAAYgATCAiAQLhiABBixAxjRAxiDARjHARiXBRjcBBjeBBjgBNgBAsICDhAAGIAEGLEDGIMBGIoFwgILEAAYgAQYkQIYigXCAgsQLhiABBiRAhiKBcICBxAAGIAEGArCAgsQLhiABBjHARivAcICBRAuGIAEwgINEC4YgAQY0QMYxwEYCsICCxAuGIAEGNEDGMcBwgIGEAAYFhgemAMJ8QVllZ-HX1P3VogGAZAGCroGBAgBGAe6BgYIAhABGAqSBwgyLjAuMTQuMaAHi5ABsgcGMi0xNC4xuAflHMIHCDAuMS4xMy4zyAdh&amp;sclient=gws-wiz-serp&amp;mstk=AUtExfDOB_Fs8kvKw73kOOozBhHJOqXn52R9A5Ukf5e5cluEV_P0p17QTJknyHP1B6fNwSECI_vBvQXr6uckyPtNAhwShUwZd5VvGv4dHsvfGouZcbinP_uc6bLFNhUaZoSpucZdwWxWBckPZNbdmbw1GtC7uJiYlkBQrLnWer9U1jsd60nC5OYxgjSJoBTgaNDNx81e&amp;csui=3" TargetMode="External"/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www.google.com/search?q=cyclomatic+complexity&amp;sca_esv=4c05546fddc29260&amp;ei=dfjjaJ3eIart7_UPvcjV4Ao&amp;ved=2ahUKEwip_pmIi5CQAxVh_7sIHedQHW4QgK4QegQIARAF&amp;uact=5&amp;oq=code+metrices?&amp;gs_lp=Egxnd3Mtd2l6LXNlcnAiDmNvZGUgbWV0cmljZXM_MgcQABiABBgNMgcQABiABBgNMgcQABiABBgNMgcQABiABBgNMgYQABgNGB4yBhAAGA0YHjIGEAAYDRgeMgYQABgNGB4yBhAAGA0YHjIGEAAYDRgeSMJBULYDWKs_cAJ4AZABAJgB1QKgAbEpqgEGMi0yMC4yuAEDyAEA-AEBmAIRoAL5HKgCFMICChAAGLADGNYEGEfCAg0QABiABBiwAxhDGIoFwgIKEAAYgAQYQxiKBcICEBAAGIAEGLEDGEMYgwEYigXCAggQABiABBixA8ICCxAAGIAEGLEDGIMBwgITEAAYgAQYQxi0AhiKBRjqAtgBAcICEBAAGAMYtAIY6gIYjwHYAQLCAhAQLhgDGLQCGOoCGI8B2AECwgIREC4YgAQYsQMY0QMYgwEYxwHCAg0QABiABBixAxhDGIoFwgIFEAAYgATCAiAQLhiABBixAxjRAxiDARjHARiXBRjcBBjeBBjgBNgBAsICDhAAGIAEGLEDGIMBGIoFwgILEAAYgAQYkQIYigXCAgsQLhiABBiRAhiKBcICBxAAGIAEGArCAgsQLhiABBjHARivAcICBRAuGIAEwgINEC4YgAQY0QMYxwEYCsICCxAuGIAEGNEDGMcBwgIGEAAYFhgemAMJ8QVllZ-HX1P3VogGAZAGCroGBAgBGAe6BgYIAhABGAqSBwgyLjAuMTQuMaAHi5ABsgcGMi0xNC4xuAflHMIHCDAuMS4xMy4zyAdh&amp;sclient=gws-wiz-serp&amp;mstk=AUtExfDOB_Fs8kvKw73kOOozBhHJOqXn52R9A5Ukf5e5cluEV_P0p17QTJknyHP1B6fNwSECI_vBvQXr6uckyPtNAhwShUwZd5VvGv4dHsvfGouZcbinP_uc6bLFNhUaZoSpucZdwWxWBckPZNbdmbw1GtC7uJiYlkBQrLnWer9U1jsd60nC5OYxgjSJoBTgaNDNx81e&amp;csui=3" TargetMode="External"/></Relationships>
</file>

<file path=ppt/notesSlides/_rels/notes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oogle.com/search?sca_esv=4c05546fddc29260&amp;q=overcoming&amp;si=AMgyJEt_i95eqLH3KOj-Ut-VGJJ7xvOoA5onL3P5y6sgFw-TKMRFLa2XKnlRangToY3gba7SHcxhw_obGCz8XBe_rwEb13kTXsC91q7VG9ccCcsQ28CB_4Y=&amp;expnd=1&amp;sa=X&amp;ved=2ahUKEwirt6T6i5CQAxXwgv0HHbfECDoQyecJegQIHxAS" TargetMode="External"/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Technical debt</a:t>
            </a:r>
            <a:r>
              <a:rPr lang="en-US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(also known as </a:t>
            </a:r>
            <a:r>
              <a:rPr lang="en-US" sz="1200" b="1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design debt</a:t>
            </a:r>
            <a:r>
              <a:rPr lang="en-US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or </a:t>
            </a:r>
            <a:r>
              <a:rPr lang="en-US" sz="1200" b="1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code debt</a:t>
            </a:r>
            <a:r>
              <a:rPr lang="en-US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is a qualitative description of the cost to maintain a </a:t>
            </a:r>
            <a:r>
              <a:rPr lang="en-US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system</a:t>
            </a:r>
            <a:r>
              <a:rPr lang="en-US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that is attributable to choosing an expedient solution for its development.</a:t>
            </a:r>
          </a:p>
          <a:p>
            <a:r>
              <a:rPr lang="en-US" smtClean="0"/>
              <a:t>An </a:t>
            </a:r>
            <a:r>
              <a:rPr lang="en-US" sz="1200" b="1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API</a:t>
            </a:r>
            <a:r>
              <a:rPr lang="en-US" sz="1200" b="1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(Application Programming Interface)</a:t>
            </a:r>
            <a:r>
              <a:rPr lang="en-US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is </a:t>
            </a:r>
            <a:r>
              <a:rPr lang="en-US" smtClean="0"/>
              <a:t>a set of rules and protocols that allows different software applications to communicate with each other by exchanging data, features, and functionality</a:t>
            </a:r>
            <a:r>
              <a:rPr lang="en-US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9605AC-0CBD-4DAB-BC23-F2640C5934C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78270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scalability </a:t>
            </a:r>
            <a:r>
              <a:rPr lang="en-US" dirty="0" smtClean="0"/>
              <a:t>is the </a:t>
            </a:r>
            <a:r>
              <a:rPr lang="en-US" b="1" dirty="0" smtClean="0"/>
              <a:t>ability of a system to handle an increasing amount of work, users, or data without breaking down, while maintaining performance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75592A-EB21-4163-AC0C-12315033315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57065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"Actuarial" refers to actuarial science, a discipline that uses mathematical and statistical methods to assess and manage risk and uncertainty for organizations and individuals</a:t>
            </a:r>
            <a:r>
              <a:rPr lang="en-US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9605AC-0CBD-4DAB-BC23-F2640C5934C6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9653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Tailored=custom-made</a:t>
            </a:r>
          </a:p>
          <a:p>
            <a:r>
              <a:rPr lang="en-US" smtClean="0"/>
              <a:t>Abrupt =sudden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9605AC-0CBD-4DAB-BC23-F2640C5934C6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52278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relational database is a type of database that stores and organizes data in a structured format using tables, rows, and columns. It is based on the relational model of data, proposed by E. F. Codd in 1970.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9605AC-0CBD-4DAB-BC23-F2640C5934C6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2560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Business rules are explicit statements that define and constrain a business's behavior, acting as guiding principles for decisions and processes to ensure consistency, compliance, and efficiency. </a:t>
            </a:r>
          </a:p>
          <a:p>
            <a:r>
              <a:rPr lang="en-US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Code metrics are </a:t>
            </a:r>
            <a:r>
              <a:rPr lang="en-US" smtClean="0"/>
              <a:t>measurements and quantifiable indicators used to assess the quality, complexity, and maintainability of software code</a:t>
            </a:r>
            <a:r>
              <a:rPr lang="en-US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They help developers identify potential issues like code smells, complex areas needing refactoring, and areas that may hinder long-term reliability. Common code metrics include </a:t>
            </a:r>
            <a:r>
              <a:rPr lang="en-US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lines of code</a:t>
            </a:r>
            <a:r>
              <a:rPr lang="en-US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</a:t>
            </a:r>
            <a:r>
              <a:rPr lang="en-US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4"/>
              </a:rPr>
              <a:t>cyclomatic complexity</a:t>
            </a:r>
            <a:r>
              <a:rPr lang="en-US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depth of inheritance, and class coupling, with tools like Visual Studio providing built-in analysis capabilities. 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9605AC-0CBD-4DAB-BC23-F2640C5934C6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13830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"pain point" is </a:t>
            </a:r>
            <a:r>
              <a:rPr lang="en-US" smtClean="0"/>
              <a:t>a problem, challenge, or frustration experienced by a consumer, customer, or employee that causes annoyance, distress, or inefficiency</a:t>
            </a:r>
            <a:r>
              <a:rPr lang="en-US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Workaround</a:t>
            </a:r>
            <a:r>
              <a:rPr lang="en-US" sz="1200" b="0" i="0" kern="1200" baseline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is a </a:t>
            </a:r>
            <a:r>
              <a:rPr lang="en-US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method for </a:t>
            </a:r>
            <a:r>
              <a:rPr lang="en-US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overcoming</a:t>
            </a:r>
            <a:r>
              <a:rPr lang="en-US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a problem or limitation in a program or system.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9605AC-0CBD-4DAB-BC23-F2640C5934C6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55557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Infrastructure is </a:t>
            </a:r>
            <a:r>
              <a:rPr lang="en-US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basic physical and organizational structures and facilities (e.g. buildings, roads, power supplies) needed for the operation of a society or enterprise.</a:t>
            </a:r>
          </a:p>
          <a:p>
            <a:r>
              <a:rPr lang="en-US" smtClean="0"/>
              <a:t>A </a:t>
            </a:r>
            <a:r>
              <a:rPr lang="en-US" sz="1200" b="1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vendor</a:t>
            </a:r>
            <a:r>
              <a:rPr lang="en-US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is </a:t>
            </a:r>
            <a:r>
              <a:rPr lang="en-US" smtClean="0"/>
              <a:t>an individual, company, or other entity that sells goods or services to another party for payment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9605AC-0CBD-4DAB-BC23-F2640C5934C6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736233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smtClean="0"/>
              <a:t>Hide internal implementation details</a:t>
            </a:r>
            <a:r>
              <a:rPr lang="en-US" smtClean="0"/>
              <a:t> of a system or module, and expose only necessary functionality through a </a:t>
            </a:r>
            <a:r>
              <a:rPr lang="en-US" b="1" smtClean="0"/>
              <a:t>well-defined API (interface)</a:t>
            </a:r>
            <a:r>
              <a:rPr lang="en-US" smtClean="0"/>
              <a:t>.</a:t>
            </a:r>
          </a:p>
          <a:p>
            <a:r>
              <a:rPr lang="en-US" b="1" smtClean="0"/>
              <a:t>Real-World Example</a:t>
            </a:r>
          </a:p>
          <a:p>
            <a:r>
              <a:rPr lang="en-US" b="1" smtClean="0"/>
              <a:t>Operating Systems:</a:t>
            </a:r>
            <a:r>
              <a:rPr lang="en-US" smtClean="0"/>
              <a:t> File APIs (you don’t touch disk sectors directly).</a:t>
            </a:r>
          </a:p>
          <a:p>
            <a:r>
              <a:rPr lang="en-US" b="1" smtClean="0"/>
              <a:t>Cloud Platforms:</a:t>
            </a:r>
            <a:r>
              <a:rPr lang="en-US" smtClean="0"/>
              <a:t> AWS, Azure — everything through APIs.</a:t>
            </a:r>
          </a:p>
          <a:p>
            <a:r>
              <a:rPr lang="en-US" b="1" smtClean="0"/>
              <a:t>Microservices:</a:t>
            </a:r>
            <a:r>
              <a:rPr lang="en-US" smtClean="0"/>
              <a:t> Each service encapsulates its logic and exposes REST or GraphQL APIs.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9605AC-0CBD-4DAB-BC23-F2640C5934C6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742524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A </a:t>
            </a:r>
            <a:r>
              <a:rPr lang="en-US" b="1" smtClean="0"/>
              <a:t>microservices architecture</a:t>
            </a:r>
            <a:r>
              <a:rPr lang="en-US" smtClean="0"/>
              <a:t> is a way of building applications as a collection of </a:t>
            </a:r>
            <a:r>
              <a:rPr lang="en-US" b="1" smtClean="0"/>
              <a:t>small, independent services</a:t>
            </a:r>
            <a:r>
              <a:rPr lang="en-US" smtClean="0"/>
              <a:t> — each responsible for a specific business function.</a:t>
            </a:r>
          </a:p>
          <a:p>
            <a:r>
              <a:rPr lang="en-US" smtClean="0"/>
              <a:t>When deployed in the </a:t>
            </a:r>
            <a:r>
              <a:rPr lang="en-US" b="1" smtClean="0"/>
              <a:t>cloud</a:t>
            </a:r>
            <a:r>
              <a:rPr lang="en-US" smtClean="0"/>
              <a:t>, these services can </a:t>
            </a:r>
            <a:r>
              <a:rPr lang="en-US" b="1" smtClean="0"/>
              <a:t>scale automatically</a:t>
            </a:r>
            <a:r>
              <a:rPr lang="en-US" smtClean="0"/>
              <a:t>, </a:t>
            </a:r>
            <a:r>
              <a:rPr lang="en-US" b="1" smtClean="0"/>
              <a:t>communicate over APIs</a:t>
            </a:r>
            <a:r>
              <a:rPr lang="en-US" smtClean="0"/>
              <a:t>, and </a:t>
            </a:r>
            <a:r>
              <a:rPr lang="en-US" b="1" smtClean="0"/>
              <a:t>run independently</a:t>
            </a:r>
            <a:r>
              <a:rPr lang="en-US" smtClean="0"/>
              <a:t> on containers or serverless platforms.</a:t>
            </a:r>
          </a:p>
          <a:p>
            <a:r>
              <a:rPr lang="en-US" smtClean="0"/>
              <a:t>Instead of one big application (monolith), you have many small apps (microservices) that work together in the cloud.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9605AC-0CBD-4DAB-BC23-F2640C5934C6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18820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smtClean="0"/>
              <a:t>Service-Oriented Architecture (SOA)</a:t>
            </a:r>
            <a:r>
              <a:rPr lang="en-US" smtClean="0"/>
              <a:t> is a </a:t>
            </a:r>
            <a:r>
              <a:rPr lang="en-US" b="1" smtClean="0"/>
              <a:t>software design style</a:t>
            </a:r>
            <a:r>
              <a:rPr lang="en-US" smtClean="0"/>
              <a:t> where the system is organized into a collection of </a:t>
            </a:r>
            <a:r>
              <a:rPr lang="en-US" b="1" smtClean="0"/>
              <a:t>services</a:t>
            </a:r>
            <a:r>
              <a:rPr lang="en-US" smtClean="0"/>
              <a:t> — each providing a specific business function and communicating through </a:t>
            </a:r>
            <a:r>
              <a:rPr lang="en-US" b="1" smtClean="0"/>
              <a:t>standardized interfaces</a:t>
            </a:r>
            <a:r>
              <a:rPr lang="en-US" smtClean="0"/>
              <a:t> (often over a network).</a:t>
            </a:r>
          </a:p>
          <a:p>
            <a:r>
              <a:rPr lang="en-US" smtClean="0"/>
              <a:t>SOA breaks large software systems into </a:t>
            </a:r>
            <a:r>
              <a:rPr lang="en-US" i="1" smtClean="0"/>
              <a:t>loosely coupled services</a:t>
            </a:r>
            <a:r>
              <a:rPr lang="en-US" smtClean="0"/>
              <a:t> that interact via well-defined protocols.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9605AC-0CBD-4DAB-BC23-F2640C5934C6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52132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Chapter</a:t>
            </a:r>
            <a:r>
              <a:rPr dirty="0" smtClean="0"/>
              <a:t> </a:t>
            </a:r>
            <a:r>
              <a:rPr dirty="0"/>
              <a:t>2: </a:t>
            </a:r>
            <a:r>
              <a:rPr lang="en-US" dirty="0" smtClean="0"/>
              <a:t>Legacy system Analysis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Software Re-engineering - Undergraduate Course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94626"/>
          </a:xfrm>
        </p:spPr>
        <p:txBody>
          <a:bodyPr>
            <a:normAutofit fontScale="90000"/>
          </a:bodyPr>
          <a:lstStyle/>
          <a:p>
            <a:r>
              <a:rPr dirty="0"/>
              <a:t>Legacy Systems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525963"/>
          </a:xfrm>
        </p:spPr>
        <p:txBody>
          <a:bodyPr/>
          <a:lstStyle/>
          <a:p>
            <a:endParaRPr dirty="0"/>
          </a:p>
          <a:p>
            <a:pPr algn="just"/>
            <a:r>
              <a:rPr lang="en-US" dirty="0"/>
              <a:t>A </a:t>
            </a:r>
            <a:r>
              <a:rPr lang="en-US" b="1" dirty="0"/>
              <a:t>legacy system</a:t>
            </a:r>
            <a:r>
              <a:rPr lang="en-US" dirty="0"/>
              <a:t> is an old or outdated computer system, software, or technology that is still in use, even though newer alternatives exist.</a:t>
            </a:r>
          </a:p>
          <a:p>
            <a:pPr algn="just"/>
            <a:r>
              <a:rPr lang="en-US" dirty="0"/>
              <a:t>They may still meet critical business needs.</a:t>
            </a:r>
          </a:p>
          <a:p>
            <a:pPr algn="just"/>
            <a:r>
              <a:rPr lang="en-US" dirty="0"/>
              <a:t>Often difficult and costly to replace or integrate with modern systems.</a:t>
            </a:r>
          </a:p>
        </p:txBody>
      </p:sp>
    </p:spTree>
    <p:extLst>
      <p:ext uri="{BB962C8B-B14F-4D97-AF65-F5344CB8AC3E}">
        <p14:creationId xmlns:p14="http://schemas.microsoft.com/office/powerpoint/2010/main" val="32589317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Are Legacy Systems?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Older software/hardware still in use</a:t>
            </a:r>
          </a:p>
          <a:p>
            <a:r>
              <a:t>Critical for business operations</a:t>
            </a:r>
          </a:p>
          <a:p>
            <a:r>
              <a:t>Difficult to modify or extend</a:t>
            </a:r>
          </a:p>
        </p:txBody>
      </p:sp>
    </p:spTree>
    <p:extLst>
      <p:ext uri="{BB962C8B-B14F-4D97-AF65-F5344CB8AC3E}">
        <p14:creationId xmlns:p14="http://schemas.microsoft.com/office/powerpoint/2010/main" val="28778651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64274"/>
            <a:ext cx="8229600" cy="1143000"/>
          </a:xfrm>
        </p:spPr>
        <p:txBody>
          <a:bodyPr/>
          <a:lstStyle/>
          <a:p>
            <a:r>
              <a:rPr lang="en-US" dirty="0"/>
              <a:t>Key Characteristics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32688"/>
            <a:ext cx="8229600" cy="5559552"/>
          </a:xfrm>
        </p:spPr>
        <p:txBody>
          <a:bodyPr>
            <a:normAutofit fontScale="85000" lnSpcReduction="20000"/>
          </a:bodyPr>
          <a:lstStyle/>
          <a:p>
            <a:pPr algn="just"/>
            <a:r>
              <a:rPr lang="en-US" sz="3000" dirty="0"/>
              <a:t>Old Technology – built with outdated programming languages, hardware, or databases (e.g., COBOL, mainframes</a:t>
            </a:r>
            <a:r>
              <a:rPr lang="en-US" sz="3000" dirty="0" smtClean="0"/>
              <a:t>).</a:t>
            </a:r>
          </a:p>
          <a:p>
            <a:pPr algn="just"/>
            <a:endParaRPr lang="en-US" sz="3000" dirty="0" smtClean="0"/>
          </a:p>
          <a:p>
            <a:pPr algn="just"/>
            <a:r>
              <a:rPr lang="en-US" sz="3000" dirty="0" smtClean="0"/>
              <a:t>Business </a:t>
            </a:r>
            <a:r>
              <a:rPr lang="en-US" sz="3000" dirty="0"/>
              <a:t>Critical – continues to support essential operations</a:t>
            </a:r>
            <a:r>
              <a:rPr lang="en-US" sz="3000" dirty="0" smtClean="0"/>
              <a:t>.</a:t>
            </a:r>
          </a:p>
          <a:p>
            <a:pPr algn="just"/>
            <a:endParaRPr lang="en-US" sz="3000" dirty="0" smtClean="0"/>
          </a:p>
          <a:p>
            <a:pPr algn="just"/>
            <a:r>
              <a:rPr lang="en-US" sz="3000" dirty="0" smtClean="0"/>
              <a:t>Hard </a:t>
            </a:r>
            <a:r>
              <a:rPr lang="en-US" sz="3000" dirty="0"/>
              <a:t>to Maintain – poor documentation, lack of skilled personnel, and technical debt</a:t>
            </a:r>
            <a:r>
              <a:rPr lang="en-US" sz="3000" dirty="0" smtClean="0"/>
              <a:t>.</a:t>
            </a:r>
          </a:p>
          <a:p>
            <a:pPr algn="just"/>
            <a:endParaRPr lang="en-US" sz="3000" dirty="0" smtClean="0"/>
          </a:p>
          <a:p>
            <a:pPr algn="just"/>
            <a:r>
              <a:rPr lang="en-US" sz="3000" dirty="0" smtClean="0"/>
              <a:t>Integration </a:t>
            </a:r>
            <a:r>
              <a:rPr lang="en-US" sz="3000" dirty="0"/>
              <a:t>Issues – limited ability to connect with modern systems and APIs</a:t>
            </a:r>
            <a:r>
              <a:rPr lang="en-US" sz="3000" dirty="0" smtClean="0"/>
              <a:t>.</a:t>
            </a:r>
          </a:p>
          <a:p>
            <a:pPr algn="just"/>
            <a:endParaRPr lang="en-US" sz="3000" dirty="0" smtClean="0"/>
          </a:p>
          <a:p>
            <a:pPr algn="just"/>
            <a:r>
              <a:rPr lang="en-US" sz="3000" dirty="0" smtClean="0"/>
              <a:t>High </a:t>
            </a:r>
            <a:r>
              <a:rPr lang="en-US" sz="3000" dirty="0"/>
              <a:t>Risk – more prone to failures, bugs, and security vulnerabilities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539597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Components of a Legacy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just"/>
            <a:r>
              <a:rPr lang="en-US" dirty="0"/>
              <a:t>Software – the application programs (e.g., payroll system in COBOL</a:t>
            </a:r>
            <a:r>
              <a:rPr lang="en-US" dirty="0" smtClean="0"/>
              <a:t>).</a:t>
            </a:r>
          </a:p>
          <a:p>
            <a:pPr algn="just"/>
            <a:r>
              <a:rPr lang="en-US" dirty="0" smtClean="0"/>
              <a:t>Data </a:t>
            </a:r>
            <a:r>
              <a:rPr lang="en-US" dirty="0"/>
              <a:t>– critical business records stored in old formats</a:t>
            </a:r>
            <a:r>
              <a:rPr lang="en-US" dirty="0" smtClean="0"/>
              <a:t>.</a:t>
            </a:r>
          </a:p>
          <a:p>
            <a:pPr algn="just"/>
            <a:r>
              <a:rPr lang="en-US" dirty="0" smtClean="0"/>
              <a:t>Hardware </a:t>
            </a:r>
            <a:r>
              <a:rPr lang="en-US" dirty="0"/>
              <a:t>– outdated machines (e.g., mainframes</a:t>
            </a:r>
            <a:r>
              <a:rPr lang="en-US" dirty="0" smtClean="0"/>
              <a:t>).</a:t>
            </a:r>
          </a:p>
          <a:p>
            <a:pPr algn="just"/>
            <a:r>
              <a:rPr lang="en-US" dirty="0" smtClean="0"/>
              <a:t>Processes </a:t>
            </a:r>
            <a:r>
              <a:rPr lang="en-US" dirty="0"/>
              <a:t>– business procedures tied to the system’s functionality</a:t>
            </a:r>
            <a:r>
              <a:rPr lang="en-US" dirty="0" smtClean="0"/>
              <a:t>.</a:t>
            </a:r>
          </a:p>
          <a:p>
            <a:pPr algn="just"/>
            <a:r>
              <a:rPr lang="en-US" dirty="0" smtClean="0"/>
              <a:t>People </a:t>
            </a:r>
            <a:r>
              <a:rPr lang="en-US" dirty="0"/>
              <a:t>– users and maintainers with knowledge of the system.</a:t>
            </a:r>
          </a:p>
        </p:txBody>
      </p:sp>
    </p:spTree>
    <p:extLst>
      <p:ext uri="{BB962C8B-B14F-4D97-AF65-F5344CB8AC3E}">
        <p14:creationId xmlns:p14="http://schemas.microsoft.com/office/powerpoint/2010/main" val="25848178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Options for Dealing with Legacy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/>
            <a:r>
              <a:rPr lang="en-US" dirty="0"/>
              <a:t>Continued Maintenance – patch and keep running</a:t>
            </a:r>
            <a:r>
              <a:rPr lang="en-US" dirty="0" smtClean="0"/>
              <a:t>.</a:t>
            </a:r>
          </a:p>
          <a:p>
            <a:pPr algn="just"/>
            <a:r>
              <a:rPr lang="en-US" dirty="0" smtClean="0"/>
              <a:t>Wrapping </a:t>
            </a:r>
            <a:r>
              <a:rPr lang="en-US" dirty="0"/>
              <a:t>– add interfaces/APIs to connect with modern systems</a:t>
            </a:r>
            <a:r>
              <a:rPr lang="en-US" dirty="0" smtClean="0"/>
              <a:t>.</a:t>
            </a:r>
          </a:p>
          <a:p>
            <a:pPr algn="just"/>
            <a:r>
              <a:rPr lang="en-US" dirty="0" smtClean="0"/>
              <a:t>Migration </a:t>
            </a:r>
            <a:r>
              <a:rPr lang="en-US" dirty="0"/>
              <a:t>– move to modern platforms/languages</a:t>
            </a:r>
            <a:r>
              <a:rPr lang="en-US" dirty="0" smtClean="0"/>
              <a:t>.</a:t>
            </a:r>
          </a:p>
          <a:p>
            <a:pPr algn="just"/>
            <a:r>
              <a:rPr lang="en-US" dirty="0" smtClean="0"/>
              <a:t>Replacement </a:t>
            </a:r>
            <a:r>
              <a:rPr lang="en-US" dirty="0"/>
              <a:t>– build or purchase a new system</a:t>
            </a:r>
            <a:r>
              <a:rPr lang="en-US" dirty="0" smtClean="0"/>
              <a:t>.</a:t>
            </a:r>
          </a:p>
          <a:p>
            <a:pPr algn="just"/>
            <a:r>
              <a:rPr lang="en-US" dirty="0" smtClean="0"/>
              <a:t>Re-engineering </a:t>
            </a:r>
            <a:r>
              <a:rPr lang="en-US" dirty="0"/>
              <a:t>– restructure and modernize the existing system.</a:t>
            </a:r>
          </a:p>
        </p:txBody>
      </p:sp>
    </p:spTree>
    <p:extLst>
      <p:ext uri="{BB962C8B-B14F-4D97-AF65-F5344CB8AC3E}">
        <p14:creationId xmlns:p14="http://schemas.microsoft.com/office/powerpoint/2010/main" val="35521734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Legacy vs Modern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1792224" y="2414016"/>
            <a:ext cx="22860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dirty="0"/>
              <a:t>Legacy: Mainframe + Terminals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078224" y="2871216"/>
            <a:ext cx="4572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4535424" y="2414016"/>
            <a:ext cx="22860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Modern: Web + Cloud + Mobile</a:t>
            </a:r>
          </a:p>
        </p:txBody>
      </p:sp>
    </p:spTree>
    <p:extLst>
      <p:ext uri="{BB962C8B-B14F-4D97-AF65-F5344CB8AC3E}">
        <p14:creationId xmlns:p14="http://schemas.microsoft.com/office/powerpoint/2010/main" val="42752479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58102"/>
            <a:ext cx="8229600" cy="1143000"/>
          </a:xfrm>
        </p:spPr>
        <p:txBody>
          <a:bodyPr>
            <a:normAutofit fontScale="90000"/>
          </a:bodyPr>
          <a:lstStyle/>
          <a:p>
            <a:r>
              <a:rPr dirty="0"/>
              <a:t>Case Study - University Management System (Before)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COBOL-based system</a:t>
            </a:r>
          </a:p>
          <a:p>
            <a:r>
              <a:t>Manual processes</a:t>
            </a:r>
          </a:p>
          <a:p>
            <a:r>
              <a:t>High costs</a:t>
            </a:r>
          </a:p>
        </p:txBody>
      </p:sp>
    </p:spTree>
    <p:extLst>
      <p:ext uri="{BB962C8B-B14F-4D97-AF65-F5344CB8AC3E}">
        <p14:creationId xmlns:p14="http://schemas.microsoft.com/office/powerpoint/2010/main" val="6588000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 Study - Transition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Step 1: Analysis</a:t>
            </a:r>
          </a:p>
          <a:p>
            <a:r>
              <a:t>Step 2: Reverse Engineering</a:t>
            </a:r>
          </a:p>
          <a:p>
            <a:r>
              <a:t>Step 3: Redesign in Java</a:t>
            </a:r>
          </a:p>
          <a:p>
            <a:r>
              <a:t>Step 4: Deploy new system</a:t>
            </a:r>
          </a:p>
        </p:txBody>
      </p:sp>
    </p:spTree>
    <p:extLst>
      <p:ext uri="{BB962C8B-B14F-4D97-AF65-F5344CB8AC3E}">
        <p14:creationId xmlns:p14="http://schemas.microsoft.com/office/powerpoint/2010/main" val="42256437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Case Study - University Management System (After)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Java-based web system</a:t>
            </a:r>
          </a:p>
          <a:p>
            <a:r>
              <a:t>Online access</a:t>
            </a:r>
          </a:p>
          <a:p>
            <a:r>
              <a:t>Scalable and user-friendly</a:t>
            </a:r>
          </a:p>
        </p:txBody>
      </p:sp>
    </p:spTree>
    <p:extLst>
      <p:ext uri="{BB962C8B-B14F-4D97-AF65-F5344CB8AC3E}">
        <p14:creationId xmlns:p14="http://schemas.microsoft.com/office/powerpoint/2010/main" val="4139922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 Study -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Improved usability</a:t>
            </a:r>
          </a:p>
          <a:p>
            <a:r>
              <a:t>Reduced costs</a:t>
            </a:r>
          </a:p>
          <a:p>
            <a:r>
              <a:t>Greater scalability</a:t>
            </a:r>
          </a:p>
        </p:txBody>
      </p:sp>
    </p:spTree>
    <p:extLst>
      <p:ext uri="{BB962C8B-B14F-4D97-AF65-F5344CB8AC3E}">
        <p14:creationId xmlns:p14="http://schemas.microsoft.com/office/powerpoint/2010/main" val="361669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Business Value of Legacy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73752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Even though legacy systems may use outdated technologies, they often remain </a:t>
            </a:r>
            <a:r>
              <a:rPr lang="en-US" b="1" dirty="0"/>
              <a:t>critical</a:t>
            </a:r>
            <a:r>
              <a:rPr lang="en-US" dirty="0"/>
              <a:t> because of the following values</a:t>
            </a:r>
            <a:r>
              <a:rPr lang="en-US" dirty="0" smtClean="0"/>
              <a:t>:</a:t>
            </a:r>
          </a:p>
          <a:p>
            <a:pPr marL="0" indent="0">
              <a:buNone/>
            </a:pPr>
            <a:endParaRPr lang="en-US" b="1" dirty="0" smtClean="0"/>
          </a:p>
          <a:p>
            <a:pPr marL="0" indent="0">
              <a:buNone/>
            </a:pPr>
            <a:r>
              <a:rPr lang="en-US" b="1" dirty="0" smtClean="0"/>
              <a:t>1</a:t>
            </a:r>
            <a:r>
              <a:rPr lang="en-US" b="1" dirty="0"/>
              <a:t>. Core Business Operations</a:t>
            </a:r>
          </a:p>
          <a:p>
            <a:r>
              <a:rPr lang="en-US" dirty="0"/>
              <a:t>Legacy systems often run the </a:t>
            </a:r>
            <a:r>
              <a:rPr lang="en-US" b="1" dirty="0"/>
              <a:t>main daily processes</a:t>
            </a:r>
            <a:r>
              <a:rPr lang="en-US" dirty="0"/>
              <a:t> (banking transactions, airline booking, hospital patient records).</a:t>
            </a:r>
          </a:p>
          <a:p>
            <a:r>
              <a:rPr lang="en-US" dirty="0"/>
              <a:t>Without them, the business might not function.</a:t>
            </a:r>
          </a:p>
          <a:p>
            <a:pPr marL="0" indent="0">
              <a:buNone/>
            </a:pPr>
            <a:endParaRPr lang="en-US" b="1" dirty="0" smtClean="0"/>
          </a:p>
          <a:p>
            <a:pPr marL="0" indent="0">
              <a:buNone/>
            </a:pPr>
            <a:r>
              <a:rPr lang="en-US" b="1" dirty="0" smtClean="0"/>
              <a:t>2</a:t>
            </a:r>
            <a:r>
              <a:rPr lang="en-US" b="1" dirty="0"/>
              <a:t>. High Investment Already Made</a:t>
            </a:r>
          </a:p>
          <a:p>
            <a:r>
              <a:rPr lang="en-US" dirty="0"/>
              <a:t>Organizations have spent </a:t>
            </a:r>
            <a:r>
              <a:rPr lang="en-US" b="1" dirty="0"/>
              <a:t>years of money, resources, and expertise</a:t>
            </a:r>
            <a:r>
              <a:rPr lang="en-US" dirty="0"/>
              <a:t> in developing and customizing them.</a:t>
            </a:r>
          </a:p>
          <a:p>
            <a:r>
              <a:rPr lang="en-US" dirty="0"/>
              <a:t>Replacing them entirely would be </a:t>
            </a:r>
            <a:r>
              <a:rPr lang="en-US" b="1" dirty="0"/>
              <a:t>very costly and risky</a:t>
            </a:r>
            <a:r>
              <a:rPr lang="en-US" dirty="0"/>
              <a:t>.</a:t>
            </a:r>
          </a:p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013992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57784"/>
            <a:ext cx="8229600" cy="5568379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3. Embedded Business Knowledge</a:t>
            </a:r>
          </a:p>
          <a:p>
            <a:r>
              <a:rPr lang="en-US" dirty="0"/>
              <a:t>Legacy systems store </a:t>
            </a:r>
            <a:r>
              <a:rPr lang="en-US" b="1" dirty="0"/>
              <a:t>decades of organizational knowledge</a:t>
            </a:r>
            <a:r>
              <a:rPr lang="en-US" dirty="0"/>
              <a:t> in their rules, workflows, and data.</a:t>
            </a:r>
          </a:p>
          <a:p>
            <a:r>
              <a:rPr lang="en-US" dirty="0"/>
              <a:t>Example: An insurance system may contain rare actuarial calculations refined over 30 years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pPr marL="0" indent="0">
              <a:buNone/>
            </a:pPr>
            <a:r>
              <a:rPr lang="en-US" b="1" dirty="0"/>
              <a:t>4. Stability and Reliability</a:t>
            </a:r>
          </a:p>
          <a:p>
            <a:pPr algn="just"/>
            <a:r>
              <a:rPr lang="en-US" dirty="0"/>
              <a:t>Legacy systems, though old, are often </a:t>
            </a:r>
            <a:r>
              <a:rPr lang="en-US" b="1" dirty="0"/>
              <a:t>highly stable</a:t>
            </a:r>
            <a:r>
              <a:rPr lang="en-US" dirty="0"/>
              <a:t> (tested over years).</a:t>
            </a:r>
          </a:p>
          <a:p>
            <a:r>
              <a:rPr lang="en-US" dirty="0"/>
              <a:t>Example: Mainframes in banks process billions of transactions reliably.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99874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01752"/>
            <a:ext cx="8229600" cy="5824411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b="1" dirty="0"/>
              <a:t>5. Regulatory and Compliance Value</a:t>
            </a:r>
          </a:p>
          <a:p>
            <a:pPr algn="just"/>
            <a:r>
              <a:rPr lang="en-US" dirty="0"/>
              <a:t>Many legacy systems are tailored to meet </a:t>
            </a:r>
            <a:r>
              <a:rPr lang="en-US" b="1" dirty="0"/>
              <a:t>specific government and industry regulations</a:t>
            </a:r>
            <a:r>
              <a:rPr lang="en-US" dirty="0"/>
              <a:t>.</a:t>
            </a:r>
          </a:p>
          <a:p>
            <a:r>
              <a:rPr lang="en-US" dirty="0"/>
              <a:t>Replacing them could risk non-compliance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 smtClean="0"/>
              <a:t>6. </a:t>
            </a:r>
            <a:r>
              <a:rPr lang="en-US" b="1" dirty="0"/>
              <a:t>Integration with Other Systems</a:t>
            </a:r>
          </a:p>
          <a:p>
            <a:pPr algn="just"/>
            <a:r>
              <a:rPr lang="en-US" dirty="0"/>
              <a:t>Legacy systems often serve as the </a:t>
            </a:r>
            <a:r>
              <a:rPr lang="en-US" b="1" dirty="0"/>
              <a:t>central hub</a:t>
            </a:r>
            <a:r>
              <a:rPr lang="en-US" dirty="0"/>
              <a:t> that other systems depend on.</a:t>
            </a:r>
          </a:p>
          <a:p>
            <a:pPr algn="just"/>
            <a:r>
              <a:rPr lang="en-US" dirty="0"/>
              <a:t>Example: A hospital legacy system connects labs, pharmacies, and billing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pPr marL="0" indent="0">
              <a:buNone/>
            </a:pPr>
            <a:r>
              <a:rPr lang="en-US" b="1" dirty="0"/>
              <a:t>7. Customer and Market Trust</a:t>
            </a:r>
          </a:p>
          <a:p>
            <a:pPr algn="just"/>
            <a:r>
              <a:rPr lang="en-US" dirty="0"/>
              <a:t>Clients and customers trust systems that have </a:t>
            </a:r>
            <a:r>
              <a:rPr lang="en-US" b="1" dirty="0"/>
              <a:t>proven reliable over decades</a:t>
            </a:r>
            <a:r>
              <a:rPr lang="en-US" dirty="0"/>
              <a:t>.</a:t>
            </a:r>
          </a:p>
          <a:p>
            <a:r>
              <a:rPr lang="en-US" dirty="0"/>
              <a:t>Abrupt changes can risk customer dissatisfaction.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41655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Legacy system </a:t>
            </a:r>
            <a:r>
              <a:rPr dirty="0" smtClean="0"/>
              <a:t>Analysis </a:t>
            </a:r>
            <a:r>
              <a:rPr dirty="0"/>
              <a:t>Approaches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algn="just"/>
            <a:r>
              <a:rPr lang="en-US" dirty="0" smtClean="0"/>
              <a:t>Before </a:t>
            </a:r>
            <a:r>
              <a:rPr lang="en-US" dirty="0"/>
              <a:t>migrating, re-engineering, or replacing a legacy system, organizations must first </a:t>
            </a:r>
            <a:r>
              <a:rPr lang="en-US" b="1" dirty="0"/>
              <a:t>analyze</a:t>
            </a:r>
            <a:r>
              <a:rPr lang="en-US" dirty="0"/>
              <a:t> it. Several </a:t>
            </a:r>
            <a:r>
              <a:rPr lang="en-US" b="1" dirty="0"/>
              <a:t>analysis approaches</a:t>
            </a:r>
            <a:r>
              <a:rPr lang="en-US" dirty="0"/>
              <a:t> are commonly used:</a:t>
            </a:r>
            <a:endParaRPr dirty="0"/>
          </a:p>
          <a:p>
            <a:pPr lvl="1"/>
            <a:r>
              <a:rPr dirty="0"/>
              <a:t>Business process analysis</a:t>
            </a:r>
          </a:p>
          <a:p>
            <a:pPr lvl="1"/>
            <a:r>
              <a:rPr dirty="0"/>
              <a:t>Data analysis</a:t>
            </a:r>
          </a:p>
          <a:p>
            <a:pPr lvl="1"/>
            <a:r>
              <a:rPr dirty="0"/>
              <a:t>Code analysis</a:t>
            </a:r>
          </a:p>
          <a:p>
            <a:pPr lvl="1"/>
            <a:r>
              <a:rPr/>
              <a:t>Architecture </a:t>
            </a:r>
            <a:r>
              <a:rPr smtClean="0"/>
              <a:t>analysis</a:t>
            </a:r>
            <a:endParaRPr lang="en-US" smtClean="0"/>
          </a:p>
          <a:p>
            <a:pPr lvl="1"/>
            <a:r>
              <a:rPr lang="en-US" smtClean="0"/>
              <a:t>User/Stakeholder Interviews</a:t>
            </a:r>
          </a:p>
          <a:p>
            <a:pPr lvl="1"/>
            <a:r>
              <a:rPr lang="en-US"/>
              <a:t>Performance and Usage Analysis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46272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1. </a:t>
            </a:r>
            <a:r>
              <a:rPr dirty="0" smtClean="0"/>
              <a:t>Business </a:t>
            </a:r>
            <a:r>
              <a:rPr dirty="0"/>
              <a:t>Process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algn="just"/>
            <a:r>
              <a:rPr lang="en-US" dirty="0"/>
              <a:t>Focus: Understand </a:t>
            </a:r>
            <a:r>
              <a:rPr lang="en-US" b="1" dirty="0"/>
              <a:t>what the system does</a:t>
            </a:r>
            <a:r>
              <a:rPr lang="en-US" dirty="0"/>
              <a:t> in terms of business operations</a:t>
            </a:r>
            <a:r>
              <a:rPr lang="en-US" dirty="0" smtClean="0"/>
              <a:t>.</a:t>
            </a:r>
          </a:p>
          <a:p>
            <a:pPr algn="just"/>
            <a:r>
              <a:rPr lang="en-US" dirty="0"/>
              <a:t>Goal: Identify which processes are critical, outdated, or redundant</a:t>
            </a:r>
            <a:r>
              <a:rPr lang="en-US" dirty="0" smtClean="0"/>
              <a:t>.</a:t>
            </a:r>
          </a:p>
          <a:p>
            <a:pPr algn="just"/>
            <a:r>
              <a:rPr lang="en-US" dirty="0"/>
              <a:t>Example: An insurance system’s claims-processing workflow is analyzed to see if it matches current practices.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794410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2. </a:t>
            </a:r>
            <a:r>
              <a:rPr dirty="0" smtClean="0"/>
              <a:t>Data </a:t>
            </a:r>
            <a:r>
              <a:rPr dirty="0"/>
              <a:t>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 dirty="0"/>
          </a:p>
          <a:p>
            <a:pPr algn="just"/>
            <a:r>
              <a:rPr lang="en-US" dirty="0"/>
              <a:t>Focus: Examine </a:t>
            </a:r>
            <a:r>
              <a:rPr lang="en-US" b="1" dirty="0"/>
              <a:t>data structures, files, and databases</a:t>
            </a:r>
            <a:r>
              <a:rPr lang="en-US" dirty="0"/>
              <a:t> inside the system</a:t>
            </a:r>
            <a:r>
              <a:rPr lang="en-US" dirty="0" smtClean="0"/>
              <a:t>.</a:t>
            </a:r>
          </a:p>
          <a:p>
            <a:pPr algn="just"/>
            <a:r>
              <a:rPr lang="en-US" dirty="0"/>
              <a:t>Goal: Identify </a:t>
            </a:r>
            <a:r>
              <a:rPr lang="en-US" b="1" dirty="0"/>
              <a:t>data quality issues</a:t>
            </a:r>
            <a:r>
              <a:rPr lang="en-US" dirty="0"/>
              <a:t>, redundancies, and opportunities for migration</a:t>
            </a:r>
            <a:r>
              <a:rPr lang="en-US" dirty="0" smtClean="0"/>
              <a:t>.</a:t>
            </a:r>
          </a:p>
          <a:p>
            <a:pPr algn="just"/>
            <a:r>
              <a:rPr lang="en-US" dirty="0"/>
              <a:t>Example: An old mainframe system with customer data is analyzed before migrating to a modern relational DB.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456623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3. </a:t>
            </a:r>
            <a:r>
              <a:rPr dirty="0" smtClean="0"/>
              <a:t>Code </a:t>
            </a:r>
            <a:r>
              <a:rPr dirty="0"/>
              <a:t>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 smtClean="0"/>
              <a:t>Focus</a:t>
            </a:r>
            <a:r>
              <a:rPr lang="en-US" dirty="0"/>
              <a:t>: Review </a:t>
            </a:r>
            <a:r>
              <a:rPr lang="en-US" b="1" dirty="0"/>
              <a:t>source code, modules, and dependencies</a:t>
            </a:r>
            <a:r>
              <a:rPr lang="en-US" dirty="0" smtClean="0"/>
              <a:t>.</a:t>
            </a:r>
          </a:p>
          <a:p>
            <a:pPr algn="just"/>
            <a:r>
              <a:rPr lang="en-US" dirty="0"/>
              <a:t>Goal: Assess complexity, maintainability, and hidden business rules</a:t>
            </a:r>
            <a:r>
              <a:rPr lang="en-US" dirty="0" smtClean="0"/>
              <a:t>.</a:t>
            </a:r>
          </a:p>
          <a:p>
            <a:pPr algn="just"/>
            <a:r>
              <a:rPr lang="en-US" dirty="0"/>
              <a:t>Techniques: Static analysis, </a:t>
            </a:r>
            <a:r>
              <a:rPr lang="en-US" dirty="0" err="1"/>
              <a:t>cyclomatic</a:t>
            </a:r>
            <a:r>
              <a:rPr lang="en-US" dirty="0"/>
              <a:t> complexity, code metrics</a:t>
            </a:r>
            <a:r>
              <a:rPr lang="en-US" dirty="0" smtClean="0"/>
              <a:t>.</a:t>
            </a:r>
          </a:p>
          <a:p>
            <a:pPr algn="just"/>
            <a:r>
              <a:rPr lang="en-US" dirty="0"/>
              <a:t>Example: COBOL banking software is analyzed to identify modules for re-engineering.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738513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4. </a:t>
            </a:r>
            <a:r>
              <a:rPr dirty="0" smtClean="0"/>
              <a:t>Architecture </a:t>
            </a:r>
            <a:r>
              <a:rPr dirty="0"/>
              <a:t>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algn="just"/>
            <a:r>
              <a:rPr lang="en-US" dirty="0"/>
              <a:t>Focus: Study the </a:t>
            </a:r>
            <a:r>
              <a:rPr lang="en-US" b="1" dirty="0"/>
              <a:t>system’s structure</a:t>
            </a:r>
            <a:r>
              <a:rPr lang="en-US" dirty="0"/>
              <a:t> (components, interfaces, dependencies</a:t>
            </a:r>
            <a:r>
              <a:rPr lang="en-US" dirty="0" smtClean="0"/>
              <a:t>).</a:t>
            </a:r>
          </a:p>
          <a:p>
            <a:pPr algn="just"/>
            <a:r>
              <a:rPr lang="en-US" dirty="0"/>
              <a:t>Goal: Understand how parts interact and where bottlenecks or risks exist</a:t>
            </a:r>
            <a:r>
              <a:rPr lang="en-US" dirty="0" smtClean="0"/>
              <a:t>.</a:t>
            </a:r>
          </a:p>
          <a:p>
            <a:pPr algn="just"/>
            <a:r>
              <a:rPr lang="en-US" dirty="0"/>
              <a:t>Example: Layered diagram of a legacy payroll system shows tightly coupled modules.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07532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5. User/Stakeholder Interviews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Focus: Collect insights from </a:t>
            </a:r>
            <a:r>
              <a:rPr lang="en-US" b="1" dirty="0"/>
              <a:t>end-users, admins, and managers</a:t>
            </a:r>
            <a:r>
              <a:rPr lang="en-US" dirty="0" smtClean="0"/>
              <a:t>.</a:t>
            </a:r>
          </a:p>
          <a:p>
            <a:pPr algn="just"/>
            <a:r>
              <a:rPr lang="en-US" dirty="0"/>
              <a:t>Goal: Identify </a:t>
            </a:r>
            <a:r>
              <a:rPr lang="en-US" b="1" dirty="0"/>
              <a:t>pain points, workarounds, and unmet needs</a:t>
            </a:r>
            <a:r>
              <a:rPr lang="en-US" dirty="0" smtClean="0"/>
              <a:t>.</a:t>
            </a:r>
          </a:p>
          <a:p>
            <a:pPr algn="just"/>
            <a:r>
              <a:rPr lang="en-US" dirty="0"/>
              <a:t>Example: Hospital staff reveal that the old patient system requires manual duplicate entries.</a:t>
            </a:r>
          </a:p>
        </p:txBody>
      </p:sp>
    </p:spTree>
    <p:extLst>
      <p:ext uri="{BB962C8B-B14F-4D97-AF65-F5344CB8AC3E}">
        <p14:creationId xmlns:p14="http://schemas.microsoft.com/office/powerpoint/2010/main" val="20848526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6. Performance and Usage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Focus: Measure </a:t>
            </a:r>
            <a:r>
              <a:rPr lang="en-US" b="1" dirty="0"/>
              <a:t>system performance, workloads, response times</a:t>
            </a:r>
            <a:r>
              <a:rPr lang="en-US" dirty="0" smtClean="0"/>
              <a:t>.</a:t>
            </a:r>
          </a:p>
          <a:p>
            <a:pPr algn="just"/>
            <a:r>
              <a:rPr lang="en-US" dirty="0"/>
              <a:t>Goal: Identify bottlenecks and determine whether the system meets current needs</a:t>
            </a:r>
            <a:r>
              <a:rPr lang="en-US" dirty="0" smtClean="0"/>
              <a:t>.</a:t>
            </a:r>
          </a:p>
          <a:p>
            <a:pPr algn="just"/>
            <a:r>
              <a:rPr lang="en-US" dirty="0"/>
              <a:t>Example: Airline booking system analysis shows peak-time slowdowns.</a:t>
            </a:r>
          </a:p>
        </p:txBody>
      </p:sp>
    </p:spTree>
    <p:extLst>
      <p:ext uri="{BB962C8B-B14F-4D97-AF65-F5344CB8AC3E}">
        <p14:creationId xmlns:p14="http://schemas.microsoft.com/office/powerpoint/2010/main" val="25284342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Legacy System Assessment -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algn="just"/>
            <a:r>
              <a:rPr lang="en-US" dirty="0"/>
              <a:t>Legacy system assessment is the process of </a:t>
            </a:r>
            <a:r>
              <a:rPr lang="en-US" b="1" dirty="0"/>
              <a:t>evaluating the business, technical, and operational value</a:t>
            </a:r>
            <a:r>
              <a:rPr lang="en-US" dirty="0"/>
              <a:t> of an existing system to determine its future role in the organization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pPr algn="just"/>
            <a:r>
              <a:rPr dirty="0" smtClean="0"/>
              <a:t>Frameworks help decide whether to maintain, replace, or re-engineer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096093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Dimensions of Assessment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marL="0" indent="0">
              <a:buNone/>
            </a:pPr>
            <a:r>
              <a:rPr lang="en-US" b="1" dirty="0"/>
              <a:t>1. Business Value</a:t>
            </a:r>
          </a:p>
          <a:p>
            <a:pPr algn="just"/>
            <a:r>
              <a:rPr lang="en-US" dirty="0"/>
              <a:t>Does the system support critical business functions?</a:t>
            </a:r>
          </a:p>
          <a:p>
            <a:pPr algn="just"/>
            <a:r>
              <a:rPr lang="en-US" dirty="0"/>
              <a:t>Does it provide competitive advantage?</a:t>
            </a:r>
          </a:p>
          <a:p>
            <a:r>
              <a:rPr lang="en-US" dirty="0"/>
              <a:t>Does it comply with regulations?</a:t>
            </a:r>
          </a:p>
          <a:p>
            <a:r>
              <a:rPr lang="en-US" b="1" dirty="0"/>
              <a:t>Rating:</a:t>
            </a:r>
            <a:r>
              <a:rPr lang="en-US" dirty="0"/>
              <a:t> High, Medium, Low</a:t>
            </a:r>
          </a:p>
        </p:txBody>
      </p:sp>
    </p:spTree>
    <p:extLst>
      <p:ext uri="{BB962C8B-B14F-4D97-AF65-F5344CB8AC3E}">
        <p14:creationId xmlns:p14="http://schemas.microsoft.com/office/powerpoint/2010/main" val="37732411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2. System Quality</a:t>
            </a:r>
          </a:p>
          <a:p>
            <a:pPr algn="just"/>
            <a:r>
              <a:rPr lang="en-US" dirty="0"/>
              <a:t>How reliable, maintainable, and secure is the system?</a:t>
            </a:r>
          </a:p>
          <a:p>
            <a:r>
              <a:rPr lang="en-US" dirty="0"/>
              <a:t>What is the level of technical debt?</a:t>
            </a:r>
          </a:p>
          <a:p>
            <a:r>
              <a:rPr lang="en-US" dirty="0"/>
              <a:t>Is the system well-documented?</a:t>
            </a:r>
          </a:p>
          <a:p>
            <a:r>
              <a:rPr lang="en-US" b="1" dirty="0"/>
              <a:t>Rating:</a:t>
            </a:r>
            <a:r>
              <a:rPr lang="en-US" dirty="0"/>
              <a:t> High, Medium, Low</a:t>
            </a:r>
          </a:p>
        </p:txBody>
      </p:sp>
    </p:spTree>
    <p:extLst>
      <p:ext uri="{BB962C8B-B14F-4D97-AF65-F5344CB8AC3E}">
        <p14:creationId xmlns:p14="http://schemas.microsoft.com/office/powerpoint/2010/main" val="20458712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94944"/>
            <a:ext cx="8229600" cy="5431219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b="1" dirty="0"/>
              <a:t>3. Cost of Ownership</a:t>
            </a:r>
          </a:p>
          <a:p>
            <a:pPr algn="just"/>
            <a:r>
              <a:rPr lang="en-US" dirty="0"/>
              <a:t>What are the maintenance costs (staff, licensing, infrastructure)?</a:t>
            </a:r>
          </a:p>
          <a:p>
            <a:r>
              <a:rPr lang="en-US" dirty="0"/>
              <a:t>Is vendor support available?</a:t>
            </a:r>
          </a:p>
          <a:p>
            <a:r>
              <a:rPr lang="en-US" dirty="0"/>
              <a:t>Is the hardware/software obsolete?</a:t>
            </a:r>
          </a:p>
          <a:p>
            <a:r>
              <a:rPr lang="en-US" b="1" dirty="0"/>
              <a:t>Rating:</a:t>
            </a:r>
            <a:r>
              <a:rPr lang="en-US" dirty="0"/>
              <a:t> Expensive, Moderate, </a:t>
            </a:r>
            <a:r>
              <a:rPr lang="en-US" dirty="0" smtClean="0"/>
              <a:t>Low</a:t>
            </a:r>
          </a:p>
          <a:p>
            <a:pPr marL="0" indent="0">
              <a:buNone/>
            </a:pPr>
            <a:endParaRPr lang="en-US" b="1" dirty="0" smtClean="0"/>
          </a:p>
          <a:p>
            <a:pPr marL="0" indent="0">
              <a:buNone/>
            </a:pPr>
            <a:r>
              <a:rPr lang="en-US" b="1" dirty="0" smtClean="0"/>
              <a:t>4</a:t>
            </a:r>
            <a:r>
              <a:rPr lang="en-US" b="1" dirty="0"/>
              <a:t>. Risk Factors</a:t>
            </a:r>
          </a:p>
          <a:p>
            <a:pPr algn="just"/>
            <a:r>
              <a:rPr lang="en-US" dirty="0"/>
              <a:t>What risks are associated with keeping it? (e.g., security vulnerabilities, skill shortages, compliance risk)</a:t>
            </a:r>
          </a:p>
          <a:p>
            <a:r>
              <a:rPr lang="en-US" dirty="0"/>
              <a:t>What risks are associated with replacing it? (e.g., migration failures, cost overruns)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66765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Assessment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Based on these evaluations, systems are typically categorized as:</a:t>
            </a:r>
          </a:p>
          <a:p>
            <a:pPr lvl="1" algn="just"/>
            <a:r>
              <a:rPr lang="en-US" b="1" dirty="0"/>
              <a:t>Retain</a:t>
            </a:r>
            <a:r>
              <a:rPr lang="en-US" dirty="0"/>
              <a:t> – Keep running with minimal changes.</a:t>
            </a:r>
          </a:p>
          <a:p>
            <a:pPr lvl="1"/>
            <a:r>
              <a:rPr lang="en-US" b="1" dirty="0"/>
              <a:t>Encapsulate</a:t>
            </a:r>
            <a:r>
              <a:rPr lang="en-US" dirty="0"/>
              <a:t> – Wrap with APIs for integration while leaving core untouched.</a:t>
            </a:r>
          </a:p>
          <a:p>
            <a:pPr lvl="1"/>
            <a:r>
              <a:rPr lang="en-US" b="1" dirty="0"/>
              <a:t>Re-engineer</a:t>
            </a:r>
            <a:r>
              <a:rPr lang="en-US" dirty="0"/>
              <a:t> – Refactor, modularize, or modernize code.</a:t>
            </a:r>
          </a:p>
          <a:p>
            <a:pPr lvl="1"/>
            <a:r>
              <a:rPr lang="en-US" b="1" dirty="0"/>
              <a:t>Migrate</a:t>
            </a:r>
            <a:r>
              <a:rPr lang="en-US" dirty="0"/>
              <a:t> – Move to new platforms (e.g., cloud).</a:t>
            </a:r>
          </a:p>
          <a:p>
            <a:pPr lvl="1"/>
            <a:r>
              <a:rPr lang="en-US" b="1" dirty="0"/>
              <a:t>Replace</a:t>
            </a:r>
            <a:r>
              <a:rPr lang="en-US" dirty="0"/>
              <a:t> – Develop or buy a new system.</a:t>
            </a:r>
          </a:p>
        </p:txBody>
      </p:sp>
    </p:spTree>
    <p:extLst>
      <p:ext uri="{BB962C8B-B14F-4D97-AF65-F5344CB8AC3E}">
        <p14:creationId xmlns:p14="http://schemas.microsoft.com/office/powerpoint/2010/main" val="37508594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Legacy System Assessment Matrix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6544" y="1417638"/>
            <a:ext cx="6573167" cy="5058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86200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Case Study: Bank Mainframe Core Banking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b="1" dirty="0"/>
              <a:t>Background</a:t>
            </a:r>
          </a:p>
          <a:p>
            <a:pPr algn="just"/>
            <a:r>
              <a:rPr lang="en-US" dirty="0"/>
              <a:t>A large bank has been using a </a:t>
            </a:r>
            <a:r>
              <a:rPr lang="en-US" b="1" dirty="0"/>
              <a:t>COBOL-based mainframe core banking system</a:t>
            </a:r>
            <a:r>
              <a:rPr lang="en-US" dirty="0"/>
              <a:t> for 35 years. The system manages </a:t>
            </a:r>
            <a:r>
              <a:rPr lang="en-US" b="1" dirty="0"/>
              <a:t>customer accounts, loans, and transactions</a:t>
            </a:r>
            <a:r>
              <a:rPr lang="en-US" dirty="0"/>
              <a:t>, but maintenance costs are rising and few developers know COBOL</a:t>
            </a:r>
            <a:r>
              <a:rPr lang="en-US" dirty="0" smtClean="0"/>
              <a:t>.</a:t>
            </a:r>
          </a:p>
          <a:p>
            <a:pPr marL="0" indent="0" algn="just">
              <a:buNone/>
            </a:pPr>
            <a:r>
              <a:rPr lang="en-US" dirty="0"/>
              <a:t>Assessment Using the </a:t>
            </a:r>
            <a:r>
              <a:rPr lang="en-US" dirty="0" smtClean="0"/>
              <a:t>Matrix</a:t>
            </a:r>
          </a:p>
          <a:p>
            <a:pPr marL="0" indent="0">
              <a:buNone/>
            </a:pPr>
            <a:r>
              <a:rPr lang="en-US" b="1" dirty="0"/>
              <a:t>1. Business Value</a:t>
            </a:r>
          </a:p>
          <a:p>
            <a:r>
              <a:rPr lang="en-US" dirty="0"/>
              <a:t>The system handles all </a:t>
            </a:r>
            <a:r>
              <a:rPr lang="en-US" b="1" dirty="0"/>
              <a:t>core banking operations</a:t>
            </a:r>
            <a:r>
              <a:rPr lang="en-US" dirty="0"/>
              <a:t> → </a:t>
            </a:r>
            <a:r>
              <a:rPr lang="en-US" b="1" dirty="0"/>
              <a:t>Very High Value</a:t>
            </a:r>
            <a:r>
              <a:rPr lang="en-US" dirty="0"/>
              <a:t>.</a:t>
            </a:r>
          </a:p>
          <a:p>
            <a:r>
              <a:rPr lang="en-US" dirty="0"/>
              <a:t>Customers depend on it for daily financial services.</a:t>
            </a:r>
          </a:p>
          <a:p>
            <a:r>
              <a:rPr lang="en-US" dirty="0"/>
              <a:t>✅ </a:t>
            </a:r>
            <a:r>
              <a:rPr lang="en-US" b="1" dirty="0"/>
              <a:t>Rating: High</a:t>
            </a:r>
            <a:endParaRPr lang="en-US" dirty="0"/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08855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94360"/>
            <a:ext cx="8229600" cy="5531803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b="1" dirty="0"/>
              <a:t>2. System Quality</a:t>
            </a:r>
          </a:p>
          <a:p>
            <a:pPr algn="just"/>
            <a:r>
              <a:rPr lang="en-US" b="1" dirty="0"/>
              <a:t>Code:</a:t>
            </a:r>
            <a:r>
              <a:rPr lang="en-US" dirty="0"/>
              <a:t> Old COBOL, poorly documented, complex.</a:t>
            </a:r>
          </a:p>
          <a:p>
            <a:pPr algn="just"/>
            <a:r>
              <a:rPr lang="en-US" b="1" dirty="0"/>
              <a:t>Performance:</a:t>
            </a:r>
            <a:r>
              <a:rPr lang="en-US" dirty="0"/>
              <a:t> Stable, but hard to scale.</a:t>
            </a:r>
          </a:p>
          <a:p>
            <a:pPr algn="just"/>
            <a:r>
              <a:rPr lang="en-US" b="1" dirty="0"/>
              <a:t>Maintenance:</a:t>
            </a:r>
            <a:r>
              <a:rPr lang="en-US" dirty="0"/>
              <a:t> Expensive (shortage of COBOL experts).</a:t>
            </a:r>
          </a:p>
          <a:p>
            <a:pPr algn="just"/>
            <a:r>
              <a:rPr lang="en-US" b="1" dirty="0"/>
              <a:t>Security:</a:t>
            </a:r>
            <a:r>
              <a:rPr lang="en-US" dirty="0"/>
              <a:t> Lacks modern safeguards.</a:t>
            </a:r>
          </a:p>
          <a:p>
            <a:r>
              <a:rPr lang="en-US" dirty="0"/>
              <a:t>❌ </a:t>
            </a:r>
            <a:r>
              <a:rPr lang="en-US" b="1" dirty="0"/>
              <a:t>Rating: </a:t>
            </a:r>
            <a:r>
              <a:rPr lang="en-US" b="1" dirty="0" smtClean="0"/>
              <a:t>Low</a:t>
            </a:r>
          </a:p>
          <a:p>
            <a:pPr marL="0" indent="0">
              <a:buNone/>
            </a:pPr>
            <a:r>
              <a:rPr lang="en-US" b="1" dirty="0" smtClean="0"/>
              <a:t>Matrix </a:t>
            </a:r>
            <a:r>
              <a:rPr lang="en-US" b="1" dirty="0"/>
              <a:t>Placement</a:t>
            </a:r>
          </a:p>
          <a:p>
            <a:pPr algn="just"/>
            <a:r>
              <a:rPr lang="en-US" b="1" dirty="0"/>
              <a:t>High Business Value + Low System Quality → Re-engineer.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34148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76656"/>
            <a:ext cx="8229600" cy="5449507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Decision</a:t>
            </a:r>
          </a:p>
          <a:p>
            <a:pPr algn="just"/>
            <a:r>
              <a:rPr lang="en-US" dirty="0"/>
              <a:t>The bank decides to </a:t>
            </a:r>
            <a:r>
              <a:rPr lang="en-US" b="1" dirty="0"/>
              <a:t>re-engineer</a:t>
            </a:r>
            <a:r>
              <a:rPr lang="en-US" dirty="0"/>
              <a:t> the mainframe system:</a:t>
            </a:r>
          </a:p>
          <a:p>
            <a:pPr lvl="1" algn="just"/>
            <a:r>
              <a:rPr lang="en-US" b="1" dirty="0"/>
              <a:t>Encapsulate with APIs</a:t>
            </a:r>
            <a:r>
              <a:rPr lang="en-US" dirty="0"/>
              <a:t> for short-term digital banking integration.</a:t>
            </a:r>
          </a:p>
          <a:p>
            <a:pPr lvl="1"/>
            <a:r>
              <a:rPr lang="en-US" b="1" dirty="0"/>
              <a:t>Gradually migrate</a:t>
            </a:r>
            <a:r>
              <a:rPr lang="en-US" dirty="0"/>
              <a:t> to a </a:t>
            </a:r>
            <a:r>
              <a:rPr lang="en-US" b="1" dirty="0"/>
              <a:t>modern cloud-based </a:t>
            </a:r>
            <a:r>
              <a:rPr lang="en-US" b="1" dirty="0" err="1"/>
              <a:t>microservices</a:t>
            </a:r>
            <a:r>
              <a:rPr lang="en-US" b="1" dirty="0"/>
              <a:t> architecture</a:t>
            </a:r>
            <a:r>
              <a:rPr lang="en-US" dirty="0"/>
              <a:t>.</a:t>
            </a:r>
          </a:p>
          <a:p>
            <a:pPr lvl="1" algn="just"/>
            <a:r>
              <a:rPr lang="en-US" dirty="0"/>
              <a:t>Retain business rules but rewrite in modern languages (Java/Python</a:t>
            </a:r>
            <a:r>
              <a:rPr lang="en-US" dirty="0" smtClean="0"/>
              <a:t>).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This </a:t>
            </a:r>
            <a:r>
              <a:rPr lang="en-US" dirty="0"/>
              <a:t>assessment helps the bank:</a:t>
            </a:r>
          </a:p>
          <a:p>
            <a:r>
              <a:rPr lang="en-US" dirty="0"/>
              <a:t>Avoid unnecessary full replacement (too risky &amp; costly).</a:t>
            </a:r>
          </a:p>
          <a:p>
            <a:r>
              <a:rPr lang="en-US" dirty="0"/>
              <a:t>Preserve valuable business logic.</a:t>
            </a:r>
          </a:p>
          <a:p>
            <a:r>
              <a:rPr lang="en-US" dirty="0"/>
              <a:t>Improve maintainability and scalability over time.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03368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Case Study - Airline Reservation System (Background)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Developed in 1970s</a:t>
            </a:r>
          </a:p>
          <a:p>
            <a:r>
              <a:t>Critical for daily operations</a:t>
            </a:r>
          </a:p>
          <a:p>
            <a:r>
              <a:t>Built with COBOL on mainframes</a:t>
            </a:r>
          </a:p>
        </p:txBody>
      </p:sp>
    </p:spTree>
    <p:extLst>
      <p:ext uri="{BB962C8B-B14F-4D97-AF65-F5344CB8AC3E}">
        <p14:creationId xmlns:p14="http://schemas.microsoft.com/office/powerpoint/2010/main" val="31721799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 Study - 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Integration with web and mobile platforms</a:t>
            </a:r>
          </a:p>
          <a:p>
            <a:r>
              <a:t>High maintenance costs</a:t>
            </a:r>
          </a:p>
          <a:p>
            <a:r>
              <a:t>Shortage of COBOL programmers</a:t>
            </a:r>
          </a:p>
        </p:txBody>
      </p:sp>
    </p:spTree>
    <p:extLst>
      <p:ext uri="{BB962C8B-B14F-4D97-AF65-F5344CB8AC3E}">
        <p14:creationId xmlns:p14="http://schemas.microsoft.com/office/powerpoint/2010/main" val="14848628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 Study - Analysis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High business value</a:t>
            </a:r>
          </a:p>
          <a:p>
            <a:r>
              <a:t>Low technical quality</a:t>
            </a:r>
          </a:p>
          <a:p>
            <a:r>
              <a:t>Critical need for modernization</a:t>
            </a:r>
          </a:p>
        </p:txBody>
      </p:sp>
    </p:spTree>
    <p:extLst>
      <p:ext uri="{BB962C8B-B14F-4D97-AF65-F5344CB8AC3E}">
        <p14:creationId xmlns:p14="http://schemas.microsoft.com/office/powerpoint/2010/main" val="4616113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 Study -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algn="just"/>
            <a:r>
              <a:t>Re-engineered using service-oriented architecture</a:t>
            </a:r>
          </a:p>
          <a:p>
            <a:r>
              <a:t>Exposed core functions as APIs</a:t>
            </a:r>
          </a:p>
          <a:p>
            <a:r>
              <a:t>Enabled web and mobile access</a:t>
            </a:r>
          </a:p>
        </p:txBody>
      </p:sp>
    </p:spTree>
    <p:extLst>
      <p:ext uri="{BB962C8B-B14F-4D97-AF65-F5344CB8AC3E}">
        <p14:creationId xmlns:p14="http://schemas.microsoft.com/office/powerpoint/2010/main" val="11267465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 Study -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Improved scalability</a:t>
            </a:r>
          </a:p>
          <a:p>
            <a:r>
              <a:t>Reduced maintenance costs</a:t>
            </a:r>
          </a:p>
          <a:p>
            <a:r>
              <a:t>Extended system life</a:t>
            </a:r>
          </a:p>
        </p:txBody>
      </p:sp>
    </p:spTree>
    <p:extLst>
      <p:ext uri="{BB962C8B-B14F-4D97-AF65-F5344CB8AC3E}">
        <p14:creationId xmlns:p14="http://schemas.microsoft.com/office/powerpoint/2010/main" val="16059632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309</TotalTime>
  <Words>1753</Words>
  <Application>Microsoft Office PowerPoint</Application>
  <PresentationFormat>On-screen Show (4:3)</PresentationFormat>
  <Paragraphs>241</Paragraphs>
  <Slides>35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8" baseType="lpstr">
      <vt:lpstr>Arial</vt:lpstr>
      <vt:lpstr>Calibri</vt:lpstr>
      <vt:lpstr>Office Theme</vt:lpstr>
      <vt:lpstr>Chapter 2: Legacy system Analysis</vt:lpstr>
      <vt:lpstr>Legacy Systems Overview</vt:lpstr>
      <vt:lpstr>What Are Legacy Systems?</vt:lpstr>
      <vt:lpstr>Key Characteristics</vt:lpstr>
      <vt:lpstr>Components of a Legacy System</vt:lpstr>
      <vt:lpstr>Options for Dealing with Legacy Systems</vt:lpstr>
      <vt:lpstr>Legacy vs Modern Architecture</vt:lpstr>
      <vt:lpstr>Case Study - University Management System (Before)</vt:lpstr>
      <vt:lpstr>Case Study - Transition Process</vt:lpstr>
      <vt:lpstr>Case Study - University Management System (After)</vt:lpstr>
      <vt:lpstr>Case Study - Outcomes</vt:lpstr>
      <vt:lpstr>Business Value of Legacy Systems</vt:lpstr>
      <vt:lpstr>PowerPoint Presentation</vt:lpstr>
      <vt:lpstr>PowerPoint Presentation</vt:lpstr>
      <vt:lpstr>Legacy system Analysis Approaches</vt:lpstr>
      <vt:lpstr>1. Business Process Analysis</vt:lpstr>
      <vt:lpstr>2. Data Analysis</vt:lpstr>
      <vt:lpstr>3. Code Analysis</vt:lpstr>
      <vt:lpstr>4. Architecture Analysis</vt:lpstr>
      <vt:lpstr>5. User/Stakeholder Interviews</vt:lpstr>
      <vt:lpstr>6. Performance and Usage Analysis</vt:lpstr>
      <vt:lpstr>Legacy System Assessment - Overview</vt:lpstr>
      <vt:lpstr>Key Dimensions of Assessment</vt:lpstr>
      <vt:lpstr>PowerPoint Presentation</vt:lpstr>
      <vt:lpstr>PowerPoint Presentation</vt:lpstr>
      <vt:lpstr>Assessment Outcomes</vt:lpstr>
      <vt:lpstr>Legacy System Assessment Matrix</vt:lpstr>
      <vt:lpstr>Case Study: Bank Mainframe Core Banking System</vt:lpstr>
      <vt:lpstr>PowerPoint Presentation</vt:lpstr>
      <vt:lpstr>PowerPoint Presentation</vt:lpstr>
      <vt:lpstr>Case Study - Airline Reservation System (Background)</vt:lpstr>
      <vt:lpstr>Case Study - Challenges</vt:lpstr>
      <vt:lpstr>Case Study - Analysis Results</vt:lpstr>
      <vt:lpstr>Case Study - Solution</vt:lpstr>
      <vt:lpstr>Case Study - Outcomes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2: Software Evolution &amp; Maintenance</dc:title>
  <dc:subject/>
  <dc:creator>Rafia Naz</dc:creator>
  <cp:keywords/>
  <dc:description>generated using python-pptx</dc:description>
  <cp:lastModifiedBy>Rafia Naz</cp:lastModifiedBy>
  <cp:revision>21</cp:revision>
  <dcterms:created xsi:type="dcterms:W3CDTF">2013-01-27T09:14:16Z</dcterms:created>
  <dcterms:modified xsi:type="dcterms:W3CDTF">2025-10-07T05:37:33Z</dcterms:modified>
  <cp:category/>
</cp:coreProperties>
</file>