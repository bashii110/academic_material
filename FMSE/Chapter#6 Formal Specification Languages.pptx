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1" r:id="rId4"/>
    <p:sldMasterId id="2147483733" r:id="rId5"/>
    <p:sldMasterId id="2147483747" r:id="rId6"/>
    <p:sldMasterId id="2147483757" r:id="rId7"/>
  </p:sldMasterIdLst>
  <p:notesMasterIdLst>
    <p:notesMasterId r:id="rId155"/>
  </p:notesMasterIdLst>
  <p:sldIdLst>
    <p:sldId id="337" r:id="rId8"/>
    <p:sldId id="338" r:id="rId9"/>
    <p:sldId id="339" r:id="rId10"/>
    <p:sldId id="340" r:id="rId11"/>
    <p:sldId id="342" r:id="rId12"/>
    <p:sldId id="343" r:id="rId13"/>
    <p:sldId id="344" r:id="rId14"/>
    <p:sldId id="345" r:id="rId15"/>
    <p:sldId id="346" r:id="rId16"/>
    <p:sldId id="347" r:id="rId17"/>
    <p:sldId id="348" r:id="rId18"/>
    <p:sldId id="349" r:id="rId19"/>
    <p:sldId id="350" r:id="rId20"/>
    <p:sldId id="351" r:id="rId21"/>
    <p:sldId id="359" r:id="rId22"/>
    <p:sldId id="360" r:id="rId23"/>
    <p:sldId id="361" r:id="rId24"/>
    <p:sldId id="362" r:id="rId25"/>
    <p:sldId id="363" r:id="rId26"/>
    <p:sldId id="352" r:id="rId27"/>
    <p:sldId id="353" r:id="rId28"/>
    <p:sldId id="354" r:id="rId29"/>
    <p:sldId id="355" r:id="rId30"/>
    <p:sldId id="356" r:id="rId31"/>
    <p:sldId id="357" r:id="rId32"/>
    <p:sldId id="358" r:id="rId33"/>
    <p:sldId id="364" r:id="rId34"/>
    <p:sldId id="365" r:id="rId35"/>
    <p:sldId id="366" r:id="rId36"/>
    <p:sldId id="367" r:id="rId37"/>
    <p:sldId id="368"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91" r:id="rId59"/>
    <p:sldId id="392" r:id="rId60"/>
    <p:sldId id="393" r:id="rId61"/>
    <p:sldId id="394" r:id="rId62"/>
    <p:sldId id="395" r:id="rId63"/>
    <p:sldId id="396" r:id="rId64"/>
    <p:sldId id="397" r:id="rId65"/>
    <p:sldId id="398" r:id="rId66"/>
    <p:sldId id="399" r:id="rId67"/>
    <p:sldId id="400" r:id="rId68"/>
    <p:sldId id="401" r:id="rId69"/>
    <p:sldId id="402" r:id="rId70"/>
    <p:sldId id="403" r:id="rId71"/>
    <p:sldId id="404" r:id="rId72"/>
    <p:sldId id="405" r:id="rId73"/>
    <p:sldId id="406" r:id="rId74"/>
    <p:sldId id="407" r:id="rId75"/>
    <p:sldId id="408" r:id="rId76"/>
    <p:sldId id="409" r:id="rId77"/>
    <p:sldId id="410" r:id="rId78"/>
    <p:sldId id="411" r:id="rId79"/>
    <p:sldId id="412" r:id="rId80"/>
    <p:sldId id="413" r:id="rId81"/>
    <p:sldId id="414" r:id="rId82"/>
    <p:sldId id="415" r:id="rId83"/>
    <p:sldId id="416" r:id="rId84"/>
    <p:sldId id="417" r:id="rId85"/>
    <p:sldId id="418" r:id="rId86"/>
    <p:sldId id="419" r:id="rId87"/>
    <p:sldId id="420" r:id="rId88"/>
    <p:sldId id="423" r:id="rId89"/>
    <p:sldId id="424" r:id="rId90"/>
    <p:sldId id="425" r:id="rId91"/>
    <p:sldId id="426" r:id="rId92"/>
    <p:sldId id="427" r:id="rId93"/>
    <p:sldId id="428" r:id="rId94"/>
    <p:sldId id="429" r:id="rId95"/>
    <p:sldId id="430" r:id="rId96"/>
    <p:sldId id="431" r:id="rId97"/>
    <p:sldId id="432" r:id="rId98"/>
    <p:sldId id="433" r:id="rId99"/>
    <p:sldId id="434" r:id="rId100"/>
    <p:sldId id="435" r:id="rId101"/>
    <p:sldId id="436" r:id="rId102"/>
    <p:sldId id="437" r:id="rId103"/>
    <p:sldId id="438" r:id="rId104"/>
    <p:sldId id="439" r:id="rId105"/>
    <p:sldId id="440" r:id="rId106"/>
    <p:sldId id="441" r:id="rId107"/>
    <p:sldId id="442" r:id="rId108"/>
    <p:sldId id="443" r:id="rId109"/>
    <p:sldId id="444" r:id="rId110"/>
    <p:sldId id="445" r:id="rId111"/>
    <p:sldId id="446" r:id="rId112"/>
    <p:sldId id="447" r:id="rId113"/>
    <p:sldId id="448" r:id="rId114"/>
    <p:sldId id="449" r:id="rId115"/>
    <p:sldId id="450" r:id="rId116"/>
    <p:sldId id="451" r:id="rId117"/>
    <p:sldId id="452" r:id="rId118"/>
    <p:sldId id="453" r:id="rId119"/>
    <p:sldId id="454" r:id="rId120"/>
    <p:sldId id="455" r:id="rId121"/>
    <p:sldId id="456" r:id="rId122"/>
    <p:sldId id="457" r:id="rId123"/>
    <p:sldId id="458" r:id="rId124"/>
    <p:sldId id="459" r:id="rId125"/>
    <p:sldId id="460" r:id="rId126"/>
    <p:sldId id="461" r:id="rId127"/>
    <p:sldId id="462" r:id="rId128"/>
    <p:sldId id="463" r:id="rId129"/>
    <p:sldId id="464" r:id="rId130"/>
    <p:sldId id="465" r:id="rId131"/>
    <p:sldId id="470" r:id="rId132"/>
    <p:sldId id="471" r:id="rId133"/>
    <p:sldId id="472" r:id="rId134"/>
    <p:sldId id="473" r:id="rId135"/>
    <p:sldId id="474" r:id="rId136"/>
    <p:sldId id="475" r:id="rId137"/>
    <p:sldId id="476" r:id="rId138"/>
    <p:sldId id="477" r:id="rId139"/>
    <p:sldId id="478" r:id="rId140"/>
    <p:sldId id="479" r:id="rId141"/>
    <p:sldId id="480" r:id="rId142"/>
    <p:sldId id="481" r:id="rId143"/>
    <p:sldId id="482" r:id="rId144"/>
    <p:sldId id="483" r:id="rId145"/>
    <p:sldId id="484" r:id="rId146"/>
    <p:sldId id="485" r:id="rId147"/>
    <p:sldId id="486" r:id="rId148"/>
    <p:sldId id="487" r:id="rId149"/>
    <p:sldId id="488" r:id="rId150"/>
    <p:sldId id="489" r:id="rId151"/>
    <p:sldId id="490" r:id="rId152"/>
    <p:sldId id="491" r:id="rId153"/>
    <p:sldId id="492" r:id="rId1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00" autoAdjust="0"/>
  </p:normalViewPr>
  <p:slideViewPr>
    <p:cSldViewPr snapToGrid="0">
      <p:cViewPr varScale="1">
        <p:scale>
          <a:sx n="64" d="100"/>
          <a:sy n="64" d="100"/>
        </p:scale>
        <p:origin x="90"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tableStyles" Target="tableStyles.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2.xml"/><Relationship Id="rId95" Type="http://schemas.openxmlformats.org/officeDocument/2006/relationships/slide" Target="slides/slide88.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50" Type="http://schemas.openxmlformats.org/officeDocument/2006/relationships/slide" Target="slides/slide143.xml"/><Relationship Id="rId155" Type="http://schemas.openxmlformats.org/officeDocument/2006/relationships/notesMaster" Target="notesMasters/notesMaster1.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slide" Target="slides/slide133.xml"/><Relationship Id="rId145" Type="http://schemas.openxmlformats.org/officeDocument/2006/relationships/slide" Target="slides/slide138.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51" Type="http://schemas.openxmlformats.org/officeDocument/2006/relationships/slide" Target="slides/slide144.xml"/><Relationship Id="rId156" Type="http://schemas.openxmlformats.org/officeDocument/2006/relationships/presProps" Target="presProps.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slide" Target="slides/slide139.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viewProps" Target="viewProps.xml"/><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slide" Target="slides/slide14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7488" y="812800"/>
            <a:ext cx="7124700" cy="4008438"/>
          </a:xfrm>
          <a:prstGeom prst="rect">
            <a:avLst/>
          </a:prstGeom>
        </p:spPr>
        <p:txBody>
          <a:bodyPr lIns="0" tIns="0" rIns="0" bIns="0" anchor="ctr"/>
          <a:lstStyle/>
          <a:p>
            <a:pPr algn="ctr"/>
            <a:r>
              <a:rPr lang="en-US" sz="4400" b="0" strike="noStrike" spc="-1" dirty="0">
                <a:latin typeface="Arial"/>
              </a:rPr>
              <a:t>Click to move the slide</a:t>
            </a:r>
          </a:p>
        </p:txBody>
      </p:sp>
      <p:sp>
        <p:nvSpPr>
          <p:cNvPr id="85"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a:rPr>
              <a:t>Click to edit the notes format</a:t>
            </a:r>
          </a:p>
        </p:txBody>
      </p:sp>
      <p:sp>
        <p:nvSpPr>
          <p:cNvPr id="86"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dirty="0">
                <a:latin typeface="Times New Roman"/>
              </a:rPr>
              <a:t> </a:t>
            </a:r>
          </a:p>
        </p:txBody>
      </p:sp>
      <p:sp>
        <p:nvSpPr>
          <p:cNvPr id="87"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dirty="0">
                <a:latin typeface="Times New Roman"/>
              </a:rPr>
              <a:t> </a:t>
            </a:r>
          </a:p>
        </p:txBody>
      </p:sp>
      <p:sp>
        <p:nvSpPr>
          <p:cNvPr id="88"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dirty="0">
                <a:latin typeface="Times New Roman"/>
              </a:rPr>
              <a:t> </a:t>
            </a:r>
          </a:p>
        </p:txBody>
      </p:sp>
      <p:sp>
        <p:nvSpPr>
          <p:cNvPr id="89" name="PlaceHolder 6"/>
          <p:cNvSpPr>
            <a:spLocks noGrp="1"/>
          </p:cNvSpPr>
          <p:nvPr>
            <p:ph type="sldNum"/>
          </p:nvPr>
        </p:nvSpPr>
        <p:spPr>
          <a:xfrm>
            <a:off x="4278960" y="10157400"/>
            <a:ext cx="3280680" cy="534240"/>
          </a:xfrm>
          <a:prstGeom prst="rect">
            <a:avLst/>
          </a:prstGeom>
        </p:spPr>
        <p:txBody>
          <a:bodyPr lIns="0" tIns="0" rIns="0" bIns="0" anchor="b"/>
          <a:lstStyle/>
          <a:p>
            <a:pPr algn="r"/>
            <a:fld id="{4EE713C5-4F38-4B67-8FCD-638F4DC104C3}" type="slidenum">
              <a:rPr lang="en-US" sz="1400" b="0" strike="noStrike" spc="-1">
                <a:latin typeface="Times New Roman"/>
              </a:rPr>
              <a:t>‹#›</a:t>
            </a:fld>
            <a:endParaRPr lang="en-US" sz="1400" b="0" strike="noStrike" spc="-1" dirty="0">
              <a:latin typeface="Times New Roman"/>
            </a:endParaRPr>
          </a:p>
        </p:txBody>
      </p:sp>
    </p:spTree>
    <p:extLst>
      <p:ext uri="{BB962C8B-B14F-4D97-AF65-F5344CB8AC3E}">
        <p14:creationId xmlns:p14="http://schemas.microsoft.com/office/powerpoint/2010/main" val="308859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4EE713C5-4F38-4B67-8FCD-638F4DC104C3}" type="slidenum">
              <a:rPr lang="en-US" sz="1400" b="0" strike="noStrike" spc="-1" smtClean="0">
                <a:latin typeface="Times New Roman"/>
              </a:rPr>
              <a:t>27</a:t>
            </a:fld>
            <a:endParaRPr lang="en-US" sz="1400" b="0" strike="noStrike" spc="-1" dirty="0">
              <a:latin typeface="Times New Roman"/>
            </a:endParaRPr>
          </a:p>
        </p:txBody>
      </p:sp>
    </p:spTree>
    <p:extLst>
      <p:ext uri="{BB962C8B-B14F-4D97-AF65-F5344CB8AC3E}">
        <p14:creationId xmlns:p14="http://schemas.microsoft.com/office/powerpoint/2010/main" val="301085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4EE713C5-4F38-4B67-8FCD-638F4DC104C3}" type="slidenum">
              <a:rPr lang="en-US" sz="1400" b="0" strike="noStrike" spc="-1" smtClean="0">
                <a:latin typeface="Times New Roman"/>
              </a:rPr>
              <a:t>28</a:t>
            </a:fld>
            <a:endParaRPr lang="en-US" sz="1400" b="0" strike="noStrike" spc="-1" dirty="0">
              <a:latin typeface="Times New Roman"/>
            </a:endParaRPr>
          </a:p>
        </p:txBody>
      </p:sp>
    </p:spTree>
    <p:extLst>
      <p:ext uri="{BB962C8B-B14F-4D97-AF65-F5344CB8AC3E}">
        <p14:creationId xmlns:p14="http://schemas.microsoft.com/office/powerpoint/2010/main" val="301085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4EE713C5-4F38-4B67-8FCD-638F4DC104C3}" type="slidenum">
              <a:rPr lang="en-US" sz="1400" b="0" strike="noStrike" spc="-1" smtClean="0">
                <a:latin typeface="Times New Roman"/>
              </a:rPr>
              <a:t>29</a:t>
            </a:fld>
            <a:endParaRPr lang="en-US" sz="1400" b="0" strike="noStrike" spc="-1" dirty="0">
              <a:latin typeface="Times New Roman"/>
            </a:endParaRPr>
          </a:p>
        </p:txBody>
      </p:sp>
    </p:spTree>
    <p:extLst>
      <p:ext uri="{BB962C8B-B14F-4D97-AF65-F5344CB8AC3E}">
        <p14:creationId xmlns:p14="http://schemas.microsoft.com/office/powerpoint/2010/main" val="301085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fld id="{4EE713C5-4F38-4B67-8FCD-638F4DC104C3}" type="slidenum">
              <a:rPr lang="en-US" sz="1400" b="0" strike="noStrike" spc="-1" smtClean="0">
                <a:latin typeface="Times New Roman"/>
              </a:rPr>
              <a:t>30</a:t>
            </a:fld>
            <a:endParaRPr lang="en-US" sz="1400" b="0" strike="noStrike" spc="-1" dirty="0">
              <a:latin typeface="Times New Roman"/>
            </a:endParaRPr>
          </a:p>
        </p:txBody>
      </p:sp>
    </p:spTree>
    <p:extLst>
      <p:ext uri="{BB962C8B-B14F-4D97-AF65-F5344CB8AC3E}">
        <p14:creationId xmlns:p14="http://schemas.microsoft.com/office/powerpoint/2010/main" val="301085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AF466F-BDA4-4F18-9C7B-FF0A9A1B0E80}" type="datetime1">
              <a:rPr lang="en-US" smtClean="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F607B-A47E-422C-9BEF-122CCDB7C526}" type="datetime1">
              <a:rPr lang="en-US" smtClean="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4"/>
          <p:cNvSpPr>
            <a:spLocks/>
          </p:cNvSpPr>
          <p:nvPr/>
        </p:nvSpPr>
        <p:spPr bwMode="hidden">
          <a:xfrm>
            <a:off x="8063251"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8"/>
          <p:cNvSpPr>
            <a:spLocks/>
          </p:cNvSpPr>
          <p:nvPr/>
        </p:nvSpPr>
        <p:spPr bwMode="hidden">
          <a:xfrm>
            <a:off x="3492427"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6"/>
          <p:cNvSpPr>
            <a:spLocks/>
          </p:cNvSpPr>
          <p:nvPr/>
        </p:nvSpPr>
        <p:spPr bwMode="hidden">
          <a:xfrm>
            <a:off x="7479319" y="4074175"/>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9A7CB-BEE6-4F99-898E-913F06E8E125}" type="datetime1">
              <a:rPr lang="en-US" smtClean="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6EE300C-6FC5-4FC3-AF1A-075E4F50620D}" type="datetime1">
              <a:rPr lang="en-US" smtClean="0"/>
              <a:pPr/>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9" name="Content Placeholder 8"/>
          <p:cNvSpPr>
            <a:spLocks noGrp="1"/>
          </p:cNvSpPr>
          <p:nvPr>
            <p:ph sz="quarter" idx="13"/>
          </p:nvPr>
        </p:nvSpPr>
        <p:spPr>
          <a:xfrm>
            <a:off x="902207"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03110" y="3429001"/>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3429001"/>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0D295D-4A77-4DEB-B04C-9F4282A8BC04}" type="datetime1">
              <a:rPr lang="en-US" smtClean="0"/>
              <a:pPr/>
              <a:t>1/30/2025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B28685-4D0C-42D5-8013-B5904CD1FCBC}" type="datetime1">
              <a:rPr lang="en-US" smtClean="0"/>
              <a:pPr/>
              <a:t>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Date Placeholder 1"/>
          <p:cNvSpPr>
            <a:spLocks noGrp="1"/>
          </p:cNvSpPr>
          <p:nvPr>
            <p:ph type="dt" sz="half" idx="10"/>
          </p:nvPr>
        </p:nvSpPr>
        <p:spPr/>
        <p:txBody>
          <a:bodyPr/>
          <a:lstStyle/>
          <a:p>
            <a:fld id="{FDF226C0-9885-4BA9-BBFA-A52CBFEBB775}" type="datetime1">
              <a:rPr lang="en-US" smtClean="0"/>
              <a:pPr/>
              <a:t>1/30/2025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EBEE1B38-C5EB-4D66-9137-0AFE9CDEDE8F}" type="datetime1">
              <a:rPr lang="en-US" smtClean="0"/>
              <a:pPr/>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4" name="Text Placeholder 3"/>
          <p:cNvSpPr>
            <a:spLocks noGrp="1"/>
          </p:cNvSpPr>
          <p:nvPr>
            <p:ph type="body" sz="half" idx="2"/>
          </p:nvPr>
        </p:nvSpPr>
        <p:spPr>
          <a:xfrm>
            <a:off x="1219200" y="3581401"/>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02616"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title"/>
          </p:nvPr>
        </p:nvSpPr>
        <p:spPr>
          <a:xfrm>
            <a:off x="6498874" y="338667"/>
            <a:ext cx="5083527"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491112"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7B613C-1AD7-49D3-885D-F654C5CDBAA6}" type="datetime1">
              <a:rPr lang="en-US" smtClean="0"/>
              <a:pPr/>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FB4290-6522-4139-852E-05BD9E7F0D2E}" type="datetime1">
              <a:rPr lang="en-US" smtClean="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AAB955F9-81EA-47C5-8059-9E5C2B437C70}" type="datetime1">
              <a:rPr lang="en-US" smtClean="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Vertical Title 1"/>
          <p:cNvSpPr>
            <a:spLocks noGrp="1"/>
          </p:cNvSpPr>
          <p:nvPr>
            <p:ph type="title" orient="vert"/>
          </p:nvPr>
        </p:nvSpPr>
        <p:spPr>
          <a:xfrm>
            <a:off x="8839200" y="1447801"/>
            <a:ext cx="27432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4009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solidFill>
                  <a:srgbClr val="FFFFFF"/>
                </a:solidFill>
              </a:endParaRPr>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38865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r>
              <a:rPr lang="en-US"/>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856257168"/>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Tree>
    <p:extLst>
      <p:ext uri="{BB962C8B-B14F-4D97-AF65-F5344CB8AC3E}">
        <p14:creationId xmlns:p14="http://schemas.microsoft.com/office/powerpoint/2010/main" val="141902780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751950841"/>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19721360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a:solidFill>
                  <a:srgbClr val="000000"/>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solidFill>
                  <a:srgbClr val="FFFFFF"/>
                </a:solidFill>
              </a:endParaRPr>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Tree>
    <p:extLst>
      <p:ext uri="{BB962C8B-B14F-4D97-AF65-F5344CB8AC3E}">
        <p14:creationId xmlns:p14="http://schemas.microsoft.com/office/powerpoint/2010/main" val="17040364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solidFill>
                  <a:srgbClr val="FFFFFF"/>
                </a:solidFill>
              </a:endParaRPr>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75825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7194269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7106552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a:lstStyle/>
          <a:p>
            <a:r>
              <a:rPr lang="en-US">
                <a:solidFill>
                  <a:srgbClr val="000000"/>
                </a:solidFill>
              </a:rPr>
              <a:t>Annual Review</a:t>
            </a:r>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8896121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a:lstStyle/>
          <a:p>
            <a:r>
              <a:rPr lang="en-US">
                <a:solidFill>
                  <a:srgbClr val="000000"/>
                </a:solidFill>
              </a:rPr>
              <a:t>Annual Review</a:t>
            </a:r>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993754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solidFill>
                  <a:srgbClr val="FFFFFF"/>
                </a:solidFill>
              </a:endParaRPr>
            </a:p>
          </p:txBody>
        </p:sp>
      </p:grpSp>
    </p:spTree>
    <p:extLst>
      <p:ext uri="{BB962C8B-B14F-4D97-AF65-F5344CB8AC3E}">
        <p14:creationId xmlns:p14="http://schemas.microsoft.com/office/powerpoint/2010/main" val="2484510617"/>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pPr/>
              <a:t>1/30/2025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solidFill>
                <a:prstClr val="black">
                  <a:lumMod val="85000"/>
                  <a:lumOff val="15000"/>
                </a:prstClr>
              </a:solidFill>
            </a:endParaRPr>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4179722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dirty="0">
              <a:solidFill>
                <a:prstClr val="black">
                  <a:lumMod val="85000"/>
                  <a:lumOff val="15000"/>
                </a:prstClr>
              </a:solidFill>
            </a:endParaRPr>
          </a:p>
        </p:txBody>
      </p:sp>
      <p:sp>
        <p:nvSpPr>
          <p:cNvPr id="6" name="Slide Number Placeholder 5"/>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7614818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pPr/>
              <a:t>1/30/2025</a:t>
            </a:fld>
            <a:endParaRPr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solidFill>
                <a:prstClr val="black">
                  <a:lumMod val="85000"/>
                  <a:lumOff val="15000"/>
                </a:prstClr>
              </a:solidFill>
            </a:endParaRPr>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22695062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dirty="0">
              <a:solidFill>
                <a:prstClr val="black">
                  <a:lumMod val="85000"/>
                  <a:lumOff val="15000"/>
                </a:prstClr>
              </a:solidFill>
            </a:endParaRPr>
          </a:p>
        </p:txBody>
      </p:sp>
      <p:sp>
        <p:nvSpPr>
          <p:cNvPr id="7" name="Slide Number Placeholder 6"/>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1958820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dirty="0">
              <a:solidFill>
                <a:prstClr val="black">
                  <a:lumMod val="85000"/>
                  <a:lumOff val="15000"/>
                </a:prstClr>
              </a:solidFill>
            </a:endParaRPr>
          </a:p>
        </p:txBody>
      </p:sp>
      <p:sp>
        <p:nvSpPr>
          <p:cNvPr id="9" name="Slide Number Placeholder 8"/>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9461880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5568284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dirty="0">
              <a:solidFill>
                <a:prstClr val="black">
                  <a:lumMod val="85000"/>
                  <a:lumOff val="15000"/>
                </a:prstClr>
              </a:solidFill>
            </a:endParaRPr>
          </a:p>
        </p:txBody>
      </p:sp>
      <p:sp>
        <p:nvSpPr>
          <p:cNvPr id="4" name="Slide Number Placeholder 3"/>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11367825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solidFill>
                  <a:prstClr val="black">
                    <a:lumMod val="85000"/>
                    <a:lumOff val="15000"/>
                  </a:prstClr>
                </a:solidFill>
              </a:rPr>
              <a:pPr/>
              <a:t>1/30/2025</a:t>
            </a:fld>
            <a:endParaRPr lang="en-US" dirty="0">
              <a:solidFill>
                <a:prstClr val="black">
                  <a:lumMod val="85000"/>
                  <a:lumOff val="15000"/>
                </a:prstClr>
              </a:solidFill>
            </a:endParaRP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solidFill>
                <a:prstClr val="black">
                  <a:lumMod val="85000"/>
                  <a:lumOff val="15000"/>
                </a:prstClr>
              </a:solidFill>
            </a:endParaRP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7801589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1/30/2025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347294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pPr/>
              <a:t>1/30/2025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solidFill>
                <a:prstClr val="black">
                  <a:lumMod val="85000"/>
                  <a:lumOff val="15000"/>
                </a:prstClr>
              </a:solidFill>
            </a:endParaRPr>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5065547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dirty="0">
              <a:solidFill>
                <a:prstClr val="black">
                  <a:lumMod val="85000"/>
                  <a:lumOff val="15000"/>
                </a:prstClr>
              </a:solidFill>
            </a:endParaRPr>
          </a:p>
        </p:txBody>
      </p:sp>
      <p:sp>
        <p:nvSpPr>
          <p:cNvPr id="6" name="Slide Number Placeholder 5"/>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39783673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345"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pPr/>
              <a:t>1/30/2025</a:t>
            </a:fld>
            <a:endParaRPr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solidFill>
                <a:prstClr val="black">
                  <a:lumMod val="85000"/>
                  <a:lumOff val="15000"/>
                </a:prstClr>
              </a:solidFill>
            </a:endParaRPr>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754982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dirty="0">
              <a:solidFill>
                <a:prstClr val="black">
                  <a:lumMod val="85000"/>
                  <a:lumOff val="15000"/>
                </a:prstClr>
              </a:solidFill>
            </a:endParaRPr>
          </a:p>
        </p:txBody>
      </p:sp>
      <p:sp>
        <p:nvSpPr>
          <p:cNvPr id="7" name="Slide Number Placeholder 6"/>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2386410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dirty="0">
              <a:solidFill>
                <a:prstClr val="black">
                  <a:lumMod val="85000"/>
                  <a:lumOff val="15000"/>
                </a:prstClr>
              </a:solidFill>
            </a:endParaRPr>
          </a:p>
        </p:txBody>
      </p:sp>
      <p:sp>
        <p:nvSpPr>
          <p:cNvPr id="9" name="Slide Number Placeholder 8"/>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37367155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1120449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dirty="0">
              <a:solidFill>
                <a:prstClr val="black">
                  <a:lumMod val="85000"/>
                  <a:lumOff val="15000"/>
                </a:prstClr>
              </a:solidFill>
            </a:endParaRPr>
          </a:p>
        </p:txBody>
      </p:sp>
      <p:sp>
        <p:nvSpPr>
          <p:cNvPr id="4" name="Slide Number Placeholder 3"/>
          <p:cNvSpPr>
            <a:spLocks noGrp="1"/>
          </p:cNvSpPr>
          <p:nvPr>
            <p:ph type="sldNum" sz="quarter" idx="12"/>
          </p:nvPr>
        </p:nvSpPr>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36042898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solidFill>
                  <a:prstClr val="black">
                    <a:lumMod val="85000"/>
                    <a:lumOff val="15000"/>
                  </a:prstClr>
                </a:solidFill>
              </a:rPr>
              <a:pPr/>
              <a:t>1/30/2025</a:t>
            </a:fld>
            <a:endParaRPr lang="en-US" dirty="0">
              <a:solidFill>
                <a:prstClr val="black">
                  <a:lumMod val="85000"/>
                  <a:lumOff val="15000"/>
                </a:prstClr>
              </a:solidFill>
            </a:endParaRP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solidFill>
                <a:prstClr val="black">
                  <a:lumMod val="85000"/>
                  <a:lumOff val="15000"/>
                </a:prstClr>
              </a:solidFill>
            </a:endParaRP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solidFill>
                  <a:prstClr val="black">
                    <a:lumMod val="85000"/>
                    <a:lumOff val="15000"/>
                  </a:prstClr>
                </a:solidFill>
              </a:rPr>
              <a:pPr/>
              <a:t>‹#›</a:t>
            </a:fld>
            <a:endParaRPr lang="en-US" dirty="0">
              <a:solidFill>
                <a:prstClr val="black">
                  <a:lumMod val="85000"/>
                  <a:lumOff val="15000"/>
                </a:prstClr>
              </a:solidFill>
            </a:endParaRPr>
          </a:p>
        </p:txBody>
      </p:sp>
    </p:spTree>
    <p:extLst>
      <p:ext uri="{BB962C8B-B14F-4D97-AF65-F5344CB8AC3E}">
        <p14:creationId xmlns:p14="http://schemas.microsoft.com/office/powerpoint/2010/main" val="2995164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1/30/2025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
        <p:nvSpPr>
          <p:cNvPr id="12" name="Rectangle 11"/>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1253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theme" Target="../theme/theme3.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10" Type="http://schemas.openxmlformats.org/officeDocument/2006/relationships/theme" Target="../theme/theme4.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6884896" y="6250165"/>
            <a:ext cx="5048920" cy="365125"/>
          </a:xfrm>
          <a:prstGeom prst="rect">
            <a:avLst/>
          </a:prstGeom>
        </p:spPr>
        <p:txBody>
          <a:bodyPr vert="horz" lIns="91440" tIns="45720" rIns="91440" bIns="45720" rtlCol="0" anchor="ctr"/>
          <a:lstStyle>
            <a:lvl1pPr algn="r">
              <a:defRPr sz="1000">
                <a:solidFill>
                  <a:schemeClr val="tx2"/>
                </a:solidFill>
              </a:defRPr>
            </a:lvl1pPr>
          </a:lstStyle>
          <a:p>
            <a:fld id="{327B613C-1AD7-49D3-885D-F654C5CDBAA6}" type="datetime1">
              <a:rPr lang="en-US" smtClean="0"/>
              <a:pPr/>
              <a:t>1/30/2025</a:t>
            </a:fld>
            <a:endParaRPr lang="en-US" dirty="0"/>
          </a:p>
        </p:txBody>
      </p:sp>
      <p:sp>
        <p:nvSpPr>
          <p:cNvPr id="5" name="Footer Placeholder 4"/>
          <p:cNvSpPr>
            <a:spLocks noGrp="1"/>
          </p:cNvSpPr>
          <p:nvPr>
            <p:ph type="ftr" sz="quarter" idx="3"/>
          </p:nvPr>
        </p:nvSpPr>
        <p:spPr>
          <a:xfrm>
            <a:off x="258185" y="6250165"/>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5321451" y="6250164"/>
            <a:ext cx="1549101" cy="365125"/>
          </a:xfrm>
          <a:prstGeom prst="rect">
            <a:avLst/>
          </a:prstGeom>
        </p:spPr>
        <p:txBody>
          <a:bodyPr vert="horz" lIns="91440" tIns="45720" rIns="91440" bIns="45720" rtlCol="0" anchor="ctr"/>
          <a:lstStyle>
            <a:lvl1pPr algn="ctr">
              <a:defRPr sz="1000">
                <a:solidFill>
                  <a:schemeClr val="tx2"/>
                </a:solidFill>
              </a:defRPr>
            </a:lvl1pPr>
          </a:lstStyle>
          <a:p>
            <a:fld id="{6E2D2B3B-882E-40F3-A32F-6DD516915044}" type="slidenum">
              <a:rPr lang="en-US" smtClean="0"/>
              <a:pPr/>
              <a:t>‹#›</a:t>
            </a:fld>
            <a:endParaRPr lang="en-US" dirty="0"/>
          </a:p>
        </p:txBody>
      </p:sp>
      <p:sp>
        <p:nvSpPr>
          <p:cNvPr id="3" name="Text Placeholder 2"/>
          <p:cNvSpPr>
            <a:spLocks noGrp="1"/>
          </p:cNvSpPr>
          <p:nvPr>
            <p:ph type="body" idx="1"/>
          </p:nvPr>
        </p:nvSpPr>
        <p:spPr>
          <a:xfrm>
            <a:off x="1162757" y="2675467"/>
            <a:ext cx="9877777"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FCA8E82-58CD-E045-8B98-B7A85B79B752}" type="datetime4">
              <a:rPr lang="en-US" smtClean="0">
                <a:solidFill>
                  <a:srgbClr val="000000"/>
                </a:solidFill>
              </a:rPr>
              <a:pPr/>
              <a:t>January 30, 2025</a:t>
            </a:fld>
            <a:endParaRPr lang="en-US">
              <a:solidFill>
                <a:srgbClr val="000000"/>
              </a:solidFill>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a:solidFill>
                  <a:srgbClr val="000000"/>
                </a:solidFill>
              </a:rPr>
              <a:t>Annual Review</a:t>
            </a: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816889813"/>
      </p:ext>
    </p:extLst>
  </p:cSld>
  <p:clrMap bg1="dk1" tx1="lt1" bg2="dk2"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solidFill>
                <a:prstClr val="black">
                  <a:lumMod val="85000"/>
                  <a:lumOff val="15000"/>
                </a:prstClr>
              </a:solidFill>
            </a:endParaRPr>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606912845"/>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solidFill>
                  <a:prstClr val="black">
                    <a:lumMod val="75000"/>
                    <a:lumOff val="25000"/>
                  </a:prstClr>
                </a:solidFill>
              </a:rPr>
              <a:pPr/>
              <a:t>1/30/2025</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solidFill>
                <a:prstClr val="black">
                  <a:lumMod val="85000"/>
                  <a:lumOff val="15000"/>
                </a:prstClr>
              </a:solidFill>
            </a:endParaRPr>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solidFill>
                  <a:prstClr val="black">
                    <a:lumMod val="75000"/>
                    <a:lumOff val="25000"/>
                  </a:prstClr>
                </a:solidFill>
              </a:rPr>
              <a:pPr/>
              <a:t>‹#›</a:t>
            </a:fld>
            <a:endParaRPr lang="en-US" dirty="0">
              <a:solidFill>
                <a:prstClr val="black">
                  <a:lumMod val="75000"/>
                  <a:lumOff val="25000"/>
                </a:prstClr>
              </a:solidFill>
            </a:endParaRPr>
          </a:p>
        </p:txBody>
      </p:sp>
    </p:spTree>
    <p:extLst>
      <p:ext uri="{BB962C8B-B14F-4D97-AF65-F5344CB8AC3E}">
        <p14:creationId xmlns:p14="http://schemas.microsoft.com/office/powerpoint/2010/main" val="2123845861"/>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2" Type="http://schemas.openxmlformats.org/officeDocument/2006/relationships/hyperlink" Target="https://www.key-project.org/applications/program-verification/#Tutorials" TargetMode="External"/><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3.xml"/></Relationships>
</file>

<file path=ppt/slides/_rels/slide10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3.xml"/></Relationships>
</file>

<file path=ppt/slides/_rels/slide10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3.xml"/></Relationships>
</file>

<file path=ppt/slides/_rels/slide10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3.xml"/></Relationships>
</file>

<file path=ppt/slides/_rels/slide1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1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3.xml"/></Relationships>
</file>

<file path=ppt/slides/_rels/slide1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3.xml"/></Relationships>
</file>

<file path=ppt/slides/_rels/slide1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3.xml"/></Relationships>
</file>

<file path=ppt/slides/_rels/slide1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s>
</file>

<file path=ppt/slides/_rels/slide1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5.xml"/></Relationships>
</file>

<file path=ppt/slides/_rels/slide130.xml.rels><?xml version="1.0" encoding="UTF-8" standalone="yes"?>
<Relationships xmlns="http://schemas.openxmlformats.org/package/2006/relationships"><Relationship Id="rId3" Type="http://schemas.openxmlformats.org/officeDocument/2006/relationships/hyperlink" Target="https://alloy.readthedocs.io/en/latest/language/predicates-and-functions.html#predicates" TargetMode="External"/><Relationship Id="rId2" Type="http://schemas.openxmlformats.org/officeDocument/2006/relationships/hyperlink" Target="https://alloy.readthedocs.io/en/latest/language/predicates-and-functions.html#facts" TargetMode="External"/><Relationship Id="rId1" Type="http://schemas.openxmlformats.org/officeDocument/2006/relationships/slideLayout" Target="../slideLayouts/slideLayout35.xml"/><Relationship Id="rId4" Type="http://schemas.openxmlformats.org/officeDocument/2006/relationships/image" Target="../media/image37.png"/></Relationships>
</file>

<file path=ppt/slides/_rels/slide1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1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1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5.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0" lvl="1"/>
            <a:r>
              <a:rPr lang="en-US" sz="2400" b="1" i="1" dirty="0">
                <a:latin typeface="Times New Roman" panose="02020603050405020304" pitchFamily="18" charset="0"/>
                <a:cs typeface="Times New Roman" panose="02020603050405020304" pitchFamily="18" charset="0"/>
              </a:rPr>
              <a:t>Formal Specification Languages? </a:t>
            </a:r>
          </a:p>
          <a:p>
            <a:pPr marL="285750" indent="-285750">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Formal </a:t>
            </a:r>
            <a:r>
              <a:rPr lang="en-US" sz="2400" dirty="0">
                <a:latin typeface="Times New Roman" panose="02020603050405020304" pitchFamily="18" charset="0"/>
                <a:cs typeface="Times New Roman" panose="02020603050405020304" pitchFamily="18" charset="0"/>
              </a:rPr>
              <a:t>specification languages are precise, mathematical languages used to describe the behavior, structure, and properties of software systems. </a:t>
            </a:r>
            <a:endParaRPr lang="en-US" sz="2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provide a rigorous means of expressing system requirements, designs, and behavior</a:t>
            </a:r>
            <a:r>
              <a:rPr lang="en-US" sz="2400" dirty="0" smtClean="0">
                <a:latin typeface="Times New Roman" panose="02020603050405020304" pitchFamily="18" charset="0"/>
                <a:cs typeface="Times New Roman" panose="02020603050405020304" pitchFamily="18" charset="0"/>
              </a:rPr>
              <a:t>.</a:t>
            </a:r>
          </a:p>
          <a:p>
            <a:pPr marL="0" lvl="1"/>
            <a:r>
              <a:rPr lang="en-US" sz="2400" b="1" i="1" dirty="0">
                <a:latin typeface="Times New Roman" panose="02020603050405020304" pitchFamily="18" charset="0"/>
                <a:cs typeface="Times New Roman" panose="02020603050405020304" pitchFamily="18" charset="0"/>
              </a:rPr>
              <a:t>Formal Specification </a:t>
            </a:r>
            <a:r>
              <a:rPr lang="en-US" sz="2400" b="1" i="1" dirty="0" smtClean="0">
                <a:latin typeface="Times New Roman" panose="02020603050405020304" pitchFamily="18" charset="0"/>
                <a:cs typeface="Times New Roman" panose="02020603050405020304" pitchFamily="18" charset="0"/>
              </a:rPr>
              <a:t>Languages </a:t>
            </a:r>
            <a:endParaRPr lang="en-US" sz="2400" b="1" i="1" dirty="0">
              <a:latin typeface="Times New Roman" panose="02020603050405020304" pitchFamily="18" charset="0"/>
              <a:cs typeface="Times New Roman" panose="02020603050405020304" pitchFamily="18" charset="0"/>
            </a:endParaRPr>
          </a:p>
          <a:p>
            <a:r>
              <a:rPr lang="en-US" sz="2400" b="1" dirty="0" smtClean="0">
                <a:solidFill>
                  <a:srgbClr val="FF0000"/>
                </a:solidFill>
                <a:latin typeface="Times New Roman" panose="02020603050405020304" pitchFamily="18" charset="0"/>
                <a:cs typeface="Times New Roman" panose="02020603050405020304" pitchFamily="18" charset="0"/>
              </a:rPr>
              <a:t>Model-based </a:t>
            </a:r>
            <a:r>
              <a:rPr lang="en-US" sz="2400" b="1" dirty="0">
                <a:solidFill>
                  <a:srgbClr val="FF0000"/>
                </a:solidFill>
                <a:latin typeface="Times New Roman" panose="02020603050405020304" pitchFamily="18" charset="0"/>
                <a:cs typeface="Times New Roman" panose="02020603050405020304" pitchFamily="18" charset="0"/>
              </a:rPr>
              <a:t>Specification Languages</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These languages describe the system behavior through models, such as state machines, Petri nets, or UML diagrams.</a:t>
            </a:r>
          </a:p>
          <a:p>
            <a:r>
              <a:rPr lang="en-US" sz="2400" b="1" dirty="0">
                <a:solidFill>
                  <a:srgbClr val="FF0000"/>
                </a:solidFill>
                <a:latin typeface="Times New Roman" panose="02020603050405020304" pitchFamily="18" charset="0"/>
                <a:cs typeface="Times New Roman" panose="02020603050405020304" pitchFamily="18" charset="0"/>
              </a:rPr>
              <a:t>Algebraic Specification Languages</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These languages describe systems using algebraic equations or operations, focusing on data types, operations, and their properties.</a:t>
            </a:r>
          </a:p>
          <a:p>
            <a:r>
              <a:rPr lang="en-US" sz="2400" b="1" dirty="0">
                <a:solidFill>
                  <a:srgbClr val="FF0000"/>
                </a:solidFill>
                <a:latin typeface="Times New Roman" panose="02020603050405020304" pitchFamily="18" charset="0"/>
                <a:cs typeface="Times New Roman" panose="02020603050405020304" pitchFamily="18" charset="0"/>
              </a:rPr>
              <a:t>Logic-based Specification Languages</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These languages describe systems using logical formulas, predicates, and rules, often based on mathematical logic such as first-order logic or temporal logic.</a:t>
            </a:r>
          </a:p>
          <a:p>
            <a:pPr marL="742950" lvl="1" indent="-285750">
              <a:buFont typeface="Wingdings" panose="05000000000000000000" pitchFamily="2" charset="2"/>
              <a:buChar char="v"/>
            </a:pPr>
            <a:endParaRPr lang="en-US" sz="2400" dirty="0" smtClean="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v"/>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62106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a:solidFill>
                  <a:srgbClr val="FF0000"/>
                </a:solidFill>
              </a:rPr>
              <a:t>Examples of Formal Specification Languages</a:t>
            </a:r>
            <a:r>
              <a:rPr lang="en-US" sz="2400" dirty="0">
                <a:solidFill>
                  <a:srgbClr val="FF0000"/>
                </a:solidFill>
              </a:rPr>
              <a:t>:</a:t>
            </a:r>
          </a:p>
          <a:p>
            <a:r>
              <a:rPr lang="en-US" sz="2400" b="1" dirty="0"/>
              <a:t>Z</a:t>
            </a:r>
            <a:r>
              <a:rPr lang="en-US" sz="2400" dirty="0"/>
              <a:t>: Z is a notation based on set theory and first-order logic. It is widely used for specifying the requirements and design of software systems</a:t>
            </a:r>
            <a:r>
              <a:rPr lang="en-US" sz="2400" dirty="0" smtClean="0"/>
              <a:t>.</a:t>
            </a:r>
          </a:p>
          <a:p>
            <a:endParaRPr lang="en-US" sz="2400" dirty="0"/>
          </a:p>
          <a:p>
            <a:r>
              <a:rPr lang="en-US" sz="2400" b="1" dirty="0"/>
              <a:t>VDM (Vienna Development Method)</a:t>
            </a:r>
            <a:r>
              <a:rPr lang="en-US" sz="2400" dirty="0"/>
              <a:t>: VDM is a formal method based on mathematical logic for specifying and modeling systems. It includes languages like VDM-SL (Specification Language) and VDM</a:t>
            </a:r>
            <a:r>
              <a:rPr lang="en-US" sz="2400" dirty="0" smtClean="0"/>
              <a:t>++.</a:t>
            </a:r>
          </a:p>
          <a:p>
            <a:endParaRPr lang="en-US" sz="2400" dirty="0"/>
          </a:p>
          <a:p>
            <a:r>
              <a:rPr lang="en-US" sz="2400" b="1" dirty="0"/>
              <a:t>B Method</a:t>
            </a:r>
            <a:r>
              <a:rPr lang="en-US" sz="2400" dirty="0"/>
              <a:t>: The B Method uses formal specification languages like B and Event-B to describe and model systems, focusing on refinement and proof-based development</a:t>
            </a:r>
            <a:r>
              <a:rPr lang="en-US" sz="2400" dirty="0" smtClean="0"/>
              <a:t>.</a:t>
            </a:r>
          </a:p>
          <a:p>
            <a:endParaRPr lang="en-US" sz="2400" dirty="0"/>
          </a:p>
          <a:p>
            <a:r>
              <a:rPr lang="en-US" sz="2400" b="1" dirty="0"/>
              <a:t>TLA+ (Temporal Logic of Actions)</a:t>
            </a:r>
            <a:r>
              <a:rPr lang="en-US" sz="2400" dirty="0"/>
              <a:t>: TLA+ is a formal specification language for describing concurrent and distributed systems, based on temporal logic. It's known for its expressiveness in specifying complex systems and verifying properties.</a:t>
            </a:r>
          </a:p>
        </p:txBody>
      </p:sp>
    </p:spTree>
    <p:extLst>
      <p:ext uri="{BB962C8B-B14F-4D97-AF65-F5344CB8AC3E}">
        <p14:creationId xmlns:p14="http://schemas.microsoft.com/office/powerpoint/2010/main" val="329337668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a:solidFill>
                  <a:srgbClr val="FF0000"/>
                </a:solidFill>
              </a:rPr>
              <a:t>Benefits of Formal Specification Languages</a:t>
            </a:r>
            <a:r>
              <a:rPr lang="en-US" sz="2400" dirty="0">
                <a:solidFill>
                  <a:srgbClr val="FF0000"/>
                </a:solidFill>
              </a:rPr>
              <a:t>:</a:t>
            </a:r>
          </a:p>
          <a:p>
            <a:r>
              <a:rPr lang="en-US" sz="2400" b="1" dirty="0"/>
              <a:t>Precision</a:t>
            </a:r>
            <a:r>
              <a:rPr lang="en-US" sz="2400" dirty="0"/>
              <a:t>: Formal languages provide precise and unambiguous specifications, reducing ambiguity and improving understanding</a:t>
            </a:r>
            <a:r>
              <a:rPr lang="en-US" sz="2400" dirty="0" smtClean="0"/>
              <a:t>.</a:t>
            </a:r>
          </a:p>
          <a:p>
            <a:endParaRPr lang="en-US" sz="2400" dirty="0"/>
          </a:p>
          <a:p>
            <a:r>
              <a:rPr lang="en-US" sz="2400" b="1" dirty="0"/>
              <a:t>Verification</a:t>
            </a:r>
            <a:r>
              <a:rPr lang="en-US" sz="2400" dirty="0"/>
              <a:t>: Formal specifications enable rigorous analysis and verification of system properties, such as correctness, safety, and liveness</a:t>
            </a:r>
            <a:r>
              <a:rPr lang="en-US" sz="2400" dirty="0" smtClean="0"/>
              <a:t>.</a:t>
            </a:r>
          </a:p>
          <a:p>
            <a:endParaRPr lang="en-US" sz="2400" dirty="0"/>
          </a:p>
          <a:p>
            <a:r>
              <a:rPr lang="en-US" sz="2400" b="1" dirty="0"/>
              <a:t>Early Detection of Errors</a:t>
            </a:r>
            <a:r>
              <a:rPr lang="en-US" sz="2400" dirty="0"/>
              <a:t>: By formalizing requirements and designs, errors can be detected early in the development process, reducing the cost of fixing defects later</a:t>
            </a:r>
            <a:r>
              <a:rPr lang="en-US" sz="2400" dirty="0" smtClean="0"/>
              <a:t>.</a:t>
            </a:r>
          </a:p>
          <a:p>
            <a:endParaRPr lang="en-US" sz="2400" dirty="0"/>
          </a:p>
          <a:p>
            <a:r>
              <a:rPr lang="en-US" sz="2400" b="1" dirty="0"/>
              <a:t>Documentation</a:t>
            </a:r>
            <a:r>
              <a:rPr lang="en-US" sz="2400" dirty="0"/>
              <a:t>: Formal specifications serve as detailed documentation that can be used for communication among stakeholders and as a basis for implementation.</a:t>
            </a:r>
          </a:p>
        </p:txBody>
      </p:sp>
    </p:spTree>
    <p:extLst>
      <p:ext uri="{BB962C8B-B14F-4D97-AF65-F5344CB8AC3E}">
        <p14:creationId xmlns:p14="http://schemas.microsoft.com/office/powerpoint/2010/main" val="405457296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a:solidFill>
                  <a:srgbClr val="FF0000"/>
                </a:solidFill>
              </a:rPr>
              <a:t>Challenges and Considerations</a:t>
            </a:r>
            <a:r>
              <a:rPr lang="en-US" sz="2400" dirty="0">
                <a:solidFill>
                  <a:srgbClr val="FF0000"/>
                </a:solidFill>
              </a:rPr>
              <a:t>:</a:t>
            </a:r>
          </a:p>
          <a:p>
            <a:r>
              <a:rPr lang="en-US" sz="2400" b="1" dirty="0"/>
              <a:t>Complexity</a:t>
            </a:r>
            <a:r>
              <a:rPr lang="en-US" sz="2400" dirty="0"/>
              <a:t>: Formal specification languages can be complex and require expertise to use effectively</a:t>
            </a:r>
            <a:r>
              <a:rPr lang="en-US" sz="2400" dirty="0" smtClean="0"/>
              <a:t>.</a:t>
            </a:r>
          </a:p>
          <a:p>
            <a:endParaRPr lang="en-US" sz="2400" dirty="0"/>
          </a:p>
          <a:p>
            <a:r>
              <a:rPr lang="en-US" sz="2400" b="1" dirty="0"/>
              <a:t>Tool Support</a:t>
            </a:r>
            <a:r>
              <a:rPr lang="en-US" sz="2400" dirty="0"/>
              <a:t>: Availability of tools for formal analysis and verification varies across languages, which can impact adoption</a:t>
            </a:r>
            <a:r>
              <a:rPr lang="en-US" sz="2400" dirty="0" smtClean="0"/>
              <a:t>.</a:t>
            </a:r>
          </a:p>
          <a:p>
            <a:endParaRPr lang="en-US" sz="2400" dirty="0"/>
          </a:p>
          <a:p>
            <a:r>
              <a:rPr lang="en-US" sz="2400" b="1" dirty="0"/>
              <a:t>Learning Curve</a:t>
            </a:r>
            <a:r>
              <a:rPr lang="en-US" sz="2400" dirty="0"/>
              <a:t>: Learning and mastering formal specification languages and associated tools require time and effort</a:t>
            </a:r>
            <a:r>
              <a:rPr lang="en-US" sz="2400" dirty="0" smtClean="0"/>
              <a:t>.</a:t>
            </a:r>
          </a:p>
          <a:p>
            <a:endParaRPr lang="en-US" sz="2400" dirty="0"/>
          </a:p>
          <a:p>
            <a:r>
              <a:rPr lang="en-US" sz="2400" b="1" dirty="0"/>
              <a:t>Maintainability</a:t>
            </a:r>
            <a:r>
              <a:rPr lang="en-US" sz="2400" dirty="0"/>
              <a:t>: Formal specifications need to be maintained alongside the evolving software system, requiring synchronization between the specification and implementation.</a:t>
            </a:r>
          </a:p>
        </p:txBody>
      </p:sp>
    </p:spTree>
    <p:extLst>
      <p:ext uri="{BB962C8B-B14F-4D97-AF65-F5344CB8AC3E}">
        <p14:creationId xmlns:p14="http://schemas.microsoft.com/office/powerpoint/2010/main" val="16661012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1) Alloy</a:t>
            </a:r>
            <a:r>
              <a:rPr lang="en-US" sz="2000" dirty="0">
                <a:solidFill>
                  <a:srgbClr val="FF0000"/>
                </a:solidFill>
              </a:rPr>
              <a:t>:</a:t>
            </a:r>
          </a:p>
          <a:p>
            <a:r>
              <a:rPr lang="en-US" sz="2000" b="1" dirty="0"/>
              <a:t>Overview</a:t>
            </a:r>
            <a:r>
              <a:rPr lang="en-US" sz="2000" dirty="0"/>
              <a:t>: </a:t>
            </a:r>
            <a:endParaRPr lang="en-US" sz="2000" dirty="0" smtClean="0"/>
          </a:p>
          <a:p>
            <a:pPr marL="342900" indent="-342900">
              <a:buFont typeface="Wingdings" panose="05000000000000000000" pitchFamily="2" charset="2"/>
              <a:buChar char="v"/>
            </a:pPr>
            <a:r>
              <a:rPr lang="en-US" sz="2000" dirty="0" smtClean="0"/>
              <a:t>Alloy </a:t>
            </a:r>
            <a:r>
              <a:rPr lang="en-US" sz="2000" dirty="0"/>
              <a:t>is a declarative specification language used primarily for modeling and analyzing software systems. </a:t>
            </a:r>
            <a:endParaRPr lang="en-US" sz="2000" dirty="0" smtClean="0"/>
          </a:p>
          <a:p>
            <a:pPr marL="342900" indent="-342900">
              <a:buFont typeface="Wingdings" panose="05000000000000000000" pitchFamily="2" charset="2"/>
              <a:buChar char="v"/>
            </a:pPr>
            <a:r>
              <a:rPr lang="en-US" sz="2000" dirty="0" smtClean="0"/>
              <a:t>It </a:t>
            </a:r>
            <a:r>
              <a:rPr lang="en-US" sz="2000" dirty="0"/>
              <a:t>focuses on describing structural properties and constraints using a first-order relational logic.</a:t>
            </a:r>
          </a:p>
          <a:p>
            <a:r>
              <a:rPr lang="en-US" sz="2000" b="1" dirty="0"/>
              <a:t>Features</a:t>
            </a:r>
            <a:r>
              <a:rPr lang="en-US" sz="2000" dirty="0"/>
              <a:t>: </a:t>
            </a:r>
            <a:endParaRPr lang="en-US" sz="2000" dirty="0" smtClean="0"/>
          </a:p>
          <a:p>
            <a:pPr marL="342900" indent="-342900">
              <a:buFont typeface="Wingdings" panose="05000000000000000000" pitchFamily="2" charset="2"/>
              <a:buChar char="v"/>
            </a:pPr>
            <a:r>
              <a:rPr lang="en-US" sz="2000" dirty="0" smtClean="0"/>
              <a:t>Alloy </a:t>
            </a:r>
            <a:r>
              <a:rPr lang="en-US" sz="2000" dirty="0"/>
              <a:t>provides constructs for defining data structures, relations, and constraints. </a:t>
            </a:r>
            <a:endParaRPr lang="en-US" sz="2000" dirty="0" smtClean="0"/>
          </a:p>
          <a:p>
            <a:pPr marL="342900" indent="-342900">
              <a:buFont typeface="Wingdings" panose="05000000000000000000" pitchFamily="2" charset="2"/>
              <a:buChar char="v"/>
            </a:pPr>
            <a:r>
              <a:rPr lang="en-US" sz="2000" dirty="0" smtClean="0"/>
              <a:t>It </a:t>
            </a:r>
            <a:r>
              <a:rPr lang="en-US" sz="2000" dirty="0"/>
              <a:t>supports the specification of static and dynamic properties of systems.</a:t>
            </a:r>
          </a:p>
          <a:p>
            <a:r>
              <a:rPr lang="en-US" sz="2000" b="1" dirty="0"/>
              <a:t>Analysis</a:t>
            </a:r>
            <a:r>
              <a:rPr lang="en-US" sz="2000" dirty="0"/>
              <a:t>: </a:t>
            </a:r>
            <a:endParaRPr lang="en-US" sz="2000" dirty="0" smtClean="0"/>
          </a:p>
          <a:p>
            <a:pPr marL="342900" indent="-342900">
              <a:buFont typeface="Wingdings" panose="05000000000000000000" pitchFamily="2" charset="2"/>
              <a:buChar char="v"/>
            </a:pPr>
            <a:r>
              <a:rPr lang="en-US" sz="2000" dirty="0" smtClean="0"/>
              <a:t>Alloy </a:t>
            </a:r>
            <a:r>
              <a:rPr lang="en-US" sz="2000" dirty="0"/>
              <a:t>specifications can be analyzed using the Alloy Analyzer tool, which employs constraint solving techniques to check the consistency of models, find counterexamples, and verify properties.</a:t>
            </a:r>
          </a:p>
          <a:p>
            <a:r>
              <a:rPr lang="en-US" sz="2000" b="1" dirty="0"/>
              <a:t>Application</a:t>
            </a:r>
            <a:r>
              <a:rPr lang="en-US" sz="2000" dirty="0"/>
              <a:t>: </a:t>
            </a:r>
            <a:endParaRPr lang="en-US" sz="2000" dirty="0" smtClean="0"/>
          </a:p>
          <a:p>
            <a:pPr marL="342900" indent="-342900">
              <a:buFont typeface="Wingdings" panose="05000000000000000000" pitchFamily="2" charset="2"/>
              <a:buChar char="v"/>
            </a:pPr>
            <a:r>
              <a:rPr lang="en-US" sz="2000" dirty="0" smtClean="0"/>
              <a:t>Alloy </a:t>
            </a:r>
            <a:r>
              <a:rPr lang="en-US" sz="2000" dirty="0"/>
              <a:t>is commonly used for modeling and analyzing the behavior of software systems, particularly in the early stages of design to explore design alternatives and detect potential issues.</a:t>
            </a:r>
          </a:p>
        </p:txBody>
      </p:sp>
    </p:spTree>
    <p:extLst>
      <p:ext uri="{BB962C8B-B14F-4D97-AF65-F5344CB8AC3E}">
        <p14:creationId xmlns:p14="http://schemas.microsoft.com/office/powerpoint/2010/main" val="159886959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2) Object </a:t>
            </a:r>
            <a:r>
              <a:rPr lang="en-US" sz="2000" b="1" dirty="0">
                <a:solidFill>
                  <a:srgbClr val="FF0000"/>
                </a:solidFill>
              </a:rPr>
              <a:t>Constraint Language (OCL)</a:t>
            </a:r>
            <a:r>
              <a:rPr lang="en-US" sz="2000" dirty="0">
                <a:solidFill>
                  <a:srgbClr val="FF0000"/>
                </a:solidFill>
              </a:rPr>
              <a:t>:</a:t>
            </a:r>
          </a:p>
          <a:p>
            <a:r>
              <a:rPr lang="en-US" sz="2000" b="1" dirty="0"/>
              <a:t>Overview</a:t>
            </a:r>
            <a:r>
              <a:rPr lang="en-US" sz="2000" dirty="0"/>
              <a:t>: </a:t>
            </a:r>
            <a:endParaRPr lang="en-US" sz="2000" dirty="0" smtClean="0"/>
          </a:p>
          <a:p>
            <a:pPr marL="342900" indent="-342900">
              <a:buFont typeface="Wingdings" panose="05000000000000000000" pitchFamily="2" charset="2"/>
              <a:buChar char="v"/>
            </a:pPr>
            <a:r>
              <a:rPr lang="en-US" sz="2000" dirty="0" smtClean="0"/>
              <a:t>OCL </a:t>
            </a:r>
            <a:r>
              <a:rPr lang="en-US" sz="2000" dirty="0"/>
              <a:t>is a formal specification language used in conjunction with UML (Unified Modeling Language) to specify constraints and operations on objects in software systems.</a:t>
            </a:r>
          </a:p>
          <a:p>
            <a:r>
              <a:rPr lang="en-US" sz="2000" b="1" dirty="0"/>
              <a:t>Features</a:t>
            </a:r>
            <a:r>
              <a:rPr lang="en-US" sz="2000" dirty="0"/>
              <a:t>: </a:t>
            </a:r>
            <a:endParaRPr lang="en-US" sz="2000" dirty="0" smtClean="0"/>
          </a:p>
          <a:p>
            <a:pPr marL="342900" indent="-342900">
              <a:buFont typeface="Wingdings" panose="05000000000000000000" pitchFamily="2" charset="2"/>
              <a:buChar char="v"/>
            </a:pPr>
            <a:r>
              <a:rPr lang="en-US" sz="2000" dirty="0" smtClean="0"/>
              <a:t>OCL </a:t>
            </a:r>
            <a:r>
              <a:rPr lang="en-US" sz="2000" dirty="0"/>
              <a:t>provides a rich set of expressions for defining constraints on UML models, including object invariants, pre- and post-conditions for operations, and navigational expressions for traversing object relationships.</a:t>
            </a:r>
          </a:p>
          <a:p>
            <a:r>
              <a:rPr lang="en-US" sz="2000" b="1" dirty="0"/>
              <a:t>Integration</a:t>
            </a:r>
            <a:r>
              <a:rPr lang="en-US" sz="2000" dirty="0"/>
              <a:t>: </a:t>
            </a:r>
            <a:endParaRPr lang="en-US" sz="2000" dirty="0" smtClean="0"/>
          </a:p>
          <a:p>
            <a:pPr marL="342900" indent="-342900">
              <a:buFont typeface="Wingdings" panose="05000000000000000000" pitchFamily="2" charset="2"/>
              <a:buChar char="v"/>
            </a:pPr>
            <a:r>
              <a:rPr lang="en-US" sz="2000" dirty="0" smtClean="0"/>
              <a:t>OCL </a:t>
            </a:r>
            <a:r>
              <a:rPr lang="en-US" sz="2000" dirty="0"/>
              <a:t>is integrated with UML modeling tools and is used to refine and formalize the behavior and constraints of UML models.</a:t>
            </a:r>
          </a:p>
          <a:p>
            <a:r>
              <a:rPr lang="en-US" sz="2000" b="1" dirty="0"/>
              <a:t>Application</a:t>
            </a:r>
            <a:r>
              <a:rPr lang="en-US" sz="2000" dirty="0"/>
              <a:t>: </a:t>
            </a:r>
            <a:endParaRPr lang="en-US" sz="2000" dirty="0" smtClean="0"/>
          </a:p>
          <a:p>
            <a:pPr marL="342900" indent="-342900">
              <a:buFont typeface="Wingdings" panose="05000000000000000000" pitchFamily="2" charset="2"/>
              <a:buChar char="v"/>
            </a:pPr>
            <a:r>
              <a:rPr lang="en-US" sz="2000" dirty="0" smtClean="0"/>
              <a:t>OCL </a:t>
            </a:r>
            <a:r>
              <a:rPr lang="en-US" sz="2000" dirty="0"/>
              <a:t>is widely used in software engineering for specifying and validating the behavior of object-oriented systems, ensuring consistency and correctness of UML models.</a:t>
            </a:r>
          </a:p>
        </p:txBody>
      </p:sp>
    </p:spTree>
    <p:extLst>
      <p:ext uri="{BB962C8B-B14F-4D97-AF65-F5344CB8AC3E}">
        <p14:creationId xmlns:p14="http://schemas.microsoft.com/office/powerpoint/2010/main" val="270820661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3) Java </a:t>
            </a:r>
            <a:r>
              <a:rPr lang="en-US" sz="2000" b="1" dirty="0">
                <a:solidFill>
                  <a:srgbClr val="FF0000"/>
                </a:solidFill>
              </a:rPr>
              <a:t>Modeling Language (JML)</a:t>
            </a:r>
            <a:r>
              <a:rPr lang="en-US" sz="2000" dirty="0">
                <a:solidFill>
                  <a:srgbClr val="FF0000"/>
                </a:solidFill>
              </a:rPr>
              <a:t>:</a:t>
            </a:r>
          </a:p>
          <a:p>
            <a:pPr lvl="1"/>
            <a:r>
              <a:rPr lang="en-US" sz="2000" b="1" dirty="0"/>
              <a:t>Overview</a:t>
            </a:r>
            <a:r>
              <a:rPr lang="en-US" sz="2000" dirty="0"/>
              <a:t>: </a:t>
            </a:r>
            <a:endParaRPr lang="en-US" sz="2000" dirty="0" smtClean="0"/>
          </a:p>
          <a:p>
            <a:pPr marL="800100" lvl="1" indent="-342900">
              <a:buFont typeface="Wingdings" panose="05000000000000000000" pitchFamily="2" charset="2"/>
              <a:buChar char="v"/>
            </a:pPr>
            <a:r>
              <a:rPr lang="en-US" sz="2000" dirty="0" smtClean="0"/>
              <a:t>JML </a:t>
            </a:r>
            <a:r>
              <a:rPr lang="en-US" sz="2000" dirty="0"/>
              <a:t>is a behavioral interface specification language for Java programs. </a:t>
            </a:r>
            <a:endParaRPr lang="en-US" sz="2000" dirty="0" smtClean="0"/>
          </a:p>
          <a:p>
            <a:pPr marL="800100" lvl="1" indent="-342900">
              <a:buFont typeface="Wingdings" panose="05000000000000000000" pitchFamily="2" charset="2"/>
              <a:buChar char="v"/>
            </a:pPr>
            <a:r>
              <a:rPr lang="en-US" sz="2000" dirty="0" smtClean="0"/>
              <a:t>It </a:t>
            </a:r>
            <a:r>
              <a:rPr lang="en-US" sz="2000" dirty="0"/>
              <a:t>allows developers to specify preconditions, </a:t>
            </a:r>
            <a:r>
              <a:rPr lang="en-US" sz="2000" dirty="0" err="1"/>
              <a:t>postconditions</a:t>
            </a:r>
            <a:r>
              <a:rPr lang="en-US" sz="2000" dirty="0"/>
              <a:t>, and class invariants using annotations within Java code.</a:t>
            </a:r>
          </a:p>
          <a:p>
            <a:pPr lvl="1"/>
            <a:r>
              <a:rPr lang="en-US" sz="2000" b="1" dirty="0"/>
              <a:t>Features</a:t>
            </a:r>
            <a:r>
              <a:rPr lang="en-US" sz="2000" dirty="0" smtClean="0"/>
              <a:t>:</a:t>
            </a:r>
          </a:p>
          <a:p>
            <a:pPr marL="800100" lvl="1" indent="-342900">
              <a:buFont typeface="Wingdings" panose="05000000000000000000" pitchFamily="2" charset="2"/>
              <a:buChar char="v"/>
            </a:pPr>
            <a:r>
              <a:rPr lang="en-US" sz="2000" dirty="0" smtClean="0"/>
              <a:t>JML </a:t>
            </a:r>
            <a:r>
              <a:rPr lang="en-US" sz="2000" dirty="0"/>
              <a:t>annotations are written directly in Java code and provide a means of specifying behavioral contracts for methods and classes. </a:t>
            </a:r>
            <a:endParaRPr lang="en-US" sz="2000" dirty="0" smtClean="0"/>
          </a:p>
          <a:p>
            <a:pPr marL="800100" lvl="1" indent="-342900">
              <a:buFont typeface="Wingdings" panose="05000000000000000000" pitchFamily="2" charset="2"/>
              <a:buChar char="v"/>
            </a:pPr>
            <a:r>
              <a:rPr lang="en-US" sz="2000" dirty="0" smtClean="0"/>
              <a:t>These </a:t>
            </a:r>
            <a:r>
              <a:rPr lang="en-US" sz="2000" dirty="0"/>
              <a:t>contracts can be checked statically or dynamically using tools like JML compiler or runtime assertion checking.</a:t>
            </a:r>
          </a:p>
          <a:p>
            <a:pPr lvl="1"/>
            <a:r>
              <a:rPr lang="en-US" sz="2000" b="1" dirty="0"/>
              <a:t>Verification</a:t>
            </a:r>
            <a:r>
              <a:rPr lang="en-US" sz="2000" dirty="0"/>
              <a:t>: </a:t>
            </a:r>
            <a:endParaRPr lang="en-US" sz="2000" dirty="0" smtClean="0"/>
          </a:p>
          <a:p>
            <a:pPr marL="800100" lvl="1" indent="-342900">
              <a:buFont typeface="Wingdings" panose="05000000000000000000" pitchFamily="2" charset="2"/>
              <a:buChar char="v"/>
            </a:pPr>
            <a:r>
              <a:rPr lang="en-US" sz="2000" dirty="0" smtClean="0"/>
              <a:t>JML </a:t>
            </a:r>
            <a:r>
              <a:rPr lang="en-US" sz="2000" dirty="0"/>
              <a:t>supports static verification of code properties using tools like ESC/Java and </a:t>
            </a:r>
            <a:r>
              <a:rPr lang="en-US" sz="2000" dirty="0" err="1"/>
              <a:t>JMLrac</a:t>
            </a:r>
            <a:r>
              <a:rPr lang="en-US" sz="2000" dirty="0"/>
              <a:t> (Runtime Assertion Checker), enabling developers to detect and eliminate defects early in the development process.</a:t>
            </a:r>
          </a:p>
          <a:p>
            <a:pPr lvl="1"/>
            <a:r>
              <a:rPr lang="en-US" sz="2000" b="1" dirty="0"/>
              <a:t>Application</a:t>
            </a:r>
            <a:r>
              <a:rPr lang="en-US" sz="2000" dirty="0"/>
              <a:t>: </a:t>
            </a:r>
            <a:endParaRPr lang="en-US" sz="2000" dirty="0" smtClean="0"/>
          </a:p>
          <a:p>
            <a:pPr lvl="1"/>
            <a:r>
              <a:rPr lang="en-US" sz="2000" dirty="0" smtClean="0"/>
              <a:t>JML </a:t>
            </a:r>
            <a:r>
              <a:rPr lang="en-US" sz="2000" dirty="0"/>
              <a:t>is used in Java development to improve code quality, enhance documentation, and facilitate formal verification of Java programs, particularly in safety-critical and mission-critical applications.</a:t>
            </a:r>
          </a:p>
          <a:p>
            <a:r>
              <a:rPr lang="en-US" sz="2000" dirty="0"/>
              <a:t/>
            </a:r>
            <a:br>
              <a:rPr lang="en-US" sz="2000" dirty="0"/>
            </a:br>
            <a:endParaRPr lang="en-US" sz="2000" dirty="0"/>
          </a:p>
        </p:txBody>
      </p:sp>
    </p:spTree>
    <p:extLst>
      <p:ext uri="{BB962C8B-B14F-4D97-AF65-F5344CB8AC3E}">
        <p14:creationId xmlns:p14="http://schemas.microsoft.com/office/powerpoint/2010/main" val="196718561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4) Z</a:t>
            </a:r>
            <a:endParaRPr lang="en-US" sz="2000" dirty="0" smtClean="0">
              <a:solidFill>
                <a:srgbClr val="FF0000"/>
              </a:solidFill>
            </a:endParaRPr>
          </a:p>
          <a:p>
            <a:r>
              <a:rPr lang="en-US" sz="2000" b="1" dirty="0" smtClean="0"/>
              <a:t>Overview</a:t>
            </a:r>
            <a:r>
              <a:rPr lang="en-US" sz="2000" dirty="0"/>
              <a:t>: </a:t>
            </a:r>
            <a:endParaRPr lang="en-US" sz="2000" dirty="0" smtClean="0"/>
          </a:p>
          <a:p>
            <a:pPr marL="285750" indent="-285750">
              <a:buFont typeface="Wingdings" panose="05000000000000000000" pitchFamily="2" charset="2"/>
              <a:buChar char="v"/>
            </a:pPr>
            <a:r>
              <a:rPr lang="en-US" sz="2000" dirty="0" smtClean="0"/>
              <a:t>Z </a:t>
            </a:r>
            <a:r>
              <a:rPr lang="en-US" sz="2000" dirty="0"/>
              <a:t>is a formal specification language based on set theory and first-order logic. </a:t>
            </a:r>
            <a:endParaRPr lang="en-US" sz="2000" dirty="0" smtClean="0"/>
          </a:p>
          <a:p>
            <a:pPr marL="285750" indent="-285750">
              <a:buFont typeface="Wingdings" panose="05000000000000000000" pitchFamily="2" charset="2"/>
              <a:buChar char="v"/>
            </a:pPr>
            <a:r>
              <a:rPr lang="en-US" sz="2000" dirty="0" smtClean="0"/>
              <a:t>It </a:t>
            </a:r>
            <a:r>
              <a:rPr lang="en-US" sz="2000" dirty="0"/>
              <a:t>provides a notation for describing the structure and behavior of software systems in a precise and mathematical manner. </a:t>
            </a:r>
            <a:endParaRPr lang="en-US" sz="2000" dirty="0" smtClean="0"/>
          </a:p>
          <a:p>
            <a:pPr marL="285750" indent="-285750">
              <a:buFont typeface="Wingdings" panose="05000000000000000000" pitchFamily="2" charset="2"/>
              <a:buChar char="v"/>
            </a:pPr>
            <a:r>
              <a:rPr lang="en-US" sz="2000" dirty="0" smtClean="0"/>
              <a:t>Z </a:t>
            </a:r>
            <a:r>
              <a:rPr lang="en-US" sz="2000" dirty="0"/>
              <a:t>specifications consist of mathematical schemas that define the state space, operations, and constraints of a system.</a:t>
            </a:r>
          </a:p>
          <a:p>
            <a:r>
              <a:rPr lang="en-US" sz="2000" b="1" dirty="0"/>
              <a:t>Features</a:t>
            </a:r>
            <a:r>
              <a:rPr lang="en-US" sz="2000" dirty="0"/>
              <a:t>:</a:t>
            </a:r>
          </a:p>
          <a:p>
            <a:pPr lvl="1"/>
            <a:r>
              <a:rPr lang="en-US" sz="2000" b="1" dirty="0"/>
              <a:t>Mathematical Rigor</a:t>
            </a:r>
            <a:r>
              <a:rPr lang="en-US" sz="2000" dirty="0"/>
              <a:t>: Z specifications are based on rigorous mathematical concepts, providing a clear and unambiguous representation of system requirements and design.</a:t>
            </a:r>
          </a:p>
          <a:p>
            <a:pPr lvl="1"/>
            <a:r>
              <a:rPr lang="en-US" sz="2000" b="1" dirty="0"/>
              <a:t>Modularity</a:t>
            </a:r>
            <a:r>
              <a:rPr lang="en-US" sz="2000" dirty="0"/>
              <a:t>: Z allows for the decomposition of specifications into smaller, reusable components called schemas, promoting modularity and maintainability.</a:t>
            </a:r>
          </a:p>
          <a:p>
            <a:pPr lvl="1"/>
            <a:r>
              <a:rPr lang="en-US" sz="2000" b="1" dirty="0"/>
              <a:t>Specification Constructs</a:t>
            </a:r>
            <a:r>
              <a:rPr lang="en-US" sz="2000" dirty="0"/>
              <a:t>: Z provides constructs for defining sets, functions, relations, and operations, as well as logical connectives and quantifiers for expressing constraints and properties.</a:t>
            </a:r>
          </a:p>
          <a:p>
            <a:pPr lvl="1"/>
            <a:r>
              <a:rPr lang="en-US" sz="2000" b="1" dirty="0"/>
              <a:t>Abstraction</a:t>
            </a:r>
            <a:r>
              <a:rPr lang="en-US" sz="2000" dirty="0"/>
              <a:t>: Z supports abstraction mechanisms, enabling the separation of concerns and the specification of system behavior at different levels of detail.</a:t>
            </a:r>
          </a:p>
          <a:p>
            <a:r>
              <a:rPr lang="en-US" sz="2000" dirty="0"/>
              <a:t/>
            </a:r>
            <a:br>
              <a:rPr lang="en-US" sz="2000" dirty="0"/>
            </a:br>
            <a:endParaRPr lang="en-US" sz="2000" dirty="0"/>
          </a:p>
        </p:txBody>
      </p:sp>
    </p:spTree>
    <p:extLst>
      <p:ext uri="{BB962C8B-B14F-4D97-AF65-F5344CB8AC3E}">
        <p14:creationId xmlns:p14="http://schemas.microsoft.com/office/powerpoint/2010/main" val="175805261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4) Z</a:t>
            </a:r>
            <a:endParaRPr lang="en-US" sz="2000" dirty="0" smtClean="0">
              <a:solidFill>
                <a:srgbClr val="FF0000"/>
              </a:solidFill>
            </a:endParaRPr>
          </a:p>
          <a:p>
            <a:r>
              <a:rPr lang="en-US" sz="2000" b="1" dirty="0"/>
              <a:t>Analysis</a:t>
            </a:r>
            <a:r>
              <a:rPr lang="en-US" sz="2000" dirty="0"/>
              <a:t>:</a:t>
            </a:r>
          </a:p>
          <a:p>
            <a:pPr lvl="1"/>
            <a:r>
              <a:rPr lang="en-US" sz="2000" b="1" dirty="0"/>
              <a:t>Formal Verification</a:t>
            </a:r>
            <a:r>
              <a:rPr lang="en-US" sz="2000" dirty="0"/>
              <a:t>: Z specifications can be subjected to formal analysis techniques, such as model checking and theorem proving, to verify properties like correctness, consistency, and completeness.</a:t>
            </a:r>
          </a:p>
          <a:p>
            <a:pPr lvl="1"/>
            <a:r>
              <a:rPr lang="en-US" sz="2000" b="1" dirty="0"/>
              <a:t>Refinement</a:t>
            </a:r>
            <a:r>
              <a:rPr lang="en-US" sz="2000" dirty="0"/>
              <a:t>: Z supports the notion of refinement, allowing for the stepwise development of systems from abstract specifications to concrete implementations while preserving correctness.</a:t>
            </a:r>
          </a:p>
          <a:p>
            <a:r>
              <a:rPr lang="en-US" sz="2000" b="1" dirty="0"/>
              <a:t>Application</a:t>
            </a:r>
            <a:r>
              <a:rPr lang="en-US" sz="2000" dirty="0"/>
              <a:t>:</a:t>
            </a:r>
          </a:p>
          <a:p>
            <a:pPr lvl="1"/>
            <a:r>
              <a:rPr lang="en-US" sz="2000" b="1" dirty="0"/>
              <a:t>Requirements Engineering</a:t>
            </a:r>
            <a:r>
              <a:rPr lang="en-US" sz="2000" dirty="0"/>
              <a:t>: Z is used in requirements engineering to formalize and validate system requirements, ensuring a clear and precise understanding between stakeholders.</a:t>
            </a:r>
          </a:p>
          <a:p>
            <a:pPr lvl="1"/>
            <a:r>
              <a:rPr lang="en-US" sz="2000" b="1" dirty="0"/>
              <a:t>Software Design</a:t>
            </a:r>
            <a:r>
              <a:rPr lang="en-US" sz="2000" dirty="0"/>
              <a:t>: Z facilitates the formal specification and design of software systems, aiding in the development of correct and reliable software by capturing system structure, behavior, and constraints.</a:t>
            </a:r>
          </a:p>
          <a:p>
            <a:pPr lvl="1"/>
            <a:r>
              <a:rPr lang="en-US" sz="2000" b="1" dirty="0"/>
              <a:t>Critical Systems</a:t>
            </a:r>
            <a:r>
              <a:rPr lang="en-US" sz="2000" dirty="0"/>
              <a:t>: Z is commonly applied in safety-critical and mission-critical systems, such as aerospace, automotive, and healthcare, where correctness and reliability are paramount.</a:t>
            </a:r>
          </a:p>
          <a:p>
            <a:pPr lvl="1"/>
            <a:r>
              <a:rPr lang="en-US" sz="2000" b="1" dirty="0"/>
              <a:t>Education and Research</a:t>
            </a:r>
            <a:r>
              <a:rPr lang="en-US" sz="2000" dirty="0"/>
              <a:t>: Z is used in academia and research for teaching formal methods and conducting studies on formal specification techniques, tools, and methodologies.</a:t>
            </a:r>
          </a:p>
          <a:p>
            <a:r>
              <a:rPr lang="en-US" sz="2000" dirty="0"/>
              <a:t/>
            </a:r>
            <a:br>
              <a:rPr lang="en-US" sz="2000" dirty="0"/>
            </a:br>
            <a:endParaRPr lang="en-US" sz="2000" dirty="0"/>
          </a:p>
        </p:txBody>
      </p:sp>
    </p:spTree>
    <p:extLst>
      <p:ext uri="{BB962C8B-B14F-4D97-AF65-F5344CB8AC3E}">
        <p14:creationId xmlns:p14="http://schemas.microsoft.com/office/powerpoint/2010/main" val="275807766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5) VDM </a:t>
            </a:r>
            <a:r>
              <a:rPr lang="en-US" sz="2000" b="1" dirty="0">
                <a:solidFill>
                  <a:srgbClr val="FF0000"/>
                </a:solidFill>
              </a:rPr>
              <a:t>(Vienna Development Method</a:t>
            </a:r>
            <a:r>
              <a:rPr lang="en-US" sz="2000" b="1" dirty="0" smtClean="0">
                <a:solidFill>
                  <a:srgbClr val="FF0000"/>
                </a:solidFill>
              </a:rPr>
              <a:t>)</a:t>
            </a:r>
            <a:r>
              <a:rPr lang="en-US" sz="2000" dirty="0" smtClean="0">
                <a:solidFill>
                  <a:srgbClr val="FF0000"/>
                </a:solidFill>
              </a:rPr>
              <a:t>:</a:t>
            </a:r>
          </a:p>
          <a:p>
            <a:r>
              <a:rPr lang="en-US" sz="2000" b="1" dirty="0" smtClean="0"/>
              <a:t>Overview</a:t>
            </a:r>
            <a:r>
              <a:rPr lang="en-US" sz="2000" dirty="0"/>
              <a:t>: </a:t>
            </a:r>
            <a:endParaRPr lang="en-US" sz="2000" dirty="0" smtClean="0"/>
          </a:p>
          <a:p>
            <a:pPr marL="342900" indent="-342900">
              <a:buFont typeface="Wingdings" panose="05000000000000000000" pitchFamily="2" charset="2"/>
              <a:buChar char="v"/>
            </a:pPr>
            <a:r>
              <a:rPr lang="en-US" sz="2000" dirty="0" smtClean="0"/>
              <a:t>VDM </a:t>
            </a:r>
            <a:r>
              <a:rPr lang="en-US" sz="2000" dirty="0"/>
              <a:t>is a formal method for software engineering, originating from the work of the Formal Methods Group at the Technical University of Vienna. </a:t>
            </a:r>
            <a:endParaRPr lang="en-US" sz="2000" dirty="0" smtClean="0"/>
          </a:p>
          <a:p>
            <a:pPr marL="342900" indent="-342900">
              <a:buFont typeface="Wingdings" panose="05000000000000000000" pitchFamily="2" charset="2"/>
              <a:buChar char="v"/>
            </a:pPr>
            <a:r>
              <a:rPr lang="en-US" sz="2000" dirty="0" smtClean="0"/>
              <a:t>It </a:t>
            </a:r>
            <a:r>
              <a:rPr lang="en-US" sz="2000" dirty="0"/>
              <a:t>provides a framework for specifying, modeling, and validating software systems using mathematical logic.</a:t>
            </a:r>
          </a:p>
          <a:p>
            <a:r>
              <a:rPr lang="en-US" sz="2000" b="1" dirty="0"/>
              <a:t>Features</a:t>
            </a:r>
            <a:r>
              <a:rPr lang="en-US" sz="2000" dirty="0"/>
              <a:t>:</a:t>
            </a:r>
          </a:p>
          <a:p>
            <a:pPr lvl="1"/>
            <a:r>
              <a:rPr lang="en-US" sz="2000" b="1" dirty="0"/>
              <a:t>Formal Specification Languages</a:t>
            </a:r>
            <a:r>
              <a:rPr lang="en-US" sz="2000" dirty="0"/>
              <a:t>: VDM includes languages like VDM-SL (Specification Language) and VDM++ for specifying system requirements, designs, and behavior using mathematical constructs.</a:t>
            </a:r>
          </a:p>
          <a:p>
            <a:pPr lvl="1"/>
            <a:r>
              <a:rPr lang="en-US" sz="2000" b="1" dirty="0"/>
              <a:t>Mathematical Rigor</a:t>
            </a:r>
            <a:r>
              <a:rPr lang="en-US" sz="2000" dirty="0"/>
              <a:t>: VDM specifications are based on rigorous mathematical principles, including set theory, functions, and types, ensuring clarity and precision in system descriptions.</a:t>
            </a:r>
          </a:p>
          <a:p>
            <a:pPr lvl="1"/>
            <a:r>
              <a:rPr lang="en-US" sz="2000" b="1" dirty="0"/>
              <a:t>Support for Data and Functionality</a:t>
            </a:r>
            <a:r>
              <a:rPr lang="en-US" sz="2000" dirty="0"/>
              <a:t>: VDM allows for the specification of both data structures and operations, enabling the description of system behavior and functionality.</a:t>
            </a:r>
          </a:p>
          <a:p>
            <a:pPr lvl="1"/>
            <a:r>
              <a:rPr lang="en-US" sz="2000" b="1" dirty="0"/>
              <a:t>Tool Support</a:t>
            </a:r>
            <a:r>
              <a:rPr lang="en-US" sz="2000" dirty="0"/>
              <a:t>: VDM is supported by various tools, such as </a:t>
            </a:r>
            <a:r>
              <a:rPr lang="en-US" sz="2000" dirty="0" err="1"/>
              <a:t>VDMTools</a:t>
            </a:r>
            <a:r>
              <a:rPr lang="en-US" sz="2000" dirty="0"/>
              <a:t>, Overture, and VDMJ, which provide environments for editing, analyzing, and executing VDM specifications.</a:t>
            </a:r>
          </a:p>
        </p:txBody>
      </p:sp>
    </p:spTree>
    <p:extLst>
      <p:ext uri="{BB962C8B-B14F-4D97-AF65-F5344CB8AC3E}">
        <p14:creationId xmlns:p14="http://schemas.microsoft.com/office/powerpoint/2010/main" val="113474023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5) VDM </a:t>
            </a:r>
            <a:r>
              <a:rPr lang="en-US" sz="2000" b="1" dirty="0">
                <a:solidFill>
                  <a:srgbClr val="FF0000"/>
                </a:solidFill>
              </a:rPr>
              <a:t>(Vienna Development Method</a:t>
            </a:r>
            <a:r>
              <a:rPr lang="en-US" sz="2000" b="1" dirty="0" smtClean="0">
                <a:solidFill>
                  <a:srgbClr val="FF0000"/>
                </a:solidFill>
              </a:rPr>
              <a:t>)</a:t>
            </a:r>
            <a:r>
              <a:rPr lang="en-US" sz="2000" dirty="0" smtClean="0">
                <a:solidFill>
                  <a:srgbClr val="FF0000"/>
                </a:solidFill>
              </a:rPr>
              <a:t>:</a:t>
            </a:r>
          </a:p>
          <a:p>
            <a:r>
              <a:rPr lang="en-US" b="1" dirty="0"/>
              <a:t>Analysis</a:t>
            </a:r>
            <a:r>
              <a:rPr lang="en-US" dirty="0"/>
              <a:t>:</a:t>
            </a:r>
          </a:p>
          <a:p>
            <a:pPr lvl="1"/>
            <a:r>
              <a:rPr lang="en-US" b="1" dirty="0"/>
              <a:t>Model Checking</a:t>
            </a:r>
            <a:r>
              <a:rPr lang="en-US" dirty="0"/>
              <a:t>: VDM specifications can be subjected to model checking techniques to verify properties such as consistency, correctness, and completeness.</a:t>
            </a:r>
          </a:p>
          <a:p>
            <a:pPr lvl="1"/>
            <a:r>
              <a:rPr lang="en-US" b="1" dirty="0"/>
              <a:t>Simulation and Animation</a:t>
            </a:r>
            <a:r>
              <a:rPr lang="en-US" dirty="0"/>
              <a:t>: VDM tools support simulation and animation features, allowing developers to interactively explore and validate system behavior specified in VDM.</a:t>
            </a:r>
          </a:p>
          <a:p>
            <a:pPr lvl="1"/>
            <a:r>
              <a:rPr lang="en-US" b="1" dirty="0"/>
              <a:t>Proof and Verification</a:t>
            </a:r>
            <a:r>
              <a:rPr lang="en-US" dirty="0"/>
              <a:t>: VDM supports formal verification techniques, including theorem proving and proof obligations, to ensure the correctness and reliability of system specifications.</a:t>
            </a:r>
          </a:p>
          <a:p>
            <a:r>
              <a:rPr lang="en-US" b="1" dirty="0"/>
              <a:t>Application</a:t>
            </a:r>
            <a:r>
              <a:rPr lang="en-US" dirty="0"/>
              <a:t>:</a:t>
            </a:r>
          </a:p>
          <a:p>
            <a:pPr lvl="1"/>
            <a:r>
              <a:rPr lang="en-US" b="1" dirty="0"/>
              <a:t>Software Development</a:t>
            </a:r>
            <a:r>
              <a:rPr lang="en-US" dirty="0"/>
              <a:t>: VDM is used in software development for specifying and modeling system requirements and designs, particularly in safety-critical and mission-critical domains.</a:t>
            </a:r>
          </a:p>
          <a:p>
            <a:pPr lvl="1"/>
            <a:r>
              <a:rPr lang="en-US" b="1" dirty="0"/>
              <a:t>Formal Verification</a:t>
            </a:r>
            <a:r>
              <a:rPr lang="en-US" dirty="0"/>
              <a:t>: VDM is applied in formal verification projects to rigorously validate system properties, detect defects, and ensure compliance with requirements.</a:t>
            </a:r>
          </a:p>
          <a:p>
            <a:pPr lvl="1"/>
            <a:r>
              <a:rPr lang="en-US" b="1" dirty="0"/>
              <a:t>Education and Training</a:t>
            </a:r>
            <a:r>
              <a:rPr lang="en-US" dirty="0"/>
              <a:t>: VDM is used in academia and industry for teaching formal methods, software engineering, and modeling techniques, providing students and practitioners with a solid foundation in formal specification and analysis</a:t>
            </a:r>
            <a:r>
              <a:rPr lang="en-US" dirty="0" smtClean="0"/>
              <a:t>. </a:t>
            </a:r>
            <a:endParaRPr lang="en-US" dirty="0"/>
          </a:p>
        </p:txBody>
      </p:sp>
    </p:spTree>
    <p:extLst>
      <p:ext uri="{BB962C8B-B14F-4D97-AF65-F5344CB8AC3E}">
        <p14:creationId xmlns:p14="http://schemas.microsoft.com/office/powerpoint/2010/main" val="296342400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t>Overview</a:t>
            </a:r>
          </a:p>
          <a:p>
            <a:pPr marL="342900" indent="-342900">
              <a:buFont typeface="Wingdings" panose="05000000000000000000" pitchFamily="2" charset="2"/>
              <a:buChar char="v"/>
            </a:pPr>
            <a:r>
              <a:rPr lang="en-US" sz="2400" dirty="0" smtClean="0"/>
              <a:t>Z </a:t>
            </a:r>
            <a:r>
              <a:rPr lang="en-US" sz="2400" dirty="0"/>
              <a:t>is a formal specification language that provides a mathematical notation for describing the structure, behavior, and properties of software systems. </a:t>
            </a:r>
            <a:endParaRPr lang="en-US" sz="2400" dirty="0" smtClean="0"/>
          </a:p>
          <a:p>
            <a:pPr marL="342900" indent="-342900">
              <a:buFont typeface="Wingdings" panose="05000000000000000000" pitchFamily="2" charset="2"/>
              <a:buChar char="v"/>
            </a:pPr>
            <a:r>
              <a:rPr lang="en-US" sz="2400" dirty="0" smtClean="0"/>
              <a:t>It </a:t>
            </a:r>
            <a:r>
              <a:rPr lang="en-US" sz="2400" dirty="0"/>
              <a:t>was developed in the late 1970s and early 1980s by Jean-Raymond </a:t>
            </a:r>
            <a:r>
              <a:rPr lang="en-US" sz="2400" dirty="0" err="1"/>
              <a:t>Abrial</a:t>
            </a:r>
            <a:r>
              <a:rPr lang="en-US" sz="2400" dirty="0"/>
              <a:t> at the Oxford University Computing Laboratory. </a:t>
            </a:r>
            <a:endParaRPr lang="en-US" sz="2400" dirty="0" smtClean="0"/>
          </a:p>
          <a:p>
            <a:pPr marL="342900" indent="-342900">
              <a:buFont typeface="Wingdings" panose="05000000000000000000" pitchFamily="2" charset="2"/>
              <a:buChar char="v"/>
            </a:pPr>
            <a:r>
              <a:rPr lang="en-US" sz="2400" dirty="0" smtClean="0"/>
              <a:t>Z </a:t>
            </a:r>
            <a:r>
              <a:rPr lang="en-US" sz="2400" dirty="0"/>
              <a:t>is based on set theory and first-order logic and is widely used in software engineering for specifying system requirements and designs.</a:t>
            </a:r>
          </a:p>
        </p:txBody>
      </p:sp>
    </p:spTree>
    <p:extLst>
      <p:ext uri="{BB962C8B-B14F-4D97-AF65-F5344CB8AC3E}">
        <p14:creationId xmlns:p14="http://schemas.microsoft.com/office/powerpoint/2010/main" val="39676764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a:solidFill>
                  <a:srgbClr val="FF0000"/>
                </a:solidFill>
              </a:rPr>
              <a:t>Key Concepts:</a:t>
            </a:r>
          </a:p>
          <a:p>
            <a:r>
              <a:rPr lang="en-US" sz="2000" b="1" dirty="0"/>
              <a:t>Schema</a:t>
            </a:r>
            <a:r>
              <a:rPr lang="en-US" sz="2000" dirty="0"/>
              <a:t>: </a:t>
            </a:r>
            <a:endParaRPr lang="en-US" sz="2000" dirty="0" smtClean="0"/>
          </a:p>
          <a:p>
            <a:pPr marL="342900" indent="-342900">
              <a:buFont typeface="Wingdings" panose="05000000000000000000" pitchFamily="2" charset="2"/>
              <a:buChar char="v"/>
            </a:pPr>
            <a:r>
              <a:rPr lang="en-US" sz="2000" dirty="0" smtClean="0"/>
              <a:t>The </a:t>
            </a:r>
            <a:r>
              <a:rPr lang="en-US" sz="2000" dirty="0"/>
              <a:t>primary construct in Z is the schema, which is used to define sets, functions, and relations, as well as their properties and constraints. </a:t>
            </a:r>
            <a:endParaRPr lang="en-US" sz="2000" dirty="0" smtClean="0"/>
          </a:p>
          <a:p>
            <a:pPr marL="342900" indent="-342900">
              <a:buFont typeface="Wingdings" panose="05000000000000000000" pitchFamily="2" charset="2"/>
              <a:buChar char="v"/>
            </a:pPr>
            <a:r>
              <a:rPr lang="en-US" sz="2000" dirty="0" smtClean="0"/>
              <a:t>A </a:t>
            </a:r>
            <a:r>
              <a:rPr lang="en-US" sz="2000" dirty="0"/>
              <a:t>schema consists of a header and a body, where the header declares the variables and parameters, and the body specifies the constraints and properties.</a:t>
            </a:r>
          </a:p>
          <a:p>
            <a:r>
              <a:rPr lang="en-US" sz="2000" b="1" dirty="0"/>
              <a:t>Sets and Types</a:t>
            </a:r>
            <a:r>
              <a:rPr lang="en-US" sz="2000" dirty="0"/>
              <a:t>: </a:t>
            </a:r>
            <a:endParaRPr lang="en-US" sz="2000" dirty="0" smtClean="0"/>
          </a:p>
          <a:p>
            <a:pPr marL="342900" indent="-342900">
              <a:buFont typeface="Wingdings" panose="05000000000000000000" pitchFamily="2" charset="2"/>
              <a:buChar char="v"/>
            </a:pPr>
            <a:r>
              <a:rPr lang="en-US" sz="2000" dirty="0" smtClean="0"/>
              <a:t>Z </a:t>
            </a:r>
            <a:r>
              <a:rPr lang="en-US" sz="2000" dirty="0"/>
              <a:t>provides a rich set of constructs for defining sets and types. </a:t>
            </a:r>
            <a:endParaRPr lang="en-US" sz="2000" dirty="0" smtClean="0"/>
          </a:p>
          <a:p>
            <a:pPr marL="342900" indent="-342900">
              <a:buFont typeface="Wingdings" panose="05000000000000000000" pitchFamily="2" charset="2"/>
              <a:buChar char="v"/>
            </a:pPr>
            <a:r>
              <a:rPr lang="en-US" sz="2000" dirty="0" smtClean="0"/>
              <a:t>Sets </a:t>
            </a:r>
            <a:r>
              <a:rPr lang="en-US" sz="2000" dirty="0"/>
              <a:t>can be explicitly enumerated, defined by comprehension, or specified as subsets of other sets. </a:t>
            </a:r>
            <a:endParaRPr lang="en-US" sz="2000" dirty="0" smtClean="0"/>
          </a:p>
          <a:p>
            <a:pPr marL="342900" indent="-342900">
              <a:buFont typeface="Wingdings" panose="05000000000000000000" pitchFamily="2" charset="2"/>
              <a:buChar char="v"/>
            </a:pPr>
            <a:r>
              <a:rPr lang="en-US" sz="2000" dirty="0" smtClean="0"/>
              <a:t>Types </a:t>
            </a:r>
            <a:r>
              <a:rPr lang="en-US" sz="2000" dirty="0"/>
              <a:t>can be defined as sets of values that satisfy certain properties.</a:t>
            </a:r>
          </a:p>
          <a:p>
            <a:r>
              <a:rPr lang="en-US" sz="2000" b="1" dirty="0"/>
              <a:t>Operations</a:t>
            </a:r>
            <a:r>
              <a:rPr lang="en-US" sz="2000" dirty="0"/>
              <a:t>: </a:t>
            </a:r>
            <a:endParaRPr lang="en-US" sz="2000" dirty="0" smtClean="0"/>
          </a:p>
          <a:p>
            <a:pPr marL="342900" indent="-342900">
              <a:buFont typeface="Wingdings" panose="05000000000000000000" pitchFamily="2" charset="2"/>
              <a:buChar char="v"/>
            </a:pPr>
            <a:r>
              <a:rPr lang="en-US" sz="2000" dirty="0" smtClean="0"/>
              <a:t>Z </a:t>
            </a:r>
            <a:r>
              <a:rPr lang="en-US" sz="2000" dirty="0"/>
              <a:t>allows for the specification of operations on sets, functions, and relations. Operations can be described using schemas, which define preconditions, </a:t>
            </a:r>
            <a:r>
              <a:rPr lang="en-US" sz="2000" dirty="0" err="1"/>
              <a:t>postconditions</a:t>
            </a:r>
            <a:r>
              <a:rPr lang="en-US" sz="2000" dirty="0"/>
              <a:t>, and properties of the operation.</a:t>
            </a:r>
          </a:p>
        </p:txBody>
      </p:sp>
    </p:spTree>
    <p:extLst>
      <p:ext uri="{BB962C8B-B14F-4D97-AF65-F5344CB8AC3E}">
        <p14:creationId xmlns:p14="http://schemas.microsoft.com/office/powerpoint/2010/main" val="344077761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a:solidFill>
                  <a:srgbClr val="FF0000"/>
                </a:solidFill>
              </a:rPr>
              <a:t>Key Concepts:</a:t>
            </a:r>
          </a:p>
          <a:p>
            <a:r>
              <a:rPr lang="en-US" sz="2000" b="1" dirty="0"/>
              <a:t>Predicates and Assertions</a:t>
            </a:r>
            <a:r>
              <a:rPr lang="en-US" sz="2000" dirty="0"/>
              <a:t>: </a:t>
            </a:r>
            <a:endParaRPr lang="en-US" sz="2000" dirty="0" smtClean="0"/>
          </a:p>
          <a:p>
            <a:pPr marL="342900" indent="-342900">
              <a:buFont typeface="Wingdings" panose="05000000000000000000" pitchFamily="2" charset="2"/>
              <a:buChar char="v"/>
            </a:pPr>
            <a:r>
              <a:rPr lang="en-US" sz="2000" dirty="0" smtClean="0"/>
              <a:t>Predicates </a:t>
            </a:r>
            <a:r>
              <a:rPr lang="en-US" sz="2000" dirty="0"/>
              <a:t>are used in Z to express logical conditions and constraints. </a:t>
            </a:r>
            <a:endParaRPr lang="en-US" sz="2000" dirty="0" smtClean="0"/>
          </a:p>
          <a:p>
            <a:pPr marL="342900" indent="-342900">
              <a:buFont typeface="Wingdings" panose="05000000000000000000" pitchFamily="2" charset="2"/>
              <a:buChar char="v"/>
            </a:pPr>
            <a:r>
              <a:rPr lang="en-US" sz="2000" dirty="0" smtClean="0"/>
              <a:t>Assertions </a:t>
            </a:r>
            <a:r>
              <a:rPr lang="en-US" sz="2000" dirty="0"/>
              <a:t>are predicates that must hold true at certain points in the system's execution, typically at the beginning or end of operations.</a:t>
            </a:r>
          </a:p>
          <a:p>
            <a:r>
              <a:rPr lang="en-US" sz="2000" b="1" dirty="0"/>
              <a:t>Refinement</a:t>
            </a:r>
            <a:r>
              <a:rPr lang="en-US" sz="2000" dirty="0"/>
              <a:t>: </a:t>
            </a:r>
            <a:endParaRPr lang="en-US" sz="2000" dirty="0" smtClean="0"/>
          </a:p>
          <a:p>
            <a:pPr marL="342900" indent="-342900">
              <a:buFont typeface="Wingdings" panose="05000000000000000000" pitchFamily="2" charset="2"/>
              <a:buChar char="v"/>
            </a:pPr>
            <a:r>
              <a:rPr lang="en-US" sz="2000" dirty="0" smtClean="0"/>
              <a:t>Z </a:t>
            </a:r>
            <a:r>
              <a:rPr lang="en-US" sz="2000" dirty="0"/>
              <a:t>supports the notion of refinement, which allows for the stepwise development of system specifications from abstract, high-level descriptions to concrete, detailed implementations. </a:t>
            </a:r>
            <a:endParaRPr lang="en-US" sz="2000" dirty="0" smtClean="0"/>
          </a:p>
          <a:p>
            <a:pPr marL="342900" indent="-342900">
              <a:buFont typeface="Wingdings" panose="05000000000000000000" pitchFamily="2" charset="2"/>
              <a:buChar char="v"/>
            </a:pPr>
            <a:r>
              <a:rPr lang="en-US" sz="2000" dirty="0" smtClean="0"/>
              <a:t>Refinement </a:t>
            </a:r>
            <a:r>
              <a:rPr lang="en-US" sz="2000" dirty="0"/>
              <a:t>involves adding detail to specifications while preserving correctness and consistency.</a:t>
            </a:r>
          </a:p>
          <a:p>
            <a:r>
              <a:rPr lang="en-US" sz="2000" b="1" dirty="0"/>
              <a:t>Proof and Verification</a:t>
            </a:r>
            <a:r>
              <a:rPr lang="en-US" sz="2000" dirty="0"/>
              <a:t>: </a:t>
            </a:r>
            <a:endParaRPr lang="en-US" sz="2000" dirty="0" smtClean="0"/>
          </a:p>
          <a:p>
            <a:pPr marL="342900" indent="-342900">
              <a:buFont typeface="Wingdings" panose="05000000000000000000" pitchFamily="2" charset="2"/>
              <a:buChar char="v"/>
            </a:pPr>
            <a:r>
              <a:rPr lang="en-US" sz="2000" dirty="0" smtClean="0"/>
              <a:t>Z </a:t>
            </a:r>
            <a:r>
              <a:rPr lang="en-US" sz="2000" dirty="0"/>
              <a:t>specifications can be subjected to formal analysis techniques, such as theorem proving and model checking, to verify properties like consistency, correctness, and completeness. </a:t>
            </a:r>
            <a:endParaRPr lang="en-US" sz="2000" dirty="0" smtClean="0"/>
          </a:p>
          <a:p>
            <a:pPr marL="342900" indent="-342900">
              <a:buFont typeface="Wingdings" panose="05000000000000000000" pitchFamily="2" charset="2"/>
              <a:buChar char="v"/>
            </a:pPr>
            <a:r>
              <a:rPr lang="en-US" sz="2000" dirty="0" smtClean="0"/>
              <a:t>Formal </a:t>
            </a:r>
            <a:r>
              <a:rPr lang="en-US" sz="2000" dirty="0"/>
              <a:t>proofs are used to demonstrate that a specification satisfies its properties and requirements.</a:t>
            </a:r>
          </a:p>
          <a:p>
            <a:r>
              <a:rPr lang="en-US" sz="2000" dirty="0"/>
              <a:t/>
            </a:r>
            <a:br>
              <a:rPr lang="en-US" sz="2000" dirty="0"/>
            </a:br>
            <a:endParaRPr lang="en-US" sz="2000" dirty="0"/>
          </a:p>
        </p:txBody>
      </p:sp>
    </p:spTree>
    <p:extLst>
      <p:ext uri="{BB962C8B-B14F-4D97-AF65-F5344CB8AC3E}">
        <p14:creationId xmlns:p14="http://schemas.microsoft.com/office/powerpoint/2010/main" val="192651759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74480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1600" b="1" dirty="0" smtClean="0">
                <a:solidFill>
                  <a:srgbClr val="FF0000"/>
                </a:solidFill>
              </a:rPr>
              <a:t>Terminology and Concepts</a:t>
            </a:r>
            <a:r>
              <a:rPr lang="en-US" sz="1600" b="1" dirty="0">
                <a:solidFill>
                  <a:srgbClr val="FF0000"/>
                </a:solidFill>
              </a:rPr>
              <a:t>:</a:t>
            </a:r>
          </a:p>
          <a:p>
            <a:r>
              <a:rPr lang="en-US" sz="1600" b="1" dirty="0" smtClean="0"/>
              <a:t>1) Data</a:t>
            </a:r>
            <a:endParaRPr lang="en-US" sz="1600" dirty="0" smtClean="0"/>
          </a:p>
          <a:p>
            <a:pPr marL="342900" indent="-342900">
              <a:buFont typeface="Wingdings" panose="05000000000000000000" pitchFamily="2" charset="2"/>
              <a:buChar char="v"/>
            </a:pPr>
            <a:r>
              <a:rPr lang="en-US" sz="1600" dirty="0"/>
              <a:t>Refers to necessary data use in the </a:t>
            </a:r>
            <a:r>
              <a:rPr lang="en-US" sz="1600" dirty="0" smtClean="0"/>
              <a:t>system</a:t>
            </a:r>
          </a:p>
          <a:p>
            <a:r>
              <a:rPr lang="en-US" sz="1600" b="1" dirty="0" smtClean="0"/>
              <a:t>2) Schema</a:t>
            </a:r>
            <a:endParaRPr lang="en-US" sz="1600" dirty="0" smtClean="0"/>
          </a:p>
          <a:p>
            <a:pPr marL="342900" indent="-342900">
              <a:buFont typeface="Wingdings" panose="05000000000000000000" pitchFamily="2" charset="2"/>
              <a:buChar char="v"/>
            </a:pPr>
            <a:r>
              <a:rPr lang="en-US" sz="1600" dirty="0"/>
              <a:t>Refers to a structure that has two (2) sections the signature and predicates.</a:t>
            </a:r>
          </a:p>
          <a:p>
            <a:pPr marL="800100" lvl="1" indent="-342900">
              <a:buFont typeface="Wingdings" panose="05000000000000000000" pitchFamily="2" charset="2"/>
              <a:buChar char="v"/>
            </a:pPr>
            <a:r>
              <a:rPr lang="en-US" sz="1600" dirty="0" smtClean="0"/>
              <a:t>The </a:t>
            </a:r>
            <a:r>
              <a:rPr lang="en-US" sz="1600" dirty="0"/>
              <a:t>signature (top section) contents all the set proposition thus the data, and variables.</a:t>
            </a:r>
          </a:p>
          <a:p>
            <a:pPr marL="800100" lvl="1" indent="-342900">
              <a:buFont typeface="Wingdings" panose="05000000000000000000" pitchFamily="2" charset="2"/>
              <a:buChar char="v"/>
            </a:pPr>
            <a:r>
              <a:rPr lang="en-US" sz="1600" dirty="0" smtClean="0"/>
              <a:t>The </a:t>
            </a:r>
            <a:r>
              <a:rPr lang="en-US" sz="1600" dirty="0"/>
              <a:t>predicate (bottom section) shows the relationship between the variables. </a:t>
            </a:r>
            <a:endParaRPr lang="en-US" sz="1600" dirty="0" smtClean="0"/>
          </a:p>
          <a:p>
            <a:pPr marL="800100" lvl="1" indent="-342900">
              <a:buFont typeface="Wingdings" panose="05000000000000000000" pitchFamily="2" charset="2"/>
              <a:buChar char="v"/>
            </a:pPr>
            <a:r>
              <a:rPr lang="en-US" sz="1600" dirty="0" smtClean="0"/>
              <a:t>The </a:t>
            </a:r>
            <a:r>
              <a:rPr lang="en-US" sz="1600" dirty="0"/>
              <a:t>relationship must be true in every state of the system and is maintained by every operation on it:</a:t>
            </a:r>
          </a:p>
          <a:p>
            <a:r>
              <a:rPr lang="en-US" sz="1600" b="1" dirty="0" smtClean="0"/>
              <a:t>3) Functions</a:t>
            </a:r>
          </a:p>
          <a:p>
            <a:pPr marL="342900" indent="-342900">
              <a:buFont typeface="Wingdings" panose="05000000000000000000" pitchFamily="2" charset="2"/>
              <a:buChar char="v"/>
            </a:pPr>
            <a:r>
              <a:rPr lang="en-US" sz="1600" dirty="0" smtClean="0"/>
              <a:t>Functions </a:t>
            </a:r>
            <a:r>
              <a:rPr lang="en-US" sz="1600" dirty="0"/>
              <a:t>are a special case of relations in which each element in one set (domain - </a:t>
            </a:r>
            <a:r>
              <a:rPr lang="en-US" sz="1600" dirty="0" err="1"/>
              <a:t>dom</a:t>
            </a:r>
            <a:r>
              <a:rPr lang="en-US" sz="1600" dirty="0"/>
              <a:t>) has one more value associated with another set (range - ran). </a:t>
            </a:r>
            <a:endParaRPr lang="en-US" sz="1600" dirty="0" smtClean="0"/>
          </a:p>
          <a:p>
            <a:pPr marL="342900" indent="-342900">
              <a:buFont typeface="Wingdings" panose="05000000000000000000" pitchFamily="2" charset="2"/>
              <a:buChar char="v"/>
            </a:pPr>
            <a:r>
              <a:rPr lang="en-US" sz="1600" dirty="0" smtClean="0"/>
              <a:t>They </a:t>
            </a:r>
            <a:r>
              <a:rPr lang="en-US" sz="1600" dirty="0"/>
              <a:t>are represented by arrows</a:t>
            </a:r>
            <a:r>
              <a:rPr lang="en-US" sz="1600" dirty="0" smtClean="0"/>
              <a:t>.</a:t>
            </a:r>
          </a:p>
          <a:p>
            <a:r>
              <a:rPr lang="en-US" sz="1600" b="1" dirty="0" smtClean="0"/>
              <a:t>4) Variable</a:t>
            </a:r>
          </a:p>
          <a:p>
            <a:pPr marL="342900" indent="-342900">
              <a:buFont typeface="Wingdings" panose="05000000000000000000" pitchFamily="2" charset="2"/>
              <a:buChar char="v"/>
            </a:pPr>
            <a:r>
              <a:rPr lang="en-US" sz="1600" dirty="0" smtClean="0"/>
              <a:t>Variable </a:t>
            </a:r>
            <a:r>
              <a:rPr lang="en-US" sz="1600" dirty="0"/>
              <a:t>name here refers a pre-condition or current condition.</a:t>
            </a:r>
          </a:p>
          <a:p>
            <a:pPr marL="342900" indent="-342900">
              <a:buFont typeface="Wingdings" panose="05000000000000000000" pitchFamily="2" charset="2"/>
              <a:buChar char="v"/>
            </a:pPr>
            <a:r>
              <a:rPr lang="en-US" sz="1600" dirty="0"/>
              <a:t>Meaning the variable is in a state before any changes is made to it</a:t>
            </a:r>
          </a:p>
          <a:p>
            <a:r>
              <a:rPr lang="en-US" sz="1600" b="1" dirty="0" smtClean="0"/>
              <a:t>5) Variable’</a:t>
            </a:r>
          </a:p>
          <a:p>
            <a:pPr marL="342900" indent="-342900">
              <a:buFont typeface="Wingdings" panose="05000000000000000000" pitchFamily="2" charset="2"/>
              <a:buChar char="v"/>
            </a:pPr>
            <a:r>
              <a:rPr lang="en-US" sz="1600" dirty="0" smtClean="0"/>
              <a:t>Variable</a:t>
            </a:r>
            <a:r>
              <a:rPr lang="en-US" sz="1600" dirty="0"/>
              <a:t>’ name here refers a post-condition.</a:t>
            </a:r>
          </a:p>
          <a:p>
            <a:pPr marL="342900" indent="-342900">
              <a:buFont typeface="Wingdings" panose="05000000000000000000" pitchFamily="2" charset="2"/>
              <a:buChar char="v"/>
            </a:pPr>
            <a:r>
              <a:rPr lang="en-US" sz="1600" dirty="0"/>
              <a:t>Meaning the variable is in a state after changes is made to it</a:t>
            </a:r>
          </a:p>
          <a:p>
            <a:r>
              <a:rPr lang="en-US" sz="1600" b="1" dirty="0" smtClean="0"/>
              <a:t>6) Variable?</a:t>
            </a:r>
          </a:p>
          <a:p>
            <a:pPr marL="342900" indent="-342900">
              <a:buFont typeface="Wingdings" panose="05000000000000000000" pitchFamily="2" charset="2"/>
              <a:buChar char="v"/>
            </a:pPr>
            <a:r>
              <a:rPr lang="en-US" sz="1600" dirty="0" smtClean="0"/>
              <a:t>The </a:t>
            </a:r>
            <a:r>
              <a:rPr lang="en-US" sz="1600" dirty="0"/>
              <a:t>value for this variable comes from an input device. (input</a:t>
            </a:r>
            <a:r>
              <a:rPr lang="en-US" sz="1600" dirty="0" smtClean="0"/>
              <a:t>)</a:t>
            </a:r>
          </a:p>
          <a:p>
            <a:r>
              <a:rPr lang="en-US" sz="1600" b="1" dirty="0" smtClean="0"/>
              <a:t>7) Variable!</a:t>
            </a:r>
          </a:p>
          <a:p>
            <a:pPr marL="342900" indent="-342900">
              <a:buFont typeface="Wingdings" panose="05000000000000000000" pitchFamily="2" charset="2"/>
              <a:buChar char="v"/>
            </a:pPr>
            <a:r>
              <a:rPr lang="en-US" sz="1600" dirty="0" smtClean="0"/>
              <a:t>The </a:t>
            </a:r>
            <a:r>
              <a:rPr lang="en-US" sz="1600" dirty="0"/>
              <a:t>value for this variable will be shown or listed out (output)</a:t>
            </a:r>
            <a:br>
              <a:rPr lang="en-US" sz="1600" dirty="0"/>
            </a:br>
            <a:endParaRPr lang="en-US" sz="1600" dirty="0"/>
          </a:p>
        </p:txBody>
      </p:sp>
    </p:spTree>
    <p:extLst>
      <p:ext uri="{BB962C8B-B14F-4D97-AF65-F5344CB8AC3E}">
        <p14:creationId xmlns:p14="http://schemas.microsoft.com/office/powerpoint/2010/main" val="156142874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Functions and relation in Z</a:t>
            </a:r>
            <a:endParaRPr lang="en-US" sz="2000" b="1" dirty="0">
              <a:solidFill>
                <a:srgbClr val="FF0000"/>
              </a:solidFill>
            </a:endParaRPr>
          </a:p>
          <a:p>
            <a:r>
              <a:rPr lang="en-US" sz="2400" b="1" dirty="0"/>
              <a:t>Functions:</a:t>
            </a:r>
          </a:p>
          <a:p>
            <a:r>
              <a:rPr lang="en-US" sz="2400" b="1" dirty="0"/>
              <a:t>Total Function (→)</a:t>
            </a:r>
            <a:r>
              <a:rPr lang="en-US" sz="2400" dirty="0"/>
              <a:t>:</a:t>
            </a:r>
          </a:p>
          <a:p>
            <a:pPr lvl="1"/>
            <a:r>
              <a:rPr lang="en-US" sz="2400" dirty="0"/>
              <a:t>A total function maps every element from its domain to exactly one element in its range.</a:t>
            </a:r>
          </a:p>
          <a:p>
            <a:pPr lvl="1"/>
            <a:r>
              <a:rPr lang="en-US" sz="2400" dirty="0"/>
              <a:t>Notation: f: A → B where f is the function, A is the domain, and B is the range.</a:t>
            </a:r>
          </a:p>
          <a:p>
            <a:pPr lvl="1"/>
            <a:r>
              <a:rPr lang="en-US" sz="2400" dirty="0"/>
              <a:t>Example: f: ℕ → ℤ represents a function from natural numbers to integers.</a:t>
            </a:r>
          </a:p>
          <a:p>
            <a:r>
              <a:rPr lang="en-US" sz="2400" b="1" dirty="0"/>
              <a:t>Partial Function (↔)</a:t>
            </a:r>
            <a:r>
              <a:rPr lang="en-US" sz="2400" dirty="0"/>
              <a:t>:</a:t>
            </a:r>
          </a:p>
          <a:p>
            <a:pPr lvl="1"/>
            <a:r>
              <a:rPr lang="en-US" sz="2400" dirty="0"/>
              <a:t>A partial function maps some elements from its domain to elements in its range, but not necessarily all.</a:t>
            </a:r>
          </a:p>
          <a:p>
            <a:pPr lvl="1"/>
            <a:r>
              <a:rPr lang="en-US" sz="2400" dirty="0"/>
              <a:t>Notation: f: A ⇸ B where f is the function, A is the domain, and B is the range.</a:t>
            </a:r>
          </a:p>
          <a:p>
            <a:pPr lvl="1"/>
            <a:r>
              <a:rPr lang="en-US" sz="2400" dirty="0"/>
              <a:t>Example: f: ℤ ⇸ ℕ represents a partial function from integers to natural numbers.</a:t>
            </a:r>
          </a:p>
        </p:txBody>
      </p:sp>
    </p:spTree>
    <p:extLst>
      <p:ext uri="{BB962C8B-B14F-4D97-AF65-F5344CB8AC3E}">
        <p14:creationId xmlns:p14="http://schemas.microsoft.com/office/powerpoint/2010/main" val="203604205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Functions and relation in Z</a:t>
            </a:r>
            <a:endParaRPr lang="en-US" sz="2000" b="1" dirty="0">
              <a:solidFill>
                <a:srgbClr val="FF0000"/>
              </a:solidFill>
            </a:endParaRPr>
          </a:p>
          <a:p>
            <a:r>
              <a:rPr lang="en-US" sz="2400" b="1" dirty="0"/>
              <a:t>Partial Injection (Partial Injective Function)</a:t>
            </a:r>
            <a:r>
              <a:rPr lang="en-US" sz="2400" dirty="0"/>
              <a:t>:</a:t>
            </a:r>
          </a:p>
          <a:p>
            <a:pPr marL="342900" indent="-342900">
              <a:buFont typeface="Wingdings" panose="05000000000000000000" pitchFamily="2" charset="2"/>
              <a:buChar char="v"/>
            </a:pPr>
            <a:r>
              <a:rPr lang="en-US" sz="2400" dirty="0"/>
              <a:t>A partial injection, also known as a partial injective function, maps elements from its domain to elements in its range without allowing multiple elements from the domain to map to the same element in the range.</a:t>
            </a:r>
          </a:p>
          <a:p>
            <a:r>
              <a:rPr lang="en-US" sz="2400" dirty="0">
                <a:solidFill>
                  <a:srgbClr val="FF0000"/>
                </a:solidFill>
              </a:rPr>
              <a:t>Notation:</a:t>
            </a:r>
            <a:r>
              <a:rPr lang="en-US" sz="2400" dirty="0"/>
              <a:t> f: A ⇸ B, where f is the function, A is the domain, and B is the range.</a:t>
            </a:r>
          </a:p>
          <a:p>
            <a:r>
              <a:rPr lang="en-US" sz="2400" dirty="0">
                <a:solidFill>
                  <a:srgbClr val="FF0000"/>
                </a:solidFill>
              </a:rPr>
              <a:t>Example:</a:t>
            </a:r>
            <a:r>
              <a:rPr lang="en-US" sz="2400" dirty="0"/>
              <a:t> If f: ℕ ⇸ ℤ, it means that f is a partial injection from natural numbers to integers, allowing some natural numbers to map to distinct integers but not necessarily all natural numbers.</a:t>
            </a:r>
          </a:p>
        </p:txBody>
      </p:sp>
    </p:spTree>
    <p:extLst>
      <p:ext uri="{BB962C8B-B14F-4D97-AF65-F5344CB8AC3E}">
        <p14:creationId xmlns:p14="http://schemas.microsoft.com/office/powerpoint/2010/main" val="385988679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Functions and relation in Z</a:t>
            </a:r>
            <a:endParaRPr lang="en-US" sz="2000" b="1" dirty="0">
              <a:solidFill>
                <a:srgbClr val="FF0000"/>
              </a:solidFill>
            </a:endParaRPr>
          </a:p>
          <a:p>
            <a:r>
              <a:rPr lang="en-US" sz="2400" b="1" dirty="0"/>
              <a:t>Total Injection (Total Injective Function)</a:t>
            </a:r>
            <a:r>
              <a:rPr lang="en-US" sz="2400" dirty="0"/>
              <a:t>:</a:t>
            </a:r>
          </a:p>
          <a:p>
            <a:pPr marL="342900" indent="-342900">
              <a:buFont typeface="Wingdings" panose="05000000000000000000" pitchFamily="2" charset="2"/>
              <a:buChar char="v"/>
            </a:pPr>
            <a:r>
              <a:rPr lang="en-US" sz="2400" dirty="0"/>
              <a:t>A total injection, also known as a total injective function, is similar to a partial injection but requires that every element in the domain maps to a unique element in the range.</a:t>
            </a:r>
            <a:endParaRPr lang="en-US" sz="2400" dirty="0">
              <a:solidFill>
                <a:srgbClr val="FF0000"/>
              </a:solidFill>
            </a:endParaRPr>
          </a:p>
          <a:p>
            <a:r>
              <a:rPr lang="en-US" sz="2400" dirty="0">
                <a:solidFill>
                  <a:srgbClr val="FF0000"/>
                </a:solidFill>
              </a:rPr>
              <a:t>Notation:</a:t>
            </a:r>
            <a:r>
              <a:rPr lang="en-US" sz="2400" dirty="0"/>
              <a:t> f: A ⇺ B, where f is the function, A is the domain, and B is the range.</a:t>
            </a:r>
          </a:p>
          <a:p>
            <a:r>
              <a:rPr lang="en-US" sz="2400" dirty="0">
                <a:solidFill>
                  <a:srgbClr val="FF0000"/>
                </a:solidFill>
              </a:rPr>
              <a:t>Example:</a:t>
            </a:r>
            <a:r>
              <a:rPr lang="en-US" sz="2400" dirty="0"/>
              <a:t> If f: ℕ ⇺ ℤ, it means that f is a total injection from natural numbers to integers, ensuring that every natural number maps to a distinct integer.</a:t>
            </a:r>
          </a:p>
        </p:txBody>
      </p:sp>
    </p:spTree>
    <p:extLst>
      <p:ext uri="{BB962C8B-B14F-4D97-AF65-F5344CB8AC3E}">
        <p14:creationId xmlns:p14="http://schemas.microsoft.com/office/powerpoint/2010/main" val="176203267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solidFill>
                  <a:srgbClr val="FF0000"/>
                </a:solidFill>
              </a:rPr>
              <a:t>Functions and relation in Z</a:t>
            </a:r>
            <a:endParaRPr lang="en-US" sz="2400" b="1" dirty="0">
              <a:solidFill>
                <a:srgbClr val="FF0000"/>
              </a:solidFill>
            </a:endParaRPr>
          </a:p>
          <a:p>
            <a:r>
              <a:rPr lang="en-US" sz="2400" b="1" dirty="0"/>
              <a:t>Surjection (Surjective Function)</a:t>
            </a:r>
            <a:r>
              <a:rPr lang="en-US" sz="2400" dirty="0"/>
              <a:t>:</a:t>
            </a:r>
          </a:p>
          <a:p>
            <a:pPr marL="742950" lvl="1" indent="-285750">
              <a:buFont typeface="Wingdings" panose="05000000000000000000" pitchFamily="2" charset="2"/>
              <a:buChar char="v"/>
            </a:pPr>
            <a:r>
              <a:rPr lang="en-US" sz="2400" dirty="0"/>
              <a:t>A surjection, also known as a surjective function, is a function in which every element in the range is mapped to by at least one element in the domain.</a:t>
            </a:r>
          </a:p>
          <a:p>
            <a:pPr lvl="1"/>
            <a:r>
              <a:rPr lang="en-US" sz="2400" dirty="0">
                <a:solidFill>
                  <a:srgbClr val="FF0000"/>
                </a:solidFill>
              </a:rPr>
              <a:t>Notation:</a:t>
            </a:r>
            <a:r>
              <a:rPr lang="en-US" sz="2400" dirty="0"/>
              <a:t> f: A ↠ B, where f is the function, A is the domain, and B is the range.</a:t>
            </a:r>
          </a:p>
          <a:p>
            <a:pPr lvl="1"/>
            <a:r>
              <a:rPr lang="en-US" sz="2400" dirty="0">
                <a:solidFill>
                  <a:srgbClr val="FF0000"/>
                </a:solidFill>
              </a:rPr>
              <a:t>Example:</a:t>
            </a:r>
            <a:r>
              <a:rPr lang="en-US" sz="2400" dirty="0"/>
              <a:t> If f: ℕ ↠ ℤ, it means that f is a surjection from natural numbers to integers, ensuring that every integer is mapped to by at least one natural number.</a:t>
            </a:r>
          </a:p>
          <a:p>
            <a:r>
              <a:rPr lang="en-US" sz="2400" dirty="0"/>
              <a:t/>
            </a:r>
            <a:br>
              <a:rPr lang="en-US" sz="2400" dirty="0"/>
            </a:br>
            <a:endParaRPr lang="en-US" sz="2400" dirty="0"/>
          </a:p>
        </p:txBody>
      </p:sp>
    </p:spTree>
    <p:extLst>
      <p:ext uri="{BB962C8B-B14F-4D97-AF65-F5344CB8AC3E}">
        <p14:creationId xmlns:p14="http://schemas.microsoft.com/office/powerpoint/2010/main" val="180418246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Formal Specification Languages</a:t>
            </a:r>
          </a:p>
          <a:p>
            <a:pPr algn="ctr"/>
            <a:r>
              <a:rPr lang="en-US" sz="2800" b="1" spc="-1" dirty="0" smtClean="0">
                <a:solidFill>
                  <a:srgbClr val="FF0000"/>
                </a:solidFill>
                <a:latin typeface="Gill Sans"/>
              </a:rPr>
              <a:t>Z Language</a:t>
            </a:r>
            <a:endParaRPr lang="en-US" sz="2800" b="1" spc="-1" dirty="0">
              <a:solidFill>
                <a:srgbClr val="FF0000"/>
              </a:solidFill>
              <a:latin typeface="Arial"/>
            </a:endParaRP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smtClean="0">
                <a:solidFill>
                  <a:srgbClr val="FF0000"/>
                </a:solidFill>
              </a:rPr>
              <a:t>Example</a:t>
            </a:r>
          </a:p>
          <a:p>
            <a:r>
              <a:rPr lang="en-US" sz="2000" dirty="0"/>
              <a:t>Here's a simple example of a Z schema that specifies a basic data structure:</a:t>
            </a:r>
          </a:p>
          <a:p>
            <a:pPr lvl="5"/>
            <a:r>
              <a:rPr lang="en-US" sz="2000" dirty="0" smtClean="0">
                <a:solidFill>
                  <a:srgbClr val="7030A0"/>
                </a:solidFill>
              </a:rPr>
              <a:t>schema </a:t>
            </a:r>
            <a:r>
              <a:rPr lang="en-US" sz="2000" dirty="0">
                <a:solidFill>
                  <a:srgbClr val="7030A0"/>
                </a:solidFill>
              </a:rPr>
              <a:t>Stack</a:t>
            </a:r>
          </a:p>
          <a:p>
            <a:pPr lvl="5"/>
            <a:r>
              <a:rPr lang="en-US" sz="2000" dirty="0">
                <a:solidFill>
                  <a:srgbClr val="7030A0"/>
                </a:solidFill>
              </a:rPr>
              <a:t>  </a:t>
            </a:r>
            <a:r>
              <a:rPr lang="en-US" sz="2000" dirty="0" err="1">
                <a:solidFill>
                  <a:srgbClr val="7030A0"/>
                </a:solidFill>
              </a:rPr>
              <a:t>max_size</a:t>
            </a:r>
            <a:r>
              <a:rPr lang="en-US" sz="2000" dirty="0">
                <a:solidFill>
                  <a:srgbClr val="7030A0"/>
                </a:solidFill>
              </a:rPr>
              <a:t>: ℕ     // Maximum size of the stack</a:t>
            </a:r>
          </a:p>
          <a:p>
            <a:pPr lvl="5"/>
            <a:r>
              <a:rPr lang="en-US" sz="2000" dirty="0">
                <a:solidFill>
                  <a:srgbClr val="7030A0"/>
                </a:solidFill>
              </a:rPr>
              <a:t>  elements: ℤ*    // Sequence of integer elements</a:t>
            </a:r>
          </a:p>
          <a:p>
            <a:pPr lvl="5"/>
            <a:r>
              <a:rPr lang="en-US" sz="2000" dirty="0">
                <a:solidFill>
                  <a:srgbClr val="7030A0"/>
                </a:solidFill>
              </a:rPr>
              <a:t>  </a:t>
            </a:r>
          </a:p>
          <a:p>
            <a:pPr lvl="5"/>
            <a:r>
              <a:rPr lang="en-US" sz="2000" dirty="0">
                <a:solidFill>
                  <a:srgbClr val="7030A0"/>
                </a:solidFill>
              </a:rPr>
              <a:t>  // Preconditions: stack is not full</a:t>
            </a:r>
          </a:p>
          <a:p>
            <a:pPr lvl="5"/>
            <a:r>
              <a:rPr lang="en-US" sz="2000" dirty="0">
                <a:solidFill>
                  <a:srgbClr val="7030A0"/>
                </a:solidFill>
              </a:rPr>
              <a:t>  // </a:t>
            </a:r>
            <a:r>
              <a:rPr lang="en-US" sz="2000" dirty="0" err="1">
                <a:solidFill>
                  <a:srgbClr val="7030A0"/>
                </a:solidFill>
              </a:rPr>
              <a:t>Postconditions</a:t>
            </a:r>
            <a:r>
              <a:rPr lang="en-US" sz="2000" dirty="0">
                <a:solidFill>
                  <a:srgbClr val="7030A0"/>
                </a:solidFill>
              </a:rPr>
              <a:t>: element is added to the top of the stack</a:t>
            </a:r>
          </a:p>
          <a:p>
            <a:pPr lvl="5"/>
            <a:r>
              <a:rPr lang="en-US" sz="2000" dirty="0">
                <a:solidFill>
                  <a:srgbClr val="7030A0"/>
                </a:solidFill>
              </a:rPr>
              <a:t>  push(</a:t>
            </a:r>
            <a:r>
              <a:rPr lang="en-US" sz="2000" dirty="0" err="1">
                <a:solidFill>
                  <a:srgbClr val="7030A0"/>
                </a:solidFill>
              </a:rPr>
              <a:t>elem</a:t>
            </a:r>
            <a:r>
              <a:rPr lang="en-US" sz="2000" dirty="0">
                <a:solidFill>
                  <a:srgbClr val="7030A0"/>
                </a:solidFill>
              </a:rPr>
              <a:t>: ℤ)</a:t>
            </a:r>
          </a:p>
          <a:p>
            <a:pPr lvl="5"/>
            <a:r>
              <a:rPr lang="en-US" sz="2000" dirty="0">
                <a:solidFill>
                  <a:srgbClr val="7030A0"/>
                </a:solidFill>
              </a:rPr>
              <a:t>  </a:t>
            </a:r>
          </a:p>
          <a:p>
            <a:pPr lvl="5"/>
            <a:r>
              <a:rPr lang="en-US" sz="2000" dirty="0">
                <a:solidFill>
                  <a:srgbClr val="7030A0"/>
                </a:solidFill>
              </a:rPr>
              <a:t>  // Preconditions: stack is not empty</a:t>
            </a:r>
          </a:p>
          <a:p>
            <a:pPr lvl="5"/>
            <a:r>
              <a:rPr lang="en-US" sz="2000" dirty="0">
                <a:solidFill>
                  <a:srgbClr val="7030A0"/>
                </a:solidFill>
              </a:rPr>
              <a:t>  // </a:t>
            </a:r>
            <a:r>
              <a:rPr lang="en-US" sz="2000" dirty="0" err="1">
                <a:solidFill>
                  <a:srgbClr val="7030A0"/>
                </a:solidFill>
              </a:rPr>
              <a:t>Postconditions</a:t>
            </a:r>
            <a:r>
              <a:rPr lang="en-US" sz="2000" dirty="0">
                <a:solidFill>
                  <a:srgbClr val="7030A0"/>
                </a:solidFill>
              </a:rPr>
              <a:t>: element is removed from the top of the stack</a:t>
            </a:r>
          </a:p>
          <a:p>
            <a:pPr lvl="5"/>
            <a:r>
              <a:rPr lang="en-US" sz="2000" dirty="0">
                <a:solidFill>
                  <a:srgbClr val="7030A0"/>
                </a:solidFill>
              </a:rPr>
              <a:t>  pop()</a:t>
            </a:r>
          </a:p>
          <a:p>
            <a:pPr lvl="5"/>
            <a:r>
              <a:rPr lang="en-US" sz="2000" dirty="0">
                <a:solidFill>
                  <a:srgbClr val="7030A0"/>
                </a:solidFill>
              </a:rPr>
              <a:t>  </a:t>
            </a:r>
          </a:p>
          <a:p>
            <a:pPr lvl="5"/>
            <a:r>
              <a:rPr lang="en-US" sz="2000" dirty="0">
                <a:solidFill>
                  <a:srgbClr val="7030A0"/>
                </a:solidFill>
              </a:rPr>
              <a:t>  // Invariant: number of elements does not exceed </a:t>
            </a:r>
            <a:r>
              <a:rPr lang="en-US" sz="2000" dirty="0" err="1">
                <a:solidFill>
                  <a:srgbClr val="7030A0"/>
                </a:solidFill>
              </a:rPr>
              <a:t>max_size</a:t>
            </a:r>
            <a:endParaRPr lang="en-US" sz="2000" dirty="0">
              <a:solidFill>
                <a:srgbClr val="7030A0"/>
              </a:solidFill>
            </a:endParaRPr>
          </a:p>
          <a:p>
            <a:pPr lvl="5"/>
            <a:r>
              <a:rPr lang="en-US" sz="2000" dirty="0">
                <a:solidFill>
                  <a:srgbClr val="7030A0"/>
                </a:solidFill>
              </a:rPr>
              <a:t>  </a:t>
            </a:r>
            <a:r>
              <a:rPr lang="en-US" sz="2000" dirty="0" err="1">
                <a:solidFill>
                  <a:srgbClr val="7030A0"/>
                </a:solidFill>
              </a:rPr>
              <a:t>inv</a:t>
            </a:r>
            <a:r>
              <a:rPr lang="en-US" sz="2000" dirty="0">
                <a:solidFill>
                  <a:srgbClr val="7030A0"/>
                </a:solidFill>
              </a:rPr>
              <a:t> size(elements) ≤ </a:t>
            </a:r>
            <a:r>
              <a:rPr lang="en-US" sz="2000" dirty="0" err="1">
                <a:solidFill>
                  <a:srgbClr val="7030A0"/>
                </a:solidFill>
              </a:rPr>
              <a:t>max_size</a:t>
            </a:r>
            <a:endParaRPr lang="en-US" sz="2000" dirty="0">
              <a:solidFill>
                <a:srgbClr val="7030A0"/>
              </a:solidFill>
            </a:endParaRPr>
          </a:p>
          <a:p>
            <a:pPr lvl="5"/>
            <a:r>
              <a:rPr lang="en-US" sz="2000" dirty="0">
                <a:solidFill>
                  <a:srgbClr val="7030A0"/>
                </a:solidFill>
              </a:rPr>
              <a:t>end Stack</a:t>
            </a:r>
          </a:p>
          <a:p>
            <a:r>
              <a:rPr lang="en-US" sz="2000" dirty="0"/>
              <a:t/>
            </a:r>
            <a:br>
              <a:rPr lang="en-US" sz="2000" dirty="0"/>
            </a:br>
            <a:endParaRPr lang="en-US" sz="2000" dirty="0"/>
          </a:p>
        </p:txBody>
      </p:sp>
    </p:spTree>
    <p:extLst>
      <p:ext uri="{BB962C8B-B14F-4D97-AF65-F5344CB8AC3E}">
        <p14:creationId xmlns:p14="http://schemas.microsoft.com/office/powerpoint/2010/main" val="302689418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Define a Z schema for a bank account with the following attributes and operations:</a:t>
            </a:r>
          </a:p>
          <a:p>
            <a:pPr lvl="1"/>
            <a:r>
              <a:rPr lang="en-US" dirty="0">
                <a:solidFill>
                  <a:srgbClr val="FF0000"/>
                </a:solidFill>
              </a:rPr>
              <a:t>Attribute: balance (integer) representing the current balance of the account.</a:t>
            </a:r>
          </a:p>
          <a:p>
            <a:pPr lvl="1"/>
            <a:r>
              <a:rPr lang="en-US" dirty="0">
                <a:solidFill>
                  <a:srgbClr val="FF0000"/>
                </a:solidFill>
              </a:rPr>
              <a:t>Operations: deposit(amount) to deposit money into the account and withdraw(amount) to withdraw money from the account.</a:t>
            </a:r>
          </a:p>
          <a:p>
            <a:r>
              <a:rPr lang="en-US" dirty="0" smtClean="0">
                <a:solidFill>
                  <a:srgbClr val="FF0000"/>
                </a:solidFill>
              </a:rPr>
              <a:t>Write </a:t>
            </a:r>
            <a:r>
              <a:rPr lang="en-US" dirty="0">
                <a:solidFill>
                  <a:srgbClr val="FF0000"/>
                </a:solidFill>
              </a:rPr>
              <a:t>the invariant for the bank account schema to ensure that the balance is always non-negative</a:t>
            </a:r>
            <a:r>
              <a:rPr lang="en-US" dirty="0" smtClean="0">
                <a:solidFill>
                  <a:srgbClr val="FF0000"/>
                </a:solidFill>
              </a:rPr>
              <a:t>.</a:t>
            </a:r>
          </a:p>
          <a:p>
            <a:pPr lvl="6"/>
            <a:r>
              <a:rPr lang="en-US" dirty="0">
                <a:solidFill>
                  <a:srgbClr val="7030A0"/>
                </a:solidFill>
              </a:rPr>
              <a:t>schema </a:t>
            </a:r>
            <a:r>
              <a:rPr lang="en-US" dirty="0" err="1">
                <a:solidFill>
                  <a:srgbClr val="7030A0"/>
                </a:solidFill>
              </a:rPr>
              <a:t>BankAccount</a:t>
            </a:r>
            <a:endParaRPr lang="en-US" dirty="0">
              <a:solidFill>
                <a:srgbClr val="7030A0"/>
              </a:solidFill>
            </a:endParaRPr>
          </a:p>
          <a:p>
            <a:pPr lvl="6"/>
            <a:r>
              <a:rPr lang="en-US" dirty="0">
                <a:solidFill>
                  <a:srgbClr val="7030A0"/>
                </a:solidFill>
              </a:rPr>
              <a:t>  balance: ℤ      // Current balance of the account</a:t>
            </a:r>
          </a:p>
          <a:p>
            <a:pPr lvl="6"/>
            <a:r>
              <a:rPr lang="en-US" dirty="0">
                <a:solidFill>
                  <a:srgbClr val="7030A0"/>
                </a:solidFill>
              </a:rPr>
              <a:t>  </a:t>
            </a:r>
          </a:p>
          <a:p>
            <a:pPr lvl="6"/>
            <a:r>
              <a:rPr lang="en-US" dirty="0">
                <a:solidFill>
                  <a:srgbClr val="7030A0"/>
                </a:solidFill>
              </a:rPr>
              <a:t>  // Operation to deposit money into the account</a:t>
            </a:r>
          </a:p>
          <a:p>
            <a:pPr lvl="6"/>
            <a:r>
              <a:rPr lang="en-US" dirty="0">
                <a:solidFill>
                  <a:srgbClr val="7030A0"/>
                </a:solidFill>
              </a:rPr>
              <a:t>  deposit(amount: ℤ)</a:t>
            </a:r>
          </a:p>
          <a:p>
            <a:pPr lvl="6"/>
            <a:r>
              <a:rPr lang="en-US" dirty="0">
                <a:solidFill>
                  <a:srgbClr val="7030A0"/>
                </a:solidFill>
              </a:rPr>
              <a:t>  </a:t>
            </a:r>
          </a:p>
          <a:p>
            <a:pPr lvl="6"/>
            <a:r>
              <a:rPr lang="en-US" dirty="0">
                <a:solidFill>
                  <a:srgbClr val="7030A0"/>
                </a:solidFill>
              </a:rPr>
              <a:t>  // Operation to withdraw money from the account</a:t>
            </a:r>
          </a:p>
          <a:p>
            <a:pPr lvl="6"/>
            <a:r>
              <a:rPr lang="en-US" dirty="0">
                <a:solidFill>
                  <a:srgbClr val="7030A0"/>
                </a:solidFill>
              </a:rPr>
              <a:t>  withdraw(amount: ℤ)</a:t>
            </a:r>
          </a:p>
          <a:p>
            <a:pPr lvl="6"/>
            <a:r>
              <a:rPr lang="en-US" dirty="0">
                <a:solidFill>
                  <a:srgbClr val="7030A0"/>
                </a:solidFill>
              </a:rPr>
              <a:t>  </a:t>
            </a:r>
          </a:p>
          <a:p>
            <a:pPr lvl="6"/>
            <a:r>
              <a:rPr lang="en-US" dirty="0">
                <a:solidFill>
                  <a:srgbClr val="7030A0"/>
                </a:solidFill>
              </a:rPr>
              <a:t>  // Invariant: balance is always non-negative</a:t>
            </a:r>
          </a:p>
          <a:p>
            <a:pPr lvl="6"/>
            <a:r>
              <a:rPr lang="en-US" dirty="0">
                <a:solidFill>
                  <a:srgbClr val="7030A0"/>
                </a:solidFill>
              </a:rPr>
              <a:t>  </a:t>
            </a:r>
            <a:r>
              <a:rPr lang="en-US" dirty="0" err="1">
                <a:solidFill>
                  <a:srgbClr val="7030A0"/>
                </a:solidFill>
              </a:rPr>
              <a:t>inv</a:t>
            </a:r>
            <a:r>
              <a:rPr lang="en-US" dirty="0">
                <a:solidFill>
                  <a:srgbClr val="7030A0"/>
                </a:solidFill>
              </a:rPr>
              <a:t> balance ≥ 0</a:t>
            </a:r>
          </a:p>
          <a:p>
            <a:pPr lvl="6"/>
            <a:r>
              <a:rPr lang="en-US" dirty="0">
                <a:solidFill>
                  <a:srgbClr val="7030A0"/>
                </a:solidFill>
              </a:rPr>
              <a:t>end </a:t>
            </a:r>
            <a:r>
              <a:rPr lang="en-US" dirty="0" err="1">
                <a:solidFill>
                  <a:srgbClr val="7030A0"/>
                </a:solidFill>
              </a:rPr>
              <a:t>BankAccount</a:t>
            </a:r>
            <a:endParaRPr lang="en-US" dirty="0">
              <a:solidFill>
                <a:srgbClr val="7030A0"/>
              </a:solidFill>
            </a:endParaRPr>
          </a:p>
          <a:p>
            <a:endParaRPr lang="en-US" dirty="0"/>
          </a:p>
        </p:txBody>
      </p:sp>
    </p:spTree>
    <p:extLst>
      <p:ext uri="{BB962C8B-B14F-4D97-AF65-F5344CB8AC3E}">
        <p14:creationId xmlns:p14="http://schemas.microsoft.com/office/powerpoint/2010/main" val="202745713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smtClean="0">
                <a:solidFill>
                  <a:srgbClr val="FF0000"/>
                </a:solidFill>
              </a:rPr>
              <a:t>Create </a:t>
            </a:r>
            <a:r>
              <a:rPr lang="en-US" dirty="0">
                <a:solidFill>
                  <a:srgbClr val="FF0000"/>
                </a:solidFill>
              </a:rPr>
              <a:t>a Z schema for a stack data structure with the following characteristics:</a:t>
            </a:r>
          </a:p>
          <a:p>
            <a:r>
              <a:rPr lang="en-US" dirty="0" smtClean="0">
                <a:solidFill>
                  <a:srgbClr val="FF0000"/>
                </a:solidFill>
              </a:rPr>
              <a:t>Attribute</a:t>
            </a:r>
            <a:r>
              <a:rPr lang="en-US" dirty="0">
                <a:solidFill>
                  <a:srgbClr val="FF0000"/>
                </a:solidFill>
              </a:rPr>
              <a:t>: elements representing a sequence of integer elements.</a:t>
            </a:r>
          </a:p>
          <a:p>
            <a:r>
              <a:rPr lang="en-US" dirty="0" smtClean="0">
                <a:solidFill>
                  <a:srgbClr val="FF0000"/>
                </a:solidFill>
              </a:rPr>
              <a:t>Operations</a:t>
            </a:r>
            <a:r>
              <a:rPr lang="en-US" dirty="0">
                <a:solidFill>
                  <a:srgbClr val="FF0000"/>
                </a:solidFill>
              </a:rPr>
              <a:t>: push(</a:t>
            </a:r>
            <a:r>
              <a:rPr lang="en-US" dirty="0" err="1">
                <a:solidFill>
                  <a:srgbClr val="FF0000"/>
                </a:solidFill>
              </a:rPr>
              <a:t>elem</a:t>
            </a:r>
            <a:r>
              <a:rPr lang="en-US" dirty="0">
                <a:solidFill>
                  <a:srgbClr val="FF0000"/>
                </a:solidFill>
              </a:rPr>
              <a:t>) to add an element onto the stack and pop() to remove an element from the stack.</a:t>
            </a:r>
          </a:p>
          <a:p>
            <a:r>
              <a:rPr lang="en-US" dirty="0" smtClean="0">
                <a:solidFill>
                  <a:srgbClr val="FF0000"/>
                </a:solidFill>
              </a:rPr>
              <a:t>Define </a:t>
            </a:r>
            <a:r>
              <a:rPr lang="en-US" dirty="0">
                <a:solidFill>
                  <a:srgbClr val="FF0000"/>
                </a:solidFill>
              </a:rPr>
              <a:t>an invariant for the stack schema to ensure that the stack is never empty</a:t>
            </a:r>
            <a:r>
              <a:rPr lang="en-US" dirty="0" smtClean="0">
                <a:solidFill>
                  <a:srgbClr val="FF0000"/>
                </a:solidFill>
              </a:rPr>
              <a:t>.</a:t>
            </a:r>
          </a:p>
          <a:p>
            <a:pPr lvl="8"/>
            <a:r>
              <a:rPr lang="en-US" dirty="0" smtClean="0">
                <a:solidFill>
                  <a:srgbClr val="7030A0"/>
                </a:solidFill>
              </a:rPr>
              <a:t>schema </a:t>
            </a:r>
            <a:r>
              <a:rPr lang="en-US" dirty="0">
                <a:solidFill>
                  <a:srgbClr val="7030A0"/>
                </a:solidFill>
              </a:rPr>
              <a:t>Stack</a:t>
            </a:r>
          </a:p>
          <a:p>
            <a:pPr lvl="8"/>
            <a:r>
              <a:rPr lang="en-US" dirty="0">
                <a:solidFill>
                  <a:srgbClr val="7030A0"/>
                </a:solidFill>
              </a:rPr>
              <a:t>  elements: ℤ*    // Sequence of integer elements</a:t>
            </a:r>
          </a:p>
          <a:p>
            <a:pPr lvl="8"/>
            <a:r>
              <a:rPr lang="en-US" dirty="0">
                <a:solidFill>
                  <a:srgbClr val="7030A0"/>
                </a:solidFill>
              </a:rPr>
              <a:t>  </a:t>
            </a:r>
          </a:p>
          <a:p>
            <a:pPr lvl="8"/>
            <a:r>
              <a:rPr lang="en-US" dirty="0">
                <a:solidFill>
                  <a:srgbClr val="7030A0"/>
                </a:solidFill>
              </a:rPr>
              <a:t>  // Operation to push an element onto the stack</a:t>
            </a:r>
          </a:p>
          <a:p>
            <a:pPr lvl="8"/>
            <a:r>
              <a:rPr lang="en-US" dirty="0">
                <a:solidFill>
                  <a:srgbClr val="7030A0"/>
                </a:solidFill>
              </a:rPr>
              <a:t>  push(</a:t>
            </a:r>
            <a:r>
              <a:rPr lang="en-US" dirty="0" err="1">
                <a:solidFill>
                  <a:srgbClr val="7030A0"/>
                </a:solidFill>
              </a:rPr>
              <a:t>elem</a:t>
            </a:r>
            <a:r>
              <a:rPr lang="en-US" dirty="0">
                <a:solidFill>
                  <a:srgbClr val="7030A0"/>
                </a:solidFill>
              </a:rPr>
              <a:t>: ℤ)</a:t>
            </a:r>
          </a:p>
          <a:p>
            <a:pPr lvl="8"/>
            <a:r>
              <a:rPr lang="en-US" dirty="0">
                <a:solidFill>
                  <a:srgbClr val="7030A0"/>
                </a:solidFill>
              </a:rPr>
              <a:t>  </a:t>
            </a:r>
          </a:p>
          <a:p>
            <a:pPr lvl="8"/>
            <a:r>
              <a:rPr lang="en-US" dirty="0">
                <a:solidFill>
                  <a:srgbClr val="7030A0"/>
                </a:solidFill>
              </a:rPr>
              <a:t>  // Operation to pop an element from the stack</a:t>
            </a:r>
          </a:p>
          <a:p>
            <a:pPr lvl="8"/>
            <a:r>
              <a:rPr lang="en-US" dirty="0">
                <a:solidFill>
                  <a:srgbClr val="7030A0"/>
                </a:solidFill>
              </a:rPr>
              <a:t>  pop()</a:t>
            </a:r>
          </a:p>
          <a:p>
            <a:pPr lvl="8"/>
            <a:r>
              <a:rPr lang="en-US" dirty="0">
                <a:solidFill>
                  <a:srgbClr val="7030A0"/>
                </a:solidFill>
              </a:rPr>
              <a:t>  </a:t>
            </a:r>
          </a:p>
          <a:p>
            <a:pPr lvl="8"/>
            <a:r>
              <a:rPr lang="en-US" dirty="0">
                <a:solidFill>
                  <a:srgbClr val="7030A0"/>
                </a:solidFill>
              </a:rPr>
              <a:t>  // Invariant: stack is never empty</a:t>
            </a:r>
          </a:p>
          <a:p>
            <a:pPr lvl="8"/>
            <a:r>
              <a:rPr lang="en-US" dirty="0">
                <a:solidFill>
                  <a:srgbClr val="7030A0"/>
                </a:solidFill>
              </a:rPr>
              <a:t>  </a:t>
            </a:r>
            <a:r>
              <a:rPr lang="en-US" dirty="0" err="1">
                <a:solidFill>
                  <a:srgbClr val="7030A0"/>
                </a:solidFill>
              </a:rPr>
              <a:t>inv</a:t>
            </a:r>
            <a:r>
              <a:rPr lang="en-US" dirty="0">
                <a:solidFill>
                  <a:srgbClr val="7030A0"/>
                </a:solidFill>
              </a:rPr>
              <a:t> ¬</a:t>
            </a:r>
            <a:r>
              <a:rPr lang="en-US" dirty="0" err="1">
                <a:solidFill>
                  <a:srgbClr val="7030A0"/>
                </a:solidFill>
              </a:rPr>
              <a:t>isEmpty</a:t>
            </a:r>
            <a:r>
              <a:rPr lang="en-US" dirty="0">
                <a:solidFill>
                  <a:srgbClr val="7030A0"/>
                </a:solidFill>
              </a:rPr>
              <a:t>(elements)</a:t>
            </a:r>
          </a:p>
          <a:p>
            <a:pPr lvl="8"/>
            <a:r>
              <a:rPr lang="en-US" dirty="0">
                <a:solidFill>
                  <a:srgbClr val="7030A0"/>
                </a:solidFill>
              </a:rPr>
              <a:t>  </a:t>
            </a:r>
          </a:p>
          <a:p>
            <a:pPr lvl="8"/>
            <a:r>
              <a:rPr lang="en-US" dirty="0">
                <a:solidFill>
                  <a:srgbClr val="7030A0"/>
                </a:solidFill>
              </a:rPr>
              <a:t>  // Function to check if the stack is empty</a:t>
            </a:r>
          </a:p>
          <a:p>
            <a:pPr lvl="8"/>
            <a:r>
              <a:rPr lang="en-US" dirty="0">
                <a:solidFill>
                  <a:srgbClr val="7030A0"/>
                </a:solidFill>
              </a:rPr>
              <a:t>  </a:t>
            </a:r>
            <a:r>
              <a:rPr lang="en-US" dirty="0" err="1">
                <a:solidFill>
                  <a:srgbClr val="7030A0"/>
                </a:solidFill>
              </a:rPr>
              <a:t>isEmpty</a:t>
            </a:r>
            <a:r>
              <a:rPr lang="en-US" dirty="0">
                <a:solidFill>
                  <a:srgbClr val="7030A0"/>
                </a:solidFill>
              </a:rPr>
              <a:t>(s: ℤ*) == s = &lt;&gt;</a:t>
            </a:r>
          </a:p>
          <a:p>
            <a:pPr lvl="8"/>
            <a:r>
              <a:rPr lang="en-US" dirty="0">
                <a:solidFill>
                  <a:srgbClr val="7030A0"/>
                </a:solidFill>
              </a:rPr>
              <a:t>end Stack</a:t>
            </a:r>
          </a:p>
          <a:p>
            <a:endParaRPr lang="en-US" dirty="0"/>
          </a:p>
        </p:txBody>
      </p:sp>
    </p:spTree>
    <p:extLst>
      <p:ext uri="{BB962C8B-B14F-4D97-AF65-F5344CB8AC3E}">
        <p14:creationId xmlns:p14="http://schemas.microsoft.com/office/powerpoint/2010/main" val="274664365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smtClean="0">
                <a:solidFill>
                  <a:srgbClr val="FF0000"/>
                </a:solidFill>
              </a:rPr>
              <a:t>Develop </a:t>
            </a:r>
            <a:r>
              <a:rPr lang="en-US" dirty="0">
                <a:solidFill>
                  <a:srgbClr val="FF0000"/>
                </a:solidFill>
              </a:rPr>
              <a:t>a Z schema for a shopping cart with the following attributes and operations:</a:t>
            </a:r>
          </a:p>
          <a:p>
            <a:r>
              <a:rPr lang="en-US" dirty="0" smtClean="0">
                <a:solidFill>
                  <a:srgbClr val="FF0000"/>
                </a:solidFill>
              </a:rPr>
              <a:t>Attribute</a:t>
            </a:r>
            <a:r>
              <a:rPr lang="en-US" dirty="0">
                <a:solidFill>
                  <a:srgbClr val="FF0000"/>
                </a:solidFill>
              </a:rPr>
              <a:t>: items representing a set of products in the cart.</a:t>
            </a:r>
          </a:p>
          <a:p>
            <a:r>
              <a:rPr lang="en-US" dirty="0">
                <a:solidFill>
                  <a:srgbClr val="FF0000"/>
                </a:solidFill>
              </a:rPr>
              <a:t>Operations: </a:t>
            </a:r>
            <a:r>
              <a:rPr lang="en-US" dirty="0" err="1">
                <a:solidFill>
                  <a:srgbClr val="FF0000"/>
                </a:solidFill>
              </a:rPr>
              <a:t>addProduct</a:t>
            </a:r>
            <a:r>
              <a:rPr lang="en-US" dirty="0">
                <a:solidFill>
                  <a:srgbClr val="FF0000"/>
                </a:solidFill>
              </a:rPr>
              <a:t>(product) to add a product to the cart and </a:t>
            </a:r>
            <a:r>
              <a:rPr lang="en-US" dirty="0" err="1">
                <a:solidFill>
                  <a:srgbClr val="FF0000"/>
                </a:solidFill>
              </a:rPr>
              <a:t>removeProduct</a:t>
            </a:r>
            <a:r>
              <a:rPr lang="en-US" dirty="0">
                <a:solidFill>
                  <a:srgbClr val="FF0000"/>
                </a:solidFill>
              </a:rPr>
              <a:t>(product) to remove a product from the cart.</a:t>
            </a:r>
          </a:p>
          <a:p>
            <a:r>
              <a:rPr lang="en-US" dirty="0" smtClean="0">
                <a:solidFill>
                  <a:srgbClr val="FF0000"/>
                </a:solidFill>
              </a:rPr>
              <a:t>Write </a:t>
            </a:r>
            <a:r>
              <a:rPr lang="en-US" dirty="0">
                <a:solidFill>
                  <a:srgbClr val="FF0000"/>
                </a:solidFill>
              </a:rPr>
              <a:t>an invariant for the shopping cart schema to ensure that the cart cannot contain duplicate items</a:t>
            </a:r>
            <a:r>
              <a:rPr lang="en-US" dirty="0" smtClean="0">
                <a:solidFill>
                  <a:srgbClr val="FF0000"/>
                </a:solidFill>
              </a:rPr>
              <a:t>.</a:t>
            </a:r>
          </a:p>
          <a:p>
            <a:pPr lvl="7"/>
            <a:r>
              <a:rPr lang="en-US" dirty="0" smtClean="0">
                <a:solidFill>
                  <a:srgbClr val="7030A0"/>
                </a:solidFill>
              </a:rPr>
              <a:t>schema </a:t>
            </a:r>
            <a:r>
              <a:rPr lang="en-US" dirty="0" err="1">
                <a:solidFill>
                  <a:srgbClr val="7030A0"/>
                </a:solidFill>
              </a:rPr>
              <a:t>ShoppingCart</a:t>
            </a:r>
            <a:endParaRPr lang="en-US" dirty="0">
              <a:solidFill>
                <a:srgbClr val="7030A0"/>
              </a:solidFill>
            </a:endParaRPr>
          </a:p>
          <a:p>
            <a:pPr lvl="7"/>
            <a:r>
              <a:rPr lang="en-US" dirty="0">
                <a:solidFill>
                  <a:srgbClr val="7030A0"/>
                </a:solidFill>
              </a:rPr>
              <a:t>  items: ℙ(Products)   // Set of products in the cart</a:t>
            </a:r>
          </a:p>
          <a:p>
            <a:pPr lvl="7"/>
            <a:r>
              <a:rPr lang="en-US" dirty="0">
                <a:solidFill>
                  <a:srgbClr val="7030A0"/>
                </a:solidFill>
              </a:rPr>
              <a:t>  </a:t>
            </a:r>
          </a:p>
          <a:p>
            <a:pPr lvl="7"/>
            <a:r>
              <a:rPr lang="en-US" dirty="0">
                <a:solidFill>
                  <a:srgbClr val="7030A0"/>
                </a:solidFill>
              </a:rPr>
              <a:t>  // Operation to add a product to the cart</a:t>
            </a:r>
          </a:p>
          <a:p>
            <a:pPr lvl="7"/>
            <a:r>
              <a:rPr lang="en-US" dirty="0">
                <a:solidFill>
                  <a:srgbClr val="7030A0"/>
                </a:solidFill>
              </a:rPr>
              <a:t>  </a:t>
            </a:r>
            <a:r>
              <a:rPr lang="en-US" dirty="0" err="1">
                <a:solidFill>
                  <a:srgbClr val="7030A0"/>
                </a:solidFill>
              </a:rPr>
              <a:t>addProduct</a:t>
            </a:r>
            <a:r>
              <a:rPr lang="en-US" dirty="0">
                <a:solidFill>
                  <a:srgbClr val="7030A0"/>
                </a:solidFill>
              </a:rPr>
              <a:t>(product: Products)</a:t>
            </a:r>
          </a:p>
          <a:p>
            <a:pPr lvl="7"/>
            <a:r>
              <a:rPr lang="en-US" dirty="0">
                <a:solidFill>
                  <a:srgbClr val="7030A0"/>
                </a:solidFill>
              </a:rPr>
              <a:t>  </a:t>
            </a:r>
          </a:p>
          <a:p>
            <a:pPr lvl="7"/>
            <a:r>
              <a:rPr lang="en-US" dirty="0">
                <a:solidFill>
                  <a:srgbClr val="7030A0"/>
                </a:solidFill>
              </a:rPr>
              <a:t>  // Operation to remove a product from the cart</a:t>
            </a:r>
          </a:p>
          <a:p>
            <a:pPr lvl="7"/>
            <a:r>
              <a:rPr lang="en-US" dirty="0">
                <a:solidFill>
                  <a:srgbClr val="7030A0"/>
                </a:solidFill>
              </a:rPr>
              <a:t>  </a:t>
            </a:r>
            <a:r>
              <a:rPr lang="en-US" dirty="0" err="1">
                <a:solidFill>
                  <a:srgbClr val="7030A0"/>
                </a:solidFill>
              </a:rPr>
              <a:t>removeProduct</a:t>
            </a:r>
            <a:r>
              <a:rPr lang="en-US" dirty="0">
                <a:solidFill>
                  <a:srgbClr val="7030A0"/>
                </a:solidFill>
              </a:rPr>
              <a:t>(product: Products)</a:t>
            </a:r>
          </a:p>
          <a:p>
            <a:pPr lvl="7"/>
            <a:r>
              <a:rPr lang="en-US" dirty="0">
                <a:solidFill>
                  <a:srgbClr val="7030A0"/>
                </a:solidFill>
              </a:rPr>
              <a:t>  </a:t>
            </a:r>
          </a:p>
          <a:p>
            <a:pPr lvl="7"/>
            <a:r>
              <a:rPr lang="en-US" dirty="0">
                <a:solidFill>
                  <a:srgbClr val="7030A0"/>
                </a:solidFill>
              </a:rPr>
              <a:t>  // Invariant: cart cannot contain duplicate items</a:t>
            </a:r>
          </a:p>
          <a:p>
            <a:pPr lvl="7"/>
            <a:r>
              <a:rPr lang="en-US" dirty="0">
                <a:solidFill>
                  <a:srgbClr val="7030A0"/>
                </a:solidFill>
              </a:rPr>
              <a:t>  </a:t>
            </a:r>
            <a:r>
              <a:rPr lang="en-US" dirty="0" err="1">
                <a:solidFill>
                  <a:srgbClr val="7030A0"/>
                </a:solidFill>
              </a:rPr>
              <a:t>inv</a:t>
            </a:r>
            <a:r>
              <a:rPr lang="en-US" dirty="0">
                <a:solidFill>
                  <a:srgbClr val="7030A0"/>
                </a:solidFill>
              </a:rPr>
              <a:t> items = items ∩ (items \ {product})</a:t>
            </a:r>
          </a:p>
          <a:p>
            <a:pPr lvl="7"/>
            <a:r>
              <a:rPr lang="en-US" dirty="0">
                <a:solidFill>
                  <a:srgbClr val="7030A0"/>
                </a:solidFill>
              </a:rPr>
              <a:t>end </a:t>
            </a:r>
            <a:r>
              <a:rPr lang="en-US" dirty="0" err="1">
                <a:solidFill>
                  <a:srgbClr val="7030A0"/>
                </a:solidFill>
              </a:rPr>
              <a:t>ShoppingCart</a:t>
            </a:r>
            <a:endParaRPr lang="en-US" dirty="0">
              <a:solidFill>
                <a:srgbClr val="7030A0"/>
              </a:solidFill>
            </a:endParaRPr>
          </a:p>
          <a:p>
            <a:endParaRPr lang="en-US" dirty="0"/>
          </a:p>
        </p:txBody>
      </p:sp>
    </p:spTree>
    <p:extLst>
      <p:ext uri="{BB962C8B-B14F-4D97-AF65-F5344CB8AC3E}">
        <p14:creationId xmlns:p14="http://schemas.microsoft.com/office/powerpoint/2010/main" val="364451631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Define a Z schema for a queue data structure with the following characteristics:</a:t>
            </a:r>
          </a:p>
          <a:p>
            <a:r>
              <a:rPr lang="en-US" dirty="0">
                <a:solidFill>
                  <a:srgbClr val="FF0000"/>
                </a:solidFill>
              </a:rPr>
              <a:t>Attribute: elements representing a sequence of integer elements.</a:t>
            </a:r>
          </a:p>
          <a:p>
            <a:r>
              <a:rPr lang="en-US" dirty="0">
                <a:solidFill>
                  <a:srgbClr val="FF0000"/>
                </a:solidFill>
              </a:rPr>
              <a:t>Operations: </a:t>
            </a:r>
            <a:r>
              <a:rPr lang="en-US" dirty="0" err="1">
                <a:solidFill>
                  <a:srgbClr val="FF0000"/>
                </a:solidFill>
              </a:rPr>
              <a:t>enqueue</a:t>
            </a:r>
            <a:r>
              <a:rPr lang="en-US" dirty="0">
                <a:solidFill>
                  <a:srgbClr val="FF0000"/>
                </a:solidFill>
              </a:rPr>
              <a:t>(</a:t>
            </a:r>
            <a:r>
              <a:rPr lang="en-US" dirty="0" err="1">
                <a:solidFill>
                  <a:srgbClr val="FF0000"/>
                </a:solidFill>
              </a:rPr>
              <a:t>elem</a:t>
            </a:r>
            <a:r>
              <a:rPr lang="en-US" dirty="0">
                <a:solidFill>
                  <a:srgbClr val="FF0000"/>
                </a:solidFill>
              </a:rPr>
              <a:t>) to add an element to the rear of the queue and </a:t>
            </a:r>
            <a:r>
              <a:rPr lang="en-US" dirty="0" err="1">
                <a:solidFill>
                  <a:srgbClr val="FF0000"/>
                </a:solidFill>
              </a:rPr>
              <a:t>dequeue</a:t>
            </a:r>
            <a:r>
              <a:rPr lang="en-US" dirty="0">
                <a:solidFill>
                  <a:srgbClr val="FF0000"/>
                </a:solidFill>
              </a:rPr>
              <a:t>() to remove an element from the front of the queue.</a:t>
            </a:r>
          </a:p>
          <a:p>
            <a:r>
              <a:rPr lang="en-US" dirty="0">
                <a:solidFill>
                  <a:srgbClr val="FF0000"/>
                </a:solidFill>
              </a:rPr>
              <a:t>Write the invariant for the queue schema to ensure that the queue is never empty</a:t>
            </a:r>
            <a:r>
              <a:rPr lang="en-US" dirty="0" smtClean="0">
                <a:solidFill>
                  <a:srgbClr val="FF0000"/>
                </a:solidFill>
              </a:rPr>
              <a:t>.</a:t>
            </a:r>
          </a:p>
          <a:p>
            <a:pPr lvl="7"/>
            <a:r>
              <a:rPr lang="en-US" dirty="0" smtClean="0">
                <a:solidFill>
                  <a:srgbClr val="7030A0"/>
                </a:solidFill>
              </a:rPr>
              <a:t>schema </a:t>
            </a:r>
            <a:r>
              <a:rPr lang="en-US" dirty="0">
                <a:solidFill>
                  <a:srgbClr val="7030A0"/>
                </a:solidFill>
              </a:rPr>
              <a:t>Queue</a:t>
            </a:r>
          </a:p>
          <a:p>
            <a:pPr lvl="7"/>
            <a:r>
              <a:rPr lang="en-US" dirty="0">
                <a:solidFill>
                  <a:srgbClr val="7030A0"/>
                </a:solidFill>
              </a:rPr>
              <a:t>  elements: ℤ*    // Sequence of integer elements</a:t>
            </a:r>
          </a:p>
          <a:p>
            <a:pPr lvl="7"/>
            <a:r>
              <a:rPr lang="en-US" dirty="0">
                <a:solidFill>
                  <a:srgbClr val="7030A0"/>
                </a:solidFill>
              </a:rPr>
              <a:t>  </a:t>
            </a:r>
          </a:p>
          <a:p>
            <a:pPr lvl="7"/>
            <a:r>
              <a:rPr lang="en-US" dirty="0">
                <a:solidFill>
                  <a:srgbClr val="7030A0"/>
                </a:solidFill>
              </a:rPr>
              <a:t>  // Operation to </a:t>
            </a:r>
            <a:r>
              <a:rPr lang="en-US" dirty="0" err="1">
                <a:solidFill>
                  <a:srgbClr val="7030A0"/>
                </a:solidFill>
              </a:rPr>
              <a:t>enqueue</a:t>
            </a:r>
            <a:r>
              <a:rPr lang="en-US" dirty="0">
                <a:solidFill>
                  <a:srgbClr val="7030A0"/>
                </a:solidFill>
              </a:rPr>
              <a:t> an element into the queue</a:t>
            </a:r>
          </a:p>
          <a:p>
            <a:pPr lvl="7"/>
            <a:r>
              <a:rPr lang="en-US" dirty="0">
                <a:solidFill>
                  <a:srgbClr val="7030A0"/>
                </a:solidFill>
              </a:rPr>
              <a:t>  </a:t>
            </a:r>
            <a:r>
              <a:rPr lang="en-US" dirty="0" err="1">
                <a:solidFill>
                  <a:srgbClr val="7030A0"/>
                </a:solidFill>
              </a:rPr>
              <a:t>enqueue</a:t>
            </a:r>
            <a:r>
              <a:rPr lang="en-US" dirty="0">
                <a:solidFill>
                  <a:srgbClr val="7030A0"/>
                </a:solidFill>
              </a:rPr>
              <a:t>(</a:t>
            </a:r>
            <a:r>
              <a:rPr lang="en-US" dirty="0" err="1">
                <a:solidFill>
                  <a:srgbClr val="7030A0"/>
                </a:solidFill>
              </a:rPr>
              <a:t>elem</a:t>
            </a:r>
            <a:r>
              <a:rPr lang="en-US" dirty="0">
                <a:solidFill>
                  <a:srgbClr val="7030A0"/>
                </a:solidFill>
              </a:rPr>
              <a:t>: ℤ)</a:t>
            </a:r>
          </a:p>
          <a:p>
            <a:pPr lvl="7"/>
            <a:r>
              <a:rPr lang="en-US" dirty="0">
                <a:solidFill>
                  <a:srgbClr val="7030A0"/>
                </a:solidFill>
              </a:rPr>
              <a:t>  </a:t>
            </a:r>
          </a:p>
          <a:p>
            <a:pPr lvl="7"/>
            <a:r>
              <a:rPr lang="en-US" dirty="0">
                <a:solidFill>
                  <a:srgbClr val="7030A0"/>
                </a:solidFill>
              </a:rPr>
              <a:t>  // Operation to </a:t>
            </a:r>
            <a:r>
              <a:rPr lang="en-US" dirty="0" err="1">
                <a:solidFill>
                  <a:srgbClr val="7030A0"/>
                </a:solidFill>
              </a:rPr>
              <a:t>dequeue</a:t>
            </a:r>
            <a:r>
              <a:rPr lang="en-US" dirty="0">
                <a:solidFill>
                  <a:srgbClr val="7030A0"/>
                </a:solidFill>
              </a:rPr>
              <a:t> an element from the queue</a:t>
            </a:r>
          </a:p>
          <a:p>
            <a:pPr lvl="7"/>
            <a:r>
              <a:rPr lang="en-US" dirty="0">
                <a:solidFill>
                  <a:srgbClr val="7030A0"/>
                </a:solidFill>
              </a:rPr>
              <a:t>  </a:t>
            </a:r>
            <a:r>
              <a:rPr lang="en-US" dirty="0" err="1">
                <a:solidFill>
                  <a:srgbClr val="7030A0"/>
                </a:solidFill>
              </a:rPr>
              <a:t>dequeue</a:t>
            </a:r>
            <a:r>
              <a:rPr lang="en-US" dirty="0">
                <a:solidFill>
                  <a:srgbClr val="7030A0"/>
                </a:solidFill>
              </a:rPr>
              <a:t>()</a:t>
            </a:r>
          </a:p>
          <a:p>
            <a:pPr lvl="7"/>
            <a:r>
              <a:rPr lang="en-US" dirty="0">
                <a:solidFill>
                  <a:srgbClr val="7030A0"/>
                </a:solidFill>
              </a:rPr>
              <a:t>  </a:t>
            </a:r>
          </a:p>
          <a:p>
            <a:pPr lvl="7"/>
            <a:r>
              <a:rPr lang="en-US" dirty="0">
                <a:solidFill>
                  <a:srgbClr val="7030A0"/>
                </a:solidFill>
              </a:rPr>
              <a:t>  // Invariant: queue is never empty</a:t>
            </a:r>
          </a:p>
          <a:p>
            <a:pPr lvl="7"/>
            <a:r>
              <a:rPr lang="en-US" dirty="0">
                <a:solidFill>
                  <a:srgbClr val="7030A0"/>
                </a:solidFill>
              </a:rPr>
              <a:t>  </a:t>
            </a:r>
            <a:r>
              <a:rPr lang="en-US" dirty="0" err="1">
                <a:solidFill>
                  <a:srgbClr val="7030A0"/>
                </a:solidFill>
              </a:rPr>
              <a:t>inv</a:t>
            </a:r>
            <a:r>
              <a:rPr lang="en-US" dirty="0">
                <a:solidFill>
                  <a:srgbClr val="7030A0"/>
                </a:solidFill>
              </a:rPr>
              <a:t> ¬</a:t>
            </a:r>
            <a:r>
              <a:rPr lang="en-US" dirty="0" err="1">
                <a:solidFill>
                  <a:srgbClr val="7030A0"/>
                </a:solidFill>
              </a:rPr>
              <a:t>isEmpty</a:t>
            </a:r>
            <a:r>
              <a:rPr lang="en-US" dirty="0">
                <a:solidFill>
                  <a:srgbClr val="7030A0"/>
                </a:solidFill>
              </a:rPr>
              <a:t>(elements)</a:t>
            </a:r>
          </a:p>
          <a:p>
            <a:pPr lvl="7"/>
            <a:r>
              <a:rPr lang="en-US" dirty="0">
                <a:solidFill>
                  <a:srgbClr val="7030A0"/>
                </a:solidFill>
              </a:rPr>
              <a:t>  </a:t>
            </a:r>
          </a:p>
          <a:p>
            <a:pPr lvl="7"/>
            <a:r>
              <a:rPr lang="en-US" dirty="0">
                <a:solidFill>
                  <a:srgbClr val="7030A0"/>
                </a:solidFill>
              </a:rPr>
              <a:t>  // Function to check if the queue is empty</a:t>
            </a:r>
          </a:p>
          <a:p>
            <a:pPr lvl="7"/>
            <a:r>
              <a:rPr lang="en-US" dirty="0">
                <a:solidFill>
                  <a:srgbClr val="7030A0"/>
                </a:solidFill>
              </a:rPr>
              <a:t>  </a:t>
            </a:r>
            <a:r>
              <a:rPr lang="en-US" dirty="0" err="1">
                <a:solidFill>
                  <a:srgbClr val="7030A0"/>
                </a:solidFill>
              </a:rPr>
              <a:t>isEmpty</a:t>
            </a:r>
            <a:r>
              <a:rPr lang="en-US" dirty="0">
                <a:solidFill>
                  <a:srgbClr val="7030A0"/>
                </a:solidFill>
              </a:rPr>
              <a:t>(q: ℤ*) == q = &lt;&gt;</a:t>
            </a:r>
          </a:p>
          <a:p>
            <a:pPr lvl="7"/>
            <a:r>
              <a:rPr lang="en-US" dirty="0">
                <a:solidFill>
                  <a:srgbClr val="7030A0"/>
                </a:solidFill>
              </a:rPr>
              <a:t>end Queue</a:t>
            </a:r>
          </a:p>
          <a:p>
            <a:endParaRPr lang="en-US" dirty="0"/>
          </a:p>
        </p:txBody>
      </p:sp>
    </p:spTree>
    <p:extLst>
      <p:ext uri="{BB962C8B-B14F-4D97-AF65-F5344CB8AC3E}">
        <p14:creationId xmlns:p14="http://schemas.microsoft.com/office/powerpoint/2010/main" val="4106063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Develop a Z schema for a binary tree data structure with the following attributes and operations:</a:t>
            </a:r>
          </a:p>
          <a:p>
            <a:r>
              <a:rPr lang="en-US" dirty="0">
                <a:solidFill>
                  <a:srgbClr val="FF0000"/>
                </a:solidFill>
              </a:rPr>
              <a:t>Attribute: root representing the root node of the binary tree.</a:t>
            </a:r>
          </a:p>
          <a:p>
            <a:r>
              <a:rPr lang="en-US" dirty="0">
                <a:solidFill>
                  <a:srgbClr val="FF0000"/>
                </a:solidFill>
              </a:rPr>
              <a:t>Operations: insert(value) to insert a value into the binary tree and search(value) to search for a value in the binary tree.</a:t>
            </a:r>
          </a:p>
          <a:p>
            <a:r>
              <a:rPr lang="en-US" dirty="0">
                <a:solidFill>
                  <a:srgbClr val="FF0000"/>
                </a:solidFill>
              </a:rPr>
              <a:t>Define a node schema within the binary tree schema to represent individual nodes with a value, left child reference, and right child reference</a:t>
            </a:r>
            <a:r>
              <a:rPr lang="en-US" dirty="0" smtClean="0">
                <a:solidFill>
                  <a:srgbClr val="FF0000"/>
                </a:solidFill>
              </a:rPr>
              <a:t>.</a:t>
            </a:r>
          </a:p>
          <a:p>
            <a:pPr lvl="7"/>
            <a:r>
              <a:rPr lang="en-US" dirty="0" smtClean="0">
                <a:solidFill>
                  <a:srgbClr val="7030A0"/>
                </a:solidFill>
              </a:rPr>
              <a:t>schema </a:t>
            </a:r>
            <a:r>
              <a:rPr lang="en-US" dirty="0" err="1">
                <a:solidFill>
                  <a:srgbClr val="7030A0"/>
                </a:solidFill>
              </a:rPr>
              <a:t>BinaryTree</a:t>
            </a:r>
            <a:endParaRPr lang="en-US" dirty="0">
              <a:solidFill>
                <a:srgbClr val="7030A0"/>
              </a:solidFill>
            </a:endParaRPr>
          </a:p>
          <a:p>
            <a:pPr lvl="7"/>
            <a:r>
              <a:rPr lang="en-US" dirty="0">
                <a:solidFill>
                  <a:srgbClr val="7030A0"/>
                </a:solidFill>
              </a:rPr>
              <a:t>  root: Node    // Root node of the binary tree</a:t>
            </a:r>
          </a:p>
          <a:p>
            <a:pPr lvl="7"/>
            <a:r>
              <a:rPr lang="en-US" dirty="0">
                <a:solidFill>
                  <a:srgbClr val="7030A0"/>
                </a:solidFill>
              </a:rPr>
              <a:t>  </a:t>
            </a:r>
          </a:p>
          <a:p>
            <a:pPr lvl="7"/>
            <a:r>
              <a:rPr lang="en-US" dirty="0">
                <a:solidFill>
                  <a:srgbClr val="7030A0"/>
                </a:solidFill>
              </a:rPr>
              <a:t>  // Operation to insert a value into the binary tree</a:t>
            </a:r>
          </a:p>
          <a:p>
            <a:pPr lvl="7"/>
            <a:r>
              <a:rPr lang="en-US" dirty="0">
                <a:solidFill>
                  <a:srgbClr val="7030A0"/>
                </a:solidFill>
              </a:rPr>
              <a:t>  insert(value: ℤ)</a:t>
            </a:r>
          </a:p>
          <a:p>
            <a:pPr lvl="7"/>
            <a:r>
              <a:rPr lang="en-US" dirty="0">
                <a:solidFill>
                  <a:srgbClr val="7030A0"/>
                </a:solidFill>
              </a:rPr>
              <a:t>  </a:t>
            </a:r>
          </a:p>
          <a:p>
            <a:pPr lvl="7"/>
            <a:r>
              <a:rPr lang="en-US" dirty="0">
                <a:solidFill>
                  <a:srgbClr val="7030A0"/>
                </a:solidFill>
              </a:rPr>
              <a:t>  // Operation to search for a value in the binary tree</a:t>
            </a:r>
          </a:p>
          <a:p>
            <a:pPr lvl="7"/>
            <a:r>
              <a:rPr lang="en-US" dirty="0">
                <a:solidFill>
                  <a:srgbClr val="7030A0"/>
                </a:solidFill>
              </a:rPr>
              <a:t>  search(value: ℤ) : BOOL</a:t>
            </a:r>
          </a:p>
          <a:p>
            <a:pPr lvl="7"/>
            <a:r>
              <a:rPr lang="en-US" dirty="0">
                <a:solidFill>
                  <a:srgbClr val="7030A0"/>
                </a:solidFill>
              </a:rPr>
              <a:t>  </a:t>
            </a:r>
          </a:p>
          <a:p>
            <a:pPr lvl="7"/>
            <a:r>
              <a:rPr lang="en-US" dirty="0">
                <a:solidFill>
                  <a:srgbClr val="7030A0"/>
                </a:solidFill>
              </a:rPr>
              <a:t>  // Node definition with left and right child references</a:t>
            </a:r>
          </a:p>
          <a:p>
            <a:pPr lvl="7"/>
            <a:r>
              <a:rPr lang="en-US" dirty="0">
                <a:solidFill>
                  <a:srgbClr val="7030A0"/>
                </a:solidFill>
              </a:rPr>
              <a:t>  Node ::= value: ℤ</a:t>
            </a:r>
          </a:p>
          <a:p>
            <a:pPr lvl="7"/>
            <a:r>
              <a:rPr lang="en-US" dirty="0">
                <a:solidFill>
                  <a:srgbClr val="7030A0"/>
                </a:solidFill>
              </a:rPr>
              <a:t>          left: Node ∪ {nil}</a:t>
            </a:r>
          </a:p>
          <a:p>
            <a:pPr lvl="7"/>
            <a:r>
              <a:rPr lang="en-US" dirty="0">
                <a:solidFill>
                  <a:srgbClr val="7030A0"/>
                </a:solidFill>
              </a:rPr>
              <a:t>          right: Node ∪ {nil}</a:t>
            </a:r>
          </a:p>
          <a:p>
            <a:pPr lvl="7"/>
            <a:r>
              <a:rPr lang="en-US" dirty="0">
                <a:solidFill>
                  <a:srgbClr val="7030A0"/>
                </a:solidFill>
              </a:rPr>
              <a:t>end </a:t>
            </a:r>
            <a:r>
              <a:rPr lang="en-US" dirty="0" err="1">
                <a:solidFill>
                  <a:srgbClr val="7030A0"/>
                </a:solidFill>
              </a:rPr>
              <a:t>BinaryTree</a:t>
            </a:r>
            <a:endParaRPr lang="en-US" dirty="0">
              <a:solidFill>
                <a:srgbClr val="7030A0"/>
              </a:solidFill>
            </a:endParaRPr>
          </a:p>
          <a:p>
            <a:endParaRPr lang="en-US" dirty="0"/>
          </a:p>
        </p:txBody>
      </p:sp>
    </p:spTree>
    <p:extLst>
      <p:ext uri="{BB962C8B-B14F-4D97-AF65-F5344CB8AC3E}">
        <p14:creationId xmlns:p14="http://schemas.microsoft.com/office/powerpoint/2010/main" val="124595166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Z notation Examples</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Create a Z schema for a matrix data structure with the following attributes and operations:</a:t>
            </a:r>
          </a:p>
          <a:p>
            <a:r>
              <a:rPr lang="en-US" dirty="0">
                <a:solidFill>
                  <a:srgbClr val="FF0000"/>
                </a:solidFill>
              </a:rPr>
              <a:t>Attributes: rows representing the number of rows, cols representing the number of columns, and elements representing the matrix elements.</a:t>
            </a:r>
          </a:p>
          <a:p>
            <a:r>
              <a:rPr lang="en-US" dirty="0">
                <a:solidFill>
                  <a:srgbClr val="FF0000"/>
                </a:solidFill>
              </a:rPr>
              <a:t>Operations: </a:t>
            </a:r>
            <a:r>
              <a:rPr lang="en-US" dirty="0" err="1">
                <a:solidFill>
                  <a:srgbClr val="FF0000"/>
                </a:solidFill>
              </a:rPr>
              <a:t>getElement</a:t>
            </a:r>
            <a:r>
              <a:rPr lang="en-US" dirty="0">
                <a:solidFill>
                  <a:srgbClr val="FF0000"/>
                </a:solidFill>
              </a:rPr>
              <a:t>(row, col) to retrieve an element from the matrix and </a:t>
            </a:r>
            <a:r>
              <a:rPr lang="en-US" dirty="0" err="1">
                <a:solidFill>
                  <a:srgbClr val="FF0000"/>
                </a:solidFill>
              </a:rPr>
              <a:t>setElement</a:t>
            </a:r>
            <a:r>
              <a:rPr lang="en-US" dirty="0">
                <a:solidFill>
                  <a:srgbClr val="FF0000"/>
                </a:solidFill>
              </a:rPr>
              <a:t>(row, col, value) to set an element in the matrix.</a:t>
            </a:r>
          </a:p>
          <a:p>
            <a:r>
              <a:rPr lang="en-US" dirty="0">
                <a:solidFill>
                  <a:srgbClr val="FF0000"/>
                </a:solidFill>
              </a:rPr>
              <a:t>Write the invariant for the matrix schema to ensure that the number of rows and columns is always positive </a:t>
            </a:r>
            <a:r>
              <a:rPr lang="en-US" dirty="0" smtClean="0">
                <a:solidFill>
                  <a:srgbClr val="FF0000"/>
                </a:solidFill>
              </a:rPr>
              <a:t>integers.			          </a:t>
            </a:r>
            <a:r>
              <a:rPr lang="en-US" dirty="0" smtClean="0">
                <a:solidFill>
                  <a:srgbClr val="7030A0"/>
                </a:solidFill>
              </a:rPr>
              <a:t>schema </a:t>
            </a:r>
            <a:r>
              <a:rPr lang="en-US" dirty="0">
                <a:solidFill>
                  <a:srgbClr val="7030A0"/>
                </a:solidFill>
              </a:rPr>
              <a:t>Matrix</a:t>
            </a:r>
          </a:p>
          <a:p>
            <a:pPr lvl="7"/>
            <a:r>
              <a:rPr lang="en-US" dirty="0">
                <a:solidFill>
                  <a:srgbClr val="7030A0"/>
                </a:solidFill>
              </a:rPr>
              <a:t>  rows: ℤ     // Number of rows in the matrix</a:t>
            </a:r>
          </a:p>
          <a:p>
            <a:pPr lvl="7"/>
            <a:r>
              <a:rPr lang="en-US" dirty="0">
                <a:solidFill>
                  <a:srgbClr val="7030A0"/>
                </a:solidFill>
              </a:rPr>
              <a:t>  cols: ℤ     // Number of columns in the matrix</a:t>
            </a:r>
          </a:p>
          <a:p>
            <a:pPr lvl="7"/>
            <a:r>
              <a:rPr lang="en-US" dirty="0">
                <a:solidFill>
                  <a:srgbClr val="7030A0"/>
                </a:solidFill>
              </a:rPr>
              <a:t>  elements: ℤ[1..rows][1..cols]   // Matrix elements</a:t>
            </a:r>
          </a:p>
          <a:p>
            <a:pPr lvl="7"/>
            <a:r>
              <a:rPr lang="en-US" dirty="0">
                <a:solidFill>
                  <a:srgbClr val="7030A0"/>
                </a:solidFill>
              </a:rPr>
              <a:t>  </a:t>
            </a:r>
          </a:p>
          <a:p>
            <a:pPr lvl="7"/>
            <a:r>
              <a:rPr lang="en-US" dirty="0">
                <a:solidFill>
                  <a:srgbClr val="7030A0"/>
                </a:solidFill>
              </a:rPr>
              <a:t>  // Operation to retrieve an element from the matrix</a:t>
            </a:r>
          </a:p>
          <a:p>
            <a:pPr lvl="7"/>
            <a:r>
              <a:rPr lang="en-US" dirty="0">
                <a:solidFill>
                  <a:srgbClr val="7030A0"/>
                </a:solidFill>
              </a:rPr>
              <a:t>  </a:t>
            </a:r>
            <a:r>
              <a:rPr lang="en-US" dirty="0" err="1">
                <a:solidFill>
                  <a:srgbClr val="7030A0"/>
                </a:solidFill>
              </a:rPr>
              <a:t>getElement</a:t>
            </a:r>
            <a:r>
              <a:rPr lang="en-US" dirty="0">
                <a:solidFill>
                  <a:srgbClr val="7030A0"/>
                </a:solidFill>
              </a:rPr>
              <a:t>(row: ℤ, col: ℤ): ℤ</a:t>
            </a:r>
          </a:p>
          <a:p>
            <a:pPr lvl="7"/>
            <a:r>
              <a:rPr lang="en-US" dirty="0">
                <a:solidFill>
                  <a:srgbClr val="7030A0"/>
                </a:solidFill>
              </a:rPr>
              <a:t>  </a:t>
            </a:r>
          </a:p>
          <a:p>
            <a:pPr lvl="7"/>
            <a:r>
              <a:rPr lang="en-US" dirty="0">
                <a:solidFill>
                  <a:srgbClr val="7030A0"/>
                </a:solidFill>
              </a:rPr>
              <a:t>  // Operation to set an element in the matrix</a:t>
            </a:r>
          </a:p>
          <a:p>
            <a:pPr lvl="7"/>
            <a:r>
              <a:rPr lang="en-US" dirty="0">
                <a:solidFill>
                  <a:srgbClr val="7030A0"/>
                </a:solidFill>
              </a:rPr>
              <a:t>  </a:t>
            </a:r>
            <a:r>
              <a:rPr lang="en-US" dirty="0" err="1">
                <a:solidFill>
                  <a:srgbClr val="7030A0"/>
                </a:solidFill>
              </a:rPr>
              <a:t>setElement</a:t>
            </a:r>
            <a:r>
              <a:rPr lang="en-US" dirty="0">
                <a:solidFill>
                  <a:srgbClr val="7030A0"/>
                </a:solidFill>
              </a:rPr>
              <a:t>(row: ℤ, col: ℤ, value: ℤ)</a:t>
            </a:r>
          </a:p>
          <a:p>
            <a:pPr lvl="7"/>
            <a:r>
              <a:rPr lang="en-US" dirty="0">
                <a:solidFill>
                  <a:srgbClr val="7030A0"/>
                </a:solidFill>
              </a:rPr>
              <a:t>  </a:t>
            </a:r>
          </a:p>
          <a:p>
            <a:pPr lvl="7"/>
            <a:r>
              <a:rPr lang="en-US" dirty="0">
                <a:solidFill>
                  <a:srgbClr val="7030A0"/>
                </a:solidFill>
              </a:rPr>
              <a:t>  // Invariant: rows and columns are positive integers</a:t>
            </a:r>
          </a:p>
          <a:p>
            <a:pPr lvl="7"/>
            <a:r>
              <a:rPr lang="en-US" dirty="0">
                <a:solidFill>
                  <a:srgbClr val="7030A0"/>
                </a:solidFill>
              </a:rPr>
              <a:t>  </a:t>
            </a:r>
            <a:r>
              <a:rPr lang="en-US" dirty="0" err="1">
                <a:solidFill>
                  <a:srgbClr val="7030A0"/>
                </a:solidFill>
              </a:rPr>
              <a:t>inv</a:t>
            </a:r>
            <a:r>
              <a:rPr lang="en-US" dirty="0">
                <a:solidFill>
                  <a:srgbClr val="7030A0"/>
                </a:solidFill>
              </a:rPr>
              <a:t> rows &gt; 0 ∧ cols &gt; 0</a:t>
            </a:r>
          </a:p>
          <a:p>
            <a:pPr lvl="7"/>
            <a:r>
              <a:rPr lang="en-US" dirty="0">
                <a:solidFill>
                  <a:srgbClr val="7030A0"/>
                </a:solidFill>
              </a:rPr>
              <a:t>end Matrix</a:t>
            </a:r>
          </a:p>
          <a:p>
            <a:endParaRPr lang="en-US" dirty="0"/>
          </a:p>
        </p:txBody>
      </p:sp>
    </p:spTree>
    <p:extLst>
      <p:ext uri="{BB962C8B-B14F-4D97-AF65-F5344CB8AC3E}">
        <p14:creationId xmlns:p14="http://schemas.microsoft.com/office/powerpoint/2010/main" val="91510747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Assignment-CLO# Q#01 (Z notation)</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buFont typeface="+mj-lt"/>
              <a:buAutoNum type="alphaLcParenR"/>
            </a:pPr>
            <a:r>
              <a:rPr lang="en-US" dirty="0" smtClean="0">
                <a:solidFill>
                  <a:srgbClr val="FF0000"/>
                </a:solidFill>
              </a:rPr>
              <a:t>Define </a:t>
            </a:r>
            <a:r>
              <a:rPr lang="en-US" dirty="0">
                <a:solidFill>
                  <a:srgbClr val="FF0000"/>
                </a:solidFill>
              </a:rPr>
              <a:t>a Z schema for the Birth Book with the following characteristics:</a:t>
            </a:r>
          </a:p>
          <a:p>
            <a:r>
              <a:rPr lang="en-US" dirty="0" smtClean="0">
                <a:solidFill>
                  <a:srgbClr val="FF0000"/>
                </a:solidFill>
              </a:rPr>
              <a:t>Attributes</a:t>
            </a:r>
            <a:r>
              <a:rPr lang="en-US" dirty="0">
                <a:solidFill>
                  <a:srgbClr val="FF0000"/>
                </a:solidFill>
              </a:rPr>
              <a:t>: individuals representing a set of person names and </a:t>
            </a:r>
            <a:r>
              <a:rPr lang="en-US" dirty="0" err="1">
                <a:solidFill>
                  <a:srgbClr val="FF0000"/>
                </a:solidFill>
              </a:rPr>
              <a:t>birthDates</a:t>
            </a:r>
            <a:r>
              <a:rPr lang="en-US" dirty="0">
                <a:solidFill>
                  <a:srgbClr val="FF0000"/>
                </a:solidFill>
              </a:rPr>
              <a:t> representing a mapping from person names to their birth dates.</a:t>
            </a:r>
          </a:p>
          <a:p>
            <a:r>
              <a:rPr lang="en-US" dirty="0">
                <a:solidFill>
                  <a:srgbClr val="FF0000"/>
                </a:solidFill>
              </a:rPr>
              <a:t>Operations: </a:t>
            </a:r>
            <a:r>
              <a:rPr lang="en-US" dirty="0" err="1">
                <a:solidFill>
                  <a:srgbClr val="FF0000"/>
                </a:solidFill>
              </a:rPr>
              <a:t>addIndividual</a:t>
            </a:r>
            <a:r>
              <a:rPr lang="en-US" dirty="0">
                <a:solidFill>
                  <a:srgbClr val="FF0000"/>
                </a:solidFill>
              </a:rPr>
              <a:t>(name, date) to add a new individual and their birth date to the birth book, </a:t>
            </a:r>
            <a:r>
              <a:rPr lang="en-US" dirty="0" err="1">
                <a:solidFill>
                  <a:srgbClr val="FF0000"/>
                </a:solidFill>
              </a:rPr>
              <a:t>getBirthDate</a:t>
            </a:r>
            <a:r>
              <a:rPr lang="en-US" dirty="0">
                <a:solidFill>
                  <a:srgbClr val="FF0000"/>
                </a:solidFill>
              </a:rPr>
              <a:t>(name) to retrieve the birth date of an individual, and </a:t>
            </a:r>
            <a:r>
              <a:rPr lang="en-US" dirty="0" err="1">
                <a:solidFill>
                  <a:srgbClr val="FF0000"/>
                </a:solidFill>
              </a:rPr>
              <a:t>individualExists</a:t>
            </a:r>
            <a:r>
              <a:rPr lang="en-US" dirty="0">
                <a:solidFill>
                  <a:srgbClr val="FF0000"/>
                </a:solidFill>
              </a:rPr>
              <a:t>(name) to check if an individual exists in the birth book.</a:t>
            </a:r>
          </a:p>
          <a:p>
            <a:r>
              <a:rPr lang="en-US" dirty="0" smtClean="0">
                <a:solidFill>
                  <a:srgbClr val="FF0000"/>
                </a:solidFill>
              </a:rPr>
              <a:t>b) Write </a:t>
            </a:r>
            <a:r>
              <a:rPr lang="en-US" dirty="0">
                <a:solidFill>
                  <a:srgbClr val="FF0000"/>
                </a:solidFill>
              </a:rPr>
              <a:t>the invariant for the Birth Book schema to ensure that each individual has a unique birth date.</a:t>
            </a:r>
          </a:p>
          <a:p>
            <a:r>
              <a:rPr lang="en-US" dirty="0" smtClean="0">
                <a:solidFill>
                  <a:srgbClr val="FF0000"/>
                </a:solidFill>
              </a:rPr>
              <a:t>c) Describe </a:t>
            </a:r>
            <a:r>
              <a:rPr lang="en-US" dirty="0">
                <a:solidFill>
                  <a:srgbClr val="FF0000"/>
                </a:solidFill>
              </a:rPr>
              <a:t>the </a:t>
            </a:r>
            <a:r>
              <a:rPr lang="en-US" dirty="0" err="1">
                <a:solidFill>
                  <a:srgbClr val="FF0000"/>
                </a:solidFill>
              </a:rPr>
              <a:t>addIndividual</a:t>
            </a:r>
            <a:r>
              <a:rPr lang="en-US" dirty="0">
                <a:solidFill>
                  <a:srgbClr val="FF0000"/>
                </a:solidFill>
              </a:rPr>
              <a:t> operation in the Birth Book schema and provide an example of its usage.</a:t>
            </a:r>
          </a:p>
          <a:p>
            <a:r>
              <a:rPr lang="en-US" dirty="0" smtClean="0">
                <a:solidFill>
                  <a:srgbClr val="FF0000"/>
                </a:solidFill>
              </a:rPr>
              <a:t>d) Explain </a:t>
            </a:r>
            <a:r>
              <a:rPr lang="en-US" dirty="0">
                <a:solidFill>
                  <a:srgbClr val="FF0000"/>
                </a:solidFill>
              </a:rPr>
              <a:t>how you would use the </a:t>
            </a:r>
            <a:r>
              <a:rPr lang="en-US" dirty="0" err="1">
                <a:solidFill>
                  <a:srgbClr val="FF0000"/>
                </a:solidFill>
              </a:rPr>
              <a:t>getBirthDate</a:t>
            </a:r>
            <a:r>
              <a:rPr lang="en-US" dirty="0">
                <a:solidFill>
                  <a:srgbClr val="FF0000"/>
                </a:solidFill>
              </a:rPr>
              <a:t> operation to retrieve the birth date of a specific individual from the Birth Book schema.</a:t>
            </a:r>
          </a:p>
          <a:p>
            <a:r>
              <a:rPr lang="en-US" dirty="0" smtClean="0">
                <a:solidFill>
                  <a:srgbClr val="FF0000"/>
                </a:solidFill>
              </a:rPr>
              <a:t>e) Discuss </a:t>
            </a:r>
            <a:r>
              <a:rPr lang="en-US" dirty="0">
                <a:solidFill>
                  <a:srgbClr val="FF0000"/>
                </a:solidFill>
              </a:rPr>
              <a:t>the significance of the invariant in the Birth Book schema and its role in maintaining the integrity of the birth book data.</a:t>
            </a:r>
          </a:p>
          <a:p>
            <a:r>
              <a:rPr lang="en-US" dirty="0" smtClean="0">
                <a:solidFill>
                  <a:srgbClr val="FF0000"/>
                </a:solidFill>
              </a:rPr>
              <a:t>f) Consider </a:t>
            </a:r>
            <a:r>
              <a:rPr lang="en-US" dirty="0">
                <a:solidFill>
                  <a:srgbClr val="FF0000"/>
                </a:solidFill>
              </a:rPr>
              <a:t>a scenario where you need to add a new individual to the Birth Book. Describe the steps you would take to ensure that the operation maintains the integrity of the birth book data.</a:t>
            </a:r>
            <a:r>
              <a:rPr lang="en-US" dirty="0" smtClean="0">
                <a:solidFill>
                  <a:srgbClr val="FF0000"/>
                </a:solidFill>
              </a:rPr>
              <a:t>		</a:t>
            </a:r>
            <a:endParaRPr lang="en-US" dirty="0"/>
          </a:p>
        </p:txBody>
      </p:sp>
    </p:spTree>
    <p:extLst>
      <p:ext uri="{BB962C8B-B14F-4D97-AF65-F5344CB8AC3E}">
        <p14:creationId xmlns:p14="http://schemas.microsoft.com/office/powerpoint/2010/main" val="318400305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Assignment-CLO# Q#02 (JML)</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Define a Java class called Student representing students in a school. The class should have the following attributes and operations:</a:t>
            </a:r>
          </a:p>
          <a:p>
            <a:r>
              <a:rPr lang="en-US" dirty="0" smtClean="0">
                <a:solidFill>
                  <a:srgbClr val="FF0000"/>
                </a:solidFill>
              </a:rPr>
              <a:t>Attributes</a:t>
            </a:r>
            <a:r>
              <a:rPr lang="en-US" dirty="0">
                <a:solidFill>
                  <a:srgbClr val="FF0000"/>
                </a:solidFill>
              </a:rPr>
              <a:t>:</a:t>
            </a:r>
          </a:p>
          <a:p>
            <a:r>
              <a:rPr lang="en-US" dirty="0" smtClean="0">
                <a:solidFill>
                  <a:srgbClr val="FF0000"/>
                </a:solidFill>
              </a:rPr>
              <a:t>	name</a:t>
            </a:r>
            <a:r>
              <a:rPr lang="en-US" dirty="0">
                <a:solidFill>
                  <a:srgbClr val="FF0000"/>
                </a:solidFill>
              </a:rPr>
              <a:t>: A string representing the name of the student.</a:t>
            </a:r>
          </a:p>
          <a:p>
            <a:r>
              <a:rPr lang="en-US" dirty="0" smtClean="0">
                <a:solidFill>
                  <a:srgbClr val="FF0000"/>
                </a:solidFill>
              </a:rPr>
              <a:t>	age</a:t>
            </a:r>
            <a:r>
              <a:rPr lang="en-US" dirty="0">
                <a:solidFill>
                  <a:srgbClr val="FF0000"/>
                </a:solidFill>
              </a:rPr>
              <a:t>: An integer representing the age of the student.</a:t>
            </a:r>
          </a:p>
          <a:p>
            <a:r>
              <a:rPr lang="en-US" dirty="0" smtClean="0">
                <a:solidFill>
                  <a:srgbClr val="FF0000"/>
                </a:solidFill>
              </a:rPr>
              <a:t>	grade</a:t>
            </a:r>
            <a:r>
              <a:rPr lang="en-US" dirty="0">
                <a:solidFill>
                  <a:srgbClr val="FF0000"/>
                </a:solidFill>
              </a:rPr>
              <a:t>: An integer representing the grade level of the student.</a:t>
            </a:r>
          </a:p>
          <a:p>
            <a:r>
              <a:rPr lang="en-US" dirty="0">
                <a:solidFill>
                  <a:srgbClr val="FF0000"/>
                </a:solidFill>
              </a:rPr>
              <a:t>Operations:</a:t>
            </a:r>
          </a:p>
          <a:p>
            <a:r>
              <a:rPr lang="en-US" dirty="0" smtClean="0">
                <a:solidFill>
                  <a:srgbClr val="FF0000"/>
                </a:solidFill>
              </a:rPr>
              <a:t>	</a:t>
            </a:r>
            <a:r>
              <a:rPr lang="en-US" dirty="0" err="1" smtClean="0">
                <a:solidFill>
                  <a:srgbClr val="FF0000"/>
                </a:solidFill>
              </a:rPr>
              <a:t>setName</a:t>
            </a:r>
            <a:r>
              <a:rPr lang="en-US" dirty="0" smtClean="0">
                <a:solidFill>
                  <a:srgbClr val="FF0000"/>
                </a:solidFill>
              </a:rPr>
              <a:t>(name</a:t>
            </a:r>
            <a:r>
              <a:rPr lang="en-US" dirty="0">
                <a:solidFill>
                  <a:srgbClr val="FF0000"/>
                </a:solidFill>
              </a:rPr>
              <a:t>: String): A method to set the name of the student.</a:t>
            </a:r>
          </a:p>
          <a:p>
            <a:r>
              <a:rPr lang="en-US" dirty="0" smtClean="0">
                <a:solidFill>
                  <a:srgbClr val="FF0000"/>
                </a:solidFill>
              </a:rPr>
              <a:t>	</a:t>
            </a:r>
            <a:r>
              <a:rPr lang="en-US" dirty="0" err="1" smtClean="0">
                <a:solidFill>
                  <a:srgbClr val="FF0000"/>
                </a:solidFill>
              </a:rPr>
              <a:t>setAge</a:t>
            </a:r>
            <a:r>
              <a:rPr lang="en-US" dirty="0" smtClean="0">
                <a:solidFill>
                  <a:srgbClr val="FF0000"/>
                </a:solidFill>
              </a:rPr>
              <a:t>(age</a:t>
            </a:r>
            <a:r>
              <a:rPr lang="en-US" dirty="0">
                <a:solidFill>
                  <a:srgbClr val="FF0000"/>
                </a:solidFill>
              </a:rPr>
              <a:t>: </a:t>
            </a:r>
            <a:r>
              <a:rPr lang="en-US" dirty="0" err="1">
                <a:solidFill>
                  <a:srgbClr val="FF0000"/>
                </a:solidFill>
              </a:rPr>
              <a:t>int</a:t>
            </a:r>
            <a:r>
              <a:rPr lang="en-US" dirty="0">
                <a:solidFill>
                  <a:srgbClr val="FF0000"/>
                </a:solidFill>
              </a:rPr>
              <a:t>): A method to set the age of the student.</a:t>
            </a:r>
          </a:p>
          <a:p>
            <a:r>
              <a:rPr lang="en-US" dirty="0" smtClean="0">
                <a:solidFill>
                  <a:srgbClr val="FF0000"/>
                </a:solidFill>
              </a:rPr>
              <a:t>	</a:t>
            </a:r>
            <a:r>
              <a:rPr lang="en-US" dirty="0" err="1" smtClean="0">
                <a:solidFill>
                  <a:srgbClr val="FF0000"/>
                </a:solidFill>
              </a:rPr>
              <a:t>setGrade</a:t>
            </a:r>
            <a:r>
              <a:rPr lang="en-US" dirty="0" smtClean="0">
                <a:solidFill>
                  <a:srgbClr val="FF0000"/>
                </a:solidFill>
              </a:rPr>
              <a:t>(grade</a:t>
            </a:r>
            <a:r>
              <a:rPr lang="en-US" dirty="0">
                <a:solidFill>
                  <a:srgbClr val="FF0000"/>
                </a:solidFill>
              </a:rPr>
              <a:t>: </a:t>
            </a:r>
            <a:r>
              <a:rPr lang="en-US" dirty="0" err="1">
                <a:solidFill>
                  <a:srgbClr val="FF0000"/>
                </a:solidFill>
              </a:rPr>
              <a:t>int</a:t>
            </a:r>
            <a:r>
              <a:rPr lang="en-US" dirty="0">
                <a:solidFill>
                  <a:srgbClr val="FF0000"/>
                </a:solidFill>
              </a:rPr>
              <a:t>): A method to set the grade level of the student.</a:t>
            </a:r>
          </a:p>
          <a:p>
            <a:r>
              <a:rPr lang="en-US" dirty="0" smtClean="0">
                <a:solidFill>
                  <a:srgbClr val="FF0000"/>
                </a:solidFill>
              </a:rPr>
              <a:t>	</a:t>
            </a:r>
            <a:r>
              <a:rPr lang="en-US" dirty="0" err="1" smtClean="0">
                <a:solidFill>
                  <a:srgbClr val="FF0000"/>
                </a:solidFill>
              </a:rPr>
              <a:t>getName</a:t>
            </a:r>
            <a:r>
              <a:rPr lang="en-US" dirty="0">
                <a:solidFill>
                  <a:srgbClr val="FF0000"/>
                </a:solidFill>
              </a:rPr>
              <a:t>(): String: A method to retrieve the name of the student.</a:t>
            </a:r>
          </a:p>
          <a:p>
            <a:r>
              <a:rPr lang="en-US" dirty="0" smtClean="0">
                <a:solidFill>
                  <a:srgbClr val="FF0000"/>
                </a:solidFill>
              </a:rPr>
              <a:t>	</a:t>
            </a:r>
            <a:r>
              <a:rPr lang="en-US" dirty="0" err="1" smtClean="0">
                <a:solidFill>
                  <a:srgbClr val="FF0000"/>
                </a:solidFill>
              </a:rPr>
              <a:t>getAge</a:t>
            </a:r>
            <a:r>
              <a:rPr lang="en-US" dirty="0">
                <a:solidFill>
                  <a:srgbClr val="FF0000"/>
                </a:solidFill>
              </a:rPr>
              <a:t>(): </a:t>
            </a:r>
            <a:r>
              <a:rPr lang="en-US" dirty="0" err="1">
                <a:solidFill>
                  <a:srgbClr val="FF0000"/>
                </a:solidFill>
              </a:rPr>
              <a:t>int</a:t>
            </a:r>
            <a:r>
              <a:rPr lang="en-US" dirty="0">
                <a:solidFill>
                  <a:srgbClr val="FF0000"/>
                </a:solidFill>
              </a:rPr>
              <a:t>: A method to retrieve the age of the student.</a:t>
            </a:r>
          </a:p>
          <a:p>
            <a:r>
              <a:rPr lang="en-US" dirty="0" smtClean="0">
                <a:solidFill>
                  <a:srgbClr val="FF0000"/>
                </a:solidFill>
              </a:rPr>
              <a:t>	</a:t>
            </a:r>
            <a:r>
              <a:rPr lang="en-US" dirty="0" err="1" smtClean="0">
                <a:solidFill>
                  <a:srgbClr val="FF0000"/>
                </a:solidFill>
              </a:rPr>
              <a:t>getGrade</a:t>
            </a:r>
            <a:r>
              <a:rPr lang="en-US" dirty="0">
                <a:solidFill>
                  <a:srgbClr val="FF0000"/>
                </a:solidFill>
              </a:rPr>
              <a:t>(): </a:t>
            </a:r>
            <a:r>
              <a:rPr lang="en-US" dirty="0" err="1">
                <a:solidFill>
                  <a:srgbClr val="FF0000"/>
                </a:solidFill>
              </a:rPr>
              <a:t>int</a:t>
            </a:r>
            <a:r>
              <a:rPr lang="en-US" dirty="0">
                <a:solidFill>
                  <a:srgbClr val="FF0000"/>
                </a:solidFill>
              </a:rPr>
              <a:t>: A method to retrieve the grade level of the student.</a:t>
            </a:r>
          </a:p>
          <a:p>
            <a:r>
              <a:rPr lang="en-US" dirty="0">
                <a:solidFill>
                  <a:srgbClr val="FF0000"/>
                </a:solidFill>
              </a:rPr>
              <a:t>Apply JML annotations to specify the preconditions, </a:t>
            </a:r>
            <a:r>
              <a:rPr lang="en-US" dirty="0" err="1">
                <a:solidFill>
                  <a:srgbClr val="FF0000"/>
                </a:solidFill>
              </a:rPr>
              <a:t>postconditions</a:t>
            </a:r>
            <a:r>
              <a:rPr lang="en-US" dirty="0">
                <a:solidFill>
                  <a:srgbClr val="FF0000"/>
                </a:solidFill>
              </a:rPr>
              <a:t>, and class invariants for the Student class.</a:t>
            </a:r>
            <a:endParaRPr lang="en-US" dirty="0"/>
          </a:p>
        </p:txBody>
      </p:sp>
    </p:spTree>
    <p:extLst>
      <p:ext uri="{BB962C8B-B14F-4D97-AF65-F5344CB8AC3E}">
        <p14:creationId xmlns:p14="http://schemas.microsoft.com/office/powerpoint/2010/main" val="71632494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Assignment-CLO# Q#03 (OCL)</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Define an OCL specification for a class called Book representing books in a library. The class should have the following attributes and operations:</a:t>
            </a:r>
          </a:p>
          <a:p>
            <a:r>
              <a:rPr lang="en-US" dirty="0" smtClean="0">
                <a:solidFill>
                  <a:srgbClr val="FF0000"/>
                </a:solidFill>
              </a:rPr>
              <a:t>Attributes</a:t>
            </a:r>
            <a:r>
              <a:rPr lang="en-US" dirty="0">
                <a:solidFill>
                  <a:srgbClr val="FF0000"/>
                </a:solidFill>
              </a:rPr>
              <a:t>:</a:t>
            </a:r>
          </a:p>
          <a:p>
            <a:r>
              <a:rPr lang="en-US" dirty="0" smtClean="0">
                <a:solidFill>
                  <a:srgbClr val="FF0000"/>
                </a:solidFill>
              </a:rPr>
              <a:t>	title</a:t>
            </a:r>
            <a:r>
              <a:rPr lang="en-US" dirty="0">
                <a:solidFill>
                  <a:srgbClr val="FF0000"/>
                </a:solidFill>
              </a:rPr>
              <a:t>: A string representing the title of the book.</a:t>
            </a:r>
          </a:p>
          <a:p>
            <a:r>
              <a:rPr lang="en-US" dirty="0" smtClean="0">
                <a:solidFill>
                  <a:srgbClr val="FF0000"/>
                </a:solidFill>
              </a:rPr>
              <a:t>	author</a:t>
            </a:r>
            <a:r>
              <a:rPr lang="en-US" dirty="0">
                <a:solidFill>
                  <a:srgbClr val="FF0000"/>
                </a:solidFill>
              </a:rPr>
              <a:t>: A string representing the author of the book.</a:t>
            </a:r>
          </a:p>
          <a:p>
            <a:r>
              <a:rPr lang="en-US" dirty="0" smtClean="0">
                <a:solidFill>
                  <a:srgbClr val="FF0000"/>
                </a:solidFill>
              </a:rPr>
              <a:t>	year</a:t>
            </a:r>
            <a:r>
              <a:rPr lang="en-US" dirty="0">
                <a:solidFill>
                  <a:srgbClr val="FF0000"/>
                </a:solidFill>
              </a:rPr>
              <a:t>: An integer representing the publication year of the book.</a:t>
            </a:r>
          </a:p>
          <a:p>
            <a:r>
              <a:rPr lang="en-US" dirty="0">
                <a:solidFill>
                  <a:srgbClr val="FF0000"/>
                </a:solidFill>
              </a:rPr>
              <a:t>Operations:</a:t>
            </a:r>
          </a:p>
          <a:p>
            <a:r>
              <a:rPr lang="en-US" dirty="0" smtClean="0">
                <a:solidFill>
                  <a:srgbClr val="FF0000"/>
                </a:solidFill>
              </a:rPr>
              <a:t>	</a:t>
            </a:r>
            <a:r>
              <a:rPr lang="en-US" dirty="0" err="1" smtClean="0">
                <a:solidFill>
                  <a:srgbClr val="FF0000"/>
                </a:solidFill>
              </a:rPr>
              <a:t>setTitle</a:t>
            </a:r>
            <a:r>
              <a:rPr lang="en-US" dirty="0" smtClean="0">
                <a:solidFill>
                  <a:srgbClr val="FF0000"/>
                </a:solidFill>
              </a:rPr>
              <a:t>(title</a:t>
            </a:r>
            <a:r>
              <a:rPr lang="en-US" dirty="0">
                <a:solidFill>
                  <a:srgbClr val="FF0000"/>
                </a:solidFill>
              </a:rPr>
              <a:t>: String): A method to set the title of the book.</a:t>
            </a:r>
          </a:p>
          <a:p>
            <a:r>
              <a:rPr lang="en-US" dirty="0" smtClean="0">
                <a:solidFill>
                  <a:srgbClr val="FF0000"/>
                </a:solidFill>
              </a:rPr>
              <a:t>	</a:t>
            </a:r>
            <a:r>
              <a:rPr lang="en-US" dirty="0" err="1" smtClean="0">
                <a:solidFill>
                  <a:srgbClr val="FF0000"/>
                </a:solidFill>
              </a:rPr>
              <a:t>setAuthor</a:t>
            </a:r>
            <a:r>
              <a:rPr lang="en-US" dirty="0" smtClean="0">
                <a:solidFill>
                  <a:srgbClr val="FF0000"/>
                </a:solidFill>
              </a:rPr>
              <a:t>(author</a:t>
            </a:r>
            <a:r>
              <a:rPr lang="en-US" dirty="0">
                <a:solidFill>
                  <a:srgbClr val="FF0000"/>
                </a:solidFill>
              </a:rPr>
              <a:t>: String): A method to set the author of the book.</a:t>
            </a:r>
          </a:p>
          <a:p>
            <a:r>
              <a:rPr lang="en-US" dirty="0" smtClean="0">
                <a:solidFill>
                  <a:srgbClr val="FF0000"/>
                </a:solidFill>
              </a:rPr>
              <a:t>	</a:t>
            </a:r>
            <a:r>
              <a:rPr lang="en-US" dirty="0" err="1" smtClean="0">
                <a:solidFill>
                  <a:srgbClr val="FF0000"/>
                </a:solidFill>
              </a:rPr>
              <a:t>setYear</a:t>
            </a:r>
            <a:r>
              <a:rPr lang="en-US" dirty="0" smtClean="0">
                <a:solidFill>
                  <a:srgbClr val="FF0000"/>
                </a:solidFill>
              </a:rPr>
              <a:t>(year</a:t>
            </a:r>
            <a:r>
              <a:rPr lang="en-US" dirty="0">
                <a:solidFill>
                  <a:srgbClr val="FF0000"/>
                </a:solidFill>
              </a:rPr>
              <a:t>: Integer): A method to set the publication year of the book.</a:t>
            </a:r>
          </a:p>
          <a:p>
            <a:r>
              <a:rPr lang="en-US" dirty="0" smtClean="0">
                <a:solidFill>
                  <a:srgbClr val="FF0000"/>
                </a:solidFill>
              </a:rPr>
              <a:t>	</a:t>
            </a:r>
            <a:r>
              <a:rPr lang="en-US" dirty="0" err="1" smtClean="0">
                <a:solidFill>
                  <a:srgbClr val="FF0000"/>
                </a:solidFill>
              </a:rPr>
              <a:t>getTitle</a:t>
            </a:r>
            <a:r>
              <a:rPr lang="en-US" dirty="0">
                <a:solidFill>
                  <a:srgbClr val="FF0000"/>
                </a:solidFill>
              </a:rPr>
              <a:t>(): String: A method to retrieve the title of the book.</a:t>
            </a:r>
          </a:p>
          <a:p>
            <a:r>
              <a:rPr lang="en-US" dirty="0" smtClean="0">
                <a:solidFill>
                  <a:srgbClr val="FF0000"/>
                </a:solidFill>
              </a:rPr>
              <a:t>	</a:t>
            </a:r>
            <a:r>
              <a:rPr lang="en-US" dirty="0" err="1" smtClean="0">
                <a:solidFill>
                  <a:srgbClr val="FF0000"/>
                </a:solidFill>
              </a:rPr>
              <a:t>getAuthor</a:t>
            </a:r>
            <a:r>
              <a:rPr lang="en-US" dirty="0">
                <a:solidFill>
                  <a:srgbClr val="FF0000"/>
                </a:solidFill>
              </a:rPr>
              <a:t>(): String: A method to retrieve the author of the book.</a:t>
            </a:r>
          </a:p>
          <a:p>
            <a:r>
              <a:rPr lang="en-US" dirty="0" smtClean="0">
                <a:solidFill>
                  <a:srgbClr val="FF0000"/>
                </a:solidFill>
              </a:rPr>
              <a:t>	</a:t>
            </a:r>
            <a:r>
              <a:rPr lang="en-US" dirty="0" err="1" smtClean="0">
                <a:solidFill>
                  <a:srgbClr val="FF0000"/>
                </a:solidFill>
              </a:rPr>
              <a:t>getYear</a:t>
            </a:r>
            <a:r>
              <a:rPr lang="en-US" dirty="0">
                <a:solidFill>
                  <a:srgbClr val="FF0000"/>
                </a:solidFill>
              </a:rPr>
              <a:t>(): Integer: A method to retrieve the publication year of the book.</a:t>
            </a:r>
          </a:p>
          <a:p>
            <a:r>
              <a:rPr lang="en-US" dirty="0">
                <a:solidFill>
                  <a:srgbClr val="FF0000"/>
                </a:solidFill>
              </a:rPr>
              <a:t>Apply OCL expressions to specify the preconditions, </a:t>
            </a:r>
            <a:r>
              <a:rPr lang="en-US" dirty="0" err="1">
                <a:solidFill>
                  <a:srgbClr val="FF0000"/>
                </a:solidFill>
              </a:rPr>
              <a:t>postconditions</a:t>
            </a:r>
            <a:r>
              <a:rPr lang="en-US" dirty="0">
                <a:solidFill>
                  <a:srgbClr val="FF0000"/>
                </a:solidFill>
              </a:rPr>
              <a:t>, and invariants for the Book class.</a:t>
            </a:r>
            <a:endParaRPr lang="en-US" dirty="0"/>
          </a:p>
        </p:txBody>
      </p:sp>
    </p:spTree>
    <p:extLst>
      <p:ext uri="{BB962C8B-B14F-4D97-AF65-F5344CB8AC3E}">
        <p14:creationId xmlns:p14="http://schemas.microsoft.com/office/powerpoint/2010/main" val="313107366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2956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Assignment-CLO# Q#04, 05 </a:t>
            </a:r>
          </a:p>
        </p:txBody>
      </p:sp>
      <p:sp>
        <p:nvSpPr>
          <p:cNvPr id="105" name="CustomShape 2"/>
          <p:cNvSpPr/>
          <p:nvPr/>
        </p:nvSpPr>
        <p:spPr>
          <a:xfrm>
            <a:off x="581043" y="191244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dirty="0">
                <a:solidFill>
                  <a:srgbClr val="FF0000"/>
                </a:solidFill>
              </a:rPr>
              <a:t> </a:t>
            </a:r>
            <a:r>
              <a:rPr lang="en-US" dirty="0" smtClean="0">
                <a:solidFill>
                  <a:srgbClr val="FF0000"/>
                </a:solidFill>
              </a:rPr>
              <a:t>Q#04: Compare </a:t>
            </a:r>
            <a:r>
              <a:rPr lang="en-US" dirty="0">
                <a:solidFill>
                  <a:srgbClr val="FF0000"/>
                </a:solidFill>
              </a:rPr>
              <a:t>and contrast OCL, JML, Alloy, and Z in terms of their features, application domains, and expressiveness. Provide examples to illustrate their use cases and highlight the strengths and weaknesses of each formal specification </a:t>
            </a:r>
            <a:r>
              <a:rPr lang="en-US" dirty="0" smtClean="0">
                <a:solidFill>
                  <a:srgbClr val="FF0000"/>
                </a:solidFill>
              </a:rPr>
              <a:t>languages.</a:t>
            </a:r>
          </a:p>
          <a:p>
            <a:r>
              <a:rPr lang="en-US" dirty="0">
                <a:solidFill>
                  <a:srgbClr val="FF0000"/>
                </a:solidFill>
              </a:rPr>
              <a:t>Q#05: Explain the process of formal verification in software engineering and discuss its importance in ensuring the correctness and reliability of software systems. Provide examples of formal verification techniques and explain how they are applied in practice.</a:t>
            </a:r>
            <a:endParaRPr lang="en-US" dirty="0"/>
          </a:p>
        </p:txBody>
      </p:sp>
    </p:spTree>
    <p:extLst>
      <p:ext uri="{BB962C8B-B14F-4D97-AF65-F5344CB8AC3E}">
        <p14:creationId xmlns:p14="http://schemas.microsoft.com/office/powerpoint/2010/main" val="251912891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063692"/>
            <a:ext cx="4775075" cy="2726422"/>
          </a:xfrm>
        </p:spPr>
        <p:txBody>
          <a:bodyPr>
            <a:normAutofit/>
          </a:bodyPr>
          <a:lstStyle/>
          <a:p>
            <a:r>
              <a:rPr lang="en-US" sz="4400" dirty="0">
                <a:solidFill>
                  <a:schemeClr val="tx1"/>
                </a:solidFill>
              </a:rPr>
              <a:t>JAVA</a:t>
            </a:r>
            <a:br>
              <a:rPr lang="en-US" sz="4400" dirty="0">
                <a:solidFill>
                  <a:schemeClr val="tx1"/>
                </a:solidFill>
              </a:rPr>
            </a:br>
            <a:r>
              <a:rPr lang="en-US" sz="4400" dirty="0">
                <a:solidFill>
                  <a:schemeClr val="tx1"/>
                </a:solidFill>
              </a:rPr>
              <a:t>MODELING Language</a:t>
            </a:r>
          </a:p>
        </p:txBody>
      </p:sp>
    </p:spTree>
    <p:extLst>
      <p:ext uri="{BB962C8B-B14F-4D97-AF65-F5344CB8AC3E}">
        <p14:creationId xmlns:p14="http://schemas.microsoft.com/office/powerpoint/2010/main" val="926472937"/>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103B-ED64-4DA1-B15E-86B1F9D6249F}"/>
              </a:ext>
            </a:extLst>
          </p:cNvPr>
          <p:cNvSpPr>
            <a:spLocks noGrp="1"/>
          </p:cNvSpPr>
          <p:nvPr>
            <p:ph type="title"/>
          </p:nvPr>
        </p:nvSpPr>
        <p:spPr/>
        <p:txBody>
          <a:bodyPr/>
          <a:lstStyle/>
          <a:p>
            <a:r>
              <a:rPr lang="en-US" dirty="0"/>
              <a:t>Java Modeling Language - Introduction</a:t>
            </a:r>
          </a:p>
        </p:txBody>
      </p:sp>
      <p:sp>
        <p:nvSpPr>
          <p:cNvPr id="3" name="Content Placeholder 2">
            <a:extLst>
              <a:ext uri="{FF2B5EF4-FFF2-40B4-BE49-F238E27FC236}">
                <a16:creationId xmlns:a16="http://schemas.microsoft.com/office/drawing/2014/main" id="{9C881421-8D76-4A85-898F-453A4B623E73}"/>
              </a:ext>
            </a:extLst>
          </p:cNvPr>
          <p:cNvSpPr>
            <a:spLocks noGrp="1"/>
          </p:cNvSpPr>
          <p:nvPr>
            <p:ph idx="1"/>
          </p:nvPr>
        </p:nvSpPr>
        <p:spPr>
          <a:xfrm>
            <a:off x="1117037" y="1974427"/>
            <a:ext cx="9877777" cy="3450696"/>
          </a:xfrm>
        </p:spPr>
        <p:txBody>
          <a:bodyPr>
            <a:noAutofit/>
          </a:bodyPr>
          <a:lstStyle/>
          <a:p>
            <a:r>
              <a:rPr lang="en-US" dirty="0"/>
              <a:t>Formal specification language for Java </a:t>
            </a:r>
          </a:p>
          <a:p>
            <a:pPr lvl="1"/>
            <a:r>
              <a:rPr lang="en-US" sz="2400" dirty="0"/>
              <a:t>to specify behavior of Java classes </a:t>
            </a:r>
          </a:p>
          <a:p>
            <a:pPr lvl="1"/>
            <a:r>
              <a:rPr lang="en-US" sz="2400" dirty="0"/>
              <a:t>to record design &amp; implementation decisions by adding assertions to Java source code, e.g. </a:t>
            </a:r>
          </a:p>
          <a:p>
            <a:pPr lvl="2"/>
            <a:r>
              <a:rPr lang="en-US" sz="2400" dirty="0"/>
              <a:t>preconditions </a:t>
            </a:r>
          </a:p>
          <a:p>
            <a:pPr lvl="2"/>
            <a:r>
              <a:rPr lang="en-US" sz="2400" dirty="0"/>
              <a:t>postconditions </a:t>
            </a:r>
          </a:p>
          <a:p>
            <a:pPr lvl="2"/>
            <a:r>
              <a:rPr lang="en-US" sz="2400" dirty="0"/>
              <a:t>invariants</a:t>
            </a:r>
          </a:p>
          <a:p>
            <a:r>
              <a:rPr lang="en-US" dirty="0"/>
              <a:t>JML is designed for unit specification.</a:t>
            </a:r>
          </a:p>
          <a:p>
            <a:r>
              <a:rPr lang="en-US" b="1" dirty="0"/>
              <a:t>Goal:</a:t>
            </a:r>
            <a:r>
              <a:rPr lang="en-US" dirty="0"/>
              <a:t> JML should be easy to use for any Java programmer. </a:t>
            </a:r>
          </a:p>
          <a:p>
            <a:endParaRPr lang="en-US" dirty="0"/>
          </a:p>
        </p:txBody>
      </p:sp>
    </p:spTree>
    <p:extLst>
      <p:ext uri="{BB962C8B-B14F-4D97-AF65-F5344CB8AC3E}">
        <p14:creationId xmlns:p14="http://schemas.microsoft.com/office/powerpoint/2010/main" val="2297959062"/>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D340-51D4-4116-8F37-B18AED42F1AA}"/>
              </a:ext>
            </a:extLst>
          </p:cNvPr>
          <p:cNvSpPr>
            <a:spLocks noGrp="1"/>
          </p:cNvSpPr>
          <p:nvPr>
            <p:ph type="title"/>
          </p:nvPr>
        </p:nvSpPr>
        <p:spPr/>
        <p:txBody>
          <a:bodyPr/>
          <a:lstStyle/>
          <a:p>
            <a:r>
              <a:rPr lang="en-US" dirty="0"/>
              <a:t>Unit Specification</a:t>
            </a:r>
          </a:p>
        </p:txBody>
      </p:sp>
      <p:sp>
        <p:nvSpPr>
          <p:cNvPr id="3" name="Content Placeholder 2">
            <a:extLst>
              <a:ext uri="{FF2B5EF4-FFF2-40B4-BE49-F238E27FC236}">
                <a16:creationId xmlns:a16="http://schemas.microsoft.com/office/drawing/2014/main" id="{D11AD7C9-32F8-47EB-AA84-6F7BDB26D25E}"/>
              </a:ext>
            </a:extLst>
          </p:cNvPr>
          <p:cNvSpPr>
            <a:spLocks noGrp="1"/>
          </p:cNvSpPr>
          <p:nvPr>
            <p:ph idx="1"/>
          </p:nvPr>
        </p:nvSpPr>
        <p:spPr>
          <a:xfrm>
            <a:off x="1162757" y="2279227"/>
            <a:ext cx="9877777" cy="3450696"/>
          </a:xfrm>
        </p:spPr>
        <p:txBody>
          <a:bodyPr>
            <a:noAutofit/>
          </a:bodyPr>
          <a:lstStyle/>
          <a:p>
            <a:r>
              <a:rPr lang="en-US" dirty="0"/>
              <a:t>Through JML we specify requirements for individual units rather than for the entire system altogether</a:t>
            </a:r>
          </a:p>
          <a:p>
            <a:pPr lvl="1"/>
            <a:r>
              <a:rPr lang="en-US" sz="2400" dirty="0"/>
              <a:t>A unit is the smallest testable part of any software. It usually has one or a few inputs and usually a single output. </a:t>
            </a:r>
          </a:p>
          <a:p>
            <a:r>
              <a:rPr lang="en-US" dirty="0"/>
              <a:t>In Java, those units are:</a:t>
            </a:r>
          </a:p>
          <a:p>
            <a:pPr lvl="1"/>
            <a:r>
              <a:rPr lang="en-US" sz="2400" dirty="0"/>
              <a:t>methods, where JML specifies the effect of a single method invocation;</a:t>
            </a:r>
          </a:p>
          <a:p>
            <a:pPr lvl="1"/>
            <a:r>
              <a:rPr lang="en-US" sz="2400" dirty="0"/>
              <a:t>classes, where JML merely specifies constraints on the internal structure of an object; and</a:t>
            </a:r>
          </a:p>
          <a:p>
            <a:pPr lvl="1"/>
            <a:r>
              <a:rPr lang="en-US" sz="2400" dirty="0"/>
              <a:t>interfaces, where JML specifies the external behavior of an object.</a:t>
            </a:r>
          </a:p>
        </p:txBody>
      </p:sp>
    </p:spTree>
    <p:extLst>
      <p:ext uri="{BB962C8B-B14F-4D97-AF65-F5344CB8AC3E}">
        <p14:creationId xmlns:p14="http://schemas.microsoft.com/office/powerpoint/2010/main" val="1099757840"/>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20B18-398D-46F3-A493-3810678AF437}"/>
              </a:ext>
            </a:extLst>
          </p:cNvPr>
          <p:cNvSpPr>
            <a:spLocks noGrp="1"/>
          </p:cNvSpPr>
          <p:nvPr>
            <p:ph type="title"/>
          </p:nvPr>
        </p:nvSpPr>
        <p:spPr/>
        <p:txBody>
          <a:bodyPr/>
          <a:lstStyle/>
          <a:p>
            <a:r>
              <a:rPr lang="en-US" dirty="0"/>
              <a:t>JML Contd.</a:t>
            </a:r>
          </a:p>
        </p:txBody>
      </p:sp>
      <p:sp>
        <p:nvSpPr>
          <p:cNvPr id="3" name="Content Placeholder 2">
            <a:extLst>
              <a:ext uri="{FF2B5EF4-FFF2-40B4-BE49-F238E27FC236}">
                <a16:creationId xmlns:a16="http://schemas.microsoft.com/office/drawing/2014/main" id="{44769F5C-E282-413E-9235-B35543B1E47D}"/>
              </a:ext>
            </a:extLst>
          </p:cNvPr>
          <p:cNvSpPr>
            <a:spLocks noGrp="1"/>
          </p:cNvSpPr>
          <p:nvPr>
            <p:ph idx="1"/>
          </p:nvPr>
        </p:nvSpPr>
        <p:spPr/>
        <p:txBody>
          <a:bodyPr>
            <a:noAutofit/>
          </a:bodyPr>
          <a:lstStyle/>
          <a:p>
            <a:r>
              <a:rPr lang="en-US" sz="2000" dirty="0"/>
              <a:t>To make JML easy to use: </a:t>
            </a:r>
          </a:p>
          <a:p>
            <a:r>
              <a:rPr lang="en-US" sz="2000" dirty="0"/>
              <a:t>JML specifications are added as comments in .java file, </a:t>
            </a:r>
          </a:p>
          <a:p>
            <a:pPr lvl="1"/>
            <a:r>
              <a:rPr lang="en-US" sz="1800" dirty="0"/>
              <a:t>between </a:t>
            </a:r>
            <a:r>
              <a:rPr lang="en-US" sz="1800" b="1" dirty="0">
                <a:solidFill>
                  <a:srgbClr val="0070C0"/>
                </a:solidFill>
              </a:rPr>
              <a:t>/* @ . . . @*/</a:t>
            </a:r>
          </a:p>
          <a:p>
            <a:pPr lvl="1"/>
            <a:r>
              <a:rPr lang="en-US" sz="1800" dirty="0"/>
              <a:t>or after </a:t>
            </a:r>
            <a:r>
              <a:rPr lang="en-US" sz="1800" b="1" dirty="0">
                <a:solidFill>
                  <a:srgbClr val="0070C0"/>
                </a:solidFill>
              </a:rPr>
              <a:t>//@</a:t>
            </a:r>
          </a:p>
          <a:p>
            <a:r>
              <a:rPr lang="en-US" sz="2000" dirty="0"/>
              <a:t>Properties are specified as Java </a:t>
            </a:r>
            <a:r>
              <a:rPr lang="en-US" sz="2000" dirty="0" err="1"/>
              <a:t>boolean</a:t>
            </a:r>
            <a:r>
              <a:rPr lang="en-US" sz="2000" dirty="0"/>
              <a:t> expressions, extended with a few operators (</a:t>
            </a:r>
            <a:r>
              <a:rPr lang="en-US" sz="2000" b="1" dirty="0">
                <a:solidFill>
                  <a:srgbClr val="0070C0"/>
                </a:solidFill>
              </a:rPr>
              <a:t>\old, \</a:t>
            </a:r>
            <a:r>
              <a:rPr lang="en-US" sz="2000" b="1" dirty="0" err="1">
                <a:solidFill>
                  <a:srgbClr val="0070C0"/>
                </a:solidFill>
              </a:rPr>
              <a:t>forall</a:t>
            </a:r>
            <a:r>
              <a:rPr lang="en-US" sz="2000" b="1" dirty="0">
                <a:solidFill>
                  <a:srgbClr val="0070C0"/>
                </a:solidFill>
              </a:rPr>
              <a:t>, \result, . . .</a:t>
            </a:r>
            <a:r>
              <a:rPr lang="en-US" sz="2000" dirty="0"/>
              <a:t>). </a:t>
            </a:r>
          </a:p>
          <a:p>
            <a:r>
              <a:rPr lang="en-US" sz="2000" dirty="0"/>
              <a:t>using a few keywords (</a:t>
            </a:r>
            <a:r>
              <a:rPr lang="en-US" sz="2000" b="1" dirty="0">
                <a:solidFill>
                  <a:srgbClr val="0070C0"/>
                </a:solidFill>
              </a:rPr>
              <a:t>requires, ensures, signals, assignable, pure, invariant, non null, . . . </a:t>
            </a:r>
            <a:r>
              <a:rPr lang="en-US" sz="2000" dirty="0"/>
              <a:t>)</a:t>
            </a:r>
          </a:p>
        </p:txBody>
      </p:sp>
    </p:spTree>
    <p:extLst>
      <p:ext uri="{BB962C8B-B14F-4D97-AF65-F5344CB8AC3E}">
        <p14:creationId xmlns:p14="http://schemas.microsoft.com/office/powerpoint/2010/main" val="1739586147"/>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44680-F9C0-4CF3-9717-2178A771D595}"/>
              </a:ext>
            </a:extLst>
          </p:cNvPr>
          <p:cNvSpPr>
            <a:spLocks noGrp="1"/>
          </p:cNvSpPr>
          <p:nvPr>
            <p:ph type="title"/>
          </p:nvPr>
        </p:nvSpPr>
        <p:spPr/>
        <p:txBody>
          <a:bodyPr/>
          <a:lstStyle/>
          <a:p>
            <a:r>
              <a:rPr lang="en-US" dirty="0"/>
              <a:t>Pre and Post Conditions</a:t>
            </a:r>
          </a:p>
        </p:txBody>
      </p:sp>
      <p:sp>
        <p:nvSpPr>
          <p:cNvPr id="3" name="Content Placeholder 2">
            <a:extLst>
              <a:ext uri="{FF2B5EF4-FFF2-40B4-BE49-F238E27FC236}">
                <a16:creationId xmlns:a16="http://schemas.microsoft.com/office/drawing/2014/main" id="{4D916F81-30BB-488E-9A91-1DB910F193A9}"/>
              </a:ext>
            </a:extLst>
          </p:cNvPr>
          <p:cNvSpPr>
            <a:spLocks noGrp="1"/>
          </p:cNvSpPr>
          <p:nvPr>
            <p:ph idx="1"/>
          </p:nvPr>
        </p:nvSpPr>
        <p:spPr/>
        <p:txBody>
          <a:bodyPr>
            <a:normAutofit fontScale="92500" lnSpcReduction="10000"/>
          </a:bodyPr>
          <a:lstStyle/>
          <a:p>
            <a:r>
              <a:rPr lang="en-US" sz="2800" dirty="0"/>
              <a:t>Pre- and post-conditions for method can be specified. </a:t>
            </a:r>
            <a:endParaRPr lang="en-US" sz="2400" dirty="0"/>
          </a:p>
          <a:p>
            <a:pPr marL="0" indent="0">
              <a:buNone/>
            </a:pPr>
            <a:r>
              <a:rPr lang="en-US" sz="2400" dirty="0"/>
              <a:t>	</a:t>
            </a:r>
            <a:r>
              <a:rPr lang="en-US" sz="2400" b="1" dirty="0">
                <a:solidFill>
                  <a:srgbClr val="C00000"/>
                </a:solidFill>
              </a:rPr>
              <a:t>/*@ requires amount &gt;= 0; </a:t>
            </a:r>
          </a:p>
          <a:p>
            <a:pPr marL="0" indent="0">
              <a:buNone/>
            </a:pPr>
            <a:r>
              <a:rPr lang="en-US" sz="2400" b="1" dirty="0">
                <a:solidFill>
                  <a:srgbClr val="C00000"/>
                </a:solidFill>
              </a:rPr>
              <a:t>	       ensures balance == \old(balance)-amount &amp;&amp; </a:t>
            </a:r>
          </a:p>
          <a:p>
            <a:pPr marL="0" indent="0">
              <a:buNone/>
            </a:pPr>
            <a:r>
              <a:rPr lang="en-US" sz="2400" b="1" dirty="0">
                <a:solidFill>
                  <a:srgbClr val="C00000"/>
                </a:solidFill>
              </a:rPr>
              <a:t>		         \result == balance; @*/ </a:t>
            </a:r>
          </a:p>
          <a:p>
            <a:pPr marL="0" indent="0">
              <a:buNone/>
            </a:pPr>
            <a:r>
              <a:rPr lang="en-US" sz="2400" b="1" dirty="0">
                <a:solidFill>
                  <a:srgbClr val="C00000"/>
                </a:solidFill>
              </a:rPr>
              <a:t>	</a:t>
            </a:r>
            <a:r>
              <a:rPr lang="en-US" sz="2400" b="1" dirty="0">
                <a:solidFill>
                  <a:srgbClr val="0070C0"/>
                </a:solidFill>
              </a:rPr>
              <a:t>public int debit(int amount) { </a:t>
            </a:r>
          </a:p>
          <a:p>
            <a:pPr marL="0" indent="0">
              <a:buNone/>
            </a:pPr>
            <a:r>
              <a:rPr lang="en-US" sz="2400" b="1" dirty="0">
                <a:solidFill>
                  <a:srgbClr val="0070C0"/>
                </a:solidFill>
              </a:rPr>
              <a:t>		... </a:t>
            </a:r>
          </a:p>
          <a:p>
            <a:pPr marL="0" indent="0">
              <a:buNone/>
            </a:pPr>
            <a:r>
              <a:rPr lang="en-US" sz="2400" b="1" dirty="0">
                <a:solidFill>
                  <a:srgbClr val="0070C0"/>
                </a:solidFill>
              </a:rPr>
              <a:t>	}</a:t>
            </a:r>
            <a:r>
              <a:rPr lang="en-US" sz="2400" dirty="0"/>
              <a:t> </a:t>
            </a:r>
          </a:p>
          <a:p>
            <a:r>
              <a:rPr lang="en-US" sz="2400" dirty="0"/>
              <a:t>Here </a:t>
            </a:r>
            <a:r>
              <a:rPr lang="en-US" sz="2400" b="1" dirty="0">
                <a:solidFill>
                  <a:srgbClr val="C00000"/>
                </a:solidFill>
              </a:rPr>
              <a:t>\old(balance)</a:t>
            </a:r>
            <a:r>
              <a:rPr lang="en-US" sz="2400" dirty="0">
                <a:solidFill>
                  <a:schemeClr val="accent5"/>
                </a:solidFill>
              </a:rPr>
              <a:t> </a:t>
            </a:r>
            <a:r>
              <a:rPr lang="en-US" sz="2400" dirty="0"/>
              <a:t>refers to the value of balance before execution of the method. </a:t>
            </a:r>
          </a:p>
          <a:p>
            <a:endParaRPr lang="en-US" sz="2000" dirty="0"/>
          </a:p>
        </p:txBody>
      </p:sp>
    </p:spTree>
    <p:extLst>
      <p:ext uri="{BB962C8B-B14F-4D97-AF65-F5344CB8AC3E}">
        <p14:creationId xmlns:p14="http://schemas.microsoft.com/office/powerpoint/2010/main" val="49985717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A1AA-9C9E-4DF4-8626-8A520DD39EF6}"/>
              </a:ext>
            </a:extLst>
          </p:cNvPr>
          <p:cNvSpPr>
            <a:spLocks noGrp="1"/>
          </p:cNvSpPr>
          <p:nvPr>
            <p:ph type="title"/>
          </p:nvPr>
        </p:nvSpPr>
        <p:spPr/>
        <p:txBody>
          <a:bodyPr/>
          <a:lstStyle/>
          <a:p>
            <a:r>
              <a:rPr lang="en-US" dirty="0"/>
              <a:t>Design by Contract Paradigm</a:t>
            </a:r>
          </a:p>
        </p:txBody>
      </p:sp>
      <p:sp>
        <p:nvSpPr>
          <p:cNvPr id="3" name="Content Placeholder 2">
            <a:extLst>
              <a:ext uri="{FF2B5EF4-FFF2-40B4-BE49-F238E27FC236}">
                <a16:creationId xmlns:a16="http://schemas.microsoft.com/office/drawing/2014/main" id="{B7A5AEC9-94D1-4D00-ACF9-2B1E4F3A82DA}"/>
              </a:ext>
            </a:extLst>
          </p:cNvPr>
          <p:cNvSpPr>
            <a:spLocks noGrp="1"/>
          </p:cNvSpPr>
          <p:nvPr>
            <p:ph idx="1"/>
          </p:nvPr>
        </p:nvSpPr>
        <p:spPr/>
        <p:txBody>
          <a:bodyPr>
            <a:normAutofit/>
          </a:bodyPr>
          <a:lstStyle/>
          <a:p>
            <a:r>
              <a:rPr lang="en-US" sz="2400" dirty="0"/>
              <a:t>Pre- and postconditions define a contract between a class and its clients: </a:t>
            </a:r>
          </a:p>
          <a:p>
            <a:pPr lvl="1"/>
            <a:r>
              <a:rPr lang="en-US" sz="2000" dirty="0"/>
              <a:t>Client must ensure precondition and may assume postcondition</a:t>
            </a:r>
          </a:p>
          <a:p>
            <a:pPr lvl="1"/>
            <a:r>
              <a:rPr lang="en-US" sz="2000" dirty="0"/>
              <a:t>Method may assume precondition and must ensure postcondition </a:t>
            </a:r>
          </a:p>
          <a:p>
            <a:r>
              <a:rPr lang="en-US" sz="2400" dirty="0" err="1"/>
              <a:t>Eg</a:t>
            </a:r>
            <a:r>
              <a:rPr lang="en-US" sz="2400" dirty="0"/>
              <a:t>, in the example specs for debit, it is the obligation of the client to ensure that amount is positive. </a:t>
            </a:r>
          </a:p>
          <a:p>
            <a:pPr lvl="1"/>
            <a:r>
              <a:rPr lang="en-US" sz="2200" dirty="0"/>
              <a:t>The requires clause makes this explicit.</a:t>
            </a:r>
          </a:p>
          <a:p>
            <a:endParaRPr lang="en-US" sz="2400" dirty="0"/>
          </a:p>
        </p:txBody>
      </p:sp>
    </p:spTree>
    <p:extLst>
      <p:ext uri="{BB962C8B-B14F-4D97-AF65-F5344CB8AC3E}">
        <p14:creationId xmlns:p14="http://schemas.microsoft.com/office/powerpoint/2010/main" val="173147255"/>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89F61-D62A-47DC-834D-4765031289B9}"/>
              </a:ext>
            </a:extLst>
          </p:cNvPr>
          <p:cNvSpPr>
            <a:spLocks noGrp="1"/>
          </p:cNvSpPr>
          <p:nvPr>
            <p:ph type="title"/>
          </p:nvPr>
        </p:nvSpPr>
        <p:spPr/>
        <p:txBody>
          <a:bodyPr/>
          <a:lstStyle/>
          <a:p>
            <a:r>
              <a:rPr lang="en-US" dirty="0"/>
              <a:t>Exceptional Post Conditions</a:t>
            </a:r>
          </a:p>
        </p:txBody>
      </p:sp>
      <p:sp>
        <p:nvSpPr>
          <p:cNvPr id="3" name="Content Placeholder 2">
            <a:extLst>
              <a:ext uri="{FF2B5EF4-FFF2-40B4-BE49-F238E27FC236}">
                <a16:creationId xmlns:a16="http://schemas.microsoft.com/office/drawing/2014/main" id="{B69D1E21-7B6B-411E-9029-E02D2F90B05B}"/>
              </a:ext>
            </a:extLst>
          </p:cNvPr>
          <p:cNvSpPr>
            <a:spLocks noGrp="1"/>
          </p:cNvSpPr>
          <p:nvPr>
            <p:ph idx="1"/>
          </p:nvPr>
        </p:nvSpPr>
        <p:spPr>
          <a:xfrm>
            <a:off x="1066800" y="1812022"/>
            <a:ext cx="10058400" cy="4140722"/>
          </a:xfrm>
        </p:spPr>
        <p:txBody>
          <a:bodyPr>
            <a:normAutofit lnSpcReduction="10000"/>
          </a:bodyPr>
          <a:lstStyle/>
          <a:p>
            <a:r>
              <a:rPr lang="en-US" sz="2400" dirty="0"/>
              <a:t>Exceptional postconditions can also be specified. </a:t>
            </a:r>
          </a:p>
          <a:p>
            <a:pPr marL="0" indent="0">
              <a:buNone/>
            </a:pPr>
            <a:r>
              <a:rPr lang="en-US" sz="2400" dirty="0"/>
              <a:t>	</a:t>
            </a:r>
            <a:r>
              <a:rPr lang="en-US" sz="2400" b="1" dirty="0">
                <a:solidFill>
                  <a:srgbClr val="0070C0"/>
                </a:solidFill>
              </a:rPr>
              <a:t>final String AMOUNT_TOO_BIG = “amount &gt; balance ”</a:t>
            </a:r>
          </a:p>
          <a:p>
            <a:pPr marL="0" indent="0">
              <a:buNone/>
            </a:pPr>
            <a:r>
              <a:rPr lang="en-US" sz="2400" b="1" dirty="0">
                <a:solidFill>
                  <a:srgbClr val="0070C0"/>
                </a:solidFill>
              </a:rPr>
              <a:t>	int balance;</a:t>
            </a:r>
          </a:p>
          <a:p>
            <a:pPr marL="0" indent="0">
              <a:buNone/>
            </a:pPr>
            <a:r>
              <a:rPr lang="en-US" sz="2400" b="1" dirty="0">
                <a:solidFill>
                  <a:srgbClr val="C00000"/>
                </a:solidFill>
              </a:rPr>
              <a:t>            /* @ requires amount &gt;= 0; </a:t>
            </a:r>
          </a:p>
          <a:p>
            <a:pPr marL="0" indent="0">
              <a:buNone/>
            </a:pPr>
            <a:r>
              <a:rPr lang="en-US" sz="2400" b="1" dirty="0">
                <a:solidFill>
                  <a:srgbClr val="C00000"/>
                </a:solidFill>
              </a:rPr>
              <a:t>	 ensures balance == \old(balance)-amount &amp;&amp; </a:t>
            </a:r>
          </a:p>
          <a:p>
            <a:pPr marL="0" indent="0">
              <a:buNone/>
            </a:pPr>
            <a:r>
              <a:rPr lang="en-US" sz="2400" b="1" dirty="0">
                <a:solidFill>
                  <a:srgbClr val="C00000"/>
                </a:solidFill>
              </a:rPr>
              <a:t>				     \result == balance; </a:t>
            </a:r>
          </a:p>
          <a:p>
            <a:pPr marL="0" indent="0">
              <a:buNone/>
            </a:pPr>
            <a:r>
              <a:rPr lang="en-US" sz="2400" b="1" dirty="0">
                <a:solidFill>
                  <a:srgbClr val="C00000"/>
                </a:solidFill>
              </a:rPr>
              <a:t>	 signals (</a:t>
            </a:r>
            <a:r>
              <a:rPr lang="en-US" sz="2400" b="1" dirty="0" err="1">
                <a:solidFill>
                  <a:srgbClr val="C00000"/>
                </a:solidFill>
              </a:rPr>
              <a:t>IOException</a:t>
            </a:r>
            <a:r>
              <a:rPr lang="en-US" sz="2400" b="1" dirty="0">
                <a:solidFill>
                  <a:srgbClr val="C00000"/>
                </a:solidFill>
              </a:rPr>
              <a:t> e) amount &gt; balance &amp;&amp;</a:t>
            </a:r>
          </a:p>
          <a:p>
            <a:pPr marL="0" indent="0">
              <a:buNone/>
            </a:pPr>
            <a:r>
              <a:rPr lang="en-US" sz="2400" b="1" dirty="0">
                <a:solidFill>
                  <a:srgbClr val="C00000"/>
                </a:solidFill>
              </a:rPr>
              <a:t>	                                          balance == \old(balance) &amp;&amp;</a:t>
            </a:r>
          </a:p>
          <a:p>
            <a:pPr marL="0" indent="0">
              <a:buNone/>
            </a:pPr>
            <a:r>
              <a:rPr lang="en-US" sz="2400" b="1" dirty="0">
                <a:solidFill>
                  <a:srgbClr val="C00000"/>
                </a:solidFill>
              </a:rPr>
              <a:t>	                                          </a:t>
            </a:r>
            <a:r>
              <a:rPr lang="en-US" sz="2400" b="1" dirty="0" err="1">
                <a:solidFill>
                  <a:srgbClr val="C00000"/>
                </a:solidFill>
              </a:rPr>
              <a:t>e.getReason</a:t>
            </a:r>
            <a:r>
              <a:rPr lang="en-US" sz="2400" b="1" dirty="0">
                <a:solidFill>
                  <a:srgbClr val="C00000"/>
                </a:solidFill>
              </a:rPr>
              <a:t>()==AMOUNT_TOO_BIG; @*/ </a:t>
            </a:r>
          </a:p>
          <a:p>
            <a:pPr marL="0" indent="0">
              <a:buNone/>
            </a:pPr>
            <a:r>
              <a:rPr lang="en-US" sz="2400" b="1" dirty="0">
                <a:solidFill>
                  <a:srgbClr val="0070C0"/>
                </a:solidFill>
              </a:rPr>
              <a:t>	public int debit(int amount) { ... }</a:t>
            </a:r>
            <a:endParaRPr lang="en-US" sz="1800" b="1" dirty="0">
              <a:solidFill>
                <a:srgbClr val="0070C0"/>
              </a:solidFill>
            </a:endParaRPr>
          </a:p>
          <a:p>
            <a:endParaRPr lang="en-US" sz="2000" dirty="0"/>
          </a:p>
        </p:txBody>
      </p:sp>
    </p:spTree>
    <p:extLst>
      <p:ext uri="{BB962C8B-B14F-4D97-AF65-F5344CB8AC3E}">
        <p14:creationId xmlns:p14="http://schemas.microsoft.com/office/powerpoint/2010/main" val="251011811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1000"/>
                                        <p:tgtEl>
                                          <p:spTgt spid="3">
                                            <p:txEl>
                                              <p:pRg st="7" end="7"/>
                                            </p:txEl>
                                          </p:spTgt>
                                        </p:tgtEl>
                                      </p:cBhvr>
                                    </p:animEffect>
                                    <p:anim calcmode="lin" valueType="num">
                                      <p:cBhvr>
                                        <p:cTn id="1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1000"/>
                                        <p:tgtEl>
                                          <p:spTgt spid="3">
                                            <p:txEl>
                                              <p:pRg st="8" end="8"/>
                                            </p:txEl>
                                          </p:spTgt>
                                        </p:tgtEl>
                                      </p:cBhvr>
                                    </p:animEffect>
                                    <p:anim calcmode="lin" valueType="num">
                                      <p:cBhvr>
                                        <p:cTn id="1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6401-A12D-481D-A2F6-66BD653DE438}"/>
              </a:ext>
            </a:extLst>
          </p:cNvPr>
          <p:cNvSpPr>
            <a:spLocks noGrp="1"/>
          </p:cNvSpPr>
          <p:nvPr>
            <p:ph type="title"/>
          </p:nvPr>
        </p:nvSpPr>
        <p:spPr/>
        <p:txBody>
          <a:bodyPr/>
          <a:lstStyle/>
          <a:p>
            <a:r>
              <a:rPr lang="en-US" dirty="0"/>
              <a:t>Exceptional Post Conditions</a:t>
            </a:r>
          </a:p>
        </p:txBody>
      </p:sp>
      <p:sp>
        <p:nvSpPr>
          <p:cNvPr id="3" name="Content Placeholder 2">
            <a:extLst>
              <a:ext uri="{FF2B5EF4-FFF2-40B4-BE49-F238E27FC236}">
                <a16:creationId xmlns:a16="http://schemas.microsoft.com/office/drawing/2014/main" id="{02A26950-9765-45DA-99C6-B8DE18A4E77C}"/>
              </a:ext>
            </a:extLst>
          </p:cNvPr>
          <p:cNvSpPr>
            <a:spLocks noGrp="1"/>
          </p:cNvSpPr>
          <p:nvPr>
            <p:ph idx="1"/>
          </p:nvPr>
        </p:nvSpPr>
        <p:spPr/>
        <p:txBody>
          <a:bodyPr>
            <a:normAutofit fontScale="85000" lnSpcReduction="20000"/>
          </a:bodyPr>
          <a:lstStyle/>
          <a:p>
            <a:r>
              <a:rPr lang="en-US" sz="2400" dirty="0"/>
              <a:t>Exceptions are allowed by default, i.e. the default signals clause is </a:t>
            </a:r>
          </a:p>
          <a:p>
            <a:endParaRPr lang="en-US" sz="700" b="1" dirty="0">
              <a:solidFill>
                <a:srgbClr val="0070C0"/>
              </a:solidFill>
            </a:endParaRPr>
          </a:p>
          <a:p>
            <a:pPr marL="274320" lvl="1" indent="0">
              <a:buNone/>
            </a:pPr>
            <a:r>
              <a:rPr lang="en-US" sz="2200" b="1" dirty="0">
                <a:solidFill>
                  <a:srgbClr val="0070C0"/>
                </a:solidFill>
              </a:rPr>
              <a:t>	</a:t>
            </a:r>
            <a:r>
              <a:rPr lang="en-US" sz="2400" b="1" dirty="0">
                <a:solidFill>
                  <a:srgbClr val="0070C0"/>
                </a:solidFill>
              </a:rPr>
              <a:t>signals (Exception) true; </a:t>
            </a:r>
          </a:p>
          <a:p>
            <a:endParaRPr lang="en-US" sz="600" dirty="0"/>
          </a:p>
          <a:p>
            <a:r>
              <a:rPr lang="en-US" sz="2400" dirty="0"/>
              <a:t>To rule them out, </a:t>
            </a:r>
          </a:p>
          <a:p>
            <a:pPr marL="274320" lvl="1" indent="0">
              <a:buNone/>
            </a:pPr>
            <a:endParaRPr lang="en-US" sz="2300" dirty="0"/>
          </a:p>
          <a:p>
            <a:pPr lvl="1"/>
            <a:r>
              <a:rPr lang="en-US" sz="2400" dirty="0"/>
              <a:t>Add an explicit </a:t>
            </a:r>
            <a:r>
              <a:rPr lang="en-US" sz="2400" b="1" dirty="0">
                <a:solidFill>
                  <a:srgbClr val="0070C0"/>
                </a:solidFill>
              </a:rPr>
              <a:t>signals (Exception) false; </a:t>
            </a:r>
          </a:p>
          <a:p>
            <a:pPr lvl="1"/>
            <a:endParaRPr lang="en-US" sz="2400" dirty="0"/>
          </a:p>
          <a:p>
            <a:pPr lvl="1"/>
            <a:r>
              <a:rPr lang="en-US" sz="2400" dirty="0"/>
              <a:t>Or use the keyword </a:t>
            </a:r>
            <a:r>
              <a:rPr lang="en-US" sz="2400" dirty="0" err="1"/>
              <a:t>normal_behavior</a:t>
            </a:r>
            <a:r>
              <a:rPr lang="en-US" sz="2400" dirty="0"/>
              <a:t> </a:t>
            </a:r>
          </a:p>
          <a:p>
            <a:pPr marL="0" indent="0">
              <a:buNone/>
            </a:pPr>
            <a:r>
              <a:rPr lang="en-US" sz="2400" b="1" dirty="0">
                <a:solidFill>
                  <a:srgbClr val="0070C0"/>
                </a:solidFill>
              </a:rPr>
              <a:t>	/*@ </a:t>
            </a:r>
            <a:r>
              <a:rPr lang="en-US" sz="2400" b="1" dirty="0" err="1">
                <a:solidFill>
                  <a:srgbClr val="0070C0"/>
                </a:solidFill>
              </a:rPr>
              <a:t>normal_behavior</a:t>
            </a:r>
            <a:r>
              <a:rPr lang="en-US" sz="2400" b="1" dirty="0">
                <a:solidFill>
                  <a:srgbClr val="0070C0"/>
                </a:solidFill>
              </a:rPr>
              <a:t> </a:t>
            </a:r>
          </a:p>
          <a:p>
            <a:pPr marL="0" indent="0">
              <a:buNone/>
            </a:pPr>
            <a:r>
              <a:rPr lang="en-US" sz="2400" b="1" dirty="0">
                <a:solidFill>
                  <a:srgbClr val="0070C0"/>
                </a:solidFill>
              </a:rPr>
              <a:t>	         requires ... </a:t>
            </a:r>
          </a:p>
          <a:p>
            <a:pPr marL="0" indent="0">
              <a:buNone/>
            </a:pPr>
            <a:r>
              <a:rPr lang="en-US" sz="2400" b="1" dirty="0">
                <a:solidFill>
                  <a:srgbClr val="0070C0"/>
                </a:solidFill>
              </a:rPr>
              <a:t>	         ensures ... @*/ </a:t>
            </a:r>
            <a:endParaRPr lang="en-US" sz="1600" b="1" dirty="0">
              <a:solidFill>
                <a:srgbClr val="0070C0"/>
              </a:solidFill>
            </a:endParaRPr>
          </a:p>
          <a:p>
            <a:endParaRPr lang="en-US" sz="2000" dirty="0"/>
          </a:p>
        </p:txBody>
      </p:sp>
    </p:spTree>
    <p:extLst>
      <p:ext uri="{BB962C8B-B14F-4D97-AF65-F5344CB8AC3E}">
        <p14:creationId xmlns:p14="http://schemas.microsoft.com/office/powerpoint/2010/main" val="259144559"/>
      </p:ext>
    </p:extLst>
  </p:cSld>
  <p:clrMapOvr>
    <a:masterClrMapping/>
  </p:clrMapOvr>
  <p:transition spd="slow">
    <p:randomBar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4EE82-ED6B-4132-9972-7CF6FD7DF6DD}"/>
              </a:ext>
            </a:extLst>
          </p:cNvPr>
          <p:cNvSpPr>
            <a:spLocks noGrp="1"/>
          </p:cNvSpPr>
          <p:nvPr>
            <p:ph type="title"/>
          </p:nvPr>
        </p:nvSpPr>
        <p:spPr/>
        <p:txBody>
          <a:bodyPr/>
          <a:lstStyle/>
          <a:p>
            <a:r>
              <a:rPr lang="en-US" dirty="0"/>
              <a:t>Invariants</a:t>
            </a:r>
          </a:p>
        </p:txBody>
      </p:sp>
      <p:sp>
        <p:nvSpPr>
          <p:cNvPr id="3" name="Content Placeholder 2">
            <a:extLst>
              <a:ext uri="{FF2B5EF4-FFF2-40B4-BE49-F238E27FC236}">
                <a16:creationId xmlns:a16="http://schemas.microsoft.com/office/drawing/2014/main" id="{D2A6DE23-2A17-40BF-80FC-42383A673E54}"/>
              </a:ext>
            </a:extLst>
          </p:cNvPr>
          <p:cNvSpPr>
            <a:spLocks noGrp="1"/>
          </p:cNvSpPr>
          <p:nvPr>
            <p:ph idx="1"/>
          </p:nvPr>
        </p:nvSpPr>
        <p:spPr>
          <a:xfrm>
            <a:off x="1066800" y="1853966"/>
            <a:ext cx="10058400" cy="4098777"/>
          </a:xfrm>
        </p:spPr>
        <p:txBody>
          <a:bodyPr>
            <a:noAutofit/>
          </a:bodyPr>
          <a:lstStyle/>
          <a:p>
            <a:pPr marL="342900" indent="-342900">
              <a:buFont typeface="Arial" panose="020B0604020202020204" pitchFamily="34" charset="0"/>
              <a:buChar char="•"/>
            </a:pPr>
            <a:r>
              <a:rPr lang="en-US" sz="2000" dirty="0"/>
              <a:t>Invariants (aka class invariants) are properties that must be maintained by all methods, e.g., </a:t>
            </a:r>
          </a:p>
          <a:p>
            <a:pPr marL="0" indent="0">
              <a:buNone/>
            </a:pPr>
            <a:r>
              <a:rPr lang="en-US" sz="2000" dirty="0"/>
              <a:t> </a:t>
            </a:r>
            <a:r>
              <a:rPr lang="en-US" sz="2000" b="1" dirty="0"/>
              <a:t>      </a:t>
            </a:r>
            <a:r>
              <a:rPr lang="en-US" sz="2000" b="1" dirty="0">
                <a:solidFill>
                  <a:srgbClr val="0070C0"/>
                </a:solidFill>
              </a:rPr>
              <a:t>public class Wallet { </a:t>
            </a:r>
          </a:p>
          <a:p>
            <a:pPr marL="0" indent="0">
              <a:buNone/>
            </a:pPr>
            <a:r>
              <a:rPr lang="en-US" sz="2000" b="1" dirty="0">
                <a:solidFill>
                  <a:srgbClr val="0070C0"/>
                </a:solidFill>
              </a:rPr>
              <a:t>	public static final short MAX_BAL = 10000;</a:t>
            </a:r>
          </a:p>
          <a:p>
            <a:pPr marL="0" indent="0">
              <a:buNone/>
            </a:pPr>
            <a:r>
              <a:rPr lang="en-US" sz="2000" b="1" dirty="0">
                <a:solidFill>
                  <a:srgbClr val="0070C0"/>
                </a:solidFill>
              </a:rPr>
              <a:t>	private short balance; </a:t>
            </a:r>
          </a:p>
          <a:p>
            <a:pPr marL="0" indent="0">
              <a:buNone/>
            </a:pPr>
            <a:r>
              <a:rPr lang="en-US" sz="2000" b="1" dirty="0">
                <a:solidFill>
                  <a:srgbClr val="0070C0"/>
                </a:solidFill>
              </a:rPr>
              <a:t>	/*@ invariant 0 &lt;= balance &amp;&amp; balance &lt;= MAX_BAL; @*/ </a:t>
            </a:r>
          </a:p>
          <a:p>
            <a:pPr marL="0" indent="0">
              <a:buNone/>
            </a:pPr>
            <a:r>
              <a:rPr lang="en-US" sz="2000" b="1" dirty="0">
                <a:solidFill>
                  <a:srgbClr val="0070C0"/>
                </a:solidFill>
              </a:rPr>
              <a:t>        … }</a:t>
            </a:r>
          </a:p>
          <a:p>
            <a:pPr marL="342900" indent="-342900">
              <a:buFont typeface="Arial" panose="020B0604020202020204" pitchFamily="34" charset="0"/>
              <a:buChar char="•"/>
            </a:pPr>
            <a:r>
              <a:rPr lang="en-US" sz="2000" dirty="0"/>
              <a:t>Invariants are implicitly included in all pre- and postconditions. </a:t>
            </a:r>
          </a:p>
          <a:p>
            <a:pPr marL="342900" indent="-342900">
              <a:buFont typeface="Arial" panose="020B0604020202020204" pitchFamily="34" charset="0"/>
              <a:buChar char="•"/>
            </a:pPr>
            <a:r>
              <a:rPr lang="en-US" sz="2000" dirty="0"/>
              <a:t>Invariants must also be preserved if exception is thrown!</a:t>
            </a:r>
          </a:p>
          <a:p>
            <a:pPr marL="342900" indent="-342900">
              <a:buFont typeface="Arial" panose="020B0604020202020204" pitchFamily="34" charset="0"/>
              <a:buChar char="•"/>
            </a:pPr>
            <a:r>
              <a:rPr lang="en-US" sz="2000" dirty="0"/>
              <a:t>They can however be violated during method execution</a:t>
            </a:r>
            <a:endParaRPr lang="en-US" sz="1600" dirty="0"/>
          </a:p>
          <a:p>
            <a:endParaRPr lang="en-US" sz="1800" dirty="0"/>
          </a:p>
        </p:txBody>
      </p:sp>
    </p:spTree>
    <p:extLst>
      <p:ext uri="{BB962C8B-B14F-4D97-AF65-F5344CB8AC3E}">
        <p14:creationId xmlns:p14="http://schemas.microsoft.com/office/powerpoint/2010/main" val="18312265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5F7A-2598-49CA-AE72-E16EA44C7942}"/>
              </a:ext>
            </a:extLst>
          </p:cNvPr>
          <p:cNvSpPr>
            <a:spLocks noGrp="1"/>
          </p:cNvSpPr>
          <p:nvPr>
            <p:ph type="title"/>
          </p:nvPr>
        </p:nvSpPr>
        <p:spPr/>
        <p:txBody>
          <a:bodyPr/>
          <a:lstStyle/>
          <a:p>
            <a:r>
              <a:rPr lang="en-US" dirty="0"/>
              <a:t>Invariants</a:t>
            </a:r>
          </a:p>
        </p:txBody>
      </p:sp>
      <p:sp>
        <p:nvSpPr>
          <p:cNvPr id="3" name="Content Placeholder 2">
            <a:extLst>
              <a:ext uri="{FF2B5EF4-FFF2-40B4-BE49-F238E27FC236}">
                <a16:creationId xmlns:a16="http://schemas.microsoft.com/office/drawing/2014/main" id="{2BEFDD5C-5F1D-4F27-9061-9DA0047FCA7B}"/>
              </a:ext>
            </a:extLst>
          </p:cNvPr>
          <p:cNvSpPr>
            <a:spLocks noGrp="1"/>
          </p:cNvSpPr>
          <p:nvPr>
            <p:ph idx="1"/>
          </p:nvPr>
        </p:nvSpPr>
        <p:spPr/>
        <p:txBody>
          <a:bodyPr>
            <a:normAutofit/>
          </a:bodyPr>
          <a:lstStyle/>
          <a:p>
            <a:pPr marL="342900" indent="-342900">
              <a:buFont typeface="Arial" panose="020B0604020202020204" pitchFamily="34" charset="0"/>
              <a:buChar char="•"/>
            </a:pPr>
            <a:r>
              <a:rPr lang="en-US" sz="2400" dirty="0"/>
              <a:t>Invariants document design decisions, e.g., </a:t>
            </a:r>
          </a:p>
          <a:p>
            <a:pPr marL="0" indent="0">
              <a:buNone/>
            </a:pPr>
            <a:r>
              <a:rPr lang="en-US" sz="2400" dirty="0"/>
              <a:t>    </a:t>
            </a:r>
            <a:r>
              <a:rPr lang="en-US" sz="2400" b="1" dirty="0">
                <a:solidFill>
                  <a:srgbClr val="0070C0"/>
                </a:solidFill>
              </a:rPr>
              <a:t>public class Directory {</a:t>
            </a:r>
          </a:p>
          <a:p>
            <a:pPr marL="0" indent="0">
              <a:buNone/>
            </a:pPr>
            <a:r>
              <a:rPr lang="en-US" sz="2400" b="1" dirty="0">
                <a:solidFill>
                  <a:srgbClr val="0070C0"/>
                </a:solidFill>
              </a:rPr>
              <a:t>	private File[] files ; </a:t>
            </a:r>
          </a:p>
          <a:p>
            <a:pPr marL="0" indent="0">
              <a:buNone/>
            </a:pPr>
            <a:r>
              <a:rPr lang="en-US" sz="2400" b="1" dirty="0">
                <a:solidFill>
                  <a:srgbClr val="0070C0"/>
                </a:solidFill>
              </a:rPr>
              <a:t> 	/*@ invariant files != null &amp;&amp; </a:t>
            </a:r>
          </a:p>
          <a:p>
            <a:pPr marL="0" indent="0">
              <a:buNone/>
            </a:pPr>
            <a:r>
              <a:rPr lang="en-US" sz="2400" b="1" dirty="0">
                <a:solidFill>
                  <a:srgbClr val="0070C0"/>
                </a:solidFill>
              </a:rPr>
              <a:t>	        (\</a:t>
            </a:r>
            <a:r>
              <a:rPr lang="en-US" sz="2400" b="1" dirty="0" err="1">
                <a:solidFill>
                  <a:srgbClr val="0070C0"/>
                </a:solidFill>
              </a:rPr>
              <a:t>forall</a:t>
            </a:r>
            <a:r>
              <a:rPr lang="en-US" sz="2400" b="1" dirty="0">
                <a:solidFill>
                  <a:srgbClr val="0070C0"/>
                </a:solidFill>
              </a:rPr>
              <a:t> int </a:t>
            </a:r>
            <a:r>
              <a:rPr lang="en-US" sz="2400" b="1" dirty="0" err="1">
                <a:solidFill>
                  <a:srgbClr val="0070C0"/>
                </a:solidFill>
              </a:rPr>
              <a:t>i</a:t>
            </a:r>
            <a:r>
              <a:rPr lang="en-US" sz="2400" b="1" dirty="0">
                <a:solidFill>
                  <a:srgbClr val="0070C0"/>
                </a:solidFill>
              </a:rPr>
              <a:t>; 0 &lt;= </a:t>
            </a:r>
            <a:r>
              <a:rPr lang="en-US" sz="2400" b="1" dirty="0" err="1">
                <a:solidFill>
                  <a:srgbClr val="0070C0"/>
                </a:solidFill>
              </a:rPr>
              <a:t>i</a:t>
            </a:r>
            <a:r>
              <a:rPr lang="en-US" sz="2400" b="1" dirty="0">
                <a:solidFill>
                  <a:srgbClr val="0070C0"/>
                </a:solidFill>
              </a:rPr>
              <a:t> &amp;&amp; </a:t>
            </a:r>
            <a:r>
              <a:rPr lang="en-US" sz="2400" b="1" dirty="0" err="1">
                <a:solidFill>
                  <a:srgbClr val="0070C0"/>
                </a:solidFill>
              </a:rPr>
              <a:t>i</a:t>
            </a:r>
            <a:r>
              <a:rPr lang="en-US" sz="2400" b="1" dirty="0">
                <a:solidFill>
                  <a:srgbClr val="0070C0"/>
                </a:solidFill>
              </a:rPr>
              <a:t> &lt; </a:t>
            </a:r>
            <a:r>
              <a:rPr lang="en-US" sz="2400" b="1" dirty="0" err="1">
                <a:solidFill>
                  <a:srgbClr val="0070C0"/>
                </a:solidFill>
              </a:rPr>
              <a:t>files.length</a:t>
            </a:r>
            <a:r>
              <a:rPr lang="en-US" sz="2400" b="1" dirty="0">
                <a:solidFill>
                  <a:srgbClr val="0070C0"/>
                </a:solidFill>
              </a:rPr>
              <a:t>; ; </a:t>
            </a:r>
          </a:p>
          <a:p>
            <a:pPr marL="0" indent="0">
              <a:buNone/>
            </a:pPr>
            <a:r>
              <a:rPr lang="en-US" sz="2400" b="1" dirty="0">
                <a:solidFill>
                  <a:srgbClr val="0070C0"/>
                </a:solidFill>
              </a:rPr>
              <a:t>	        files[</a:t>
            </a:r>
            <a:r>
              <a:rPr lang="en-US" sz="2400" b="1" dirty="0" err="1">
                <a:solidFill>
                  <a:srgbClr val="0070C0"/>
                </a:solidFill>
              </a:rPr>
              <a:t>i</a:t>
            </a:r>
            <a:r>
              <a:rPr lang="en-US" sz="2400" b="1" dirty="0">
                <a:solidFill>
                  <a:srgbClr val="0070C0"/>
                </a:solidFill>
              </a:rPr>
              <a:t>] != null &amp;&amp; files[</a:t>
            </a:r>
            <a:r>
              <a:rPr lang="en-US" sz="2400" b="1" dirty="0" err="1">
                <a:solidFill>
                  <a:srgbClr val="0070C0"/>
                </a:solidFill>
              </a:rPr>
              <a:t>i</a:t>
            </a:r>
            <a:r>
              <a:rPr lang="en-US" sz="2400" b="1" dirty="0">
                <a:solidFill>
                  <a:srgbClr val="0070C0"/>
                </a:solidFill>
              </a:rPr>
              <a:t>].</a:t>
            </a:r>
            <a:r>
              <a:rPr lang="en-US" sz="2400" b="1" dirty="0" err="1">
                <a:solidFill>
                  <a:srgbClr val="0070C0"/>
                </a:solidFill>
              </a:rPr>
              <a:t>getParent</a:t>
            </a:r>
            <a:r>
              <a:rPr lang="en-US" sz="2400" b="1" dirty="0">
                <a:solidFill>
                  <a:srgbClr val="0070C0"/>
                </a:solidFill>
              </a:rPr>
              <a:t>() == this); @*/</a:t>
            </a:r>
            <a:r>
              <a:rPr lang="en-US" sz="2400" dirty="0"/>
              <a:t> </a:t>
            </a:r>
          </a:p>
          <a:p>
            <a:pPr marL="342900" indent="-342900">
              <a:buFont typeface="Arial" panose="020B0604020202020204" pitchFamily="34" charset="0"/>
              <a:buChar char="•"/>
            </a:pPr>
            <a:r>
              <a:rPr lang="en-US" sz="2400" dirty="0"/>
              <a:t>Making them explicit helps in understanding the code.</a:t>
            </a:r>
            <a:endParaRPr lang="en-US" sz="1600" dirty="0"/>
          </a:p>
          <a:p>
            <a:endParaRPr lang="en-US" sz="2000" dirty="0"/>
          </a:p>
        </p:txBody>
      </p:sp>
    </p:spTree>
    <p:extLst>
      <p:ext uri="{BB962C8B-B14F-4D97-AF65-F5344CB8AC3E}">
        <p14:creationId xmlns:p14="http://schemas.microsoft.com/office/powerpoint/2010/main" val="1332644001"/>
      </p:ext>
    </p:extLst>
  </p:cSld>
  <p:clrMapOvr>
    <a:masterClrMapping/>
  </p:clrMapOvr>
  <p:transition spd="slow">
    <p:randomBar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613546"/>
            <a:ext cx="4775075" cy="1630907"/>
          </a:xfrm>
          <a:solidFill>
            <a:schemeClr val="tx1">
              <a:lumMod val="65000"/>
              <a:lumOff val="35000"/>
            </a:schemeClr>
          </a:solidFill>
          <a:ln>
            <a:solidFill>
              <a:schemeClr val="bg2"/>
            </a:solidFill>
          </a:ln>
        </p:spPr>
        <p:txBody>
          <a:bodyPr>
            <a:normAutofit/>
          </a:bodyPr>
          <a:lstStyle/>
          <a:p>
            <a:r>
              <a:rPr lang="en-US" sz="4400" dirty="0">
                <a:solidFill>
                  <a:schemeClr val="bg1"/>
                </a:solidFill>
              </a:rPr>
              <a:t>JML Keywords</a:t>
            </a:r>
          </a:p>
        </p:txBody>
      </p:sp>
    </p:spTree>
    <p:extLst>
      <p:ext uri="{BB962C8B-B14F-4D97-AF65-F5344CB8AC3E}">
        <p14:creationId xmlns:p14="http://schemas.microsoft.com/office/powerpoint/2010/main" val="575614475"/>
      </p:ext>
    </p:extLst>
  </p:cSld>
  <p:clrMapOvr>
    <a:masterClrMapping/>
  </p:clrMapOvr>
  <p:transition spd="slow">
    <p:randomBar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7C737-551E-40C7-AE27-CAF78D3720B9}"/>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31AF10B0-EBB1-4DC2-B6D9-3B1DE9A08FCF}"/>
              </a:ext>
            </a:extLst>
          </p:cNvPr>
          <p:cNvSpPr>
            <a:spLocks noGrp="1"/>
          </p:cNvSpPr>
          <p:nvPr>
            <p:ph idx="1"/>
          </p:nvPr>
        </p:nvSpPr>
        <p:spPr/>
        <p:txBody>
          <a:bodyPr/>
          <a:lstStyle/>
          <a:p>
            <a:pPr algn="l" fontAlgn="base"/>
            <a:r>
              <a:rPr lang="en-US" sz="2400" dirty="0" err="1">
                <a:solidFill>
                  <a:srgbClr val="000000"/>
                </a:solidFill>
                <a:latin typeface="Georgia" panose="02040502050405020303" pitchFamily="18" charset="0"/>
              </a:rPr>
              <a:t>n</a:t>
            </a:r>
            <a:r>
              <a:rPr lang="en-US" sz="2200" b="0" dirty="0" err="1">
                <a:solidFill>
                  <a:srgbClr val="000000"/>
                </a:solidFill>
                <a:effectLst/>
                <a:latin typeface="Georgia" panose="02040502050405020303" pitchFamily="18" charset="0"/>
              </a:rPr>
              <a:t>on_null</a:t>
            </a:r>
            <a:r>
              <a:rPr lang="en-US" sz="2200" b="0" dirty="0">
                <a:solidFill>
                  <a:srgbClr val="000000"/>
                </a:solidFill>
                <a:effectLst/>
                <a:latin typeface="Georgia" panose="02040502050405020303" pitchFamily="18" charset="0"/>
              </a:rPr>
              <a:t> </a:t>
            </a:r>
          </a:p>
          <a:p>
            <a:pPr algn="l" fontAlgn="base"/>
            <a:r>
              <a:rPr lang="en-US" sz="2200" b="0" smtClean="0">
                <a:solidFill>
                  <a:srgbClr val="000000"/>
                </a:solidFill>
                <a:effectLst/>
                <a:latin typeface="Georgia" panose="02040502050405020303" pitchFamily="18" charset="0"/>
              </a:rPr>
              <a:t>nullable</a:t>
            </a:r>
            <a:endParaRPr lang="en-US" sz="2200" dirty="0">
              <a:solidFill>
                <a:srgbClr val="000000"/>
              </a:solidFill>
              <a:latin typeface="Georgia" panose="02040502050405020303" pitchFamily="18" charset="0"/>
            </a:endParaRPr>
          </a:p>
          <a:p>
            <a:pPr algn="l" fontAlgn="base"/>
            <a:r>
              <a:rPr lang="en-US" sz="2200" b="0" dirty="0">
                <a:solidFill>
                  <a:srgbClr val="000000"/>
                </a:solidFill>
                <a:effectLst/>
                <a:latin typeface="Georgia" panose="02040502050405020303" pitchFamily="18" charset="0"/>
              </a:rPr>
              <a:t>assignable</a:t>
            </a:r>
          </a:p>
          <a:p>
            <a:pPr algn="l" fontAlgn="base"/>
            <a:r>
              <a:rPr lang="en-US" sz="2200" b="0" dirty="0">
                <a:solidFill>
                  <a:srgbClr val="000000"/>
                </a:solidFill>
                <a:effectLst/>
                <a:latin typeface="Georgia" panose="02040502050405020303" pitchFamily="18" charset="0"/>
              </a:rPr>
              <a:t>Pure</a:t>
            </a:r>
          </a:p>
          <a:p>
            <a:pPr algn="l" fontAlgn="base"/>
            <a:r>
              <a:rPr lang="en-US" sz="2200" b="0" dirty="0">
                <a:solidFill>
                  <a:srgbClr val="000000"/>
                </a:solidFill>
                <a:effectLst/>
                <a:latin typeface="Georgia" panose="02040502050405020303" pitchFamily="18" charset="0"/>
              </a:rPr>
              <a:t>Visibility Keyword – </a:t>
            </a:r>
            <a:r>
              <a:rPr lang="en-US" sz="2200" b="0" dirty="0" err="1">
                <a:solidFill>
                  <a:srgbClr val="000000"/>
                </a:solidFill>
                <a:effectLst/>
                <a:latin typeface="Georgia" panose="02040502050405020303" pitchFamily="18" charset="0"/>
              </a:rPr>
              <a:t>spec_public</a:t>
            </a:r>
            <a:endParaRPr lang="en-US" sz="2200" b="0" dirty="0">
              <a:solidFill>
                <a:srgbClr val="000000"/>
              </a:solidFill>
              <a:effectLst/>
              <a:latin typeface="Georgia" panose="02040502050405020303" pitchFamily="18" charset="0"/>
            </a:endParaRPr>
          </a:p>
          <a:p>
            <a:pPr marL="0" indent="0">
              <a:buNone/>
            </a:pPr>
            <a:endParaRPr lang="en-US" dirty="0"/>
          </a:p>
        </p:txBody>
      </p:sp>
    </p:spTree>
    <p:extLst>
      <p:ext uri="{BB962C8B-B14F-4D97-AF65-F5344CB8AC3E}">
        <p14:creationId xmlns:p14="http://schemas.microsoft.com/office/powerpoint/2010/main" val="1169192155"/>
      </p:ext>
    </p:extLst>
  </p:cSld>
  <p:clrMapOvr>
    <a:masterClrMapping/>
  </p:clrMapOvr>
  <p:transition spd="slow">
    <p:randomBar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5727-7BF8-4E58-9C7F-B4C7D3140C60}"/>
              </a:ext>
            </a:extLst>
          </p:cNvPr>
          <p:cNvSpPr>
            <a:spLocks noGrp="1"/>
          </p:cNvSpPr>
          <p:nvPr>
            <p:ph type="title"/>
          </p:nvPr>
        </p:nvSpPr>
        <p:spPr/>
        <p:txBody>
          <a:bodyPr/>
          <a:lstStyle/>
          <a:p>
            <a:r>
              <a:rPr lang="en-US" dirty="0" err="1"/>
              <a:t>non_null</a:t>
            </a:r>
            <a:endParaRPr lang="en-US" dirty="0"/>
          </a:p>
        </p:txBody>
      </p:sp>
      <p:sp>
        <p:nvSpPr>
          <p:cNvPr id="3" name="Content Placeholder 2">
            <a:extLst>
              <a:ext uri="{FF2B5EF4-FFF2-40B4-BE49-F238E27FC236}">
                <a16:creationId xmlns:a16="http://schemas.microsoft.com/office/drawing/2014/main" id="{26174CFF-52A8-4063-97D2-DA10ADCE0873}"/>
              </a:ext>
            </a:extLst>
          </p:cNvPr>
          <p:cNvSpPr>
            <a:spLocks noGrp="1"/>
          </p:cNvSpPr>
          <p:nvPr>
            <p:ph idx="1"/>
          </p:nvPr>
        </p:nvSpPr>
        <p:spPr>
          <a:xfrm>
            <a:off x="1066800" y="1879134"/>
            <a:ext cx="10058400" cy="4073610"/>
          </a:xfrm>
        </p:spPr>
        <p:txBody>
          <a:bodyPr>
            <a:normAutofit/>
          </a:bodyPr>
          <a:lstStyle/>
          <a:p>
            <a:pPr marL="342900" indent="-342900">
              <a:buFont typeface="Arial" panose="020B0604020202020204" pitchFamily="34" charset="0"/>
              <a:buChar char="•"/>
            </a:pPr>
            <a:r>
              <a:rPr lang="en-US" sz="2400" dirty="0"/>
              <a:t>Many invariants, pre- and postconditions are about references not being null. </a:t>
            </a:r>
          </a:p>
          <a:p>
            <a:pPr marL="342900" indent="-342900">
              <a:buFont typeface="Arial" panose="020B0604020202020204" pitchFamily="34" charset="0"/>
              <a:buChar char="•"/>
            </a:pPr>
            <a:r>
              <a:rPr lang="en-US" sz="2400" dirty="0" err="1"/>
              <a:t>non_null</a:t>
            </a:r>
            <a:r>
              <a:rPr lang="en-US" sz="2400" dirty="0"/>
              <a:t> is a convenient short-hand for these. </a:t>
            </a:r>
          </a:p>
          <a:p>
            <a:pPr marL="0" indent="0">
              <a:buNone/>
            </a:pPr>
            <a:r>
              <a:rPr lang="en-US" sz="2400" b="1" dirty="0">
                <a:solidFill>
                  <a:srgbClr val="0070C0"/>
                </a:solidFill>
              </a:rPr>
              <a:t>	public class Directory { </a:t>
            </a:r>
          </a:p>
          <a:p>
            <a:pPr marL="0" indent="0">
              <a:buNone/>
            </a:pPr>
            <a:r>
              <a:rPr lang="en-US" sz="2400" b="1" dirty="0">
                <a:solidFill>
                  <a:srgbClr val="0070C0"/>
                </a:solidFill>
              </a:rPr>
              <a:t>		private /*@ </a:t>
            </a:r>
            <a:r>
              <a:rPr lang="en-US" sz="2400" b="1" dirty="0" err="1">
                <a:solidFill>
                  <a:srgbClr val="FF0000"/>
                </a:solidFill>
              </a:rPr>
              <a:t>non_null</a:t>
            </a:r>
            <a:r>
              <a:rPr lang="en-US" sz="2400" b="1" dirty="0">
                <a:solidFill>
                  <a:srgbClr val="0070C0"/>
                </a:solidFill>
              </a:rPr>
              <a:t> @*/ File[] files; </a:t>
            </a:r>
          </a:p>
          <a:p>
            <a:pPr marL="0" indent="0">
              <a:buNone/>
            </a:pPr>
            <a:r>
              <a:rPr lang="en-US" sz="2400" b="1" dirty="0">
                <a:solidFill>
                  <a:srgbClr val="0070C0"/>
                </a:solidFill>
              </a:rPr>
              <a:t>		void </a:t>
            </a:r>
            <a:r>
              <a:rPr lang="en-US" sz="2400" b="1" dirty="0" err="1">
                <a:solidFill>
                  <a:srgbClr val="0070C0"/>
                </a:solidFill>
              </a:rPr>
              <a:t>createSubdir</a:t>
            </a:r>
            <a:r>
              <a:rPr lang="en-US" sz="2400" b="1" dirty="0">
                <a:solidFill>
                  <a:srgbClr val="0070C0"/>
                </a:solidFill>
              </a:rPr>
              <a:t>(/*@ </a:t>
            </a:r>
            <a:r>
              <a:rPr lang="en-US" sz="2400" b="1" dirty="0" err="1">
                <a:solidFill>
                  <a:srgbClr val="FF0000"/>
                </a:solidFill>
              </a:rPr>
              <a:t>non_null</a:t>
            </a:r>
            <a:r>
              <a:rPr lang="en-US" sz="2400" b="1" dirty="0">
                <a:solidFill>
                  <a:srgbClr val="0070C0"/>
                </a:solidFill>
              </a:rPr>
              <a:t> @*/ String name){ … } </a:t>
            </a:r>
          </a:p>
          <a:p>
            <a:pPr marL="0" indent="0">
              <a:buNone/>
            </a:pPr>
            <a:r>
              <a:rPr lang="en-US" sz="2400" b="1" dirty="0">
                <a:solidFill>
                  <a:srgbClr val="0070C0"/>
                </a:solidFill>
              </a:rPr>
              <a:t>	         	Directory /*@ </a:t>
            </a:r>
            <a:r>
              <a:rPr lang="en-US" sz="2400" b="1" dirty="0" err="1">
                <a:solidFill>
                  <a:srgbClr val="FF0000"/>
                </a:solidFill>
              </a:rPr>
              <a:t>non_null</a:t>
            </a:r>
            <a:r>
              <a:rPr lang="en-US" sz="2400" b="1" dirty="0">
                <a:solidFill>
                  <a:srgbClr val="0070C0"/>
                </a:solidFill>
              </a:rPr>
              <a:t> @*/ </a:t>
            </a:r>
            <a:r>
              <a:rPr lang="en-US" sz="2400" b="1" dirty="0" err="1">
                <a:solidFill>
                  <a:srgbClr val="0070C0"/>
                </a:solidFill>
              </a:rPr>
              <a:t>getParent</a:t>
            </a:r>
            <a:r>
              <a:rPr lang="en-US" sz="2400" b="1" dirty="0">
                <a:solidFill>
                  <a:srgbClr val="0070C0"/>
                </a:solidFill>
              </a:rPr>
              <a:t>() { ... }</a:t>
            </a:r>
          </a:p>
          <a:p>
            <a:pPr marL="0" indent="0">
              <a:buNone/>
            </a:pPr>
            <a:r>
              <a:rPr lang="en-US" sz="2400" b="1" dirty="0">
                <a:solidFill>
                  <a:srgbClr val="0070C0"/>
                </a:solidFill>
              </a:rPr>
              <a:t>	}</a:t>
            </a:r>
            <a:endParaRPr lang="en-US" sz="2000" dirty="0"/>
          </a:p>
        </p:txBody>
      </p:sp>
    </p:spTree>
    <p:extLst>
      <p:ext uri="{BB962C8B-B14F-4D97-AF65-F5344CB8AC3E}">
        <p14:creationId xmlns:p14="http://schemas.microsoft.com/office/powerpoint/2010/main" val="3363236808"/>
      </p:ext>
    </p:extLst>
  </p:cSld>
  <p:clrMapOvr>
    <a:masterClrMapping/>
  </p:clrMapOvr>
  <p:transition spd="slow">
    <p:randomBar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C770B-F565-4163-BC0B-4D2373E45B7F}"/>
              </a:ext>
            </a:extLst>
          </p:cNvPr>
          <p:cNvSpPr>
            <a:spLocks noGrp="1"/>
          </p:cNvSpPr>
          <p:nvPr>
            <p:ph type="title"/>
          </p:nvPr>
        </p:nvSpPr>
        <p:spPr/>
        <p:txBody>
          <a:bodyPr/>
          <a:lstStyle/>
          <a:p>
            <a:r>
              <a:rPr lang="en-US" dirty="0"/>
              <a:t>Contd.</a:t>
            </a:r>
          </a:p>
        </p:txBody>
      </p:sp>
      <p:sp>
        <p:nvSpPr>
          <p:cNvPr id="3" name="Content Placeholder 2">
            <a:extLst>
              <a:ext uri="{FF2B5EF4-FFF2-40B4-BE49-F238E27FC236}">
                <a16:creationId xmlns:a16="http://schemas.microsoft.com/office/drawing/2014/main" id="{B096424D-D3CB-4BA5-A931-F3DF3A96AB08}"/>
              </a:ext>
            </a:extLst>
          </p:cNvPr>
          <p:cNvSpPr>
            <a:spLocks noGrp="1"/>
          </p:cNvSpPr>
          <p:nvPr>
            <p:ph idx="1"/>
          </p:nvPr>
        </p:nvSpPr>
        <p:spPr/>
        <p:txBody>
          <a:bodyPr>
            <a:normAutofit lnSpcReduction="10000"/>
          </a:bodyPr>
          <a:lstStyle/>
          <a:p>
            <a:r>
              <a:rPr lang="en-US" sz="2400" dirty="0" err="1"/>
              <a:t>non_null</a:t>
            </a:r>
            <a:r>
              <a:rPr lang="en-US" sz="2400" dirty="0"/>
              <a:t> is default.</a:t>
            </a:r>
          </a:p>
          <a:p>
            <a:r>
              <a:rPr lang="en-US" sz="2400" dirty="0"/>
              <a:t>Previous example can be written as follows and will imply the same specification.</a:t>
            </a:r>
          </a:p>
          <a:p>
            <a:pPr marL="0" indent="0">
              <a:buNone/>
            </a:pPr>
            <a:r>
              <a:rPr lang="en-US" sz="2400" b="1" dirty="0">
                <a:solidFill>
                  <a:srgbClr val="0070C0"/>
                </a:solidFill>
              </a:rPr>
              <a:t>	public class Directory { </a:t>
            </a:r>
          </a:p>
          <a:p>
            <a:pPr marL="0" indent="0">
              <a:buNone/>
            </a:pPr>
            <a:r>
              <a:rPr lang="en-US" sz="2400" b="1" dirty="0">
                <a:solidFill>
                  <a:srgbClr val="0070C0"/>
                </a:solidFill>
              </a:rPr>
              <a:t>		private File[] files; </a:t>
            </a:r>
          </a:p>
          <a:p>
            <a:pPr marL="0" indent="0">
              <a:buNone/>
            </a:pPr>
            <a:r>
              <a:rPr lang="en-US" sz="2400" b="1" dirty="0">
                <a:solidFill>
                  <a:srgbClr val="0070C0"/>
                </a:solidFill>
              </a:rPr>
              <a:t>		void </a:t>
            </a:r>
            <a:r>
              <a:rPr lang="en-US" sz="2400" b="1" dirty="0" err="1">
                <a:solidFill>
                  <a:srgbClr val="0070C0"/>
                </a:solidFill>
              </a:rPr>
              <a:t>createSubdir</a:t>
            </a:r>
            <a:r>
              <a:rPr lang="en-US" sz="2400" b="1" dirty="0">
                <a:solidFill>
                  <a:srgbClr val="0070C0"/>
                </a:solidFill>
              </a:rPr>
              <a:t>(String name){ … } </a:t>
            </a:r>
          </a:p>
          <a:p>
            <a:pPr marL="0" indent="0">
              <a:buNone/>
            </a:pPr>
            <a:r>
              <a:rPr lang="en-US" sz="2400" b="1" dirty="0">
                <a:solidFill>
                  <a:srgbClr val="0070C0"/>
                </a:solidFill>
              </a:rPr>
              <a:t>	         	Directory </a:t>
            </a:r>
            <a:r>
              <a:rPr lang="en-US" sz="2400" b="1" dirty="0" err="1">
                <a:solidFill>
                  <a:srgbClr val="0070C0"/>
                </a:solidFill>
              </a:rPr>
              <a:t>getParent</a:t>
            </a:r>
            <a:r>
              <a:rPr lang="en-US" sz="2400" b="1" dirty="0">
                <a:solidFill>
                  <a:srgbClr val="0070C0"/>
                </a:solidFill>
              </a:rPr>
              <a:t>() { ... }</a:t>
            </a:r>
          </a:p>
          <a:p>
            <a:pPr marL="0" indent="0">
              <a:buNone/>
            </a:pPr>
            <a:r>
              <a:rPr lang="en-US" sz="2400" b="1" dirty="0">
                <a:solidFill>
                  <a:srgbClr val="0070C0"/>
                </a:solidFill>
              </a:rPr>
              <a:t>	}</a:t>
            </a:r>
            <a:endParaRPr lang="en-US" sz="2000" dirty="0"/>
          </a:p>
          <a:p>
            <a:pPr marL="0" indent="0">
              <a:buNone/>
            </a:pPr>
            <a:endParaRPr lang="en-US" sz="2400" dirty="0"/>
          </a:p>
        </p:txBody>
      </p:sp>
    </p:spTree>
    <p:extLst>
      <p:ext uri="{BB962C8B-B14F-4D97-AF65-F5344CB8AC3E}">
        <p14:creationId xmlns:p14="http://schemas.microsoft.com/office/powerpoint/2010/main" val="2906400881"/>
      </p:ext>
    </p:extLst>
  </p:cSld>
  <p:clrMapOvr>
    <a:masterClrMapping/>
  </p:clrMapOvr>
  <p:transition spd="slow">
    <p:randomBar dir="ver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A7A4-537B-434D-AB41-F2F78E0C9D78}"/>
              </a:ext>
            </a:extLst>
          </p:cNvPr>
          <p:cNvSpPr>
            <a:spLocks noGrp="1"/>
          </p:cNvSpPr>
          <p:nvPr>
            <p:ph type="title"/>
          </p:nvPr>
        </p:nvSpPr>
        <p:spPr/>
        <p:txBody>
          <a:bodyPr/>
          <a:lstStyle/>
          <a:p>
            <a:r>
              <a:rPr lang="en-US" dirty="0"/>
              <a:t>nullable</a:t>
            </a:r>
          </a:p>
        </p:txBody>
      </p:sp>
      <p:sp>
        <p:nvSpPr>
          <p:cNvPr id="3" name="Content Placeholder 2">
            <a:extLst>
              <a:ext uri="{FF2B5EF4-FFF2-40B4-BE49-F238E27FC236}">
                <a16:creationId xmlns:a16="http://schemas.microsoft.com/office/drawing/2014/main" id="{1DB581FA-CAEE-4748-8A99-8514C085F24A}"/>
              </a:ext>
            </a:extLst>
          </p:cNvPr>
          <p:cNvSpPr>
            <a:spLocks noGrp="1"/>
          </p:cNvSpPr>
          <p:nvPr>
            <p:ph idx="1"/>
          </p:nvPr>
        </p:nvSpPr>
        <p:spPr/>
        <p:txBody>
          <a:bodyPr>
            <a:normAutofit/>
          </a:bodyPr>
          <a:lstStyle/>
          <a:p>
            <a:r>
              <a:rPr lang="en-US" sz="2400" dirty="0"/>
              <a:t>To prevent variables to be </a:t>
            </a:r>
            <a:r>
              <a:rPr lang="en-US" sz="2400" dirty="0" err="1"/>
              <a:t>non_null</a:t>
            </a:r>
            <a:r>
              <a:rPr lang="en-US" sz="2400" dirty="0"/>
              <a:t> by default nullable keyword is used.</a:t>
            </a:r>
          </a:p>
          <a:p>
            <a:pPr marL="0" indent="0">
              <a:buNone/>
            </a:pPr>
            <a:r>
              <a:rPr lang="en-US" sz="2400" b="1" dirty="0">
                <a:solidFill>
                  <a:srgbClr val="0070C0"/>
                </a:solidFill>
              </a:rPr>
              <a:t>	public class Directory { </a:t>
            </a:r>
          </a:p>
          <a:p>
            <a:pPr marL="0" indent="0">
              <a:buNone/>
            </a:pPr>
            <a:r>
              <a:rPr lang="en-US" sz="2400" b="1" dirty="0">
                <a:solidFill>
                  <a:srgbClr val="0070C0"/>
                </a:solidFill>
              </a:rPr>
              <a:t>		private /*@ </a:t>
            </a:r>
            <a:r>
              <a:rPr lang="en-US" sz="2400" b="1" dirty="0">
                <a:solidFill>
                  <a:srgbClr val="FF0000"/>
                </a:solidFill>
              </a:rPr>
              <a:t>nullable</a:t>
            </a:r>
            <a:r>
              <a:rPr lang="en-US" sz="2400" b="1" dirty="0">
                <a:solidFill>
                  <a:srgbClr val="0070C0"/>
                </a:solidFill>
              </a:rPr>
              <a:t> @*/ File[] files; </a:t>
            </a:r>
          </a:p>
          <a:p>
            <a:pPr marL="0" indent="0">
              <a:buNone/>
            </a:pPr>
            <a:r>
              <a:rPr lang="en-US" sz="2400" b="1" dirty="0">
                <a:solidFill>
                  <a:srgbClr val="0070C0"/>
                </a:solidFill>
              </a:rPr>
              <a:t>		void </a:t>
            </a:r>
            <a:r>
              <a:rPr lang="en-US" sz="2400" b="1" dirty="0" err="1">
                <a:solidFill>
                  <a:srgbClr val="0070C0"/>
                </a:solidFill>
              </a:rPr>
              <a:t>createSubdir</a:t>
            </a:r>
            <a:r>
              <a:rPr lang="en-US" sz="2400" b="1" dirty="0">
                <a:solidFill>
                  <a:srgbClr val="0070C0"/>
                </a:solidFill>
              </a:rPr>
              <a:t>(/*@ </a:t>
            </a:r>
            <a:r>
              <a:rPr lang="en-US" sz="2400" b="1" dirty="0">
                <a:solidFill>
                  <a:srgbClr val="FF0000"/>
                </a:solidFill>
              </a:rPr>
              <a:t>nullable</a:t>
            </a:r>
            <a:r>
              <a:rPr lang="en-US" sz="2400" b="1" dirty="0">
                <a:solidFill>
                  <a:srgbClr val="0070C0"/>
                </a:solidFill>
              </a:rPr>
              <a:t> @*/ String name){ … } </a:t>
            </a:r>
          </a:p>
          <a:p>
            <a:pPr marL="0" indent="0">
              <a:buNone/>
            </a:pPr>
            <a:r>
              <a:rPr lang="en-US" sz="2400" b="1" dirty="0">
                <a:solidFill>
                  <a:srgbClr val="0070C0"/>
                </a:solidFill>
              </a:rPr>
              <a:t>	         	Directory /*@ </a:t>
            </a:r>
            <a:r>
              <a:rPr lang="en-US" sz="2400" b="1" dirty="0">
                <a:solidFill>
                  <a:srgbClr val="FF0000"/>
                </a:solidFill>
              </a:rPr>
              <a:t>nullable</a:t>
            </a:r>
            <a:r>
              <a:rPr lang="en-US" sz="2400" b="1" dirty="0">
                <a:solidFill>
                  <a:srgbClr val="0070C0"/>
                </a:solidFill>
              </a:rPr>
              <a:t> @*/ </a:t>
            </a:r>
            <a:r>
              <a:rPr lang="en-US" sz="2400" b="1" dirty="0" err="1">
                <a:solidFill>
                  <a:srgbClr val="0070C0"/>
                </a:solidFill>
              </a:rPr>
              <a:t>getParent</a:t>
            </a:r>
            <a:r>
              <a:rPr lang="en-US" sz="2400" b="1" dirty="0">
                <a:solidFill>
                  <a:srgbClr val="0070C0"/>
                </a:solidFill>
              </a:rPr>
              <a:t>() { ... }</a:t>
            </a:r>
          </a:p>
          <a:p>
            <a:pPr marL="0" indent="0">
              <a:buNone/>
            </a:pPr>
            <a:r>
              <a:rPr lang="en-US" sz="2400" b="1" dirty="0">
                <a:solidFill>
                  <a:srgbClr val="0070C0"/>
                </a:solidFill>
              </a:rPr>
              <a:t>	}</a:t>
            </a:r>
            <a:endParaRPr lang="en-US" sz="2000" dirty="0"/>
          </a:p>
          <a:p>
            <a:pPr marL="0" indent="0">
              <a:buNone/>
            </a:pPr>
            <a:endParaRPr lang="en-US" sz="2400" dirty="0"/>
          </a:p>
        </p:txBody>
      </p:sp>
    </p:spTree>
    <p:extLst>
      <p:ext uri="{BB962C8B-B14F-4D97-AF65-F5344CB8AC3E}">
        <p14:creationId xmlns:p14="http://schemas.microsoft.com/office/powerpoint/2010/main" val="3748276718"/>
      </p:ext>
    </p:extLst>
  </p:cSld>
  <p:clrMapOvr>
    <a:masterClrMapping/>
  </p:clrMapOvr>
  <p:transition spd="slow">
    <p:randomBar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E5F47D-C775-4117-BA50-00963F71D7B9}"/>
              </a:ext>
            </a:extLst>
          </p:cNvPr>
          <p:cNvSpPr/>
          <p:nvPr/>
        </p:nvSpPr>
        <p:spPr>
          <a:xfrm>
            <a:off x="606490" y="590051"/>
            <a:ext cx="10991462" cy="56778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F67A5D4F-1508-45FB-ADED-D21C37C29904}"/>
              </a:ext>
            </a:extLst>
          </p:cNvPr>
          <p:cNvPicPr>
            <a:picLocks noChangeAspect="1"/>
          </p:cNvPicPr>
          <p:nvPr/>
        </p:nvPicPr>
        <p:blipFill>
          <a:blip r:embed="rId2"/>
          <a:stretch>
            <a:fillRect/>
          </a:stretch>
        </p:blipFill>
        <p:spPr>
          <a:xfrm>
            <a:off x="999779" y="1591871"/>
            <a:ext cx="5096221" cy="3326521"/>
          </a:xfrm>
          <a:prstGeom prst="rect">
            <a:avLst/>
          </a:prstGeom>
        </p:spPr>
      </p:pic>
      <p:pic>
        <p:nvPicPr>
          <p:cNvPr id="5" name="Picture 4">
            <a:extLst>
              <a:ext uri="{FF2B5EF4-FFF2-40B4-BE49-F238E27FC236}">
                <a16:creationId xmlns:a16="http://schemas.microsoft.com/office/drawing/2014/main" id="{34B3D518-5707-4A69-929A-83DCD84AB7C0}"/>
              </a:ext>
            </a:extLst>
          </p:cNvPr>
          <p:cNvPicPr>
            <a:picLocks noChangeAspect="1"/>
          </p:cNvPicPr>
          <p:nvPr/>
        </p:nvPicPr>
        <p:blipFill rotWithShape="1">
          <a:blip r:embed="rId3"/>
          <a:srcRect t="11206" r="7505" b="12444"/>
          <a:stretch/>
        </p:blipFill>
        <p:spPr>
          <a:xfrm>
            <a:off x="6001485" y="1958116"/>
            <a:ext cx="5096221" cy="2594029"/>
          </a:xfrm>
          <a:prstGeom prst="rect">
            <a:avLst/>
          </a:prstGeom>
        </p:spPr>
      </p:pic>
      <p:cxnSp>
        <p:nvCxnSpPr>
          <p:cNvPr id="10" name="Straight Connector 9">
            <a:extLst>
              <a:ext uri="{FF2B5EF4-FFF2-40B4-BE49-F238E27FC236}">
                <a16:creationId xmlns:a16="http://schemas.microsoft.com/office/drawing/2014/main" id="{EC38C8AF-431E-472A-BAA9-760BCC9FD719}"/>
              </a:ext>
            </a:extLst>
          </p:cNvPr>
          <p:cNvCxnSpPr/>
          <p:nvPr/>
        </p:nvCxnSpPr>
        <p:spPr>
          <a:xfrm>
            <a:off x="5775649" y="1591871"/>
            <a:ext cx="0" cy="3511974"/>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9932527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A19C-5574-47B6-B426-E970C1819456}"/>
              </a:ext>
            </a:extLst>
          </p:cNvPr>
          <p:cNvSpPr>
            <a:spLocks noGrp="1"/>
          </p:cNvSpPr>
          <p:nvPr>
            <p:ph type="title"/>
          </p:nvPr>
        </p:nvSpPr>
        <p:spPr/>
        <p:txBody>
          <a:bodyPr/>
          <a:lstStyle/>
          <a:p>
            <a:r>
              <a:rPr lang="en-US" dirty="0"/>
              <a:t>assert</a:t>
            </a:r>
          </a:p>
        </p:txBody>
      </p:sp>
      <p:sp>
        <p:nvSpPr>
          <p:cNvPr id="3" name="Content Placeholder 2">
            <a:extLst>
              <a:ext uri="{FF2B5EF4-FFF2-40B4-BE49-F238E27FC236}">
                <a16:creationId xmlns:a16="http://schemas.microsoft.com/office/drawing/2014/main" id="{A03866A0-174E-423D-94B6-9AA0C6781DE5}"/>
              </a:ext>
            </a:extLst>
          </p:cNvPr>
          <p:cNvSpPr>
            <a:spLocks noGrp="1"/>
          </p:cNvSpPr>
          <p:nvPr>
            <p:ph idx="1"/>
          </p:nvPr>
        </p:nvSpPr>
        <p:spPr>
          <a:xfrm>
            <a:off x="1066800" y="1847461"/>
            <a:ext cx="10058400" cy="4245429"/>
          </a:xfrm>
        </p:spPr>
        <p:txBody>
          <a:bodyPr>
            <a:normAutofit fontScale="92500" lnSpcReduction="20000"/>
          </a:bodyPr>
          <a:lstStyle/>
          <a:p>
            <a:pPr marL="342900" indent="-342900">
              <a:buFont typeface="Arial" panose="020B0604020202020204" pitchFamily="34" charset="0"/>
              <a:buChar char="•"/>
            </a:pPr>
            <a:r>
              <a:rPr lang="en-US" sz="2800" dirty="0"/>
              <a:t>An assert clause specifies a property that should hold at some point in the code, e.g., </a:t>
            </a:r>
          </a:p>
          <a:p>
            <a:pPr marL="0" indent="0">
              <a:buNone/>
            </a:pPr>
            <a:r>
              <a:rPr lang="en-US" sz="2800" dirty="0"/>
              <a:t>	</a:t>
            </a:r>
          </a:p>
          <a:p>
            <a:pPr marL="0" indent="0">
              <a:buNone/>
            </a:pPr>
            <a:r>
              <a:rPr lang="en-US" sz="2800" b="1" dirty="0">
                <a:solidFill>
                  <a:srgbClr val="0070C0"/>
                </a:solidFill>
              </a:rPr>
              <a:t>	if (</a:t>
            </a:r>
            <a:r>
              <a:rPr lang="en-US" sz="2800" b="1" dirty="0" err="1">
                <a:solidFill>
                  <a:srgbClr val="0070C0"/>
                </a:solidFill>
              </a:rPr>
              <a:t>i</a:t>
            </a:r>
            <a:r>
              <a:rPr lang="en-US" sz="2800" b="1" dirty="0">
                <a:solidFill>
                  <a:srgbClr val="0070C0"/>
                </a:solidFill>
              </a:rPr>
              <a:t> &lt;= 0 || j &lt; 0) { ... } </a:t>
            </a:r>
          </a:p>
          <a:p>
            <a:pPr marL="0" indent="0">
              <a:buNone/>
            </a:pPr>
            <a:r>
              <a:rPr lang="en-US" sz="2800" b="1" dirty="0">
                <a:solidFill>
                  <a:srgbClr val="0070C0"/>
                </a:solidFill>
              </a:rPr>
              <a:t>   	else if (j &lt; 5) { </a:t>
            </a:r>
          </a:p>
          <a:p>
            <a:pPr marL="0" indent="0">
              <a:buNone/>
            </a:pPr>
            <a:r>
              <a:rPr lang="en-US" sz="2800" b="1" dirty="0">
                <a:solidFill>
                  <a:srgbClr val="FF0000"/>
                </a:solidFill>
              </a:rPr>
              <a:t>   	//@ assert </a:t>
            </a:r>
            <a:r>
              <a:rPr lang="en-US" sz="2800" b="1" dirty="0" err="1">
                <a:solidFill>
                  <a:srgbClr val="FF0000"/>
                </a:solidFill>
              </a:rPr>
              <a:t>i</a:t>
            </a:r>
            <a:r>
              <a:rPr lang="en-US" sz="2800" b="1" dirty="0">
                <a:solidFill>
                  <a:srgbClr val="FF0000"/>
                </a:solidFill>
              </a:rPr>
              <a:t> &gt; 0 &amp;&amp; 0 &lt; j &amp;&amp; j &lt; 5; </a:t>
            </a:r>
          </a:p>
          <a:p>
            <a:pPr marL="0" indent="0">
              <a:buNone/>
            </a:pPr>
            <a:r>
              <a:rPr lang="en-US" sz="2800" b="1" dirty="0">
                <a:solidFill>
                  <a:srgbClr val="0070C0"/>
                </a:solidFill>
              </a:rPr>
              <a:t>   	... } </a:t>
            </a:r>
          </a:p>
          <a:p>
            <a:pPr marL="0" indent="0">
              <a:buNone/>
            </a:pPr>
            <a:r>
              <a:rPr lang="en-US" sz="2800" b="1" dirty="0">
                <a:solidFill>
                  <a:srgbClr val="0070C0"/>
                </a:solidFill>
              </a:rPr>
              <a:t>  	else { </a:t>
            </a:r>
          </a:p>
          <a:p>
            <a:pPr marL="0" indent="0">
              <a:buNone/>
            </a:pPr>
            <a:r>
              <a:rPr lang="en-US" sz="2800" b="1" dirty="0">
                <a:solidFill>
                  <a:srgbClr val="FF0000"/>
                </a:solidFill>
              </a:rPr>
              <a:t>	//@ assert </a:t>
            </a:r>
            <a:r>
              <a:rPr lang="en-US" sz="2800" b="1" dirty="0" err="1">
                <a:solidFill>
                  <a:srgbClr val="FF0000"/>
                </a:solidFill>
              </a:rPr>
              <a:t>i</a:t>
            </a:r>
            <a:r>
              <a:rPr lang="en-US" sz="2800" b="1" dirty="0">
                <a:solidFill>
                  <a:srgbClr val="FF0000"/>
                </a:solidFill>
              </a:rPr>
              <a:t> &gt; 0 &amp;&amp; j &gt; 5; </a:t>
            </a:r>
          </a:p>
          <a:p>
            <a:pPr marL="0" indent="0">
              <a:buNone/>
            </a:pPr>
            <a:r>
              <a:rPr lang="en-US" sz="2800" b="1" dirty="0">
                <a:solidFill>
                  <a:srgbClr val="0070C0"/>
                </a:solidFill>
              </a:rPr>
              <a:t>   	... }</a:t>
            </a:r>
            <a:endParaRPr lang="en-US" sz="1400" b="1" dirty="0">
              <a:solidFill>
                <a:srgbClr val="0070C0"/>
              </a:solidFill>
            </a:endParaRPr>
          </a:p>
        </p:txBody>
      </p:sp>
    </p:spTree>
    <p:extLst>
      <p:ext uri="{BB962C8B-B14F-4D97-AF65-F5344CB8AC3E}">
        <p14:creationId xmlns:p14="http://schemas.microsoft.com/office/powerpoint/2010/main" val="217612861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07105-2908-4E9B-A657-F12DCFFF76B0}"/>
              </a:ext>
            </a:extLst>
          </p:cNvPr>
          <p:cNvSpPr>
            <a:spLocks noGrp="1"/>
          </p:cNvSpPr>
          <p:nvPr>
            <p:ph type="title"/>
          </p:nvPr>
        </p:nvSpPr>
        <p:spPr/>
        <p:txBody>
          <a:bodyPr/>
          <a:lstStyle/>
          <a:p>
            <a:r>
              <a:rPr lang="en-US" dirty="0"/>
              <a:t>assignable</a:t>
            </a:r>
          </a:p>
        </p:txBody>
      </p:sp>
      <p:sp>
        <p:nvSpPr>
          <p:cNvPr id="3" name="Content Placeholder 2">
            <a:extLst>
              <a:ext uri="{FF2B5EF4-FFF2-40B4-BE49-F238E27FC236}">
                <a16:creationId xmlns:a16="http://schemas.microsoft.com/office/drawing/2014/main" id="{105E30EF-9339-4FA8-B3CC-34CF2AE825FE}"/>
              </a:ext>
            </a:extLst>
          </p:cNvPr>
          <p:cNvSpPr>
            <a:spLocks noGrp="1"/>
          </p:cNvSpPr>
          <p:nvPr>
            <p:ph idx="1"/>
          </p:nvPr>
        </p:nvSpPr>
        <p:spPr>
          <a:xfrm>
            <a:off x="1066800" y="1894114"/>
            <a:ext cx="10058400" cy="4058630"/>
          </a:xfrm>
        </p:spPr>
        <p:txBody>
          <a:bodyPr>
            <a:normAutofit fontScale="92500" lnSpcReduction="10000"/>
          </a:bodyPr>
          <a:lstStyle/>
          <a:p>
            <a:pPr marL="342900" indent="-342900">
              <a:buFont typeface="Arial" panose="020B0604020202020204" pitchFamily="34" charset="0"/>
              <a:buChar char="•"/>
            </a:pPr>
            <a:r>
              <a:rPr lang="en-US" sz="2800" dirty="0"/>
              <a:t>Frame properties limit possible side-effects of methods. </a:t>
            </a:r>
          </a:p>
          <a:p>
            <a:pPr marL="0" indent="0">
              <a:buNone/>
            </a:pPr>
            <a:endParaRPr lang="en-US" sz="2800" dirty="0"/>
          </a:p>
          <a:p>
            <a:pPr marL="0" indent="0">
              <a:buNone/>
            </a:pPr>
            <a:r>
              <a:rPr lang="en-US" sz="2800" dirty="0"/>
              <a:t>	</a:t>
            </a:r>
            <a:r>
              <a:rPr lang="en-US" sz="2800" b="1" dirty="0">
                <a:solidFill>
                  <a:srgbClr val="0070C0"/>
                </a:solidFill>
              </a:rPr>
              <a:t>/*@ requires amount &gt;= 0; </a:t>
            </a:r>
          </a:p>
          <a:p>
            <a:pPr marL="0" indent="0">
              <a:buNone/>
            </a:pPr>
            <a:r>
              <a:rPr lang="en-US" sz="2800" b="1" dirty="0">
                <a:solidFill>
                  <a:srgbClr val="FF0000"/>
                </a:solidFill>
              </a:rPr>
              <a:t>	assignable balance; </a:t>
            </a:r>
          </a:p>
          <a:p>
            <a:pPr marL="0" indent="0">
              <a:buNone/>
            </a:pPr>
            <a:r>
              <a:rPr lang="en-US" sz="2800" b="1" dirty="0">
                <a:solidFill>
                  <a:srgbClr val="0070C0"/>
                </a:solidFill>
              </a:rPr>
              <a:t>	ensures balance == \old(balance)-amount; @*/ </a:t>
            </a:r>
          </a:p>
          <a:p>
            <a:pPr marL="0" indent="0">
              <a:buNone/>
            </a:pPr>
            <a:r>
              <a:rPr lang="en-US" sz="2800" b="1" dirty="0"/>
              <a:t>	</a:t>
            </a:r>
            <a:r>
              <a:rPr lang="en-US" sz="2800" b="1" dirty="0">
                <a:solidFill>
                  <a:srgbClr val="002060"/>
                </a:solidFill>
              </a:rPr>
              <a:t>public int debit(int amount) { ... </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debit can only assign to the field balance. </a:t>
            </a:r>
          </a:p>
          <a:p>
            <a:pPr marL="342900" indent="-342900">
              <a:buFont typeface="Arial" panose="020B0604020202020204" pitchFamily="34" charset="0"/>
              <a:buChar char="•"/>
            </a:pPr>
            <a:r>
              <a:rPr lang="en-US" sz="2800" dirty="0"/>
              <a:t>Default assignable clause: assignable \everything.</a:t>
            </a:r>
            <a:endParaRPr lang="en-US" sz="1200" dirty="0"/>
          </a:p>
          <a:p>
            <a:endParaRPr lang="en-US" sz="2400" dirty="0"/>
          </a:p>
        </p:txBody>
      </p:sp>
    </p:spTree>
    <p:extLst>
      <p:ext uri="{BB962C8B-B14F-4D97-AF65-F5344CB8AC3E}">
        <p14:creationId xmlns:p14="http://schemas.microsoft.com/office/powerpoint/2010/main" val="376280228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E5F47D-C775-4117-BA50-00963F71D7B9}"/>
              </a:ext>
            </a:extLst>
          </p:cNvPr>
          <p:cNvSpPr/>
          <p:nvPr/>
        </p:nvSpPr>
        <p:spPr>
          <a:xfrm>
            <a:off x="606490" y="590051"/>
            <a:ext cx="10991462" cy="56778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3">
            <a:extLst>
              <a:ext uri="{FF2B5EF4-FFF2-40B4-BE49-F238E27FC236}">
                <a16:creationId xmlns:a16="http://schemas.microsoft.com/office/drawing/2014/main" id="{6983F6FE-0AFD-422F-A8B8-CD98A44FE4EE}"/>
              </a:ext>
            </a:extLst>
          </p:cNvPr>
          <p:cNvPicPr>
            <a:picLocks noChangeAspect="1"/>
          </p:cNvPicPr>
          <p:nvPr/>
        </p:nvPicPr>
        <p:blipFill rotWithShape="1">
          <a:blip r:embed="rId2"/>
          <a:stretch/>
        </p:blipFill>
        <p:spPr>
          <a:xfrm>
            <a:off x="1676399" y="1921478"/>
            <a:ext cx="9008104" cy="2860072"/>
          </a:xfrm>
          <a:prstGeom prst="rect">
            <a:avLst/>
          </a:prstGeom>
          <a:noFill/>
        </p:spPr>
      </p:pic>
    </p:spTree>
    <p:extLst>
      <p:ext uri="{BB962C8B-B14F-4D97-AF65-F5344CB8AC3E}">
        <p14:creationId xmlns:p14="http://schemas.microsoft.com/office/powerpoint/2010/main" val="4162146901"/>
      </p:ext>
    </p:extLst>
  </p:cSld>
  <p:clrMapOvr>
    <a:masterClrMapping/>
  </p:clrMapOvr>
  <p:transition spd="slow">
    <p:randomBar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F776-E00C-4BDF-AF8A-4EF3B2E18CF2}"/>
              </a:ext>
            </a:extLst>
          </p:cNvPr>
          <p:cNvSpPr>
            <a:spLocks noGrp="1"/>
          </p:cNvSpPr>
          <p:nvPr>
            <p:ph type="title"/>
          </p:nvPr>
        </p:nvSpPr>
        <p:spPr/>
        <p:txBody>
          <a:bodyPr/>
          <a:lstStyle/>
          <a:p>
            <a:r>
              <a:rPr lang="en-US" dirty="0"/>
              <a:t>pure</a:t>
            </a:r>
          </a:p>
        </p:txBody>
      </p:sp>
      <p:sp>
        <p:nvSpPr>
          <p:cNvPr id="3" name="Content Placeholder 2">
            <a:extLst>
              <a:ext uri="{FF2B5EF4-FFF2-40B4-BE49-F238E27FC236}">
                <a16:creationId xmlns:a16="http://schemas.microsoft.com/office/drawing/2014/main" id="{42AD1CB5-15AE-4D8D-A8E2-7128EF786E00}"/>
              </a:ext>
            </a:extLst>
          </p:cNvPr>
          <p:cNvSpPr>
            <a:spLocks noGrp="1"/>
          </p:cNvSpPr>
          <p:nvPr>
            <p:ph idx="1"/>
          </p:nvPr>
        </p:nvSpPr>
        <p:spPr>
          <a:xfrm>
            <a:off x="1066800" y="2014194"/>
            <a:ext cx="10058400" cy="3938550"/>
          </a:xfrm>
        </p:spPr>
        <p:txBody>
          <a:bodyPr>
            <a:normAutofit/>
          </a:bodyPr>
          <a:lstStyle/>
          <a:p>
            <a:pPr marL="342900" indent="-342900">
              <a:buFont typeface="Arial" panose="020B0604020202020204" pitchFamily="34" charset="0"/>
              <a:buChar char="•"/>
            </a:pPr>
            <a:r>
              <a:rPr lang="en-US" sz="2800" dirty="0"/>
              <a:t>A method without side-effects is called pure. </a:t>
            </a:r>
          </a:p>
          <a:p>
            <a:pPr marL="0" indent="0">
              <a:buNone/>
            </a:pPr>
            <a:endParaRPr lang="en-US" sz="700" dirty="0"/>
          </a:p>
          <a:p>
            <a:pPr marL="0" indent="0">
              <a:buNone/>
            </a:pPr>
            <a:r>
              <a:rPr lang="en-US" sz="2800" dirty="0"/>
              <a:t>	</a:t>
            </a:r>
            <a:r>
              <a:rPr lang="en-US" sz="2800" b="1" dirty="0">
                <a:solidFill>
                  <a:srgbClr val="0070C0"/>
                </a:solidFill>
              </a:rPr>
              <a:t>public </a:t>
            </a:r>
            <a:r>
              <a:rPr lang="en-US" sz="2800" b="1" dirty="0">
                <a:solidFill>
                  <a:srgbClr val="FF0000"/>
                </a:solidFill>
              </a:rPr>
              <a:t>/*@ pure @*/ </a:t>
            </a:r>
            <a:r>
              <a:rPr lang="en-US" sz="2800" b="1" dirty="0">
                <a:solidFill>
                  <a:srgbClr val="0070C0"/>
                </a:solidFill>
              </a:rPr>
              <a:t>int </a:t>
            </a:r>
            <a:r>
              <a:rPr lang="en-US" sz="2800" b="1" dirty="0" err="1">
                <a:solidFill>
                  <a:srgbClr val="0070C0"/>
                </a:solidFill>
              </a:rPr>
              <a:t>getBalance</a:t>
            </a:r>
            <a:r>
              <a:rPr lang="en-US" sz="2800" b="1" dirty="0">
                <a:solidFill>
                  <a:srgbClr val="0070C0"/>
                </a:solidFill>
              </a:rPr>
              <a:t>(){... </a:t>
            </a:r>
          </a:p>
          <a:p>
            <a:pPr marL="0" indent="0">
              <a:buNone/>
            </a:pPr>
            <a:r>
              <a:rPr lang="en-US" sz="2800" b="1" dirty="0">
                <a:solidFill>
                  <a:srgbClr val="0070C0"/>
                </a:solidFill>
              </a:rPr>
              <a:t>	Directory </a:t>
            </a:r>
            <a:r>
              <a:rPr lang="en-US" sz="2800" b="1" dirty="0">
                <a:solidFill>
                  <a:srgbClr val="FF0000"/>
                </a:solidFill>
              </a:rPr>
              <a:t>/*@ pure </a:t>
            </a:r>
            <a:r>
              <a:rPr lang="en-US" sz="2800" b="1" dirty="0" err="1">
                <a:solidFill>
                  <a:srgbClr val="FF0000"/>
                </a:solidFill>
              </a:rPr>
              <a:t>non_null</a:t>
            </a:r>
            <a:r>
              <a:rPr lang="en-US" sz="2800" b="1" dirty="0">
                <a:solidFill>
                  <a:srgbClr val="FF0000"/>
                </a:solidFill>
              </a:rPr>
              <a:t> @*/</a:t>
            </a:r>
            <a:r>
              <a:rPr lang="en-US" sz="2800" b="1" dirty="0">
                <a:solidFill>
                  <a:srgbClr val="0070C0"/>
                </a:solidFill>
              </a:rPr>
              <a:t> </a:t>
            </a:r>
            <a:r>
              <a:rPr lang="en-US" sz="2800" b="1" dirty="0" err="1">
                <a:solidFill>
                  <a:srgbClr val="0070C0"/>
                </a:solidFill>
              </a:rPr>
              <a:t>getParent</a:t>
            </a:r>
            <a:r>
              <a:rPr lang="en-US" sz="2800" b="1" dirty="0">
                <a:solidFill>
                  <a:srgbClr val="0070C0"/>
                </a:solidFill>
              </a:rPr>
              <a:t>(){... </a:t>
            </a:r>
          </a:p>
          <a:p>
            <a:pPr marL="342900" indent="-342900">
              <a:buFont typeface="Arial" panose="020B0604020202020204" pitchFamily="34" charset="0"/>
              <a:buChar char="•"/>
            </a:pPr>
            <a:endParaRPr lang="en-US" sz="700" dirty="0"/>
          </a:p>
          <a:p>
            <a:pPr marL="342900" indent="-342900">
              <a:buFont typeface="Arial" panose="020B0604020202020204" pitchFamily="34" charset="0"/>
              <a:buChar char="•"/>
            </a:pPr>
            <a:r>
              <a:rPr lang="en-US" sz="2800" dirty="0"/>
              <a:t>Pure method are implicitly assignable \nothing. </a:t>
            </a:r>
          </a:p>
          <a:p>
            <a:pPr marL="342900" indent="-342900">
              <a:buFont typeface="Arial" panose="020B0604020202020204" pitchFamily="34" charset="0"/>
              <a:buChar char="•"/>
            </a:pPr>
            <a:r>
              <a:rPr lang="en-US" sz="2800" dirty="0"/>
              <a:t>Only pure methods can be used in specifications.</a:t>
            </a:r>
            <a:endParaRPr lang="en-US" sz="1100" dirty="0"/>
          </a:p>
        </p:txBody>
      </p:sp>
    </p:spTree>
    <p:extLst>
      <p:ext uri="{BB962C8B-B14F-4D97-AF65-F5344CB8AC3E}">
        <p14:creationId xmlns:p14="http://schemas.microsoft.com/office/powerpoint/2010/main" val="588256639"/>
      </p:ext>
    </p:extLst>
  </p:cSld>
  <p:clrMapOvr>
    <a:masterClrMapping/>
  </p:clrMapOvr>
  <p:transition spd="slow">
    <p:randomBar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D29A3-B666-49D2-A147-CC198E1486DA}"/>
              </a:ext>
            </a:extLst>
          </p:cNvPr>
          <p:cNvSpPr>
            <a:spLocks noGrp="1"/>
          </p:cNvSpPr>
          <p:nvPr>
            <p:ph type="title"/>
          </p:nvPr>
        </p:nvSpPr>
        <p:spPr/>
        <p:txBody>
          <a:bodyPr/>
          <a:lstStyle/>
          <a:p>
            <a:r>
              <a:rPr lang="en-US" dirty="0"/>
              <a:t>Visibility </a:t>
            </a:r>
          </a:p>
        </p:txBody>
      </p:sp>
      <p:sp>
        <p:nvSpPr>
          <p:cNvPr id="3" name="Content Placeholder 2">
            <a:extLst>
              <a:ext uri="{FF2B5EF4-FFF2-40B4-BE49-F238E27FC236}">
                <a16:creationId xmlns:a16="http://schemas.microsoft.com/office/drawing/2014/main" id="{6F3000D1-E54A-4BF1-8178-F3D2D15522F9}"/>
              </a:ext>
            </a:extLst>
          </p:cNvPr>
          <p:cNvSpPr>
            <a:spLocks noGrp="1"/>
          </p:cNvSpPr>
          <p:nvPr>
            <p:ph idx="1"/>
          </p:nvPr>
        </p:nvSpPr>
        <p:spPr>
          <a:xfrm>
            <a:off x="1066800" y="1894114"/>
            <a:ext cx="10058400" cy="4226768"/>
          </a:xfrm>
        </p:spPr>
        <p:txBody>
          <a:bodyPr>
            <a:normAutofit/>
          </a:bodyPr>
          <a:lstStyle/>
          <a:p>
            <a:pPr marL="457200" indent="-457200">
              <a:buFont typeface="Arial" panose="020B0604020202020204" pitchFamily="34" charset="0"/>
              <a:buChar char="•"/>
            </a:pPr>
            <a:r>
              <a:rPr lang="en-US" sz="1800" dirty="0"/>
              <a:t>JML supports the standard Java visibilities: </a:t>
            </a:r>
          </a:p>
          <a:p>
            <a:pPr marL="457200" indent="-457200">
              <a:buFont typeface="Arial" panose="020B0604020202020204" pitchFamily="34" charset="0"/>
              <a:buChar char="•"/>
            </a:pPr>
            <a:r>
              <a:rPr lang="en-US" sz="1800" dirty="0"/>
              <a:t>Specs of public methods can not refer to private fields.</a:t>
            </a:r>
          </a:p>
          <a:p>
            <a:pPr marL="0" indent="0">
              <a:buNone/>
            </a:pPr>
            <a:r>
              <a:rPr lang="en-US" sz="1800" dirty="0"/>
              <a:t>	</a:t>
            </a:r>
            <a:r>
              <a:rPr lang="en-US" sz="1800" b="1" dirty="0">
                <a:solidFill>
                  <a:srgbClr val="0070C0"/>
                </a:solidFill>
              </a:rPr>
              <a:t>public int pub; </a:t>
            </a:r>
          </a:p>
          <a:p>
            <a:pPr marL="0" indent="0">
              <a:buNone/>
            </a:pPr>
            <a:r>
              <a:rPr lang="en-US" sz="1800" b="1" dirty="0">
                <a:solidFill>
                  <a:srgbClr val="0070C0"/>
                </a:solidFill>
              </a:rPr>
              <a:t>	private int </a:t>
            </a:r>
            <a:r>
              <a:rPr lang="en-US" sz="1800" b="1" dirty="0" err="1">
                <a:solidFill>
                  <a:srgbClr val="0070C0"/>
                </a:solidFill>
              </a:rPr>
              <a:t>priv</a:t>
            </a:r>
            <a:r>
              <a:rPr lang="en-US" sz="1800" b="1" dirty="0">
                <a:solidFill>
                  <a:srgbClr val="0070C0"/>
                </a:solidFill>
              </a:rPr>
              <a:t>; </a:t>
            </a:r>
          </a:p>
          <a:p>
            <a:pPr marL="0" indent="0">
              <a:buNone/>
            </a:pPr>
            <a:r>
              <a:rPr lang="en-US" sz="1800" b="1" dirty="0">
                <a:solidFill>
                  <a:srgbClr val="0070C0"/>
                </a:solidFill>
              </a:rPr>
              <a:t>	//@ requires </a:t>
            </a:r>
            <a:r>
              <a:rPr lang="en-US" sz="1800" b="1" dirty="0" err="1">
                <a:solidFill>
                  <a:srgbClr val="0070C0"/>
                </a:solidFill>
              </a:rPr>
              <a:t>i</a:t>
            </a:r>
            <a:r>
              <a:rPr lang="en-US" sz="1800" b="1" dirty="0">
                <a:solidFill>
                  <a:srgbClr val="0070C0"/>
                </a:solidFill>
              </a:rPr>
              <a:t> &lt;= pub; </a:t>
            </a:r>
          </a:p>
          <a:p>
            <a:pPr marL="0" indent="0">
              <a:buNone/>
            </a:pPr>
            <a:r>
              <a:rPr lang="en-US" sz="1800" b="1" dirty="0">
                <a:solidFill>
                  <a:srgbClr val="0070C0"/>
                </a:solidFill>
              </a:rPr>
              <a:t>	public void pub1 (int </a:t>
            </a:r>
            <a:r>
              <a:rPr lang="en-US" sz="1800" b="1" dirty="0" err="1">
                <a:solidFill>
                  <a:srgbClr val="0070C0"/>
                </a:solidFill>
              </a:rPr>
              <a:t>i</a:t>
            </a:r>
            <a:r>
              <a:rPr lang="en-US" sz="1800" b="1" dirty="0">
                <a:solidFill>
                  <a:srgbClr val="0070C0"/>
                </a:solidFill>
              </a:rPr>
              <a:t>) { ... } </a:t>
            </a:r>
          </a:p>
          <a:p>
            <a:pPr marL="0" indent="0">
              <a:buNone/>
            </a:pPr>
            <a:r>
              <a:rPr lang="en-US" sz="1800" b="1" dirty="0">
                <a:solidFill>
                  <a:srgbClr val="0070C0"/>
                </a:solidFill>
              </a:rPr>
              <a:t>	//@ requires </a:t>
            </a:r>
            <a:r>
              <a:rPr lang="en-US" sz="1800" b="1" dirty="0" err="1">
                <a:solidFill>
                  <a:srgbClr val="0070C0"/>
                </a:solidFill>
              </a:rPr>
              <a:t>i</a:t>
            </a:r>
            <a:r>
              <a:rPr lang="en-US" sz="1800" b="1" dirty="0">
                <a:solidFill>
                  <a:srgbClr val="0070C0"/>
                </a:solidFill>
              </a:rPr>
              <a:t> &lt;= pub &amp;&amp; </a:t>
            </a:r>
            <a:r>
              <a:rPr lang="en-US" sz="1800" b="1" dirty="0" err="1">
                <a:solidFill>
                  <a:srgbClr val="0070C0"/>
                </a:solidFill>
              </a:rPr>
              <a:t>i</a:t>
            </a:r>
            <a:r>
              <a:rPr lang="en-US" sz="1800" b="1" dirty="0">
                <a:solidFill>
                  <a:srgbClr val="0070C0"/>
                </a:solidFill>
              </a:rPr>
              <a:t> &lt;= </a:t>
            </a:r>
            <a:r>
              <a:rPr lang="en-US" sz="1800" b="1" dirty="0" err="1">
                <a:solidFill>
                  <a:srgbClr val="0070C0"/>
                </a:solidFill>
              </a:rPr>
              <a:t>priv</a:t>
            </a:r>
            <a:r>
              <a:rPr lang="en-US" sz="1800" b="1" dirty="0">
                <a:solidFill>
                  <a:srgbClr val="0070C0"/>
                </a:solidFill>
              </a:rPr>
              <a:t>; </a:t>
            </a:r>
          </a:p>
          <a:p>
            <a:pPr marL="0" indent="0">
              <a:buNone/>
            </a:pPr>
            <a:r>
              <a:rPr lang="en-US" sz="1800" b="1" dirty="0">
                <a:solidFill>
                  <a:srgbClr val="0070C0"/>
                </a:solidFill>
              </a:rPr>
              <a:t>	private void priv1 (int </a:t>
            </a:r>
            <a:r>
              <a:rPr lang="en-US" sz="1800" b="1" dirty="0" err="1">
                <a:solidFill>
                  <a:srgbClr val="0070C0"/>
                </a:solidFill>
              </a:rPr>
              <a:t>i</a:t>
            </a:r>
            <a:r>
              <a:rPr lang="en-US" sz="1800" b="1" dirty="0">
                <a:solidFill>
                  <a:srgbClr val="0070C0"/>
                </a:solidFill>
              </a:rPr>
              <a:t>) ... </a:t>
            </a:r>
          </a:p>
          <a:p>
            <a:pPr marL="0" indent="0">
              <a:buNone/>
            </a:pPr>
            <a:r>
              <a:rPr lang="en-US" sz="1800" b="1" dirty="0">
                <a:solidFill>
                  <a:srgbClr val="FF0000"/>
                </a:solidFill>
              </a:rPr>
              <a:t>	//@ requires </a:t>
            </a:r>
            <a:r>
              <a:rPr lang="en-US" sz="1800" b="1" dirty="0" err="1">
                <a:solidFill>
                  <a:srgbClr val="FF0000"/>
                </a:solidFill>
              </a:rPr>
              <a:t>i</a:t>
            </a:r>
            <a:r>
              <a:rPr lang="en-US" sz="1800" b="1" dirty="0">
                <a:solidFill>
                  <a:srgbClr val="FF0000"/>
                </a:solidFill>
              </a:rPr>
              <a:t> &lt;= pub &amp;&amp; </a:t>
            </a:r>
            <a:r>
              <a:rPr lang="en-US" sz="1800" b="1" dirty="0" err="1">
                <a:solidFill>
                  <a:srgbClr val="FF0000"/>
                </a:solidFill>
              </a:rPr>
              <a:t>i</a:t>
            </a:r>
            <a:r>
              <a:rPr lang="en-US" sz="1800" b="1" dirty="0">
                <a:solidFill>
                  <a:srgbClr val="FF0000"/>
                </a:solidFill>
              </a:rPr>
              <a:t> &lt;= </a:t>
            </a:r>
            <a:r>
              <a:rPr lang="en-US" sz="1800" b="1" dirty="0" err="1">
                <a:solidFill>
                  <a:srgbClr val="FF0000"/>
                </a:solidFill>
              </a:rPr>
              <a:t>priv</a:t>
            </a:r>
            <a:r>
              <a:rPr lang="en-US" sz="1800" b="1" dirty="0">
                <a:solidFill>
                  <a:srgbClr val="FF0000"/>
                </a:solidFill>
              </a:rPr>
              <a:t>; //WRONG !! </a:t>
            </a:r>
          </a:p>
          <a:p>
            <a:pPr marL="0" indent="0">
              <a:buNone/>
            </a:pPr>
            <a:r>
              <a:rPr lang="en-US" sz="1800" b="1" dirty="0">
                <a:solidFill>
                  <a:srgbClr val="0070C0"/>
                </a:solidFill>
              </a:rPr>
              <a:t>	public void pub2(int </a:t>
            </a:r>
            <a:r>
              <a:rPr lang="en-US" sz="1800" b="1" dirty="0" err="1">
                <a:solidFill>
                  <a:srgbClr val="0070C0"/>
                </a:solidFill>
              </a:rPr>
              <a:t>i</a:t>
            </a:r>
            <a:r>
              <a:rPr lang="en-US" sz="1800" b="1" dirty="0">
                <a:solidFill>
                  <a:srgbClr val="0070C0"/>
                </a:solidFill>
              </a:rPr>
              <a:t>) { ... } </a:t>
            </a:r>
          </a:p>
          <a:p>
            <a:endParaRPr lang="en-US" sz="1600" dirty="0"/>
          </a:p>
        </p:txBody>
      </p:sp>
    </p:spTree>
    <p:extLst>
      <p:ext uri="{BB962C8B-B14F-4D97-AF65-F5344CB8AC3E}">
        <p14:creationId xmlns:p14="http://schemas.microsoft.com/office/powerpoint/2010/main" val="2138278871"/>
      </p:ext>
    </p:extLst>
  </p:cSld>
  <p:clrMapOvr>
    <a:masterClrMapping/>
  </p:clrMapOvr>
  <p:transition spd="slow">
    <p:randomBar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F82F6-1DB8-4D4F-82AC-CAEF01ADDD1C}"/>
              </a:ext>
            </a:extLst>
          </p:cNvPr>
          <p:cNvSpPr>
            <a:spLocks noGrp="1"/>
          </p:cNvSpPr>
          <p:nvPr>
            <p:ph type="title"/>
          </p:nvPr>
        </p:nvSpPr>
        <p:spPr/>
        <p:txBody>
          <a:bodyPr/>
          <a:lstStyle/>
          <a:p>
            <a:r>
              <a:rPr lang="en-US" dirty="0" err="1"/>
              <a:t>spec_public</a:t>
            </a:r>
            <a:endParaRPr lang="en-US" dirty="0"/>
          </a:p>
        </p:txBody>
      </p:sp>
      <p:sp>
        <p:nvSpPr>
          <p:cNvPr id="3" name="Content Placeholder 2">
            <a:extLst>
              <a:ext uri="{FF2B5EF4-FFF2-40B4-BE49-F238E27FC236}">
                <a16:creationId xmlns:a16="http://schemas.microsoft.com/office/drawing/2014/main" id="{B3B3C9E7-C507-4239-92E0-69CC7FD0A7C5}"/>
              </a:ext>
            </a:extLst>
          </p:cNvPr>
          <p:cNvSpPr>
            <a:spLocks noGrp="1"/>
          </p:cNvSpPr>
          <p:nvPr>
            <p:ph idx="1"/>
          </p:nvPr>
        </p:nvSpPr>
        <p:spPr>
          <a:xfrm>
            <a:off x="1066800" y="2103119"/>
            <a:ext cx="10058400" cy="4037621"/>
          </a:xfrm>
        </p:spPr>
        <p:txBody>
          <a:bodyPr>
            <a:normAutofit/>
          </a:bodyPr>
          <a:lstStyle/>
          <a:p>
            <a:pPr marL="457200" indent="-457200">
              <a:buFont typeface="Arial" panose="020B0604020202020204" pitchFamily="34" charset="0"/>
              <a:buChar char="•"/>
            </a:pPr>
            <a:r>
              <a:rPr lang="en-US" sz="2400" dirty="0"/>
              <a:t>Keyword </a:t>
            </a:r>
            <a:r>
              <a:rPr lang="en-US" sz="2400" dirty="0" err="1"/>
              <a:t>spec_public</a:t>
            </a:r>
            <a:r>
              <a:rPr lang="en-US" sz="2400" dirty="0"/>
              <a:t> loosens visibility for specs. </a:t>
            </a:r>
          </a:p>
          <a:p>
            <a:pPr marL="457200" indent="-457200">
              <a:buFont typeface="Arial" panose="020B0604020202020204" pitchFamily="34" charset="0"/>
              <a:buChar char="•"/>
            </a:pPr>
            <a:r>
              <a:rPr lang="en-US" sz="2400" dirty="0"/>
              <a:t>Private </a:t>
            </a:r>
            <a:r>
              <a:rPr lang="en-US" sz="2400" dirty="0" err="1"/>
              <a:t>spec_public</a:t>
            </a:r>
            <a:r>
              <a:rPr lang="en-US" sz="2400" dirty="0"/>
              <a:t> fields are allowed in public specs, e.g.:</a:t>
            </a:r>
            <a:r>
              <a:rPr lang="en-US" sz="2400" b="1" dirty="0">
                <a:solidFill>
                  <a:srgbClr val="0070C0"/>
                </a:solidFill>
              </a:rPr>
              <a:t> </a:t>
            </a:r>
          </a:p>
          <a:p>
            <a:pPr marL="0" indent="0">
              <a:buNone/>
            </a:pPr>
            <a:endParaRPr lang="en-US" sz="1000" b="1" dirty="0">
              <a:solidFill>
                <a:srgbClr val="0070C0"/>
              </a:solidFill>
            </a:endParaRPr>
          </a:p>
          <a:p>
            <a:pPr marL="0" indent="0">
              <a:buNone/>
            </a:pPr>
            <a:r>
              <a:rPr lang="en-US" sz="2400" b="1" dirty="0">
                <a:solidFill>
                  <a:srgbClr val="0070C0"/>
                </a:solidFill>
              </a:rPr>
              <a:t>	public int pub ; </a:t>
            </a:r>
          </a:p>
          <a:p>
            <a:pPr marL="0" indent="0">
              <a:buNone/>
            </a:pPr>
            <a:r>
              <a:rPr lang="en-US" sz="2400" b="1" dirty="0">
                <a:solidFill>
                  <a:srgbClr val="0070C0"/>
                </a:solidFill>
              </a:rPr>
              <a:t>	private </a:t>
            </a:r>
            <a:r>
              <a:rPr lang="en-US" sz="2400" b="1" dirty="0">
                <a:solidFill>
                  <a:srgbClr val="FF0000"/>
                </a:solidFill>
              </a:rPr>
              <a:t>/*@ </a:t>
            </a:r>
            <a:r>
              <a:rPr lang="en-US" sz="2400" b="1" dirty="0" err="1">
                <a:solidFill>
                  <a:srgbClr val="FF0000"/>
                </a:solidFill>
              </a:rPr>
              <a:t>spec_public</a:t>
            </a:r>
            <a:r>
              <a:rPr lang="en-US" sz="2400" b="1" dirty="0">
                <a:solidFill>
                  <a:srgbClr val="FF0000"/>
                </a:solidFill>
              </a:rPr>
              <a:t> @*/ </a:t>
            </a:r>
            <a:r>
              <a:rPr lang="en-US" sz="2400" b="1" dirty="0">
                <a:solidFill>
                  <a:srgbClr val="0070C0"/>
                </a:solidFill>
              </a:rPr>
              <a:t>int </a:t>
            </a:r>
            <a:r>
              <a:rPr lang="en-US" sz="2400" b="1" dirty="0" err="1">
                <a:solidFill>
                  <a:srgbClr val="0070C0"/>
                </a:solidFill>
              </a:rPr>
              <a:t>priv</a:t>
            </a:r>
            <a:r>
              <a:rPr lang="en-US" sz="2400" b="1" dirty="0">
                <a:solidFill>
                  <a:srgbClr val="0070C0"/>
                </a:solidFill>
              </a:rPr>
              <a:t>; </a:t>
            </a:r>
          </a:p>
          <a:p>
            <a:pPr marL="0" indent="0">
              <a:buNone/>
            </a:pPr>
            <a:r>
              <a:rPr lang="en-US" sz="2400" b="1" dirty="0">
                <a:solidFill>
                  <a:srgbClr val="0070C0"/>
                </a:solidFill>
              </a:rPr>
              <a:t>	//@ requires </a:t>
            </a:r>
            <a:r>
              <a:rPr lang="en-US" sz="2400" b="1" dirty="0" err="1">
                <a:solidFill>
                  <a:srgbClr val="0070C0"/>
                </a:solidFill>
              </a:rPr>
              <a:t>i</a:t>
            </a:r>
            <a:r>
              <a:rPr lang="en-US" sz="2400" b="1" dirty="0">
                <a:solidFill>
                  <a:srgbClr val="0070C0"/>
                </a:solidFill>
              </a:rPr>
              <a:t> &lt;= pub &amp;&amp; </a:t>
            </a:r>
            <a:r>
              <a:rPr lang="en-US" sz="2400" b="1" dirty="0" err="1">
                <a:solidFill>
                  <a:srgbClr val="0070C0"/>
                </a:solidFill>
              </a:rPr>
              <a:t>i</a:t>
            </a:r>
            <a:r>
              <a:rPr lang="en-US" sz="2400" b="1" dirty="0">
                <a:solidFill>
                  <a:srgbClr val="0070C0"/>
                </a:solidFill>
              </a:rPr>
              <a:t> &lt;= </a:t>
            </a:r>
            <a:r>
              <a:rPr lang="en-US" sz="2400" b="1" dirty="0" err="1">
                <a:solidFill>
                  <a:srgbClr val="0070C0"/>
                </a:solidFill>
              </a:rPr>
              <a:t>priv</a:t>
            </a:r>
            <a:r>
              <a:rPr lang="en-US" sz="2400" b="1" dirty="0">
                <a:solidFill>
                  <a:srgbClr val="0070C0"/>
                </a:solidFill>
              </a:rPr>
              <a:t>;  </a:t>
            </a:r>
            <a:r>
              <a:rPr lang="en-US" sz="2400" b="1" dirty="0">
                <a:solidFill>
                  <a:srgbClr val="F03F2B"/>
                </a:solidFill>
              </a:rPr>
              <a:t>//OK</a:t>
            </a:r>
            <a:r>
              <a:rPr lang="en-US" sz="2400" b="1" dirty="0">
                <a:solidFill>
                  <a:srgbClr val="0070C0"/>
                </a:solidFill>
              </a:rPr>
              <a:t> </a:t>
            </a:r>
          </a:p>
          <a:p>
            <a:pPr marL="0" indent="0">
              <a:buNone/>
            </a:pPr>
            <a:r>
              <a:rPr lang="en-US" sz="2400" b="1" dirty="0">
                <a:solidFill>
                  <a:srgbClr val="0070C0"/>
                </a:solidFill>
              </a:rPr>
              <a:t>	public void pub2(int </a:t>
            </a:r>
            <a:r>
              <a:rPr lang="en-US" sz="2400" b="1" dirty="0" err="1">
                <a:solidFill>
                  <a:srgbClr val="0070C0"/>
                </a:solidFill>
              </a:rPr>
              <a:t>i</a:t>
            </a:r>
            <a:r>
              <a:rPr lang="en-US" sz="2400" b="1" dirty="0">
                <a:solidFill>
                  <a:srgbClr val="0070C0"/>
                </a:solidFill>
              </a:rPr>
              <a:t>) { ... } </a:t>
            </a:r>
          </a:p>
        </p:txBody>
      </p:sp>
    </p:spTree>
    <p:extLst>
      <p:ext uri="{BB962C8B-B14F-4D97-AF65-F5344CB8AC3E}">
        <p14:creationId xmlns:p14="http://schemas.microsoft.com/office/powerpoint/2010/main" val="1352490651"/>
      </p:ext>
    </p:extLst>
  </p:cSld>
  <p:clrMapOvr>
    <a:masterClrMapping/>
  </p:clrMapOvr>
  <p:transition spd="slow">
    <p:randomBar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8EB239-CB74-4BE3-8D44-D69E8260CDD2}"/>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25652294"/>
      </p:ext>
    </p:extLst>
  </p:cSld>
  <p:clrMapOvr>
    <a:masterClrMapping/>
  </p:clrMapOvr>
  <p:transition spd="slow">
    <p:randomBar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3822637" y="2367973"/>
            <a:ext cx="7150163" cy="1514019"/>
          </a:xfrm>
        </p:spPr>
        <p:txBody>
          <a:bodyPr/>
          <a:lstStyle/>
          <a:p>
            <a:pPr algn="ctr"/>
            <a:r>
              <a:rPr lang="en-US"/>
              <a:t>Java Modeling Language </a:t>
            </a:r>
          </a:p>
        </p:txBody>
      </p:sp>
    </p:spTree>
    <p:extLst>
      <p:ext uri="{BB962C8B-B14F-4D97-AF65-F5344CB8AC3E}">
        <p14:creationId xmlns:p14="http://schemas.microsoft.com/office/powerpoint/2010/main" val="3596220047"/>
      </p:ext>
    </p:extLst>
  </p:cSld>
  <p:clrMapOvr>
    <a:masterClrMapping/>
  </p:clrMapOvr>
  <p:transition spd="slow">
    <p:randomBar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2DF8-59D4-D94D-8ED9-F2F319899DBF}"/>
              </a:ext>
            </a:extLst>
          </p:cNvPr>
          <p:cNvSpPr>
            <a:spLocks noGrp="1"/>
          </p:cNvSpPr>
          <p:nvPr>
            <p:ph type="title"/>
          </p:nvPr>
        </p:nvSpPr>
        <p:spPr/>
        <p:txBody>
          <a:bodyPr/>
          <a:lstStyle/>
          <a:p>
            <a:r>
              <a:rPr lang="en-US"/>
              <a:t>Agenda</a:t>
            </a:r>
          </a:p>
        </p:txBody>
      </p:sp>
      <p:sp>
        <p:nvSpPr>
          <p:cNvPr id="37" name="Text Placeholder 2">
            <a:extLst>
              <a:ext uri="{FF2B5EF4-FFF2-40B4-BE49-F238E27FC236}">
                <a16:creationId xmlns:a16="http://schemas.microsoft.com/office/drawing/2014/main" id="{1C244ABB-D277-4B26-B13C-C79B99B2A37A}"/>
              </a:ext>
            </a:extLst>
          </p:cNvPr>
          <p:cNvSpPr>
            <a:spLocks noGrp="1"/>
          </p:cNvSpPr>
          <p:nvPr>
            <p:ph type="body" sz="quarter" idx="10"/>
          </p:nvPr>
        </p:nvSpPr>
        <p:spPr>
          <a:xfrm>
            <a:off x="952499" y="2279375"/>
            <a:ext cx="9901031" cy="3699562"/>
          </a:xfrm>
        </p:spPr>
        <p:txBody>
          <a:bodyPr/>
          <a:lstStyle/>
          <a:p>
            <a:pPr marL="342900" indent="-342900" algn="l" fontAlgn="base">
              <a:buFont typeface="Arial" panose="020B0604020202020204" pitchFamily="34" charset="0"/>
              <a:buChar char="•"/>
            </a:pPr>
            <a:r>
              <a:rPr lang="en-US" sz="2400" b="0">
                <a:solidFill>
                  <a:srgbClr val="000000"/>
                </a:solidFill>
                <a:effectLst/>
                <a:latin typeface="Georgia" panose="02040502050405020303" pitchFamily="18" charset="0"/>
              </a:rPr>
              <a:t>JML Expressions</a:t>
            </a:r>
          </a:p>
          <a:p>
            <a:pPr marL="342900" indent="-342900" algn="l" fontAlgn="base">
              <a:buFont typeface="Arial" panose="020B0604020202020204" pitchFamily="34" charset="0"/>
              <a:buChar char="•"/>
            </a:pPr>
            <a:r>
              <a:rPr lang="en-US" sz="2400" b="0">
                <a:solidFill>
                  <a:srgbClr val="000000"/>
                </a:solidFill>
                <a:effectLst/>
                <a:latin typeface="Georgia" panose="02040502050405020303" pitchFamily="18" charset="0"/>
              </a:rPr>
              <a:t>FOL in JML</a:t>
            </a:r>
          </a:p>
          <a:p>
            <a:pPr marL="342900" indent="-342900" algn="l" fontAlgn="base">
              <a:buFont typeface="Arial" panose="020B0604020202020204" pitchFamily="34" charset="0"/>
              <a:buChar char="•"/>
            </a:pPr>
            <a:r>
              <a:rPr lang="en-US" sz="2400" b="0">
                <a:solidFill>
                  <a:srgbClr val="000000"/>
                </a:solidFill>
                <a:effectLst/>
                <a:latin typeface="Georgia" panose="02040502050405020303" pitchFamily="18" charset="0"/>
              </a:rPr>
              <a:t>JML Quantifiers</a:t>
            </a:r>
          </a:p>
          <a:p>
            <a:pPr marL="342900" indent="-342900" algn="l" fontAlgn="base">
              <a:buFont typeface="Arial" panose="020B0604020202020204" pitchFamily="34" charset="0"/>
              <a:buChar char="•"/>
            </a:pPr>
            <a:r>
              <a:rPr lang="en-US" sz="2400">
                <a:solidFill>
                  <a:srgbClr val="000000"/>
                </a:solidFill>
                <a:latin typeface="Georgia" panose="02040502050405020303" pitchFamily="18" charset="0"/>
              </a:rPr>
              <a:t>Examples</a:t>
            </a:r>
          </a:p>
          <a:p>
            <a:pPr marL="342900" indent="-342900" algn="l" fontAlgn="base">
              <a:buFont typeface="Arial" panose="020B0604020202020204" pitchFamily="34" charset="0"/>
              <a:buChar char="•"/>
            </a:pPr>
            <a:r>
              <a:rPr lang="en-US" sz="2400">
                <a:solidFill>
                  <a:srgbClr val="000000"/>
                </a:solidFill>
                <a:latin typeface="Georgia" panose="02040502050405020303" pitchFamily="18" charset="0"/>
              </a:rPr>
              <a:t>JML &amp; Inheritance</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p:txBody>
      </p:sp>
    </p:spTree>
    <p:extLst>
      <p:ext uri="{BB962C8B-B14F-4D97-AF65-F5344CB8AC3E}">
        <p14:creationId xmlns:p14="http://schemas.microsoft.com/office/powerpoint/2010/main" val="1082546087"/>
      </p:ext>
    </p:extLst>
  </p:cSld>
  <p:clrMapOvr>
    <a:masterClrMapping/>
  </p:clrMapOvr>
  <p:transition spd="slow">
    <p:randomBar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7050C-976D-4093-959F-BD39D5255724}"/>
              </a:ext>
            </a:extLst>
          </p:cNvPr>
          <p:cNvSpPr>
            <a:spLocks noGrp="1"/>
          </p:cNvSpPr>
          <p:nvPr>
            <p:ph type="title"/>
          </p:nvPr>
        </p:nvSpPr>
        <p:spPr/>
        <p:txBody>
          <a:bodyPr/>
          <a:lstStyle/>
          <a:p>
            <a:r>
              <a:rPr lang="en-US"/>
              <a:t>JML Expressions</a:t>
            </a:r>
          </a:p>
        </p:txBody>
      </p:sp>
      <p:pic>
        <p:nvPicPr>
          <p:cNvPr id="17" name="Picture 16">
            <a:extLst>
              <a:ext uri="{FF2B5EF4-FFF2-40B4-BE49-F238E27FC236}">
                <a16:creationId xmlns:a16="http://schemas.microsoft.com/office/drawing/2014/main" id="{81963DFF-F9CD-48B6-97C0-D68F020807B7}"/>
              </a:ext>
            </a:extLst>
          </p:cNvPr>
          <p:cNvPicPr>
            <a:picLocks noChangeAspect="1"/>
          </p:cNvPicPr>
          <p:nvPr/>
        </p:nvPicPr>
        <p:blipFill>
          <a:blip r:embed="rId2"/>
          <a:stretch>
            <a:fillRect/>
          </a:stretch>
        </p:blipFill>
        <p:spPr>
          <a:xfrm>
            <a:off x="964023" y="2132978"/>
            <a:ext cx="7835420" cy="4016030"/>
          </a:xfrm>
          <a:prstGeom prst="rect">
            <a:avLst/>
          </a:prstGeom>
        </p:spPr>
      </p:pic>
    </p:spTree>
    <p:extLst>
      <p:ext uri="{BB962C8B-B14F-4D97-AF65-F5344CB8AC3E}">
        <p14:creationId xmlns:p14="http://schemas.microsoft.com/office/powerpoint/2010/main" val="1993250754"/>
      </p:ext>
    </p:extLst>
  </p:cSld>
  <p:clrMapOvr>
    <a:masterClrMapping/>
  </p:clrMapOvr>
  <p:transition spd="slow">
    <p:randomBa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17A3-74B4-4802-8F70-840A02A82B99}"/>
              </a:ext>
            </a:extLst>
          </p:cNvPr>
          <p:cNvSpPr>
            <a:spLocks noGrp="1"/>
          </p:cNvSpPr>
          <p:nvPr>
            <p:ph type="title"/>
          </p:nvPr>
        </p:nvSpPr>
        <p:spPr/>
        <p:txBody>
          <a:bodyPr/>
          <a:lstStyle/>
          <a:p>
            <a:r>
              <a:rPr lang="en-US"/>
              <a:t>FOL in JML</a:t>
            </a:r>
          </a:p>
        </p:txBody>
      </p:sp>
      <p:pic>
        <p:nvPicPr>
          <p:cNvPr id="17" name="Picture 16">
            <a:extLst>
              <a:ext uri="{FF2B5EF4-FFF2-40B4-BE49-F238E27FC236}">
                <a16:creationId xmlns:a16="http://schemas.microsoft.com/office/drawing/2014/main" id="{94673500-F63F-4494-A443-97B6CB9D7EED}"/>
              </a:ext>
            </a:extLst>
          </p:cNvPr>
          <p:cNvPicPr>
            <a:picLocks noChangeAspect="1"/>
          </p:cNvPicPr>
          <p:nvPr/>
        </p:nvPicPr>
        <p:blipFill>
          <a:blip r:embed="rId2"/>
          <a:stretch>
            <a:fillRect/>
          </a:stretch>
        </p:blipFill>
        <p:spPr>
          <a:xfrm>
            <a:off x="1111319" y="2653333"/>
            <a:ext cx="7638577" cy="2024683"/>
          </a:xfrm>
          <a:prstGeom prst="rect">
            <a:avLst/>
          </a:prstGeom>
        </p:spPr>
      </p:pic>
    </p:spTree>
    <p:extLst>
      <p:ext uri="{BB962C8B-B14F-4D97-AF65-F5344CB8AC3E}">
        <p14:creationId xmlns:p14="http://schemas.microsoft.com/office/powerpoint/2010/main" val="1144990881"/>
      </p:ext>
    </p:extLst>
  </p:cSld>
  <p:clrMapOvr>
    <a:masterClrMapping/>
  </p:clrMapOvr>
  <p:transition spd="slow">
    <p:randomBar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35116-57B8-43E4-9A1C-FA8A8DE00FC4}"/>
              </a:ext>
            </a:extLst>
          </p:cNvPr>
          <p:cNvSpPr>
            <a:spLocks noGrp="1"/>
          </p:cNvSpPr>
          <p:nvPr>
            <p:ph type="title"/>
          </p:nvPr>
        </p:nvSpPr>
        <p:spPr/>
        <p:txBody>
          <a:bodyPr/>
          <a:lstStyle/>
          <a:p>
            <a:r>
              <a:rPr lang="en-US"/>
              <a:t>JML Quantifiers</a:t>
            </a:r>
          </a:p>
        </p:txBody>
      </p:sp>
      <p:pic>
        <p:nvPicPr>
          <p:cNvPr id="17" name="Picture 16">
            <a:extLst>
              <a:ext uri="{FF2B5EF4-FFF2-40B4-BE49-F238E27FC236}">
                <a16:creationId xmlns:a16="http://schemas.microsoft.com/office/drawing/2014/main" id="{C4D780F5-D473-47EB-826E-693688BE7F62}"/>
              </a:ext>
            </a:extLst>
          </p:cNvPr>
          <p:cNvPicPr>
            <a:picLocks noChangeAspect="1"/>
          </p:cNvPicPr>
          <p:nvPr/>
        </p:nvPicPr>
        <p:blipFill>
          <a:blip r:embed="rId2"/>
          <a:stretch>
            <a:fillRect/>
          </a:stretch>
        </p:blipFill>
        <p:spPr>
          <a:xfrm>
            <a:off x="964023" y="2108888"/>
            <a:ext cx="5291003" cy="4035272"/>
          </a:xfrm>
          <a:prstGeom prst="rect">
            <a:avLst/>
          </a:prstGeom>
        </p:spPr>
      </p:pic>
    </p:spTree>
    <p:extLst>
      <p:ext uri="{BB962C8B-B14F-4D97-AF65-F5344CB8AC3E}">
        <p14:creationId xmlns:p14="http://schemas.microsoft.com/office/powerpoint/2010/main" val="4191153083"/>
      </p:ext>
    </p:extLst>
  </p:cSld>
  <p:clrMapOvr>
    <a:masterClrMapping/>
  </p:clrMapOvr>
  <p:transition spd="slow">
    <p:randomBar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169F7-5859-4633-8E28-D276E2F1D78F}"/>
              </a:ext>
            </a:extLst>
          </p:cNvPr>
          <p:cNvSpPr>
            <a:spLocks noGrp="1"/>
          </p:cNvSpPr>
          <p:nvPr>
            <p:ph type="title"/>
          </p:nvPr>
        </p:nvSpPr>
        <p:spPr>
          <a:xfrm>
            <a:off x="964023" y="879063"/>
            <a:ext cx="8749820" cy="610863"/>
          </a:xfrm>
        </p:spPr>
        <p:txBody>
          <a:bodyPr>
            <a:normAutofit/>
          </a:bodyPr>
          <a:lstStyle/>
          <a:p>
            <a:r>
              <a:rPr lang="en-US"/>
              <a:t>Using Quantified JML expressions </a:t>
            </a:r>
          </a:p>
        </p:txBody>
      </p:sp>
      <p:pic>
        <p:nvPicPr>
          <p:cNvPr id="4" name="Picture 3">
            <a:extLst>
              <a:ext uri="{FF2B5EF4-FFF2-40B4-BE49-F238E27FC236}">
                <a16:creationId xmlns:a16="http://schemas.microsoft.com/office/drawing/2014/main" id="{E8B35A0F-E665-47E1-A8C8-5325FBB89397}"/>
              </a:ext>
            </a:extLst>
          </p:cNvPr>
          <p:cNvPicPr>
            <a:picLocks noChangeAspect="1"/>
          </p:cNvPicPr>
          <p:nvPr/>
        </p:nvPicPr>
        <p:blipFill>
          <a:blip r:embed="rId2"/>
          <a:stretch>
            <a:fillRect/>
          </a:stretch>
        </p:blipFill>
        <p:spPr>
          <a:xfrm>
            <a:off x="995532" y="2420799"/>
            <a:ext cx="8868601" cy="1303062"/>
          </a:xfrm>
          <a:prstGeom prst="rect">
            <a:avLst/>
          </a:prstGeom>
        </p:spPr>
      </p:pic>
      <p:pic>
        <p:nvPicPr>
          <p:cNvPr id="6" name="Picture 5">
            <a:extLst>
              <a:ext uri="{FF2B5EF4-FFF2-40B4-BE49-F238E27FC236}">
                <a16:creationId xmlns:a16="http://schemas.microsoft.com/office/drawing/2014/main" id="{0540DB69-D773-4DCA-B92B-694C34D388C5}"/>
              </a:ext>
            </a:extLst>
          </p:cNvPr>
          <p:cNvPicPr>
            <a:picLocks noChangeAspect="1"/>
          </p:cNvPicPr>
          <p:nvPr/>
        </p:nvPicPr>
        <p:blipFill>
          <a:blip r:embed="rId3"/>
          <a:stretch>
            <a:fillRect/>
          </a:stretch>
        </p:blipFill>
        <p:spPr>
          <a:xfrm>
            <a:off x="1154388" y="4066772"/>
            <a:ext cx="8891636" cy="1175924"/>
          </a:xfrm>
          <a:prstGeom prst="rect">
            <a:avLst/>
          </a:prstGeom>
        </p:spPr>
      </p:pic>
    </p:spTree>
    <p:extLst>
      <p:ext uri="{BB962C8B-B14F-4D97-AF65-F5344CB8AC3E}">
        <p14:creationId xmlns:p14="http://schemas.microsoft.com/office/powerpoint/2010/main" val="392499753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C86A1-D03D-44A3-B4BB-7C4D435E5792}"/>
              </a:ext>
            </a:extLst>
          </p:cNvPr>
          <p:cNvSpPr>
            <a:spLocks noGrp="1"/>
          </p:cNvSpPr>
          <p:nvPr>
            <p:ph type="title"/>
          </p:nvPr>
        </p:nvSpPr>
        <p:spPr>
          <a:xfrm>
            <a:off x="964023" y="879063"/>
            <a:ext cx="6748742" cy="610863"/>
          </a:xfrm>
        </p:spPr>
        <p:txBody>
          <a:bodyPr>
            <a:normAutofit/>
          </a:bodyPr>
          <a:lstStyle/>
          <a:p>
            <a:r>
              <a:rPr lang="en-US"/>
              <a:t>Generalized Quantifiers </a:t>
            </a:r>
          </a:p>
        </p:txBody>
      </p:sp>
      <p:pic>
        <p:nvPicPr>
          <p:cNvPr id="17" name="Picture 16">
            <a:extLst>
              <a:ext uri="{FF2B5EF4-FFF2-40B4-BE49-F238E27FC236}">
                <a16:creationId xmlns:a16="http://schemas.microsoft.com/office/drawing/2014/main" id="{3E5B00A2-2825-4F81-A1CD-D511EA0C15A4}"/>
              </a:ext>
            </a:extLst>
          </p:cNvPr>
          <p:cNvPicPr>
            <a:picLocks noChangeAspect="1"/>
          </p:cNvPicPr>
          <p:nvPr/>
        </p:nvPicPr>
        <p:blipFill rotWithShape="1">
          <a:blip r:embed="rId2"/>
          <a:srcRect l="16473" t="24427"/>
          <a:stretch/>
        </p:blipFill>
        <p:spPr>
          <a:xfrm>
            <a:off x="964023" y="2263094"/>
            <a:ext cx="7181171" cy="3826454"/>
          </a:xfrm>
          <a:prstGeom prst="rect">
            <a:avLst/>
          </a:prstGeom>
        </p:spPr>
      </p:pic>
    </p:spTree>
    <p:extLst>
      <p:ext uri="{BB962C8B-B14F-4D97-AF65-F5344CB8AC3E}">
        <p14:creationId xmlns:p14="http://schemas.microsoft.com/office/powerpoint/2010/main" val="4165289494"/>
      </p:ext>
    </p:extLst>
  </p:cSld>
  <p:clrMapOvr>
    <a:masterClrMapping/>
  </p:clrMapOvr>
  <p:transition spd="slow">
    <p:randomBar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3822637" y="1174459"/>
            <a:ext cx="7150163" cy="2707534"/>
          </a:xfrm>
        </p:spPr>
        <p:txBody>
          <a:bodyPr/>
          <a:lstStyle/>
          <a:p>
            <a:pPr algn="ctr"/>
            <a:r>
              <a:rPr lang="en-US"/>
              <a:t>Inheritance </a:t>
            </a:r>
            <a:br>
              <a:rPr lang="en-US"/>
            </a:br>
            <a:r>
              <a:rPr lang="en-US"/>
              <a:t>&amp; </a:t>
            </a:r>
            <a:br>
              <a:rPr lang="en-US"/>
            </a:br>
            <a:r>
              <a:rPr lang="en-US"/>
              <a:t>JML</a:t>
            </a:r>
          </a:p>
        </p:txBody>
      </p:sp>
    </p:spTree>
    <p:extLst>
      <p:ext uri="{BB962C8B-B14F-4D97-AF65-F5344CB8AC3E}">
        <p14:creationId xmlns:p14="http://schemas.microsoft.com/office/powerpoint/2010/main" val="4094941215"/>
      </p:ext>
    </p:extLst>
  </p:cSld>
  <p:clrMapOvr>
    <a:masterClrMapping/>
  </p:clrMapOvr>
  <p:transition spd="slow">
    <p:randomBar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F6F3D-A8B8-4D89-B1C6-E10FD3819565}"/>
              </a:ext>
            </a:extLst>
          </p:cNvPr>
          <p:cNvSpPr>
            <a:spLocks noGrp="1"/>
          </p:cNvSpPr>
          <p:nvPr>
            <p:ph type="title"/>
          </p:nvPr>
        </p:nvSpPr>
        <p:spPr/>
        <p:txBody>
          <a:bodyPr/>
          <a:lstStyle/>
          <a:p>
            <a:r>
              <a:rPr lang="en-US"/>
              <a:t>JML &amp; Inheritance</a:t>
            </a:r>
          </a:p>
        </p:txBody>
      </p:sp>
      <p:pic>
        <p:nvPicPr>
          <p:cNvPr id="17" name="Picture 16">
            <a:extLst>
              <a:ext uri="{FF2B5EF4-FFF2-40B4-BE49-F238E27FC236}">
                <a16:creationId xmlns:a16="http://schemas.microsoft.com/office/drawing/2014/main" id="{9C766DDA-83EF-46BD-A50D-D1987D3E915F}"/>
              </a:ext>
            </a:extLst>
          </p:cNvPr>
          <p:cNvPicPr>
            <a:picLocks noChangeAspect="1"/>
          </p:cNvPicPr>
          <p:nvPr/>
        </p:nvPicPr>
        <p:blipFill>
          <a:blip r:embed="rId2"/>
          <a:stretch>
            <a:fillRect/>
          </a:stretch>
        </p:blipFill>
        <p:spPr>
          <a:xfrm>
            <a:off x="964023" y="2032964"/>
            <a:ext cx="9925650" cy="4074535"/>
          </a:xfrm>
          <a:prstGeom prst="rect">
            <a:avLst/>
          </a:prstGeom>
        </p:spPr>
      </p:pic>
    </p:spTree>
    <p:extLst>
      <p:ext uri="{BB962C8B-B14F-4D97-AF65-F5344CB8AC3E}">
        <p14:creationId xmlns:p14="http://schemas.microsoft.com/office/powerpoint/2010/main" val="198514104"/>
      </p:ext>
    </p:extLst>
  </p:cSld>
  <p:clrMapOvr>
    <a:masterClrMapping/>
  </p:clrMapOvr>
  <p:transition spd="slow">
    <p:randomBa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3822637" y="2367973"/>
            <a:ext cx="7150163" cy="1514019"/>
          </a:xfrm>
        </p:spPr>
        <p:txBody>
          <a:bodyPr/>
          <a:lstStyle/>
          <a:p>
            <a:pPr algn="ctr"/>
            <a:r>
              <a:rPr lang="en-US"/>
              <a:t>Example 1</a:t>
            </a:r>
          </a:p>
        </p:txBody>
      </p:sp>
    </p:spTree>
    <p:extLst>
      <p:ext uri="{BB962C8B-B14F-4D97-AF65-F5344CB8AC3E}">
        <p14:creationId xmlns:p14="http://schemas.microsoft.com/office/powerpoint/2010/main" val="3361650379"/>
      </p:ext>
    </p:extLst>
  </p:cSld>
  <p:clrMapOvr>
    <a:masterClrMapping/>
  </p:clrMapOvr>
  <p:transition spd="slow">
    <p:randomBar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3806B3-92C9-4527-A5FD-A397C07EE44F}"/>
              </a:ext>
            </a:extLst>
          </p:cNvPr>
          <p:cNvPicPr>
            <a:picLocks noChangeAspect="1"/>
          </p:cNvPicPr>
          <p:nvPr/>
        </p:nvPicPr>
        <p:blipFill>
          <a:blip r:embed="rId2"/>
          <a:stretch>
            <a:fillRect/>
          </a:stretch>
        </p:blipFill>
        <p:spPr>
          <a:xfrm>
            <a:off x="937519" y="976439"/>
            <a:ext cx="5882731" cy="5402510"/>
          </a:xfrm>
          <a:prstGeom prst="rect">
            <a:avLst/>
          </a:prstGeom>
        </p:spPr>
      </p:pic>
      <p:sp>
        <p:nvSpPr>
          <p:cNvPr id="5" name="TextBox 4">
            <a:extLst>
              <a:ext uri="{FF2B5EF4-FFF2-40B4-BE49-F238E27FC236}">
                <a16:creationId xmlns:a16="http://schemas.microsoft.com/office/drawing/2014/main" id="{0FA96F2F-20EB-40FC-983C-438A65E4B6AC}"/>
              </a:ext>
            </a:extLst>
          </p:cNvPr>
          <p:cNvSpPr txBox="1"/>
          <p:nvPr/>
        </p:nvSpPr>
        <p:spPr>
          <a:xfrm>
            <a:off x="7504602" y="2763399"/>
            <a:ext cx="4055427" cy="2246769"/>
          </a:xfrm>
          <a:prstGeom prst="rect">
            <a:avLst/>
          </a:prstGeom>
          <a:noFill/>
        </p:spPr>
        <p:txBody>
          <a:bodyPr wrap="square">
            <a:spAutoFit/>
          </a:bodyPr>
          <a:lstStyle/>
          <a:p>
            <a:r>
              <a:rPr lang="en-US" sz="2000">
                <a:solidFill>
                  <a:srgbClr val="000000"/>
                </a:solidFill>
                <a:latin typeface="Berlin Sans FB" panose="020E0602020502020306" pitchFamily="34" charset="0"/>
                <a:cs typeface="BrowalliaUPC" panose="020B0502040204020203" pitchFamily="34" charset="-34"/>
              </a:rPr>
              <a:t>class </a:t>
            </a:r>
            <a:r>
              <a:rPr lang="en-US" sz="2000" err="1">
                <a:solidFill>
                  <a:srgbClr val="000000"/>
                </a:solidFill>
                <a:latin typeface="Berlin Sans FB" panose="020E0602020502020306" pitchFamily="34" charset="0"/>
                <a:cs typeface="BrowalliaUPC" panose="020B0502040204020203" pitchFamily="34" charset="-34"/>
              </a:rPr>
              <a:t>BankCard</a:t>
            </a:r>
            <a:r>
              <a:rPr lang="en-US" sz="2000">
                <a:solidFill>
                  <a:srgbClr val="000000"/>
                </a:solidFill>
                <a:latin typeface="Berlin Sans FB" panose="020E0602020502020306" pitchFamily="34" charset="0"/>
                <a:cs typeface="BrowalliaUPC" panose="020B0502040204020203" pitchFamily="34" charset="-34"/>
              </a:rPr>
              <a:t> {</a:t>
            </a:r>
          </a:p>
          <a:p>
            <a:r>
              <a:rPr lang="en-US" sz="2000">
                <a:solidFill>
                  <a:srgbClr val="000000"/>
                </a:solidFill>
                <a:latin typeface="Berlin Sans FB" panose="020E0602020502020306" pitchFamily="34" charset="0"/>
                <a:cs typeface="BrowalliaUPC" panose="020B0502040204020203" pitchFamily="34" charset="-34"/>
              </a:rPr>
              <a:t>	</a:t>
            </a:r>
          </a:p>
          <a:p>
            <a:r>
              <a:rPr lang="en-US" sz="2000">
                <a:solidFill>
                  <a:srgbClr val="000000"/>
                </a:solidFill>
                <a:latin typeface="Berlin Sans FB" panose="020E0602020502020306" pitchFamily="34" charset="0"/>
                <a:cs typeface="BrowalliaUPC" panose="020B0502040204020203" pitchFamily="34" charset="-34"/>
              </a:rPr>
              <a:t>       protected Account </a:t>
            </a:r>
            <a:r>
              <a:rPr lang="en-US" sz="2000">
                <a:solidFill>
                  <a:srgbClr val="FF0000"/>
                </a:solidFill>
                <a:latin typeface="Berlin Sans FB" panose="020E0602020502020306" pitchFamily="34" charset="0"/>
                <a:cs typeface="BrowalliaUPC" panose="020B0502040204020203" pitchFamily="34" charset="-34"/>
              </a:rPr>
              <a:t>account</a:t>
            </a:r>
            <a:r>
              <a:rPr lang="en-US" sz="2000">
                <a:solidFill>
                  <a:srgbClr val="000000"/>
                </a:solidFill>
                <a:latin typeface="Berlin Sans FB" panose="020E0602020502020306" pitchFamily="34" charset="0"/>
                <a:cs typeface="BrowalliaUPC" panose="020B0502040204020203" pitchFamily="34" charset="-34"/>
              </a:rPr>
              <a:t>;</a:t>
            </a:r>
          </a:p>
          <a:p>
            <a:r>
              <a:rPr lang="en-US" sz="2000">
                <a:solidFill>
                  <a:srgbClr val="000000"/>
                </a:solidFill>
                <a:latin typeface="Berlin Sans FB" panose="020E0602020502020306" pitchFamily="34" charset="0"/>
                <a:cs typeface="BrowalliaUPC" panose="020B0502040204020203" pitchFamily="34" charset="-34"/>
              </a:rPr>
              <a:t>       protected </a:t>
            </a:r>
            <a:r>
              <a:rPr lang="en-US" sz="2000" err="1">
                <a:solidFill>
                  <a:srgbClr val="000000"/>
                </a:solidFill>
                <a:latin typeface="Berlin Sans FB" panose="020E0602020502020306" pitchFamily="34" charset="0"/>
                <a:cs typeface="BrowalliaUPC" panose="020B0502040204020203" pitchFamily="34" charset="-34"/>
              </a:rPr>
              <a:t>boolean</a:t>
            </a:r>
            <a:r>
              <a:rPr lang="en-US" sz="2000">
                <a:solidFill>
                  <a:srgbClr val="000000"/>
                </a:solidFill>
                <a:latin typeface="Berlin Sans FB" panose="020E0602020502020306" pitchFamily="34" charset="0"/>
                <a:cs typeface="BrowalliaUPC" panose="020B0502040204020203" pitchFamily="34" charset="-34"/>
              </a:rPr>
              <a:t> </a:t>
            </a:r>
            <a:r>
              <a:rPr lang="en-US" sz="2000">
                <a:solidFill>
                  <a:srgbClr val="FF0000"/>
                </a:solidFill>
                <a:latin typeface="Berlin Sans FB" panose="020E0602020502020306" pitchFamily="34" charset="0"/>
                <a:cs typeface="BrowalliaUPC" panose="020B0502040204020203" pitchFamily="34" charset="-34"/>
              </a:rPr>
              <a:t>invalid</a:t>
            </a:r>
            <a:r>
              <a:rPr lang="en-US" sz="2000">
                <a:solidFill>
                  <a:srgbClr val="000000"/>
                </a:solidFill>
                <a:latin typeface="Berlin Sans FB" panose="020E0602020502020306" pitchFamily="34" charset="0"/>
                <a:cs typeface="BrowalliaUPC" panose="020B0502040204020203" pitchFamily="34" charset="-34"/>
              </a:rPr>
              <a:t>;</a:t>
            </a:r>
          </a:p>
          <a:p>
            <a:r>
              <a:rPr lang="en-US" sz="2000">
                <a:solidFill>
                  <a:srgbClr val="000000"/>
                </a:solidFill>
                <a:latin typeface="Berlin Sans FB" panose="020E0602020502020306" pitchFamily="34" charset="0"/>
                <a:cs typeface="BrowalliaUPC" panose="020B0502040204020203" pitchFamily="34" charset="-34"/>
              </a:rPr>
              <a:t>       protected int </a:t>
            </a:r>
            <a:r>
              <a:rPr lang="en-US" sz="2000" err="1">
                <a:solidFill>
                  <a:srgbClr val="FF0000"/>
                </a:solidFill>
                <a:latin typeface="Berlin Sans FB" panose="020E0602020502020306" pitchFamily="34" charset="0"/>
                <a:cs typeface="BrowalliaUPC" panose="020B0502040204020203" pitchFamily="34" charset="-34"/>
              </a:rPr>
              <a:t>correctPin</a:t>
            </a:r>
            <a:r>
              <a:rPr lang="en-US" sz="2000">
                <a:solidFill>
                  <a:srgbClr val="000000"/>
                </a:solidFill>
                <a:latin typeface="Berlin Sans FB" panose="020E0602020502020306" pitchFamily="34" charset="0"/>
                <a:cs typeface="BrowalliaUPC" panose="020B0502040204020203" pitchFamily="34" charset="-34"/>
              </a:rPr>
              <a:t>;</a:t>
            </a:r>
          </a:p>
          <a:p>
            <a:endParaRPr lang="en-US" sz="2000">
              <a:solidFill>
                <a:srgbClr val="000000"/>
              </a:solidFill>
              <a:latin typeface="Berlin Sans FB" panose="020E0602020502020306" pitchFamily="34" charset="0"/>
              <a:cs typeface="BrowalliaUPC" panose="020B0502040204020203" pitchFamily="34" charset="-34"/>
            </a:endParaRPr>
          </a:p>
          <a:p>
            <a:r>
              <a:rPr lang="en-US" sz="2000">
                <a:solidFill>
                  <a:srgbClr val="000000"/>
                </a:solidFill>
                <a:latin typeface="Berlin Sans FB" panose="020E0602020502020306" pitchFamily="34" charset="0"/>
                <a:cs typeface="BrowalliaUPC" panose="020B0502040204020203" pitchFamily="34" charset="-34"/>
              </a:rPr>
              <a:t>}</a:t>
            </a:r>
          </a:p>
        </p:txBody>
      </p:sp>
      <p:cxnSp>
        <p:nvCxnSpPr>
          <p:cNvPr id="6" name="Straight Connector 5">
            <a:extLst>
              <a:ext uri="{FF2B5EF4-FFF2-40B4-BE49-F238E27FC236}">
                <a16:creationId xmlns:a16="http://schemas.microsoft.com/office/drawing/2014/main" id="{A892675C-D734-4E82-82C0-EBD386E635EB}"/>
              </a:ext>
            </a:extLst>
          </p:cNvPr>
          <p:cNvCxnSpPr/>
          <p:nvPr/>
        </p:nvCxnSpPr>
        <p:spPr>
          <a:xfrm>
            <a:off x="7071919" y="2763399"/>
            <a:ext cx="0" cy="2387441"/>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90024737"/>
      </p:ext>
    </p:extLst>
  </p:cSld>
  <p:clrMapOvr>
    <a:masterClrMapping/>
  </p:clrMapOvr>
  <p:transition spd="slow">
    <p:randomBar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C5C5-A6C8-480A-B10F-8A0F7C780A54}"/>
              </a:ext>
            </a:extLst>
          </p:cNvPr>
          <p:cNvSpPr>
            <a:spLocks noGrp="1"/>
          </p:cNvSpPr>
          <p:nvPr>
            <p:ph type="title"/>
          </p:nvPr>
        </p:nvSpPr>
        <p:spPr>
          <a:xfrm>
            <a:off x="964023" y="879063"/>
            <a:ext cx="8067435" cy="610863"/>
          </a:xfrm>
        </p:spPr>
        <p:txBody>
          <a:bodyPr>
            <a:normAutofit/>
          </a:bodyPr>
          <a:lstStyle/>
          <a:p>
            <a:r>
              <a:rPr lang="en-US"/>
              <a:t>Informal Specification</a:t>
            </a:r>
          </a:p>
        </p:txBody>
      </p:sp>
      <p:sp>
        <p:nvSpPr>
          <p:cNvPr id="3" name="Text Placeholder 2">
            <a:extLst>
              <a:ext uri="{FF2B5EF4-FFF2-40B4-BE49-F238E27FC236}">
                <a16:creationId xmlns:a16="http://schemas.microsoft.com/office/drawing/2014/main" id="{2DE72FF8-88FE-49EE-8DBF-515C828C8FF2}"/>
              </a:ext>
            </a:extLst>
          </p:cNvPr>
          <p:cNvSpPr>
            <a:spLocks noGrp="1"/>
          </p:cNvSpPr>
          <p:nvPr>
            <p:ph type="body" sz="quarter" idx="10"/>
          </p:nvPr>
        </p:nvSpPr>
        <p:spPr>
          <a:xfrm>
            <a:off x="964022" y="2312347"/>
            <a:ext cx="9173891" cy="4048695"/>
          </a:xfrm>
        </p:spPr>
        <p:txBody>
          <a:bodyPr/>
          <a:lstStyle/>
          <a:p>
            <a:r>
              <a:rPr lang="en-US" sz="2400"/>
              <a:t>Very informal Specification of ‘</a:t>
            </a:r>
            <a:r>
              <a:rPr lang="en-US" sz="2400" err="1"/>
              <a:t>enterPIN</a:t>
            </a:r>
            <a:r>
              <a:rPr lang="en-US" sz="2400"/>
              <a:t> (int pin)’:</a:t>
            </a:r>
          </a:p>
          <a:p>
            <a:endParaRPr lang="en-US" sz="2400"/>
          </a:p>
          <a:p>
            <a:pPr marL="285750" indent="-285750">
              <a:buFont typeface="Arial" panose="020B0604020202020204" pitchFamily="34" charset="0"/>
              <a:buChar char="•"/>
            </a:pPr>
            <a:r>
              <a:rPr lang="en-US" sz="2400"/>
              <a:t>Checks whether the pin belongs to the bank card currently inserted in the ATM. If a wrong pin is received three times in a row, the card is confiscated. After receiving the correct pin, the customer is regarded as authenticated.</a:t>
            </a:r>
          </a:p>
        </p:txBody>
      </p:sp>
    </p:spTree>
    <p:extLst>
      <p:ext uri="{BB962C8B-B14F-4D97-AF65-F5344CB8AC3E}">
        <p14:creationId xmlns:p14="http://schemas.microsoft.com/office/powerpoint/2010/main" val="1304448918"/>
      </p:ext>
    </p:extLst>
  </p:cSld>
  <p:clrMapOvr>
    <a:masterClrMapping/>
  </p:clrMapOvr>
  <p:transition spd="slow">
    <p:randomBa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C5C5-A6C8-480A-B10F-8A0F7C780A54}"/>
              </a:ext>
            </a:extLst>
          </p:cNvPr>
          <p:cNvSpPr>
            <a:spLocks noGrp="1"/>
          </p:cNvSpPr>
          <p:nvPr>
            <p:ph type="title"/>
          </p:nvPr>
        </p:nvSpPr>
        <p:spPr>
          <a:xfrm>
            <a:off x="964023" y="879063"/>
            <a:ext cx="9929264" cy="989494"/>
          </a:xfrm>
        </p:spPr>
        <p:txBody>
          <a:bodyPr>
            <a:normAutofit fontScale="90000"/>
          </a:bodyPr>
          <a:lstStyle/>
          <a:p>
            <a:r>
              <a:rPr lang="en-US"/>
              <a:t>Getting more precise  </a:t>
            </a:r>
            <a:br>
              <a:rPr lang="en-US"/>
            </a:br>
            <a:r>
              <a:rPr lang="en-US"/>
              <a:t>Specification as Contracts</a:t>
            </a:r>
          </a:p>
        </p:txBody>
      </p:sp>
      <p:pic>
        <p:nvPicPr>
          <p:cNvPr id="7" name="Picture 6">
            <a:extLst>
              <a:ext uri="{FF2B5EF4-FFF2-40B4-BE49-F238E27FC236}">
                <a16:creationId xmlns:a16="http://schemas.microsoft.com/office/drawing/2014/main" id="{A97BEE36-06B0-4BBF-A298-6B5BFFCB4C1E}"/>
              </a:ext>
            </a:extLst>
          </p:cNvPr>
          <p:cNvPicPr>
            <a:picLocks noChangeAspect="1"/>
          </p:cNvPicPr>
          <p:nvPr/>
        </p:nvPicPr>
        <p:blipFill rotWithShape="1">
          <a:blip r:embed="rId2"/>
          <a:srcRect b="61952"/>
          <a:stretch/>
        </p:blipFill>
        <p:spPr>
          <a:xfrm>
            <a:off x="964023" y="2067340"/>
            <a:ext cx="9372673" cy="1627205"/>
          </a:xfrm>
          <a:prstGeom prst="rect">
            <a:avLst/>
          </a:prstGeom>
        </p:spPr>
      </p:pic>
    </p:spTree>
    <p:extLst>
      <p:ext uri="{BB962C8B-B14F-4D97-AF65-F5344CB8AC3E}">
        <p14:creationId xmlns:p14="http://schemas.microsoft.com/office/powerpoint/2010/main" val="2313743839"/>
      </p:ext>
    </p:extLst>
  </p:cSld>
  <p:clrMapOvr>
    <a:masterClrMapping/>
  </p:clrMapOvr>
  <p:transition spd="slow">
    <p:randomBar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22B7-B57C-4D37-B323-355A280A599E}"/>
              </a:ext>
            </a:extLst>
          </p:cNvPr>
          <p:cNvSpPr>
            <a:spLocks noGrp="1"/>
          </p:cNvSpPr>
          <p:nvPr>
            <p:ph type="title"/>
          </p:nvPr>
        </p:nvSpPr>
        <p:spPr>
          <a:xfrm>
            <a:off x="964023" y="879063"/>
            <a:ext cx="9452186" cy="610863"/>
          </a:xfrm>
        </p:spPr>
        <p:txBody>
          <a:bodyPr/>
          <a:lstStyle/>
          <a:p>
            <a:r>
              <a:rPr lang="en-US"/>
              <a:t>JML by Example</a:t>
            </a:r>
          </a:p>
        </p:txBody>
      </p:sp>
      <p:grpSp>
        <p:nvGrpSpPr>
          <p:cNvPr id="3" name="Group 2">
            <a:extLst>
              <a:ext uri="{FF2B5EF4-FFF2-40B4-BE49-F238E27FC236}">
                <a16:creationId xmlns:a16="http://schemas.microsoft.com/office/drawing/2014/main" id="{E0A8D4DB-E935-4AB1-99AF-ACC3FA476279}"/>
              </a:ext>
            </a:extLst>
          </p:cNvPr>
          <p:cNvGrpSpPr/>
          <p:nvPr/>
        </p:nvGrpSpPr>
        <p:grpSpPr>
          <a:xfrm>
            <a:off x="964023" y="2179782"/>
            <a:ext cx="9452186" cy="1477818"/>
            <a:chOff x="964023" y="2179782"/>
            <a:chExt cx="9452186" cy="1477818"/>
          </a:xfrm>
        </p:grpSpPr>
        <p:pic>
          <p:nvPicPr>
            <p:cNvPr id="17" name="Picture 16">
              <a:extLst>
                <a:ext uri="{FF2B5EF4-FFF2-40B4-BE49-F238E27FC236}">
                  <a16:creationId xmlns:a16="http://schemas.microsoft.com/office/drawing/2014/main" id="{82EF6751-9505-4A77-8570-04B8105013AC}"/>
                </a:ext>
              </a:extLst>
            </p:cNvPr>
            <p:cNvPicPr>
              <a:picLocks noChangeAspect="1"/>
            </p:cNvPicPr>
            <p:nvPr/>
          </p:nvPicPr>
          <p:blipFill rotWithShape="1">
            <a:blip r:embed="rId2"/>
            <a:srcRect t="11984" b="62648"/>
            <a:stretch/>
          </p:blipFill>
          <p:spPr>
            <a:xfrm>
              <a:off x="964023" y="2179782"/>
              <a:ext cx="9452186" cy="1249218"/>
            </a:xfrm>
            <a:prstGeom prst="rect">
              <a:avLst/>
            </a:prstGeom>
          </p:spPr>
        </p:pic>
        <p:pic>
          <p:nvPicPr>
            <p:cNvPr id="4" name="Picture 3">
              <a:extLst>
                <a:ext uri="{FF2B5EF4-FFF2-40B4-BE49-F238E27FC236}">
                  <a16:creationId xmlns:a16="http://schemas.microsoft.com/office/drawing/2014/main" id="{3BDABD64-CFA7-411B-993C-EBFCF1003B6C}"/>
                </a:ext>
              </a:extLst>
            </p:cNvPr>
            <p:cNvPicPr>
              <a:picLocks noChangeAspect="1"/>
            </p:cNvPicPr>
            <p:nvPr/>
          </p:nvPicPr>
          <p:blipFill rotWithShape="1">
            <a:blip r:embed="rId2"/>
            <a:srcRect t="82882" b="11866"/>
            <a:stretch/>
          </p:blipFill>
          <p:spPr>
            <a:xfrm>
              <a:off x="964023" y="3398978"/>
              <a:ext cx="9452186" cy="258622"/>
            </a:xfrm>
            <a:prstGeom prst="rect">
              <a:avLst/>
            </a:prstGeom>
          </p:spPr>
        </p:pic>
      </p:grpSp>
      <p:pic>
        <p:nvPicPr>
          <p:cNvPr id="5" name="Picture 4">
            <a:extLst>
              <a:ext uri="{FF2B5EF4-FFF2-40B4-BE49-F238E27FC236}">
                <a16:creationId xmlns:a16="http://schemas.microsoft.com/office/drawing/2014/main" id="{0FB3539C-F8B6-46A3-A56D-4D4338800683}"/>
              </a:ext>
            </a:extLst>
          </p:cNvPr>
          <p:cNvPicPr>
            <a:picLocks noChangeAspect="1"/>
          </p:cNvPicPr>
          <p:nvPr/>
        </p:nvPicPr>
        <p:blipFill rotWithShape="1">
          <a:blip r:embed="rId2"/>
          <a:srcRect t="88134" b="-326"/>
          <a:stretch/>
        </p:blipFill>
        <p:spPr>
          <a:xfrm>
            <a:off x="964023" y="3657600"/>
            <a:ext cx="9452186" cy="600364"/>
          </a:xfrm>
          <a:prstGeom prst="rect">
            <a:avLst/>
          </a:prstGeom>
        </p:spPr>
      </p:pic>
    </p:spTree>
    <p:extLst>
      <p:ext uri="{BB962C8B-B14F-4D97-AF65-F5344CB8AC3E}">
        <p14:creationId xmlns:p14="http://schemas.microsoft.com/office/powerpoint/2010/main" val="535900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C5C5-A6C8-480A-B10F-8A0F7C780A54}"/>
              </a:ext>
            </a:extLst>
          </p:cNvPr>
          <p:cNvSpPr>
            <a:spLocks noGrp="1"/>
          </p:cNvSpPr>
          <p:nvPr>
            <p:ph type="title"/>
          </p:nvPr>
        </p:nvSpPr>
        <p:spPr>
          <a:xfrm>
            <a:off x="964023" y="879063"/>
            <a:ext cx="9929264" cy="989494"/>
          </a:xfrm>
        </p:spPr>
        <p:txBody>
          <a:bodyPr>
            <a:normAutofit fontScale="90000"/>
          </a:bodyPr>
          <a:lstStyle/>
          <a:p>
            <a:r>
              <a:rPr lang="en-US"/>
              <a:t>Getting more precise  </a:t>
            </a:r>
            <a:br>
              <a:rPr lang="en-US"/>
            </a:br>
            <a:r>
              <a:rPr lang="en-US"/>
              <a:t>Specification as Contracts</a:t>
            </a:r>
          </a:p>
        </p:txBody>
      </p:sp>
      <p:pic>
        <p:nvPicPr>
          <p:cNvPr id="7" name="Picture 6">
            <a:extLst>
              <a:ext uri="{FF2B5EF4-FFF2-40B4-BE49-F238E27FC236}">
                <a16:creationId xmlns:a16="http://schemas.microsoft.com/office/drawing/2014/main" id="{A97BEE36-06B0-4BBF-A298-6B5BFFCB4C1E}"/>
              </a:ext>
            </a:extLst>
          </p:cNvPr>
          <p:cNvPicPr>
            <a:picLocks noChangeAspect="1"/>
          </p:cNvPicPr>
          <p:nvPr/>
        </p:nvPicPr>
        <p:blipFill rotWithShape="1">
          <a:blip r:embed="rId2"/>
          <a:srcRect b="61736"/>
          <a:stretch/>
        </p:blipFill>
        <p:spPr>
          <a:xfrm>
            <a:off x="964023" y="2067340"/>
            <a:ext cx="9372673" cy="1636442"/>
          </a:xfrm>
          <a:prstGeom prst="rect">
            <a:avLst/>
          </a:prstGeom>
        </p:spPr>
      </p:pic>
      <p:pic>
        <p:nvPicPr>
          <p:cNvPr id="4" name="Picture 3">
            <a:extLst>
              <a:ext uri="{FF2B5EF4-FFF2-40B4-BE49-F238E27FC236}">
                <a16:creationId xmlns:a16="http://schemas.microsoft.com/office/drawing/2014/main" id="{F42DE42F-F9B7-486E-8A3C-4E893FF177B1}"/>
              </a:ext>
            </a:extLst>
          </p:cNvPr>
          <p:cNvPicPr>
            <a:picLocks noChangeAspect="1"/>
          </p:cNvPicPr>
          <p:nvPr/>
        </p:nvPicPr>
        <p:blipFill rotWithShape="1">
          <a:blip r:embed="rId2"/>
          <a:srcRect t="38264" b="30852"/>
          <a:stretch/>
        </p:blipFill>
        <p:spPr>
          <a:xfrm>
            <a:off x="964023" y="3703782"/>
            <a:ext cx="9372673" cy="1320800"/>
          </a:xfrm>
          <a:prstGeom prst="rect">
            <a:avLst/>
          </a:prstGeom>
        </p:spPr>
      </p:pic>
    </p:spTree>
    <p:extLst>
      <p:ext uri="{BB962C8B-B14F-4D97-AF65-F5344CB8AC3E}">
        <p14:creationId xmlns:p14="http://schemas.microsoft.com/office/powerpoint/2010/main" val="250822235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22B7-B57C-4D37-B323-355A280A599E}"/>
              </a:ext>
            </a:extLst>
          </p:cNvPr>
          <p:cNvSpPr>
            <a:spLocks noGrp="1"/>
          </p:cNvSpPr>
          <p:nvPr>
            <p:ph type="title"/>
          </p:nvPr>
        </p:nvSpPr>
        <p:spPr>
          <a:xfrm>
            <a:off x="964023" y="879063"/>
            <a:ext cx="9452186" cy="610863"/>
          </a:xfrm>
        </p:spPr>
        <p:txBody>
          <a:bodyPr/>
          <a:lstStyle/>
          <a:p>
            <a:r>
              <a:rPr lang="en-US"/>
              <a:t>JML by Example</a:t>
            </a:r>
          </a:p>
        </p:txBody>
      </p:sp>
      <p:pic>
        <p:nvPicPr>
          <p:cNvPr id="17" name="Picture 16">
            <a:extLst>
              <a:ext uri="{FF2B5EF4-FFF2-40B4-BE49-F238E27FC236}">
                <a16:creationId xmlns:a16="http://schemas.microsoft.com/office/drawing/2014/main" id="{82EF6751-9505-4A77-8570-04B8105013AC}"/>
              </a:ext>
            </a:extLst>
          </p:cNvPr>
          <p:cNvPicPr>
            <a:picLocks noChangeAspect="1"/>
          </p:cNvPicPr>
          <p:nvPr/>
        </p:nvPicPr>
        <p:blipFill rotWithShape="1">
          <a:blip r:embed="rId2"/>
          <a:srcRect b="87595"/>
          <a:stretch/>
        </p:blipFill>
        <p:spPr>
          <a:xfrm>
            <a:off x="964023" y="1589639"/>
            <a:ext cx="9452186" cy="610863"/>
          </a:xfrm>
          <a:prstGeom prst="rect">
            <a:avLst/>
          </a:prstGeom>
        </p:spPr>
      </p:pic>
      <p:pic>
        <p:nvPicPr>
          <p:cNvPr id="4" name="Picture 3">
            <a:extLst>
              <a:ext uri="{FF2B5EF4-FFF2-40B4-BE49-F238E27FC236}">
                <a16:creationId xmlns:a16="http://schemas.microsoft.com/office/drawing/2014/main" id="{C6E53CAE-B2D8-48A4-AA44-DC9ED50863E0}"/>
              </a:ext>
            </a:extLst>
          </p:cNvPr>
          <p:cNvPicPr>
            <a:picLocks noChangeAspect="1"/>
          </p:cNvPicPr>
          <p:nvPr/>
        </p:nvPicPr>
        <p:blipFill rotWithShape="1">
          <a:blip r:embed="rId2"/>
          <a:srcRect t="82132" b="50"/>
          <a:stretch/>
        </p:blipFill>
        <p:spPr>
          <a:xfrm>
            <a:off x="964023" y="5634182"/>
            <a:ext cx="9452186" cy="877454"/>
          </a:xfrm>
          <a:prstGeom prst="rect">
            <a:avLst/>
          </a:prstGeom>
        </p:spPr>
      </p:pic>
      <p:pic>
        <p:nvPicPr>
          <p:cNvPr id="5" name="Picture 4">
            <a:extLst>
              <a:ext uri="{FF2B5EF4-FFF2-40B4-BE49-F238E27FC236}">
                <a16:creationId xmlns:a16="http://schemas.microsoft.com/office/drawing/2014/main" id="{12AA65CB-17A6-4296-B94D-DD988D5CB6CC}"/>
              </a:ext>
            </a:extLst>
          </p:cNvPr>
          <p:cNvPicPr>
            <a:picLocks noChangeAspect="1"/>
          </p:cNvPicPr>
          <p:nvPr/>
        </p:nvPicPr>
        <p:blipFill rotWithShape="1">
          <a:blip r:embed="rId2"/>
          <a:srcRect b="62648"/>
          <a:stretch/>
        </p:blipFill>
        <p:spPr>
          <a:xfrm>
            <a:off x="964023" y="1589639"/>
            <a:ext cx="9452186" cy="1839361"/>
          </a:xfrm>
          <a:prstGeom prst="rect">
            <a:avLst/>
          </a:prstGeom>
        </p:spPr>
      </p:pic>
      <p:pic>
        <p:nvPicPr>
          <p:cNvPr id="6" name="Picture 5">
            <a:extLst>
              <a:ext uri="{FF2B5EF4-FFF2-40B4-BE49-F238E27FC236}">
                <a16:creationId xmlns:a16="http://schemas.microsoft.com/office/drawing/2014/main" id="{8F625094-DE1A-400D-A8D4-832ABCBFB7DF}"/>
              </a:ext>
            </a:extLst>
          </p:cNvPr>
          <p:cNvPicPr>
            <a:picLocks noChangeAspect="1"/>
          </p:cNvPicPr>
          <p:nvPr/>
        </p:nvPicPr>
        <p:blipFill rotWithShape="1">
          <a:blip r:embed="rId2"/>
          <a:srcRect t="35805" b="17867"/>
          <a:stretch/>
        </p:blipFill>
        <p:spPr>
          <a:xfrm>
            <a:off x="964023" y="3352800"/>
            <a:ext cx="9452186" cy="2281382"/>
          </a:xfrm>
          <a:prstGeom prst="rect">
            <a:avLst/>
          </a:prstGeom>
        </p:spPr>
      </p:pic>
    </p:spTree>
    <p:extLst>
      <p:ext uri="{BB962C8B-B14F-4D97-AF65-F5344CB8AC3E}">
        <p14:creationId xmlns:p14="http://schemas.microsoft.com/office/powerpoint/2010/main" val="67185261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C5C5-A6C8-480A-B10F-8A0F7C780A54}"/>
              </a:ext>
            </a:extLst>
          </p:cNvPr>
          <p:cNvSpPr>
            <a:spLocks noGrp="1"/>
          </p:cNvSpPr>
          <p:nvPr>
            <p:ph type="title"/>
          </p:nvPr>
        </p:nvSpPr>
        <p:spPr>
          <a:xfrm>
            <a:off x="964023" y="879063"/>
            <a:ext cx="9929264" cy="989494"/>
          </a:xfrm>
        </p:spPr>
        <p:txBody>
          <a:bodyPr>
            <a:normAutofit fontScale="90000"/>
          </a:bodyPr>
          <a:lstStyle/>
          <a:p>
            <a:r>
              <a:rPr lang="en-US"/>
              <a:t>Getting more precise  </a:t>
            </a:r>
            <a:br>
              <a:rPr lang="en-US"/>
            </a:br>
            <a:r>
              <a:rPr lang="en-US"/>
              <a:t>Specification as Contracts</a:t>
            </a:r>
          </a:p>
        </p:txBody>
      </p:sp>
      <p:pic>
        <p:nvPicPr>
          <p:cNvPr id="7" name="Picture 6">
            <a:extLst>
              <a:ext uri="{FF2B5EF4-FFF2-40B4-BE49-F238E27FC236}">
                <a16:creationId xmlns:a16="http://schemas.microsoft.com/office/drawing/2014/main" id="{A97BEE36-06B0-4BBF-A298-6B5BFFCB4C1E}"/>
              </a:ext>
            </a:extLst>
          </p:cNvPr>
          <p:cNvPicPr>
            <a:picLocks noChangeAspect="1"/>
          </p:cNvPicPr>
          <p:nvPr/>
        </p:nvPicPr>
        <p:blipFill rotWithShape="1">
          <a:blip r:embed="rId2"/>
          <a:srcRect t="-1" b="31674"/>
          <a:stretch/>
        </p:blipFill>
        <p:spPr>
          <a:xfrm>
            <a:off x="964023" y="2067341"/>
            <a:ext cx="9372673" cy="2922104"/>
          </a:xfrm>
          <a:prstGeom prst="rect">
            <a:avLst/>
          </a:prstGeom>
        </p:spPr>
      </p:pic>
      <p:pic>
        <p:nvPicPr>
          <p:cNvPr id="4" name="Picture 3">
            <a:extLst>
              <a:ext uri="{FF2B5EF4-FFF2-40B4-BE49-F238E27FC236}">
                <a16:creationId xmlns:a16="http://schemas.microsoft.com/office/drawing/2014/main" id="{D101AA07-E9E1-4200-9FFB-DB1FD71C4992}"/>
              </a:ext>
            </a:extLst>
          </p:cNvPr>
          <p:cNvPicPr>
            <a:picLocks noChangeAspect="1"/>
          </p:cNvPicPr>
          <p:nvPr/>
        </p:nvPicPr>
        <p:blipFill rotWithShape="1">
          <a:blip r:embed="rId2"/>
          <a:srcRect t="70011" b="-463"/>
          <a:stretch/>
        </p:blipFill>
        <p:spPr>
          <a:xfrm>
            <a:off x="964023" y="5061527"/>
            <a:ext cx="9372673" cy="1302328"/>
          </a:xfrm>
          <a:prstGeom prst="rect">
            <a:avLst/>
          </a:prstGeom>
        </p:spPr>
      </p:pic>
    </p:spTree>
    <p:extLst>
      <p:ext uri="{BB962C8B-B14F-4D97-AF65-F5344CB8AC3E}">
        <p14:creationId xmlns:p14="http://schemas.microsoft.com/office/powerpoint/2010/main" val="21882727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8C28-48FB-48B8-8173-6819F1F073A6}"/>
              </a:ext>
            </a:extLst>
          </p:cNvPr>
          <p:cNvSpPr>
            <a:spLocks noGrp="1"/>
          </p:cNvSpPr>
          <p:nvPr>
            <p:ph type="title"/>
          </p:nvPr>
        </p:nvSpPr>
        <p:spPr/>
        <p:txBody>
          <a:bodyPr/>
          <a:lstStyle/>
          <a:p>
            <a:r>
              <a:rPr lang="en-US"/>
              <a:t>Contd.</a:t>
            </a:r>
          </a:p>
        </p:txBody>
      </p:sp>
      <p:pic>
        <p:nvPicPr>
          <p:cNvPr id="17" name="Picture 16">
            <a:extLst>
              <a:ext uri="{FF2B5EF4-FFF2-40B4-BE49-F238E27FC236}">
                <a16:creationId xmlns:a16="http://schemas.microsoft.com/office/drawing/2014/main" id="{216E91CB-2E17-4F6C-A9B2-65E31B90D4ED}"/>
              </a:ext>
            </a:extLst>
          </p:cNvPr>
          <p:cNvPicPr>
            <a:picLocks noChangeAspect="1"/>
          </p:cNvPicPr>
          <p:nvPr/>
        </p:nvPicPr>
        <p:blipFill rotWithShape="1">
          <a:blip r:embed="rId2"/>
          <a:srcRect t="18" b="34998"/>
          <a:stretch/>
        </p:blipFill>
        <p:spPr>
          <a:xfrm>
            <a:off x="844754" y="1625601"/>
            <a:ext cx="9717229" cy="2964872"/>
          </a:xfrm>
          <a:prstGeom prst="rect">
            <a:avLst/>
          </a:prstGeom>
        </p:spPr>
      </p:pic>
      <p:pic>
        <p:nvPicPr>
          <p:cNvPr id="4" name="Picture 3">
            <a:extLst>
              <a:ext uri="{FF2B5EF4-FFF2-40B4-BE49-F238E27FC236}">
                <a16:creationId xmlns:a16="http://schemas.microsoft.com/office/drawing/2014/main" id="{AC6DE9A4-449F-4387-BA17-4D0F2DD04ACA}"/>
              </a:ext>
            </a:extLst>
          </p:cNvPr>
          <p:cNvPicPr>
            <a:picLocks noChangeAspect="1"/>
          </p:cNvPicPr>
          <p:nvPr/>
        </p:nvPicPr>
        <p:blipFill rotWithShape="1">
          <a:blip r:embed="rId2"/>
          <a:srcRect t="65001" b="25484"/>
          <a:stretch/>
        </p:blipFill>
        <p:spPr>
          <a:xfrm>
            <a:off x="844754" y="4590473"/>
            <a:ext cx="9717229" cy="434109"/>
          </a:xfrm>
          <a:prstGeom prst="rect">
            <a:avLst/>
          </a:prstGeom>
        </p:spPr>
      </p:pic>
      <p:pic>
        <p:nvPicPr>
          <p:cNvPr id="5" name="Picture 4">
            <a:extLst>
              <a:ext uri="{FF2B5EF4-FFF2-40B4-BE49-F238E27FC236}">
                <a16:creationId xmlns:a16="http://schemas.microsoft.com/office/drawing/2014/main" id="{B8E898EF-5A38-4D1D-B509-5353A7881DB0}"/>
              </a:ext>
            </a:extLst>
          </p:cNvPr>
          <p:cNvPicPr>
            <a:picLocks noChangeAspect="1"/>
          </p:cNvPicPr>
          <p:nvPr/>
        </p:nvPicPr>
        <p:blipFill rotWithShape="1">
          <a:blip r:embed="rId2"/>
          <a:srcRect t="74516" b="-1"/>
          <a:stretch/>
        </p:blipFill>
        <p:spPr>
          <a:xfrm>
            <a:off x="844754" y="5024582"/>
            <a:ext cx="9717229" cy="1162734"/>
          </a:xfrm>
          <a:prstGeom prst="rect">
            <a:avLst/>
          </a:prstGeom>
        </p:spPr>
      </p:pic>
    </p:spTree>
    <p:extLst>
      <p:ext uri="{BB962C8B-B14F-4D97-AF65-F5344CB8AC3E}">
        <p14:creationId xmlns:p14="http://schemas.microsoft.com/office/powerpoint/2010/main" val="387509755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E5B7-F6B2-4A16-A1EE-B0054A8AB65C}"/>
              </a:ext>
            </a:extLst>
          </p:cNvPr>
          <p:cNvSpPr>
            <a:spLocks noGrp="1"/>
          </p:cNvSpPr>
          <p:nvPr>
            <p:ph type="title"/>
          </p:nvPr>
        </p:nvSpPr>
        <p:spPr/>
        <p:txBody>
          <a:bodyPr/>
          <a:lstStyle/>
          <a:p>
            <a:r>
              <a:rPr lang="en-US"/>
              <a:t>Contd.</a:t>
            </a:r>
          </a:p>
        </p:txBody>
      </p:sp>
      <p:pic>
        <p:nvPicPr>
          <p:cNvPr id="17" name="Picture 16">
            <a:extLst>
              <a:ext uri="{FF2B5EF4-FFF2-40B4-BE49-F238E27FC236}">
                <a16:creationId xmlns:a16="http://schemas.microsoft.com/office/drawing/2014/main" id="{325A482B-82CC-4FF6-A75C-DD085FEFF78E}"/>
              </a:ext>
            </a:extLst>
          </p:cNvPr>
          <p:cNvPicPr>
            <a:picLocks noChangeAspect="1"/>
          </p:cNvPicPr>
          <p:nvPr/>
        </p:nvPicPr>
        <p:blipFill>
          <a:blip r:embed="rId2"/>
          <a:stretch>
            <a:fillRect/>
          </a:stretch>
        </p:blipFill>
        <p:spPr>
          <a:xfrm>
            <a:off x="964023" y="2334155"/>
            <a:ext cx="6439936" cy="3644782"/>
          </a:xfrm>
          <a:prstGeom prst="rect">
            <a:avLst/>
          </a:prstGeom>
        </p:spPr>
      </p:pic>
    </p:spTree>
    <p:extLst>
      <p:ext uri="{BB962C8B-B14F-4D97-AF65-F5344CB8AC3E}">
        <p14:creationId xmlns:p14="http://schemas.microsoft.com/office/powerpoint/2010/main" val="2248536961"/>
      </p:ext>
    </p:extLst>
  </p:cSld>
  <p:clrMapOvr>
    <a:masterClrMapping/>
  </p:clrMapOvr>
  <p:transition spd="slow">
    <p:randomBar dir="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F887-6A94-4E91-A2F8-83F06F1F6826}"/>
              </a:ext>
            </a:extLst>
          </p:cNvPr>
          <p:cNvSpPr>
            <a:spLocks noGrp="1"/>
          </p:cNvSpPr>
          <p:nvPr>
            <p:ph type="title"/>
          </p:nvPr>
        </p:nvSpPr>
        <p:spPr>
          <a:xfrm>
            <a:off x="964023" y="879063"/>
            <a:ext cx="9518447" cy="610863"/>
          </a:xfrm>
        </p:spPr>
        <p:txBody>
          <a:bodyPr>
            <a:normAutofit/>
          </a:bodyPr>
          <a:lstStyle/>
          <a:p>
            <a:r>
              <a:rPr lang="en-US"/>
              <a:t>Are specification cases complete?</a:t>
            </a:r>
          </a:p>
        </p:txBody>
      </p:sp>
      <p:pic>
        <p:nvPicPr>
          <p:cNvPr id="17" name="Picture 16">
            <a:extLst>
              <a:ext uri="{FF2B5EF4-FFF2-40B4-BE49-F238E27FC236}">
                <a16:creationId xmlns:a16="http://schemas.microsoft.com/office/drawing/2014/main" id="{EBC3CCC9-4A07-4E32-93B4-E835A49DFA61}"/>
              </a:ext>
            </a:extLst>
          </p:cNvPr>
          <p:cNvPicPr>
            <a:picLocks noChangeAspect="1"/>
          </p:cNvPicPr>
          <p:nvPr/>
        </p:nvPicPr>
        <p:blipFill rotWithShape="1">
          <a:blip r:embed="rId2"/>
          <a:srcRect b="44898"/>
          <a:stretch/>
        </p:blipFill>
        <p:spPr>
          <a:xfrm>
            <a:off x="871258" y="1622448"/>
            <a:ext cx="8484777" cy="2727879"/>
          </a:xfrm>
          <a:prstGeom prst="rect">
            <a:avLst/>
          </a:prstGeom>
        </p:spPr>
      </p:pic>
      <p:pic>
        <p:nvPicPr>
          <p:cNvPr id="4" name="Picture 3">
            <a:extLst>
              <a:ext uri="{FF2B5EF4-FFF2-40B4-BE49-F238E27FC236}">
                <a16:creationId xmlns:a16="http://schemas.microsoft.com/office/drawing/2014/main" id="{57E0ACDC-A2DB-4E6F-A365-D85DE7B8FC05}"/>
              </a:ext>
            </a:extLst>
          </p:cNvPr>
          <p:cNvPicPr>
            <a:picLocks noChangeAspect="1"/>
          </p:cNvPicPr>
          <p:nvPr/>
        </p:nvPicPr>
        <p:blipFill rotWithShape="1">
          <a:blip r:embed="rId2"/>
          <a:srcRect t="55102"/>
          <a:stretch/>
        </p:blipFill>
        <p:spPr>
          <a:xfrm>
            <a:off x="871258" y="4350327"/>
            <a:ext cx="8484777" cy="2222752"/>
          </a:xfrm>
          <a:prstGeom prst="rect">
            <a:avLst/>
          </a:prstGeom>
        </p:spPr>
      </p:pic>
    </p:spTree>
    <p:extLst>
      <p:ext uri="{BB962C8B-B14F-4D97-AF65-F5344CB8AC3E}">
        <p14:creationId xmlns:p14="http://schemas.microsoft.com/office/powerpoint/2010/main" val="261321430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9B69-7D2C-48AD-9FF9-59D3B5398F11}"/>
              </a:ext>
            </a:extLst>
          </p:cNvPr>
          <p:cNvSpPr>
            <a:spLocks noGrp="1"/>
          </p:cNvSpPr>
          <p:nvPr>
            <p:ph type="title"/>
          </p:nvPr>
        </p:nvSpPr>
        <p:spPr>
          <a:xfrm>
            <a:off x="964023" y="879063"/>
            <a:ext cx="8140220" cy="610863"/>
          </a:xfrm>
        </p:spPr>
        <p:txBody>
          <a:bodyPr>
            <a:normAutofit/>
          </a:bodyPr>
          <a:lstStyle/>
          <a:p>
            <a:r>
              <a:rPr lang="en-US"/>
              <a:t>Completing spec-case-1</a:t>
            </a:r>
          </a:p>
        </p:txBody>
      </p:sp>
      <p:pic>
        <p:nvPicPr>
          <p:cNvPr id="17" name="Picture 16">
            <a:extLst>
              <a:ext uri="{FF2B5EF4-FFF2-40B4-BE49-F238E27FC236}">
                <a16:creationId xmlns:a16="http://schemas.microsoft.com/office/drawing/2014/main" id="{064E5D8D-6576-4087-9BAD-4928241CDCC4}"/>
              </a:ext>
            </a:extLst>
          </p:cNvPr>
          <p:cNvPicPr>
            <a:picLocks noChangeAspect="1"/>
          </p:cNvPicPr>
          <p:nvPr/>
        </p:nvPicPr>
        <p:blipFill rotWithShape="1">
          <a:blip r:embed="rId2"/>
          <a:srcRect t="-311" b="35837"/>
          <a:stretch/>
        </p:blipFill>
        <p:spPr>
          <a:xfrm>
            <a:off x="871258" y="1671783"/>
            <a:ext cx="7172812" cy="1757217"/>
          </a:xfrm>
          <a:prstGeom prst="rect">
            <a:avLst/>
          </a:prstGeom>
        </p:spPr>
      </p:pic>
      <p:pic>
        <p:nvPicPr>
          <p:cNvPr id="19" name="Picture 18">
            <a:extLst>
              <a:ext uri="{FF2B5EF4-FFF2-40B4-BE49-F238E27FC236}">
                <a16:creationId xmlns:a16="http://schemas.microsoft.com/office/drawing/2014/main" id="{CA52ABB5-2FAA-4856-925A-ECE91B69D4CC}"/>
              </a:ext>
            </a:extLst>
          </p:cNvPr>
          <p:cNvPicPr>
            <a:picLocks noChangeAspect="1"/>
          </p:cNvPicPr>
          <p:nvPr/>
        </p:nvPicPr>
        <p:blipFill rotWithShape="1">
          <a:blip r:embed="rId3"/>
          <a:srcRect t="1268" b="30524"/>
          <a:stretch/>
        </p:blipFill>
        <p:spPr>
          <a:xfrm>
            <a:off x="1190831" y="4617991"/>
            <a:ext cx="6760473" cy="1182446"/>
          </a:xfrm>
          <a:prstGeom prst="rect">
            <a:avLst/>
          </a:prstGeom>
        </p:spPr>
      </p:pic>
      <p:sp>
        <p:nvSpPr>
          <p:cNvPr id="20" name="TextBox 19">
            <a:extLst>
              <a:ext uri="{FF2B5EF4-FFF2-40B4-BE49-F238E27FC236}">
                <a16:creationId xmlns:a16="http://schemas.microsoft.com/office/drawing/2014/main" id="{F368C177-CE32-4B13-982A-A3D34AEB3497}"/>
              </a:ext>
            </a:extLst>
          </p:cNvPr>
          <p:cNvSpPr txBox="1"/>
          <p:nvPr/>
        </p:nvSpPr>
        <p:spPr>
          <a:xfrm>
            <a:off x="1296848" y="4033215"/>
            <a:ext cx="696024" cy="584775"/>
          </a:xfrm>
          <a:prstGeom prst="rect">
            <a:avLst/>
          </a:prstGeom>
          <a:noFill/>
        </p:spPr>
        <p:txBody>
          <a:bodyPr wrap="none" rtlCol="0">
            <a:spAutoFit/>
          </a:bodyPr>
          <a:lstStyle/>
          <a:p>
            <a:r>
              <a:rPr lang="en-US" sz="3200" b="1">
                <a:solidFill>
                  <a:srgbClr val="000000"/>
                </a:solidFill>
              </a:rPr>
              <a:t>OR</a:t>
            </a:r>
            <a:endParaRPr lang="en-US" b="1">
              <a:solidFill>
                <a:srgbClr val="000000"/>
              </a:solidFill>
            </a:endParaRPr>
          </a:p>
        </p:txBody>
      </p:sp>
      <p:pic>
        <p:nvPicPr>
          <p:cNvPr id="6" name="Picture 5">
            <a:extLst>
              <a:ext uri="{FF2B5EF4-FFF2-40B4-BE49-F238E27FC236}">
                <a16:creationId xmlns:a16="http://schemas.microsoft.com/office/drawing/2014/main" id="{ED747C5F-3D51-463C-B1BD-D912B1ED6183}"/>
              </a:ext>
            </a:extLst>
          </p:cNvPr>
          <p:cNvPicPr>
            <a:picLocks noChangeAspect="1"/>
          </p:cNvPicPr>
          <p:nvPr/>
        </p:nvPicPr>
        <p:blipFill rotWithShape="1">
          <a:blip r:embed="rId2"/>
          <a:srcRect t="64163" b="9827"/>
          <a:stretch/>
        </p:blipFill>
        <p:spPr>
          <a:xfrm>
            <a:off x="871258" y="3428999"/>
            <a:ext cx="7172812" cy="708891"/>
          </a:xfrm>
          <a:prstGeom prst="rect">
            <a:avLst/>
          </a:prstGeom>
        </p:spPr>
      </p:pic>
      <p:pic>
        <p:nvPicPr>
          <p:cNvPr id="7" name="Picture 6">
            <a:extLst>
              <a:ext uri="{FF2B5EF4-FFF2-40B4-BE49-F238E27FC236}">
                <a16:creationId xmlns:a16="http://schemas.microsoft.com/office/drawing/2014/main" id="{9F0C2415-E874-4420-90A2-5C5A2272FCEC}"/>
              </a:ext>
            </a:extLst>
          </p:cNvPr>
          <p:cNvPicPr>
            <a:picLocks noChangeAspect="1"/>
          </p:cNvPicPr>
          <p:nvPr/>
        </p:nvPicPr>
        <p:blipFill rotWithShape="1">
          <a:blip r:embed="rId3"/>
          <a:srcRect t="70009"/>
          <a:stretch/>
        </p:blipFill>
        <p:spPr>
          <a:xfrm>
            <a:off x="1190831" y="5809672"/>
            <a:ext cx="6760473" cy="519917"/>
          </a:xfrm>
          <a:prstGeom prst="rect">
            <a:avLst/>
          </a:prstGeom>
        </p:spPr>
      </p:pic>
    </p:spTree>
    <p:extLst>
      <p:ext uri="{BB962C8B-B14F-4D97-AF65-F5344CB8AC3E}">
        <p14:creationId xmlns:p14="http://schemas.microsoft.com/office/powerpoint/2010/main" val="17512767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randombar(horizontal)">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9B69-7D2C-48AD-9FF9-59D3B5398F11}"/>
              </a:ext>
            </a:extLst>
          </p:cNvPr>
          <p:cNvSpPr>
            <a:spLocks noGrp="1"/>
          </p:cNvSpPr>
          <p:nvPr>
            <p:ph type="title"/>
          </p:nvPr>
        </p:nvSpPr>
        <p:spPr>
          <a:xfrm>
            <a:off x="964023" y="879063"/>
            <a:ext cx="8140220" cy="610863"/>
          </a:xfrm>
        </p:spPr>
        <p:txBody>
          <a:bodyPr>
            <a:normAutofit/>
          </a:bodyPr>
          <a:lstStyle/>
          <a:p>
            <a:r>
              <a:rPr lang="en-US"/>
              <a:t>Completing spec-case-2</a:t>
            </a:r>
          </a:p>
        </p:txBody>
      </p:sp>
      <p:pic>
        <p:nvPicPr>
          <p:cNvPr id="4" name="Picture 3">
            <a:extLst>
              <a:ext uri="{FF2B5EF4-FFF2-40B4-BE49-F238E27FC236}">
                <a16:creationId xmlns:a16="http://schemas.microsoft.com/office/drawing/2014/main" id="{E758452E-98EF-4190-ABE0-608B9BA4B461}"/>
              </a:ext>
            </a:extLst>
          </p:cNvPr>
          <p:cNvPicPr>
            <a:picLocks noChangeAspect="1"/>
          </p:cNvPicPr>
          <p:nvPr/>
        </p:nvPicPr>
        <p:blipFill rotWithShape="1">
          <a:blip r:embed="rId2"/>
          <a:srcRect t="214" b="26691"/>
          <a:stretch/>
        </p:blipFill>
        <p:spPr>
          <a:xfrm>
            <a:off x="1189310" y="2549237"/>
            <a:ext cx="9014864" cy="2512290"/>
          </a:xfrm>
          <a:prstGeom prst="rect">
            <a:avLst/>
          </a:prstGeom>
        </p:spPr>
      </p:pic>
      <p:pic>
        <p:nvPicPr>
          <p:cNvPr id="5" name="Picture 4">
            <a:extLst>
              <a:ext uri="{FF2B5EF4-FFF2-40B4-BE49-F238E27FC236}">
                <a16:creationId xmlns:a16="http://schemas.microsoft.com/office/drawing/2014/main" id="{A64CEB50-BF35-4169-8530-2C56CE42EDD4}"/>
              </a:ext>
            </a:extLst>
          </p:cNvPr>
          <p:cNvPicPr>
            <a:picLocks noChangeAspect="1"/>
          </p:cNvPicPr>
          <p:nvPr/>
        </p:nvPicPr>
        <p:blipFill rotWithShape="1">
          <a:blip r:embed="rId2"/>
          <a:srcRect t="74114"/>
          <a:stretch/>
        </p:blipFill>
        <p:spPr>
          <a:xfrm>
            <a:off x="1189310" y="5089235"/>
            <a:ext cx="9014864" cy="889701"/>
          </a:xfrm>
          <a:prstGeom prst="rect">
            <a:avLst/>
          </a:prstGeom>
        </p:spPr>
      </p:pic>
    </p:spTree>
    <p:extLst>
      <p:ext uri="{BB962C8B-B14F-4D97-AF65-F5344CB8AC3E}">
        <p14:creationId xmlns:p14="http://schemas.microsoft.com/office/powerpoint/2010/main" val="213002124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9B69-7D2C-48AD-9FF9-59D3B5398F11}"/>
              </a:ext>
            </a:extLst>
          </p:cNvPr>
          <p:cNvSpPr>
            <a:spLocks noGrp="1"/>
          </p:cNvSpPr>
          <p:nvPr>
            <p:ph type="title"/>
          </p:nvPr>
        </p:nvSpPr>
        <p:spPr>
          <a:xfrm>
            <a:off x="964023" y="879063"/>
            <a:ext cx="8140220" cy="610863"/>
          </a:xfrm>
        </p:spPr>
        <p:txBody>
          <a:bodyPr>
            <a:normAutofit/>
          </a:bodyPr>
          <a:lstStyle/>
          <a:p>
            <a:r>
              <a:rPr lang="en-US"/>
              <a:t>Completing spec-case-3</a:t>
            </a:r>
          </a:p>
        </p:txBody>
      </p:sp>
      <p:pic>
        <p:nvPicPr>
          <p:cNvPr id="5" name="Picture 4">
            <a:extLst>
              <a:ext uri="{FF2B5EF4-FFF2-40B4-BE49-F238E27FC236}">
                <a16:creationId xmlns:a16="http://schemas.microsoft.com/office/drawing/2014/main" id="{9B0A87FC-7FB8-46B6-8E09-14AC49ADD834}"/>
              </a:ext>
            </a:extLst>
          </p:cNvPr>
          <p:cNvPicPr>
            <a:picLocks noChangeAspect="1"/>
          </p:cNvPicPr>
          <p:nvPr/>
        </p:nvPicPr>
        <p:blipFill rotWithShape="1">
          <a:blip r:embed="rId2"/>
          <a:srcRect t="293" b="25458"/>
          <a:stretch/>
        </p:blipFill>
        <p:spPr>
          <a:xfrm>
            <a:off x="964023" y="2078182"/>
            <a:ext cx="6947525" cy="3214254"/>
          </a:xfrm>
          <a:prstGeom prst="rect">
            <a:avLst/>
          </a:prstGeom>
        </p:spPr>
      </p:pic>
      <p:pic>
        <p:nvPicPr>
          <p:cNvPr id="4" name="Picture 3">
            <a:extLst>
              <a:ext uri="{FF2B5EF4-FFF2-40B4-BE49-F238E27FC236}">
                <a16:creationId xmlns:a16="http://schemas.microsoft.com/office/drawing/2014/main" id="{93298466-27D1-4323-A88C-392855ED61D1}"/>
              </a:ext>
            </a:extLst>
          </p:cNvPr>
          <p:cNvPicPr>
            <a:picLocks noChangeAspect="1"/>
          </p:cNvPicPr>
          <p:nvPr/>
        </p:nvPicPr>
        <p:blipFill rotWithShape="1">
          <a:blip r:embed="rId2"/>
          <a:srcRect t="74331"/>
          <a:stretch/>
        </p:blipFill>
        <p:spPr>
          <a:xfrm>
            <a:off x="964023" y="5283200"/>
            <a:ext cx="6947525" cy="1111208"/>
          </a:xfrm>
          <a:prstGeom prst="rect">
            <a:avLst/>
          </a:prstGeom>
        </p:spPr>
      </p:pic>
    </p:spTree>
    <p:extLst>
      <p:ext uri="{BB962C8B-B14F-4D97-AF65-F5344CB8AC3E}">
        <p14:creationId xmlns:p14="http://schemas.microsoft.com/office/powerpoint/2010/main" val="356082133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4905F-7CB7-49F2-97D4-0B7EF83F6332}"/>
              </a:ext>
            </a:extLst>
          </p:cNvPr>
          <p:cNvSpPr>
            <a:spLocks noGrp="1"/>
          </p:cNvSpPr>
          <p:nvPr>
            <p:ph type="title"/>
          </p:nvPr>
        </p:nvSpPr>
        <p:spPr>
          <a:xfrm>
            <a:off x="964023" y="879063"/>
            <a:ext cx="7278829" cy="610863"/>
          </a:xfrm>
        </p:spPr>
        <p:txBody>
          <a:bodyPr>
            <a:normAutofit/>
          </a:bodyPr>
          <a:lstStyle/>
          <a:p>
            <a:r>
              <a:rPr lang="en-US"/>
              <a:t>Deductive Verification</a:t>
            </a:r>
          </a:p>
        </p:txBody>
      </p:sp>
      <p:sp>
        <p:nvSpPr>
          <p:cNvPr id="17" name="TextBox 16">
            <a:extLst>
              <a:ext uri="{FF2B5EF4-FFF2-40B4-BE49-F238E27FC236}">
                <a16:creationId xmlns:a16="http://schemas.microsoft.com/office/drawing/2014/main" id="{3265528E-47F3-43F3-8333-1068B90A3099}"/>
              </a:ext>
            </a:extLst>
          </p:cNvPr>
          <p:cNvSpPr txBox="1"/>
          <p:nvPr/>
        </p:nvSpPr>
        <p:spPr>
          <a:xfrm>
            <a:off x="964023" y="2274837"/>
            <a:ext cx="9478690" cy="245907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000">
                <a:solidFill>
                  <a:srgbClr val="000000"/>
                </a:solidFill>
                <a:latin typeface="Helvetica Neue"/>
              </a:rPr>
              <a:t>Using various tools, you can verify program specifications written in JML. </a:t>
            </a:r>
          </a:p>
          <a:p>
            <a:pPr marL="285750" indent="-285750">
              <a:lnSpc>
                <a:spcPct val="200000"/>
              </a:lnSpc>
              <a:buFont typeface="Arial" panose="020B0604020202020204" pitchFamily="34" charset="0"/>
              <a:buChar char="•"/>
            </a:pPr>
            <a:r>
              <a:rPr lang="en-US" sz="2000">
                <a:solidFill>
                  <a:srgbClr val="000000"/>
                </a:solidFill>
                <a:latin typeface="Helvetica Neue"/>
              </a:rPr>
              <a:t>These tools specifically the </a:t>
            </a:r>
            <a:r>
              <a:rPr lang="en-US" sz="2000" err="1">
                <a:solidFill>
                  <a:srgbClr val="000000"/>
                </a:solidFill>
                <a:latin typeface="Helvetica Neue"/>
              </a:rPr>
              <a:t>KeY</a:t>
            </a:r>
            <a:r>
              <a:rPr lang="en-US" sz="2000">
                <a:solidFill>
                  <a:srgbClr val="000000"/>
                </a:solidFill>
                <a:latin typeface="Helvetica Neue"/>
              </a:rPr>
              <a:t> tool provide a theorem prover for Java, Modeling Language &amp; Java Dynamic Logic based on a sequent calculus. </a:t>
            </a:r>
          </a:p>
          <a:p>
            <a:pPr marL="285750" indent="-285750">
              <a:lnSpc>
                <a:spcPct val="200000"/>
              </a:lnSpc>
              <a:buFont typeface="Arial" panose="020B0604020202020204" pitchFamily="34" charset="0"/>
              <a:buChar char="•"/>
            </a:pPr>
            <a:r>
              <a:rPr lang="en-US" sz="2000">
                <a:solidFill>
                  <a:srgbClr val="000000"/>
                </a:solidFill>
                <a:latin typeface="Helvetica Neue"/>
              </a:rPr>
              <a:t>It allows for full functional verification of sequential Java </a:t>
            </a:r>
          </a:p>
        </p:txBody>
      </p:sp>
    </p:spTree>
    <p:extLst>
      <p:ext uri="{BB962C8B-B14F-4D97-AF65-F5344CB8AC3E}">
        <p14:creationId xmlns:p14="http://schemas.microsoft.com/office/powerpoint/2010/main" val="2544800989"/>
      </p:ext>
    </p:extLst>
  </p:cSld>
  <p:clrMapOvr>
    <a:masterClrMapping/>
  </p:clrMapOvr>
  <p:transition spd="slow">
    <p:randomBar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E95D-466B-4329-AE7A-609D56D44C0A}"/>
              </a:ext>
            </a:extLst>
          </p:cNvPr>
          <p:cNvSpPr>
            <a:spLocks noGrp="1"/>
          </p:cNvSpPr>
          <p:nvPr>
            <p:ph type="title"/>
          </p:nvPr>
        </p:nvSpPr>
        <p:spPr>
          <a:xfrm>
            <a:off x="964023" y="879063"/>
            <a:ext cx="8908847" cy="610863"/>
          </a:xfrm>
        </p:spPr>
        <p:txBody>
          <a:bodyPr>
            <a:normAutofit/>
          </a:bodyPr>
          <a:lstStyle/>
          <a:p>
            <a:r>
              <a:rPr lang="en-US"/>
              <a:t>Formal Verification with </a:t>
            </a:r>
            <a:r>
              <a:rPr lang="en-US" err="1"/>
              <a:t>KeY</a:t>
            </a:r>
            <a:endParaRPr lang="en-US"/>
          </a:p>
        </p:txBody>
      </p:sp>
      <p:sp>
        <p:nvSpPr>
          <p:cNvPr id="3" name="Text Placeholder 2">
            <a:extLst>
              <a:ext uri="{FF2B5EF4-FFF2-40B4-BE49-F238E27FC236}">
                <a16:creationId xmlns:a16="http://schemas.microsoft.com/office/drawing/2014/main" id="{A8BEC1CE-6A83-4ABC-98D0-7DF0708C71DD}"/>
              </a:ext>
            </a:extLst>
          </p:cNvPr>
          <p:cNvSpPr>
            <a:spLocks noGrp="1"/>
          </p:cNvSpPr>
          <p:nvPr>
            <p:ph type="body" sz="quarter" idx="10"/>
          </p:nvPr>
        </p:nvSpPr>
        <p:spPr>
          <a:xfrm>
            <a:off x="952499" y="2001079"/>
            <a:ext cx="9755257" cy="4240696"/>
          </a:xfrm>
        </p:spPr>
        <p:txBody>
          <a:bodyPr/>
          <a:lstStyle/>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JML annotations, Java programs, and the rules of symbolic execution are all translated automatically to formulas and rules of the program logic that is used by </a:t>
            </a:r>
            <a:r>
              <a:rPr lang="en-US" b="0" i="0" err="1">
                <a:solidFill>
                  <a:srgbClr val="141412"/>
                </a:solidFill>
                <a:effectLst/>
                <a:latin typeface="Source Sans Pro" panose="020B0604020202020204" pitchFamily="34" charset="0"/>
              </a:rPr>
              <a:t>KeY</a:t>
            </a:r>
            <a:r>
              <a:rPr lang="en-US" b="0" i="0">
                <a:solidFill>
                  <a:srgbClr val="141412"/>
                </a:solidFill>
                <a:effectLst/>
                <a:latin typeface="Source Sans Pro" panose="020B0604020202020204" pitchFamily="34" charset="0"/>
              </a:rPr>
              <a:t>. </a:t>
            </a:r>
          </a:p>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It is not necessary to understand the details of this. Suffice it to say, when loading a class, annotated with JML contracts, into </a:t>
            </a:r>
            <a:r>
              <a:rPr lang="en-US" b="0" i="0" err="1">
                <a:solidFill>
                  <a:srgbClr val="141412"/>
                </a:solidFill>
                <a:effectLst/>
                <a:latin typeface="Source Sans Pro" panose="020B0604020202020204" pitchFamily="34" charset="0"/>
              </a:rPr>
              <a:t>KeY</a:t>
            </a:r>
            <a:r>
              <a:rPr lang="en-US" b="0" i="0">
                <a:solidFill>
                  <a:srgbClr val="141412"/>
                </a:solidFill>
                <a:effectLst/>
                <a:latin typeface="Source Sans Pro" panose="020B0604020202020204" pitchFamily="34" charset="0"/>
              </a:rPr>
              <a:t>, a proof obligation formula is generated and loaded into its theorem prover. </a:t>
            </a:r>
          </a:p>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Then the user selects a method and its contract and attempts to show its validity.</a:t>
            </a:r>
          </a:p>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If the theorem prover can show the validity of the proof obligation formula relating to a given contract and method, then we know the following is true: </a:t>
            </a:r>
          </a:p>
          <a:p>
            <a:pPr marL="971550" lvl="1" indent="-285750"/>
            <a:r>
              <a:rPr lang="en-US" sz="1600">
                <a:solidFill>
                  <a:srgbClr val="141412"/>
                </a:solidFill>
                <a:latin typeface="Source Sans Pro" panose="020B0604020202020204" pitchFamily="34" charset="0"/>
              </a:rPr>
              <a:t>I</a:t>
            </a:r>
            <a:r>
              <a:rPr lang="en-US" sz="1600" b="0" i="0">
                <a:solidFill>
                  <a:srgbClr val="141412"/>
                </a:solidFill>
                <a:effectLst/>
                <a:latin typeface="Source Sans Pro" panose="020B0604020202020204" pitchFamily="34" charset="0"/>
              </a:rPr>
              <a:t>f the method is started in any Java state that satisfies the requires clause, then upon termination, the final state satisfies the ensures clause.</a:t>
            </a:r>
          </a:p>
          <a:p>
            <a:pPr marL="285750" indent="-285750" algn="l">
              <a:buFont typeface="Arial" panose="020B0604020202020204" pitchFamily="34" charset="0"/>
              <a:buChar char="•"/>
            </a:pPr>
            <a:r>
              <a:rPr lang="en-US" b="0" i="0" err="1">
                <a:solidFill>
                  <a:srgbClr val="141412"/>
                </a:solidFill>
                <a:effectLst/>
                <a:latin typeface="Source Sans Pro" panose="020B0604020202020204" pitchFamily="34" charset="0"/>
              </a:rPr>
              <a:t>KeY’s</a:t>
            </a:r>
            <a:r>
              <a:rPr lang="en-US" b="0" i="0">
                <a:solidFill>
                  <a:srgbClr val="141412"/>
                </a:solidFill>
                <a:effectLst/>
                <a:latin typeface="Source Sans Pro" panose="020B0604020202020204" pitchFamily="34" charset="0"/>
              </a:rPr>
              <a:t> theorem prover provides a high degree of automation but allows also interactions by the user in case a proof cannot be found automatically. </a:t>
            </a:r>
          </a:p>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Most often, interactions with the prover consist in providing additional annotations such as invariants.</a:t>
            </a:r>
          </a:p>
          <a:p>
            <a:pPr marL="285750" indent="-285750" algn="l">
              <a:buFont typeface="Arial" panose="020B0604020202020204" pitchFamily="34" charset="0"/>
              <a:buChar char="•"/>
            </a:pPr>
            <a:r>
              <a:rPr lang="en-US" b="0" i="0">
                <a:solidFill>
                  <a:srgbClr val="141412"/>
                </a:solidFill>
                <a:effectLst/>
                <a:latin typeface="Source Sans Pro" panose="020B0604020202020204" pitchFamily="34" charset="0"/>
              </a:rPr>
              <a:t>If no proof is found, then the failed proof needs to be </a:t>
            </a:r>
            <a:r>
              <a:rPr lang="en-US" b="0" i="0" err="1">
                <a:solidFill>
                  <a:srgbClr val="141412"/>
                </a:solidFill>
                <a:effectLst/>
                <a:latin typeface="Source Sans Pro" panose="020B0604020202020204" pitchFamily="34" charset="0"/>
              </a:rPr>
              <a:t>analysed</a:t>
            </a:r>
            <a:r>
              <a:rPr lang="en-US" b="0" i="0">
                <a:solidFill>
                  <a:srgbClr val="141412"/>
                </a:solidFill>
                <a:effectLst/>
                <a:latin typeface="Source Sans Pro" panose="020B0604020202020204" pitchFamily="34" charset="0"/>
              </a:rPr>
              <a:t> as to whether the specification is too weak or wrong, the program is buggy or the automation is not powerful enough and further interaction by the user is required.</a:t>
            </a:r>
          </a:p>
          <a:p>
            <a:endParaRPr lang="en-US"/>
          </a:p>
        </p:txBody>
      </p:sp>
    </p:spTree>
    <p:extLst>
      <p:ext uri="{BB962C8B-B14F-4D97-AF65-F5344CB8AC3E}">
        <p14:creationId xmlns:p14="http://schemas.microsoft.com/office/powerpoint/2010/main" val="3288325302"/>
      </p:ext>
    </p:extLst>
  </p:cSld>
  <p:clrMapOvr>
    <a:masterClrMapping/>
  </p:clrMapOvr>
  <p:transition spd="slow">
    <p:randomBar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764D-CC83-49F8-87A7-B16864FD584F}"/>
              </a:ext>
            </a:extLst>
          </p:cNvPr>
          <p:cNvSpPr>
            <a:spLocks noGrp="1"/>
          </p:cNvSpPr>
          <p:nvPr>
            <p:ph type="title"/>
          </p:nvPr>
        </p:nvSpPr>
        <p:spPr>
          <a:xfrm>
            <a:off x="964023" y="879063"/>
            <a:ext cx="6801751" cy="610863"/>
          </a:xfrm>
        </p:spPr>
        <p:txBody>
          <a:bodyPr>
            <a:normAutofit/>
          </a:bodyPr>
          <a:lstStyle/>
          <a:p>
            <a:r>
              <a:rPr lang="en-US"/>
              <a:t>Additional References</a:t>
            </a:r>
          </a:p>
        </p:txBody>
      </p:sp>
      <p:sp>
        <p:nvSpPr>
          <p:cNvPr id="3" name="Text Placeholder 2">
            <a:extLst>
              <a:ext uri="{FF2B5EF4-FFF2-40B4-BE49-F238E27FC236}">
                <a16:creationId xmlns:a16="http://schemas.microsoft.com/office/drawing/2014/main" id="{1DC3CCC3-51BB-46C4-9758-4B1D3F6569AF}"/>
              </a:ext>
            </a:extLst>
          </p:cNvPr>
          <p:cNvSpPr>
            <a:spLocks noGrp="1"/>
          </p:cNvSpPr>
          <p:nvPr>
            <p:ph type="body" sz="quarter" idx="10"/>
          </p:nvPr>
        </p:nvSpPr>
        <p:spPr>
          <a:xfrm>
            <a:off x="952500" y="2656904"/>
            <a:ext cx="9291430" cy="574318"/>
          </a:xfrm>
        </p:spPr>
        <p:txBody>
          <a:bodyPr/>
          <a:lstStyle/>
          <a:p>
            <a:r>
              <a:rPr lang="en-US">
                <a:hlinkClick r:id="rId2"/>
              </a:rPr>
              <a:t>https://www.key-project.org/applications/program-verification/#Tutorials</a:t>
            </a:r>
            <a:endParaRPr lang="en-US"/>
          </a:p>
        </p:txBody>
      </p:sp>
      <p:sp>
        <p:nvSpPr>
          <p:cNvPr id="4" name="Text Placeholder 3">
            <a:extLst>
              <a:ext uri="{FF2B5EF4-FFF2-40B4-BE49-F238E27FC236}">
                <a16:creationId xmlns:a16="http://schemas.microsoft.com/office/drawing/2014/main" id="{A566C515-9484-4E31-B12C-C844690FCEFE}"/>
              </a:ext>
            </a:extLst>
          </p:cNvPr>
          <p:cNvSpPr>
            <a:spLocks noGrp="1"/>
          </p:cNvSpPr>
          <p:nvPr>
            <p:ph type="body" sz="quarter" idx="12"/>
          </p:nvPr>
        </p:nvSpPr>
        <p:spPr/>
        <p:txBody>
          <a:bodyPr/>
          <a:lstStyle/>
          <a:p>
            <a:r>
              <a:rPr lang="en-US" err="1"/>
              <a:t>KeY</a:t>
            </a:r>
            <a:r>
              <a:rPr lang="en-US"/>
              <a:t> Verification Tool Tutorial Link</a:t>
            </a:r>
          </a:p>
        </p:txBody>
      </p:sp>
    </p:spTree>
    <p:extLst>
      <p:ext uri="{BB962C8B-B14F-4D97-AF65-F5344CB8AC3E}">
        <p14:creationId xmlns:p14="http://schemas.microsoft.com/office/powerpoint/2010/main" val="2596466168"/>
      </p:ext>
    </p:extLst>
  </p:cSld>
  <p:clrMapOvr>
    <a:masterClrMapping/>
  </p:clrMapOvr>
  <p:transition spd="slow">
    <p:randomBar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EB1D7F-284F-6F46-99FA-EBB8ED69D7EA}"/>
              </a:ext>
            </a:extLst>
          </p:cNvPr>
          <p:cNvSpPr>
            <a:spLocks noGrp="1"/>
          </p:cNvSpPr>
          <p:nvPr>
            <p:ph type="title"/>
          </p:nvPr>
        </p:nvSpPr>
        <p:spPr>
          <a:xfrm>
            <a:off x="1323957" y="2417418"/>
            <a:ext cx="6349051" cy="2023164"/>
          </a:xfrm>
        </p:spPr>
        <p:txBody>
          <a:bodyPr>
            <a:normAutofit/>
          </a:bodyPr>
          <a:lstStyle/>
          <a:p>
            <a:r>
              <a:rPr lang="en-US" sz="8800"/>
              <a:t>THANK YOU!</a:t>
            </a:r>
          </a:p>
        </p:txBody>
      </p:sp>
    </p:spTree>
    <p:extLst>
      <p:ext uri="{BB962C8B-B14F-4D97-AF65-F5344CB8AC3E}">
        <p14:creationId xmlns:p14="http://schemas.microsoft.com/office/powerpoint/2010/main" val="3837361069"/>
      </p:ext>
    </p:extLst>
  </p:cSld>
  <p:clrMapOvr>
    <a:masterClrMapping/>
  </p:clrMapOvr>
  <p:transition spd="slow">
    <p:randomBar dir="vert"/>
  </p:transition>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063692"/>
            <a:ext cx="4775075" cy="2726422"/>
          </a:xfrm>
        </p:spPr>
        <p:txBody>
          <a:bodyPr>
            <a:normAutofit/>
          </a:bodyPr>
          <a:lstStyle/>
          <a:p>
            <a:r>
              <a:rPr lang="en-US" sz="4400" dirty="0">
                <a:solidFill>
                  <a:schemeClr val="tx1"/>
                </a:solidFill>
              </a:rPr>
              <a:t>Object Constraint Language</a:t>
            </a:r>
          </a:p>
        </p:txBody>
      </p:sp>
    </p:spTree>
    <p:extLst>
      <p:ext uri="{BB962C8B-B14F-4D97-AF65-F5344CB8AC3E}">
        <p14:creationId xmlns:p14="http://schemas.microsoft.com/office/powerpoint/2010/main" val="18429176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103B-ED64-4DA1-B15E-86B1F9D6249F}"/>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9C881421-8D76-4A85-898F-453A4B623E73}"/>
              </a:ext>
            </a:extLst>
          </p:cNvPr>
          <p:cNvSpPr>
            <a:spLocks noGrp="1"/>
          </p:cNvSpPr>
          <p:nvPr>
            <p:ph idx="1"/>
          </p:nvPr>
        </p:nvSpPr>
        <p:spPr/>
        <p:txBody>
          <a:bodyPr>
            <a:normAutofit/>
          </a:bodyPr>
          <a:lstStyle/>
          <a:p>
            <a:r>
              <a:rPr lang="en-US" sz="2000" dirty="0"/>
              <a:t>UML diagrams don’t tell everything</a:t>
            </a:r>
          </a:p>
          <a:p>
            <a:r>
              <a:rPr lang="en-US" sz="2000" dirty="0"/>
              <a:t>Q: What does the following class diagram tell?</a:t>
            </a:r>
          </a:p>
          <a:p>
            <a:endParaRPr lang="en-US" sz="1800" dirty="0"/>
          </a:p>
        </p:txBody>
      </p:sp>
      <p:grpSp>
        <p:nvGrpSpPr>
          <p:cNvPr id="4" name="Group 4">
            <a:extLst>
              <a:ext uri="{FF2B5EF4-FFF2-40B4-BE49-F238E27FC236}">
                <a16:creationId xmlns:a16="http://schemas.microsoft.com/office/drawing/2014/main" id="{50E4A659-9A9A-4865-911A-3F152E1E630A}"/>
              </a:ext>
            </a:extLst>
          </p:cNvPr>
          <p:cNvGrpSpPr/>
          <p:nvPr/>
        </p:nvGrpSpPr>
        <p:grpSpPr>
          <a:xfrm>
            <a:off x="4003677" y="3545329"/>
            <a:ext cx="3706560" cy="1593077"/>
            <a:chOff x="2720160" y="4040280"/>
            <a:chExt cx="3706560" cy="1593077"/>
          </a:xfrm>
        </p:grpSpPr>
        <p:sp>
          <p:nvSpPr>
            <p:cNvPr id="5" name="CustomShape 5">
              <a:extLst>
                <a:ext uri="{FF2B5EF4-FFF2-40B4-BE49-F238E27FC236}">
                  <a16:creationId xmlns:a16="http://schemas.microsoft.com/office/drawing/2014/main" id="{C571EDC6-94A1-42A1-A8B1-69056A2A2C3A}"/>
                </a:ext>
              </a:extLst>
            </p:cNvPr>
            <p:cNvSpPr/>
            <p:nvPr/>
          </p:nvSpPr>
          <p:spPr>
            <a:xfrm>
              <a:off x="2720160" y="4522883"/>
              <a:ext cx="6170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security</a:t>
              </a:r>
              <a:endParaRPr lang="en-US" sz="1600" spc="-1" dirty="0">
                <a:solidFill>
                  <a:prstClr val="black"/>
                </a:solidFill>
                <a:latin typeface="Arial"/>
              </a:endParaRPr>
            </a:p>
          </p:txBody>
        </p:sp>
        <p:grpSp>
          <p:nvGrpSpPr>
            <p:cNvPr id="6" name="Group 6">
              <a:extLst>
                <a:ext uri="{FF2B5EF4-FFF2-40B4-BE49-F238E27FC236}">
                  <a16:creationId xmlns:a16="http://schemas.microsoft.com/office/drawing/2014/main" id="{820C1FDE-A1E9-435B-810B-C893C09F485A}"/>
                </a:ext>
              </a:extLst>
            </p:cNvPr>
            <p:cNvGrpSpPr/>
            <p:nvPr/>
          </p:nvGrpSpPr>
          <p:grpSpPr>
            <a:xfrm>
              <a:off x="5332320" y="4114800"/>
              <a:ext cx="1094400" cy="365760"/>
              <a:chOff x="5332320" y="4114800"/>
              <a:chExt cx="1094400" cy="365760"/>
            </a:xfrm>
          </p:grpSpPr>
          <p:sp>
            <p:nvSpPr>
              <p:cNvPr id="27" name="CustomShape 7">
                <a:extLst>
                  <a:ext uri="{FF2B5EF4-FFF2-40B4-BE49-F238E27FC236}">
                    <a16:creationId xmlns:a16="http://schemas.microsoft.com/office/drawing/2014/main" id="{4496831D-28BA-4B2E-90F2-66443678F64B}"/>
                  </a:ext>
                </a:extLst>
              </p:cNvPr>
              <p:cNvSpPr/>
              <p:nvPr/>
            </p:nvSpPr>
            <p:spPr>
              <a:xfrm>
                <a:off x="5332320" y="411480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28" name="CustomShape 8">
                <a:extLst>
                  <a:ext uri="{FF2B5EF4-FFF2-40B4-BE49-F238E27FC236}">
                    <a16:creationId xmlns:a16="http://schemas.microsoft.com/office/drawing/2014/main" id="{3471F88B-2270-42BC-883C-0E7D8BAFFA2C}"/>
                  </a:ext>
                </a:extLst>
              </p:cNvPr>
              <p:cNvSpPr/>
              <p:nvPr/>
            </p:nvSpPr>
            <p:spPr>
              <a:xfrm>
                <a:off x="5579640" y="4176720"/>
                <a:ext cx="6030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Person</a:t>
                </a:r>
                <a:endParaRPr lang="en-US" sz="1600" spc="-1" dirty="0">
                  <a:solidFill>
                    <a:prstClr val="black"/>
                  </a:solidFill>
                  <a:latin typeface="Arial"/>
                </a:endParaRPr>
              </a:p>
            </p:txBody>
          </p:sp>
        </p:grpSp>
        <p:grpSp>
          <p:nvGrpSpPr>
            <p:cNvPr id="7" name="Group 9">
              <a:extLst>
                <a:ext uri="{FF2B5EF4-FFF2-40B4-BE49-F238E27FC236}">
                  <a16:creationId xmlns:a16="http://schemas.microsoft.com/office/drawing/2014/main" id="{C8EF15C3-F339-4342-B626-E38E6955CBDA}"/>
                </a:ext>
              </a:extLst>
            </p:cNvPr>
            <p:cNvGrpSpPr/>
            <p:nvPr/>
          </p:nvGrpSpPr>
          <p:grpSpPr>
            <a:xfrm>
              <a:off x="3916440" y="5230800"/>
              <a:ext cx="1094040" cy="365760"/>
              <a:chOff x="3916440" y="5230800"/>
              <a:chExt cx="1094040" cy="365760"/>
            </a:xfrm>
          </p:grpSpPr>
          <p:sp>
            <p:nvSpPr>
              <p:cNvPr id="25" name="CustomShape 10">
                <a:extLst>
                  <a:ext uri="{FF2B5EF4-FFF2-40B4-BE49-F238E27FC236}">
                    <a16:creationId xmlns:a16="http://schemas.microsoft.com/office/drawing/2014/main" id="{D1287728-EDED-4242-AC9E-CB75247CB45C}"/>
                  </a:ext>
                </a:extLst>
              </p:cNvPr>
              <p:cNvSpPr/>
              <p:nvPr/>
            </p:nvSpPr>
            <p:spPr>
              <a:xfrm>
                <a:off x="3916440" y="5230800"/>
                <a:ext cx="109404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26" name="CustomShape 11">
                <a:extLst>
                  <a:ext uri="{FF2B5EF4-FFF2-40B4-BE49-F238E27FC236}">
                    <a16:creationId xmlns:a16="http://schemas.microsoft.com/office/drawing/2014/main" id="{6F136B1A-5A14-48BB-8443-15780A701089}"/>
                  </a:ext>
                </a:extLst>
              </p:cNvPr>
              <p:cNvSpPr/>
              <p:nvPr/>
            </p:nvSpPr>
            <p:spPr>
              <a:xfrm>
                <a:off x="4065120" y="5292720"/>
                <a:ext cx="79992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a:solidFill>
                      <a:srgbClr val="000000"/>
                    </a:solidFill>
                    <a:latin typeface="Arial"/>
                    <a:ea typeface="Gulim"/>
                  </a:rPr>
                  <a:t>Mortgage</a:t>
                </a:r>
                <a:endParaRPr lang="en-US" sz="1600" spc="-1">
                  <a:solidFill>
                    <a:prstClr val="black"/>
                  </a:solidFill>
                  <a:latin typeface="Arial"/>
                </a:endParaRPr>
              </a:p>
            </p:txBody>
          </p:sp>
        </p:grpSp>
        <p:grpSp>
          <p:nvGrpSpPr>
            <p:cNvPr id="8" name="Group 12">
              <a:extLst>
                <a:ext uri="{FF2B5EF4-FFF2-40B4-BE49-F238E27FC236}">
                  <a16:creationId xmlns:a16="http://schemas.microsoft.com/office/drawing/2014/main" id="{7888DA91-F6A5-46D2-8C3C-C08B921D63C5}"/>
                </a:ext>
              </a:extLst>
            </p:cNvPr>
            <p:cNvGrpSpPr/>
            <p:nvPr/>
          </p:nvGrpSpPr>
          <p:grpSpPr>
            <a:xfrm>
              <a:off x="2833560" y="4114800"/>
              <a:ext cx="1094400" cy="365760"/>
              <a:chOff x="2833560" y="4114800"/>
              <a:chExt cx="1094400" cy="365760"/>
            </a:xfrm>
          </p:grpSpPr>
          <p:sp>
            <p:nvSpPr>
              <p:cNvPr id="23" name="CustomShape 13">
                <a:extLst>
                  <a:ext uri="{FF2B5EF4-FFF2-40B4-BE49-F238E27FC236}">
                    <a16:creationId xmlns:a16="http://schemas.microsoft.com/office/drawing/2014/main" id="{08405C6D-9E29-491C-AADD-1154593129BB}"/>
                  </a:ext>
                </a:extLst>
              </p:cNvPr>
              <p:cNvSpPr/>
              <p:nvPr/>
            </p:nvSpPr>
            <p:spPr>
              <a:xfrm>
                <a:off x="2833560" y="411480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24" name="CustomShape 14">
                <a:extLst>
                  <a:ext uri="{FF2B5EF4-FFF2-40B4-BE49-F238E27FC236}">
                    <a16:creationId xmlns:a16="http://schemas.microsoft.com/office/drawing/2014/main" id="{525534F8-39B8-4804-BBEE-3B8EA55C08E5}"/>
                  </a:ext>
                </a:extLst>
              </p:cNvPr>
              <p:cNvSpPr/>
              <p:nvPr/>
            </p:nvSpPr>
            <p:spPr>
              <a:xfrm>
                <a:off x="3108960" y="4176720"/>
                <a:ext cx="54216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House</a:t>
                </a:r>
                <a:endParaRPr lang="en-US" sz="1600" spc="-1" dirty="0">
                  <a:solidFill>
                    <a:prstClr val="black"/>
                  </a:solidFill>
                  <a:latin typeface="Arial"/>
                </a:endParaRPr>
              </a:p>
            </p:txBody>
          </p:sp>
        </p:grpSp>
        <p:sp>
          <p:nvSpPr>
            <p:cNvPr id="9" name="CustomShape 15">
              <a:extLst>
                <a:ext uri="{FF2B5EF4-FFF2-40B4-BE49-F238E27FC236}">
                  <a16:creationId xmlns:a16="http://schemas.microsoft.com/office/drawing/2014/main" id="{E282E537-CF28-49FC-A894-7777AEAB092C}"/>
                </a:ext>
              </a:extLst>
            </p:cNvPr>
            <p:cNvSpPr/>
            <p:nvPr/>
          </p:nvSpPr>
          <p:spPr>
            <a:xfrm>
              <a:off x="3930480" y="4298760"/>
              <a:ext cx="1401480" cy="360"/>
            </a:xfrm>
            <a:custGeom>
              <a:avLst/>
              <a:gdLst/>
              <a:ahLst/>
              <a:cxnLst/>
              <a:rect l="l" t="t" r="r" b="b"/>
              <a:pathLst>
                <a:path w="21600" h="21600">
                  <a:moveTo>
                    <a:pt x="0" y="0"/>
                  </a:moveTo>
                  <a:lnTo>
                    <a:pt x="21600" y="21600"/>
                  </a:lnTo>
                </a:path>
              </a:pathLst>
            </a:custGeom>
            <a:noFill/>
            <a:ln w="9360">
              <a:solidFill>
                <a:srgbClr val="000000"/>
              </a:solidFill>
              <a:miter/>
              <a:headEnd type="triangle" w="med" len="med"/>
              <a:tailEnd type="triangle" w="med" len="med"/>
            </a:ln>
          </p:spPr>
          <p:style>
            <a:lnRef idx="0">
              <a:scrgbClr r="0" g="0" b="0"/>
            </a:lnRef>
            <a:fillRef idx="0">
              <a:scrgbClr r="0" g="0" b="0"/>
            </a:fillRef>
            <a:effectRef idx="0">
              <a:scrgbClr r="0" g="0" b="0"/>
            </a:effectRef>
            <a:fontRef idx="minor"/>
          </p:style>
        </p:sp>
        <p:sp>
          <p:nvSpPr>
            <p:cNvPr id="10" name="CustomShape 16">
              <a:extLst>
                <a:ext uri="{FF2B5EF4-FFF2-40B4-BE49-F238E27FC236}">
                  <a16:creationId xmlns:a16="http://schemas.microsoft.com/office/drawing/2014/main" id="{3BD1623C-8644-4755-9CAD-65A656383FC0}"/>
                </a:ext>
              </a:extLst>
            </p:cNvPr>
            <p:cNvSpPr/>
            <p:nvPr/>
          </p:nvSpPr>
          <p:spPr>
            <a:xfrm flipH="1">
              <a:off x="5010120" y="4482720"/>
              <a:ext cx="868320" cy="931680"/>
            </a:xfrm>
            <a:prstGeom prst="bentConnector3">
              <a:avLst>
                <a:gd name="adj1" fmla="val 50000"/>
              </a:avLst>
            </a:prstGeom>
            <a:noFill/>
            <a:ln w="9360">
              <a:solidFill>
                <a:srgbClr val="000000"/>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11" name="CustomShape 17">
              <a:extLst>
                <a:ext uri="{FF2B5EF4-FFF2-40B4-BE49-F238E27FC236}">
                  <a16:creationId xmlns:a16="http://schemas.microsoft.com/office/drawing/2014/main" id="{68D8552B-1D49-4475-B6E9-6DEFC3B07308}"/>
                </a:ext>
              </a:extLst>
            </p:cNvPr>
            <p:cNvSpPr/>
            <p:nvPr/>
          </p:nvSpPr>
          <p:spPr>
            <a:xfrm>
              <a:off x="3382920" y="4482720"/>
              <a:ext cx="533160" cy="931680"/>
            </a:xfrm>
            <a:prstGeom prst="bentConnector3">
              <a:avLst>
                <a:gd name="adj1" fmla="val 37412"/>
              </a:avLst>
            </a:prstGeom>
            <a:noFill/>
            <a:ln w="9360">
              <a:solidFill>
                <a:srgbClr val="000000"/>
              </a:solidFill>
              <a:round/>
              <a:headEnd type="triangle" w="med" len="med"/>
              <a:tailEnd type="triangle" w="med" len="med"/>
            </a:ln>
          </p:spPr>
          <p:style>
            <a:lnRef idx="0">
              <a:scrgbClr r="0" g="0" b="0"/>
            </a:lnRef>
            <a:fillRef idx="0">
              <a:scrgbClr r="0" g="0" b="0"/>
            </a:fillRef>
            <a:effectRef idx="0">
              <a:scrgbClr r="0" g="0" b="0"/>
            </a:effectRef>
            <a:fontRef idx="minor"/>
          </p:style>
        </p:sp>
        <p:sp>
          <p:nvSpPr>
            <p:cNvPr id="12" name="CustomShape 18">
              <a:extLst>
                <a:ext uri="{FF2B5EF4-FFF2-40B4-BE49-F238E27FC236}">
                  <a16:creationId xmlns:a16="http://schemas.microsoft.com/office/drawing/2014/main" id="{3C426A9B-9797-4F57-96C3-6B399136D1F3}"/>
                </a:ext>
              </a:extLst>
            </p:cNvPr>
            <p:cNvSpPr/>
            <p:nvPr/>
          </p:nvSpPr>
          <p:spPr>
            <a:xfrm>
              <a:off x="3472449" y="4480560"/>
              <a:ext cx="98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13" name="CustomShape 19">
              <a:extLst>
                <a:ext uri="{FF2B5EF4-FFF2-40B4-BE49-F238E27FC236}">
                  <a16:creationId xmlns:a16="http://schemas.microsoft.com/office/drawing/2014/main" id="{996759F2-C942-4BBD-A1C0-55D1003B9753}"/>
                </a:ext>
              </a:extLst>
            </p:cNvPr>
            <p:cNvSpPr/>
            <p:nvPr/>
          </p:nvSpPr>
          <p:spPr>
            <a:xfrm>
              <a:off x="5481000" y="4524099"/>
              <a:ext cx="98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14" name="CustomShape 20">
              <a:extLst>
                <a:ext uri="{FF2B5EF4-FFF2-40B4-BE49-F238E27FC236}">
                  <a16:creationId xmlns:a16="http://schemas.microsoft.com/office/drawing/2014/main" id="{632A774B-91DF-41EA-88A6-0E8FB53076FE}"/>
                </a:ext>
              </a:extLst>
            </p:cNvPr>
            <p:cNvSpPr/>
            <p:nvPr/>
          </p:nvSpPr>
          <p:spPr>
            <a:xfrm>
              <a:off x="3589631" y="5178530"/>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0..*</a:t>
              </a:r>
              <a:endParaRPr lang="en-US" sz="1600" spc="-1" dirty="0">
                <a:solidFill>
                  <a:prstClr val="black"/>
                </a:solidFill>
                <a:latin typeface="Arial"/>
              </a:endParaRPr>
            </a:p>
          </p:txBody>
        </p:sp>
        <p:sp>
          <p:nvSpPr>
            <p:cNvPr id="15" name="CustomShape 21">
              <a:extLst>
                <a:ext uri="{FF2B5EF4-FFF2-40B4-BE49-F238E27FC236}">
                  <a16:creationId xmlns:a16="http://schemas.microsoft.com/office/drawing/2014/main" id="{ED109E2B-0D27-489F-8B06-2BEB7FE885D2}"/>
                </a:ext>
              </a:extLst>
            </p:cNvPr>
            <p:cNvSpPr/>
            <p:nvPr/>
          </p:nvSpPr>
          <p:spPr>
            <a:xfrm>
              <a:off x="4007520" y="4040280"/>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a:solidFill>
                    <a:srgbClr val="000000"/>
                  </a:solidFill>
                  <a:latin typeface="Arial"/>
                  <a:ea typeface="Gulim"/>
                </a:rPr>
                <a:t>0..*</a:t>
              </a:r>
              <a:endParaRPr lang="en-US" sz="1600" spc="-1">
                <a:solidFill>
                  <a:prstClr val="black"/>
                </a:solidFill>
                <a:latin typeface="Arial"/>
              </a:endParaRPr>
            </a:p>
          </p:txBody>
        </p:sp>
        <p:sp>
          <p:nvSpPr>
            <p:cNvPr id="16" name="CustomShape 22">
              <a:extLst>
                <a:ext uri="{FF2B5EF4-FFF2-40B4-BE49-F238E27FC236}">
                  <a16:creationId xmlns:a16="http://schemas.microsoft.com/office/drawing/2014/main" id="{4D543C30-AC72-4F50-8DCC-45620C07E4DC}"/>
                </a:ext>
              </a:extLst>
            </p:cNvPr>
            <p:cNvSpPr/>
            <p:nvPr/>
          </p:nvSpPr>
          <p:spPr>
            <a:xfrm>
              <a:off x="5076000" y="5168880"/>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a:solidFill>
                    <a:srgbClr val="000000"/>
                  </a:solidFill>
                  <a:latin typeface="Arial"/>
                  <a:ea typeface="Gulim"/>
                </a:rPr>
                <a:t>0..*</a:t>
              </a:r>
              <a:endParaRPr lang="en-US" sz="1600" spc="-1">
                <a:solidFill>
                  <a:prstClr val="black"/>
                </a:solidFill>
                <a:latin typeface="Arial"/>
              </a:endParaRPr>
            </a:p>
          </p:txBody>
        </p:sp>
        <p:sp>
          <p:nvSpPr>
            <p:cNvPr id="17" name="CustomShape 23">
              <a:extLst>
                <a:ext uri="{FF2B5EF4-FFF2-40B4-BE49-F238E27FC236}">
                  <a16:creationId xmlns:a16="http://schemas.microsoft.com/office/drawing/2014/main" id="{1C521284-505D-4D51-BF5B-D0F49843631B}"/>
                </a:ext>
              </a:extLst>
            </p:cNvPr>
            <p:cNvSpPr/>
            <p:nvPr/>
          </p:nvSpPr>
          <p:spPr>
            <a:xfrm>
              <a:off x="5185800" y="4323083"/>
              <a:ext cx="269280" cy="1998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18" name="CustomShape 24">
              <a:extLst>
                <a:ext uri="{FF2B5EF4-FFF2-40B4-BE49-F238E27FC236}">
                  <a16:creationId xmlns:a16="http://schemas.microsoft.com/office/drawing/2014/main" id="{A9B9895D-F04F-4215-AB5D-4749DAB2BBB5}"/>
                </a:ext>
              </a:extLst>
            </p:cNvPr>
            <p:cNvSpPr/>
            <p:nvPr/>
          </p:nvSpPr>
          <p:spPr>
            <a:xfrm>
              <a:off x="2931392" y="5398920"/>
              <a:ext cx="8424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mortgages</a:t>
              </a:r>
              <a:endParaRPr lang="en-US" sz="1600" spc="-1" dirty="0">
                <a:solidFill>
                  <a:prstClr val="black"/>
                </a:solidFill>
                <a:latin typeface="Arial"/>
              </a:endParaRPr>
            </a:p>
          </p:txBody>
        </p:sp>
        <p:sp>
          <p:nvSpPr>
            <p:cNvPr id="19" name="CustomShape 25">
              <a:extLst>
                <a:ext uri="{FF2B5EF4-FFF2-40B4-BE49-F238E27FC236}">
                  <a16:creationId xmlns:a16="http://schemas.microsoft.com/office/drawing/2014/main" id="{D8A6068E-1879-4222-85D5-C58D0FA469B0}"/>
                </a:ext>
              </a:extLst>
            </p:cNvPr>
            <p:cNvSpPr/>
            <p:nvPr/>
          </p:nvSpPr>
          <p:spPr>
            <a:xfrm>
              <a:off x="5643858" y="4522883"/>
              <a:ext cx="70236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borrower</a:t>
              </a:r>
              <a:endParaRPr lang="en-US" sz="1600" spc="-1" dirty="0">
                <a:solidFill>
                  <a:prstClr val="black"/>
                </a:solidFill>
                <a:latin typeface="Arial"/>
              </a:endParaRPr>
            </a:p>
          </p:txBody>
        </p:sp>
        <p:sp>
          <p:nvSpPr>
            <p:cNvPr id="20" name="CustomShape 26">
              <a:extLst>
                <a:ext uri="{FF2B5EF4-FFF2-40B4-BE49-F238E27FC236}">
                  <a16:creationId xmlns:a16="http://schemas.microsoft.com/office/drawing/2014/main" id="{D99AA9EC-15D4-486F-9AB0-4667BAF08D97}"/>
                </a:ext>
              </a:extLst>
            </p:cNvPr>
            <p:cNvSpPr/>
            <p:nvPr/>
          </p:nvSpPr>
          <p:spPr>
            <a:xfrm>
              <a:off x="4007520" y="4375080"/>
              <a:ext cx="575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a:solidFill>
                    <a:srgbClr val="000000"/>
                  </a:solidFill>
                  <a:latin typeface="Arial"/>
                  <a:ea typeface="Gulim"/>
                </a:rPr>
                <a:t>houses</a:t>
              </a:r>
              <a:endParaRPr lang="en-US" sz="1600" spc="-1">
                <a:solidFill>
                  <a:prstClr val="black"/>
                </a:solidFill>
                <a:latin typeface="Arial"/>
              </a:endParaRPr>
            </a:p>
          </p:txBody>
        </p:sp>
        <p:sp>
          <p:nvSpPr>
            <p:cNvPr id="21" name="CustomShape 27">
              <a:extLst>
                <a:ext uri="{FF2B5EF4-FFF2-40B4-BE49-F238E27FC236}">
                  <a16:creationId xmlns:a16="http://schemas.microsoft.com/office/drawing/2014/main" id="{B4303539-52E9-4CB2-BB73-2E96CB177C40}"/>
                </a:ext>
              </a:extLst>
            </p:cNvPr>
            <p:cNvSpPr/>
            <p:nvPr/>
          </p:nvSpPr>
          <p:spPr>
            <a:xfrm>
              <a:off x="5059800" y="5420957"/>
              <a:ext cx="8424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mortgages</a:t>
              </a:r>
              <a:endParaRPr lang="en-US" sz="1600" spc="-1" dirty="0">
                <a:solidFill>
                  <a:prstClr val="black"/>
                </a:solidFill>
                <a:latin typeface="Arial"/>
              </a:endParaRPr>
            </a:p>
          </p:txBody>
        </p:sp>
        <p:sp>
          <p:nvSpPr>
            <p:cNvPr id="22" name="CustomShape 28">
              <a:extLst>
                <a:ext uri="{FF2B5EF4-FFF2-40B4-BE49-F238E27FC236}">
                  <a16:creationId xmlns:a16="http://schemas.microsoft.com/office/drawing/2014/main" id="{96ABD0CD-0306-4CFD-873F-F703FF27BD5C}"/>
                </a:ext>
              </a:extLst>
            </p:cNvPr>
            <p:cNvSpPr/>
            <p:nvPr/>
          </p:nvSpPr>
          <p:spPr>
            <a:xfrm>
              <a:off x="4769184" y="4040280"/>
              <a:ext cx="44712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owner</a:t>
              </a:r>
              <a:endParaRPr lang="en-US" sz="1600" spc="-1" dirty="0">
                <a:solidFill>
                  <a:prstClr val="black"/>
                </a:solidFill>
                <a:latin typeface="Arial"/>
              </a:endParaRPr>
            </a:p>
          </p:txBody>
        </p:sp>
      </p:grpSp>
    </p:spTree>
    <p:extLst>
      <p:ext uri="{BB962C8B-B14F-4D97-AF65-F5344CB8AC3E}">
        <p14:creationId xmlns:p14="http://schemas.microsoft.com/office/powerpoint/2010/main" val="9608919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D340-51D4-4116-8F37-B18AED42F1AA}"/>
              </a:ext>
            </a:extLst>
          </p:cNvPr>
          <p:cNvSpPr>
            <a:spLocks noGrp="1"/>
          </p:cNvSpPr>
          <p:nvPr>
            <p:ph type="title"/>
          </p:nvPr>
        </p:nvSpPr>
        <p:spPr/>
        <p:txBody>
          <a:bodyPr/>
          <a:lstStyle/>
          <a:p>
            <a:r>
              <a:rPr lang="en-US" dirty="0"/>
              <a:t>What is OCL?</a:t>
            </a:r>
          </a:p>
        </p:txBody>
      </p:sp>
      <p:sp>
        <p:nvSpPr>
          <p:cNvPr id="3" name="Content Placeholder 2">
            <a:extLst>
              <a:ext uri="{FF2B5EF4-FFF2-40B4-BE49-F238E27FC236}">
                <a16:creationId xmlns:a16="http://schemas.microsoft.com/office/drawing/2014/main" id="{D11AD7C9-32F8-47EB-AA84-6F7BDB26D25E}"/>
              </a:ext>
            </a:extLst>
          </p:cNvPr>
          <p:cNvSpPr>
            <a:spLocks noGrp="1"/>
          </p:cNvSpPr>
          <p:nvPr>
            <p:ph idx="1"/>
          </p:nvPr>
        </p:nvSpPr>
        <p:spPr/>
        <p:txBody>
          <a:bodyPr>
            <a:normAutofit/>
          </a:bodyPr>
          <a:lstStyle/>
          <a:p>
            <a:r>
              <a:rPr lang="en-US" sz="2400" dirty="0"/>
              <a:t>Standard “add-on” to UML</a:t>
            </a:r>
          </a:p>
          <a:p>
            <a:pPr lvl="1"/>
            <a:r>
              <a:rPr lang="en-US" sz="2000" dirty="0"/>
              <a:t>OCL expressions are dependent on types from UML diagrams</a:t>
            </a:r>
          </a:p>
          <a:p>
            <a:r>
              <a:rPr lang="en-US" sz="2400" dirty="0"/>
              <a:t>Language for expressing additional information (e.g., constraints and business rules) about UML models</a:t>
            </a:r>
          </a:p>
          <a:p>
            <a:r>
              <a:rPr lang="en-US" sz="2400" dirty="0"/>
              <a:t>Characteristics</a:t>
            </a:r>
          </a:p>
          <a:p>
            <a:pPr lvl="1"/>
            <a:r>
              <a:rPr lang="en-US" sz="2000" dirty="0"/>
              <a:t>Constraint and query languages</a:t>
            </a:r>
          </a:p>
          <a:p>
            <a:pPr lvl="1"/>
            <a:r>
              <a:rPr lang="en-US" sz="2000" dirty="0"/>
              <a:t>Math foundation (set and predicate) but no math symbols</a:t>
            </a:r>
          </a:p>
          <a:p>
            <a:pPr lvl="1"/>
            <a:r>
              <a:rPr lang="en-US" sz="2000" dirty="0"/>
              <a:t>Strongly typed, declarative, and no side effect</a:t>
            </a:r>
          </a:p>
          <a:p>
            <a:pPr lvl="1"/>
            <a:r>
              <a:rPr lang="en-US" sz="2000" dirty="0"/>
              <a:t>High level of abstraction (platform independence)</a:t>
            </a:r>
          </a:p>
          <a:p>
            <a:endParaRPr lang="en-US" sz="2400" dirty="0"/>
          </a:p>
        </p:txBody>
      </p:sp>
    </p:spTree>
    <p:extLst>
      <p:ext uri="{BB962C8B-B14F-4D97-AF65-F5344CB8AC3E}">
        <p14:creationId xmlns:p14="http://schemas.microsoft.com/office/powerpoint/2010/main" val="3122382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20B18-398D-46F3-A493-3810678AF437}"/>
              </a:ext>
            </a:extLst>
          </p:cNvPr>
          <p:cNvSpPr>
            <a:spLocks noGrp="1"/>
          </p:cNvSpPr>
          <p:nvPr>
            <p:ph type="title"/>
          </p:nvPr>
        </p:nvSpPr>
        <p:spPr/>
        <p:txBody>
          <a:bodyPr/>
          <a:lstStyle/>
          <a:p>
            <a:r>
              <a:rPr lang="en-US" dirty="0"/>
              <a:t>Basics of OCL</a:t>
            </a:r>
          </a:p>
        </p:txBody>
      </p:sp>
      <p:sp>
        <p:nvSpPr>
          <p:cNvPr id="3" name="Content Placeholder 2">
            <a:extLst>
              <a:ext uri="{FF2B5EF4-FFF2-40B4-BE49-F238E27FC236}">
                <a16:creationId xmlns:a16="http://schemas.microsoft.com/office/drawing/2014/main" id="{44769F5C-E282-413E-9235-B35543B1E47D}"/>
              </a:ext>
            </a:extLst>
          </p:cNvPr>
          <p:cNvSpPr>
            <a:spLocks noGrp="1"/>
          </p:cNvSpPr>
          <p:nvPr>
            <p:ph idx="1"/>
          </p:nvPr>
        </p:nvSpPr>
        <p:spPr/>
        <p:txBody>
          <a:bodyPr>
            <a:noAutofit/>
          </a:bodyPr>
          <a:lstStyle/>
          <a:p>
            <a:r>
              <a:rPr lang="en-US" sz="2000" dirty="0"/>
              <a:t>Associating OCL expressions to UML models</a:t>
            </a:r>
          </a:p>
          <a:p>
            <a:pPr lvl="1"/>
            <a:r>
              <a:rPr lang="en-US" sz="2000" dirty="0"/>
              <a:t>Directly to diagrams as notes</a:t>
            </a:r>
          </a:p>
          <a:p>
            <a:pPr lvl="1"/>
            <a:endParaRPr lang="en-US" sz="2000" dirty="0"/>
          </a:p>
          <a:p>
            <a:pPr lvl="1"/>
            <a:endParaRPr lang="en-US" sz="2000" dirty="0"/>
          </a:p>
          <a:p>
            <a:pPr lvl="1"/>
            <a:endParaRPr lang="en-US" sz="2000" dirty="0"/>
          </a:p>
          <a:p>
            <a:pPr lvl="1"/>
            <a:endParaRPr lang="en-US" sz="2000" dirty="0"/>
          </a:p>
          <a:p>
            <a:pPr lvl="1"/>
            <a:r>
              <a:rPr lang="en-US" sz="2000" dirty="0"/>
              <a:t>Separate accompanying texts, e.g.,</a:t>
            </a:r>
          </a:p>
          <a:p>
            <a:pPr marL="0" indent="0">
              <a:buNone/>
            </a:pPr>
            <a:r>
              <a:rPr lang="en-US" sz="2000" dirty="0"/>
              <a:t>	</a:t>
            </a:r>
            <a:r>
              <a:rPr lang="en-US" sz="2000" b="1" dirty="0">
                <a:solidFill>
                  <a:srgbClr val="0070C0"/>
                </a:solidFill>
              </a:rPr>
              <a:t>context Person</a:t>
            </a:r>
          </a:p>
          <a:p>
            <a:pPr marL="0" indent="0">
              <a:buNone/>
            </a:pPr>
            <a:r>
              <a:rPr lang="en-US" sz="2000" b="1" dirty="0">
                <a:solidFill>
                  <a:srgbClr val="0070C0"/>
                </a:solidFill>
              </a:rPr>
              <a:t>     	        inv: age &gt;= 0</a:t>
            </a:r>
          </a:p>
          <a:p>
            <a:endParaRPr lang="en-US" sz="2000" dirty="0"/>
          </a:p>
        </p:txBody>
      </p:sp>
      <p:grpSp>
        <p:nvGrpSpPr>
          <p:cNvPr id="12" name="Group 11">
            <a:extLst>
              <a:ext uri="{FF2B5EF4-FFF2-40B4-BE49-F238E27FC236}">
                <a16:creationId xmlns:a16="http://schemas.microsoft.com/office/drawing/2014/main" id="{9C6621FC-ABB6-4475-95A8-ADA6513D5058}"/>
              </a:ext>
            </a:extLst>
          </p:cNvPr>
          <p:cNvGrpSpPr/>
          <p:nvPr/>
        </p:nvGrpSpPr>
        <p:grpSpPr>
          <a:xfrm>
            <a:off x="2045246" y="3156266"/>
            <a:ext cx="2950560" cy="871666"/>
            <a:chOff x="5585400" y="3175920"/>
            <a:chExt cx="2950560" cy="871666"/>
          </a:xfrm>
        </p:grpSpPr>
        <p:grpSp>
          <p:nvGrpSpPr>
            <p:cNvPr id="4" name="Group 4">
              <a:extLst>
                <a:ext uri="{FF2B5EF4-FFF2-40B4-BE49-F238E27FC236}">
                  <a16:creationId xmlns:a16="http://schemas.microsoft.com/office/drawing/2014/main" id="{556E2FE5-4A39-446C-B187-717499ACA2B1}"/>
                </a:ext>
              </a:extLst>
            </p:cNvPr>
            <p:cNvGrpSpPr/>
            <p:nvPr/>
          </p:nvGrpSpPr>
          <p:grpSpPr>
            <a:xfrm>
              <a:off x="5585400" y="3175920"/>
              <a:ext cx="985680" cy="871666"/>
              <a:chOff x="5585400" y="3175920"/>
              <a:chExt cx="985680" cy="871666"/>
            </a:xfrm>
          </p:grpSpPr>
          <p:sp>
            <p:nvSpPr>
              <p:cNvPr id="5" name="CustomShape 5">
                <a:extLst>
                  <a:ext uri="{FF2B5EF4-FFF2-40B4-BE49-F238E27FC236}">
                    <a16:creationId xmlns:a16="http://schemas.microsoft.com/office/drawing/2014/main" id="{52A58C7E-9358-4BAE-BA39-089F22B6B574}"/>
                  </a:ext>
                </a:extLst>
              </p:cNvPr>
              <p:cNvSpPr/>
              <p:nvPr/>
            </p:nvSpPr>
            <p:spPr>
              <a:xfrm>
                <a:off x="5586480" y="3175920"/>
                <a:ext cx="984600" cy="871666"/>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lIns="90000" tIns="46800" rIns="90000" bIns="46800"/>
              <a:lstStyle/>
              <a:p>
                <a:r>
                  <a:rPr lang="en-US" spc="-1" dirty="0">
                    <a:solidFill>
                      <a:srgbClr val="000000"/>
                    </a:solidFill>
                    <a:latin typeface="Arial"/>
                    <a:ea typeface="Gulim"/>
                  </a:rPr>
                  <a:t>Person</a:t>
                </a:r>
                <a:endParaRPr lang="en-US" spc="-1" dirty="0">
                  <a:solidFill>
                    <a:prstClr val="black"/>
                  </a:solidFill>
                  <a:latin typeface="Arial"/>
                </a:endParaRPr>
              </a:p>
              <a:p>
                <a:r>
                  <a:rPr lang="en-US" spc="-1" dirty="0">
                    <a:solidFill>
                      <a:srgbClr val="000000"/>
                    </a:solidFill>
                    <a:latin typeface="Arial"/>
                    <a:ea typeface="Gulim"/>
                  </a:rPr>
                  <a:t>-age</a:t>
                </a:r>
                <a:endParaRPr lang="en-US" spc="-1" dirty="0">
                  <a:solidFill>
                    <a:prstClr val="black"/>
                  </a:solidFill>
                  <a:latin typeface="Arial"/>
                </a:endParaRPr>
              </a:p>
              <a:p>
                <a:endParaRPr lang="en-US" spc="-1" dirty="0">
                  <a:solidFill>
                    <a:prstClr val="black"/>
                  </a:solidFill>
                  <a:latin typeface="Arial"/>
                </a:endParaRPr>
              </a:p>
            </p:txBody>
          </p:sp>
          <p:sp>
            <p:nvSpPr>
              <p:cNvPr id="6" name="Line 6">
                <a:extLst>
                  <a:ext uri="{FF2B5EF4-FFF2-40B4-BE49-F238E27FC236}">
                    <a16:creationId xmlns:a16="http://schemas.microsoft.com/office/drawing/2014/main" id="{5F589C02-98DE-4F13-9869-AB5DD215644B}"/>
                  </a:ext>
                </a:extLst>
              </p:cNvPr>
              <p:cNvSpPr/>
              <p:nvPr/>
            </p:nvSpPr>
            <p:spPr>
              <a:xfrm>
                <a:off x="5586480" y="3533037"/>
                <a:ext cx="984600" cy="36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7" name="Line 7">
                <a:extLst>
                  <a:ext uri="{FF2B5EF4-FFF2-40B4-BE49-F238E27FC236}">
                    <a16:creationId xmlns:a16="http://schemas.microsoft.com/office/drawing/2014/main" id="{292B90AD-3B6B-4320-8443-5B7A3029777B}"/>
                  </a:ext>
                </a:extLst>
              </p:cNvPr>
              <p:cNvSpPr/>
              <p:nvPr/>
            </p:nvSpPr>
            <p:spPr>
              <a:xfrm>
                <a:off x="5585400" y="3831723"/>
                <a:ext cx="984600" cy="360"/>
              </a:xfrm>
              <a:prstGeom prst="line">
                <a:avLst/>
              </a:prstGeom>
              <a:ln w="9360">
                <a:solidFill>
                  <a:srgbClr val="000000"/>
                </a:solidFill>
                <a:miter/>
              </a:ln>
            </p:spPr>
            <p:style>
              <a:lnRef idx="0">
                <a:scrgbClr r="0" g="0" b="0"/>
              </a:lnRef>
              <a:fillRef idx="0">
                <a:scrgbClr r="0" g="0" b="0"/>
              </a:fillRef>
              <a:effectRef idx="0">
                <a:scrgbClr r="0" g="0" b="0"/>
              </a:effectRef>
              <a:fontRef idx="minor"/>
            </p:style>
          </p:sp>
        </p:grpSp>
        <p:grpSp>
          <p:nvGrpSpPr>
            <p:cNvPr id="8" name="Group 7">
              <a:extLst>
                <a:ext uri="{FF2B5EF4-FFF2-40B4-BE49-F238E27FC236}">
                  <a16:creationId xmlns:a16="http://schemas.microsoft.com/office/drawing/2014/main" id="{64AB4C55-59AB-4677-999D-AA3213F4BAB1}"/>
                </a:ext>
              </a:extLst>
            </p:cNvPr>
            <p:cNvGrpSpPr/>
            <p:nvPr/>
          </p:nvGrpSpPr>
          <p:grpSpPr>
            <a:xfrm>
              <a:off x="6995160" y="3251892"/>
              <a:ext cx="1540800" cy="437040"/>
              <a:chOff x="7144920" y="2738880"/>
              <a:chExt cx="1540800" cy="437040"/>
            </a:xfrm>
          </p:grpSpPr>
          <p:sp>
            <p:nvSpPr>
              <p:cNvPr id="9" name="CustomShape 9">
                <a:extLst>
                  <a:ext uri="{FF2B5EF4-FFF2-40B4-BE49-F238E27FC236}">
                    <a16:creationId xmlns:a16="http://schemas.microsoft.com/office/drawing/2014/main" id="{41D2B81D-C2DD-4A95-B29C-C557DF43BCC1}"/>
                  </a:ext>
                </a:extLst>
              </p:cNvPr>
              <p:cNvSpPr/>
              <p:nvPr/>
            </p:nvSpPr>
            <p:spPr>
              <a:xfrm flipV="1">
                <a:off x="7162020" y="2738880"/>
                <a:ext cx="1471680" cy="437040"/>
              </a:xfrm>
              <a:prstGeom prst="foldedCorner">
                <a:avLst>
                  <a:gd name="adj" fmla="val 12500"/>
                </a:avLst>
              </a:prstGeom>
              <a:solidFill>
                <a:srgbClr val="FFFF99"/>
              </a:solidFill>
              <a:ln w="9360">
                <a:solidFill>
                  <a:srgbClr val="000000"/>
                </a:solidFill>
                <a:miter/>
              </a:ln>
            </p:spPr>
            <p:style>
              <a:lnRef idx="0">
                <a:scrgbClr r="0" g="0" b="0"/>
              </a:lnRef>
              <a:fillRef idx="0">
                <a:scrgbClr r="0" g="0" b="0"/>
              </a:fillRef>
              <a:effectRef idx="0">
                <a:scrgbClr r="0" g="0" b="0"/>
              </a:effectRef>
              <a:fontRef idx="minor"/>
            </p:style>
          </p:sp>
          <p:sp>
            <p:nvSpPr>
              <p:cNvPr id="10" name="CustomShape 10">
                <a:extLst>
                  <a:ext uri="{FF2B5EF4-FFF2-40B4-BE49-F238E27FC236}">
                    <a16:creationId xmlns:a16="http://schemas.microsoft.com/office/drawing/2014/main" id="{AB7699D3-8128-46F4-81E5-FC1561AE12D2}"/>
                  </a:ext>
                </a:extLst>
              </p:cNvPr>
              <p:cNvSpPr/>
              <p:nvPr/>
            </p:nvSpPr>
            <p:spPr>
              <a:xfrm>
                <a:off x="7144920" y="2773800"/>
                <a:ext cx="1540800" cy="36720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dirty="0">
                    <a:solidFill>
                      <a:srgbClr val="000000"/>
                    </a:solidFill>
                    <a:latin typeface="Arial"/>
                    <a:ea typeface="Gulim"/>
                  </a:rPr>
                  <a:t>inv</a:t>
                </a:r>
                <a:r>
                  <a:rPr lang="en-US" spc="-1" dirty="0">
                    <a:solidFill>
                      <a:srgbClr val="000000"/>
                    </a:solidFill>
                    <a:latin typeface="Arial"/>
                    <a:ea typeface="Gulim"/>
                  </a:rPr>
                  <a:t>: age &gt;= 0</a:t>
                </a:r>
                <a:endParaRPr lang="en-US" spc="-1" dirty="0">
                  <a:solidFill>
                    <a:prstClr val="black"/>
                  </a:solidFill>
                  <a:latin typeface="Arial"/>
                </a:endParaRPr>
              </a:p>
            </p:txBody>
          </p:sp>
        </p:grpSp>
        <p:sp>
          <p:nvSpPr>
            <p:cNvPr id="11" name="CustomShape 11">
              <a:extLst>
                <a:ext uri="{FF2B5EF4-FFF2-40B4-BE49-F238E27FC236}">
                  <a16:creationId xmlns:a16="http://schemas.microsoft.com/office/drawing/2014/main" id="{144CEAEE-D2CE-40D0-B30C-2D68592E1214}"/>
                </a:ext>
              </a:extLst>
            </p:cNvPr>
            <p:cNvSpPr/>
            <p:nvPr/>
          </p:nvSpPr>
          <p:spPr>
            <a:xfrm flipV="1">
              <a:off x="6572160" y="3578040"/>
              <a:ext cx="423000" cy="78840"/>
            </a:xfrm>
            <a:custGeom>
              <a:avLst/>
              <a:gdLst/>
              <a:ahLst/>
              <a:cxnLst/>
              <a:rect l="l" t="t" r="r" b="b"/>
              <a:pathLst>
                <a:path w="21600" h="21600">
                  <a:moveTo>
                    <a:pt x="0" y="0"/>
                  </a:moveTo>
                  <a:lnTo>
                    <a:pt x="21600" y="21600"/>
                  </a:lnTo>
                </a:path>
              </a:pathLst>
            </a:custGeom>
            <a:noFill/>
            <a:ln w="9360" cap="rnd">
              <a:solidFill>
                <a:srgbClr val="000000"/>
              </a:solidFill>
              <a:custDash>
                <a:ds d="800000" sp="600000"/>
              </a:custDash>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5918113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CEBE-9378-435F-935D-C1DE9F90041E}"/>
              </a:ext>
            </a:extLst>
          </p:cNvPr>
          <p:cNvSpPr>
            <a:spLocks noGrp="1"/>
          </p:cNvSpPr>
          <p:nvPr>
            <p:ph type="title"/>
          </p:nvPr>
        </p:nvSpPr>
        <p:spPr/>
        <p:txBody>
          <a:bodyPr/>
          <a:lstStyle/>
          <a:p>
            <a:r>
              <a:rPr lang="en-US" dirty="0"/>
              <a:t>Invariants</a:t>
            </a:r>
          </a:p>
        </p:txBody>
      </p:sp>
      <p:sp>
        <p:nvSpPr>
          <p:cNvPr id="3" name="Content Placeholder 2">
            <a:extLst>
              <a:ext uri="{FF2B5EF4-FFF2-40B4-BE49-F238E27FC236}">
                <a16:creationId xmlns:a16="http://schemas.microsoft.com/office/drawing/2014/main" id="{46752427-957D-4521-B337-C229EDC2F3F5}"/>
              </a:ext>
            </a:extLst>
          </p:cNvPr>
          <p:cNvSpPr>
            <a:spLocks noGrp="1"/>
          </p:cNvSpPr>
          <p:nvPr>
            <p:ph idx="1"/>
          </p:nvPr>
        </p:nvSpPr>
        <p:spPr>
          <a:xfrm>
            <a:off x="1066800" y="1843060"/>
            <a:ext cx="10058400" cy="4188623"/>
          </a:xfrm>
        </p:spPr>
        <p:txBody>
          <a:bodyPr>
            <a:noAutofit/>
          </a:bodyPr>
          <a:lstStyle/>
          <a:p>
            <a:r>
              <a:rPr lang="en-US" sz="1800" dirty="0"/>
              <a:t>State conditions that must be always be met by all instances of context types (classes or interfaces)</a:t>
            </a:r>
          </a:p>
          <a:p>
            <a:r>
              <a:rPr lang="en-US" sz="1800" dirty="0"/>
              <a:t>Examples:</a:t>
            </a:r>
          </a:p>
          <a:p>
            <a:pPr marL="274320" lvl="1" indent="0">
              <a:buNone/>
            </a:pPr>
            <a:r>
              <a:rPr lang="en-US" sz="1800" b="1" strike="noStrike" spc="-1" dirty="0">
                <a:solidFill>
                  <a:srgbClr val="000000"/>
                </a:solidFill>
                <a:latin typeface="Arial"/>
                <a:ea typeface="Gulim"/>
              </a:rPr>
              <a:t>			context</a:t>
            </a:r>
            <a:r>
              <a:rPr lang="en-US" sz="1800" b="0" strike="noStrike" spc="-1" dirty="0">
                <a:solidFill>
                  <a:srgbClr val="000000"/>
                </a:solidFill>
                <a:latin typeface="Arial"/>
                <a:ea typeface="Gulim"/>
              </a:rPr>
              <a:t> Company </a:t>
            </a:r>
            <a:r>
              <a:rPr lang="en-US" sz="1800" b="1" strike="noStrike" spc="-1" dirty="0">
                <a:solidFill>
                  <a:srgbClr val="000000"/>
                </a:solidFill>
                <a:latin typeface="Arial"/>
                <a:ea typeface="Gulim"/>
              </a:rPr>
              <a:t>inv</a:t>
            </a:r>
            <a:r>
              <a:rPr lang="en-US" sz="1800" b="0" strike="noStrike" spc="-1" dirty="0">
                <a:solidFill>
                  <a:srgbClr val="000000"/>
                </a:solidFill>
                <a:latin typeface="Arial"/>
                <a:ea typeface="Gulim"/>
              </a:rPr>
              <a:t>:</a:t>
            </a:r>
            <a:endParaRPr lang="en-US" sz="1800" spc="-1" dirty="0">
              <a:latin typeface="Arial"/>
            </a:endParaRPr>
          </a:p>
          <a:p>
            <a:pPr marL="274320" lvl="1" indent="0">
              <a:buNone/>
            </a:pPr>
            <a:r>
              <a:rPr lang="en-US" sz="1800" b="0" strike="noStrike" spc="-1" dirty="0">
                <a:solidFill>
                  <a:srgbClr val="0000F4"/>
                </a:solidFill>
                <a:latin typeface="Arial"/>
                <a:ea typeface="Gulim"/>
              </a:rPr>
              <a:t>				</a:t>
            </a:r>
            <a:r>
              <a:rPr lang="en-US" sz="1800" b="0" strike="noStrike" spc="-1" dirty="0" err="1">
                <a:solidFill>
                  <a:srgbClr val="0000F4"/>
                </a:solidFill>
                <a:latin typeface="Arial"/>
                <a:ea typeface="Gulim"/>
              </a:rPr>
              <a:t>self</a:t>
            </a:r>
            <a:r>
              <a:rPr lang="en-US" sz="1800" b="0" strike="noStrike" spc="-1" dirty="0" err="1">
                <a:solidFill>
                  <a:srgbClr val="000000"/>
                </a:solidFill>
                <a:latin typeface="Arial"/>
                <a:ea typeface="Gulim"/>
              </a:rPr>
              <a:t>.numberOfEmployees</a:t>
            </a:r>
            <a:r>
              <a:rPr lang="en-US" sz="1800" b="0" strike="noStrike" spc="-1" dirty="0">
                <a:solidFill>
                  <a:srgbClr val="000000"/>
                </a:solidFill>
                <a:latin typeface="Arial"/>
                <a:ea typeface="Gulim"/>
              </a:rPr>
              <a:t> &gt; 50</a:t>
            </a:r>
            <a:endParaRPr lang="en-US" sz="1800" b="0" strike="noStrike" spc="-1" dirty="0">
              <a:latin typeface="Arial"/>
            </a:endParaRPr>
          </a:p>
          <a:p>
            <a:pPr marL="276840" lvl="1" indent="0">
              <a:spcBef>
                <a:spcPts val="499"/>
              </a:spcBef>
              <a:buNone/>
            </a:pPr>
            <a:endParaRPr lang="en-US" sz="1800" b="1" strike="noStrike" spc="-1" dirty="0">
              <a:solidFill>
                <a:srgbClr val="000000"/>
              </a:solidFill>
              <a:latin typeface="Arial"/>
              <a:ea typeface="Gulim"/>
            </a:endParaRPr>
          </a:p>
          <a:p>
            <a:pPr marL="276840" lvl="1" indent="0">
              <a:spcBef>
                <a:spcPts val="499"/>
              </a:spcBef>
              <a:buNone/>
            </a:pPr>
            <a:r>
              <a:rPr lang="en-US" sz="1800" b="1" strike="noStrike" spc="-1" dirty="0">
                <a:solidFill>
                  <a:srgbClr val="000000"/>
                </a:solidFill>
                <a:latin typeface="Arial"/>
                <a:ea typeface="Gulim"/>
              </a:rPr>
              <a:t>			context</a:t>
            </a:r>
            <a:r>
              <a:rPr lang="en-US" sz="1800" b="0" strike="noStrike" spc="-1" dirty="0">
                <a:solidFill>
                  <a:srgbClr val="000000"/>
                </a:solidFill>
                <a:latin typeface="Arial"/>
                <a:ea typeface="Gulim"/>
              </a:rPr>
              <a:t> </a:t>
            </a:r>
            <a:r>
              <a:rPr lang="en-US" sz="1800" b="0" strike="noStrike" spc="-1" dirty="0">
                <a:solidFill>
                  <a:srgbClr val="0000F4"/>
                </a:solidFill>
                <a:latin typeface="Arial"/>
                <a:ea typeface="Gulim"/>
              </a:rPr>
              <a:t>c</a:t>
            </a:r>
            <a:r>
              <a:rPr lang="en-US" sz="1800" b="0" strike="noStrike" spc="-1" dirty="0">
                <a:solidFill>
                  <a:srgbClr val="000000"/>
                </a:solidFill>
                <a:latin typeface="Arial"/>
                <a:ea typeface="Gulim"/>
              </a:rPr>
              <a:t>: Company </a:t>
            </a:r>
            <a:r>
              <a:rPr lang="en-US" sz="1800" b="1" strike="noStrike" spc="-1" dirty="0">
                <a:solidFill>
                  <a:srgbClr val="000000"/>
                </a:solidFill>
                <a:latin typeface="Arial"/>
                <a:ea typeface="Gulim"/>
              </a:rPr>
              <a:t>inv</a:t>
            </a:r>
            <a:r>
              <a:rPr lang="en-US" sz="1800" b="0" strike="noStrike" spc="-1" dirty="0">
                <a:solidFill>
                  <a:srgbClr val="000000"/>
                </a:solidFill>
                <a:latin typeface="Arial"/>
                <a:ea typeface="Gulim"/>
              </a:rPr>
              <a:t>:</a:t>
            </a:r>
            <a:endParaRPr lang="en-US" sz="1800" b="0" strike="noStrike" spc="-1" dirty="0">
              <a:latin typeface="Arial"/>
            </a:endParaRPr>
          </a:p>
          <a:p>
            <a:pPr marL="2520" indent="0">
              <a:lnSpc>
                <a:spcPct val="100000"/>
              </a:lnSpc>
              <a:spcBef>
                <a:spcPts val="499"/>
              </a:spcBef>
              <a:buNone/>
            </a:pPr>
            <a:r>
              <a:rPr lang="en-US" sz="1800" b="0" strike="noStrike" spc="-1" dirty="0">
                <a:solidFill>
                  <a:srgbClr val="000000"/>
                </a:solidFill>
                <a:latin typeface="Arial"/>
                <a:ea typeface="Gulim"/>
              </a:rPr>
              <a:t>				</a:t>
            </a:r>
            <a:r>
              <a:rPr lang="en-US" sz="1800" b="0" strike="noStrike" spc="-1" dirty="0" err="1">
                <a:solidFill>
                  <a:srgbClr val="0000F4"/>
                </a:solidFill>
                <a:latin typeface="Arial"/>
                <a:ea typeface="Gulim"/>
              </a:rPr>
              <a:t>c</a:t>
            </a:r>
            <a:r>
              <a:rPr lang="en-US" sz="1800" b="0" strike="noStrike" spc="-1" dirty="0" err="1">
                <a:solidFill>
                  <a:srgbClr val="000000"/>
                </a:solidFill>
                <a:latin typeface="Arial"/>
                <a:ea typeface="Gulim"/>
              </a:rPr>
              <a:t>.numberOfEmployees</a:t>
            </a:r>
            <a:r>
              <a:rPr lang="en-US" sz="1800" b="0" strike="noStrike" spc="-1" dirty="0">
                <a:solidFill>
                  <a:srgbClr val="000000"/>
                </a:solidFill>
                <a:latin typeface="Arial"/>
                <a:ea typeface="Gulim"/>
              </a:rPr>
              <a:t> &gt; 50</a:t>
            </a:r>
            <a:endParaRPr lang="en-US" sz="1800" b="0" strike="noStrike" spc="-1" dirty="0">
              <a:latin typeface="Arial"/>
            </a:endParaRPr>
          </a:p>
          <a:p>
            <a:pPr marL="457200" indent="-454680">
              <a:lnSpc>
                <a:spcPct val="100000"/>
              </a:lnSpc>
              <a:spcBef>
                <a:spcPts val="499"/>
              </a:spcBef>
            </a:pPr>
            <a:endParaRPr lang="en-US" sz="1800" b="0" strike="noStrike" spc="-1" dirty="0">
              <a:latin typeface="Arial"/>
            </a:endParaRPr>
          </a:p>
          <a:p>
            <a:pPr marL="276840" lvl="1" indent="0">
              <a:spcBef>
                <a:spcPts val="499"/>
              </a:spcBef>
              <a:buNone/>
            </a:pPr>
            <a:r>
              <a:rPr lang="en-US" sz="1800" b="1" strike="noStrike" spc="-1" dirty="0">
                <a:solidFill>
                  <a:srgbClr val="000000"/>
                </a:solidFill>
                <a:latin typeface="Arial"/>
                <a:ea typeface="Gulim"/>
              </a:rPr>
              <a:t>			context</a:t>
            </a:r>
            <a:r>
              <a:rPr lang="en-US" sz="1800" b="0" strike="noStrike" spc="-1" dirty="0">
                <a:solidFill>
                  <a:srgbClr val="000000"/>
                </a:solidFill>
                <a:latin typeface="Arial"/>
                <a:ea typeface="Gulim"/>
              </a:rPr>
              <a:t> c: Company </a:t>
            </a:r>
            <a:r>
              <a:rPr lang="en-US" sz="1800" b="1" strike="noStrike" spc="-1" dirty="0">
                <a:solidFill>
                  <a:srgbClr val="000000"/>
                </a:solidFill>
                <a:latin typeface="Arial"/>
                <a:ea typeface="Gulim"/>
              </a:rPr>
              <a:t>inv</a:t>
            </a:r>
            <a:r>
              <a:rPr lang="en-US" sz="1800" b="0" strike="noStrike" spc="-1" dirty="0">
                <a:solidFill>
                  <a:srgbClr val="000000"/>
                </a:solidFill>
                <a:latin typeface="Arial"/>
                <a:ea typeface="Gulim"/>
              </a:rPr>
              <a:t> </a:t>
            </a:r>
            <a:r>
              <a:rPr lang="en-US" sz="1800" b="0" strike="noStrike" spc="-1" dirty="0" err="1">
                <a:solidFill>
                  <a:srgbClr val="0000F4"/>
                </a:solidFill>
                <a:latin typeface="Arial"/>
                <a:ea typeface="Gulim"/>
              </a:rPr>
              <a:t>enoughEmployees</a:t>
            </a:r>
            <a:r>
              <a:rPr lang="en-US" sz="1800" b="0" strike="noStrike" spc="-1" dirty="0">
                <a:solidFill>
                  <a:srgbClr val="000000"/>
                </a:solidFill>
                <a:latin typeface="Arial"/>
                <a:ea typeface="Gulim"/>
              </a:rPr>
              <a:t>:</a:t>
            </a:r>
            <a:endParaRPr lang="en-US" sz="1800" b="0" strike="noStrike" spc="-1" dirty="0">
              <a:latin typeface="Arial"/>
            </a:endParaRPr>
          </a:p>
          <a:p>
            <a:pPr marL="2520" indent="0">
              <a:lnSpc>
                <a:spcPct val="100000"/>
              </a:lnSpc>
              <a:spcBef>
                <a:spcPts val="499"/>
              </a:spcBef>
              <a:buNone/>
            </a:pPr>
            <a:r>
              <a:rPr lang="en-US" sz="1800" b="0" strike="noStrike" spc="-1" dirty="0">
                <a:solidFill>
                  <a:srgbClr val="000000"/>
                </a:solidFill>
                <a:latin typeface="Arial"/>
                <a:ea typeface="Gulim"/>
              </a:rPr>
              <a:t>				</a:t>
            </a:r>
            <a:r>
              <a:rPr lang="en-US" sz="1800" b="0" strike="noStrike" spc="-1" dirty="0" err="1">
                <a:solidFill>
                  <a:srgbClr val="000000"/>
                </a:solidFill>
                <a:latin typeface="Arial"/>
                <a:ea typeface="Gulim"/>
              </a:rPr>
              <a:t>c.numberOfEmployees</a:t>
            </a:r>
            <a:r>
              <a:rPr lang="en-US" sz="1800" b="0" strike="noStrike" spc="-1" dirty="0">
                <a:solidFill>
                  <a:srgbClr val="000000"/>
                </a:solidFill>
                <a:latin typeface="Arial"/>
                <a:ea typeface="Gulim"/>
              </a:rPr>
              <a:t> &gt; 50</a:t>
            </a:r>
            <a:endParaRPr lang="en-US" sz="1800" b="0" strike="noStrike" spc="-1" dirty="0">
              <a:latin typeface="Arial"/>
            </a:endParaRPr>
          </a:p>
          <a:p>
            <a:pPr marL="0" indent="0">
              <a:buNone/>
            </a:pPr>
            <a:endParaRPr lang="en-US" sz="1800" dirty="0"/>
          </a:p>
        </p:txBody>
      </p:sp>
      <p:sp>
        <p:nvSpPr>
          <p:cNvPr id="5" name="CustomShape 4">
            <a:extLst>
              <a:ext uri="{FF2B5EF4-FFF2-40B4-BE49-F238E27FC236}">
                <a16:creationId xmlns:a16="http://schemas.microsoft.com/office/drawing/2014/main" id="{7653BB87-6702-4C55-8DC2-D22955371BBE}"/>
              </a:ext>
            </a:extLst>
          </p:cNvPr>
          <p:cNvSpPr/>
          <p:nvPr/>
        </p:nvSpPr>
        <p:spPr>
          <a:xfrm>
            <a:off x="1325461" y="3342640"/>
            <a:ext cx="2449585" cy="780176"/>
          </a:xfrm>
          <a:prstGeom prst="wedgeRoundRectCallout">
            <a:avLst>
              <a:gd name="adj1" fmla="val 89729"/>
              <a:gd name="adj2" fmla="val -36473"/>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r>
              <a:rPr lang="en-US" sz="1400" spc="-1" dirty="0">
                <a:solidFill>
                  <a:srgbClr val="000000"/>
                </a:solidFill>
                <a:latin typeface="Arial"/>
                <a:ea typeface="Gulim"/>
              </a:rPr>
              <a:t>self: contextual instance, an instance to which the OCL expression is attached</a:t>
            </a:r>
            <a:endParaRPr lang="en-US" sz="1400" spc="-1" dirty="0">
              <a:solidFill>
                <a:prstClr val="black"/>
              </a:solidFill>
              <a:latin typeface="Arial"/>
            </a:endParaRPr>
          </a:p>
        </p:txBody>
      </p:sp>
      <p:sp>
        <p:nvSpPr>
          <p:cNvPr id="6" name="CustomShape 5">
            <a:extLst>
              <a:ext uri="{FF2B5EF4-FFF2-40B4-BE49-F238E27FC236}">
                <a16:creationId xmlns:a16="http://schemas.microsoft.com/office/drawing/2014/main" id="{B6118C89-02F0-46AF-A085-F816573538B5}"/>
              </a:ext>
            </a:extLst>
          </p:cNvPr>
          <p:cNvSpPr/>
          <p:nvPr/>
        </p:nvSpPr>
        <p:spPr>
          <a:xfrm>
            <a:off x="1325461" y="4622180"/>
            <a:ext cx="2449585" cy="607165"/>
          </a:xfrm>
          <a:prstGeom prst="wedgeRoundRectCallout">
            <a:avLst>
              <a:gd name="adj1" fmla="val 86518"/>
              <a:gd name="adj2" fmla="val -70861"/>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r>
              <a:rPr lang="en-US" sz="1400" spc="-1">
                <a:solidFill>
                  <a:srgbClr val="000000"/>
                </a:solidFill>
                <a:latin typeface="Arial"/>
                <a:ea typeface="Gulim"/>
              </a:rPr>
              <a:t>An explicit specification of contextual instance, c</a:t>
            </a:r>
            <a:endParaRPr lang="en-US" sz="1400" spc="-1">
              <a:solidFill>
                <a:prstClr val="black"/>
              </a:solidFill>
              <a:latin typeface="Arial"/>
            </a:endParaRPr>
          </a:p>
        </p:txBody>
      </p:sp>
      <p:sp>
        <p:nvSpPr>
          <p:cNvPr id="7" name="CustomShape 6">
            <a:extLst>
              <a:ext uri="{FF2B5EF4-FFF2-40B4-BE49-F238E27FC236}">
                <a16:creationId xmlns:a16="http://schemas.microsoft.com/office/drawing/2014/main" id="{50FB1A0A-23C1-4293-88D3-474750A3141B}"/>
              </a:ext>
            </a:extLst>
          </p:cNvPr>
          <p:cNvSpPr/>
          <p:nvPr/>
        </p:nvSpPr>
        <p:spPr>
          <a:xfrm>
            <a:off x="7997319" y="4325405"/>
            <a:ext cx="1155070" cy="546865"/>
          </a:xfrm>
          <a:prstGeom prst="wedgeRoundRectCallout">
            <a:avLst>
              <a:gd name="adj1" fmla="val -80053"/>
              <a:gd name="adj2" fmla="val 71167"/>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pPr algn="ctr"/>
            <a:r>
              <a:rPr lang="en-US" sz="1400" spc="-1">
                <a:solidFill>
                  <a:srgbClr val="000000"/>
                </a:solidFill>
                <a:latin typeface="Arial"/>
                <a:ea typeface="Gulim"/>
              </a:rPr>
              <a:t>an optional label</a:t>
            </a:r>
            <a:endParaRPr lang="en-US" sz="1400" spc="-1">
              <a:solidFill>
                <a:prstClr val="black"/>
              </a:solidFill>
              <a:latin typeface="Arial"/>
            </a:endParaRPr>
          </a:p>
        </p:txBody>
      </p:sp>
    </p:spTree>
    <p:extLst>
      <p:ext uri="{BB962C8B-B14F-4D97-AF65-F5344CB8AC3E}">
        <p14:creationId xmlns:p14="http://schemas.microsoft.com/office/powerpoint/2010/main" val="311579686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A19C-5574-47B6-B426-E970C1819456}"/>
              </a:ext>
            </a:extLst>
          </p:cNvPr>
          <p:cNvSpPr>
            <a:spLocks noGrp="1"/>
          </p:cNvSpPr>
          <p:nvPr>
            <p:ph type="title"/>
          </p:nvPr>
        </p:nvSpPr>
        <p:spPr/>
        <p:txBody>
          <a:bodyPr/>
          <a:lstStyle/>
          <a:p>
            <a:r>
              <a:rPr lang="en-US" dirty="0"/>
              <a:t>Pre and post-conditions</a:t>
            </a:r>
          </a:p>
        </p:txBody>
      </p:sp>
      <p:sp>
        <p:nvSpPr>
          <p:cNvPr id="3" name="Content Placeholder 2">
            <a:extLst>
              <a:ext uri="{FF2B5EF4-FFF2-40B4-BE49-F238E27FC236}">
                <a16:creationId xmlns:a16="http://schemas.microsoft.com/office/drawing/2014/main" id="{A03866A0-174E-423D-94B6-9AA0C6781DE5}"/>
              </a:ext>
            </a:extLst>
          </p:cNvPr>
          <p:cNvSpPr>
            <a:spLocks noGrp="1"/>
          </p:cNvSpPr>
          <p:nvPr>
            <p:ph idx="1"/>
          </p:nvPr>
        </p:nvSpPr>
        <p:spPr>
          <a:xfrm>
            <a:off x="1066800" y="1968896"/>
            <a:ext cx="10058400" cy="3849624"/>
          </a:xfrm>
        </p:spPr>
        <p:txBody>
          <a:bodyPr>
            <a:normAutofit lnSpcReduction="10000"/>
          </a:bodyPr>
          <a:lstStyle/>
          <a:p>
            <a:r>
              <a:rPr lang="en-US" sz="2000" dirty="0" err="1"/>
              <a:t>Con</a:t>
            </a:r>
            <a:r>
              <a:rPr lang="en-US" sz="1800" dirty="0" err="1"/>
              <a:t>nditions</a:t>
            </a:r>
            <a:r>
              <a:rPr lang="en-US" sz="1800" dirty="0"/>
              <a:t> that must be true at the moment when an operation begins and ends its execution.</a:t>
            </a:r>
          </a:p>
          <a:p>
            <a:r>
              <a:rPr lang="en-US" sz="2000" dirty="0"/>
              <a:t>Examples</a:t>
            </a:r>
          </a:p>
          <a:p>
            <a:pPr marL="0" indent="0">
              <a:lnSpc>
                <a:spcPct val="100000"/>
              </a:lnSpc>
              <a:buNone/>
            </a:pPr>
            <a:r>
              <a:rPr lang="en-US" sz="1800" b="1" strike="noStrike" spc="-1" dirty="0">
                <a:solidFill>
                  <a:srgbClr val="000000"/>
                </a:solidFill>
                <a:latin typeface="Arial"/>
                <a:ea typeface="Gulim"/>
              </a:rPr>
              <a:t>	context</a:t>
            </a:r>
            <a:r>
              <a:rPr lang="en-US" sz="1800" b="0" strike="noStrike" spc="-1" dirty="0">
                <a:solidFill>
                  <a:srgbClr val="000000"/>
                </a:solidFill>
                <a:latin typeface="Arial"/>
                <a:ea typeface="Gulim"/>
              </a:rPr>
              <a:t> Account::deposit(amt: Integer): </a:t>
            </a:r>
            <a:r>
              <a:rPr lang="en-US" sz="1800" b="1" strike="noStrike" spc="-1" dirty="0">
                <a:solidFill>
                  <a:srgbClr val="000000"/>
                </a:solidFill>
                <a:latin typeface="Arial"/>
                <a:ea typeface="Gulim"/>
              </a:rPr>
              <a:t>void</a:t>
            </a:r>
            <a:endParaRPr lang="en-US" sz="1800" b="0" strike="noStrike" spc="-1" dirty="0">
              <a:latin typeface="Arial"/>
            </a:endParaRPr>
          </a:p>
          <a:p>
            <a:pPr marL="0" indent="0">
              <a:lnSpc>
                <a:spcPct val="100000"/>
              </a:lnSpc>
              <a:buNone/>
            </a:pPr>
            <a:r>
              <a:rPr lang="en-US" sz="1800" b="0" strike="noStrike" spc="-1" dirty="0">
                <a:solidFill>
                  <a:srgbClr val="000000"/>
                </a:solidFill>
                <a:latin typeface="Arial"/>
                <a:ea typeface="Gulim"/>
              </a:rPr>
              <a:t>	</a:t>
            </a:r>
            <a:r>
              <a:rPr lang="en-US" sz="1800" b="1" strike="noStrike" spc="-1" dirty="0">
                <a:solidFill>
                  <a:srgbClr val="000000"/>
                </a:solidFill>
                <a:latin typeface="Arial"/>
                <a:ea typeface="Gulim"/>
              </a:rPr>
              <a:t>pre</a:t>
            </a:r>
            <a:r>
              <a:rPr lang="en-US" sz="1800" b="0" strike="noStrike" spc="-1" dirty="0">
                <a:solidFill>
                  <a:srgbClr val="000000"/>
                </a:solidFill>
                <a:latin typeface="Arial"/>
                <a:ea typeface="Gulim"/>
              </a:rPr>
              <a:t>: amt &gt; 0</a:t>
            </a:r>
            <a:endParaRPr lang="en-US" sz="1800" b="0" strike="noStrike" spc="-1" dirty="0">
              <a:latin typeface="Arial"/>
            </a:endParaRPr>
          </a:p>
          <a:p>
            <a:pPr marL="0" indent="0">
              <a:lnSpc>
                <a:spcPct val="100000"/>
              </a:lnSpc>
              <a:buNone/>
            </a:pPr>
            <a:r>
              <a:rPr lang="en-US" sz="1800" spc="-1" dirty="0">
                <a:solidFill>
                  <a:srgbClr val="000000"/>
                </a:solidFill>
                <a:latin typeface="Arial"/>
                <a:ea typeface="Gulim"/>
              </a:rPr>
              <a:t>	</a:t>
            </a:r>
            <a:r>
              <a:rPr lang="en-US" sz="1800" b="1" strike="noStrike" spc="-1" dirty="0">
                <a:solidFill>
                  <a:srgbClr val="000000"/>
                </a:solidFill>
                <a:latin typeface="Arial"/>
                <a:ea typeface="Gulim"/>
              </a:rPr>
              <a:t>post</a:t>
            </a:r>
            <a:r>
              <a:rPr lang="en-US" sz="1800" b="0" strike="noStrike" spc="-1" dirty="0">
                <a:solidFill>
                  <a:srgbClr val="000000"/>
                </a:solidFill>
                <a:latin typeface="Arial"/>
                <a:ea typeface="Gulim"/>
              </a:rPr>
              <a:t>: balance = </a:t>
            </a:r>
            <a:r>
              <a:rPr lang="en-US" sz="1800" b="0" strike="noStrike" spc="-1" dirty="0" err="1">
                <a:solidFill>
                  <a:srgbClr val="000000"/>
                </a:solidFill>
                <a:latin typeface="Arial"/>
                <a:ea typeface="Gulim"/>
              </a:rPr>
              <a:t>balance</a:t>
            </a:r>
            <a:r>
              <a:rPr lang="en-US" sz="1800" b="0" strike="noStrike" spc="-1" dirty="0" err="1">
                <a:solidFill>
                  <a:srgbClr val="0000F4"/>
                </a:solidFill>
                <a:latin typeface="Arial"/>
                <a:ea typeface="Gulim"/>
              </a:rPr>
              <a:t>@pre</a:t>
            </a:r>
            <a:r>
              <a:rPr lang="en-US" sz="1800" b="0" strike="noStrike" spc="-1" dirty="0">
                <a:solidFill>
                  <a:srgbClr val="000000"/>
                </a:solidFill>
                <a:latin typeface="Arial"/>
                <a:ea typeface="Gulim"/>
              </a:rPr>
              <a:t> + amt</a:t>
            </a:r>
            <a:endParaRPr lang="en-US" sz="1800" b="0" strike="noStrike" spc="-1" dirty="0">
              <a:latin typeface="Arial"/>
            </a:endParaRPr>
          </a:p>
          <a:p>
            <a:pPr>
              <a:lnSpc>
                <a:spcPct val="100000"/>
              </a:lnSpc>
            </a:pPr>
            <a:endParaRPr lang="en-US" sz="1800" b="0" strike="noStrike" spc="-1" dirty="0">
              <a:latin typeface="Arial"/>
            </a:endParaRPr>
          </a:p>
          <a:p>
            <a:pPr marL="0" indent="0">
              <a:lnSpc>
                <a:spcPct val="100000"/>
              </a:lnSpc>
              <a:buNone/>
            </a:pPr>
            <a:r>
              <a:rPr lang="en-US" sz="1800" b="1" strike="noStrike" spc="-1" dirty="0">
                <a:solidFill>
                  <a:srgbClr val="000000"/>
                </a:solidFill>
                <a:latin typeface="Arial"/>
                <a:ea typeface="Gulim"/>
              </a:rPr>
              <a:t>	context</a:t>
            </a:r>
            <a:r>
              <a:rPr lang="en-US" sz="1800" b="0" strike="noStrike" spc="-1" dirty="0">
                <a:solidFill>
                  <a:srgbClr val="000000"/>
                </a:solidFill>
                <a:latin typeface="Arial"/>
                <a:ea typeface="Gulim"/>
              </a:rPr>
              <a:t> Account::deposit(amt: Integer): </a:t>
            </a:r>
            <a:r>
              <a:rPr lang="en-US" sz="1800" b="1" strike="noStrike" spc="-1" dirty="0">
                <a:solidFill>
                  <a:srgbClr val="000000"/>
                </a:solidFill>
                <a:latin typeface="Arial"/>
                <a:ea typeface="Gulim"/>
              </a:rPr>
              <a:t>void</a:t>
            </a:r>
            <a:endParaRPr lang="en-US" sz="1800" b="0" strike="noStrike" spc="-1" dirty="0">
              <a:latin typeface="Arial"/>
            </a:endParaRPr>
          </a:p>
          <a:p>
            <a:pPr marL="0" indent="0">
              <a:lnSpc>
                <a:spcPct val="100000"/>
              </a:lnSpc>
              <a:buNone/>
            </a:pPr>
            <a:r>
              <a:rPr lang="en-US" sz="1800" spc="-1" dirty="0">
                <a:solidFill>
                  <a:srgbClr val="000000"/>
                </a:solidFill>
                <a:latin typeface="Arial"/>
                <a:ea typeface="Gulim"/>
              </a:rPr>
              <a:t>	</a:t>
            </a:r>
            <a:r>
              <a:rPr lang="en-US" sz="1800" b="1" strike="noStrike" spc="-1" dirty="0">
                <a:solidFill>
                  <a:srgbClr val="000000"/>
                </a:solidFill>
                <a:latin typeface="Arial"/>
                <a:ea typeface="Gulim"/>
              </a:rPr>
              <a:t>pre</a:t>
            </a:r>
            <a:r>
              <a:rPr lang="en-US" sz="1800" b="0" strike="noStrike" spc="-1" dirty="0">
                <a:solidFill>
                  <a:srgbClr val="000000"/>
                </a:solidFill>
                <a:latin typeface="Arial"/>
                <a:ea typeface="Gulim"/>
              </a:rPr>
              <a:t> </a:t>
            </a:r>
            <a:r>
              <a:rPr lang="en-US" sz="1800" b="0" strike="noStrike" spc="-1" dirty="0" err="1">
                <a:solidFill>
                  <a:srgbClr val="0000F4"/>
                </a:solidFill>
                <a:latin typeface="Arial"/>
                <a:ea typeface="Gulim"/>
              </a:rPr>
              <a:t>argumentOk</a:t>
            </a:r>
            <a:r>
              <a:rPr lang="en-US" sz="1800" b="0" strike="noStrike" spc="-1" dirty="0">
                <a:solidFill>
                  <a:srgbClr val="000000"/>
                </a:solidFill>
                <a:latin typeface="Arial"/>
                <a:ea typeface="Gulim"/>
              </a:rPr>
              <a:t>: amt &gt; 0</a:t>
            </a:r>
            <a:endParaRPr lang="en-US" sz="1800" b="0" strike="noStrike" spc="-1" dirty="0">
              <a:latin typeface="Arial"/>
            </a:endParaRPr>
          </a:p>
          <a:p>
            <a:pPr marL="0" indent="0">
              <a:lnSpc>
                <a:spcPct val="100000"/>
              </a:lnSpc>
              <a:buNone/>
            </a:pPr>
            <a:r>
              <a:rPr lang="en-US" sz="1800" spc="-1" dirty="0">
                <a:solidFill>
                  <a:srgbClr val="000000"/>
                </a:solidFill>
                <a:latin typeface="Arial"/>
                <a:ea typeface="Gulim"/>
              </a:rPr>
              <a:t>	</a:t>
            </a:r>
            <a:r>
              <a:rPr lang="en-US" sz="1800" b="1" strike="noStrike" spc="-1" dirty="0">
                <a:solidFill>
                  <a:srgbClr val="000000"/>
                </a:solidFill>
                <a:latin typeface="Arial"/>
                <a:ea typeface="Gulim"/>
              </a:rPr>
              <a:t>post</a:t>
            </a:r>
            <a:r>
              <a:rPr lang="en-US" sz="1800" b="0" strike="noStrike" spc="-1" dirty="0">
                <a:solidFill>
                  <a:srgbClr val="000000"/>
                </a:solidFill>
                <a:latin typeface="Arial"/>
                <a:ea typeface="Gulim"/>
              </a:rPr>
              <a:t> </a:t>
            </a:r>
            <a:r>
              <a:rPr lang="en-US" sz="1800" b="0" strike="noStrike" spc="-1" dirty="0" err="1">
                <a:solidFill>
                  <a:srgbClr val="0000F4"/>
                </a:solidFill>
                <a:latin typeface="Arial"/>
                <a:ea typeface="Gulim"/>
              </a:rPr>
              <a:t>balanceIncreased</a:t>
            </a:r>
            <a:r>
              <a:rPr lang="en-US" sz="1800" b="0" strike="noStrike" spc="-1" dirty="0">
                <a:solidFill>
                  <a:srgbClr val="000000"/>
                </a:solidFill>
                <a:latin typeface="Arial"/>
                <a:ea typeface="Gulim"/>
              </a:rPr>
              <a:t>: balance = </a:t>
            </a:r>
            <a:r>
              <a:rPr lang="en-US" sz="1800" b="0" strike="noStrike" spc="-1" dirty="0" err="1">
                <a:solidFill>
                  <a:srgbClr val="000000"/>
                </a:solidFill>
                <a:latin typeface="Arial"/>
                <a:ea typeface="Gulim"/>
              </a:rPr>
              <a:t>balance@pre</a:t>
            </a:r>
            <a:r>
              <a:rPr lang="en-US" sz="1800" b="0" strike="noStrike" spc="-1" dirty="0">
                <a:solidFill>
                  <a:srgbClr val="000000"/>
                </a:solidFill>
                <a:latin typeface="Arial"/>
                <a:ea typeface="Gulim"/>
              </a:rPr>
              <a:t> + amt</a:t>
            </a:r>
            <a:endParaRPr lang="en-US" sz="1800" b="0" strike="noStrike" spc="-1" dirty="0">
              <a:latin typeface="Arial"/>
            </a:endParaRPr>
          </a:p>
          <a:p>
            <a:pPr marL="0" indent="0">
              <a:buNone/>
            </a:pPr>
            <a:endParaRPr lang="en-US" sz="1800" dirty="0"/>
          </a:p>
        </p:txBody>
      </p:sp>
      <p:sp>
        <p:nvSpPr>
          <p:cNvPr id="4" name="CustomShape 5">
            <a:extLst>
              <a:ext uri="{FF2B5EF4-FFF2-40B4-BE49-F238E27FC236}">
                <a16:creationId xmlns:a16="http://schemas.microsoft.com/office/drawing/2014/main" id="{F0443255-8EB6-4B9D-A162-59A315C7F5C7}"/>
              </a:ext>
            </a:extLst>
          </p:cNvPr>
          <p:cNvSpPr/>
          <p:nvPr/>
        </p:nvSpPr>
        <p:spPr>
          <a:xfrm>
            <a:off x="3939543" y="5786890"/>
            <a:ext cx="1676880" cy="398816"/>
          </a:xfrm>
          <a:prstGeom prst="wedgeRoundRectCallout">
            <a:avLst>
              <a:gd name="adj1" fmla="val -82754"/>
              <a:gd name="adj2" fmla="val -72777"/>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pPr algn="ctr"/>
            <a:r>
              <a:rPr lang="en-US" sz="1600" spc="-1">
                <a:solidFill>
                  <a:srgbClr val="000000"/>
                </a:solidFill>
                <a:latin typeface="Arial"/>
                <a:ea typeface="Gulim"/>
              </a:rPr>
              <a:t>optional label</a:t>
            </a:r>
            <a:endParaRPr lang="en-US" sz="1600" spc="-1">
              <a:solidFill>
                <a:prstClr val="black"/>
              </a:solidFill>
              <a:latin typeface="Arial"/>
            </a:endParaRPr>
          </a:p>
        </p:txBody>
      </p:sp>
      <p:sp>
        <p:nvSpPr>
          <p:cNvPr id="5" name="CustomShape 6">
            <a:extLst>
              <a:ext uri="{FF2B5EF4-FFF2-40B4-BE49-F238E27FC236}">
                <a16:creationId xmlns:a16="http://schemas.microsoft.com/office/drawing/2014/main" id="{0042BDD9-3374-400C-A50C-39ECFBF63283}"/>
              </a:ext>
            </a:extLst>
          </p:cNvPr>
          <p:cNvSpPr/>
          <p:nvPr/>
        </p:nvSpPr>
        <p:spPr>
          <a:xfrm>
            <a:off x="6656093" y="3264617"/>
            <a:ext cx="2118792" cy="1107180"/>
          </a:xfrm>
          <a:prstGeom prst="wedgeRoundRectCallout">
            <a:avLst>
              <a:gd name="adj1" fmla="val -138108"/>
              <a:gd name="adj2" fmla="val -863"/>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pPr algn="ctr"/>
            <a:r>
              <a:rPr lang="en-US" sz="1400" b="1" spc="-1" dirty="0">
                <a:solidFill>
                  <a:srgbClr val="000000"/>
                </a:solidFill>
                <a:latin typeface="Arial"/>
                <a:ea typeface="Gulim"/>
              </a:rPr>
              <a:t>pre-value</a:t>
            </a:r>
          </a:p>
          <a:p>
            <a:pPr algn="ctr"/>
            <a:r>
              <a:rPr lang="en-US" sz="1400" spc="-1" dirty="0">
                <a:solidFill>
                  <a:srgbClr val="000000"/>
                </a:solidFill>
                <a:latin typeface="Arial"/>
                <a:ea typeface="Gulim"/>
              </a:rPr>
              <a:t>referring to previous value before the function was called</a:t>
            </a:r>
            <a:endParaRPr lang="en-US" sz="1400" spc="-1" dirty="0">
              <a:solidFill>
                <a:prstClr val="black"/>
              </a:solidFill>
              <a:latin typeface="Arial"/>
            </a:endParaRPr>
          </a:p>
        </p:txBody>
      </p:sp>
    </p:spTree>
    <p:extLst>
      <p:ext uri="{BB962C8B-B14F-4D97-AF65-F5344CB8AC3E}">
        <p14:creationId xmlns:p14="http://schemas.microsoft.com/office/powerpoint/2010/main" val="11350453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F776-E00C-4BDF-AF8A-4EF3B2E18CF2}"/>
              </a:ext>
            </a:extLst>
          </p:cNvPr>
          <p:cNvSpPr>
            <a:spLocks noGrp="1"/>
          </p:cNvSpPr>
          <p:nvPr>
            <p:ph type="title"/>
          </p:nvPr>
        </p:nvSpPr>
        <p:spPr/>
        <p:txBody>
          <a:bodyPr/>
          <a:lstStyle/>
          <a:p>
            <a:r>
              <a:rPr lang="en-US" dirty="0"/>
              <a:t>Contd.</a:t>
            </a:r>
          </a:p>
        </p:txBody>
      </p:sp>
      <p:sp>
        <p:nvSpPr>
          <p:cNvPr id="3" name="Content Placeholder 2">
            <a:extLst>
              <a:ext uri="{FF2B5EF4-FFF2-40B4-BE49-F238E27FC236}">
                <a16:creationId xmlns:a16="http://schemas.microsoft.com/office/drawing/2014/main" id="{42AD1CB5-15AE-4D8D-A8E2-7128EF786E00}"/>
              </a:ext>
            </a:extLst>
          </p:cNvPr>
          <p:cNvSpPr>
            <a:spLocks noGrp="1"/>
          </p:cNvSpPr>
          <p:nvPr>
            <p:ph idx="1"/>
          </p:nvPr>
        </p:nvSpPr>
        <p:spPr>
          <a:xfrm>
            <a:off x="1066800" y="1904301"/>
            <a:ext cx="10058400" cy="4048443"/>
          </a:xfrm>
        </p:spPr>
        <p:txBody>
          <a:bodyPr>
            <a:normAutofit lnSpcReduction="10000"/>
          </a:bodyPr>
          <a:lstStyle/>
          <a:p>
            <a:r>
              <a:rPr lang="en-US" sz="2000" b="1" dirty="0"/>
              <a:t>Referring to pre and result values</a:t>
            </a:r>
          </a:p>
          <a:p>
            <a:r>
              <a:rPr lang="en-US" sz="2000" b="1" dirty="0"/>
              <a:t>@pre</a:t>
            </a:r>
            <a:r>
              <a:rPr lang="en-US" sz="2000" dirty="0"/>
              <a:t>: denotes the value of a property at the start of an operations</a:t>
            </a:r>
          </a:p>
          <a:p>
            <a:r>
              <a:rPr lang="en-US" sz="2000" b="1" dirty="0"/>
              <a:t>result</a:t>
            </a:r>
            <a:r>
              <a:rPr lang="en-US" sz="2000" dirty="0"/>
              <a:t>: denotes the result of an operation</a:t>
            </a:r>
          </a:p>
          <a:p>
            <a:r>
              <a:rPr lang="en-US" sz="2000" dirty="0"/>
              <a:t>Examples:</a:t>
            </a:r>
          </a:p>
          <a:p>
            <a:pPr marL="0" indent="0">
              <a:lnSpc>
                <a:spcPct val="100000"/>
              </a:lnSpc>
              <a:buNone/>
            </a:pPr>
            <a:r>
              <a:rPr lang="en-US" sz="2400" b="1" strike="noStrike" spc="-1" dirty="0">
                <a:solidFill>
                  <a:srgbClr val="000000"/>
                </a:solidFill>
                <a:latin typeface="Arial"/>
                <a:ea typeface="Gulim"/>
              </a:rPr>
              <a:t>	context</a:t>
            </a:r>
            <a:r>
              <a:rPr lang="en-US" sz="2400" b="0" strike="noStrike" spc="-1" dirty="0">
                <a:solidFill>
                  <a:srgbClr val="000000"/>
                </a:solidFill>
                <a:latin typeface="Arial"/>
                <a:ea typeface="Gulim"/>
              </a:rPr>
              <a:t> Account::</a:t>
            </a:r>
            <a:r>
              <a:rPr lang="en-US" sz="2400" b="0" strike="noStrike" spc="-1" dirty="0" err="1">
                <a:solidFill>
                  <a:srgbClr val="000000"/>
                </a:solidFill>
                <a:latin typeface="Arial"/>
                <a:ea typeface="Gulim"/>
              </a:rPr>
              <a:t>payInterest</a:t>
            </a:r>
            <a:r>
              <a:rPr lang="en-US" sz="2400" b="0" strike="noStrike" spc="-1" dirty="0">
                <a:solidFill>
                  <a:srgbClr val="000000"/>
                </a:solidFill>
                <a:latin typeface="Arial"/>
                <a:ea typeface="Gulim"/>
              </a:rPr>
              <a:t>(rate: Real): </a:t>
            </a:r>
            <a:r>
              <a:rPr lang="en-US" sz="2400" b="1" strike="noStrike" spc="-1" dirty="0">
                <a:solidFill>
                  <a:srgbClr val="000000"/>
                </a:solidFill>
                <a:latin typeface="Arial"/>
                <a:ea typeface="Gulim"/>
              </a:rPr>
              <a:t>void</a:t>
            </a:r>
            <a:endParaRPr lang="en-US" sz="2400" b="0" strike="noStrike" spc="-1" dirty="0">
              <a:latin typeface="Arial"/>
            </a:endParaRPr>
          </a:p>
          <a:p>
            <a:pPr marL="0" indent="0">
              <a:lnSpc>
                <a:spcPct val="100000"/>
              </a:lnSpc>
              <a:buNone/>
            </a:pPr>
            <a:r>
              <a:rPr lang="en-US" sz="2400" spc="-1" dirty="0">
                <a:solidFill>
                  <a:srgbClr val="000000"/>
                </a:solidFill>
                <a:latin typeface="Arial"/>
                <a:ea typeface="Gulim"/>
              </a:rPr>
              <a:t>	</a:t>
            </a:r>
            <a:r>
              <a:rPr lang="en-US" sz="2400" b="1" strike="noStrike" spc="-1" dirty="0">
                <a:solidFill>
                  <a:srgbClr val="000000"/>
                </a:solidFill>
                <a:latin typeface="Arial"/>
                <a:ea typeface="Gulim"/>
              </a:rPr>
              <a:t>post</a:t>
            </a:r>
            <a:r>
              <a:rPr lang="en-US" sz="2400" b="0" strike="noStrike" spc="-1" dirty="0">
                <a:solidFill>
                  <a:srgbClr val="000000"/>
                </a:solidFill>
                <a:latin typeface="Arial"/>
                <a:ea typeface="Gulim"/>
              </a:rPr>
              <a:t>: balance = </a:t>
            </a:r>
            <a:r>
              <a:rPr lang="en-US" sz="2400" b="0" strike="noStrike" spc="-1" dirty="0" err="1">
                <a:solidFill>
                  <a:srgbClr val="000000"/>
                </a:solidFill>
                <a:latin typeface="Arial"/>
                <a:ea typeface="Gulim"/>
              </a:rPr>
              <a:t>balance</a:t>
            </a:r>
            <a:r>
              <a:rPr lang="en-US" sz="2400" b="0" strike="noStrike" spc="-1" dirty="0" err="1">
                <a:solidFill>
                  <a:srgbClr val="0000F4"/>
                </a:solidFill>
                <a:latin typeface="Arial"/>
                <a:ea typeface="Gulim"/>
              </a:rPr>
              <a:t>@pre</a:t>
            </a:r>
            <a:r>
              <a:rPr lang="en-US" sz="2400" b="0" strike="noStrike" spc="-1" dirty="0">
                <a:solidFill>
                  <a:srgbClr val="000000"/>
                </a:solidFill>
                <a:latin typeface="Arial"/>
                <a:ea typeface="Gulim"/>
              </a:rPr>
              <a:t> + </a:t>
            </a:r>
            <a:r>
              <a:rPr lang="en-US" sz="2400" b="0" strike="noStrike" spc="-1" dirty="0" err="1">
                <a:solidFill>
                  <a:srgbClr val="000000"/>
                </a:solidFill>
                <a:latin typeface="Arial"/>
                <a:ea typeface="Gulim"/>
              </a:rPr>
              <a:t>calcInterest</a:t>
            </a:r>
            <a:r>
              <a:rPr lang="en-US" sz="2400" b="0" strike="noStrike" spc="-1" dirty="0" err="1">
                <a:solidFill>
                  <a:srgbClr val="0000F4"/>
                </a:solidFill>
                <a:latin typeface="Arial"/>
                <a:ea typeface="Gulim"/>
              </a:rPr>
              <a:t>@pre</a:t>
            </a:r>
            <a:r>
              <a:rPr lang="en-US" sz="2400" b="0" strike="noStrike" spc="-1" dirty="0">
                <a:solidFill>
                  <a:srgbClr val="000000"/>
                </a:solidFill>
                <a:latin typeface="Arial"/>
                <a:ea typeface="Gulim"/>
              </a:rPr>
              <a:t>(rate)</a:t>
            </a:r>
            <a:endParaRPr lang="en-US" sz="2400" b="0" strike="noStrike" spc="-1" dirty="0">
              <a:latin typeface="Arial"/>
            </a:endParaRPr>
          </a:p>
          <a:p>
            <a:pPr>
              <a:lnSpc>
                <a:spcPct val="100000"/>
              </a:lnSpc>
            </a:pPr>
            <a:endParaRPr lang="en-US" sz="2400" b="0" strike="noStrike" spc="-1" dirty="0">
              <a:latin typeface="Arial"/>
            </a:endParaRPr>
          </a:p>
          <a:p>
            <a:pPr marL="0" indent="0">
              <a:lnSpc>
                <a:spcPct val="100000"/>
              </a:lnSpc>
              <a:buNone/>
            </a:pPr>
            <a:r>
              <a:rPr lang="en-US" sz="2400" b="1" strike="noStrike" spc="-1" dirty="0">
                <a:solidFill>
                  <a:srgbClr val="000000"/>
                </a:solidFill>
                <a:latin typeface="Arial"/>
                <a:ea typeface="Gulim"/>
              </a:rPr>
              <a:t>	context</a:t>
            </a:r>
            <a:r>
              <a:rPr lang="en-US" sz="2400" b="0" strike="noStrike" spc="-1" dirty="0">
                <a:solidFill>
                  <a:srgbClr val="000000"/>
                </a:solidFill>
                <a:latin typeface="Arial"/>
                <a:ea typeface="Gulim"/>
              </a:rPr>
              <a:t> Account::</a:t>
            </a:r>
            <a:r>
              <a:rPr lang="en-US" sz="2400" b="0" strike="noStrike" spc="-1" dirty="0" err="1">
                <a:solidFill>
                  <a:srgbClr val="000000"/>
                </a:solidFill>
                <a:latin typeface="Arial"/>
                <a:ea typeface="Gulim"/>
              </a:rPr>
              <a:t>getBalance</a:t>
            </a:r>
            <a:r>
              <a:rPr lang="en-US" sz="2400" b="0" strike="noStrike" spc="-1" dirty="0">
                <a:solidFill>
                  <a:srgbClr val="000000"/>
                </a:solidFill>
                <a:latin typeface="Arial"/>
                <a:ea typeface="Gulim"/>
              </a:rPr>
              <a:t>(): Integer</a:t>
            </a:r>
            <a:endParaRPr lang="en-US" sz="2400" b="0" strike="noStrike" spc="-1" dirty="0">
              <a:latin typeface="Arial"/>
            </a:endParaRPr>
          </a:p>
          <a:p>
            <a:pPr marL="0" indent="0">
              <a:lnSpc>
                <a:spcPct val="100000"/>
              </a:lnSpc>
              <a:buNone/>
            </a:pPr>
            <a:r>
              <a:rPr lang="en-US" sz="2400" spc="-1" dirty="0">
                <a:solidFill>
                  <a:srgbClr val="000000"/>
                </a:solidFill>
                <a:latin typeface="Arial"/>
                <a:ea typeface="Gulim"/>
              </a:rPr>
              <a:t>	</a:t>
            </a:r>
            <a:r>
              <a:rPr lang="en-US" sz="2400" b="1" strike="noStrike" spc="-1" dirty="0">
                <a:solidFill>
                  <a:srgbClr val="000000"/>
                </a:solidFill>
                <a:latin typeface="Arial"/>
                <a:ea typeface="Gulim"/>
              </a:rPr>
              <a:t>post: </a:t>
            </a:r>
            <a:r>
              <a:rPr lang="en-US" sz="2400" b="0" strike="noStrike" spc="-1" dirty="0">
                <a:solidFill>
                  <a:srgbClr val="0000F4"/>
                </a:solidFill>
                <a:latin typeface="Arial"/>
                <a:ea typeface="Gulim"/>
              </a:rPr>
              <a:t>result</a:t>
            </a:r>
            <a:r>
              <a:rPr lang="en-US" sz="2400" b="0" strike="noStrike" spc="-1" dirty="0">
                <a:solidFill>
                  <a:srgbClr val="000000"/>
                </a:solidFill>
                <a:latin typeface="Arial"/>
                <a:ea typeface="Gulim"/>
              </a:rPr>
              <a:t> = balance</a:t>
            </a:r>
            <a:endParaRPr lang="en-US" sz="2400" b="0" strike="noStrike" spc="-1" dirty="0">
              <a:latin typeface="Arial"/>
            </a:endParaRPr>
          </a:p>
          <a:p>
            <a:endParaRPr lang="en-US" sz="2000" dirty="0"/>
          </a:p>
          <a:p>
            <a:endParaRPr lang="en-US" sz="2000" dirty="0"/>
          </a:p>
        </p:txBody>
      </p:sp>
    </p:spTree>
    <p:extLst>
      <p:ext uri="{BB962C8B-B14F-4D97-AF65-F5344CB8AC3E}">
        <p14:creationId xmlns:p14="http://schemas.microsoft.com/office/powerpoint/2010/main" val="6972232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CCF8B-1A5D-4953-91E2-997C8AC8F75D}"/>
              </a:ext>
            </a:extLst>
          </p:cNvPr>
          <p:cNvSpPr>
            <a:spLocks noGrp="1"/>
          </p:cNvSpPr>
          <p:nvPr>
            <p:ph type="title"/>
          </p:nvPr>
        </p:nvSpPr>
        <p:spPr>
          <a:xfrm>
            <a:off x="1066800" y="642594"/>
            <a:ext cx="10058400" cy="1129736"/>
          </a:xfrm>
        </p:spPr>
        <p:txBody>
          <a:bodyPr/>
          <a:lstStyle/>
          <a:p>
            <a:r>
              <a:rPr lang="en-US" dirty="0"/>
              <a:t>Navigating in OCL Expressions</a:t>
            </a:r>
          </a:p>
        </p:txBody>
      </p:sp>
      <p:sp>
        <p:nvSpPr>
          <p:cNvPr id="3" name="Content Placeholder 2">
            <a:extLst>
              <a:ext uri="{FF2B5EF4-FFF2-40B4-BE49-F238E27FC236}">
                <a16:creationId xmlns:a16="http://schemas.microsoft.com/office/drawing/2014/main" id="{5815E205-6F08-4269-8548-53A6E3D729A6}"/>
              </a:ext>
            </a:extLst>
          </p:cNvPr>
          <p:cNvSpPr>
            <a:spLocks noGrp="1"/>
          </p:cNvSpPr>
          <p:nvPr>
            <p:ph idx="1"/>
          </p:nvPr>
        </p:nvSpPr>
        <p:spPr>
          <a:xfrm>
            <a:off x="1066800" y="1985674"/>
            <a:ext cx="10058400" cy="3849624"/>
          </a:xfrm>
        </p:spPr>
        <p:txBody>
          <a:bodyPr>
            <a:normAutofit/>
          </a:bodyPr>
          <a:lstStyle/>
          <a:p>
            <a:r>
              <a:rPr lang="en-US" sz="2000" dirty="0"/>
              <a:t>Use dot notation to navigate through associations</a:t>
            </a:r>
          </a:p>
          <a:p>
            <a:pPr lvl="1"/>
            <a:r>
              <a:rPr lang="en-US" sz="1800" dirty="0"/>
              <a:t>Direction and multiplicity matter</a:t>
            </a:r>
          </a:p>
          <a:p>
            <a:pPr lvl="1"/>
            <a:r>
              <a:rPr lang="en-US" sz="1800" dirty="0"/>
              <a:t>Use role names or class names</a:t>
            </a:r>
          </a:p>
        </p:txBody>
      </p:sp>
      <p:sp>
        <p:nvSpPr>
          <p:cNvPr id="4" name="CustomShape 4">
            <a:extLst>
              <a:ext uri="{FF2B5EF4-FFF2-40B4-BE49-F238E27FC236}">
                <a16:creationId xmlns:a16="http://schemas.microsoft.com/office/drawing/2014/main" id="{E609B32D-A21C-4816-8AAD-49751916D0B7}"/>
              </a:ext>
            </a:extLst>
          </p:cNvPr>
          <p:cNvSpPr/>
          <p:nvPr/>
        </p:nvSpPr>
        <p:spPr>
          <a:xfrm>
            <a:off x="2364487" y="3089700"/>
            <a:ext cx="6468840" cy="2414808"/>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endParaRPr lang="en-US" b="1" spc="-1" dirty="0">
              <a:solidFill>
                <a:srgbClr val="000000"/>
              </a:solidFill>
              <a:latin typeface="Arial"/>
              <a:ea typeface="Gulim"/>
            </a:endParaRPr>
          </a:p>
          <a:p>
            <a:r>
              <a:rPr lang="en-US" b="1" spc="-1" dirty="0">
                <a:solidFill>
                  <a:srgbClr val="000000"/>
                </a:solidFill>
                <a:latin typeface="Arial"/>
                <a:ea typeface="Gulim"/>
              </a:rPr>
              <a:t>context</a:t>
            </a:r>
            <a:r>
              <a:rPr lang="en-US" spc="-1" dirty="0">
                <a:solidFill>
                  <a:srgbClr val="000000"/>
                </a:solidFill>
                <a:latin typeface="Arial"/>
                <a:ea typeface="Gulim"/>
              </a:rPr>
              <a:t> Account</a:t>
            </a:r>
            <a:endParaRPr lang="en-US" spc="-1" dirty="0">
              <a:solidFill>
                <a:prstClr val="black"/>
              </a:solidFill>
              <a:latin typeface="Arial"/>
            </a:endParaRPr>
          </a:p>
          <a:p>
            <a:r>
              <a:rPr lang="en-US" spc="-1" dirty="0">
                <a:solidFill>
                  <a:srgbClr val="000000"/>
                </a:solidFill>
                <a:latin typeface="Arial"/>
                <a:ea typeface="Gulim"/>
              </a:rPr>
              <a:t>  </a:t>
            </a:r>
            <a:r>
              <a:rPr lang="en-US" b="1" spc="-1" dirty="0">
                <a:solidFill>
                  <a:srgbClr val="000000"/>
                </a:solidFill>
                <a:latin typeface="Arial"/>
                <a:ea typeface="Gulim"/>
              </a:rPr>
              <a:t>inv</a:t>
            </a:r>
            <a:r>
              <a:rPr lang="en-US" spc="-1" dirty="0">
                <a:solidFill>
                  <a:srgbClr val="000000"/>
                </a:solidFill>
                <a:latin typeface="Arial"/>
                <a:ea typeface="Gulim"/>
              </a:rPr>
              <a:t>: </a:t>
            </a:r>
            <a:r>
              <a:rPr lang="en-US" spc="-1" dirty="0" err="1">
                <a:solidFill>
                  <a:srgbClr val="000000"/>
                </a:solidFill>
                <a:latin typeface="Arial"/>
                <a:ea typeface="Gulim"/>
              </a:rPr>
              <a:t>self.owner</a:t>
            </a:r>
            <a:r>
              <a:rPr lang="en-US" spc="-1" dirty="0">
                <a:solidFill>
                  <a:srgbClr val="000000"/>
                </a:solidFill>
                <a:latin typeface="Arial"/>
                <a:ea typeface="Gulim"/>
              </a:rPr>
              <a:t> …      -- evaluate to a single Customer</a:t>
            </a:r>
            <a:endParaRPr lang="en-US" spc="-1" dirty="0">
              <a:solidFill>
                <a:prstClr val="black"/>
              </a:solidFill>
              <a:latin typeface="Arial"/>
            </a:endParaRPr>
          </a:p>
          <a:p>
            <a:r>
              <a:rPr lang="en-US" spc="-1" dirty="0">
                <a:solidFill>
                  <a:srgbClr val="000000"/>
                </a:solidFill>
                <a:latin typeface="Arial"/>
                <a:ea typeface="Gulim"/>
              </a:rPr>
              <a:t>         </a:t>
            </a:r>
            <a:r>
              <a:rPr lang="en-US" spc="-1" dirty="0" err="1">
                <a:solidFill>
                  <a:srgbClr val="000000"/>
                </a:solidFill>
                <a:latin typeface="Arial"/>
                <a:ea typeface="Gulim"/>
              </a:rPr>
              <a:t>self.customer</a:t>
            </a:r>
            <a:r>
              <a:rPr lang="en-US" spc="-1" dirty="0">
                <a:solidFill>
                  <a:srgbClr val="000000"/>
                </a:solidFill>
                <a:latin typeface="Arial"/>
                <a:ea typeface="Gulim"/>
              </a:rPr>
              <a:t> …</a:t>
            </a:r>
            <a:endParaRPr lang="en-US" spc="-1" dirty="0">
              <a:solidFill>
                <a:prstClr val="black"/>
              </a:solidFill>
              <a:latin typeface="Arial"/>
            </a:endParaRPr>
          </a:p>
          <a:p>
            <a:endParaRPr lang="en-US" spc="-1" dirty="0">
              <a:solidFill>
                <a:prstClr val="black"/>
              </a:solidFill>
              <a:latin typeface="Arial"/>
            </a:endParaRPr>
          </a:p>
          <a:p>
            <a:endParaRPr lang="en-US" spc="-1" dirty="0">
              <a:solidFill>
                <a:prstClr val="black"/>
              </a:solidFill>
              <a:latin typeface="Arial"/>
            </a:endParaRPr>
          </a:p>
          <a:p>
            <a:endParaRPr lang="en-US" spc="-1" dirty="0">
              <a:solidFill>
                <a:prstClr val="black"/>
              </a:solidFill>
              <a:latin typeface="Arial"/>
            </a:endParaRPr>
          </a:p>
          <a:p>
            <a:r>
              <a:rPr lang="en-US" b="1" spc="-1" dirty="0">
                <a:solidFill>
                  <a:srgbClr val="000000"/>
                </a:solidFill>
                <a:latin typeface="Arial"/>
                <a:ea typeface="Gulim"/>
              </a:rPr>
              <a:t>context</a:t>
            </a:r>
            <a:r>
              <a:rPr lang="en-US" spc="-1" dirty="0">
                <a:solidFill>
                  <a:srgbClr val="000000"/>
                </a:solidFill>
                <a:latin typeface="Arial"/>
                <a:ea typeface="Gulim"/>
              </a:rPr>
              <a:t> Customer</a:t>
            </a:r>
            <a:endParaRPr lang="en-US" spc="-1" dirty="0">
              <a:solidFill>
                <a:prstClr val="black"/>
              </a:solidFill>
              <a:latin typeface="Arial"/>
            </a:endParaRPr>
          </a:p>
          <a:p>
            <a:r>
              <a:rPr lang="en-US" spc="-1" dirty="0">
                <a:solidFill>
                  <a:srgbClr val="000000"/>
                </a:solidFill>
                <a:latin typeface="Arial"/>
                <a:ea typeface="Gulim"/>
              </a:rPr>
              <a:t>  </a:t>
            </a:r>
            <a:r>
              <a:rPr lang="en-US" b="1" spc="-1" dirty="0">
                <a:solidFill>
                  <a:srgbClr val="000000"/>
                </a:solidFill>
                <a:latin typeface="Arial"/>
                <a:ea typeface="Gulim"/>
              </a:rPr>
              <a:t>inv</a:t>
            </a:r>
            <a:r>
              <a:rPr lang="en-US" spc="-1" dirty="0">
                <a:solidFill>
                  <a:srgbClr val="000000"/>
                </a:solidFill>
                <a:latin typeface="Arial"/>
                <a:ea typeface="Gulim"/>
              </a:rPr>
              <a:t>: </a:t>
            </a:r>
            <a:r>
              <a:rPr lang="en-US" spc="-1" dirty="0" err="1">
                <a:solidFill>
                  <a:srgbClr val="000000"/>
                </a:solidFill>
                <a:latin typeface="Arial"/>
                <a:ea typeface="Gulim"/>
              </a:rPr>
              <a:t>self.accounts</a:t>
            </a:r>
            <a:r>
              <a:rPr lang="en-US" spc="-1" dirty="0">
                <a:solidFill>
                  <a:srgbClr val="000000"/>
                </a:solidFill>
                <a:latin typeface="Arial"/>
                <a:ea typeface="Gulim"/>
              </a:rPr>
              <a:t>-&gt;size() …  -- evaluate to a collection</a:t>
            </a:r>
            <a:endParaRPr lang="en-US" spc="-1" dirty="0">
              <a:solidFill>
                <a:prstClr val="black"/>
              </a:solidFill>
              <a:latin typeface="Arial"/>
            </a:endParaRPr>
          </a:p>
          <a:p>
            <a:r>
              <a:rPr lang="en-US" spc="-1" dirty="0">
                <a:solidFill>
                  <a:srgbClr val="000000"/>
                </a:solidFill>
                <a:latin typeface="Arial"/>
                <a:ea typeface="Gulim"/>
              </a:rPr>
              <a:t>         </a:t>
            </a:r>
            <a:r>
              <a:rPr lang="en-US" spc="-1" dirty="0" err="1">
                <a:solidFill>
                  <a:srgbClr val="000000"/>
                </a:solidFill>
                <a:latin typeface="Arial"/>
                <a:ea typeface="Gulim"/>
              </a:rPr>
              <a:t>self.account</a:t>
            </a:r>
            <a:r>
              <a:rPr lang="en-US" spc="-1" dirty="0">
                <a:solidFill>
                  <a:srgbClr val="000000"/>
                </a:solidFill>
                <a:latin typeface="Arial"/>
                <a:ea typeface="Gulim"/>
              </a:rPr>
              <a:t> …                -- of accounts</a:t>
            </a:r>
            <a:endParaRPr lang="en-US" spc="-1" dirty="0">
              <a:solidFill>
                <a:prstClr val="black"/>
              </a:solidFill>
              <a:latin typeface="Arial"/>
            </a:endParaRPr>
          </a:p>
        </p:txBody>
      </p:sp>
      <p:sp>
        <p:nvSpPr>
          <p:cNvPr id="17" name="CustomShape 17">
            <a:extLst>
              <a:ext uri="{FF2B5EF4-FFF2-40B4-BE49-F238E27FC236}">
                <a16:creationId xmlns:a16="http://schemas.microsoft.com/office/drawing/2014/main" id="{BDFDAE6A-E9B0-4E55-8F27-5600F87CEEF4}"/>
              </a:ext>
            </a:extLst>
          </p:cNvPr>
          <p:cNvSpPr/>
          <p:nvPr/>
        </p:nvSpPr>
        <p:spPr>
          <a:xfrm>
            <a:off x="4161978" y="4371921"/>
            <a:ext cx="2062654" cy="594362"/>
          </a:xfrm>
          <a:prstGeom prst="wedgeRoundRectCallout">
            <a:avLst>
              <a:gd name="adj1" fmla="val -35515"/>
              <a:gd name="adj2" fmla="val 114509"/>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pPr algn="ctr"/>
            <a:r>
              <a:rPr lang="en-US" sz="1400" spc="-1" dirty="0">
                <a:solidFill>
                  <a:srgbClr val="000000"/>
                </a:solidFill>
                <a:latin typeface="Arial"/>
                <a:ea typeface="Gulim"/>
              </a:rPr>
              <a:t>Arrow notation for collection operations</a:t>
            </a:r>
            <a:endParaRPr lang="en-US" sz="1400" spc="-1" dirty="0">
              <a:solidFill>
                <a:prstClr val="black"/>
              </a:solidFill>
              <a:latin typeface="Arial"/>
            </a:endParaRPr>
          </a:p>
        </p:txBody>
      </p:sp>
      <p:sp>
        <p:nvSpPr>
          <p:cNvPr id="18" name="CustomShape 18">
            <a:extLst>
              <a:ext uri="{FF2B5EF4-FFF2-40B4-BE49-F238E27FC236}">
                <a16:creationId xmlns:a16="http://schemas.microsoft.com/office/drawing/2014/main" id="{D592CCAE-41D7-437F-B68B-11408AC9C88E}"/>
              </a:ext>
            </a:extLst>
          </p:cNvPr>
          <p:cNvSpPr/>
          <p:nvPr/>
        </p:nvSpPr>
        <p:spPr>
          <a:xfrm>
            <a:off x="8223186" y="5669186"/>
            <a:ext cx="2134870" cy="587482"/>
          </a:xfrm>
          <a:prstGeom prst="wedgeRoundRectCallout">
            <a:avLst>
              <a:gd name="adj1" fmla="val -49148"/>
              <a:gd name="adj2" fmla="val -91578"/>
              <a:gd name="adj3" fmla="val 16667"/>
            </a:avLst>
          </a:prstGeom>
          <a:solidFill>
            <a:srgbClr val="FFFF99"/>
          </a:solidFill>
          <a:ln w="9360">
            <a:solidFill>
              <a:srgbClr val="000000"/>
            </a:solidFill>
            <a:round/>
          </a:ln>
        </p:spPr>
        <p:style>
          <a:lnRef idx="0">
            <a:scrgbClr r="0" g="0" b="0"/>
          </a:lnRef>
          <a:fillRef idx="0">
            <a:scrgbClr r="0" g="0" b="0"/>
          </a:fillRef>
          <a:effectRef idx="0">
            <a:scrgbClr r="0" g="0" b="0"/>
          </a:effectRef>
          <a:fontRef idx="minor"/>
        </p:style>
        <p:txBody>
          <a:bodyPr lIns="90000" tIns="46800" rIns="90000" bIns="46800"/>
          <a:lstStyle/>
          <a:p>
            <a:pPr algn="ctr"/>
            <a:r>
              <a:rPr lang="en-US" sz="1400" spc="-1" dirty="0">
                <a:solidFill>
                  <a:srgbClr val="000000"/>
                </a:solidFill>
                <a:latin typeface="Arial"/>
                <a:ea typeface="Gulim"/>
              </a:rPr>
              <a:t>single line (--) or multiple lines (/* … */)</a:t>
            </a:r>
            <a:endParaRPr lang="en-US" sz="1400" spc="-1" dirty="0">
              <a:solidFill>
                <a:prstClr val="black"/>
              </a:solidFill>
              <a:latin typeface="Arial"/>
            </a:endParaRPr>
          </a:p>
        </p:txBody>
      </p:sp>
      <p:grpSp>
        <p:nvGrpSpPr>
          <p:cNvPr id="25" name="Group 24">
            <a:extLst>
              <a:ext uri="{FF2B5EF4-FFF2-40B4-BE49-F238E27FC236}">
                <a16:creationId xmlns:a16="http://schemas.microsoft.com/office/drawing/2014/main" id="{AFB5BDEE-5A38-4B42-8ED5-54015B5E4566}"/>
              </a:ext>
            </a:extLst>
          </p:cNvPr>
          <p:cNvGrpSpPr/>
          <p:nvPr/>
        </p:nvGrpSpPr>
        <p:grpSpPr>
          <a:xfrm>
            <a:off x="6408767" y="2394962"/>
            <a:ext cx="3772620" cy="509864"/>
            <a:chOff x="6408767" y="2394962"/>
            <a:chExt cx="3772620" cy="509864"/>
          </a:xfrm>
        </p:grpSpPr>
        <p:grpSp>
          <p:nvGrpSpPr>
            <p:cNvPr id="5" name="Group 5">
              <a:extLst>
                <a:ext uri="{FF2B5EF4-FFF2-40B4-BE49-F238E27FC236}">
                  <a16:creationId xmlns:a16="http://schemas.microsoft.com/office/drawing/2014/main" id="{49BAB2F6-EB31-4812-9498-34F99C27F6CB}"/>
                </a:ext>
              </a:extLst>
            </p:cNvPr>
            <p:cNvGrpSpPr/>
            <p:nvPr/>
          </p:nvGrpSpPr>
          <p:grpSpPr>
            <a:xfrm>
              <a:off x="6408767" y="2394962"/>
              <a:ext cx="3772620" cy="509864"/>
              <a:chOff x="2240820" y="3089325"/>
              <a:chExt cx="3772620" cy="509864"/>
            </a:xfrm>
          </p:grpSpPr>
          <p:grpSp>
            <p:nvGrpSpPr>
              <p:cNvPr id="6" name="Group 6">
                <a:extLst>
                  <a:ext uri="{FF2B5EF4-FFF2-40B4-BE49-F238E27FC236}">
                    <a16:creationId xmlns:a16="http://schemas.microsoft.com/office/drawing/2014/main" id="{6DAD76BF-E0A6-4A58-8862-DD8A7CEFF364}"/>
                  </a:ext>
                </a:extLst>
              </p:cNvPr>
              <p:cNvGrpSpPr/>
              <p:nvPr/>
            </p:nvGrpSpPr>
            <p:grpSpPr>
              <a:xfrm>
                <a:off x="4919040" y="3202200"/>
                <a:ext cx="1094400" cy="365760"/>
                <a:chOff x="4919040" y="3202200"/>
                <a:chExt cx="1094400" cy="365760"/>
              </a:xfrm>
            </p:grpSpPr>
            <p:sp>
              <p:nvSpPr>
                <p:cNvPr id="15" name="CustomShape 7">
                  <a:extLst>
                    <a:ext uri="{FF2B5EF4-FFF2-40B4-BE49-F238E27FC236}">
                      <a16:creationId xmlns:a16="http://schemas.microsoft.com/office/drawing/2014/main" id="{13C1B790-6F29-42E8-8DE2-377CDC540BD7}"/>
                    </a:ext>
                  </a:extLst>
                </p:cNvPr>
                <p:cNvSpPr/>
                <p:nvPr/>
              </p:nvSpPr>
              <p:spPr>
                <a:xfrm>
                  <a:off x="4919040" y="320220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16" name="CustomShape 8">
                  <a:extLst>
                    <a:ext uri="{FF2B5EF4-FFF2-40B4-BE49-F238E27FC236}">
                      <a16:creationId xmlns:a16="http://schemas.microsoft.com/office/drawing/2014/main" id="{1E554D5D-885A-4D2D-9723-88590977D008}"/>
                    </a:ext>
                  </a:extLst>
                </p:cNvPr>
                <p:cNvSpPr/>
                <p:nvPr/>
              </p:nvSpPr>
              <p:spPr>
                <a:xfrm>
                  <a:off x="5051160" y="3268800"/>
                  <a:ext cx="83016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Customer</a:t>
                  </a:r>
                  <a:endParaRPr lang="en-US" sz="1600" spc="-1" dirty="0">
                    <a:solidFill>
                      <a:prstClr val="black"/>
                    </a:solidFill>
                    <a:latin typeface="Arial"/>
                  </a:endParaRPr>
                </a:p>
              </p:txBody>
            </p:sp>
          </p:grpSp>
          <p:grpSp>
            <p:nvGrpSpPr>
              <p:cNvPr id="7" name="Group 9">
                <a:extLst>
                  <a:ext uri="{FF2B5EF4-FFF2-40B4-BE49-F238E27FC236}">
                    <a16:creationId xmlns:a16="http://schemas.microsoft.com/office/drawing/2014/main" id="{37493C0D-7961-4DF7-9C04-F21690E54A77}"/>
                  </a:ext>
                </a:extLst>
              </p:cNvPr>
              <p:cNvGrpSpPr/>
              <p:nvPr/>
            </p:nvGrpSpPr>
            <p:grpSpPr>
              <a:xfrm>
                <a:off x="2240820" y="3206880"/>
                <a:ext cx="1094400" cy="365760"/>
                <a:chOff x="2240820" y="3206880"/>
                <a:chExt cx="1094400" cy="365760"/>
              </a:xfrm>
            </p:grpSpPr>
            <p:sp>
              <p:nvSpPr>
                <p:cNvPr id="13" name="CustomShape 10">
                  <a:extLst>
                    <a:ext uri="{FF2B5EF4-FFF2-40B4-BE49-F238E27FC236}">
                      <a16:creationId xmlns:a16="http://schemas.microsoft.com/office/drawing/2014/main" id="{3F370F30-6DE6-4F02-A2A4-15A033C72DAD}"/>
                    </a:ext>
                  </a:extLst>
                </p:cNvPr>
                <p:cNvSpPr/>
                <p:nvPr/>
              </p:nvSpPr>
              <p:spPr>
                <a:xfrm>
                  <a:off x="2240820" y="320688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14" name="CustomShape 11">
                  <a:extLst>
                    <a:ext uri="{FF2B5EF4-FFF2-40B4-BE49-F238E27FC236}">
                      <a16:creationId xmlns:a16="http://schemas.microsoft.com/office/drawing/2014/main" id="{4461DD2F-0110-4B09-AFFE-5121E6E1102E}"/>
                    </a:ext>
                  </a:extLst>
                </p:cNvPr>
                <p:cNvSpPr/>
                <p:nvPr/>
              </p:nvSpPr>
              <p:spPr>
                <a:xfrm>
                  <a:off x="2443961" y="3268800"/>
                  <a:ext cx="70992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Account</a:t>
                  </a:r>
                  <a:endParaRPr lang="en-US" sz="1600" spc="-1" dirty="0">
                    <a:solidFill>
                      <a:prstClr val="black"/>
                    </a:solidFill>
                    <a:latin typeface="Arial"/>
                  </a:endParaRPr>
                </a:p>
              </p:txBody>
            </p:sp>
          </p:grpSp>
          <p:sp>
            <p:nvSpPr>
              <p:cNvPr id="9" name="CustomShape 13">
                <a:extLst>
                  <a:ext uri="{FF2B5EF4-FFF2-40B4-BE49-F238E27FC236}">
                    <a16:creationId xmlns:a16="http://schemas.microsoft.com/office/drawing/2014/main" id="{5605E147-2F49-407A-B5E1-E36519E6C9ED}"/>
                  </a:ext>
                </a:extLst>
              </p:cNvPr>
              <p:cNvSpPr/>
              <p:nvPr/>
            </p:nvSpPr>
            <p:spPr>
              <a:xfrm>
                <a:off x="3375180" y="3089325"/>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0..*</a:t>
                </a:r>
                <a:endParaRPr lang="en-US" sz="1600" spc="-1" dirty="0">
                  <a:solidFill>
                    <a:prstClr val="black"/>
                  </a:solidFill>
                  <a:latin typeface="Arial"/>
                </a:endParaRPr>
              </a:p>
            </p:txBody>
          </p:sp>
          <p:sp>
            <p:nvSpPr>
              <p:cNvPr id="10" name="CustomShape 14">
                <a:extLst>
                  <a:ext uri="{FF2B5EF4-FFF2-40B4-BE49-F238E27FC236}">
                    <a16:creationId xmlns:a16="http://schemas.microsoft.com/office/drawing/2014/main" id="{4321A39E-4FA2-4842-A59A-4467061759AB}"/>
                  </a:ext>
                </a:extLst>
              </p:cNvPr>
              <p:cNvSpPr/>
              <p:nvPr/>
            </p:nvSpPr>
            <p:spPr>
              <a:xfrm>
                <a:off x="4797569" y="3386789"/>
                <a:ext cx="98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11" name="CustomShape 15">
                <a:extLst>
                  <a:ext uri="{FF2B5EF4-FFF2-40B4-BE49-F238E27FC236}">
                    <a16:creationId xmlns:a16="http://schemas.microsoft.com/office/drawing/2014/main" id="{21D04C89-3031-440C-AFD7-603E722F439D}"/>
                  </a:ext>
                </a:extLst>
              </p:cNvPr>
              <p:cNvSpPr/>
              <p:nvPr/>
            </p:nvSpPr>
            <p:spPr>
              <a:xfrm>
                <a:off x="3339199" y="3355560"/>
                <a:ext cx="7160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accounts</a:t>
                </a:r>
                <a:endParaRPr lang="en-US" sz="1600" spc="-1" dirty="0">
                  <a:solidFill>
                    <a:prstClr val="black"/>
                  </a:solidFill>
                  <a:latin typeface="Arial"/>
                </a:endParaRPr>
              </a:p>
            </p:txBody>
          </p:sp>
          <p:sp>
            <p:nvSpPr>
              <p:cNvPr id="12" name="CustomShape 16">
                <a:extLst>
                  <a:ext uri="{FF2B5EF4-FFF2-40B4-BE49-F238E27FC236}">
                    <a16:creationId xmlns:a16="http://schemas.microsoft.com/office/drawing/2014/main" id="{17A8815E-5BAE-4C7B-96BD-768244FB0498}"/>
                  </a:ext>
                </a:extLst>
              </p:cNvPr>
              <p:cNvSpPr/>
              <p:nvPr/>
            </p:nvSpPr>
            <p:spPr>
              <a:xfrm>
                <a:off x="4326077" y="3096394"/>
                <a:ext cx="4842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owner</a:t>
                </a:r>
                <a:endParaRPr lang="en-US" sz="1600" spc="-1" dirty="0">
                  <a:solidFill>
                    <a:prstClr val="black"/>
                  </a:solidFill>
                  <a:latin typeface="Arial"/>
                </a:endParaRPr>
              </a:p>
            </p:txBody>
          </p:sp>
        </p:grpSp>
        <p:cxnSp>
          <p:nvCxnSpPr>
            <p:cNvPr id="20" name="Straight Arrow Connector 19">
              <a:extLst>
                <a:ext uri="{FF2B5EF4-FFF2-40B4-BE49-F238E27FC236}">
                  <a16:creationId xmlns:a16="http://schemas.microsoft.com/office/drawing/2014/main" id="{DD47C391-D33C-4685-9EB6-AD8E9209771B}"/>
                </a:ext>
              </a:extLst>
            </p:cNvPr>
            <p:cNvCxnSpPr>
              <a:cxnSpLocks/>
            </p:cNvCxnSpPr>
            <p:nvPr/>
          </p:nvCxnSpPr>
          <p:spPr>
            <a:xfrm flipV="1">
              <a:off x="7503167" y="2665110"/>
              <a:ext cx="1583820" cy="468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0642840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BDC5-7CA2-4CC2-8EDD-0068A755AA36}"/>
              </a:ext>
            </a:extLst>
          </p:cNvPr>
          <p:cNvSpPr>
            <a:spLocks noGrp="1"/>
          </p:cNvSpPr>
          <p:nvPr>
            <p:ph type="title"/>
          </p:nvPr>
        </p:nvSpPr>
        <p:spPr/>
        <p:txBody>
          <a:bodyPr/>
          <a:lstStyle/>
          <a:p>
            <a:r>
              <a:rPr lang="en-US" dirty="0"/>
              <a:t>Types in OCL</a:t>
            </a:r>
          </a:p>
        </p:txBody>
      </p:sp>
      <p:sp>
        <p:nvSpPr>
          <p:cNvPr id="3" name="Content Placeholder 2">
            <a:extLst>
              <a:ext uri="{FF2B5EF4-FFF2-40B4-BE49-F238E27FC236}">
                <a16:creationId xmlns:a16="http://schemas.microsoft.com/office/drawing/2014/main" id="{A6B995C2-FDC4-48CB-ACA3-0A146E42D22D}"/>
              </a:ext>
            </a:extLst>
          </p:cNvPr>
          <p:cNvSpPr>
            <a:spLocks noGrp="1"/>
          </p:cNvSpPr>
          <p:nvPr>
            <p:ph idx="1"/>
          </p:nvPr>
        </p:nvSpPr>
        <p:spPr/>
        <p:txBody>
          <a:bodyPr>
            <a:normAutofit/>
          </a:bodyPr>
          <a:lstStyle/>
          <a:p>
            <a:r>
              <a:rPr lang="en-US" sz="2400" b="1" dirty="0"/>
              <a:t>Two different kinds</a:t>
            </a:r>
          </a:p>
          <a:p>
            <a:pPr lvl="1"/>
            <a:r>
              <a:rPr lang="en-US" sz="2000" dirty="0"/>
              <a:t>Predefined types (as defined in standard library)</a:t>
            </a:r>
          </a:p>
          <a:p>
            <a:pPr lvl="2"/>
            <a:r>
              <a:rPr lang="en-US" sz="2000" dirty="0"/>
              <a:t>Basic types: Integer, Real, String, Boolean</a:t>
            </a:r>
          </a:p>
          <a:p>
            <a:pPr lvl="2"/>
            <a:r>
              <a:rPr lang="en-US" sz="2000" dirty="0"/>
              <a:t>Collection types: Set, </a:t>
            </a:r>
            <a:r>
              <a:rPr lang="en-US" sz="2000" dirty="0" err="1"/>
              <a:t>OrderedSet</a:t>
            </a:r>
            <a:r>
              <a:rPr lang="en-US" sz="2000" dirty="0"/>
              <a:t>, Bag, Sequence</a:t>
            </a:r>
          </a:p>
          <a:p>
            <a:pPr lvl="1"/>
            <a:r>
              <a:rPr lang="en-US" sz="2000" dirty="0"/>
              <a:t>User-defined types: classes, interfaces, and enumerations.</a:t>
            </a:r>
          </a:p>
          <a:p>
            <a:endParaRPr lang="en-US" sz="2400" dirty="0"/>
          </a:p>
        </p:txBody>
      </p:sp>
    </p:spTree>
    <p:extLst>
      <p:ext uri="{BB962C8B-B14F-4D97-AF65-F5344CB8AC3E}">
        <p14:creationId xmlns:p14="http://schemas.microsoft.com/office/powerpoint/2010/main" val="3859826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F53B-7B4B-4B41-B16E-6A9DB266A667}"/>
              </a:ext>
            </a:extLst>
          </p:cNvPr>
          <p:cNvSpPr>
            <a:spLocks noGrp="1"/>
          </p:cNvSpPr>
          <p:nvPr>
            <p:ph type="title"/>
          </p:nvPr>
        </p:nvSpPr>
        <p:spPr/>
        <p:txBody>
          <a:bodyPr/>
          <a:lstStyle/>
          <a:p>
            <a:r>
              <a:rPr lang="en-US" dirty="0"/>
              <a:t>Pre-Defined: Basic Values</a:t>
            </a:r>
          </a:p>
        </p:txBody>
      </p:sp>
      <p:sp>
        <p:nvSpPr>
          <p:cNvPr id="3" name="Content Placeholder 2">
            <a:extLst>
              <a:ext uri="{FF2B5EF4-FFF2-40B4-BE49-F238E27FC236}">
                <a16:creationId xmlns:a16="http://schemas.microsoft.com/office/drawing/2014/main" id="{422C97E3-9C7A-4D58-BECA-C42E522538E8}"/>
              </a:ext>
            </a:extLst>
          </p:cNvPr>
          <p:cNvSpPr>
            <a:spLocks noGrp="1"/>
          </p:cNvSpPr>
          <p:nvPr>
            <p:ph idx="1"/>
          </p:nvPr>
        </p:nvSpPr>
        <p:spPr/>
        <p:txBody>
          <a:bodyPr/>
          <a:lstStyle/>
          <a:p>
            <a:r>
              <a:rPr lang="en-US" sz="2800" b="0" strike="noStrike" spc="-1" dirty="0">
                <a:solidFill>
                  <a:srgbClr val="000000"/>
                </a:solidFill>
                <a:latin typeface="Arial"/>
                <a:ea typeface="Gulim"/>
              </a:rPr>
              <a:t>Several built-in types and operations</a:t>
            </a:r>
            <a:endParaRPr lang="en-US" sz="2800" b="0" strike="noStrike" spc="-1" dirty="0">
              <a:latin typeface="Arial"/>
            </a:endParaRPr>
          </a:p>
          <a:p>
            <a:endParaRPr lang="en-US" dirty="0"/>
          </a:p>
        </p:txBody>
      </p:sp>
      <p:graphicFrame>
        <p:nvGraphicFramePr>
          <p:cNvPr id="4" name="Table 3">
            <a:extLst>
              <a:ext uri="{FF2B5EF4-FFF2-40B4-BE49-F238E27FC236}">
                <a16:creationId xmlns:a16="http://schemas.microsoft.com/office/drawing/2014/main" id="{41BF0DAC-8664-4218-B3B1-6096782BABF9}"/>
              </a:ext>
            </a:extLst>
          </p:cNvPr>
          <p:cNvGraphicFramePr/>
          <p:nvPr>
            <p:extLst>
              <p:ext uri="{D42A27DB-BD31-4B8C-83A1-F6EECF244321}">
                <p14:modId xmlns:p14="http://schemas.microsoft.com/office/powerpoint/2010/main" val="1353351145"/>
              </p:ext>
            </p:extLst>
          </p:nvPr>
        </p:nvGraphicFramePr>
        <p:xfrm>
          <a:off x="2075628" y="2921040"/>
          <a:ext cx="7254360" cy="3031704"/>
        </p:xfrm>
        <a:graphic>
          <a:graphicData uri="http://schemas.openxmlformats.org/drawingml/2006/table">
            <a:tbl>
              <a:tblPr/>
              <a:tblGrid>
                <a:gridCol w="1269720">
                  <a:extLst>
                    <a:ext uri="{9D8B030D-6E8A-4147-A177-3AD203B41FA5}">
                      <a16:colId xmlns:a16="http://schemas.microsoft.com/office/drawing/2014/main" val="20000"/>
                    </a:ext>
                  </a:extLst>
                </a:gridCol>
                <a:gridCol w="1896120">
                  <a:extLst>
                    <a:ext uri="{9D8B030D-6E8A-4147-A177-3AD203B41FA5}">
                      <a16:colId xmlns:a16="http://schemas.microsoft.com/office/drawing/2014/main" val="20001"/>
                    </a:ext>
                  </a:extLst>
                </a:gridCol>
                <a:gridCol w="4088520">
                  <a:extLst>
                    <a:ext uri="{9D8B030D-6E8A-4147-A177-3AD203B41FA5}">
                      <a16:colId xmlns:a16="http://schemas.microsoft.com/office/drawing/2014/main" val="20002"/>
                    </a:ext>
                  </a:extLst>
                </a:gridCol>
              </a:tblGrid>
              <a:tr h="354960">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1" strike="noStrike" spc="-1" dirty="0">
                          <a:solidFill>
                            <a:srgbClr val="000000"/>
                          </a:solidFill>
                          <a:latin typeface="Arial"/>
                          <a:ea typeface="바탕"/>
                        </a:rPr>
                        <a:t>Type</a:t>
                      </a:r>
                      <a:endParaRPr lang="en-US" sz="2000" b="0" strike="noStrike" spc="-1" dirty="0">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1" strike="noStrike" spc="-1">
                          <a:solidFill>
                            <a:srgbClr val="000000"/>
                          </a:solidFill>
                          <a:latin typeface="Arial"/>
                          <a:ea typeface="바탕"/>
                        </a:rPr>
                        <a:t>Values</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1" strike="noStrike" spc="-1">
                          <a:solidFill>
                            <a:srgbClr val="000000"/>
                          </a:solidFill>
                          <a:latin typeface="Arial"/>
                          <a:ea typeface="바탕"/>
                        </a:rPr>
                        <a:t>Operations</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0"/>
                  </a:ext>
                </a:extLst>
              </a:tr>
              <a:tr h="642600">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dirty="0">
                          <a:solidFill>
                            <a:srgbClr val="000000"/>
                          </a:solidFill>
                          <a:latin typeface="Arial"/>
                          <a:ea typeface="바탕"/>
                        </a:rPr>
                        <a:t>Boolean</a:t>
                      </a:r>
                      <a:endParaRPr lang="en-US" sz="2000" b="0" strike="noStrike" spc="-1" dirty="0">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false, true</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or, and, xor, not, =, &lt;&gt;, implies</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64480">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Integer</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-10, 0, 10, …</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 &lt;&gt;, &lt;, &gt;, &lt;=, &gt;=, +, -, *, /, mod(), div(), abs(), max(), min(), round(), floor()</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87080">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Real</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-1.5, 3.14, …</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vMerge="1">
                  <a:txBody>
                    <a:bodyPr/>
                    <a:lstStyle/>
                    <a:p>
                      <a:endParaRPr lang="en-US"/>
                    </a:p>
                  </a:txBody>
                  <a:tcPr>
                    <a:solidFill>
                      <a:srgbClr val="729FCF"/>
                    </a:solidFill>
                  </a:tcPr>
                </a:tc>
                <a:extLst>
                  <a:ext uri="{0D108BD9-81ED-4DB2-BD59-A6C34878D82A}">
                    <a16:rowId xmlns:a16="http://schemas.microsoft.com/office/drawing/2014/main" val="10003"/>
                  </a:ext>
                </a:extLst>
              </a:tr>
              <a:tr h="962640">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String</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a:solidFill>
                            <a:srgbClr val="000000"/>
                          </a:solidFill>
                          <a:latin typeface="Arial"/>
                          <a:ea typeface="바탕"/>
                        </a:rPr>
                        <a:t>‘Carmen’</a:t>
                      </a:r>
                      <a:endParaRPr lang="en-US" sz="2000" b="0" strike="noStrike" spc="-1">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a:lnSpc>
                          <a:spcPct val="93000"/>
                        </a:lnSpc>
                      </a:pPr>
                      <a:r>
                        <a:rPr lang="en-US" sz="2000" b="0" strike="noStrike" spc="-1" dirty="0">
                          <a:solidFill>
                            <a:srgbClr val="000000"/>
                          </a:solidFill>
                          <a:latin typeface="Arial"/>
                          <a:ea typeface="바탕"/>
                        </a:rPr>
                        <a:t>=, &lt;&gt;, </a:t>
                      </a:r>
                      <a:r>
                        <a:rPr lang="en-US" sz="2000" b="0" strike="noStrike" spc="-1" dirty="0" err="1">
                          <a:solidFill>
                            <a:srgbClr val="000000"/>
                          </a:solidFill>
                          <a:latin typeface="Arial"/>
                          <a:ea typeface="바탕"/>
                        </a:rPr>
                        <a:t>concat</a:t>
                      </a:r>
                      <a:r>
                        <a:rPr lang="en-US" sz="2000" b="0" strike="noStrike" spc="-1" dirty="0">
                          <a:solidFill>
                            <a:srgbClr val="000000"/>
                          </a:solidFill>
                          <a:latin typeface="Arial"/>
                          <a:ea typeface="바탕"/>
                        </a:rPr>
                        <a:t>(), size(), </a:t>
                      </a:r>
                      <a:r>
                        <a:rPr lang="en-US" sz="2000" b="0" strike="noStrike" spc="-1" dirty="0" err="1">
                          <a:solidFill>
                            <a:srgbClr val="000000"/>
                          </a:solidFill>
                          <a:latin typeface="Arial"/>
                          <a:ea typeface="바탕"/>
                        </a:rPr>
                        <a:t>toLower</a:t>
                      </a:r>
                      <a:r>
                        <a:rPr lang="en-US" sz="2000" b="0" strike="noStrike" spc="-1" dirty="0">
                          <a:solidFill>
                            <a:srgbClr val="000000"/>
                          </a:solidFill>
                          <a:latin typeface="Arial"/>
                          <a:ea typeface="바탕"/>
                        </a:rPr>
                        <a:t>(), </a:t>
                      </a:r>
                      <a:r>
                        <a:rPr lang="en-US" sz="2000" b="0" strike="noStrike" spc="-1" dirty="0" err="1">
                          <a:solidFill>
                            <a:srgbClr val="000000"/>
                          </a:solidFill>
                          <a:latin typeface="Arial"/>
                          <a:ea typeface="바탕"/>
                        </a:rPr>
                        <a:t>toUpper</a:t>
                      </a:r>
                      <a:r>
                        <a:rPr lang="en-US" sz="2000" b="0" strike="noStrike" spc="-1" dirty="0">
                          <a:solidFill>
                            <a:srgbClr val="000000"/>
                          </a:solidFill>
                          <a:latin typeface="Arial"/>
                          <a:ea typeface="바탕"/>
                        </a:rPr>
                        <a:t>(), substring()</a:t>
                      </a:r>
                      <a:endParaRPr lang="en-US" sz="2000" b="0" strike="noStrike" spc="-1" dirty="0">
                        <a:latin typeface="Arial"/>
                      </a:endParaRPr>
                    </a:p>
                  </a:txBody>
                  <a:tcPr marL="68760" marR="68760">
                    <a:lnL w="2880">
                      <a:solidFill>
                        <a:srgbClr val="000000"/>
                      </a:solidFill>
                    </a:lnL>
                    <a:lnR w="2880">
                      <a:solidFill>
                        <a:srgbClr val="000000"/>
                      </a:solidFill>
                    </a:lnR>
                    <a:lnT w="2880">
                      <a:solidFill>
                        <a:srgbClr val="000000"/>
                      </a:solidFill>
                    </a:lnT>
                    <a:lnB w="2880">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433965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9895-983C-446B-981D-A3BA16608924}"/>
              </a:ext>
            </a:extLst>
          </p:cNvPr>
          <p:cNvSpPr>
            <a:spLocks noGrp="1"/>
          </p:cNvSpPr>
          <p:nvPr>
            <p:ph type="title"/>
          </p:nvPr>
        </p:nvSpPr>
        <p:spPr/>
        <p:txBody>
          <a:bodyPr/>
          <a:lstStyle/>
          <a:p>
            <a:r>
              <a:rPr lang="en-US" dirty="0"/>
              <a:t>Pre-Defined: Collections</a:t>
            </a:r>
          </a:p>
        </p:txBody>
      </p:sp>
      <p:sp>
        <p:nvSpPr>
          <p:cNvPr id="3" name="Content Placeholder 2">
            <a:extLst>
              <a:ext uri="{FF2B5EF4-FFF2-40B4-BE49-F238E27FC236}">
                <a16:creationId xmlns:a16="http://schemas.microsoft.com/office/drawing/2014/main" id="{705C9CD0-A1CA-4E43-BF69-9C723D8B7B86}"/>
              </a:ext>
            </a:extLst>
          </p:cNvPr>
          <p:cNvSpPr>
            <a:spLocks noGrp="1"/>
          </p:cNvSpPr>
          <p:nvPr>
            <p:ph idx="1"/>
          </p:nvPr>
        </p:nvSpPr>
        <p:spPr/>
        <p:txBody>
          <a:bodyPr>
            <a:normAutofit/>
          </a:bodyPr>
          <a:lstStyle/>
          <a:p>
            <a:r>
              <a:rPr lang="en-US" sz="2400" dirty="0"/>
              <a:t>Why?</a:t>
            </a:r>
          </a:p>
          <a:p>
            <a:pPr lvl="1"/>
            <a:r>
              <a:rPr lang="en-US" sz="2000" dirty="0"/>
              <a:t>Multiple objects produced by navigating associations</a:t>
            </a:r>
          </a:p>
          <a:p>
            <a:pPr lvl="1"/>
            <a:r>
              <a:rPr lang="en-US" sz="2000" dirty="0"/>
              <a:t>If multiplicity &gt; 1, collections based on properties</a:t>
            </a:r>
          </a:p>
          <a:p>
            <a:pPr lvl="2"/>
            <a:r>
              <a:rPr lang="en-US" sz="2000" dirty="0"/>
              <a:t>Set: {unique} (default)</a:t>
            </a:r>
          </a:p>
          <a:p>
            <a:pPr lvl="2"/>
            <a:r>
              <a:rPr lang="en-US" sz="2000" dirty="0" err="1"/>
              <a:t>OrderedSet</a:t>
            </a:r>
            <a:r>
              <a:rPr lang="en-US" sz="2000" dirty="0"/>
              <a:t>: {unique, ordered}</a:t>
            </a:r>
          </a:p>
          <a:p>
            <a:pPr lvl="2"/>
            <a:r>
              <a:rPr lang="en-US" sz="2000" dirty="0"/>
              <a:t>Bag: {</a:t>
            </a:r>
            <a:r>
              <a:rPr lang="en-US" sz="2000" dirty="0" err="1"/>
              <a:t>notUnique</a:t>
            </a:r>
            <a:r>
              <a:rPr lang="en-US" sz="2000" dirty="0"/>
              <a:t>}</a:t>
            </a:r>
          </a:p>
          <a:p>
            <a:pPr lvl="2"/>
            <a:r>
              <a:rPr lang="en-US" sz="2000" dirty="0"/>
              <a:t>Sequence: {</a:t>
            </a:r>
            <a:r>
              <a:rPr lang="en-US" sz="2000" dirty="0" err="1"/>
              <a:t>notUnique</a:t>
            </a:r>
            <a:r>
              <a:rPr lang="en-US" sz="2000" dirty="0"/>
              <a:t>, ordered}</a:t>
            </a:r>
          </a:p>
          <a:p>
            <a:endParaRPr lang="en-US" sz="2400" dirty="0"/>
          </a:p>
        </p:txBody>
      </p:sp>
      <p:sp>
        <p:nvSpPr>
          <p:cNvPr id="4" name="CustomShape 4">
            <a:extLst>
              <a:ext uri="{FF2B5EF4-FFF2-40B4-BE49-F238E27FC236}">
                <a16:creationId xmlns:a16="http://schemas.microsoft.com/office/drawing/2014/main" id="{E2F38F49-AB8E-4001-A178-1A309A117ED8}"/>
              </a:ext>
            </a:extLst>
          </p:cNvPr>
          <p:cNvSpPr/>
          <p:nvPr/>
        </p:nvSpPr>
        <p:spPr>
          <a:xfrm>
            <a:off x="6369669" y="4302779"/>
            <a:ext cx="3605400" cy="14342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b="1" spc="-1" dirty="0">
                <a:solidFill>
                  <a:srgbClr val="000000"/>
                </a:solidFill>
                <a:latin typeface="Arial"/>
                <a:ea typeface="Gulim"/>
              </a:rPr>
              <a:t>context</a:t>
            </a:r>
            <a:r>
              <a:rPr lang="en-US" sz="2000" spc="-1" dirty="0">
                <a:solidFill>
                  <a:srgbClr val="000000"/>
                </a:solidFill>
                <a:latin typeface="Arial"/>
                <a:ea typeface="Gulim"/>
              </a:rPr>
              <a:t> Account</a:t>
            </a:r>
            <a:endParaRPr lang="en-US" sz="2000" spc="-1" dirty="0">
              <a:solidFill>
                <a:prstClr val="black"/>
              </a:solidFill>
              <a:latin typeface="Arial"/>
            </a:endParaRPr>
          </a:p>
          <a:p>
            <a:r>
              <a:rPr lang="en-US" sz="2000" spc="-1" dirty="0">
                <a:solidFill>
                  <a:srgbClr val="000000"/>
                </a:solidFill>
                <a:latin typeface="Arial"/>
                <a:ea typeface="Gulim"/>
              </a:rPr>
              <a:t>  </a:t>
            </a:r>
            <a:r>
              <a:rPr lang="en-US" sz="2000" b="1" spc="-1" dirty="0">
                <a:solidFill>
                  <a:srgbClr val="000000"/>
                </a:solidFill>
                <a:latin typeface="Arial"/>
                <a:ea typeface="Gulim"/>
              </a:rPr>
              <a:t>inv</a:t>
            </a:r>
            <a:r>
              <a:rPr lang="en-US" sz="2000" spc="-1" dirty="0">
                <a:solidFill>
                  <a:srgbClr val="000000"/>
                </a:solidFill>
                <a:latin typeface="Arial"/>
                <a:ea typeface="Gulim"/>
              </a:rPr>
              <a:t>: self.owner.name &lt;&gt; </a:t>
            </a:r>
            <a:r>
              <a:rPr lang="en-US" spc="-1" dirty="0">
                <a:solidFill>
                  <a:srgbClr val="000000"/>
                </a:solidFill>
                <a:latin typeface="Arial"/>
                <a:ea typeface="DejaVu Sans"/>
              </a:rPr>
              <a:t>''</a:t>
            </a:r>
            <a:endParaRPr lang="en-US" spc="-1" dirty="0">
              <a:solidFill>
                <a:prstClr val="black"/>
              </a:solidFill>
              <a:latin typeface="Arial"/>
            </a:endParaRPr>
          </a:p>
          <a:p>
            <a:endParaRPr lang="en-US" spc="-1" dirty="0">
              <a:solidFill>
                <a:prstClr val="black"/>
              </a:solidFill>
              <a:latin typeface="Arial"/>
            </a:endParaRPr>
          </a:p>
          <a:p>
            <a:r>
              <a:rPr lang="en-US" sz="2000" b="1" spc="-1" dirty="0">
                <a:solidFill>
                  <a:srgbClr val="000000"/>
                </a:solidFill>
                <a:latin typeface="Arial"/>
                <a:ea typeface="Gulim"/>
              </a:rPr>
              <a:t>context</a:t>
            </a:r>
            <a:r>
              <a:rPr lang="en-US" sz="2000" spc="-1" dirty="0">
                <a:solidFill>
                  <a:srgbClr val="000000"/>
                </a:solidFill>
                <a:latin typeface="Arial"/>
                <a:ea typeface="Gulim"/>
              </a:rPr>
              <a:t> Customer</a:t>
            </a:r>
            <a:endParaRPr lang="en-US" sz="2000" spc="-1" dirty="0">
              <a:solidFill>
                <a:prstClr val="black"/>
              </a:solidFill>
              <a:latin typeface="Arial"/>
            </a:endParaRPr>
          </a:p>
          <a:p>
            <a:r>
              <a:rPr lang="en-US" sz="2000" spc="-1" dirty="0">
                <a:solidFill>
                  <a:srgbClr val="000000"/>
                </a:solidFill>
                <a:latin typeface="Arial"/>
                <a:ea typeface="Gulim"/>
              </a:rPr>
              <a:t>  </a:t>
            </a:r>
            <a:r>
              <a:rPr lang="en-US" sz="2000" b="1" spc="-1" dirty="0">
                <a:solidFill>
                  <a:srgbClr val="000000"/>
                </a:solidFill>
                <a:latin typeface="Arial"/>
                <a:ea typeface="Gulim"/>
              </a:rPr>
              <a:t>inv</a:t>
            </a:r>
            <a:r>
              <a:rPr lang="en-US" sz="2000" spc="-1" dirty="0">
                <a:solidFill>
                  <a:srgbClr val="000000"/>
                </a:solidFill>
                <a:latin typeface="Arial"/>
                <a:ea typeface="Gulim"/>
              </a:rPr>
              <a:t>: </a:t>
            </a:r>
            <a:r>
              <a:rPr lang="en-US" sz="2000" spc="-1" dirty="0" err="1">
                <a:solidFill>
                  <a:srgbClr val="000000"/>
                </a:solidFill>
                <a:latin typeface="Arial"/>
                <a:ea typeface="Gulim"/>
              </a:rPr>
              <a:t>self.accounts</a:t>
            </a:r>
            <a:r>
              <a:rPr lang="en-US" sz="2000" spc="-1" dirty="0">
                <a:solidFill>
                  <a:srgbClr val="000000"/>
                </a:solidFill>
                <a:latin typeface="Arial"/>
                <a:ea typeface="Gulim"/>
              </a:rPr>
              <a:t>-&gt;size() &gt; 0</a:t>
            </a:r>
            <a:endParaRPr lang="en-US" sz="2000" spc="-1" dirty="0">
              <a:solidFill>
                <a:prstClr val="black"/>
              </a:solidFill>
              <a:latin typeface="Arial"/>
            </a:endParaRPr>
          </a:p>
        </p:txBody>
      </p:sp>
      <p:grpSp>
        <p:nvGrpSpPr>
          <p:cNvPr id="28" name="Group 27">
            <a:extLst>
              <a:ext uri="{FF2B5EF4-FFF2-40B4-BE49-F238E27FC236}">
                <a16:creationId xmlns:a16="http://schemas.microsoft.com/office/drawing/2014/main" id="{84545E02-0252-46F5-9983-E7900F10A63F}"/>
              </a:ext>
            </a:extLst>
          </p:cNvPr>
          <p:cNvGrpSpPr/>
          <p:nvPr/>
        </p:nvGrpSpPr>
        <p:grpSpPr>
          <a:xfrm>
            <a:off x="2049712" y="5227155"/>
            <a:ext cx="3772620" cy="509864"/>
            <a:chOff x="6408767" y="2394962"/>
            <a:chExt cx="3772620" cy="509864"/>
          </a:xfrm>
        </p:grpSpPr>
        <p:grpSp>
          <p:nvGrpSpPr>
            <p:cNvPr id="29" name="Group 5">
              <a:extLst>
                <a:ext uri="{FF2B5EF4-FFF2-40B4-BE49-F238E27FC236}">
                  <a16:creationId xmlns:a16="http://schemas.microsoft.com/office/drawing/2014/main" id="{02695E00-6261-423A-B942-273958BA15CA}"/>
                </a:ext>
              </a:extLst>
            </p:cNvPr>
            <p:cNvGrpSpPr/>
            <p:nvPr/>
          </p:nvGrpSpPr>
          <p:grpSpPr>
            <a:xfrm>
              <a:off x="6408767" y="2394962"/>
              <a:ext cx="3772620" cy="509864"/>
              <a:chOff x="2240820" y="3089325"/>
              <a:chExt cx="3772620" cy="509864"/>
            </a:xfrm>
          </p:grpSpPr>
          <p:grpSp>
            <p:nvGrpSpPr>
              <p:cNvPr id="31" name="Group 6">
                <a:extLst>
                  <a:ext uri="{FF2B5EF4-FFF2-40B4-BE49-F238E27FC236}">
                    <a16:creationId xmlns:a16="http://schemas.microsoft.com/office/drawing/2014/main" id="{C072FE06-F020-45F9-9254-05C715AE25F4}"/>
                  </a:ext>
                </a:extLst>
              </p:cNvPr>
              <p:cNvGrpSpPr/>
              <p:nvPr/>
            </p:nvGrpSpPr>
            <p:grpSpPr>
              <a:xfrm>
                <a:off x="4919040" y="3202200"/>
                <a:ext cx="1094400" cy="365760"/>
                <a:chOff x="4919040" y="3202200"/>
                <a:chExt cx="1094400" cy="365760"/>
              </a:xfrm>
            </p:grpSpPr>
            <p:sp>
              <p:nvSpPr>
                <p:cNvPr id="39" name="CustomShape 7">
                  <a:extLst>
                    <a:ext uri="{FF2B5EF4-FFF2-40B4-BE49-F238E27FC236}">
                      <a16:creationId xmlns:a16="http://schemas.microsoft.com/office/drawing/2014/main" id="{ECE2A95A-5742-4331-BC60-CCEB4637EB3F}"/>
                    </a:ext>
                  </a:extLst>
                </p:cNvPr>
                <p:cNvSpPr/>
                <p:nvPr/>
              </p:nvSpPr>
              <p:spPr>
                <a:xfrm>
                  <a:off x="4919040" y="320220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40" name="CustomShape 8">
                  <a:extLst>
                    <a:ext uri="{FF2B5EF4-FFF2-40B4-BE49-F238E27FC236}">
                      <a16:creationId xmlns:a16="http://schemas.microsoft.com/office/drawing/2014/main" id="{EC30DCE3-9330-41BF-BE8C-697B473F6C3F}"/>
                    </a:ext>
                  </a:extLst>
                </p:cNvPr>
                <p:cNvSpPr/>
                <p:nvPr/>
              </p:nvSpPr>
              <p:spPr>
                <a:xfrm>
                  <a:off x="5051160" y="3268800"/>
                  <a:ext cx="83016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Customer</a:t>
                  </a:r>
                  <a:endParaRPr lang="en-US" sz="1600" spc="-1" dirty="0">
                    <a:solidFill>
                      <a:prstClr val="black"/>
                    </a:solidFill>
                    <a:latin typeface="Arial"/>
                  </a:endParaRPr>
                </a:p>
              </p:txBody>
            </p:sp>
          </p:grpSp>
          <p:grpSp>
            <p:nvGrpSpPr>
              <p:cNvPr id="32" name="Group 9">
                <a:extLst>
                  <a:ext uri="{FF2B5EF4-FFF2-40B4-BE49-F238E27FC236}">
                    <a16:creationId xmlns:a16="http://schemas.microsoft.com/office/drawing/2014/main" id="{B6DCB30A-14DB-4EC6-BD5C-5D9BF8F189E1}"/>
                  </a:ext>
                </a:extLst>
              </p:cNvPr>
              <p:cNvGrpSpPr/>
              <p:nvPr/>
            </p:nvGrpSpPr>
            <p:grpSpPr>
              <a:xfrm>
                <a:off x="2240820" y="3206880"/>
                <a:ext cx="1094400" cy="365760"/>
                <a:chOff x="2240820" y="3206880"/>
                <a:chExt cx="1094400" cy="365760"/>
              </a:xfrm>
            </p:grpSpPr>
            <p:sp>
              <p:nvSpPr>
                <p:cNvPr id="37" name="CustomShape 10">
                  <a:extLst>
                    <a:ext uri="{FF2B5EF4-FFF2-40B4-BE49-F238E27FC236}">
                      <a16:creationId xmlns:a16="http://schemas.microsoft.com/office/drawing/2014/main" id="{642F1F9D-5BE3-40B5-B37D-45FBF4A2F87C}"/>
                    </a:ext>
                  </a:extLst>
                </p:cNvPr>
                <p:cNvSpPr/>
                <p:nvPr/>
              </p:nvSpPr>
              <p:spPr>
                <a:xfrm>
                  <a:off x="2240820" y="320688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38" name="CustomShape 11">
                  <a:extLst>
                    <a:ext uri="{FF2B5EF4-FFF2-40B4-BE49-F238E27FC236}">
                      <a16:creationId xmlns:a16="http://schemas.microsoft.com/office/drawing/2014/main" id="{62B2A6E8-88BA-455E-8687-53007CBF17DE}"/>
                    </a:ext>
                  </a:extLst>
                </p:cNvPr>
                <p:cNvSpPr/>
                <p:nvPr/>
              </p:nvSpPr>
              <p:spPr>
                <a:xfrm>
                  <a:off x="2443961" y="3268800"/>
                  <a:ext cx="70992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Account</a:t>
                  </a:r>
                  <a:endParaRPr lang="en-US" sz="1600" spc="-1" dirty="0">
                    <a:solidFill>
                      <a:prstClr val="black"/>
                    </a:solidFill>
                    <a:latin typeface="Arial"/>
                  </a:endParaRPr>
                </a:p>
              </p:txBody>
            </p:sp>
          </p:grpSp>
          <p:sp>
            <p:nvSpPr>
              <p:cNvPr id="33" name="CustomShape 13">
                <a:extLst>
                  <a:ext uri="{FF2B5EF4-FFF2-40B4-BE49-F238E27FC236}">
                    <a16:creationId xmlns:a16="http://schemas.microsoft.com/office/drawing/2014/main" id="{EDF183A8-B09E-49F6-B2F9-D92BD39BEF79}"/>
                  </a:ext>
                </a:extLst>
              </p:cNvPr>
              <p:cNvSpPr/>
              <p:nvPr/>
            </p:nvSpPr>
            <p:spPr>
              <a:xfrm>
                <a:off x="3375180" y="3089325"/>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0..*</a:t>
                </a:r>
                <a:endParaRPr lang="en-US" sz="1600" spc="-1" dirty="0">
                  <a:solidFill>
                    <a:prstClr val="black"/>
                  </a:solidFill>
                  <a:latin typeface="Arial"/>
                </a:endParaRPr>
              </a:p>
            </p:txBody>
          </p:sp>
          <p:sp>
            <p:nvSpPr>
              <p:cNvPr id="34" name="CustomShape 14">
                <a:extLst>
                  <a:ext uri="{FF2B5EF4-FFF2-40B4-BE49-F238E27FC236}">
                    <a16:creationId xmlns:a16="http://schemas.microsoft.com/office/drawing/2014/main" id="{39B84382-B175-465D-8ADA-3F803D4B11D6}"/>
                  </a:ext>
                </a:extLst>
              </p:cNvPr>
              <p:cNvSpPr/>
              <p:nvPr/>
            </p:nvSpPr>
            <p:spPr>
              <a:xfrm>
                <a:off x="4797569" y="3386789"/>
                <a:ext cx="98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35" name="CustomShape 15">
                <a:extLst>
                  <a:ext uri="{FF2B5EF4-FFF2-40B4-BE49-F238E27FC236}">
                    <a16:creationId xmlns:a16="http://schemas.microsoft.com/office/drawing/2014/main" id="{7AC4B5E3-E4E6-422E-AAC4-9BEF0DDB000F}"/>
                  </a:ext>
                </a:extLst>
              </p:cNvPr>
              <p:cNvSpPr/>
              <p:nvPr/>
            </p:nvSpPr>
            <p:spPr>
              <a:xfrm>
                <a:off x="3339199" y="3355560"/>
                <a:ext cx="7160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accounts</a:t>
                </a:r>
                <a:endParaRPr lang="en-US" sz="1600" spc="-1" dirty="0">
                  <a:solidFill>
                    <a:prstClr val="black"/>
                  </a:solidFill>
                  <a:latin typeface="Arial"/>
                </a:endParaRPr>
              </a:p>
            </p:txBody>
          </p:sp>
          <p:sp>
            <p:nvSpPr>
              <p:cNvPr id="36" name="CustomShape 16">
                <a:extLst>
                  <a:ext uri="{FF2B5EF4-FFF2-40B4-BE49-F238E27FC236}">
                    <a16:creationId xmlns:a16="http://schemas.microsoft.com/office/drawing/2014/main" id="{D5453650-869A-4890-B6B3-B74DAB6DC264}"/>
                  </a:ext>
                </a:extLst>
              </p:cNvPr>
              <p:cNvSpPr/>
              <p:nvPr/>
            </p:nvSpPr>
            <p:spPr>
              <a:xfrm>
                <a:off x="4326077" y="3096394"/>
                <a:ext cx="4842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owner</a:t>
                </a:r>
                <a:endParaRPr lang="en-US" sz="1600" spc="-1" dirty="0">
                  <a:solidFill>
                    <a:prstClr val="black"/>
                  </a:solidFill>
                  <a:latin typeface="Arial"/>
                </a:endParaRPr>
              </a:p>
            </p:txBody>
          </p:sp>
        </p:grpSp>
        <p:cxnSp>
          <p:nvCxnSpPr>
            <p:cNvPr id="30" name="Straight Arrow Connector 29">
              <a:extLst>
                <a:ext uri="{FF2B5EF4-FFF2-40B4-BE49-F238E27FC236}">
                  <a16:creationId xmlns:a16="http://schemas.microsoft.com/office/drawing/2014/main" id="{1F9644CF-43C2-4298-8166-3D3BC884DF0E}"/>
                </a:ext>
              </a:extLst>
            </p:cNvPr>
            <p:cNvCxnSpPr>
              <a:cxnSpLocks/>
            </p:cNvCxnSpPr>
            <p:nvPr/>
          </p:nvCxnSpPr>
          <p:spPr>
            <a:xfrm flipV="1">
              <a:off x="7503167" y="2665110"/>
              <a:ext cx="1583820" cy="468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6891302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40D9-F495-435E-8CD6-6472B3750937}"/>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429C3BA7-4702-4BF0-98E9-4D2725BCF951}"/>
              </a:ext>
            </a:extLst>
          </p:cNvPr>
          <p:cNvSpPr>
            <a:spLocks noGrp="1"/>
          </p:cNvSpPr>
          <p:nvPr>
            <p:ph idx="1"/>
          </p:nvPr>
        </p:nvSpPr>
        <p:spPr/>
        <p:txBody>
          <a:bodyPr/>
          <a:lstStyle/>
          <a:p>
            <a:r>
              <a:rPr lang="en-US" sz="2000" dirty="0"/>
              <a:t>Set{10, 100}</a:t>
            </a:r>
          </a:p>
          <a:p>
            <a:r>
              <a:rPr lang="en-US" sz="2000" dirty="0" err="1"/>
              <a:t>OrderedSet</a:t>
            </a:r>
            <a:r>
              <a:rPr lang="en-US" sz="2000" dirty="0"/>
              <a:t>{'apple', 'orange'}</a:t>
            </a:r>
          </a:p>
          <a:p>
            <a:r>
              <a:rPr lang="en-US" sz="2000" dirty="0"/>
              <a:t>Bag{10, 10, 100}</a:t>
            </a:r>
          </a:p>
          <a:p>
            <a:r>
              <a:rPr lang="en-US" sz="2000" dirty="0"/>
              <a:t>Sequence{10, 10, 100}, Sequence{1..10}, Sequence{1..(5 + 5)}</a:t>
            </a:r>
          </a:p>
          <a:p>
            <a:r>
              <a:rPr lang="en-US" sz="2000" dirty="0"/>
              <a:t>Set{Set{1}, Set{10}}</a:t>
            </a:r>
          </a:p>
          <a:p>
            <a:endParaRPr lang="en-US" dirty="0"/>
          </a:p>
        </p:txBody>
      </p:sp>
    </p:spTree>
    <p:extLst>
      <p:ext uri="{BB962C8B-B14F-4D97-AF65-F5344CB8AC3E}">
        <p14:creationId xmlns:p14="http://schemas.microsoft.com/office/powerpoint/2010/main" val="253238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6B47-928F-4109-93C6-B401895E9447}"/>
              </a:ext>
            </a:extLst>
          </p:cNvPr>
          <p:cNvSpPr>
            <a:spLocks noGrp="1"/>
          </p:cNvSpPr>
          <p:nvPr>
            <p:ph type="title"/>
          </p:nvPr>
        </p:nvSpPr>
        <p:spPr/>
        <p:txBody>
          <a:bodyPr/>
          <a:lstStyle/>
          <a:p>
            <a:r>
              <a:rPr lang="en-US" dirty="0"/>
              <a:t>Collection Operation</a:t>
            </a:r>
          </a:p>
        </p:txBody>
      </p:sp>
      <p:sp>
        <p:nvSpPr>
          <p:cNvPr id="3" name="Content Placeholder 2">
            <a:extLst>
              <a:ext uri="{FF2B5EF4-FFF2-40B4-BE49-F238E27FC236}">
                <a16:creationId xmlns:a16="http://schemas.microsoft.com/office/drawing/2014/main" id="{508B2CAE-F025-4A3A-BA2E-49947725E689}"/>
              </a:ext>
            </a:extLst>
          </p:cNvPr>
          <p:cNvSpPr>
            <a:spLocks noGrp="1"/>
          </p:cNvSpPr>
          <p:nvPr>
            <p:ph idx="1"/>
          </p:nvPr>
        </p:nvSpPr>
        <p:spPr/>
        <p:txBody>
          <a:bodyPr>
            <a:normAutofit/>
          </a:bodyPr>
          <a:lstStyle/>
          <a:p>
            <a:r>
              <a:rPr lang="en-US" sz="2000" dirty="0"/>
              <a:t>Large number of predefined operations </a:t>
            </a:r>
          </a:p>
          <a:p>
            <a:r>
              <a:rPr lang="en-US" sz="2000" dirty="0"/>
              <a:t>Arrow notation, e.g., c-&gt;size()</a:t>
            </a:r>
          </a:p>
          <a:p>
            <a:endParaRPr lang="en-US" sz="2000" dirty="0"/>
          </a:p>
        </p:txBody>
      </p:sp>
      <p:sp>
        <p:nvSpPr>
          <p:cNvPr id="16" name="CustomShape 16">
            <a:extLst>
              <a:ext uri="{FF2B5EF4-FFF2-40B4-BE49-F238E27FC236}">
                <a16:creationId xmlns:a16="http://schemas.microsoft.com/office/drawing/2014/main" id="{4271C756-58E2-456B-8FB0-22D4777BC515}"/>
              </a:ext>
            </a:extLst>
          </p:cNvPr>
          <p:cNvSpPr/>
          <p:nvPr/>
        </p:nvSpPr>
        <p:spPr>
          <a:xfrm>
            <a:off x="3840952" y="4216821"/>
            <a:ext cx="4104297" cy="702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b="1" spc="-1" dirty="0">
                <a:solidFill>
                  <a:srgbClr val="000000"/>
                </a:solidFill>
                <a:latin typeface="Arial"/>
                <a:ea typeface="Gulim"/>
              </a:rPr>
              <a:t>context</a:t>
            </a:r>
            <a:r>
              <a:rPr lang="en-US" sz="2000" spc="-1" dirty="0">
                <a:solidFill>
                  <a:srgbClr val="000000"/>
                </a:solidFill>
                <a:latin typeface="Arial"/>
                <a:ea typeface="Gulim"/>
              </a:rPr>
              <a:t> Account		</a:t>
            </a:r>
            <a:endParaRPr lang="en-US" sz="2000" spc="-1" dirty="0">
              <a:solidFill>
                <a:prstClr val="black"/>
              </a:solidFill>
              <a:latin typeface="Arial"/>
            </a:endParaRPr>
          </a:p>
          <a:p>
            <a:r>
              <a:rPr lang="en-US" sz="2000" spc="-1" dirty="0">
                <a:solidFill>
                  <a:srgbClr val="000000"/>
                </a:solidFill>
                <a:latin typeface="Arial"/>
                <a:ea typeface="Gulim"/>
              </a:rPr>
              <a:t>  </a:t>
            </a:r>
            <a:r>
              <a:rPr lang="en-US" sz="2000" b="1" spc="-1" dirty="0">
                <a:solidFill>
                  <a:srgbClr val="000000"/>
                </a:solidFill>
                <a:latin typeface="Arial"/>
                <a:ea typeface="Gulim"/>
              </a:rPr>
              <a:t>inv</a:t>
            </a:r>
            <a:r>
              <a:rPr lang="en-US" sz="2000" spc="-1" dirty="0">
                <a:solidFill>
                  <a:srgbClr val="000000"/>
                </a:solidFill>
                <a:latin typeface="Arial"/>
                <a:ea typeface="Gulim"/>
              </a:rPr>
              <a:t>: </a:t>
            </a:r>
            <a:r>
              <a:rPr lang="en-US" sz="2000" b="1" spc="-1" dirty="0">
                <a:solidFill>
                  <a:srgbClr val="000000"/>
                </a:solidFill>
                <a:latin typeface="Arial"/>
                <a:ea typeface="Gulim"/>
              </a:rPr>
              <a:t>not</a:t>
            </a:r>
            <a:r>
              <a:rPr lang="en-US" sz="2000" spc="-1" dirty="0">
                <a:solidFill>
                  <a:srgbClr val="000000"/>
                </a:solidFill>
                <a:latin typeface="Arial"/>
                <a:ea typeface="Gulim"/>
              </a:rPr>
              <a:t> owner-&gt;</a:t>
            </a:r>
            <a:r>
              <a:rPr lang="en-US" sz="2000" spc="-1" dirty="0" err="1">
                <a:solidFill>
                  <a:srgbClr val="000000"/>
                </a:solidFill>
                <a:latin typeface="Arial"/>
                <a:ea typeface="Gulim"/>
              </a:rPr>
              <a:t>isEmpty</a:t>
            </a:r>
            <a:r>
              <a:rPr lang="en-US" sz="2000" spc="-1" dirty="0">
                <a:solidFill>
                  <a:srgbClr val="000000"/>
                </a:solidFill>
                <a:latin typeface="Arial"/>
                <a:ea typeface="Gulim"/>
              </a:rPr>
              <a:t>()	   </a:t>
            </a:r>
            <a:endParaRPr lang="en-US" sz="2000" spc="-1" dirty="0">
              <a:solidFill>
                <a:prstClr val="black"/>
              </a:solidFill>
              <a:latin typeface="Arial"/>
            </a:endParaRPr>
          </a:p>
        </p:txBody>
      </p:sp>
      <p:grpSp>
        <p:nvGrpSpPr>
          <p:cNvPr id="17" name="Group 16">
            <a:extLst>
              <a:ext uri="{FF2B5EF4-FFF2-40B4-BE49-F238E27FC236}">
                <a16:creationId xmlns:a16="http://schemas.microsoft.com/office/drawing/2014/main" id="{B873E96C-690C-440B-A3CC-167FD945BB4E}"/>
              </a:ext>
            </a:extLst>
          </p:cNvPr>
          <p:cNvGrpSpPr/>
          <p:nvPr/>
        </p:nvGrpSpPr>
        <p:grpSpPr>
          <a:xfrm>
            <a:off x="3657178" y="3300973"/>
            <a:ext cx="3772620" cy="509864"/>
            <a:chOff x="6408767" y="2394962"/>
            <a:chExt cx="3772620" cy="509864"/>
          </a:xfrm>
        </p:grpSpPr>
        <p:grpSp>
          <p:nvGrpSpPr>
            <p:cNvPr id="18" name="Group 5">
              <a:extLst>
                <a:ext uri="{FF2B5EF4-FFF2-40B4-BE49-F238E27FC236}">
                  <a16:creationId xmlns:a16="http://schemas.microsoft.com/office/drawing/2014/main" id="{6574DC36-7811-44DA-8381-9AF3CEACF579}"/>
                </a:ext>
              </a:extLst>
            </p:cNvPr>
            <p:cNvGrpSpPr/>
            <p:nvPr/>
          </p:nvGrpSpPr>
          <p:grpSpPr>
            <a:xfrm>
              <a:off x="6408767" y="2394962"/>
              <a:ext cx="3772620" cy="509864"/>
              <a:chOff x="2240820" y="3089325"/>
              <a:chExt cx="3772620" cy="509864"/>
            </a:xfrm>
          </p:grpSpPr>
          <p:grpSp>
            <p:nvGrpSpPr>
              <p:cNvPr id="20" name="Group 6">
                <a:extLst>
                  <a:ext uri="{FF2B5EF4-FFF2-40B4-BE49-F238E27FC236}">
                    <a16:creationId xmlns:a16="http://schemas.microsoft.com/office/drawing/2014/main" id="{72D4FF13-BC40-4E27-8DE4-DA943B51F0FA}"/>
                  </a:ext>
                </a:extLst>
              </p:cNvPr>
              <p:cNvGrpSpPr/>
              <p:nvPr/>
            </p:nvGrpSpPr>
            <p:grpSpPr>
              <a:xfrm>
                <a:off x="4919040" y="3202200"/>
                <a:ext cx="1094400" cy="365760"/>
                <a:chOff x="4919040" y="3202200"/>
                <a:chExt cx="1094400" cy="365760"/>
              </a:xfrm>
            </p:grpSpPr>
            <p:sp>
              <p:nvSpPr>
                <p:cNvPr id="28" name="CustomShape 7">
                  <a:extLst>
                    <a:ext uri="{FF2B5EF4-FFF2-40B4-BE49-F238E27FC236}">
                      <a16:creationId xmlns:a16="http://schemas.microsoft.com/office/drawing/2014/main" id="{71BD09FD-636A-434B-BEE7-512D88D2B376}"/>
                    </a:ext>
                  </a:extLst>
                </p:cNvPr>
                <p:cNvSpPr/>
                <p:nvPr/>
              </p:nvSpPr>
              <p:spPr>
                <a:xfrm>
                  <a:off x="4919040" y="320220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29" name="CustomShape 8">
                  <a:extLst>
                    <a:ext uri="{FF2B5EF4-FFF2-40B4-BE49-F238E27FC236}">
                      <a16:creationId xmlns:a16="http://schemas.microsoft.com/office/drawing/2014/main" id="{C947AF6D-49C7-4A9C-A554-D4D6A36CDC41}"/>
                    </a:ext>
                  </a:extLst>
                </p:cNvPr>
                <p:cNvSpPr/>
                <p:nvPr/>
              </p:nvSpPr>
              <p:spPr>
                <a:xfrm>
                  <a:off x="5051160" y="3268800"/>
                  <a:ext cx="83016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Customer</a:t>
                  </a:r>
                  <a:endParaRPr lang="en-US" sz="1600" spc="-1" dirty="0">
                    <a:solidFill>
                      <a:prstClr val="black"/>
                    </a:solidFill>
                    <a:latin typeface="Arial"/>
                  </a:endParaRPr>
                </a:p>
              </p:txBody>
            </p:sp>
          </p:grpSp>
          <p:grpSp>
            <p:nvGrpSpPr>
              <p:cNvPr id="21" name="Group 9">
                <a:extLst>
                  <a:ext uri="{FF2B5EF4-FFF2-40B4-BE49-F238E27FC236}">
                    <a16:creationId xmlns:a16="http://schemas.microsoft.com/office/drawing/2014/main" id="{1F29EE22-75B5-475A-ADE4-9977019E191F}"/>
                  </a:ext>
                </a:extLst>
              </p:cNvPr>
              <p:cNvGrpSpPr/>
              <p:nvPr/>
            </p:nvGrpSpPr>
            <p:grpSpPr>
              <a:xfrm>
                <a:off x="2240820" y="3206880"/>
                <a:ext cx="1094400" cy="365760"/>
                <a:chOff x="2240820" y="3206880"/>
                <a:chExt cx="1094400" cy="365760"/>
              </a:xfrm>
            </p:grpSpPr>
            <p:sp>
              <p:nvSpPr>
                <p:cNvPr id="26" name="CustomShape 10">
                  <a:extLst>
                    <a:ext uri="{FF2B5EF4-FFF2-40B4-BE49-F238E27FC236}">
                      <a16:creationId xmlns:a16="http://schemas.microsoft.com/office/drawing/2014/main" id="{7B192378-F3DC-4B8D-BE49-ED30045D31A9}"/>
                    </a:ext>
                  </a:extLst>
                </p:cNvPr>
                <p:cNvSpPr/>
                <p:nvPr/>
              </p:nvSpPr>
              <p:spPr>
                <a:xfrm>
                  <a:off x="2240820" y="3206880"/>
                  <a:ext cx="1094400" cy="365760"/>
                </a:xfrm>
                <a:prstGeom prst="rect">
                  <a:avLst/>
                </a:prstGeom>
                <a:noFill/>
                <a:ln w="9360">
                  <a:solidFill>
                    <a:srgbClr val="000000"/>
                  </a:solidFill>
                  <a:miter/>
                </a:ln>
              </p:spPr>
              <p:style>
                <a:lnRef idx="0">
                  <a:scrgbClr r="0" g="0" b="0"/>
                </a:lnRef>
                <a:fillRef idx="0">
                  <a:scrgbClr r="0" g="0" b="0"/>
                </a:fillRef>
                <a:effectRef idx="0">
                  <a:scrgbClr r="0" g="0" b="0"/>
                </a:effectRef>
                <a:fontRef idx="minor"/>
              </p:style>
            </p:sp>
            <p:sp>
              <p:nvSpPr>
                <p:cNvPr id="27" name="CustomShape 11">
                  <a:extLst>
                    <a:ext uri="{FF2B5EF4-FFF2-40B4-BE49-F238E27FC236}">
                      <a16:creationId xmlns:a16="http://schemas.microsoft.com/office/drawing/2014/main" id="{BDA90D28-775A-448B-BECE-4CA1F4963160}"/>
                    </a:ext>
                  </a:extLst>
                </p:cNvPr>
                <p:cNvSpPr/>
                <p:nvPr/>
              </p:nvSpPr>
              <p:spPr>
                <a:xfrm>
                  <a:off x="2443961" y="3268800"/>
                  <a:ext cx="70992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algn="ctr"/>
                  <a:r>
                    <a:rPr lang="en-US" sz="1600" b="1" spc="-1" dirty="0">
                      <a:solidFill>
                        <a:srgbClr val="000000"/>
                      </a:solidFill>
                      <a:latin typeface="Arial"/>
                      <a:ea typeface="Gulim"/>
                    </a:rPr>
                    <a:t>Account</a:t>
                  </a:r>
                  <a:endParaRPr lang="en-US" sz="1600" spc="-1" dirty="0">
                    <a:solidFill>
                      <a:prstClr val="black"/>
                    </a:solidFill>
                    <a:latin typeface="Arial"/>
                  </a:endParaRPr>
                </a:p>
              </p:txBody>
            </p:sp>
          </p:grpSp>
          <p:sp>
            <p:nvSpPr>
              <p:cNvPr id="22" name="CustomShape 13">
                <a:extLst>
                  <a:ext uri="{FF2B5EF4-FFF2-40B4-BE49-F238E27FC236}">
                    <a16:creationId xmlns:a16="http://schemas.microsoft.com/office/drawing/2014/main" id="{D4F8B191-68D1-44DA-AA88-5D99E21C035B}"/>
                  </a:ext>
                </a:extLst>
              </p:cNvPr>
              <p:cNvSpPr/>
              <p:nvPr/>
            </p:nvSpPr>
            <p:spPr>
              <a:xfrm>
                <a:off x="3375180" y="3089325"/>
                <a:ext cx="26928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0..*</a:t>
                </a:r>
                <a:endParaRPr lang="en-US" sz="1600" spc="-1" dirty="0">
                  <a:solidFill>
                    <a:prstClr val="black"/>
                  </a:solidFill>
                  <a:latin typeface="Arial"/>
                </a:endParaRPr>
              </a:p>
            </p:txBody>
          </p:sp>
          <p:sp>
            <p:nvSpPr>
              <p:cNvPr id="23" name="CustomShape 14">
                <a:extLst>
                  <a:ext uri="{FF2B5EF4-FFF2-40B4-BE49-F238E27FC236}">
                    <a16:creationId xmlns:a16="http://schemas.microsoft.com/office/drawing/2014/main" id="{81974BFC-DBC3-418F-946D-795EA1B3FAF5}"/>
                  </a:ext>
                </a:extLst>
              </p:cNvPr>
              <p:cNvSpPr/>
              <p:nvPr/>
            </p:nvSpPr>
            <p:spPr>
              <a:xfrm>
                <a:off x="4797569" y="3386789"/>
                <a:ext cx="986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1</a:t>
                </a:r>
                <a:endParaRPr lang="en-US" sz="1600" spc="-1" dirty="0">
                  <a:solidFill>
                    <a:prstClr val="black"/>
                  </a:solidFill>
                  <a:latin typeface="Arial"/>
                </a:endParaRPr>
              </a:p>
            </p:txBody>
          </p:sp>
          <p:sp>
            <p:nvSpPr>
              <p:cNvPr id="24" name="CustomShape 15">
                <a:extLst>
                  <a:ext uri="{FF2B5EF4-FFF2-40B4-BE49-F238E27FC236}">
                    <a16:creationId xmlns:a16="http://schemas.microsoft.com/office/drawing/2014/main" id="{9B62737A-D31B-437F-805A-F89F0E4E6637}"/>
                  </a:ext>
                </a:extLst>
              </p:cNvPr>
              <p:cNvSpPr/>
              <p:nvPr/>
            </p:nvSpPr>
            <p:spPr>
              <a:xfrm>
                <a:off x="3339199" y="3355560"/>
                <a:ext cx="71604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accounts</a:t>
                </a:r>
                <a:endParaRPr lang="en-US" sz="1600" spc="-1" dirty="0">
                  <a:solidFill>
                    <a:prstClr val="black"/>
                  </a:solidFill>
                  <a:latin typeface="Arial"/>
                </a:endParaRPr>
              </a:p>
            </p:txBody>
          </p:sp>
          <p:sp>
            <p:nvSpPr>
              <p:cNvPr id="25" name="CustomShape 16">
                <a:extLst>
                  <a:ext uri="{FF2B5EF4-FFF2-40B4-BE49-F238E27FC236}">
                    <a16:creationId xmlns:a16="http://schemas.microsoft.com/office/drawing/2014/main" id="{E664F7DF-9D84-4A1D-9C12-0F3ADE5DEA58}"/>
                  </a:ext>
                </a:extLst>
              </p:cNvPr>
              <p:cNvSpPr/>
              <p:nvPr/>
            </p:nvSpPr>
            <p:spPr>
              <a:xfrm>
                <a:off x="4326077" y="3096394"/>
                <a:ext cx="484200" cy="21240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r>
                  <a:rPr lang="en-US" sz="1600" spc="-1" dirty="0">
                    <a:solidFill>
                      <a:srgbClr val="000000"/>
                    </a:solidFill>
                    <a:latin typeface="Arial"/>
                    <a:ea typeface="Gulim"/>
                  </a:rPr>
                  <a:t>owner</a:t>
                </a:r>
                <a:endParaRPr lang="en-US" sz="1600" spc="-1" dirty="0">
                  <a:solidFill>
                    <a:prstClr val="black"/>
                  </a:solidFill>
                  <a:latin typeface="Arial"/>
                </a:endParaRPr>
              </a:p>
            </p:txBody>
          </p:sp>
        </p:grpSp>
        <p:cxnSp>
          <p:nvCxnSpPr>
            <p:cNvPr id="19" name="Straight Arrow Connector 18">
              <a:extLst>
                <a:ext uri="{FF2B5EF4-FFF2-40B4-BE49-F238E27FC236}">
                  <a16:creationId xmlns:a16="http://schemas.microsoft.com/office/drawing/2014/main" id="{4E931ADD-45DC-4E3C-9652-6CD16F23DE37}"/>
                </a:ext>
              </a:extLst>
            </p:cNvPr>
            <p:cNvCxnSpPr>
              <a:cxnSpLocks/>
            </p:cNvCxnSpPr>
            <p:nvPr/>
          </p:nvCxnSpPr>
          <p:spPr>
            <a:xfrm flipV="1">
              <a:off x="7503167" y="2665110"/>
              <a:ext cx="1583820" cy="468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706513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AC1F-05E4-486B-A5C0-48705A3ADCB4}"/>
              </a:ext>
            </a:extLst>
          </p:cNvPr>
          <p:cNvSpPr>
            <a:spLocks noGrp="1"/>
          </p:cNvSpPr>
          <p:nvPr>
            <p:ph type="title"/>
          </p:nvPr>
        </p:nvSpPr>
        <p:spPr/>
        <p:txBody>
          <a:bodyPr/>
          <a:lstStyle/>
          <a:p>
            <a:r>
              <a:rPr lang="en-US" dirty="0"/>
              <a:t>Collection Operations</a:t>
            </a:r>
          </a:p>
        </p:txBody>
      </p:sp>
      <p:graphicFrame>
        <p:nvGraphicFramePr>
          <p:cNvPr id="5" name="Table 5">
            <a:extLst>
              <a:ext uri="{FF2B5EF4-FFF2-40B4-BE49-F238E27FC236}">
                <a16:creationId xmlns:a16="http://schemas.microsoft.com/office/drawing/2014/main" id="{01874313-BB20-4384-BF15-D66840A54D4C}"/>
              </a:ext>
            </a:extLst>
          </p:cNvPr>
          <p:cNvGraphicFramePr>
            <a:graphicFrameLocks noGrp="1"/>
          </p:cNvGraphicFramePr>
          <p:nvPr>
            <p:extLst>
              <p:ext uri="{D42A27DB-BD31-4B8C-83A1-F6EECF244321}">
                <p14:modId xmlns:p14="http://schemas.microsoft.com/office/powerpoint/2010/main" val="1667252485"/>
              </p:ext>
            </p:extLst>
          </p:nvPr>
        </p:nvGraphicFramePr>
        <p:xfrm>
          <a:off x="2281853" y="2014194"/>
          <a:ext cx="8128000" cy="3708400"/>
        </p:xfrm>
        <a:graphic>
          <a:graphicData uri="http://schemas.openxmlformats.org/drawingml/2006/table">
            <a:tbl>
              <a:tblPr firstRow="1" bandRow="1">
                <a:tableStyleId>{5C22544A-7EE6-4342-B048-85BDC9FD1C3A}</a:tableStyleId>
              </a:tblPr>
              <a:tblGrid>
                <a:gridCol w="1711649">
                  <a:extLst>
                    <a:ext uri="{9D8B030D-6E8A-4147-A177-3AD203B41FA5}">
                      <a16:colId xmlns:a16="http://schemas.microsoft.com/office/drawing/2014/main" val="2452584998"/>
                    </a:ext>
                  </a:extLst>
                </a:gridCol>
                <a:gridCol w="6416351">
                  <a:extLst>
                    <a:ext uri="{9D8B030D-6E8A-4147-A177-3AD203B41FA5}">
                      <a16:colId xmlns:a16="http://schemas.microsoft.com/office/drawing/2014/main" val="3234300224"/>
                    </a:ext>
                  </a:extLst>
                </a:gridCol>
              </a:tblGrid>
              <a:tr h="370840">
                <a:tc>
                  <a:txBody>
                    <a:bodyPr/>
                    <a:lstStyle/>
                    <a:p>
                      <a:pPr>
                        <a:lnSpc>
                          <a:spcPct val="93000"/>
                        </a:lnSpc>
                      </a:pPr>
                      <a:r>
                        <a:rPr lang="en-US" sz="1800" b="1" strike="noStrike" spc="-1" dirty="0">
                          <a:solidFill>
                            <a:srgbClr val="000000"/>
                          </a:solidFill>
                          <a:latin typeface="Arial"/>
                          <a:ea typeface="바탕"/>
                        </a:rPr>
                        <a:t>Operation</a:t>
                      </a:r>
                      <a:endParaRPr lang="en-US" sz="1800" b="0" strike="noStrike" spc="-1" dirty="0">
                        <a:latin typeface="Arial"/>
                      </a:endParaRPr>
                    </a:p>
                  </a:txBody>
                  <a:tcPr marL="68760" marR="68760"/>
                </a:tc>
                <a:tc>
                  <a:txBody>
                    <a:bodyPr/>
                    <a:lstStyle/>
                    <a:p>
                      <a:pPr>
                        <a:lnSpc>
                          <a:spcPct val="93000"/>
                        </a:lnSpc>
                      </a:pPr>
                      <a:r>
                        <a:rPr lang="en-US" sz="1800" b="1" strike="noStrike" spc="-1" dirty="0">
                          <a:solidFill>
                            <a:srgbClr val="000000"/>
                          </a:solidFill>
                          <a:latin typeface="Arial"/>
                          <a:ea typeface="바탕"/>
                        </a:rPr>
                        <a:t>Description</a:t>
                      </a:r>
                      <a:endParaRPr lang="en-US" sz="1800" b="0" strike="noStrike" spc="-1" dirty="0">
                        <a:latin typeface="Arial"/>
                      </a:endParaRPr>
                    </a:p>
                  </a:txBody>
                  <a:tcPr marL="68760" marR="68760"/>
                </a:tc>
                <a:extLst>
                  <a:ext uri="{0D108BD9-81ED-4DB2-BD59-A6C34878D82A}">
                    <a16:rowId xmlns:a16="http://schemas.microsoft.com/office/drawing/2014/main" val="19309121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count(o)</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Number of occurrences of </a:t>
                      </a:r>
                      <a:r>
                        <a:rPr lang="en-US" sz="1800" b="0" i="1" strike="noStrike" spc="-1" dirty="0">
                          <a:solidFill>
                            <a:srgbClr val="000000"/>
                          </a:solidFill>
                          <a:latin typeface="Arial"/>
                          <a:ea typeface="바탕"/>
                        </a:rPr>
                        <a:t>o</a:t>
                      </a:r>
                      <a:r>
                        <a:rPr lang="en-US" sz="1800" b="0" strike="noStrike" spc="-1" dirty="0">
                          <a:solidFill>
                            <a:srgbClr val="000000"/>
                          </a:solidFill>
                          <a:latin typeface="Arial"/>
                          <a:ea typeface="바탕"/>
                        </a:rPr>
                        <a:t> in the collection (</a:t>
                      </a:r>
                      <a:r>
                        <a:rPr lang="en-US" sz="1800" b="0" i="1" strike="noStrike" spc="-1" dirty="0">
                          <a:solidFill>
                            <a:srgbClr val="000000"/>
                          </a:solidFill>
                          <a:latin typeface="Arial"/>
                          <a:ea typeface="바탕"/>
                        </a:rPr>
                        <a:t>self</a:t>
                      </a:r>
                      <a:r>
                        <a:rPr lang="en-US" sz="1800" b="0" strike="noStrike" spc="-1" dirty="0">
                          <a:solidFill>
                            <a:srgbClr val="000000"/>
                          </a:solidFill>
                          <a:latin typeface="Arial"/>
                          <a:ea typeface="바탕"/>
                        </a:rPr>
                        <a:t>)</a:t>
                      </a:r>
                      <a:endParaRPr lang="en-US" sz="1800" b="0" strike="noStrike" spc="-1" dirty="0">
                        <a:latin typeface="Arial"/>
                      </a:endParaRPr>
                    </a:p>
                  </a:txBody>
                  <a:tcPr/>
                </a:tc>
                <a:extLst>
                  <a:ext uri="{0D108BD9-81ED-4DB2-BD59-A6C34878D82A}">
                    <a16:rowId xmlns:a16="http://schemas.microsoft.com/office/drawing/2014/main" val="39755078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excludes(o)</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Is </a:t>
                      </a:r>
                      <a:r>
                        <a:rPr lang="en-US" sz="1800" b="0" i="1" strike="noStrike" spc="-1" dirty="0">
                          <a:solidFill>
                            <a:srgbClr val="000000"/>
                          </a:solidFill>
                          <a:latin typeface="Arial"/>
                          <a:ea typeface="바탕"/>
                        </a:rPr>
                        <a:t>o </a:t>
                      </a:r>
                      <a:r>
                        <a:rPr lang="en-US" sz="1800" b="0" strike="noStrike" spc="-1" dirty="0">
                          <a:solidFill>
                            <a:srgbClr val="000000"/>
                          </a:solidFill>
                          <a:latin typeface="Arial"/>
                          <a:ea typeface="바탕"/>
                        </a:rPr>
                        <a:t>not an element of the collection?</a:t>
                      </a:r>
                      <a:endParaRPr lang="en-US" sz="1800" b="0" strike="noStrike" spc="-1" dirty="0">
                        <a:latin typeface="Arial"/>
                      </a:endParaRPr>
                    </a:p>
                  </a:txBody>
                  <a:tcPr/>
                </a:tc>
                <a:extLst>
                  <a:ext uri="{0D108BD9-81ED-4DB2-BD59-A6C34878D82A}">
                    <a16:rowId xmlns:a16="http://schemas.microsoft.com/office/drawing/2014/main" val="14256648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err="1">
                          <a:solidFill>
                            <a:srgbClr val="000000"/>
                          </a:solidFill>
                          <a:latin typeface="Arial"/>
                          <a:ea typeface="바탕"/>
                        </a:rPr>
                        <a:t>excludesAll</a:t>
                      </a:r>
                      <a:r>
                        <a:rPr lang="en-US" sz="1800" b="0" strike="noStrike" spc="-1" dirty="0">
                          <a:solidFill>
                            <a:srgbClr val="000000"/>
                          </a:solidFill>
                          <a:latin typeface="Arial"/>
                          <a:ea typeface="바탕"/>
                        </a:rPr>
                        <a:t>(c)</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Are all the elements of</a:t>
                      </a:r>
                      <a:r>
                        <a:rPr lang="en-US" sz="1800" b="0" i="1" strike="noStrike" spc="-1" dirty="0">
                          <a:solidFill>
                            <a:srgbClr val="000000"/>
                          </a:solidFill>
                          <a:latin typeface="Arial"/>
                          <a:ea typeface="바탕"/>
                        </a:rPr>
                        <a:t> c</a:t>
                      </a:r>
                      <a:r>
                        <a:rPr lang="en-US" sz="1800" b="0" strike="noStrike" spc="-1" dirty="0">
                          <a:solidFill>
                            <a:srgbClr val="000000"/>
                          </a:solidFill>
                          <a:latin typeface="Arial"/>
                          <a:ea typeface="바탕"/>
                        </a:rPr>
                        <a:t> not present in the collection?</a:t>
                      </a:r>
                      <a:endParaRPr lang="en-US" sz="1800" b="0" strike="noStrike" spc="-1" dirty="0">
                        <a:latin typeface="Arial"/>
                      </a:endParaRPr>
                    </a:p>
                  </a:txBody>
                  <a:tcPr/>
                </a:tc>
                <a:extLst>
                  <a:ext uri="{0D108BD9-81ED-4DB2-BD59-A6C34878D82A}">
                    <a16:rowId xmlns:a16="http://schemas.microsoft.com/office/drawing/2014/main" val="2318027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includes(o)</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Is</a:t>
                      </a:r>
                      <a:r>
                        <a:rPr lang="en-US" sz="1800" b="0" i="1" strike="noStrike" spc="-1" dirty="0">
                          <a:solidFill>
                            <a:srgbClr val="000000"/>
                          </a:solidFill>
                          <a:latin typeface="Arial"/>
                          <a:ea typeface="바탕"/>
                        </a:rPr>
                        <a:t> o</a:t>
                      </a:r>
                      <a:r>
                        <a:rPr lang="en-US" sz="1800" b="0" strike="noStrike" spc="-1" dirty="0">
                          <a:solidFill>
                            <a:srgbClr val="000000"/>
                          </a:solidFill>
                          <a:latin typeface="Arial"/>
                          <a:ea typeface="바탕"/>
                        </a:rPr>
                        <a:t> an element of the collection?</a:t>
                      </a:r>
                      <a:endParaRPr lang="en-US" sz="1800" b="0" strike="noStrike" spc="-1" dirty="0">
                        <a:latin typeface="Arial"/>
                      </a:endParaRPr>
                    </a:p>
                  </a:txBody>
                  <a:tcPr/>
                </a:tc>
                <a:extLst>
                  <a:ext uri="{0D108BD9-81ED-4DB2-BD59-A6C34878D82A}">
                    <a16:rowId xmlns:a16="http://schemas.microsoft.com/office/drawing/2014/main" val="10560449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err="1">
                          <a:solidFill>
                            <a:srgbClr val="000000"/>
                          </a:solidFill>
                          <a:latin typeface="Arial"/>
                          <a:ea typeface="바탕"/>
                        </a:rPr>
                        <a:t>includesAll</a:t>
                      </a:r>
                      <a:r>
                        <a:rPr lang="en-US" sz="1800" b="0" strike="noStrike" spc="-1" dirty="0">
                          <a:solidFill>
                            <a:srgbClr val="000000"/>
                          </a:solidFill>
                          <a:latin typeface="Arial"/>
                          <a:ea typeface="바탕"/>
                        </a:rPr>
                        <a:t>(c)</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Are all the elements of </a:t>
                      </a:r>
                      <a:r>
                        <a:rPr lang="en-US" sz="1800" b="0" i="1" strike="noStrike" spc="-1" dirty="0">
                          <a:solidFill>
                            <a:srgbClr val="000000"/>
                          </a:solidFill>
                          <a:latin typeface="Arial"/>
                          <a:ea typeface="바탕"/>
                        </a:rPr>
                        <a:t>c</a:t>
                      </a:r>
                      <a:r>
                        <a:rPr lang="en-US" sz="1800" b="0" strike="noStrike" spc="-1" dirty="0">
                          <a:solidFill>
                            <a:srgbClr val="000000"/>
                          </a:solidFill>
                          <a:latin typeface="Arial"/>
                          <a:ea typeface="바탕"/>
                        </a:rPr>
                        <a:t> contained in the collection?</a:t>
                      </a:r>
                      <a:endParaRPr lang="en-US" sz="1800" b="0" strike="noStrike" spc="-1" dirty="0">
                        <a:latin typeface="Arial"/>
                      </a:endParaRPr>
                    </a:p>
                  </a:txBody>
                  <a:tcPr/>
                </a:tc>
                <a:extLst>
                  <a:ext uri="{0D108BD9-81ED-4DB2-BD59-A6C34878D82A}">
                    <a16:rowId xmlns:a16="http://schemas.microsoft.com/office/drawing/2014/main" val="18861968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err="1">
                          <a:solidFill>
                            <a:srgbClr val="000000"/>
                          </a:solidFill>
                          <a:latin typeface="Arial"/>
                          <a:ea typeface="바탕"/>
                        </a:rPr>
                        <a:t>isEmpty</a:t>
                      </a:r>
                      <a:r>
                        <a:rPr lang="en-US" sz="1800" b="0" strike="noStrike" spc="-1" dirty="0">
                          <a:solidFill>
                            <a:srgbClr val="000000"/>
                          </a:solidFill>
                          <a:latin typeface="Arial"/>
                          <a:ea typeface="바탕"/>
                        </a:rPr>
                        <a:t>()</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Does the collection contain no element?</a:t>
                      </a:r>
                      <a:endParaRPr lang="en-US" sz="1800" b="0" strike="noStrike" spc="-1" dirty="0">
                        <a:latin typeface="Arial"/>
                      </a:endParaRPr>
                    </a:p>
                  </a:txBody>
                  <a:tcPr/>
                </a:tc>
                <a:extLst>
                  <a:ext uri="{0D108BD9-81ED-4DB2-BD59-A6C34878D82A}">
                    <a16:rowId xmlns:a16="http://schemas.microsoft.com/office/drawing/2014/main" val="30055700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err="1">
                          <a:solidFill>
                            <a:srgbClr val="000000"/>
                          </a:solidFill>
                          <a:latin typeface="Arial"/>
                          <a:ea typeface="바탕"/>
                        </a:rPr>
                        <a:t>notEmpty</a:t>
                      </a:r>
                      <a:r>
                        <a:rPr lang="en-US" sz="1800" b="0" strike="noStrike" spc="-1" dirty="0">
                          <a:solidFill>
                            <a:srgbClr val="000000"/>
                          </a:solidFill>
                          <a:latin typeface="Arial"/>
                          <a:ea typeface="바탕"/>
                        </a:rPr>
                        <a:t>()</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Does the collection contain one or more elements?</a:t>
                      </a:r>
                      <a:endParaRPr lang="en-US" sz="1800" b="0" strike="noStrike" spc="-1" dirty="0">
                        <a:latin typeface="Arial"/>
                      </a:endParaRPr>
                    </a:p>
                  </a:txBody>
                  <a:tcPr/>
                </a:tc>
                <a:extLst>
                  <a:ext uri="{0D108BD9-81ED-4DB2-BD59-A6C34878D82A}">
                    <a16:rowId xmlns:a16="http://schemas.microsoft.com/office/drawing/2014/main" val="1626250351"/>
                  </a:ext>
                </a:extLst>
              </a:tr>
              <a:tr h="370840">
                <a:tc>
                  <a:txBody>
                    <a:bodyPr/>
                    <a:lstStyle/>
                    <a:p>
                      <a:r>
                        <a:rPr lang="en-US" dirty="0"/>
                        <a:t>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Number of elements in the collection</a:t>
                      </a:r>
                      <a:endParaRPr lang="en-US" sz="1800" b="0" strike="noStrike" spc="-1" dirty="0">
                        <a:latin typeface="Arial"/>
                      </a:endParaRPr>
                    </a:p>
                  </a:txBody>
                  <a:tcPr/>
                </a:tc>
                <a:extLst>
                  <a:ext uri="{0D108BD9-81ED-4DB2-BD59-A6C34878D82A}">
                    <a16:rowId xmlns:a16="http://schemas.microsoft.com/office/drawing/2014/main" val="2744176063"/>
                  </a:ext>
                </a:extLst>
              </a:tr>
              <a:tr h="370840">
                <a:tc>
                  <a:txBody>
                    <a:bodyPr/>
                    <a:lstStyle/>
                    <a:p>
                      <a:r>
                        <a:rPr lang="en-US" dirty="0"/>
                        <a:t>sum()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Addition of all elements in the collection</a:t>
                      </a:r>
                      <a:endParaRPr lang="en-US" sz="1800" b="0" strike="noStrike" spc="-1" dirty="0">
                        <a:latin typeface="Arial"/>
                      </a:endParaRPr>
                    </a:p>
                  </a:txBody>
                  <a:tcPr/>
                </a:tc>
                <a:extLst>
                  <a:ext uri="{0D108BD9-81ED-4DB2-BD59-A6C34878D82A}">
                    <a16:rowId xmlns:a16="http://schemas.microsoft.com/office/drawing/2014/main" val="3262876022"/>
                  </a:ext>
                </a:extLst>
              </a:tr>
            </a:tbl>
          </a:graphicData>
        </a:graphic>
      </p:graphicFrame>
    </p:spTree>
    <p:extLst>
      <p:ext uri="{BB962C8B-B14F-4D97-AF65-F5344CB8AC3E}">
        <p14:creationId xmlns:p14="http://schemas.microsoft.com/office/powerpoint/2010/main" val="9190830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747BC-4FC8-4CBB-BF0C-08114210707C}"/>
              </a:ext>
            </a:extLst>
          </p:cNvPr>
          <p:cNvSpPr>
            <a:spLocks noGrp="1"/>
          </p:cNvSpPr>
          <p:nvPr>
            <p:ph type="title"/>
          </p:nvPr>
        </p:nvSpPr>
        <p:spPr/>
        <p:txBody>
          <a:bodyPr/>
          <a:lstStyle/>
          <a:p>
            <a:r>
              <a:rPr lang="en-US" dirty="0"/>
              <a:t>Iteration Operation</a:t>
            </a:r>
          </a:p>
        </p:txBody>
      </p:sp>
      <p:sp>
        <p:nvSpPr>
          <p:cNvPr id="3" name="Content Placeholder 2">
            <a:extLst>
              <a:ext uri="{FF2B5EF4-FFF2-40B4-BE49-F238E27FC236}">
                <a16:creationId xmlns:a16="http://schemas.microsoft.com/office/drawing/2014/main" id="{5157DF60-2AEC-46C7-A4C1-5B41E9D1B14E}"/>
              </a:ext>
            </a:extLst>
          </p:cNvPr>
          <p:cNvSpPr>
            <a:spLocks noGrp="1"/>
          </p:cNvSpPr>
          <p:nvPr>
            <p:ph idx="1"/>
          </p:nvPr>
        </p:nvSpPr>
        <p:spPr/>
        <p:txBody>
          <a:bodyPr>
            <a:normAutofit fontScale="85000" lnSpcReduction="10000"/>
          </a:bodyPr>
          <a:lstStyle/>
          <a:p>
            <a:r>
              <a:rPr lang="en-US" sz="2800" dirty="0"/>
              <a:t>Loop over elements by taking one element at a time</a:t>
            </a:r>
          </a:p>
          <a:p>
            <a:pPr lvl="1"/>
            <a:r>
              <a:rPr lang="en-US" sz="2400" dirty="0"/>
              <a:t>Iterator variables</a:t>
            </a:r>
          </a:p>
          <a:p>
            <a:pPr lvl="1"/>
            <a:r>
              <a:rPr lang="en-US" sz="2400" dirty="0"/>
              <a:t>Optional variable declared and used within body</a:t>
            </a:r>
          </a:p>
          <a:p>
            <a:pPr lvl="1"/>
            <a:r>
              <a:rPr lang="en-US" sz="2400" dirty="0"/>
              <a:t>Indicate the element being iterated</a:t>
            </a:r>
          </a:p>
          <a:p>
            <a:r>
              <a:rPr lang="en-US" sz="2800" dirty="0"/>
              <a:t>Always of the element type, thus, type declaration is optional</a:t>
            </a:r>
          </a:p>
          <a:p>
            <a:endParaRPr lang="en-US" sz="1800" dirty="0"/>
          </a:p>
          <a:p>
            <a:pPr marL="2017120" lvl="7" indent="0">
              <a:buNone/>
            </a:pPr>
            <a:r>
              <a:rPr lang="en-US" sz="2400" dirty="0"/>
              <a:t>  </a:t>
            </a:r>
            <a:r>
              <a:rPr lang="en-US" sz="2400" b="1" dirty="0">
                <a:solidFill>
                  <a:srgbClr val="0070C0"/>
                </a:solidFill>
              </a:rPr>
              <a:t>context Customer</a:t>
            </a:r>
          </a:p>
          <a:p>
            <a:pPr marL="2017120" lvl="7" indent="0">
              <a:buNone/>
            </a:pPr>
            <a:r>
              <a:rPr lang="en-US" sz="2400" b="1" dirty="0">
                <a:solidFill>
                  <a:srgbClr val="0070C0"/>
                </a:solidFill>
              </a:rPr>
              <a:t>  inv: </a:t>
            </a:r>
            <a:r>
              <a:rPr lang="en-US" sz="2400" b="1" dirty="0" err="1">
                <a:solidFill>
                  <a:srgbClr val="0070C0"/>
                </a:solidFill>
              </a:rPr>
              <a:t>self.accounts</a:t>
            </a:r>
            <a:r>
              <a:rPr lang="en-US" sz="2400" b="1" dirty="0">
                <a:solidFill>
                  <a:srgbClr val="0070C0"/>
                </a:solidFill>
              </a:rPr>
              <a:t>-&gt;</a:t>
            </a:r>
            <a:r>
              <a:rPr lang="en-US" sz="2400" b="1" dirty="0" err="1">
                <a:solidFill>
                  <a:srgbClr val="0070C0"/>
                </a:solidFill>
              </a:rPr>
              <a:t>forAll</a:t>
            </a:r>
            <a:r>
              <a:rPr lang="en-US" sz="2400" b="1" dirty="0">
                <a:solidFill>
                  <a:srgbClr val="0070C0"/>
                </a:solidFill>
              </a:rPr>
              <a:t>(a: Account | </a:t>
            </a:r>
            <a:r>
              <a:rPr lang="en-US" sz="2400" b="1" dirty="0" err="1">
                <a:solidFill>
                  <a:srgbClr val="0070C0"/>
                </a:solidFill>
              </a:rPr>
              <a:t>a.owner</a:t>
            </a:r>
            <a:r>
              <a:rPr lang="en-US" sz="2400" b="1" dirty="0">
                <a:solidFill>
                  <a:srgbClr val="0070C0"/>
                </a:solidFill>
              </a:rPr>
              <a:t> = self)</a:t>
            </a:r>
          </a:p>
          <a:p>
            <a:pPr marL="2017120" lvl="7" indent="0">
              <a:buNone/>
            </a:pPr>
            <a:r>
              <a:rPr lang="en-US" sz="2400" b="1" dirty="0">
                <a:solidFill>
                  <a:srgbClr val="0070C0"/>
                </a:solidFill>
              </a:rPr>
              <a:t>  inv: accounts-&gt;</a:t>
            </a:r>
            <a:r>
              <a:rPr lang="en-US" sz="2400" b="1" dirty="0" err="1">
                <a:solidFill>
                  <a:srgbClr val="0070C0"/>
                </a:solidFill>
              </a:rPr>
              <a:t>forAll</a:t>
            </a:r>
            <a:r>
              <a:rPr lang="en-US" sz="2400" b="1" dirty="0">
                <a:solidFill>
                  <a:srgbClr val="0070C0"/>
                </a:solidFill>
              </a:rPr>
              <a:t>(a | </a:t>
            </a:r>
            <a:r>
              <a:rPr lang="en-US" sz="2400" b="1" dirty="0" err="1">
                <a:solidFill>
                  <a:srgbClr val="0070C0"/>
                </a:solidFill>
              </a:rPr>
              <a:t>a.owner</a:t>
            </a:r>
            <a:r>
              <a:rPr lang="en-US" sz="2400" b="1" dirty="0">
                <a:solidFill>
                  <a:srgbClr val="0070C0"/>
                </a:solidFill>
              </a:rPr>
              <a:t> = self)</a:t>
            </a:r>
          </a:p>
          <a:p>
            <a:pPr marL="2017120" lvl="7" indent="0">
              <a:buNone/>
            </a:pPr>
            <a:r>
              <a:rPr lang="en-US" sz="2400" b="1" dirty="0">
                <a:solidFill>
                  <a:srgbClr val="0070C0"/>
                </a:solidFill>
              </a:rPr>
              <a:t>  inv: accounts-&gt;</a:t>
            </a:r>
            <a:r>
              <a:rPr lang="en-US" sz="2400" b="1" dirty="0" err="1">
                <a:solidFill>
                  <a:srgbClr val="0070C0"/>
                </a:solidFill>
              </a:rPr>
              <a:t>forAll</a:t>
            </a:r>
            <a:r>
              <a:rPr lang="en-US" sz="2400" b="1" dirty="0">
                <a:solidFill>
                  <a:srgbClr val="0070C0"/>
                </a:solidFill>
              </a:rPr>
              <a:t>(owner = self)</a:t>
            </a:r>
          </a:p>
          <a:p>
            <a:endParaRPr lang="en-US" sz="1800" dirty="0"/>
          </a:p>
        </p:txBody>
      </p:sp>
    </p:spTree>
    <p:extLst>
      <p:ext uri="{BB962C8B-B14F-4D97-AF65-F5344CB8AC3E}">
        <p14:creationId xmlns:p14="http://schemas.microsoft.com/office/powerpoint/2010/main" val="39004789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3CE1-4F6A-46FD-8C4E-BD30EF23175E}"/>
              </a:ext>
            </a:extLst>
          </p:cNvPr>
          <p:cNvSpPr>
            <a:spLocks noGrp="1"/>
          </p:cNvSpPr>
          <p:nvPr>
            <p:ph type="title"/>
          </p:nvPr>
        </p:nvSpPr>
        <p:spPr>
          <a:xfrm>
            <a:off x="1066800" y="642594"/>
            <a:ext cx="10058400" cy="895739"/>
          </a:xfrm>
        </p:spPr>
        <p:txBody>
          <a:bodyPr/>
          <a:lstStyle/>
          <a:p>
            <a:r>
              <a:rPr lang="en-US" dirty="0"/>
              <a:t>Iteration Operations</a:t>
            </a:r>
          </a:p>
        </p:txBody>
      </p:sp>
      <p:graphicFrame>
        <p:nvGraphicFramePr>
          <p:cNvPr id="4" name="Table 5">
            <a:extLst>
              <a:ext uri="{FF2B5EF4-FFF2-40B4-BE49-F238E27FC236}">
                <a16:creationId xmlns:a16="http://schemas.microsoft.com/office/drawing/2014/main" id="{B974EF8F-E3EE-4684-A4FB-E8AEF5F0979F}"/>
              </a:ext>
            </a:extLst>
          </p:cNvPr>
          <p:cNvGraphicFramePr>
            <a:graphicFrameLocks noGrp="1"/>
          </p:cNvGraphicFramePr>
          <p:nvPr>
            <p:extLst>
              <p:ext uri="{D42A27DB-BD31-4B8C-83A1-F6EECF244321}">
                <p14:modId xmlns:p14="http://schemas.microsoft.com/office/powerpoint/2010/main" val="2935122449"/>
              </p:ext>
            </p:extLst>
          </p:nvPr>
        </p:nvGraphicFramePr>
        <p:xfrm>
          <a:off x="1066800" y="1612978"/>
          <a:ext cx="10097796" cy="4499610"/>
        </p:xfrm>
        <a:graphic>
          <a:graphicData uri="http://schemas.openxmlformats.org/drawingml/2006/table">
            <a:tbl>
              <a:tblPr firstRow="1" bandRow="1">
                <a:tableStyleId>{5C22544A-7EE6-4342-B048-85BDC9FD1C3A}</a:tableStyleId>
              </a:tblPr>
              <a:tblGrid>
                <a:gridCol w="2577322">
                  <a:extLst>
                    <a:ext uri="{9D8B030D-6E8A-4147-A177-3AD203B41FA5}">
                      <a16:colId xmlns:a16="http://schemas.microsoft.com/office/drawing/2014/main" val="2452584998"/>
                    </a:ext>
                  </a:extLst>
                </a:gridCol>
                <a:gridCol w="7520474">
                  <a:extLst>
                    <a:ext uri="{9D8B030D-6E8A-4147-A177-3AD203B41FA5}">
                      <a16:colId xmlns:a16="http://schemas.microsoft.com/office/drawing/2014/main" val="3234300224"/>
                    </a:ext>
                  </a:extLst>
                </a:gridCol>
              </a:tblGrid>
              <a:tr h="370840">
                <a:tc>
                  <a:txBody>
                    <a:bodyPr/>
                    <a:lstStyle/>
                    <a:p>
                      <a:pPr>
                        <a:lnSpc>
                          <a:spcPct val="93000"/>
                        </a:lnSpc>
                      </a:pPr>
                      <a:r>
                        <a:rPr lang="en-US" sz="1800" b="1" strike="noStrike" spc="-1" dirty="0">
                          <a:solidFill>
                            <a:srgbClr val="000000"/>
                          </a:solidFill>
                          <a:latin typeface="Arial"/>
                          <a:ea typeface="바탕"/>
                        </a:rPr>
                        <a:t>Operation</a:t>
                      </a:r>
                      <a:endParaRPr lang="en-US" sz="1800" b="0" strike="noStrike" spc="-1" dirty="0">
                        <a:latin typeface="Arial"/>
                      </a:endParaRPr>
                    </a:p>
                  </a:txBody>
                  <a:tcPr marL="68760" marR="68760"/>
                </a:tc>
                <a:tc>
                  <a:txBody>
                    <a:bodyPr/>
                    <a:lstStyle/>
                    <a:p>
                      <a:pPr>
                        <a:lnSpc>
                          <a:spcPct val="93000"/>
                        </a:lnSpc>
                      </a:pPr>
                      <a:r>
                        <a:rPr lang="en-US" sz="1800" b="1" strike="noStrike" spc="-1" dirty="0">
                          <a:solidFill>
                            <a:srgbClr val="000000"/>
                          </a:solidFill>
                          <a:latin typeface="Arial"/>
                          <a:ea typeface="바탕"/>
                        </a:rPr>
                        <a:t>Description</a:t>
                      </a:r>
                      <a:endParaRPr lang="en-US" sz="1800" b="0" strike="noStrike" spc="-1" dirty="0">
                        <a:latin typeface="Arial"/>
                      </a:endParaRPr>
                    </a:p>
                  </a:txBody>
                  <a:tcPr marL="68760" marR="68760"/>
                </a:tc>
                <a:extLst>
                  <a:ext uri="{0D108BD9-81ED-4DB2-BD59-A6C34878D82A}">
                    <a16:rowId xmlns:a16="http://schemas.microsoft.com/office/drawing/2014/main" val="1930912171"/>
                  </a:ext>
                </a:extLst>
              </a:tr>
              <a:tr h="370840">
                <a:tc>
                  <a:txBody>
                    <a:bodyPr/>
                    <a:lstStyle/>
                    <a:p>
                      <a:pPr>
                        <a:lnSpc>
                          <a:spcPct val="93000"/>
                        </a:lnSpc>
                      </a:pPr>
                      <a:r>
                        <a:rPr lang="en-US" sz="1800" b="0" strike="noStrike" spc="-1" dirty="0">
                          <a:solidFill>
                            <a:srgbClr val="000000"/>
                          </a:solidFill>
                          <a:latin typeface="Arial"/>
                          <a:ea typeface="바탕"/>
                        </a:rPr>
                        <a:t>any(expr)</a:t>
                      </a:r>
                      <a:endParaRPr lang="en-US" sz="1800" b="0" strike="noStrike" spc="-1" dirty="0">
                        <a:latin typeface="Arial"/>
                      </a:endParaRPr>
                    </a:p>
                  </a:txBody>
                  <a:tcPr/>
                </a:tc>
                <a:tc>
                  <a:txBody>
                    <a:bodyPr/>
                    <a:lstStyle/>
                    <a:p>
                      <a:pPr>
                        <a:lnSpc>
                          <a:spcPct val="93000"/>
                        </a:lnSpc>
                      </a:pPr>
                      <a:r>
                        <a:rPr lang="en-US" sz="1800" b="0" strike="noStrike" spc="-1" dirty="0">
                          <a:solidFill>
                            <a:srgbClr val="000000"/>
                          </a:solidFill>
                          <a:latin typeface="Arial"/>
                          <a:ea typeface="바탕"/>
                        </a:rPr>
                        <a:t>Returns any element for which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is true</a:t>
                      </a:r>
                      <a:endParaRPr lang="en-US" sz="1800" b="0" strike="noStrike" spc="-1" dirty="0">
                        <a:latin typeface="Arial"/>
                      </a:endParaRPr>
                    </a:p>
                  </a:txBody>
                  <a:tcPr/>
                </a:tc>
                <a:extLst>
                  <a:ext uri="{0D108BD9-81ED-4DB2-BD59-A6C34878D82A}">
                    <a16:rowId xmlns:a16="http://schemas.microsoft.com/office/drawing/2014/main" val="3975507825"/>
                  </a:ext>
                </a:extLst>
              </a:tr>
              <a:tr h="370840">
                <a:tc>
                  <a:txBody>
                    <a:bodyPr/>
                    <a:lstStyle/>
                    <a:p>
                      <a:pPr>
                        <a:lnSpc>
                          <a:spcPct val="107000"/>
                        </a:lnSpc>
                      </a:pPr>
                      <a:r>
                        <a:rPr lang="en-US" sz="1800" b="0" strike="noStrike" spc="-1" dirty="0">
                          <a:solidFill>
                            <a:srgbClr val="000000"/>
                          </a:solidFill>
                          <a:latin typeface="Arial"/>
                          <a:ea typeface="바탕"/>
                        </a:rPr>
                        <a:t>collect(expr)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Returns a collection that results from evaluating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for each element of </a:t>
                      </a:r>
                      <a:r>
                        <a:rPr lang="en-US" sz="1800" b="0" i="1" strike="noStrike" spc="-1" dirty="0">
                          <a:solidFill>
                            <a:srgbClr val="000000"/>
                          </a:solidFill>
                          <a:latin typeface="Arial"/>
                          <a:ea typeface="바탕"/>
                        </a:rPr>
                        <a:t>self</a:t>
                      </a:r>
                      <a:endParaRPr lang="en-US" sz="1800" b="0" strike="noStrike" spc="-1" dirty="0">
                        <a:latin typeface="Arial"/>
                      </a:endParaRPr>
                    </a:p>
                  </a:txBody>
                  <a:tcPr/>
                </a:tc>
                <a:extLst>
                  <a:ext uri="{0D108BD9-81ED-4DB2-BD59-A6C34878D82A}">
                    <a16:rowId xmlns:a16="http://schemas.microsoft.com/office/drawing/2014/main" val="1425664833"/>
                  </a:ext>
                </a:extLst>
              </a:tr>
              <a:tr h="370840">
                <a:tc>
                  <a:txBody>
                    <a:bodyPr/>
                    <a:lstStyle/>
                    <a:p>
                      <a:pPr>
                        <a:lnSpc>
                          <a:spcPct val="107000"/>
                        </a:lnSpc>
                      </a:pPr>
                      <a:r>
                        <a:rPr lang="en-US" sz="1800" b="0" strike="noStrike" spc="-1" dirty="0">
                          <a:solidFill>
                            <a:srgbClr val="000000"/>
                          </a:solidFill>
                          <a:latin typeface="Arial"/>
                          <a:ea typeface="바탕"/>
                        </a:rPr>
                        <a:t>exists(expr)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Has at least one element for which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is true?</a:t>
                      </a:r>
                      <a:endParaRPr lang="en-US" sz="1800" b="0" strike="noStrike" spc="-1" dirty="0">
                        <a:latin typeface="Arial"/>
                      </a:endParaRPr>
                    </a:p>
                  </a:txBody>
                  <a:tcPr/>
                </a:tc>
                <a:extLst>
                  <a:ext uri="{0D108BD9-81ED-4DB2-BD59-A6C34878D82A}">
                    <a16:rowId xmlns:a16="http://schemas.microsoft.com/office/drawing/2014/main" val="2318027871"/>
                  </a:ext>
                </a:extLst>
              </a:tr>
              <a:tr h="370840">
                <a:tc>
                  <a:txBody>
                    <a:bodyPr/>
                    <a:lstStyle/>
                    <a:p>
                      <a:pPr>
                        <a:lnSpc>
                          <a:spcPct val="107000"/>
                        </a:lnSpc>
                      </a:pPr>
                      <a:r>
                        <a:rPr lang="en-US" sz="1800" b="0" strike="noStrike" spc="-1" dirty="0" err="1">
                          <a:solidFill>
                            <a:srgbClr val="000000"/>
                          </a:solidFill>
                          <a:latin typeface="Arial"/>
                          <a:ea typeface="바탕"/>
                        </a:rPr>
                        <a:t>forAll</a:t>
                      </a:r>
                      <a:r>
                        <a:rPr lang="en-US" sz="1800" b="0" strike="noStrike" spc="-1" dirty="0">
                          <a:solidFill>
                            <a:srgbClr val="000000"/>
                          </a:solidFill>
                          <a:latin typeface="Arial"/>
                          <a:ea typeface="바탕"/>
                        </a:rPr>
                        <a:t>(expr)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Is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true for all elements?</a:t>
                      </a:r>
                      <a:endParaRPr lang="en-US" sz="1800" b="0" strike="noStrike" spc="-1" dirty="0">
                        <a:latin typeface="Arial"/>
                      </a:endParaRPr>
                    </a:p>
                  </a:txBody>
                  <a:tcPr/>
                </a:tc>
                <a:extLst>
                  <a:ext uri="{0D108BD9-81ED-4DB2-BD59-A6C34878D82A}">
                    <a16:rowId xmlns:a16="http://schemas.microsoft.com/office/drawing/2014/main" val="1056044916"/>
                  </a:ext>
                </a:extLst>
              </a:tr>
              <a:tr h="370840">
                <a:tc>
                  <a:txBody>
                    <a:bodyPr/>
                    <a:lstStyle/>
                    <a:p>
                      <a:pPr>
                        <a:lnSpc>
                          <a:spcPct val="107000"/>
                        </a:lnSpc>
                      </a:pPr>
                      <a:r>
                        <a:rPr lang="en-US" sz="1800" b="0" strike="noStrike" spc="-1" dirty="0" err="1">
                          <a:solidFill>
                            <a:srgbClr val="000000"/>
                          </a:solidFill>
                          <a:latin typeface="Arial"/>
                          <a:ea typeface="바탕"/>
                        </a:rPr>
                        <a:t>isUnique</a:t>
                      </a:r>
                      <a:r>
                        <a:rPr lang="en-US" sz="1800" b="0" strike="noStrike" spc="-1" dirty="0">
                          <a:solidFill>
                            <a:srgbClr val="000000"/>
                          </a:solidFill>
                          <a:latin typeface="Arial"/>
                          <a:ea typeface="바탕"/>
                        </a:rPr>
                        <a:t>(expr)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Does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has unique value for all elements?</a:t>
                      </a:r>
                      <a:endParaRPr lang="en-US" sz="1800" b="0" strike="noStrike" spc="-1" dirty="0">
                        <a:latin typeface="Arial"/>
                      </a:endParaRPr>
                    </a:p>
                  </a:txBody>
                  <a:tcPr/>
                </a:tc>
                <a:extLst>
                  <a:ext uri="{0D108BD9-81ED-4DB2-BD59-A6C34878D82A}">
                    <a16:rowId xmlns:a16="http://schemas.microsoft.com/office/drawing/2014/main" val="1886196878"/>
                  </a:ext>
                </a:extLst>
              </a:tr>
              <a:tr h="370840">
                <a:tc>
                  <a:txBody>
                    <a:bodyPr/>
                    <a:lstStyle/>
                    <a:p>
                      <a:pPr>
                        <a:lnSpc>
                          <a:spcPct val="107000"/>
                        </a:lnSpc>
                      </a:pPr>
                      <a:r>
                        <a:rPr lang="en-US" sz="1800" b="0" strike="noStrike" spc="-1" dirty="0">
                          <a:solidFill>
                            <a:srgbClr val="000000"/>
                          </a:solidFill>
                          <a:latin typeface="Arial"/>
                          <a:ea typeface="바탕"/>
                        </a:rPr>
                        <a:t>iterate(x: S; y: T| 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Iterates over all elements</a:t>
                      </a:r>
                      <a:endParaRPr lang="en-US" sz="1800" b="0" strike="noStrike" spc="-1" dirty="0">
                        <a:latin typeface="Arial"/>
                      </a:endParaRPr>
                    </a:p>
                  </a:txBody>
                  <a:tcPr/>
                </a:tc>
                <a:extLst>
                  <a:ext uri="{0D108BD9-81ED-4DB2-BD59-A6C34878D82A}">
                    <a16:rowId xmlns:a16="http://schemas.microsoft.com/office/drawing/2014/main" val="3005570091"/>
                  </a:ext>
                </a:extLst>
              </a:tr>
              <a:tr h="370840">
                <a:tc>
                  <a:txBody>
                    <a:bodyPr/>
                    <a:lstStyle/>
                    <a:p>
                      <a:pPr>
                        <a:lnSpc>
                          <a:spcPct val="107000"/>
                        </a:lnSpc>
                      </a:pPr>
                      <a:r>
                        <a:rPr lang="en-US" sz="1800" b="0" strike="noStrike" spc="-1" dirty="0">
                          <a:solidFill>
                            <a:srgbClr val="000000"/>
                          </a:solidFill>
                          <a:latin typeface="Arial"/>
                          <a:ea typeface="바탕"/>
                        </a:rPr>
                        <a:t>one(expr)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Has only one element for which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is true?</a:t>
                      </a:r>
                      <a:endParaRPr lang="en-US" sz="1800" b="0" strike="noStrike" spc="-1" dirty="0">
                        <a:latin typeface="Arial"/>
                      </a:endParaRPr>
                    </a:p>
                  </a:txBody>
                  <a:tcPr/>
                </a:tc>
                <a:extLst>
                  <a:ext uri="{0D108BD9-81ED-4DB2-BD59-A6C34878D82A}">
                    <a16:rowId xmlns:a16="http://schemas.microsoft.com/office/drawing/2014/main" val="1626250351"/>
                  </a:ext>
                </a:extLst>
              </a:tr>
              <a:tr h="370840">
                <a:tc>
                  <a:txBody>
                    <a:bodyPr/>
                    <a:lstStyle/>
                    <a:p>
                      <a:pPr>
                        <a:lnSpc>
                          <a:spcPct val="107000"/>
                        </a:lnSpc>
                      </a:pPr>
                      <a:r>
                        <a:rPr lang="en-US" sz="1800" b="0" strike="noStrike" spc="-1" dirty="0">
                          <a:solidFill>
                            <a:srgbClr val="000000"/>
                          </a:solidFill>
                          <a:latin typeface="Arial"/>
                          <a:ea typeface="바탕"/>
                        </a:rPr>
                        <a:t>reject(expr)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Returns a collection containing all elements for which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is false</a:t>
                      </a:r>
                      <a:endParaRPr lang="en-US" sz="1800" b="0" strike="noStrike" spc="-1" dirty="0">
                        <a:latin typeface="Arial"/>
                      </a:endParaRPr>
                    </a:p>
                  </a:txBody>
                  <a:tcPr/>
                </a:tc>
                <a:extLst>
                  <a:ext uri="{0D108BD9-81ED-4DB2-BD59-A6C34878D82A}">
                    <a16:rowId xmlns:a16="http://schemas.microsoft.com/office/drawing/2014/main" val="2744176063"/>
                  </a:ext>
                </a:extLst>
              </a:tr>
              <a:tr h="370840">
                <a:tc>
                  <a:txBody>
                    <a:bodyPr/>
                    <a:lstStyle/>
                    <a:p>
                      <a:pPr>
                        <a:lnSpc>
                          <a:spcPct val="107000"/>
                        </a:lnSpc>
                      </a:pPr>
                      <a:r>
                        <a:rPr lang="en-US" sz="1800" b="0" strike="noStrike" spc="-1" dirty="0">
                          <a:solidFill>
                            <a:srgbClr val="000000"/>
                          </a:solidFill>
                          <a:latin typeface="Arial"/>
                          <a:ea typeface="바탕"/>
                        </a:rPr>
                        <a:t>select(expr)</a:t>
                      </a:r>
                      <a:endParaRPr lang="en-US" sz="1800" b="0" strike="noStrike" spc="-1" dirty="0">
                        <a:latin typeface="Arial"/>
                      </a:endParaRPr>
                    </a:p>
                  </a:txBody>
                  <a:tcPr/>
                </a:tc>
                <a:tc>
                  <a:txBody>
                    <a:bodyPr/>
                    <a:lstStyle/>
                    <a:p>
                      <a:pPr>
                        <a:lnSpc>
                          <a:spcPct val="107000"/>
                        </a:lnSpc>
                      </a:pPr>
                      <a:r>
                        <a:rPr lang="en-US" sz="1800" b="0" strike="noStrike" spc="-1" dirty="0">
                          <a:solidFill>
                            <a:srgbClr val="000000"/>
                          </a:solidFill>
                          <a:latin typeface="Arial"/>
                          <a:ea typeface="바탕"/>
                        </a:rPr>
                        <a:t>Returns a collection containing all elements for which </a:t>
                      </a:r>
                      <a:r>
                        <a:rPr lang="en-US" sz="1800" b="0" i="1" strike="noStrike" spc="-1" dirty="0">
                          <a:solidFill>
                            <a:srgbClr val="000000"/>
                          </a:solidFill>
                          <a:latin typeface="Arial"/>
                          <a:ea typeface="바탕"/>
                        </a:rPr>
                        <a:t>expr</a:t>
                      </a:r>
                      <a:r>
                        <a:rPr lang="en-US" sz="1800" b="0" strike="noStrike" spc="-1" dirty="0">
                          <a:solidFill>
                            <a:srgbClr val="000000"/>
                          </a:solidFill>
                          <a:latin typeface="Arial"/>
                          <a:ea typeface="바탕"/>
                        </a:rPr>
                        <a:t> is true</a:t>
                      </a:r>
                      <a:endParaRPr lang="en-US" sz="1800" b="0" strike="noStrike" spc="-1" dirty="0">
                        <a:latin typeface="Arial"/>
                      </a:endParaRPr>
                    </a:p>
                  </a:txBody>
                  <a:tcPr/>
                </a:tc>
                <a:extLst>
                  <a:ext uri="{0D108BD9-81ED-4DB2-BD59-A6C34878D82A}">
                    <a16:rowId xmlns:a16="http://schemas.microsoft.com/office/drawing/2014/main" val="3262876022"/>
                  </a:ext>
                </a:extLst>
              </a:tr>
              <a:tr h="370840">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800" b="0" strike="noStrike" spc="-1" dirty="0" err="1">
                          <a:solidFill>
                            <a:srgbClr val="000000"/>
                          </a:solidFill>
                          <a:latin typeface="Arial"/>
                          <a:ea typeface="바탕"/>
                        </a:rPr>
                        <a:t>sortedBy</a:t>
                      </a:r>
                      <a:r>
                        <a:rPr lang="en-US" sz="1800" b="0" strike="noStrike" spc="-1" dirty="0">
                          <a:solidFill>
                            <a:srgbClr val="000000"/>
                          </a:solidFill>
                          <a:latin typeface="Arial"/>
                          <a:ea typeface="바탕"/>
                        </a:rPr>
                        <a:t>(expr)</a:t>
                      </a:r>
                      <a:endParaRPr lang="en-US" sz="1800" b="0" strike="noStrike" spc="-1" dirty="0">
                        <a:latin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latin typeface="Arial"/>
                          <a:ea typeface="바탕"/>
                        </a:rPr>
                        <a:t>Returns a collection containing all elements ordered by </a:t>
                      </a:r>
                      <a:r>
                        <a:rPr lang="en-US" sz="1800" b="0" i="1" strike="noStrike" spc="-1" dirty="0">
                          <a:solidFill>
                            <a:srgbClr val="000000"/>
                          </a:solidFill>
                          <a:latin typeface="Arial"/>
                          <a:ea typeface="바탕"/>
                        </a:rPr>
                        <a:t>expr</a:t>
                      </a:r>
                      <a:endParaRPr lang="en-US" sz="1800" b="0" strike="noStrike" spc="-1" dirty="0">
                        <a:latin typeface="Arial"/>
                      </a:endParaRPr>
                    </a:p>
                  </a:txBody>
                  <a:tcPr/>
                </a:tc>
                <a:extLst>
                  <a:ext uri="{0D108BD9-81ED-4DB2-BD59-A6C34878D82A}">
                    <a16:rowId xmlns:a16="http://schemas.microsoft.com/office/drawing/2014/main" val="2569596295"/>
                  </a:ext>
                </a:extLst>
              </a:tr>
            </a:tbl>
          </a:graphicData>
        </a:graphic>
      </p:graphicFrame>
    </p:spTree>
    <p:extLst>
      <p:ext uri="{BB962C8B-B14F-4D97-AF65-F5344CB8AC3E}">
        <p14:creationId xmlns:p14="http://schemas.microsoft.com/office/powerpoint/2010/main" val="36139971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8F7E-03BB-4483-A7D2-EB3DC96A51CE}"/>
              </a:ext>
            </a:extLst>
          </p:cNvPr>
          <p:cNvSpPr>
            <a:spLocks noGrp="1"/>
          </p:cNvSpPr>
          <p:nvPr>
            <p:ph type="title"/>
          </p:nvPr>
        </p:nvSpPr>
        <p:spPr/>
        <p:txBody>
          <a:bodyPr/>
          <a:lstStyle/>
          <a:p>
            <a:r>
              <a:rPr lang="en-US" dirty="0"/>
              <a:t>Iteration Operations - Examples</a:t>
            </a:r>
          </a:p>
        </p:txBody>
      </p:sp>
      <p:sp>
        <p:nvSpPr>
          <p:cNvPr id="3" name="Content Placeholder 2">
            <a:extLst>
              <a:ext uri="{FF2B5EF4-FFF2-40B4-BE49-F238E27FC236}">
                <a16:creationId xmlns:a16="http://schemas.microsoft.com/office/drawing/2014/main" id="{D546175A-54D2-49F7-8451-0516DE419A1A}"/>
              </a:ext>
            </a:extLst>
          </p:cNvPr>
          <p:cNvSpPr>
            <a:spLocks noGrp="1"/>
          </p:cNvSpPr>
          <p:nvPr>
            <p:ph idx="1"/>
          </p:nvPr>
        </p:nvSpPr>
        <p:spPr/>
        <p:txBody>
          <a:bodyPr>
            <a:normAutofit fontScale="92500" lnSpcReduction="10000"/>
          </a:bodyPr>
          <a:lstStyle/>
          <a:p>
            <a:pPr>
              <a:lnSpc>
                <a:spcPct val="100000"/>
              </a:lnSpc>
            </a:pPr>
            <a:r>
              <a:rPr lang="en-US" sz="2000" b="0" strike="noStrike" spc="-1" dirty="0">
                <a:solidFill>
                  <a:srgbClr val="000000"/>
                </a:solidFill>
                <a:latin typeface="Arial"/>
                <a:ea typeface="Gulim"/>
              </a:rPr>
              <a:t>accounts-&gt;any(a: Account | </a:t>
            </a:r>
            <a:r>
              <a:rPr lang="en-US" sz="2000" b="0" strike="noStrike" spc="-1" dirty="0" err="1">
                <a:solidFill>
                  <a:srgbClr val="000000"/>
                </a:solidFill>
                <a:latin typeface="Arial"/>
                <a:ea typeface="Gulim"/>
              </a:rPr>
              <a:t>a.balance</a:t>
            </a:r>
            <a:r>
              <a:rPr lang="en-US" sz="2000" b="0" strike="noStrike" spc="-1" dirty="0">
                <a:solidFill>
                  <a:srgbClr val="000000"/>
                </a:solidFill>
                <a:latin typeface="Arial"/>
                <a:ea typeface="Gulim"/>
              </a:rPr>
              <a:t> &gt;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accounts-&gt;collect(name) -- all the names</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accounts-&gt;exists(balance &gt; 5000)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forAll</a:t>
            </a:r>
            <a:r>
              <a:rPr lang="en-US" sz="2000" b="0" strike="noStrike" spc="-1" dirty="0">
                <a:solidFill>
                  <a:srgbClr val="000000"/>
                </a:solidFill>
                <a:latin typeface="Arial"/>
                <a:ea typeface="Gulim"/>
              </a:rPr>
              <a:t>(balance &gt;= 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isUnique</a:t>
            </a:r>
            <a:r>
              <a:rPr lang="en-US" sz="2000" b="0" strike="noStrike" spc="-1" dirty="0">
                <a:solidFill>
                  <a:srgbClr val="000000"/>
                </a:solidFill>
                <a:latin typeface="Arial"/>
                <a:ea typeface="Gulim"/>
              </a:rPr>
              <a:t>(name)</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accounts-&gt;iterate(a: Account; sum: Integer = 0 | sum + </a:t>
            </a:r>
            <a:r>
              <a:rPr lang="en-US" sz="2000" b="0" strike="noStrike" spc="-1" dirty="0" err="1">
                <a:solidFill>
                  <a:srgbClr val="000000"/>
                </a:solidFill>
                <a:latin typeface="Arial"/>
                <a:ea typeface="Gulim"/>
              </a:rPr>
              <a:t>a.balance</a:t>
            </a:r>
            <a:r>
              <a:rPr lang="en-US" sz="2000" b="0" strike="noStrike" spc="-1" dirty="0">
                <a:solidFill>
                  <a:srgbClr val="000000"/>
                </a:solidFill>
                <a:latin typeface="Arial"/>
                <a:ea typeface="Gulim"/>
              </a:rPr>
              <a:t>)</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accounts-&gt;one(name = ‘Carmen’)</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accounts-&gt;reject(balance &gt;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accounts-&gt;select(balance &lt;=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sortedBy</a:t>
            </a:r>
            <a:r>
              <a:rPr lang="en-US" sz="2000" b="0" strike="noStrike" spc="-1" dirty="0">
                <a:solidFill>
                  <a:srgbClr val="000000"/>
                </a:solidFill>
                <a:latin typeface="Arial"/>
                <a:ea typeface="Gulim"/>
              </a:rPr>
              <a:t>(balance) </a:t>
            </a:r>
            <a:endParaRPr lang="en-US" sz="2000" b="0" strike="noStrike" spc="-1" dirty="0">
              <a:latin typeface="Arial"/>
            </a:endParaRPr>
          </a:p>
          <a:p>
            <a:pPr>
              <a:lnSpc>
                <a:spcPct val="100000"/>
              </a:lnSpc>
            </a:pPr>
            <a:endParaRPr lang="en-US" sz="2000" b="0" strike="noStrike" spc="-1" dirty="0">
              <a:latin typeface="Arial"/>
            </a:endParaRPr>
          </a:p>
          <a:p>
            <a:pPr marL="0" indent="0">
              <a:buNone/>
            </a:pPr>
            <a:endParaRPr lang="en-US" sz="1800" dirty="0"/>
          </a:p>
        </p:txBody>
      </p:sp>
    </p:spTree>
    <p:extLst>
      <p:ext uri="{BB962C8B-B14F-4D97-AF65-F5344CB8AC3E}">
        <p14:creationId xmlns:p14="http://schemas.microsoft.com/office/powerpoint/2010/main" val="17966910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1581-6299-4B62-90D5-4AB6FA7424CF}"/>
              </a:ext>
            </a:extLst>
          </p:cNvPr>
          <p:cNvSpPr>
            <a:spLocks noGrp="1"/>
          </p:cNvSpPr>
          <p:nvPr>
            <p:ph type="title"/>
          </p:nvPr>
        </p:nvSpPr>
        <p:spPr/>
        <p:txBody>
          <a:bodyPr/>
          <a:lstStyle/>
          <a:p>
            <a:r>
              <a:rPr lang="en-US" dirty="0"/>
              <a:t>Iteration Operations - Examples</a:t>
            </a:r>
          </a:p>
        </p:txBody>
      </p:sp>
      <p:sp>
        <p:nvSpPr>
          <p:cNvPr id="3" name="Content Placeholder 2">
            <a:extLst>
              <a:ext uri="{FF2B5EF4-FFF2-40B4-BE49-F238E27FC236}">
                <a16:creationId xmlns:a16="http://schemas.microsoft.com/office/drawing/2014/main" id="{D9625CE3-7B49-4D15-9129-067CCE6AB625}"/>
              </a:ext>
            </a:extLst>
          </p:cNvPr>
          <p:cNvSpPr>
            <a:spLocks noGrp="1"/>
          </p:cNvSpPr>
          <p:nvPr>
            <p:ph idx="1"/>
          </p:nvPr>
        </p:nvSpPr>
        <p:spPr/>
        <p:txBody>
          <a:bodyPr>
            <a:normAutofit fontScale="92500" lnSpcReduction="10000"/>
          </a:bodyPr>
          <a:lstStyle/>
          <a:p>
            <a:pPr>
              <a:lnSpc>
                <a:spcPct val="100000"/>
              </a:lnSpc>
            </a:pPr>
            <a:r>
              <a:rPr lang="en-US" sz="2000" b="0" strike="noStrike" spc="-1" dirty="0">
                <a:solidFill>
                  <a:srgbClr val="000000"/>
                </a:solidFill>
                <a:latin typeface="Arial"/>
                <a:ea typeface="Gulim"/>
              </a:rPr>
              <a:t>accounts-&gt;any(a: Account | </a:t>
            </a:r>
            <a:r>
              <a:rPr lang="en-US" sz="2000" b="0" strike="noStrike" spc="-1" dirty="0" err="1">
                <a:solidFill>
                  <a:srgbClr val="000000"/>
                </a:solidFill>
                <a:latin typeface="Arial"/>
                <a:ea typeface="Gulim"/>
              </a:rPr>
              <a:t>a.balance</a:t>
            </a:r>
            <a:r>
              <a:rPr lang="en-US" sz="2000" b="0" strike="noStrike" spc="-1" dirty="0">
                <a:solidFill>
                  <a:srgbClr val="000000"/>
                </a:solidFill>
                <a:latin typeface="Arial"/>
                <a:ea typeface="Gulim"/>
              </a:rPr>
              <a:t> &gt;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accounts-&gt;collect(name) -- all the names</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accounts-&gt;exists(balance &gt; 5000)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forAll</a:t>
            </a:r>
            <a:r>
              <a:rPr lang="en-US" sz="2000" b="0" strike="noStrike" spc="-1" dirty="0">
                <a:solidFill>
                  <a:srgbClr val="000000"/>
                </a:solidFill>
                <a:latin typeface="Arial"/>
                <a:ea typeface="Gulim"/>
              </a:rPr>
              <a:t>(balance &gt;= 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isUnique</a:t>
            </a:r>
            <a:r>
              <a:rPr lang="en-US" sz="2000" b="0" strike="noStrike" spc="-1" dirty="0">
                <a:solidFill>
                  <a:srgbClr val="000000"/>
                </a:solidFill>
                <a:latin typeface="Arial"/>
                <a:ea typeface="Gulim"/>
              </a:rPr>
              <a:t>(name)</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accounts-&gt;iterate(a: Account; sum: Integer = 0 | sum + </a:t>
            </a:r>
            <a:r>
              <a:rPr lang="en-US" sz="2000" b="0" strike="noStrike" spc="-1" dirty="0" err="1">
                <a:solidFill>
                  <a:srgbClr val="000000"/>
                </a:solidFill>
                <a:latin typeface="Arial"/>
                <a:ea typeface="Gulim"/>
              </a:rPr>
              <a:t>a.balance</a:t>
            </a:r>
            <a:r>
              <a:rPr lang="en-US" sz="2000" b="0" strike="noStrike" spc="-1" dirty="0">
                <a:solidFill>
                  <a:srgbClr val="000000"/>
                </a:solidFill>
                <a:latin typeface="Arial"/>
                <a:ea typeface="Gulim"/>
              </a:rPr>
              <a:t>)</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accounts-&gt;one(name = ‘Carmen’)</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accounts-&gt;reject(balance &gt;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accounts-&gt;select(balance &lt;= 1000)</a:t>
            </a:r>
            <a:endParaRPr lang="en-US" sz="2000" b="0" strike="noStrike" spc="-1" dirty="0">
              <a:latin typeface="Arial"/>
            </a:endParaRPr>
          </a:p>
          <a:p>
            <a:pPr>
              <a:lnSpc>
                <a:spcPct val="100000"/>
              </a:lnSpc>
            </a:pPr>
            <a:r>
              <a:rPr lang="en-US" sz="2000" b="0" strike="noStrike" spc="-1" dirty="0">
                <a:solidFill>
                  <a:srgbClr val="000000"/>
                </a:solidFill>
                <a:latin typeface="Arial"/>
                <a:ea typeface="Gulim"/>
              </a:rPr>
              <a:t>accounts-&gt;</a:t>
            </a:r>
            <a:r>
              <a:rPr lang="en-US" sz="2000" b="0" strike="noStrike" spc="-1" dirty="0" err="1">
                <a:solidFill>
                  <a:srgbClr val="000000"/>
                </a:solidFill>
                <a:latin typeface="Arial"/>
                <a:ea typeface="Gulim"/>
              </a:rPr>
              <a:t>sortedBy</a:t>
            </a:r>
            <a:r>
              <a:rPr lang="en-US" sz="2000" b="0" strike="noStrike" spc="-1" dirty="0">
                <a:solidFill>
                  <a:srgbClr val="000000"/>
                </a:solidFill>
                <a:latin typeface="Arial"/>
                <a:ea typeface="Gulim"/>
              </a:rPr>
              <a:t>(balance) </a:t>
            </a:r>
            <a:endParaRPr lang="en-US" sz="2000" b="0" strike="noStrike" spc="-1" dirty="0">
              <a:latin typeface="Arial"/>
            </a:endParaRPr>
          </a:p>
          <a:p>
            <a:pPr>
              <a:lnSpc>
                <a:spcPct val="100000"/>
              </a:lnSpc>
            </a:pPr>
            <a:endParaRPr lang="en-US" sz="2000" b="0" strike="noStrike" spc="-1" dirty="0">
              <a:latin typeface="Arial"/>
            </a:endParaRPr>
          </a:p>
          <a:p>
            <a:endParaRPr lang="en-US" sz="1800" dirty="0"/>
          </a:p>
        </p:txBody>
      </p:sp>
    </p:spTree>
    <p:extLst>
      <p:ext uri="{BB962C8B-B14F-4D97-AF65-F5344CB8AC3E}">
        <p14:creationId xmlns:p14="http://schemas.microsoft.com/office/powerpoint/2010/main" val="1660034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C27C-C74D-46DF-98F3-5F10735C70CE}"/>
              </a:ext>
            </a:extLst>
          </p:cNvPr>
          <p:cNvSpPr>
            <a:spLocks noGrp="1"/>
          </p:cNvSpPr>
          <p:nvPr>
            <p:ph type="title"/>
          </p:nvPr>
        </p:nvSpPr>
        <p:spPr/>
        <p:txBody>
          <a:bodyPr/>
          <a:lstStyle/>
          <a:p>
            <a:r>
              <a:rPr lang="en-US" dirty="0"/>
              <a:t>The iterate Operation</a:t>
            </a:r>
          </a:p>
        </p:txBody>
      </p:sp>
      <p:sp>
        <p:nvSpPr>
          <p:cNvPr id="3" name="Content Placeholder 2">
            <a:extLst>
              <a:ext uri="{FF2B5EF4-FFF2-40B4-BE49-F238E27FC236}">
                <a16:creationId xmlns:a16="http://schemas.microsoft.com/office/drawing/2014/main" id="{CC6D2C17-9DC9-4977-A5CB-48D4A9071CC9}"/>
              </a:ext>
            </a:extLst>
          </p:cNvPr>
          <p:cNvSpPr>
            <a:spLocks noGrp="1"/>
          </p:cNvSpPr>
          <p:nvPr>
            <p:ph idx="1"/>
          </p:nvPr>
        </p:nvSpPr>
        <p:spPr/>
        <p:txBody>
          <a:bodyPr>
            <a:normAutofit lnSpcReduction="10000"/>
          </a:bodyPr>
          <a:lstStyle/>
          <a:p>
            <a:r>
              <a:rPr lang="en-US" sz="2400" dirty="0"/>
              <a:t>Most fundamental and generic loop operation</a:t>
            </a:r>
          </a:p>
          <a:p>
            <a:r>
              <a:rPr lang="en-US" sz="2400" dirty="0"/>
              <a:t>All other loop operations are special cases</a:t>
            </a:r>
          </a:p>
          <a:p>
            <a:endParaRPr lang="en-US" sz="2400" dirty="0"/>
          </a:p>
          <a:p>
            <a:pPr marL="0" indent="0">
              <a:buNone/>
            </a:pPr>
            <a:r>
              <a:rPr lang="en-US" sz="2400" b="1" dirty="0">
                <a:solidFill>
                  <a:srgbClr val="0070C0"/>
                </a:solidFill>
              </a:rPr>
              <a:t>	iterate(</a:t>
            </a:r>
            <a:r>
              <a:rPr lang="en-US" sz="2400" b="1" dirty="0" err="1">
                <a:solidFill>
                  <a:srgbClr val="0070C0"/>
                </a:solidFill>
              </a:rPr>
              <a:t>elem</a:t>
            </a:r>
            <a:r>
              <a:rPr lang="en-US" sz="2400" b="1" dirty="0">
                <a:solidFill>
                  <a:srgbClr val="0070C0"/>
                </a:solidFill>
              </a:rPr>
              <a:t>: T1; result: T2 = expr | expr-</a:t>
            </a:r>
            <a:r>
              <a:rPr lang="en-US" sz="2400" b="1" dirty="0" err="1">
                <a:solidFill>
                  <a:srgbClr val="0070C0"/>
                </a:solidFill>
              </a:rPr>
              <a:t>elem</a:t>
            </a:r>
            <a:r>
              <a:rPr lang="en-US" sz="2400" b="1" dirty="0">
                <a:solidFill>
                  <a:srgbClr val="0070C0"/>
                </a:solidFill>
              </a:rPr>
              <a:t>-result)</a:t>
            </a:r>
          </a:p>
          <a:p>
            <a:endParaRPr lang="en-US" sz="2400" dirty="0"/>
          </a:p>
          <a:p>
            <a:r>
              <a:rPr lang="en-US" sz="2400" dirty="0"/>
              <a:t>Example</a:t>
            </a:r>
          </a:p>
          <a:p>
            <a:pPr marL="0" indent="0">
              <a:buNone/>
            </a:pPr>
            <a:r>
              <a:rPr lang="en-US" sz="2400" dirty="0"/>
              <a:t>	Set{1, 2, 3}-&gt;sum()</a:t>
            </a:r>
          </a:p>
          <a:p>
            <a:pPr marL="0" indent="0">
              <a:buNone/>
            </a:pPr>
            <a:r>
              <a:rPr lang="en-US" sz="2400" dirty="0"/>
              <a:t>	Set{1, 2, 3}-&gt;iterate(</a:t>
            </a:r>
            <a:r>
              <a:rPr lang="en-US" sz="2400" dirty="0" err="1"/>
              <a:t>i</a:t>
            </a:r>
            <a:r>
              <a:rPr lang="en-US" sz="2400" dirty="0"/>
              <a:t>: Integer; r: Integer = 0 | r + </a:t>
            </a:r>
            <a:r>
              <a:rPr lang="en-US" sz="2400" dirty="0" err="1"/>
              <a:t>i</a:t>
            </a:r>
            <a:r>
              <a:rPr lang="en-US" sz="2400" dirty="0"/>
              <a:t>)</a:t>
            </a:r>
          </a:p>
          <a:p>
            <a:endParaRPr lang="en-US" sz="2400" dirty="0"/>
          </a:p>
          <a:p>
            <a:endParaRPr lang="en-US" sz="2400" dirty="0"/>
          </a:p>
        </p:txBody>
      </p:sp>
    </p:spTree>
    <p:extLst>
      <p:ext uri="{BB962C8B-B14F-4D97-AF65-F5344CB8AC3E}">
        <p14:creationId xmlns:p14="http://schemas.microsoft.com/office/powerpoint/2010/main" val="18735812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613546"/>
            <a:ext cx="4775075" cy="1630907"/>
          </a:xfrm>
          <a:solidFill>
            <a:schemeClr val="tx1">
              <a:lumMod val="65000"/>
              <a:lumOff val="35000"/>
            </a:schemeClr>
          </a:solidFill>
          <a:ln>
            <a:solidFill>
              <a:schemeClr val="bg2"/>
            </a:solidFill>
          </a:ln>
        </p:spPr>
        <p:txBody>
          <a:bodyPr>
            <a:normAutofit/>
          </a:bodyPr>
          <a:lstStyle/>
          <a:p>
            <a:r>
              <a:rPr lang="en-US" sz="4400" dirty="0">
                <a:solidFill>
                  <a:schemeClr val="bg1"/>
                </a:solidFill>
              </a:rPr>
              <a:t>USE Tool</a:t>
            </a:r>
          </a:p>
        </p:txBody>
      </p:sp>
    </p:spTree>
    <p:extLst>
      <p:ext uri="{BB962C8B-B14F-4D97-AF65-F5344CB8AC3E}">
        <p14:creationId xmlns:p14="http://schemas.microsoft.com/office/powerpoint/2010/main" val="38967590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C175-BAB0-44D4-9443-7FBABF2D7DC5}"/>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86B850F-7D76-403B-8C42-EA97020836B0}"/>
              </a:ext>
            </a:extLst>
          </p:cNvPr>
          <p:cNvSpPr>
            <a:spLocks noGrp="1"/>
          </p:cNvSpPr>
          <p:nvPr>
            <p:ph idx="1"/>
          </p:nvPr>
        </p:nvSpPr>
        <p:spPr/>
        <p:txBody>
          <a:bodyPr>
            <a:normAutofit/>
          </a:bodyPr>
          <a:lstStyle/>
          <a:p>
            <a:pPr algn="l" fontAlgn="base"/>
            <a:r>
              <a:rPr lang="en-US" sz="2000" b="0" dirty="0">
                <a:solidFill>
                  <a:srgbClr val="000000"/>
                </a:solidFill>
                <a:effectLst/>
                <a:latin typeface="Georgia" panose="02040502050405020303" pitchFamily="18" charset="0"/>
              </a:rPr>
              <a:t>USE Tool</a:t>
            </a:r>
          </a:p>
          <a:p>
            <a:pPr lvl="1" fontAlgn="base"/>
            <a:r>
              <a:rPr lang="en-US" sz="1800" b="0" dirty="0">
                <a:solidFill>
                  <a:srgbClr val="000000"/>
                </a:solidFill>
                <a:effectLst/>
                <a:latin typeface="Georgia" panose="02040502050405020303" pitchFamily="18" charset="0"/>
              </a:rPr>
              <a:t>Specifying Models</a:t>
            </a:r>
          </a:p>
          <a:p>
            <a:pPr lvl="1" fontAlgn="base"/>
            <a:r>
              <a:rPr lang="en-US" sz="1800" b="0" dirty="0">
                <a:solidFill>
                  <a:srgbClr val="000000"/>
                </a:solidFill>
                <a:effectLst/>
                <a:latin typeface="Georgia" panose="02040502050405020303" pitchFamily="18" charset="0"/>
              </a:rPr>
              <a:t>Defining Models</a:t>
            </a:r>
          </a:p>
          <a:p>
            <a:pPr lvl="1" fontAlgn="base"/>
            <a:r>
              <a:rPr lang="en-US" sz="1800" b="0" dirty="0">
                <a:solidFill>
                  <a:srgbClr val="000000"/>
                </a:solidFill>
                <a:effectLst/>
                <a:latin typeface="Georgia" panose="02040502050405020303" pitchFamily="18" charset="0"/>
              </a:rPr>
              <a:t>Defining Classes</a:t>
            </a:r>
          </a:p>
          <a:p>
            <a:pPr lvl="1" fontAlgn="base"/>
            <a:r>
              <a:rPr lang="en-US" sz="1800" b="0" dirty="0">
                <a:solidFill>
                  <a:srgbClr val="000000"/>
                </a:solidFill>
                <a:effectLst/>
                <a:latin typeface="Georgia" panose="02040502050405020303" pitchFamily="18" charset="0"/>
              </a:rPr>
              <a:t>Defining Associations</a:t>
            </a:r>
          </a:p>
          <a:p>
            <a:pPr lvl="1" fontAlgn="base"/>
            <a:r>
              <a:rPr lang="en-US" sz="1800" b="0" dirty="0">
                <a:solidFill>
                  <a:srgbClr val="000000"/>
                </a:solidFill>
                <a:effectLst/>
                <a:latin typeface="Georgia" panose="02040502050405020303" pitchFamily="18" charset="0"/>
              </a:rPr>
              <a:t>Adding Constraints</a:t>
            </a:r>
          </a:p>
          <a:p>
            <a:pPr algn="l" fontAlgn="base"/>
            <a:r>
              <a:rPr lang="en-US" sz="2000" b="0" dirty="0">
                <a:solidFill>
                  <a:srgbClr val="000000"/>
                </a:solidFill>
                <a:effectLst/>
                <a:latin typeface="Georgia" panose="02040502050405020303" pitchFamily="18" charset="0"/>
              </a:rPr>
              <a:t>Examples</a:t>
            </a:r>
          </a:p>
          <a:p>
            <a:pPr lvl="1" fontAlgn="base"/>
            <a:endParaRPr lang="en-US" sz="1800" dirty="0"/>
          </a:p>
        </p:txBody>
      </p:sp>
    </p:spTree>
    <p:extLst>
      <p:ext uri="{BB962C8B-B14F-4D97-AF65-F5344CB8AC3E}">
        <p14:creationId xmlns:p14="http://schemas.microsoft.com/office/powerpoint/2010/main" val="33286794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1A5B-D550-4692-BB1D-249013276815}"/>
              </a:ext>
            </a:extLst>
          </p:cNvPr>
          <p:cNvSpPr>
            <a:spLocks noGrp="1"/>
          </p:cNvSpPr>
          <p:nvPr>
            <p:ph type="title"/>
          </p:nvPr>
        </p:nvSpPr>
        <p:spPr/>
        <p:txBody>
          <a:bodyPr/>
          <a:lstStyle/>
          <a:p>
            <a:r>
              <a:rPr lang="en-US" dirty="0"/>
              <a:t>USE Tool</a:t>
            </a:r>
          </a:p>
        </p:txBody>
      </p:sp>
      <p:sp>
        <p:nvSpPr>
          <p:cNvPr id="3" name="Content Placeholder 2">
            <a:extLst>
              <a:ext uri="{FF2B5EF4-FFF2-40B4-BE49-F238E27FC236}">
                <a16:creationId xmlns:a16="http://schemas.microsoft.com/office/drawing/2014/main" id="{DA8CD938-30CB-4FDD-81AA-3D027A719B01}"/>
              </a:ext>
            </a:extLst>
          </p:cNvPr>
          <p:cNvSpPr>
            <a:spLocks noGrp="1"/>
          </p:cNvSpPr>
          <p:nvPr>
            <p:ph idx="1"/>
          </p:nvPr>
        </p:nvSpPr>
        <p:spPr/>
        <p:txBody>
          <a:bodyPr>
            <a:normAutofit/>
          </a:bodyPr>
          <a:lstStyle/>
          <a:p>
            <a:r>
              <a:rPr lang="en-US" sz="2800" dirty="0"/>
              <a:t>A USE tool requires a textual description of a model using features found in UML class diagrams (classes, associations, etc.). </a:t>
            </a:r>
          </a:p>
          <a:p>
            <a:r>
              <a:rPr lang="en-US" sz="2800" dirty="0"/>
              <a:t>Expressions written in the Object Constraint Language (OCL) are used to specify additional integrity constraints on the model.</a:t>
            </a:r>
          </a:p>
          <a:p>
            <a:endParaRPr lang="en-US" sz="2800" dirty="0"/>
          </a:p>
        </p:txBody>
      </p:sp>
    </p:spTree>
    <p:extLst>
      <p:ext uri="{BB962C8B-B14F-4D97-AF65-F5344CB8AC3E}">
        <p14:creationId xmlns:p14="http://schemas.microsoft.com/office/powerpoint/2010/main" val="3829000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192F4-7115-4FBC-9584-B10463A5AF80}"/>
              </a:ext>
            </a:extLst>
          </p:cNvPr>
          <p:cNvSpPr>
            <a:spLocks noGrp="1"/>
          </p:cNvSpPr>
          <p:nvPr>
            <p:ph type="title"/>
          </p:nvPr>
        </p:nvSpPr>
        <p:spPr/>
        <p:txBody>
          <a:bodyPr/>
          <a:lstStyle/>
          <a:p>
            <a:r>
              <a:rPr lang="en-US" dirty="0"/>
              <a:t>Specifying a UML Model</a:t>
            </a:r>
          </a:p>
        </p:txBody>
      </p:sp>
      <p:sp>
        <p:nvSpPr>
          <p:cNvPr id="3" name="Content Placeholder 2">
            <a:extLst>
              <a:ext uri="{FF2B5EF4-FFF2-40B4-BE49-F238E27FC236}">
                <a16:creationId xmlns:a16="http://schemas.microsoft.com/office/drawing/2014/main" id="{FCAD19FC-AAF4-487E-BE2A-29383CAAFA0F}"/>
              </a:ext>
            </a:extLst>
          </p:cNvPr>
          <p:cNvSpPr>
            <a:spLocks noGrp="1"/>
          </p:cNvSpPr>
          <p:nvPr>
            <p:ph idx="1"/>
          </p:nvPr>
        </p:nvSpPr>
        <p:spPr/>
        <p:txBody>
          <a:bodyPr>
            <a:normAutofit/>
          </a:bodyPr>
          <a:lstStyle/>
          <a:p>
            <a:r>
              <a:rPr lang="en-US" sz="2000" dirty="0"/>
              <a:t>The USE tool expects a textual description of a model and its constraints as input. </a:t>
            </a:r>
          </a:p>
          <a:p>
            <a:r>
              <a:rPr lang="en-US" sz="2000" dirty="0"/>
              <a:t>The example must therefore be translated into a USE specification by using an external text editor. </a:t>
            </a:r>
          </a:p>
          <a:p>
            <a:r>
              <a:rPr lang="en-US" sz="2000" dirty="0"/>
              <a:t>The USE specification of the example model is shown in the next slide.</a:t>
            </a:r>
          </a:p>
          <a:p>
            <a:endParaRPr lang="en-US" sz="2000" dirty="0"/>
          </a:p>
          <a:p>
            <a:endParaRPr lang="en-US" sz="2000" dirty="0"/>
          </a:p>
          <a:p>
            <a:endParaRPr lang="en-US" sz="2000" dirty="0"/>
          </a:p>
        </p:txBody>
      </p:sp>
    </p:spTree>
    <p:extLst>
      <p:ext uri="{BB962C8B-B14F-4D97-AF65-F5344CB8AC3E}">
        <p14:creationId xmlns:p14="http://schemas.microsoft.com/office/powerpoint/2010/main" val="34681497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02692E6-B9C8-4964-8E66-AC1016659222}"/>
              </a:ext>
            </a:extLst>
          </p:cNvPr>
          <p:cNvSpPr>
            <a:spLocks noGrp="1"/>
          </p:cNvSpPr>
          <p:nvPr>
            <p:ph type="title"/>
          </p:nvPr>
        </p:nvSpPr>
        <p:spPr>
          <a:xfrm>
            <a:off x="8458200" y="607392"/>
            <a:ext cx="3161963" cy="1350244"/>
          </a:xfrm>
        </p:spPr>
        <p:txBody>
          <a:bodyPr/>
          <a:lstStyle/>
          <a:p>
            <a:r>
              <a:rPr lang="en-US" b="1" dirty="0"/>
              <a:t>UML Model</a:t>
            </a:r>
          </a:p>
        </p:txBody>
      </p:sp>
      <p:pic>
        <p:nvPicPr>
          <p:cNvPr id="4" name="Picture 3">
            <a:extLst>
              <a:ext uri="{FF2B5EF4-FFF2-40B4-BE49-F238E27FC236}">
                <a16:creationId xmlns:a16="http://schemas.microsoft.com/office/drawing/2014/main" id="{EF8C7A2E-B7E8-4922-99F5-40473A4ED39A}"/>
              </a:ext>
            </a:extLst>
          </p:cNvPr>
          <p:cNvPicPr/>
          <p:nvPr/>
        </p:nvPicPr>
        <p:blipFill>
          <a:blip r:embed="rId2"/>
          <a:stretch/>
        </p:blipFill>
        <p:spPr>
          <a:xfrm>
            <a:off x="704461" y="2253312"/>
            <a:ext cx="6858000" cy="3804052"/>
          </a:xfrm>
          <a:prstGeom prst="rect">
            <a:avLst/>
          </a:prstGeom>
          <a:noFill/>
          <a:ln>
            <a:noFill/>
          </a:ln>
        </p:spPr>
      </p:pic>
      <p:sp>
        <p:nvSpPr>
          <p:cNvPr id="8" name="Title 1">
            <a:extLst>
              <a:ext uri="{FF2B5EF4-FFF2-40B4-BE49-F238E27FC236}">
                <a16:creationId xmlns:a16="http://schemas.microsoft.com/office/drawing/2014/main" id="{27478F27-3B63-4F94-B286-EFAE0F5386BB}"/>
              </a:ext>
            </a:extLst>
          </p:cNvPr>
          <p:cNvSpPr txBox="1">
            <a:spLocks/>
          </p:cNvSpPr>
          <p:nvPr/>
        </p:nvSpPr>
        <p:spPr>
          <a:xfrm>
            <a:off x="791546" y="903067"/>
            <a:ext cx="6551645" cy="1054569"/>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lang="en-US" sz="3200" b="0" i="0" kern="1200" cap="none" spc="0" baseline="0" dirty="0">
                <a:solidFill>
                  <a:schemeClr val="tx1"/>
                </a:solidFill>
                <a:effectLst/>
                <a:latin typeface="+mj-lt"/>
                <a:ea typeface="+mn-ea"/>
                <a:cs typeface="+mn-cs"/>
              </a:defRPr>
            </a:lvl1pPr>
          </a:lstStyle>
          <a:p>
            <a:r>
              <a:rPr b="1">
                <a:solidFill>
                  <a:prstClr val="black"/>
                </a:solidFill>
              </a:rPr>
              <a:t>USE Tool Specification</a:t>
            </a:r>
          </a:p>
        </p:txBody>
      </p:sp>
      <p:grpSp>
        <p:nvGrpSpPr>
          <p:cNvPr id="2" name="Group 1">
            <a:extLst>
              <a:ext uri="{FF2B5EF4-FFF2-40B4-BE49-F238E27FC236}">
                <a16:creationId xmlns:a16="http://schemas.microsoft.com/office/drawing/2014/main" id="{80F5D074-D3A8-42E7-A87D-7947A33E0A68}"/>
              </a:ext>
            </a:extLst>
          </p:cNvPr>
          <p:cNvGrpSpPr/>
          <p:nvPr/>
        </p:nvGrpSpPr>
        <p:grpSpPr>
          <a:xfrm>
            <a:off x="8458200" y="2499919"/>
            <a:ext cx="3244442" cy="2277354"/>
            <a:chOff x="8458200" y="2499919"/>
            <a:chExt cx="3244442" cy="2277354"/>
          </a:xfrm>
        </p:grpSpPr>
        <p:sp>
          <p:nvSpPr>
            <p:cNvPr id="6" name="Rectangle 5">
              <a:extLst>
                <a:ext uri="{FF2B5EF4-FFF2-40B4-BE49-F238E27FC236}">
                  <a16:creationId xmlns:a16="http://schemas.microsoft.com/office/drawing/2014/main" id="{B39C75D0-8767-4423-A039-C97EFE4A283A}"/>
                </a:ext>
              </a:extLst>
            </p:cNvPr>
            <p:cNvSpPr/>
            <p:nvPr/>
          </p:nvSpPr>
          <p:spPr>
            <a:xfrm>
              <a:off x="8458200" y="2499919"/>
              <a:ext cx="3244442" cy="2277354"/>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Car</a:t>
              </a:r>
            </a:p>
            <a:p>
              <a:pPr algn="ctr"/>
              <a:endParaRPr lang="en-US" dirty="0">
                <a:solidFill>
                  <a:prstClr val="black"/>
                </a:solidFill>
              </a:endParaRPr>
            </a:p>
            <a:p>
              <a:r>
                <a:rPr lang="en-US" dirty="0">
                  <a:solidFill>
                    <a:prstClr val="black"/>
                  </a:solidFill>
                </a:rPr>
                <a:t>-mileage: Integer</a:t>
              </a:r>
            </a:p>
            <a:p>
              <a:pPr algn="ctr"/>
              <a:endParaRPr lang="en-US" dirty="0">
                <a:solidFill>
                  <a:prstClr val="black"/>
                </a:solidFill>
              </a:endParaRPr>
            </a:p>
            <a:p>
              <a:pPr algn="ctr"/>
              <a:endParaRPr lang="en-US" dirty="0">
                <a:solidFill>
                  <a:prstClr val="black"/>
                </a:solidFill>
              </a:endParaRPr>
            </a:p>
            <a:p>
              <a:r>
                <a:rPr lang="en-US" sz="1600" dirty="0">
                  <a:solidFill>
                    <a:prstClr val="black"/>
                  </a:solidFill>
                </a:rPr>
                <a:t>+</a:t>
              </a:r>
              <a:r>
                <a:rPr lang="en-US" sz="1600" dirty="0" err="1">
                  <a:solidFill>
                    <a:prstClr val="black"/>
                  </a:solidFill>
                </a:rPr>
                <a:t>increaseMileage</a:t>
              </a:r>
              <a:r>
                <a:rPr lang="en-US" sz="1600" dirty="0">
                  <a:solidFill>
                    <a:prstClr val="black"/>
                  </a:solidFill>
                </a:rPr>
                <a:t>(Kilometers: Integer):void</a:t>
              </a:r>
            </a:p>
            <a:p>
              <a:pPr algn="ctr"/>
              <a:endParaRPr lang="en-US" dirty="0">
                <a:solidFill>
                  <a:prstClr val="black"/>
                </a:solidFill>
              </a:endParaRPr>
            </a:p>
          </p:txBody>
        </p:sp>
        <p:cxnSp>
          <p:nvCxnSpPr>
            <p:cNvPr id="10" name="Straight Connector 9">
              <a:extLst>
                <a:ext uri="{FF2B5EF4-FFF2-40B4-BE49-F238E27FC236}">
                  <a16:creationId xmlns:a16="http://schemas.microsoft.com/office/drawing/2014/main" id="{5CE2036D-3E69-43FD-99EF-D52FEFDA0B05}"/>
                </a:ext>
              </a:extLst>
            </p:cNvPr>
            <p:cNvCxnSpPr>
              <a:cxnSpLocks/>
            </p:cNvCxnSpPr>
            <p:nvPr/>
          </p:nvCxnSpPr>
          <p:spPr>
            <a:xfrm>
              <a:off x="8458200" y="2919369"/>
              <a:ext cx="3244442" cy="0"/>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0A1E56A3-39B3-4A2D-898A-28962E90FD6A}"/>
                </a:ext>
              </a:extLst>
            </p:cNvPr>
            <p:cNvCxnSpPr>
              <a:cxnSpLocks/>
            </p:cNvCxnSpPr>
            <p:nvPr/>
          </p:nvCxnSpPr>
          <p:spPr>
            <a:xfrm>
              <a:off x="8458200" y="3810000"/>
              <a:ext cx="3244442" cy="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6768353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341F-2560-49AC-95DC-E97A2EE572E1}"/>
              </a:ext>
            </a:extLst>
          </p:cNvPr>
          <p:cNvSpPr>
            <a:spLocks noGrp="1"/>
          </p:cNvSpPr>
          <p:nvPr>
            <p:ph type="title"/>
          </p:nvPr>
        </p:nvSpPr>
        <p:spPr/>
        <p:txBody>
          <a:bodyPr/>
          <a:lstStyle/>
          <a:p>
            <a:r>
              <a:rPr lang="en-US" dirty="0"/>
              <a:t>Defining a UML Model</a:t>
            </a:r>
          </a:p>
        </p:txBody>
      </p:sp>
      <p:sp>
        <p:nvSpPr>
          <p:cNvPr id="3" name="Content Placeholder 2">
            <a:extLst>
              <a:ext uri="{FF2B5EF4-FFF2-40B4-BE49-F238E27FC236}">
                <a16:creationId xmlns:a16="http://schemas.microsoft.com/office/drawing/2014/main" id="{1A99D333-74C3-4D0B-8DA7-E442834EBD70}"/>
              </a:ext>
            </a:extLst>
          </p:cNvPr>
          <p:cNvSpPr>
            <a:spLocks noGrp="1"/>
          </p:cNvSpPr>
          <p:nvPr>
            <p:ph idx="1"/>
          </p:nvPr>
        </p:nvSpPr>
        <p:spPr/>
        <p:txBody>
          <a:bodyPr>
            <a:normAutofit/>
          </a:bodyPr>
          <a:lstStyle/>
          <a:p>
            <a:r>
              <a:rPr lang="en-US" sz="2400" dirty="0"/>
              <a:t>Every UML Model has a name and an optional body.</a:t>
            </a:r>
          </a:p>
          <a:p>
            <a:r>
              <a:rPr lang="en-US" sz="2400" dirty="0"/>
              <a:t>The model body consists of at least one class definition and an arbitrary number of association definitions. </a:t>
            </a:r>
          </a:p>
          <a:p>
            <a:r>
              <a:rPr lang="en-US" sz="2400" dirty="0"/>
              <a:t>At the end of the specification OCL constraints may be defined.</a:t>
            </a:r>
          </a:p>
          <a:p>
            <a:r>
              <a:rPr lang="en-US" sz="2400" dirty="0"/>
              <a:t>Example:</a:t>
            </a:r>
          </a:p>
          <a:p>
            <a:pPr marL="1097280" lvl="4" indent="0">
              <a:buNone/>
            </a:pPr>
            <a:r>
              <a:rPr lang="en-US" sz="2100" b="1" dirty="0">
                <a:solidFill>
                  <a:srgbClr val="0070C0"/>
                </a:solidFill>
              </a:rPr>
              <a:t>model Employee</a:t>
            </a:r>
          </a:p>
          <a:p>
            <a:endParaRPr lang="en-US" sz="2400" dirty="0"/>
          </a:p>
          <a:p>
            <a:endParaRPr lang="en-US" sz="2400" dirty="0"/>
          </a:p>
        </p:txBody>
      </p:sp>
    </p:spTree>
    <p:extLst>
      <p:ext uri="{BB962C8B-B14F-4D97-AF65-F5344CB8AC3E}">
        <p14:creationId xmlns:p14="http://schemas.microsoft.com/office/powerpoint/2010/main" val="27674995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58B38C-9191-4F57-8A17-61E34A44B171}"/>
              </a:ext>
            </a:extLst>
          </p:cNvPr>
          <p:cNvPicPr>
            <a:picLocks noGrp="1"/>
          </p:cNvPicPr>
          <p:nvPr>
            <p:ph type="pic" idx="1"/>
          </p:nvPr>
        </p:nvPicPr>
        <p:blipFill rotWithShape="1">
          <a:blip r:embed="rId2"/>
          <a:srcRect b="45672"/>
          <a:stretch/>
        </p:blipFill>
        <p:spPr>
          <a:xfrm>
            <a:off x="1053768" y="1502229"/>
            <a:ext cx="5090052" cy="2633543"/>
          </a:xfrm>
          <a:prstGeom prst="rect">
            <a:avLst/>
          </a:prstGeom>
          <a:noFill/>
          <a:ln>
            <a:noFill/>
          </a:ln>
        </p:spPr>
      </p:pic>
      <p:sp>
        <p:nvSpPr>
          <p:cNvPr id="2" name="Title 1">
            <a:extLst>
              <a:ext uri="{FF2B5EF4-FFF2-40B4-BE49-F238E27FC236}">
                <a16:creationId xmlns:a16="http://schemas.microsoft.com/office/drawing/2014/main" id="{87BCC2B6-D068-4FAB-AF3B-781B96B7B1C5}"/>
              </a:ext>
            </a:extLst>
          </p:cNvPr>
          <p:cNvSpPr>
            <a:spLocks noGrp="1"/>
          </p:cNvSpPr>
          <p:nvPr>
            <p:ph type="title"/>
          </p:nvPr>
        </p:nvSpPr>
        <p:spPr>
          <a:xfrm>
            <a:off x="8477250" y="603504"/>
            <a:ext cx="3144774" cy="646454"/>
          </a:xfrm>
        </p:spPr>
        <p:txBody>
          <a:bodyPr anchor="b">
            <a:normAutofit/>
          </a:bodyPr>
          <a:lstStyle/>
          <a:p>
            <a:r>
              <a:rPr lang="en-US" b="1" dirty="0"/>
              <a:t>UML Model</a:t>
            </a:r>
          </a:p>
        </p:txBody>
      </p:sp>
      <p:sp>
        <p:nvSpPr>
          <p:cNvPr id="6" name="Title 1">
            <a:extLst>
              <a:ext uri="{FF2B5EF4-FFF2-40B4-BE49-F238E27FC236}">
                <a16:creationId xmlns:a16="http://schemas.microsoft.com/office/drawing/2014/main" id="{C95013B6-09B1-487A-AAF7-2A4A755DE61B}"/>
              </a:ext>
            </a:extLst>
          </p:cNvPr>
          <p:cNvSpPr txBox="1">
            <a:spLocks/>
          </p:cNvSpPr>
          <p:nvPr/>
        </p:nvSpPr>
        <p:spPr>
          <a:xfrm>
            <a:off x="1096932" y="755904"/>
            <a:ext cx="5235637" cy="569042"/>
          </a:xfrm>
          <a:prstGeom prst="rect">
            <a:avLst/>
          </a:prstGeom>
        </p:spPr>
        <p:txBody>
          <a:bodyPr vert="horz" lIns="91440" tIns="45720" rIns="91440" bIns="45720" rtlCol="0" anchor="b">
            <a:normAutofit lnSpcReduction="10000"/>
          </a:bodyPr>
          <a:lstStyle>
            <a:lvl1pPr algn="l" defTabSz="914400" rtl="0" eaLnBrk="1" latinLnBrk="0" hangingPunct="1">
              <a:lnSpc>
                <a:spcPct val="100000"/>
              </a:lnSpc>
              <a:spcBef>
                <a:spcPct val="0"/>
              </a:spcBef>
              <a:buNone/>
              <a:defRPr lang="en-US" sz="3200" b="0" i="0" kern="1200" cap="none" spc="0" baseline="0">
                <a:solidFill>
                  <a:schemeClr val="tx1"/>
                </a:solidFill>
                <a:effectLst/>
                <a:latin typeface="+mj-lt"/>
                <a:ea typeface="+mn-ea"/>
                <a:cs typeface="+mn-cs"/>
              </a:defRPr>
            </a:lvl1pPr>
          </a:lstStyle>
          <a:p>
            <a:r>
              <a:rPr b="1" dirty="0">
                <a:solidFill>
                  <a:prstClr val="black"/>
                </a:solidFill>
              </a:rPr>
              <a:t>Defining Classes</a:t>
            </a:r>
          </a:p>
        </p:txBody>
      </p:sp>
      <p:grpSp>
        <p:nvGrpSpPr>
          <p:cNvPr id="14" name="Group 13">
            <a:extLst>
              <a:ext uri="{FF2B5EF4-FFF2-40B4-BE49-F238E27FC236}">
                <a16:creationId xmlns:a16="http://schemas.microsoft.com/office/drawing/2014/main" id="{49B11703-39FE-4C5D-B77E-B3EA5A8C8406}"/>
              </a:ext>
            </a:extLst>
          </p:cNvPr>
          <p:cNvGrpSpPr/>
          <p:nvPr/>
        </p:nvGrpSpPr>
        <p:grpSpPr>
          <a:xfrm>
            <a:off x="8402963" y="1343351"/>
            <a:ext cx="3219061" cy="2267338"/>
            <a:chOff x="8304245" y="2509935"/>
            <a:chExt cx="3219061" cy="2267338"/>
          </a:xfrm>
        </p:grpSpPr>
        <p:sp>
          <p:nvSpPr>
            <p:cNvPr id="7" name="Rectangle 6">
              <a:extLst>
                <a:ext uri="{FF2B5EF4-FFF2-40B4-BE49-F238E27FC236}">
                  <a16:creationId xmlns:a16="http://schemas.microsoft.com/office/drawing/2014/main" id="{C1F6CD51-EF58-4DC1-932C-9249B915BFF4}"/>
                </a:ext>
              </a:extLst>
            </p:cNvPr>
            <p:cNvSpPr/>
            <p:nvPr/>
          </p:nvSpPr>
          <p:spPr>
            <a:xfrm>
              <a:off x="8304245" y="2509935"/>
              <a:ext cx="3219061" cy="2267338"/>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Person</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-age: Integer</a:t>
              </a:r>
            </a:p>
            <a:p>
              <a:r>
                <a:rPr lang="en-US" dirty="0">
                  <a:solidFill>
                    <a:prstClr val="black"/>
                  </a:solidFill>
                </a:rPr>
                <a:t>-salary: Real</a:t>
              </a:r>
            </a:p>
            <a:p>
              <a:pPr algn="ctr"/>
              <a:endParaRPr lang="en-US" dirty="0">
                <a:solidFill>
                  <a:prstClr val="black"/>
                </a:solidFill>
              </a:endParaRPr>
            </a:p>
            <a:p>
              <a:r>
                <a:rPr lang="en-US" dirty="0">
                  <a:solidFill>
                    <a:prstClr val="black"/>
                  </a:solidFill>
                </a:rPr>
                <a:t>+</a:t>
              </a:r>
              <a:r>
                <a:rPr lang="en-US" dirty="0" err="1">
                  <a:solidFill>
                    <a:prstClr val="black"/>
                  </a:solidFill>
                </a:rPr>
                <a:t>raiseSalary</a:t>
              </a:r>
              <a:r>
                <a:rPr lang="en-US" dirty="0">
                  <a:solidFill>
                    <a:prstClr val="black"/>
                  </a:solidFill>
                </a:rPr>
                <a:t>(</a:t>
              </a:r>
              <a:r>
                <a:rPr lang="en-US" dirty="0" err="1">
                  <a:solidFill>
                    <a:prstClr val="black"/>
                  </a:solidFill>
                </a:rPr>
                <a:t>rate:Real</a:t>
              </a:r>
              <a:r>
                <a:rPr lang="en-US" dirty="0">
                  <a:solidFill>
                    <a:prstClr val="black"/>
                  </a:solidFill>
                </a:rPr>
                <a:t>):Real</a:t>
              </a:r>
            </a:p>
            <a:p>
              <a:pPr algn="ctr"/>
              <a:endParaRPr lang="en-US" dirty="0">
                <a:solidFill>
                  <a:prstClr val="black"/>
                </a:solidFill>
              </a:endParaRPr>
            </a:p>
          </p:txBody>
        </p:sp>
        <p:cxnSp>
          <p:nvCxnSpPr>
            <p:cNvPr id="8" name="Straight Connector 7">
              <a:extLst>
                <a:ext uri="{FF2B5EF4-FFF2-40B4-BE49-F238E27FC236}">
                  <a16:creationId xmlns:a16="http://schemas.microsoft.com/office/drawing/2014/main" id="{86541831-8C77-4E7E-B427-8A5C56CC83E5}"/>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E41CFF3E-6E27-4B78-98E7-D329DD77AFD1}"/>
                </a:ext>
              </a:extLst>
            </p:cNvPr>
            <p:cNvCxnSpPr>
              <a:cxnSpLocks/>
            </p:cNvCxnSpPr>
            <p:nvPr/>
          </p:nvCxnSpPr>
          <p:spPr>
            <a:xfrm>
              <a:off x="8304245" y="4024613"/>
              <a:ext cx="3219061" cy="0"/>
            </a:xfrm>
            <a:prstGeom prst="line">
              <a:avLst/>
            </a:prstGeom>
          </p:spPr>
          <p:style>
            <a:lnRef idx="3">
              <a:schemeClr val="dk1"/>
            </a:lnRef>
            <a:fillRef idx="0">
              <a:schemeClr val="dk1"/>
            </a:fillRef>
            <a:effectRef idx="2">
              <a:schemeClr val="dk1"/>
            </a:effectRef>
            <a:fontRef idx="minor">
              <a:schemeClr val="tx1"/>
            </a:fontRef>
          </p:style>
        </p:cxnSp>
      </p:grpSp>
      <p:grpSp>
        <p:nvGrpSpPr>
          <p:cNvPr id="15" name="Group 14">
            <a:extLst>
              <a:ext uri="{FF2B5EF4-FFF2-40B4-BE49-F238E27FC236}">
                <a16:creationId xmlns:a16="http://schemas.microsoft.com/office/drawing/2014/main" id="{DD137D26-AD27-4A2F-8C63-F91EBA534358}"/>
              </a:ext>
            </a:extLst>
          </p:cNvPr>
          <p:cNvGrpSpPr/>
          <p:nvPr/>
        </p:nvGrpSpPr>
        <p:grpSpPr>
          <a:xfrm>
            <a:off x="8412750" y="3861449"/>
            <a:ext cx="3219061" cy="2267335"/>
            <a:chOff x="8304245" y="2509935"/>
            <a:chExt cx="3219061" cy="2267335"/>
          </a:xfrm>
        </p:grpSpPr>
        <p:sp>
          <p:nvSpPr>
            <p:cNvPr id="16" name="Rectangle 15">
              <a:extLst>
                <a:ext uri="{FF2B5EF4-FFF2-40B4-BE49-F238E27FC236}">
                  <a16:creationId xmlns:a16="http://schemas.microsoft.com/office/drawing/2014/main" id="{A234C4EC-61D7-402E-B2A8-3B90C08324FE}"/>
                </a:ext>
              </a:extLst>
            </p:cNvPr>
            <p:cNvSpPr/>
            <p:nvPr/>
          </p:nvSpPr>
          <p:spPr>
            <a:xfrm>
              <a:off x="8304245" y="2509935"/>
              <a:ext cx="3219061" cy="2267335"/>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Company</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t>
              </a:r>
              <a:r>
                <a:rPr lang="en-US" dirty="0" err="1">
                  <a:solidFill>
                    <a:prstClr val="black"/>
                  </a:solidFill>
                </a:rPr>
                <a:t>location:String</a:t>
              </a:r>
              <a:endParaRPr lang="en-US" dirty="0">
                <a:solidFill>
                  <a:prstClr val="black"/>
                </a:solidFill>
              </a:endParaRPr>
            </a:p>
            <a:p>
              <a:endParaRPr lang="en-US" dirty="0">
                <a:solidFill>
                  <a:prstClr val="black"/>
                </a:solidFill>
              </a:endParaRPr>
            </a:p>
            <a:p>
              <a:r>
                <a:rPr lang="en-US" dirty="0">
                  <a:solidFill>
                    <a:prstClr val="black"/>
                  </a:solidFill>
                </a:rPr>
                <a:t>+hire(</a:t>
              </a:r>
              <a:r>
                <a:rPr lang="en-US" dirty="0" err="1">
                  <a:solidFill>
                    <a:prstClr val="black"/>
                  </a:solidFill>
                </a:rPr>
                <a:t>p:Person</a:t>
              </a:r>
              <a:r>
                <a:rPr lang="en-US" dirty="0">
                  <a:solidFill>
                    <a:prstClr val="black"/>
                  </a:solidFill>
                </a:rPr>
                <a:t>):void</a:t>
              </a:r>
            </a:p>
            <a:p>
              <a:r>
                <a:rPr lang="en-US" dirty="0">
                  <a:solidFill>
                    <a:prstClr val="black"/>
                  </a:solidFill>
                </a:rPr>
                <a:t>+fire(</a:t>
              </a:r>
              <a:r>
                <a:rPr lang="en-US" dirty="0" err="1">
                  <a:solidFill>
                    <a:prstClr val="black"/>
                  </a:solidFill>
                </a:rPr>
                <a:t>p:Person</a:t>
              </a:r>
              <a:r>
                <a:rPr lang="en-US" dirty="0">
                  <a:solidFill>
                    <a:prstClr val="black"/>
                  </a:solidFill>
                </a:rPr>
                <a:t>):void</a:t>
              </a:r>
            </a:p>
            <a:p>
              <a:pPr algn="ctr"/>
              <a:endParaRPr lang="en-US" dirty="0">
                <a:solidFill>
                  <a:prstClr val="black"/>
                </a:solidFill>
              </a:endParaRPr>
            </a:p>
          </p:txBody>
        </p:sp>
        <p:cxnSp>
          <p:nvCxnSpPr>
            <p:cNvPr id="17" name="Straight Connector 16">
              <a:extLst>
                <a:ext uri="{FF2B5EF4-FFF2-40B4-BE49-F238E27FC236}">
                  <a16:creationId xmlns:a16="http://schemas.microsoft.com/office/drawing/2014/main" id="{DAFF3EFA-FE0C-49E2-A00A-4835C8F54CDF}"/>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90DF0554-2208-431A-BF37-D621FA903B33}"/>
                </a:ext>
              </a:extLst>
            </p:cNvPr>
            <p:cNvCxnSpPr>
              <a:cxnSpLocks/>
            </p:cNvCxnSpPr>
            <p:nvPr/>
          </p:nvCxnSpPr>
          <p:spPr>
            <a:xfrm>
              <a:off x="8304245" y="3814888"/>
              <a:ext cx="3219061" cy="0"/>
            </a:xfrm>
            <a:prstGeom prst="line">
              <a:avLst/>
            </a:prstGeom>
          </p:spPr>
          <p:style>
            <a:lnRef idx="3">
              <a:schemeClr val="dk1"/>
            </a:lnRef>
            <a:fillRef idx="0">
              <a:schemeClr val="dk1"/>
            </a:fillRef>
            <a:effectRef idx="2">
              <a:schemeClr val="dk1"/>
            </a:effectRef>
            <a:fontRef idx="minor">
              <a:schemeClr val="tx1"/>
            </a:fontRef>
          </p:style>
        </p:cxnSp>
      </p:grpSp>
      <p:pic>
        <p:nvPicPr>
          <p:cNvPr id="13" name="Content Placeholder 3">
            <a:extLst>
              <a:ext uri="{FF2B5EF4-FFF2-40B4-BE49-F238E27FC236}">
                <a16:creationId xmlns:a16="http://schemas.microsoft.com/office/drawing/2014/main" id="{41DEB5E5-4B21-4D7D-BEAF-A4C44552057E}"/>
              </a:ext>
            </a:extLst>
          </p:cNvPr>
          <p:cNvPicPr>
            <a:picLocks/>
          </p:cNvPicPr>
          <p:nvPr/>
        </p:nvPicPr>
        <p:blipFill rotWithShape="1">
          <a:blip r:embed="rId2"/>
          <a:srcRect t="54329"/>
          <a:stretch/>
        </p:blipFill>
        <p:spPr>
          <a:xfrm>
            <a:off x="1053768" y="4135771"/>
            <a:ext cx="5090052" cy="2213895"/>
          </a:xfrm>
          <a:prstGeom prst="rect">
            <a:avLst/>
          </a:prstGeom>
          <a:noFill/>
          <a:ln>
            <a:noFill/>
          </a:ln>
        </p:spPr>
      </p:pic>
    </p:spTree>
    <p:extLst>
      <p:ext uri="{BB962C8B-B14F-4D97-AF65-F5344CB8AC3E}">
        <p14:creationId xmlns:p14="http://schemas.microsoft.com/office/powerpoint/2010/main" val="3700359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14"/>
                                        </p:tgtEl>
                                        <p:attrNameLst>
                                          <p:attrName>r</p:attrName>
                                        </p:attrNameLst>
                                      </p:cBhvr>
                                    </p:animRot>
                                    <p:animRot by="-240000">
                                      <p:cBhvr>
                                        <p:cTn id="7" dur="200" fill="hold">
                                          <p:stCondLst>
                                            <p:cond delay="200"/>
                                          </p:stCondLst>
                                        </p:cTn>
                                        <p:tgtEl>
                                          <p:spTgt spid="14"/>
                                        </p:tgtEl>
                                        <p:attrNameLst>
                                          <p:attrName>r</p:attrName>
                                        </p:attrNameLst>
                                      </p:cBhvr>
                                    </p:animRot>
                                    <p:animRot by="240000">
                                      <p:cBhvr>
                                        <p:cTn id="8" dur="200" fill="hold">
                                          <p:stCondLst>
                                            <p:cond delay="400"/>
                                          </p:stCondLst>
                                        </p:cTn>
                                        <p:tgtEl>
                                          <p:spTgt spid="14"/>
                                        </p:tgtEl>
                                        <p:attrNameLst>
                                          <p:attrName>r</p:attrName>
                                        </p:attrNameLst>
                                      </p:cBhvr>
                                    </p:animRot>
                                    <p:animRot by="-240000">
                                      <p:cBhvr>
                                        <p:cTn id="9" dur="200" fill="hold">
                                          <p:stCondLst>
                                            <p:cond delay="600"/>
                                          </p:stCondLst>
                                        </p:cTn>
                                        <p:tgtEl>
                                          <p:spTgt spid="14"/>
                                        </p:tgtEl>
                                        <p:attrNameLst>
                                          <p:attrName>r</p:attrName>
                                        </p:attrNameLst>
                                      </p:cBhvr>
                                    </p:animRot>
                                    <p:animRot by="120000">
                                      <p:cBhvr>
                                        <p:cTn id="10" dur="200" fill="hold">
                                          <p:stCondLst>
                                            <p:cond delay="800"/>
                                          </p:stCondLst>
                                        </p:cTn>
                                        <p:tgtEl>
                                          <p:spTgt spid="1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32" presetClass="emph" presetSubtype="0" fill="hold" nodeType="clickEffect">
                                  <p:stCondLst>
                                    <p:cond delay="0"/>
                                  </p:stCondLst>
                                  <p:childTnLst>
                                    <p:animRot by="120000">
                                      <p:cBhvr>
                                        <p:cTn id="22" dur="100" fill="hold">
                                          <p:stCondLst>
                                            <p:cond delay="0"/>
                                          </p:stCondLst>
                                        </p:cTn>
                                        <p:tgtEl>
                                          <p:spTgt spid="15"/>
                                        </p:tgtEl>
                                        <p:attrNameLst>
                                          <p:attrName>r</p:attrName>
                                        </p:attrNameLst>
                                      </p:cBhvr>
                                    </p:animRot>
                                    <p:animRot by="-240000">
                                      <p:cBhvr>
                                        <p:cTn id="23" dur="200" fill="hold">
                                          <p:stCondLst>
                                            <p:cond delay="200"/>
                                          </p:stCondLst>
                                        </p:cTn>
                                        <p:tgtEl>
                                          <p:spTgt spid="15"/>
                                        </p:tgtEl>
                                        <p:attrNameLst>
                                          <p:attrName>r</p:attrName>
                                        </p:attrNameLst>
                                      </p:cBhvr>
                                    </p:animRot>
                                    <p:animRot by="240000">
                                      <p:cBhvr>
                                        <p:cTn id="24" dur="200" fill="hold">
                                          <p:stCondLst>
                                            <p:cond delay="400"/>
                                          </p:stCondLst>
                                        </p:cTn>
                                        <p:tgtEl>
                                          <p:spTgt spid="15"/>
                                        </p:tgtEl>
                                        <p:attrNameLst>
                                          <p:attrName>r</p:attrName>
                                        </p:attrNameLst>
                                      </p:cBhvr>
                                    </p:animRot>
                                    <p:animRot by="-240000">
                                      <p:cBhvr>
                                        <p:cTn id="25" dur="200" fill="hold">
                                          <p:stCondLst>
                                            <p:cond delay="600"/>
                                          </p:stCondLst>
                                        </p:cTn>
                                        <p:tgtEl>
                                          <p:spTgt spid="15"/>
                                        </p:tgtEl>
                                        <p:attrNameLst>
                                          <p:attrName>r</p:attrName>
                                        </p:attrNameLst>
                                      </p:cBhvr>
                                    </p:animRot>
                                    <p:animRot by="120000">
                                      <p:cBhvr>
                                        <p:cTn id="26" dur="200" fill="hold">
                                          <p:stCondLst>
                                            <p:cond delay="800"/>
                                          </p:stCondLst>
                                        </p:cTn>
                                        <p:tgtEl>
                                          <p:spTgt spid="15"/>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1000" fill="hold"/>
                                        <p:tgtEl>
                                          <p:spTgt spid="13"/>
                                        </p:tgtEl>
                                        <p:attrNameLst>
                                          <p:attrName>ppt_w</p:attrName>
                                        </p:attrNameLst>
                                      </p:cBhvr>
                                      <p:tavLst>
                                        <p:tav tm="0">
                                          <p:val>
                                            <p:fltVal val="0"/>
                                          </p:val>
                                        </p:tav>
                                        <p:tav tm="100000">
                                          <p:val>
                                            <p:strVal val="#ppt_w"/>
                                          </p:val>
                                        </p:tav>
                                      </p:tavLst>
                                    </p:anim>
                                    <p:anim calcmode="lin" valueType="num">
                                      <p:cBhvr>
                                        <p:cTn id="32" dur="1000" fill="hold"/>
                                        <p:tgtEl>
                                          <p:spTgt spid="13"/>
                                        </p:tgtEl>
                                        <p:attrNameLst>
                                          <p:attrName>ppt_h</p:attrName>
                                        </p:attrNameLst>
                                      </p:cBhvr>
                                      <p:tavLst>
                                        <p:tav tm="0">
                                          <p:val>
                                            <p:fltVal val="0"/>
                                          </p:val>
                                        </p:tav>
                                        <p:tav tm="100000">
                                          <p:val>
                                            <p:strVal val="#ppt_h"/>
                                          </p:val>
                                        </p:tav>
                                      </p:tavLst>
                                    </p:anim>
                                    <p:anim calcmode="lin" valueType="num">
                                      <p:cBhvr>
                                        <p:cTn id="33" dur="1000" fill="hold"/>
                                        <p:tgtEl>
                                          <p:spTgt spid="13"/>
                                        </p:tgtEl>
                                        <p:attrNameLst>
                                          <p:attrName>style.rotation</p:attrName>
                                        </p:attrNameLst>
                                      </p:cBhvr>
                                      <p:tavLst>
                                        <p:tav tm="0">
                                          <p:val>
                                            <p:fltVal val="90"/>
                                          </p:val>
                                        </p:tav>
                                        <p:tav tm="100000">
                                          <p:val>
                                            <p:fltVal val="0"/>
                                          </p:val>
                                        </p:tav>
                                      </p:tavLst>
                                    </p:anim>
                                    <p:animEffect transition="in" filter="fade">
                                      <p:cBhvr>
                                        <p:cTn id="34"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8812FB2-E03D-4FA5-BA1E-0BD3ECFC9CA0}"/>
              </a:ext>
            </a:extLst>
          </p:cNvPr>
          <p:cNvSpPr/>
          <p:nvPr/>
        </p:nvSpPr>
        <p:spPr>
          <a:xfrm>
            <a:off x="8089640" y="177282"/>
            <a:ext cx="3956180" cy="655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2">
            <a:extLst>
              <a:ext uri="{FF2B5EF4-FFF2-40B4-BE49-F238E27FC236}">
                <a16:creationId xmlns:a16="http://schemas.microsoft.com/office/drawing/2014/main" id="{2015491A-15C9-460D-BC78-BD787054501F}"/>
              </a:ext>
            </a:extLst>
          </p:cNvPr>
          <p:cNvSpPr>
            <a:spLocks noGrp="1"/>
          </p:cNvSpPr>
          <p:nvPr>
            <p:ph type="title"/>
          </p:nvPr>
        </p:nvSpPr>
        <p:spPr>
          <a:xfrm>
            <a:off x="8234650" y="1088697"/>
            <a:ext cx="3144774" cy="1174962"/>
          </a:xfrm>
        </p:spPr>
        <p:txBody>
          <a:bodyPr/>
          <a:lstStyle/>
          <a:p>
            <a:pPr algn="ctr"/>
            <a:r>
              <a:rPr lang="en-US" b="1" dirty="0"/>
              <a:t>Defining Associations</a:t>
            </a:r>
          </a:p>
        </p:txBody>
      </p:sp>
      <p:grpSp>
        <p:nvGrpSpPr>
          <p:cNvPr id="20" name="Group 19">
            <a:extLst>
              <a:ext uri="{FF2B5EF4-FFF2-40B4-BE49-F238E27FC236}">
                <a16:creationId xmlns:a16="http://schemas.microsoft.com/office/drawing/2014/main" id="{46474DD2-3EFE-4C25-8067-2F6D7FFF4DB1}"/>
              </a:ext>
            </a:extLst>
          </p:cNvPr>
          <p:cNvGrpSpPr/>
          <p:nvPr/>
        </p:nvGrpSpPr>
        <p:grpSpPr>
          <a:xfrm>
            <a:off x="260059" y="264447"/>
            <a:ext cx="7659147" cy="6346077"/>
            <a:chOff x="260059" y="264447"/>
            <a:chExt cx="7659147" cy="6346077"/>
          </a:xfrm>
        </p:grpSpPr>
        <p:sp>
          <p:nvSpPr>
            <p:cNvPr id="19" name="Rectangle 18">
              <a:extLst>
                <a:ext uri="{FF2B5EF4-FFF2-40B4-BE49-F238E27FC236}">
                  <a16:creationId xmlns:a16="http://schemas.microsoft.com/office/drawing/2014/main" id="{EA453D4B-E6FA-4E86-AC22-C7EFC03D386D}"/>
                </a:ext>
              </a:extLst>
            </p:cNvPr>
            <p:cNvSpPr/>
            <p:nvPr/>
          </p:nvSpPr>
          <p:spPr>
            <a:xfrm>
              <a:off x="260059" y="264447"/>
              <a:ext cx="7659147" cy="6346077"/>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Rectangle 4">
              <a:extLst>
                <a:ext uri="{FF2B5EF4-FFF2-40B4-BE49-F238E27FC236}">
                  <a16:creationId xmlns:a16="http://schemas.microsoft.com/office/drawing/2014/main" id="{FE346159-B41F-4271-9066-78E93B66989B}"/>
                </a:ext>
              </a:extLst>
            </p:cNvPr>
            <p:cNvSpPr/>
            <p:nvPr/>
          </p:nvSpPr>
          <p:spPr>
            <a:xfrm>
              <a:off x="411060" y="427838"/>
              <a:ext cx="7340367" cy="6023295"/>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noFill/>
              </a:endParaRPr>
            </a:p>
          </p:txBody>
        </p:sp>
      </p:grpSp>
      <p:grpSp>
        <p:nvGrpSpPr>
          <p:cNvPr id="6" name="Group 5">
            <a:extLst>
              <a:ext uri="{FF2B5EF4-FFF2-40B4-BE49-F238E27FC236}">
                <a16:creationId xmlns:a16="http://schemas.microsoft.com/office/drawing/2014/main" id="{CC1DD765-16DA-467B-95CD-25034291CD9E}"/>
              </a:ext>
            </a:extLst>
          </p:cNvPr>
          <p:cNvGrpSpPr/>
          <p:nvPr/>
        </p:nvGrpSpPr>
        <p:grpSpPr>
          <a:xfrm>
            <a:off x="861252" y="831622"/>
            <a:ext cx="3219061" cy="2267338"/>
            <a:chOff x="8304245" y="2509935"/>
            <a:chExt cx="3219061" cy="2267338"/>
          </a:xfrm>
        </p:grpSpPr>
        <p:sp>
          <p:nvSpPr>
            <p:cNvPr id="7" name="Rectangle 6">
              <a:extLst>
                <a:ext uri="{FF2B5EF4-FFF2-40B4-BE49-F238E27FC236}">
                  <a16:creationId xmlns:a16="http://schemas.microsoft.com/office/drawing/2014/main" id="{53E45DA3-9127-4F2E-834B-AC1B894B774A}"/>
                </a:ext>
              </a:extLst>
            </p:cNvPr>
            <p:cNvSpPr/>
            <p:nvPr/>
          </p:nvSpPr>
          <p:spPr>
            <a:xfrm>
              <a:off x="8304245" y="2509935"/>
              <a:ext cx="3219061" cy="2267338"/>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Person</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-age: Integer</a:t>
              </a:r>
            </a:p>
            <a:p>
              <a:r>
                <a:rPr lang="en-US" dirty="0">
                  <a:solidFill>
                    <a:prstClr val="black"/>
                  </a:solidFill>
                </a:rPr>
                <a:t>-salary: Real</a:t>
              </a:r>
            </a:p>
            <a:p>
              <a:pPr algn="ctr"/>
              <a:endParaRPr lang="en-US" dirty="0">
                <a:solidFill>
                  <a:prstClr val="black"/>
                </a:solidFill>
              </a:endParaRPr>
            </a:p>
            <a:p>
              <a:r>
                <a:rPr lang="en-US" dirty="0">
                  <a:solidFill>
                    <a:prstClr val="black"/>
                  </a:solidFill>
                </a:rPr>
                <a:t>+</a:t>
              </a:r>
              <a:r>
                <a:rPr lang="en-US" dirty="0" err="1">
                  <a:solidFill>
                    <a:prstClr val="black"/>
                  </a:solidFill>
                </a:rPr>
                <a:t>raiseSalary</a:t>
              </a:r>
              <a:r>
                <a:rPr lang="en-US" dirty="0">
                  <a:solidFill>
                    <a:prstClr val="black"/>
                  </a:solidFill>
                </a:rPr>
                <a:t>(</a:t>
              </a:r>
              <a:r>
                <a:rPr lang="en-US" dirty="0" err="1">
                  <a:solidFill>
                    <a:prstClr val="black"/>
                  </a:solidFill>
                </a:rPr>
                <a:t>rate:Real</a:t>
              </a:r>
              <a:r>
                <a:rPr lang="en-US" dirty="0">
                  <a:solidFill>
                    <a:prstClr val="black"/>
                  </a:solidFill>
                </a:rPr>
                <a:t>):Real</a:t>
              </a:r>
            </a:p>
            <a:p>
              <a:pPr algn="ctr"/>
              <a:endParaRPr lang="en-US" dirty="0">
                <a:solidFill>
                  <a:prstClr val="black"/>
                </a:solidFill>
              </a:endParaRPr>
            </a:p>
          </p:txBody>
        </p:sp>
        <p:cxnSp>
          <p:nvCxnSpPr>
            <p:cNvPr id="8" name="Straight Connector 7">
              <a:extLst>
                <a:ext uri="{FF2B5EF4-FFF2-40B4-BE49-F238E27FC236}">
                  <a16:creationId xmlns:a16="http://schemas.microsoft.com/office/drawing/2014/main" id="{7F465941-9379-4B81-A2A1-85B9684CCAC9}"/>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120D42E4-E06D-42EF-84E8-3120653B463F}"/>
                </a:ext>
              </a:extLst>
            </p:cNvPr>
            <p:cNvCxnSpPr>
              <a:cxnSpLocks/>
            </p:cNvCxnSpPr>
            <p:nvPr/>
          </p:nvCxnSpPr>
          <p:spPr>
            <a:xfrm>
              <a:off x="8304245" y="4024613"/>
              <a:ext cx="3219061" cy="0"/>
            </a:xfrm>
            <a:prstGeom prst="line">
              <a:avLst/>
            </a:prstGeom>
          </p:spPr>
          <p:style>
            <a:lnRef idx="3">
              <a:schemeClr val="dk1"/>
            </a:lnRef>
            <a:fillRef idx="0">
              <a:schemeClr val="dk1"/>
            </a:fillRef>
            <a:effectRef idx="2">
              <a:schemeClr val="dk1"/>
            </a:effectRef>
            <a:fontRef idx="minor">
              <a:schemeClr val="tx1"/>
            </a:fontRef>
          </p:style>
        </p:cxnSp>
      </p:grpSp>
      <p:grpSp>
        <p:nvGrpSpPr>
          <p:cNvPr id="10" name="Group 9">
            <a:extLst>
              <a:ext uri="{FF2B5EF4-FFF2-40B4-BE49-F238E27FC236}">
                <a16:creationId xmlns:a16="http://schemas.microsoft.com/office/drawing/2014/main" id="{8DB928FA-ACD3-42E0-BEAB-B42BFDBF1E2B}"/>
              </a:ext>
            </a:extLst>
          </p:cNvPr>
          <p:cNvGrpSpPr/>
          <p:nvPr/>
        </p:nvGrpSpPr>
        <p:grpSpPr>
          <a:xfrm>
            <a:off x="4016914" y="3735614"/>
            <a:ext cx="3219061" cy="2267335"/>
            <a:chOff x="8304245" y="2509935"/>
            <a:chExt cx="3219061" cy="2267335"/>
          </a:xfrm>
        </p:grpSpPr>
        <p:sp>
          <p:nvSpPr>
            <p:cNvPr id="11" name="Rectangle 10">
              <a:extLst>
                <a:ext uri="{FF2B5EF4-FFF2-40B4-BE49-F238E27FC236}">
                  <a16:creationId xmlns:a16="http://schemas.microsoft.com/office/drawing/2014/main" id="{6850F7CB-3447-4C50-A963-E5FCFB965CC0}"/>
                </a:ext>
              </a:extLst>
            </p:cNvPr>
            <p:cNvSpPr/>
            <p:nvPr/>
          </p:nvSpPr>
          <p:spPr>
            <a:xfrm>
              <a:off x="8304245" y="2509935"/>
              <a:ext cx="3219061" cy="2267335"/>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Company</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t>
              </a:r>
              <a:r>
                <a:rPr lang="en-US" dirty="0" err="1">
                  <a:solidFill>
                    <a:prstClr val="black"/>
                  </a:solidFill>
                </a:rPr>
                <a:t>location:String</a:t>
              </a:r>
              <a:endParaRPr lang="en-US" dirty="0">
                <a:solidFill>
                  <a:prstClr val="black"/>
                </a:solidFill>
              </a:endParaRPr>
            </a:p>
            <a:p>
              <a:endParaRPr lang="en-US" dirty="0">
                <a:solidFill>
                  <a:prstClr val="black"/>
                </a:solidFill>
              </a:endParaRPr>
            </a:p>
            <a:p>
              <a:r>
                <a:rPr lang="en-US" dirty="0">
                  <a:solidFill>
                    <a:prstClr val="black"/>
                  </a:solidFill>
                </a:rPr>
                <a:t>+hire(</a:t>
              </a:r>
              <a:r>
                <a:rPr lang="en-US" dirty="0" err="1">
                  <a:solidFill>
                    <a:prstClr val="black"/>
                  </a:solidFill>
                </a:rPr>
                <a:t>p:Person</a:t>
              </a:r>
              <a:r>
                <a:rPr lang="en-US" dirty="0">
                  <a:solidFill>
                    <a:prstClr val="black"/>
                  </a:solidFill>
                </a:rPr>
                <a:t>):void</a:t>
              </a:r>
            </a:p>
            <a:p>
              <a:r>
                <a:rPr lang="en-US" dirty="0">
                  <a:solidFill>
                    <a:prstClr val="black"/>
                  </a:solidFill>
                </a:rPr>
                <a:t>+fire(</a:t>
              </a:r>
              <a:r>
                <a:rPr lang="en-US" dirty="0" err="1">
                  <a:solidFill>
                    <a:prstClr val="black"/>
                  </a:solidFill>
                </a:rPr>
                <a:t>p:Person</a:t>
              </a:r>
              <a:r>
                <a:rPr lang="en-US" dirty="0">
                  <a:solidFill>
                    <a:prstClr val="black"/>
                  </a:solidFill>
                </a:rPr>
                <a:t>):void</a:t>
              </a:r>
            </a:p>
            <a:p>
              <a:pPr algn="ctr"/>
              <a:endParaRPr lang="en-US" dirty="0">
                <a:solidFill>
                  <a:prstClr val="black"/>
                </a:solidFill>
              </a:endParaRPr>
            </a:p>
          </p:txBody>
        </p:sp>
        <p:cxnSp>
          <p:nvCxnSpPr>
            <p:cNvPr id="12" name="Straight Connector 11">
              <a:extLst>
                <a:ext uri="{FF2B5EF4-FFF2-40B4-BE49-F238E27FC236}">
                  <a16:creationId xmlns:a16="http://schemas.microsoft.com/office/drawing/2014/main" id="{66331951-0FCE-4845-B579-9952B6846B15}"/>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7B03EF1F-EB2B-41ED-AC14-F7C295BAF0F1}"/>
                </a:ext>
              </a:extLst>
            </p:cNvPr>
            <p:cNvCxnSpPr>
              <a:cxnSpLocks/>
            </p:cNvCxnSpPr>
            <p:nvPr/>
          </p:nvCxnSpPr>
          <p:spPr>
            <a:xfrm>
              <a:off x="8304245" y="3814888"/>
              <a:ext cx="3219061" cy="0"/>
            </a:xfrm>
            <a:prstGeom prst="line">
              <a:avLst/>
            </a:prstGeom>
          </p:spPr>
          <p:style>
            <a:lnRef idx="3">
              <a:schemeClr val="dk1"/>
            </a:lnRef>
            <a:fillRef idx="0">
              <a:schemeClr val="dk1"/>
            </a:fillRef>
            <a:effectRef idx="2">
              <a:schemeClr val="dk1"/>
            </a:effectRef>
            <a:fontRef idx="minor">
              <a:schemeClr val="tx1"/>
            </a:fontRef>
          </p:style>
        </p:cxnSp>
      </p:grpSp>
      <p:sp>
        <p:nvSpPr>
          <p:cNvPr id="42" name="TextBox 41">
            <a:extLst>
              <a:ext uri="{FF2B5EF4-FFF2-40B4-BE49-F238E27FC236}">
                <a16:creationId xmlns:a16="http://schemas.microsoft.com/office/drawing/2014/main" id="{E867D805-1A08-4E48-8659-FCE2AED91E69}"/>
              </a:ext>
            </a:extLst>
          </p:cNvPr>
          <p:cNvSpPr txBox="1"/>
          <p:nvPr/>
        </p:nvSpPr>
        <p:spPr>
          <a:xfrm>
            <a:off x="2699644" y="4845701"/>
            <a:ext cx="1377300" cy="400110"/>
          </a:xfrm>
          <a:prstGeom prst="rect">
            <a:avLst/>
          </a:prstGeom>
          <a:noFill/>
        </p:spPr>
        <p:txBody>
          <a:bodyPr wrap="none" rtlCol="0">
            <a:spAutoFit/>
          </a:bodyPr>
          <a:lstStyle/>
          <a:p>
            <a:r>
              <a:rPr lang="en-US" sz="2000" b="1" dirty="0">
                <a:solidFill>
                  <a:prstClr val="black"/>
                </a:solidFill>
              </a:rPr>
              <a:t>employer</a:t>
            </a:r>
          </a:p>
        </p:txBody>
      </p:sp>
      <p:sp>
        <p:nvSpPr>
          <p:cNvPr id="43" name="TextBox 42">
            <a:extLst>
              <a:ext uri="{FF2B5EF4-FFF2-40B4-BE49-F238E27FC236}">
                <a16:creationId xmlns:a16="http://schemas.microsoft.com/office/drawing/2014/main" id="{C4EA67E2-244D-4F50-B2DA-BD66692491D8}"/>
              </a:ext>
            </a:extLst>
          </p:cNvPr>
          <p:cNvSpPr txBox="1"/>
          <p:nvPr/>
        </p:nvSpPr>
        <p:spPr>
          <a:xfrm>
            <a:off x="1051229" y="3057329"/>
            <a:ext cx="1459054" cy="400110"/>
          </a:xfrm>
          <a:prstGeom prst="rect">
            <a:avLst/>
          </a:prstGeom>
          <a:noFill/>
        </p:spPr>
        <p:txBody>
          <a:bodyPr wrap="none" rtlCol="0">
            <a:spAutoFit/>
          </a:bodyPr>
          <a:lstStyle/>
          <a:p>
            <a:r>
              <a:rPr lang="en-US" sz="2000" b="1" dirty="0">
                <a:solidFill>
                  <a:prstClr val="black"/>
                </a:solidFill>
              </a:rPr>
              <a:t>employee</a:t>
            </a:r>
          </a:p>
        </p:txBody>
      </p:sp>
      <p:grpSp>
        <p:nvGrpSpPr>
          <p:cNvPr id="2" name="Group 1">
            <a:extLst>
              <a:ext uri="{FF2B5EF4-FFF2-40B4-BE49-F238E27FC236}">
                <a16:creationId xmlns:a16="http://schemas.microsoft.com/office/drawing/2014/main" id="{C2EE0322-080D-40F9-B87B-8A221B40E955}"/>
              </a:ext>
            </a:extLst>
          </p:cNvPr>
          <p:cNvGrpSpPr/>
          <p:nvPr/>
        </p:nvGrpSpPr>
        <p:grpSpPr>
          <a:xfrm>
            <a:off x="1147647" y="3082218"/>
            <a:ext cx="2950140" cy="1815247"/>
            <a:chOff x="1147647" y="3082218"/>
            <a:chExt cx="2950140" cy="1815247"/>
          </a:xfrm>
        </p:grpSpPr>
        <p:cxnSp>
          <p:nvCxnSpPr>
            <p:cNvPr id="17" name="Connector: Elbow 16">
              <a:extLst>
                <a:ext uri="{FF2B5EF4-FFF2-40B4-BE49-F238E27FC236}">
                  <a16:creationId xmlns:a16="http://schemas.microsoft.com/office/drawing/2014/main" id="{9AB407FF-F0F3-43FD-B78F-EEAC8603C2C9}"/>
                </a:ext>
              </a:extLst>
            </p:cNvPr>
            <p:cNvCxnSpPr>
              <a:cxnSpLocks/>
              <a:stCxn id="7" idx="2"/>
              <a:endCxn id="11" idx="1"/>
            </p:cNvCxnSpPr>
            <p:nvPr/>
          </p:nvCxnSpPr>
          <p:spPr>
            <a:xfrm rot="16200000" flipH="1">
              <a:off x="2358687" y="3211055"/>
              <a:ext cx="1770322" cy="1546131"/>
            </a:xfrm>
            <a:prstGeom prst="bentConnector2">
              <a:avLst/>
            </a:prstGeom>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0C726022-3C3A-439E-A34F-BBD8B3077DF6}"/>
                </a:ext>
              </a:extLst>
            </p:cNvPr>
            <p:cNvSpPr txBox="1"/>
            <p:nvPr/>
          </p:nvSpPr>
          <p:spPr>
            <a:xfrm>
              <a:off x="3480310" y="4497355"/>
              <a:ext cx="617477" cy="400110"/>
            </a:xfrm>
            <a:prstGeom prst="rect">
              <a:avLst/>
            </a:prstGeom>
            <a:noFill/>
          </p:spPr>
          <p:txBody>
            <a:bodyPr wrap="none" rtlCol="0">
              <a:spAutoFit/>
            </a:bodyPr>
            <a:lstStyle/>
            <a:p>
              <a:r>
                <a:rPr lang="en-US" sz="2000" b="1" dirty="0">
                  <a:solidFill>
                    <a:prstClr val="black"/>
                  </a:solidFill>
                </a:rPr>
                <a:t>0..1</a:t>
              </a:r>
            </a:p>
          </p:txBody>
        </p:sp>
        <p:sp>
          <p:nvSpPr>
            <p:cNvPr id="41" name="TextBox 40">
              <a:extLst>
                <a:ext uri="{FF2B5EF4-FFF2-40B4-BE49-F238E27FC236}">
                  <a16:creationId xmlns:a16="http://schemas.microsoft.com/office/drawing/2014/main" id="{98402DA2-0251-4BEE-BC70-FEE9A97F7819}"/>
                </a:ext>
              </a:extLst>
            </p:cNvPr>
            <p:cNvSpPr txBox="1"/>
            <p:nvPr/>
          </p:nvSpPr>
          <p:spPr>
            <a:xfrm>
              <a:off x="2429062" y="3082218"/>
              <a:ext cx="365806" cy="584775"/>
            </a:xfrm>
            <a:prstGeom prst="rect">
              <a:avLst/>
            </a:prstGeom>
            <a:noFill/>
          </p:spPr>
          <p:txBody>
            <a:bodyPr wrap="none" rtlCol="0">
              <a:spAutoFit/>
            </a:bodyPr>
            <a:lstStyle/>
            <a:p>
              <a:r>
                <a:rPr lang="en-US" sz="3200" b="1" dirty="0">
                  <a:solidFill>
                    <a:prstClr val="black"/>
                  </a:solidFill>
                </a:rPr>
                <a:t>*</a:t>
              </a:r>
            </a:p>
          </p:txBody>
        </p:sp>
        <p:sp>
          <p:nvSpPr>
            <p:cNvPr id="44" name="TextBox 43">
              <a:extLst>
                <a:ext uri="{FF2B5EF4-FFF2-40B4-BE49-F238E27FC236}">
                  <a16:creationId xmlns:a16="http://schemas.microsoft.com/office/drawing/2014/main" id="{8E7C109E-B97B-4058-B622-60CB7B2A5698}"/>
                </a:ext>
              </a:extLst>
            </p:cNvPr>
            <p:cNvSpPr txBox="1"/>
            <p:nvPr/>
          </p:nvSpPr>
          <p:spPr>
            <a:xfrm>
              <a:off x="1147647" y="4002831"/>
              <a:ext cx="1290738" cy="400110"/>
            </a:xfrm>
            <a:prstGeom prst="rect">
              <a:avLst/>
            </a:prstGeom>
            <a:noFill/>
          </p:spPr>
          <p:txBody>
            <a:bodyPr wrap="none" rtlCol="0">
              <a:spAutoFit/>
            </a:bodyPr>
            <a:lstStyle/>
            <a:p>
              <a:r>
                <a:rPr lang="en-US" sz="2000" b="1" dirty="0" err="1">
                  <a:solidFill>
                    <a:prstClr val="black"/>
                  </a:solidFill>
                </a:rPr>
                <a:t>WorksFor</a:t>
              </a:r>
              <a:endParaRPr lang="en-US" sz="2000" b="1" dirty="0">
                <a:solidFill>
                  <a:prstClr val="black"/>
                </a:solidFill>
              </a:endParaRPr>
            </a:p>
          </p:txBody>
        </p:sp>
      </p:grpSp>
      <p:grpSp>
        <p:nvGrpSpPr>
          <p:cNvPr id="14" name="Group 13">
            <a:extLst>
              <a:ext uri="{FF2B5EF4-FFF2-40B4-BE49-F238E27FC236}">
                <a16:creationId xmlns:a16="http://schemas.microsoft.com/office/drawing/2014/main" id="{F671E15D-3D8A-4DC8-B7B6-D91F2603882D}"/>
              </a:ext>
            </a:extLst>
          </p:cNvPr>
          <p:cNvGrpSpPr/>
          <p:nvPr/>
        </p:nvGrpSpPr>
        <p:grpSpPr>
          <a:xfrm>
            <a:off x="8173615" y="2492235"/>
            <a:ext cx="3805849" cy="2267326"/>
            <a:chOff x="8173615" y="2492235"/>
            <a:chExt cx="3805849" cy="2267326"/>
          </a:xfrm>
        </p:grpSpPr>
        <p:pic>
          <p:nvPicPr>
            <p:cNvPr id="39" name="Picture 38">
              <a:extLst>
                <a:ext uri="{FF2B5EF4-FFF2-40B4-BE49-F238E27FC236}">
                  <a16:creationId xmlns:a16="http://schemas.microsoft.com/office/drawing/2014/main" id="{9141881B-0D81-4BA3-A2E2-6ED4ACAACF6A}"/>
                </a:ext>
              </a:extLst>
            </p:cNvPr>
            <p:cNvPicPr/>
            <p:nvPr/>
          </p:nvPicPr>
          <p:blipFill rotWithShape="1">
            <a:blip r:embed="rId2"/>
            <a:srcRect l="7812" r="7815"/>
            <a:stretch/>
          </p:blipFill>
          <p:spPr>
            <a:xfrm>
              <a:off x="8173615" y="2492235"/>
              <a:ext cx="3722915" cy="2267326"/>
            </a:xfrm>
            <a:prstGeom prst="rect">
              <a:avLst/>
            </a:prstGeom>
            <a:ln>
              <a:noFill/>
            </a:ln>
          </p:spPr>
        </p:pic>
        <p:sp>
          <p:nvSpPr>
            <p:cNvPr id="4" name="Rectangle 3">
              <a:extLst>
                <a:ext uri="{FF2B5EF4-FFF2-40B4-BE49-F238E27FC236}">
                  <a16:creationId xmlns:a16="http://schemas.microsoft.com/office/drawing/2014/main" id="{51C3C4EC-D79F-4F24-AA84-4D59A2F53368}"/>
                </a:ext>
              </a:extLst>
            </p:cNvPr>
            <p:cNvSpPr/>
            <p:nvPr/>
          </p:nvSpPr>
          <p:spPr>
            <a:xfrm>
              <a:off x="9679273" y="3583953"/>
              <a:ext cx="1803842" cy="37693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prstClr val="black"/>
                </a:solidFill>
              </a:endParaRPr>
            </a:p>
          </p:txBody>
        </p:sp>
        <p:sp>
          <p:nvSpPr>
            <p:cNvPr id="27" name="Rectangle 26">
              <a:extLst>
                <a:ext uri="{FF2B5EF4-FFF2-40B4-BE49-F238E27FC236}">
                  <a16:creationId xmlns:a16="http://schemas.microsoft.com/office/drawing/2014/main" id="{638CDA28-BA4F-41F6-8A94-83B8AEF4EB82}"/>
                </a:ext>
              </a:extLst>
            </p:cNvPr>
            <p:cNvSpPr/>
            <p:nvPr/>
          </p:nvSpPr>
          <p:spPr>
            <a:xfrm>
              <a:off x="10175622" y="3887355"/>
              <a:ext cx="1803842" cy="37693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prstClr val="black"/>
                </a:solidFill>
              </a:endParaRPr>
            </a:p>
          </p:txBody>
        </p:sp>
      </p:grpSp>
      <p:pic>
        <p:nvPicPr>
          <p:cNvPr id="24" name="Picture 23">
            <a:extLst>
              <a:ext uri="{FF2B5EF4-FFF2-40B4-BE49-F238E27FC236}">
                <a16:creationId xmlns:a16="http://schemas.microsoft.com/office/drawing/2014/main" id="{4B288105-BE30-4318-B7F1-0DC7C033CB88}"/>
              </a:ext>
            </a:extLst>
          </p:cNvPr>
          <p:cNvPicPr/>
          <p:nvPr/>
        </p:nvPicPr>
        <p:blipFill rotWithShape="1">
          <a:blip r:embed="rId2"/>
          <a:srcRect l="42145" t="45967" r="7815" b="35509"/>
          <a:stretch/>
        </p:blipFill>
        <p:spPr>
          <a:xfrm>
            <a:off x="9638227" y="3529804"/>
            <a:ext cx="2207969" cy="420004"/>
          </a:xfrm>
          <a:prstGeom prst="rect">
            <a:avLst/>
          </a:prstGeom>
          <a:ln>
            <a:noFill/>
          </a:ln>
        </p:spPr>
      </p:pic>
      <p:pic>
        <p:nvPicPr>
          <p:cNvPr id="25" name="Picture 24">
            <a:extLst>
              <a:ext uri="{FF2B5EF4-FFF2-40B4-BE49-F238E27FC236}">
                <a16:creationId xmlns:a16="http://schemas.microsoft.com/office/drawing/2014/main" id="{2E6652E1-B509-4E09-A59E-B12EE6B16E45}"/>
              </a:ext>
            </a:extLst>
          </p:cNvPr>
          <p:cNvPicPr/>
          <p:nvPr/>
        </p:nvPicPr>
        <p:blipFill rotWithShape="1">
          <a:blip r:embed="rId2"/>
          <a:srcRect l="51826" t="63916" r="7815" b="22450"/>
          <a:stretch/>
        </p:blipFill>
        <p:spPr>
          <a:xfrm>
            <a:off x="10067730" y="3952491"/>
            <a:ext cx="1780805" cy="309113"/>
          </a:xfrm>
          <a:prstGeom prst="rect">
            <a:avLst/>
          </a:prstGeom>
          <a:ln>
            <a:noFill/>
          </a:ln>
        </p:spPr>
      </p:pic>
    </p:spTree>
    <p:extLst>
      <p:ext uri="{BB962C8B-B14F-4D97-AF65-F5344CB8AC3E}">
        <p14:creationId xmlns:p14="http://schemas.microsoft.com/office/powerpoint/2010/main" val="32777544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randombar(horizontal)">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randombar(horizont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randombar(horizontal)">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randombar(horizontal)">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C351C4A-7385-4F29-8775-61F24E9E2DFE}"/>
              </a:ext>
            </a:extLst>
          </p:cNvPr>
          <p:cNvSpPr>
            <a:spLocks noGrp="1"/>
          </p:cNvSpPr>
          <p:nvPr>
            <p:ph type="body" sz="half" idx="2"/>
          </p:nvPr>
        </p:nvSpPr>
        <p:spPr>
          <a:xfrm>
            <a:off x="8477250" y="2386584"/>
            <a:ext cx="3144774" cy="3511296"/>
          </a:xfrm>
        </p:spPr>
        <p:txBody>
          <a:bodyPr>
            <a:normAutofit/>
          </a:bodyPr>
          <a:lstStyle/>
          <a:p>
            <a:r>
              <a:rPr lang="en-US" dirty="0"/>
              <a:t> </a:t>
            </a:r>
          </a:p>
        </p:txBody>
      </p:sp>
      <p:pic>
        <p:nvPicPr>
          <p:cNvPr id="9" name="Content Placeholder 8">
            <a:extLst>
              <a:ext uri="{FF2B5EF4-FFF2-40B4-BE49-F238E27FC236}">
                <a16:creationId xmlns:a16="http://schemas.microsoft.com/office/drawing/2014/main" id="{D2CC28DA-ECE8-4EA6-B6B2-9354D415F2D4}"/>
              </a:ext>
            </a:extLst>
          </p:cNvPr>
          <p:cNvPicPr>
            <a:picLocks noGrp="1"/>
          </p:cNvPicPr>
          <p:nvPr>
            <p:ph type="pic" idx="1"/>
          </p:nvPr>
        </p:nvPicPr>
        <p:blipFill rotWithShape="1">
          <a:blip r:embed="rId2"/>
          <a:srcRect b="59114"/>
          <a:stretch/>
        </p:blipFill>
        <p:spPr>
          <a:xfrm>
            <a:off x="681943" y="1851143"/>
            <a:ext cx="5522915" cy="1577858"/>
          </a:xfrm>
          <a:prstGeom prst="rect">
            <a:avLst/>
          </a:prstGeom>
          <a:noFill/>
          <a:ln>
            <a:noFill/>
          </a:ln>
        </p:spPr>
      </p:pic>
      <p:sp>
        <p:nvSpPr>
          <p:cNvPr id="14" name="Title 2">
            <a:extLst>
              <a:ext uri="{FF2B5EF4-FFF2-40B4-BE49-F238E27FC236}">
                <a16:creationId xmlns:a16="http://schemas.microsoft.com/office/drawing/2014/main" id="{FDAF6513-133B-4F64-A370-D75549CEC723}"/>
              </a:ext>
            </a:extLst>
          </p:cNvPr>
          <p:cNvSpPr>
            <a:spLocks noGrp="1"/>
          </p:cNvSpPr>
          <p:nvPr>
            <p:ph type="title"/>
          </p:nvPr>
        </p:nvSpPr>
        <p:spPr>
          <a:xfrm>
            <a:off x="788631" y="699795"/>
            <a:ext cx="6414602" cy="844135"/>
          </a:xfrm>
        </p:spPr>
        <p:txBody>
          <a:bodyPr/>
          <a:lstStyle/>
          <a:p>
            <a:r>
              <a:rPr lang="en-US" b="1" dirty="0"/>
              <a:t>Adding Constraints</a:t>
            </a:r>
          </a:p>
        </p:txBody>
      </p:sp>
      <p:sp>
        <p:nvSpPr>
          <p:cNvPr id="11" name="Title 2">
            <a:extLst>
              <a:ext uri="{FF2B5EF4-FFF2-40B4-BE49-F238E27FC236}">
                <a16:creationId xmlns:a16="http://schemas.microsoft.com/office/drawing/2014/main" id="{EF5DC8A4-EA68-4690-9408-4D498A6DD8B1}"/>
              </a:ext>
            </a:extLst>
          </p:cNvPr>
          <p:cNvSpPr txBox="1">
            <a:spLocks/>
          </p:cNvSpPr>
          <p:nvPr/>
        </p:nvSpPr>
        <p:spPr>
          <a:xfrm>
            <a:off x="8470830" y="715101"/>
            <a:ext cx="3136449" cy="92213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lang="en-US" sz="3200" b="0" i="0" kern="1200" cap="none" spc="0" baseline="0">
                <a:solidFill>
                  <a:schemeClr val="tx1"/>
                </a:solidFill>
                <a:effectLst/>
                <a:latin typeface="+mj-lt"/>
                <a:ea typeface="+mn-ea"/>
                <a:cs typeface="+mn-cs"/>
              </a:defRPr>
            </a:lvl1pPr>
          </a:lstStyle>
          <a:p>
            <a:r>
              <a:rPr b="1" dirty="0">
                <a:solidFill>
                  <a:prstClr val="black"/>
                </a:solidFill>
              </a:rPr>
              <a:t>Adding Constraints</a:t>
            </a:r>
          </a:p>
        </p:txBody>
      </p:sp>
      <p:sp>
        <p:nvSpPr>
          <p:cNvPr id="12" name="Content Placeholder 2">
            <a:extLst>
              <a:ext uri="{FF2B5EF4-FFF2-40B4-BE49-F238E27FC236}">
                <a16:creationId xmlns:a16="http://schemas.microsoft.com/office/drawing/2014/main" id="{227AABBD-D457-4C16-8B5D-48B547047E39}"/>
              </a:ext>
            </a:extLst>
          </p:cNvPr>
          <p:cNvSpPr txBox="1">
            <a:spLocks/>
          </p:cNvSpPr>
          <p:nvPr/>
        </p:nvSpPr>
        <p:spPr>
          <a:xfrm>
            <a:off x="8391329" y="1707502"/>
            <a:ext cx="3234612" cy="4528706"/>
          </a:xfrm>
          <a:prstGeom prst="rect">
            <a:avLst/>
          </a:prstGeom>
          <a:noFill/>
          <a:ln>
            <a:noFill/>
          </a:ln>
        </p:spPr>
        <p:txBody>
          <a:bodyPr vert="horz" lIns="91440" tIns="45720" rIns="91440" bIns="45720" rtlCol="0" anchor="t">
            <a:noAutofit/>
          </a:bodyPr>
          <a:lstStyle>
            <a:lvl1pPr marL="0" indent="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None/>
              <a:defRPr sz="3200" kern="1200">
                <a:solidFill>
                  <a:schemeClr val="tx1"/>
                </a:solidFill>
                <a:latin typeface="+mn-lt"/>
                <a:ea typeface="+mn-ea"/>
                <a:cs typeface="+mn-cs"/>
              </a:defRPr>
            </a:lvl1pPr>
            <a:lvl2pPr marL="457200" indent="0" algn="l" defTabSz="914400" rtl="0" eaLnBrk="1" latinLnBrk="0" hangingPunct="1">
              <a:lnSpc>
                <a:spcPct val="100000"/>
              </a:lnSpc>
              <a:spcBef>
                <a:spcPts val="500"/>
              </a:spcBef>
              <a:buClr>
                <a:schemeClr val="tx1">
                  <a:lumMod val="85000"/>
                  <a:lumOff val="15000"/>
                </a:schemeClr>
              </a:buClr>
              <a:buFont typeface="Garamond" pitchFamily="18" charset="0"/>
              <a:buNone/>
              <a:defRPr sz="2800"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tx1">
                  <a:lumMod val="85000"/>
                  <a:lumOff val="15000"/>
                </a:schemeClr>
              </a:buClr>
              <a:buFont typeface="Garamond" pitchFamily="18" charset="0"/>
              <a:buNone/>
              <a:defRPr sz="2400"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5pPr>
            <a:lvl6pPr marL="22860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6pPr>
            <a:lvl7pPr marL="27432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7pPr>
            <a:lvl8pPr marL="32004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8pPr>
            <a:lvl9pPr marL="36576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9pPr>
          </a:lstStyle>
          <a:p>
            <a:pPr fontAlgn="base">
              <a:buClr>
                <a:prstClr val="black">
                  <a:lumMod val="85000"/>
                  <a:lumOff val="15000"/>
                </a:prstClr>
              </a:buClr>
            </a:pPr>
            <a:r>
              <a:rPr lang="en-US" sz="1500" b="1" dirty="0">
                <a:solidFill>
                  <a:srgbClr val="000000"/>
                </a:solidFill>
                <a:latin typeface="Georgia" panose="02040502050405020303" pitchFamily="18" charset="0"/>
              </a:rPr>
              <a:t>hire(</a:t>
            </a:r>
            <a:r>
              <a:rPr lang="en-US" sz="1500" b="1" dirty="0" err="1">
                <a:solidFill>
                  <a:srgbClr val="000000"/>
                </a:solidFill>
                <a:latin typeface="Georgia" panose="02040502050405020303" pitchFamily="18" charset="0"/>
              </a:rPr>
              <a:t>p:person</a:t>
            </a:r>
            <a:r>
              <a:rPr lang="en-US" sz="1500" b="1" dirty="0">
                <a:solidFill>
                  <a:srgbClr val="000000"/>
                </a:solidFill>
                <a:latin typeface="Georgia" panose="02040502050405020303" pitchFamily="18" charset="0"/>
              </a:rPr>
              <a:t>) </a:t>
            </a:r>
          </a:p>
          <a:p>
            <a:pPr marL="342900" indent="-342900" fontAlgn="base">
              <a:buClr>
                <a:prstClr val="black">
                  <a:lumMod val="85000"/>
                  <a:lumOff val="15000"/>
                </a:prstClr>
              </a:buClr>
              <a:buFont typeface="Arial" panose="020B0604020202020204" pitchFamily="34" charset="0"/>
              <a:buChar char="•"/>
            </a:pPr>
            <a:r>
              <a:rPr lang="en-US" sz="1500" b="1" dirty="0">
                <a:solidFill>
                  <a:srgbClr val="000000"/>
                </a:solidFill>
                <a:latin typeface="Georgia" panose="02040502050405020303" pitchFamily="18" charset="0"/>
              </a:rPr>
              <a:t>Pre-condition 1:</a:t>
            </a:r>
            <a:r>
              <a:rPr lang="en-US" sz="1500" dirty="0">
                <a:solidFill>
                  <a:srgbClr val="000000"/>
                </a:solidFill>
                <a:latin typeface="Georgia" panose="02040502050405020303" pitchFamily="18" charset="0"/>
              </a:rPr>
              <a:t> Person p must be defined </a:t>
            </a:r>
          </a:p>
          <a:p>
            <a:pPr marL="342900" indent="-342900" fontAlgn="base">
              <a:buClr>
                <a:prstClr val="black">
                  <a:lumMod val="85000"/>
                  <a:lumOff val="15000"/>
                </a:prstClr>
              </a:buClr>
              <a:buFont typeface="Arial" panose="020B0604020202020204" pitchFamily="34" charset="0"/>
              <a:buChar char="•"/>
            </a:pPr>
            <a:r>
              <a:rPr lang="en-US" sz="1500" b="1" dirty="0">
                <a:solidFill>
                  <a:srgbClr val="000000"/>
                </a:solidFill>
                <a:latin typeface="Georgia" panose="02040502050405020303" pitchFamily="18" charset="0"/>
              </a:rPr>
              <a:t>Pre-condition 2:</a:t>
            </a:r>
            <a:r>
              <a:rPr lang="en-US" sz="1500" dirty="0">
                <a:solidFill>
                  <a:srgbClr val="000000"/>
                </a:solidFill>
                <a:latin typeface="Georgia" panose="02040502050405020303" pitchFamily="18" charset="0"/>
              </a:rPr>
              <a:t> </a:t>
            </a:r>
            <a:r>
              <a:rPr lang="en-US" sz="1500" i="1" dirty="0">
                <a:solidFill>
                  <a:srgbClr val="000000"/>
                </a:solidFill>
                <a:latin typeface="Georgia" panose="02040502050405020303" pitchFamily="18" charset="0"/>
              </a:rPr>
              <a:t>p</a:t>
            </a:r>
            <a:r>
              <a:rPr lang="en-US" sz="1500" dirty="0">
                <a:solidFill>
                  <a:srgbClr val="000000"/>
                </a:solidFill>
                <a:latin typeface="Georgia" panose="02040502050405020303" pitchFamily="18" charset="0"/>
              </a:rPr>
              <a:t> should not already be an employee of the company. </a:t>
            </a:r>
          </a:p>
          <a:p>
            <a:pPr marL="342900" indent="-342900" fontAlgn="base">
              <a:buClr>
                <a:prstClr val="black">
                  <a:lumMod val="85000"/>
                  <a:lumOff val="15000"/>
                </a:prstClr>
              </a:buClr>
              <a:buFont typeface="Arial" panose="020B0604020202020204" pitchFamily="34" charset="0"/>
              <a:buChar char="•"/>
            </a:pPr>
            <a:r>
              <a:rPr lang="en-US" sz="1500" b="1" dirty="0">
                <a:solidFill>
                  <a:srgbClr val="000000"/>
                </a:solidFill>
                <a:latin typeface="Georgia" panose="02040502050405020303" pitchFamily="18" charset="0"/>
              </a:rPr>
              <a:t>Post-condition</a:t>
            </a:r>
            <a:r>
              <a:rPr lang="en-US" sz="1500" dirty="0">
                <a:solidFill>
                  <a:srgbClr val="000000"/>
                </a:solidFill>
                <a:latin typeface="Georgia" panose="02040502050405020303" pitchFamily="18" charset="0"/>
              </a:rPr>
              <a:t>: </a:t>
            </a:r>
            <a:r>
              <a:rPr lang="en-US" sz="1500" i="1" dirty="0">
                <a:solidFill>
                  <a:srgbClr val="000000"/>
                </a:solidFill>
                <a:latin typeface="Georgia" panose="02040502050405020303" pitchFamily="18" charset="0"/>
              </a:rPr>
              <a:t>p</a:t>
            </a:r>
            <a:r>
              <a:rPr lang="en-US" sz="1500" dirty="0">
                <a:solidFill>
                  <a:srgbClr val="000000"/>
                </a:solidFill>
                <a:latin typeface="Georgia" panose="02040502050405020303" pitchFamily="18" charset="0"/>
              </a:rPr>
              <a:t> should become one of the employees of the company</a:t>
            </a:r>
          </a:p>
          <a:p>
            <a:pPr fontAlgn="base">
              <a:buClr>
                <a:prstClr val="black">
                  <a:lumMod val="85000"/>
                  <a:lumOff val="15000"/>
                </a:prstClr>
              </a:buClr>
            </a:pPr>
            <a:r>
              <a:rPr lang="en-US" sz="1500" b="1" dirty="0">
                <a:solidFill>
                  <a:srgbClr val="000000"/>
                </a:solidFill>
                <a:latin typeface="Georgia" panose="02040502050405020303" pitchFamily="18" charset="0"/>
              </a:rPr>
              <a:t>fire(</a:t>
            </a:r>
            <a:r>
              <a:rPr lang="en-US" sz="1500" b="1" dirty="0" err="1">
                <a:solidFill>
                  <a:srgbClr val="000000"/>
                </a:solidFill>
                <a:latin typeface="Georgia" panose="02040502050405020303" pitchFamily="18" charset="0"/>
              </a:rPr>
              <a:t>p:Person</a:t>
            </a:r>
            <a:r>
              <a:rPr lang="en-US" sz="1500" b="1" dirty="0">
                <a:solidFill>
                  <a:srgbClr val="000000"/>
                </a:solidFill>
                <a:latin typeface="Georgia" panose="02040502050405020303" pitchFamily="18" charset="0"/>
              </a:rPr>
              <a:t>)</a:t>
            </a:r>
          </a:p>
          <a:p>
            <a:pPr marL="342900" indent="-342900" fontAlgn="base">
              <a:buClr>
                <a:prstClr val="black">
                  <a:lumMod val="85000"/>
                  <a:lumOff val="15000"/>
                </a:prstClr>
              </a:buClr>
              <a:buFont typeface="Arial" panose="020B0604020202020204" pitchFamily="34" charset="0"/>
              <a:buChar char="•"/>
            </a:pPr>
            <a:r>
              <a:rPr lang="en-US" sz="1500" b="1" dirty="0">
                <a:solidFill>
                  <a:srgbClr val="000000"/>
                </a:solidFill>
                <a:latin typeface="Georgia" panose="02040502050405020303" pitchFamily="18" charset="0"/>
              </a:rPr>
              <a:t>Pre-condition: </a:t>
            </a:r>
            <a:r>
              <a:rPr lang="en-US" sz="1500" i="1" dirty="0">
                <a:solidFill>
                  <a:srgbClr val="000000"/>
                </a:solidFill>
                <a:latin typeface="Georgia" panose="02040502050405020303" pitchFamily="18" charset="0"/>
              </a:rPr>
              <a:t>P</a:t>
            </a:r>
            <a:r>
              <a:rPr lang="en-US" sz="1500" dirty="0">
                <a:solidFill>
                  <a:srgbClr val="000000"/>
                </a:solidFill>
                <a:latin typeface="Georgia" panose="02040502050405020303" pitchFamily="18" charset="0"/>
              </a:rPr>
              <a:t> must be an employee of the company</a:t>
            </a:r>
          </a:p>
          <a:p>
            <a:pPr marL="342900" indent="-342900" fontAlgn="base">
              <a:buClr>
                <a:prstClr val="black">
                  <a:lumMod val="85000"/>
                  <a:lumOff val="15000"/>
                </a:prstClr>
              </a:buClr>
              <a:buFont typeface="Arial" panose="020B0604020202020204" pitchFamily="34" charset="0"/>
              <a:buChar char="•"/>
            </a:pPr>
            <a:r>
              <a:rPr lang="en-US" sz="1500" b="1" dirty="0">
                <a:solidFill>
                  <a:srgbClr val="000000"/>
                </a:solidFill>
                <a:latin typeface="Georgia" panose="02040502050405020303" pitchFamily="18" charset="0"/>
              </a:rPr>
              <a:t>Post-condition: </a:t>
            </a:r>
            <a:r>
              <a:rPr lang="en-US" sz="1500" i="1" dirty="0">
                <a:solidFill>
                  <a:srgbClr val="000000"/>
                </a:solidFill>
                <a:latin typeface="Georgia" panose="02040502050405020303" pitchFamily="18" charset="0"/>
              </a:rPr>
              <a:t>P</a:t>
            </a:r>
            <a:r>
              <a:rPr lang="en-US" sz="1500" dirty="0">
                <a:solidFill>
                  <a:srgbClr val="000000"/>
                </a:solidFill>
                <a:latin typeface="Georgia" panose="02040502050405020303" pitchFamily="18" charset="0"/>
              </a:rPr>
              <a:t> is no longer an employee of the company</a:t>
            </a:r>
          </a:p>
          <a:p>
            <a:pPr marL="800100" lvl="1" indent="-342900" fontAlgn="base">
              <a:buClr>
                <a:prstClr val="black">
                  <a:lumMod val="85000"/>
                  <a:lumOff val="15000"/>
                </a:prstClr>
              </a:buClr>
              <a:buFont typeface="Arial" panose="020B0604020202020204" pitchFamily="34" charset="0"/>
              <a:buChar char="•"/>
            </a:pPr>
            <a:endParaRPr lang="en-US" sz="1500" dirty="0">
              <a:solidFill>
                <a:srgbClr val="000000"/>
              </a:solidFill>
              <a:latin typeface="Georgia" panose="02040502050405020303" pitchFamily="18" charset="0"/>
            </a:endParaRPr>
          </a:p>
          <a:p>
            <a:pPr lvl="1" fontAlgn="base">
              <a:buClr>
                <a:prstClr val="black">
                  <a:lumMod val="85000"/>
                  <a:lumOff val="15000"/>
                </a:prstClr>
              </a:buClr>
            </a:pPr>
            <a:endParaRPr lang="en-US" sz="1500" dirty="0">
              <a:solidFill>
                <a:prstClr val="black"/>
              </a:solidFill>
            </a:endParaRPr>
          </a:p>
        </p:txBody>
      </p:sp>
      <p:pic>
        <p:nvPicPr>
          <p:cNvPr id="7" name="Content Placeholder 8">
            <a:extLst>
              <a:ext uri="{FF2B5EF4-FFF2-40B4-BE49-F238E27FC236}">
                <a16:creationId xmlns:a16="http://schemas.microsoft.com/office/drawing/2014/main" id="{FA2EA75A-3849-4C8A-AD64-F0AAC3B4834C}"/>
              </a:ext>
            </a:extLst>
          </p:cNvPr>
          <p:cNvPicPr>
            <a:picLocks/>
          </p:cNvPicPr>
          <p:nvPr/>
        </p:nvPicPr>
        <p:blipFill rotWithShape="1">
          <a:blip r:embed="rId2"/>
          <a:srcRect t="40885" b="49061"/>
          <a:stretch/>
        </p:blipFill>
        <p:spPr>
          <a:xfrm>
            <a:off x="681943" y="3429000"/>
            <a:ext cx="5522915" cy="387991"/>
          </a:xfrm>
          <a:prstGeom prst="rect">
            <a:avLst/>
          </a:prstGeom>
          <a:noFill/>
          <a:ln>
            <a:noFill/>
          </a:ln>
        </p:spPr>
      </p:pic>
      <p:pic>
        <p:nvPicPr>
          <p:cNvPr id="8" name="Content Placeholder 8">
            <a:extLst>
              <a:ext uri="{FF2B5EF4-FFF2-40B4-BE49-F238E27FC236}">
                <a16:creationId xmlns:a16="http://schemas.microsoft.com/office/drawing/2014/main" id="{92B0BB75-C620-449B-8EC9-8B478701195C}"/>
              </a:ext>
            </a:extLst>
          </p:cNvPr>
          <p:cNvPicPr>
            <a:picLocks/>
          </p:cNvPicPr>
          <p:nvPr/>
        </p:nvPicPr>
        <p:blipFill rotWithShape="1">
          <a:blip r:embed="rId2"/>
          <a:srcRect t="50940" b="41235"/>
          <a:stretch/>
        </p:blipFill>
        <p:spPr>
          <a:xfrm>
            <a:off x="681943" y="3816991"/>
            <a:ext cx="5522915" cy="302003"/>
          </a:xfrm>
          <a:prstGeom prst="rect">
            <a:avLst/>
          </a:prstGeom>
          <a:noFill/>
          <a:ln>
            <a:noFill/>
          </a:ln>
        </p:spPr>
      </p:pic>
      <p:pic>
        <p:nvPicPr>
          <p:cNvPr id="10" name="Content Placeholder 8">
            <a:extLst>
              <a:ext uri="{FF2B5EF4-FFF2-40B4-BE49-F238E27FC236}">
                <a16:creationId xmlns:a16="http://schemas.microsoft.com/office/drawing/2014/main" id="{BF5653DB-B469-4BB5-8A60-167F097F4569}"/>
              </a:ext>
            </a:extLst>
          </p:cNvPr>
          <p:cNvPicPr>
            <a:picLocks/>
          </p:cNvPicPr>
          <p:nvPr/>
        </p:nvPicPr>
        <p:blipFill rotWithShape="1">
          <a:blip r:embed="rId2"/>
          <a:srcRect t="58765" b="30149"/>
          <a:stretch/>
        </p:blipFill>
        <p:spPr>
          <a:xfrm>
            <a:off x="681943" y="4118994"/>
            <a:ext cx="5522915" cy="427839"/>
          </a:xfrm>
          <a:prstGeom prst="rect">
            <a:avLst/>
          </a:prstGeom>
          <a:noFill/>
          <a:ln>
            <a:noFill/>
          </a:ln>
        </p:spPr>
      </p:pic>
      <p:pic>
        <p:nvPicPr>
          <p:cNvPr id="13" name="Content Placeholder 8">
            <a:extLst>
              <a:ext uri="{FF2B5EF4-FFF2-40B4-BE49-F238E27FC236}">
                <a16:creationId xmlns:a16="http://schemas.microsoft.com/office/drawing/2014/main" id="{AF95A95D-7BCC-4581-822B-72262986EA10}"/>
              </a:ext>
            </a:extLst>
          </p:cNvPr>
          <p:cNvPicPr>
            <a:picLocks/>
          </p:cNvPicPr>
          <p:nvPr/>
        </p:nvPicPr>
        <p:blipFill rotWithShape="1">
          <a:blip r:embed="rId2"/>
          <a:srcRect t="72894" b="17976"/>
          <a:stretch/>
        </p:blipFill>
        <p:spPr>
          <a:xfrm>
            <a:off x="681943" y="4664279"/>
            <a:ext cx="5522915" cy="352338"/>
          </a:xfrm>
          <a:prstGeom prst="rect">
            <a:avLst/>
          </a:prstGeom>
          <a:noFill/>
          <a:ln>
            <a:noFill/>
          </a:ln>
        </p:spPr>
      </p:pic>
      <p:pic>
        <p:nvPicPr>
          <p:cNvPr id="15" name="Content Placeholder 8">
            <a:extLst>
              <a:ext uri="{FF2B5EF4-FFF2-40B4-BE49-F238E27FC236}">
                <a16:creationId xmlns:a16="http://schemas.microsoft.com/office/drawing/2014/main" id="{1DF49ECF-DBC4-4AC0-A36F-EBE5C25DFE7B}"/>
              </a:ext>
            </a:extLst>
          </p:cNvPr>
          <p:cNvPicPr>
            <a:picLocks/>
          </p:cNvPicPr>
          <p:nvPr/>
        </p:nvPicPr>
        <p:blipFill rotWithShape="1">
          <a:blip r:embed="rId2"/>
          <a:srcRect t="82024" b="10802"/>
          <a:stretch/>
        </p:blipFill>
        <p:spPr>
          <a:xfrm>
            <a:off x="681943" y="5016617"/>
            <a:ext cx="5522915" cy="276836"/>
          </a:xfrm>
          <a:prstGeom prst="rect">
            <a:avLst/>
          </a:prstGeom>
          <a:noFill/>
          <a:ln>
            <a:noFill/>
          </a:ln>
        </p:spPr>
      </p:pic>
      <p:pic>
        <p:nvPicPr>
          <p:cNvPr id="17" name="Content Placeholder 8">
            <a:extLst>
              <a:ext uri="{FF2B5EF4-FFF2-40B4-BE49-F238E27FC236}">
                <a16:creationId xmlns:a16="http://schemas.microsoft.com/office/drawing/2014/main" id="{352333E9-062B-476D-AA06-3F78CE9E4F67}"/>
              </a:ext>
            </a:extLst>
          </p:cNvPr>
          <p:cNvPicPr>
            <a:picLocks/>
          </p:cNvPicPr>
          <p:nvPr/>
        </p:nvPicPr>
        <p:blipFill rotWithShape="1">
          <a:blip r:embed="rId2"/>
          <a:srcRect t="89198"/>
          <a:stretch/>
        </p:blipFill>
        <p:spPr>
          <a:xfrm>
            <a:off x="681943" y="5293453"/>
            <a:ext cx="5522915" cy="416882"/>
          </a:xfrm>
          <a:prstGeom prst="rect">
            <a:avLst/>
          </a:prstGeom>
          <a:noFill/>
          <a:ln>
            <a:noFill/>
          </a:ln>
        </p:spPr>
      </p:pic>
    </p:spTree>
    <p:extLst>
      <p:ext uri="{BB962C8B-B14F-4D97-AF65-F5344CB8AC3E}">
        <p14:creationId xmlns:p14="http://schemas.microsoft.com/office/powerpoint/2010/main" val="2878295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animEffect transition="in" filter="fade">
                                      <p:cBhvr>
                                        <p:cTn id="27" dur="500"/>
                                        <p:tgtEl>
                                          <p:spTgt spid="1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randombar(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3" end="3"/>
                                            </p:txEl>
                                          </p:spTgt>
                                        </p:tgtEl>
                                        <p:attrNameLst>
                                          <p:attrName>style.visibility</p:attrName>
                                        </p:attrNameLst>
                                      </p:cBhvr>
                                      <p:to>
                                        <p:strVal val="visible"/>
                                      </p:to>
                                    </p:set>
                                    <p:animEffect transition="in" filter="fade">
                                      <p:cBhvr>
                                        <p:cTn id="37" dur="500"/>
                                        <p:tgtEl>
                                          <p:spTgt spid="12">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randombar(horizontal)">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animEffect transition="in" filter="fade">
                                      <p:cBhvr>
                                        <p:cTn id="47" dur="500"/>
                                        <p:tgtEl>
                                          <p:spTgt spid="12">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randombar(horizontal)">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
                                            <p:txEl>
                                              <p:pRg st="5" end="5"/>
                                            </p:txEl>
                                          </p:spTgt>
                                        </p:tgtEl>
                                        <p:attrNameLst>
                                          <p:attrName>style.visibility</p:attrName>
                                        </p:attrNameLst>
                                      </p:cBhvr>
                                      <p:to>
                                        <p:strVal val="visible"/>
                                      </p:to>
                                    </p:set>
                                    <p:animEffect transition="in" filter="fade">
                                      <p:cBhvr>
                                        <p:cTn id="57" dur="500"/>
                                        <p:tgtEl>
                                          <p:spTgt spid="12">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randombar(horizontal)">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
                                            <p:txEl>
                                              <p:pRg st="6" end="6"/>
                                            </p:txEl>
                                          </p:spTgt>
                                        </p:tgtEl>
                                        <p:attrNameLst>
                                          <p:attrName>style.visibility</p:attrName>
                                        </p:attrNameLst>
                                      </p:cBhvr>
                                      <p:to>
                                        <p:strVal val="visible"/>
                                      </p:to>
                                    </p:set>
                                    <p:animEffect transition="in" filter="fade">
                                      <p:cBhvr>
                                        <p:cTn id="67" dur="500"/>
                                        <p:tgtEl>
                                          <p:spTgt spid="12">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randombar(horizontal)">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8812FB2-E03D-4FA5-BA1E-0BD3ECFC9CA0}"/>
              </a:ext>
            </a:extLst>
          </p:cNvPr>
          <p:cNvSpPr/>
          <p:nvPr/>
        </p:nvSpPr>
        <p:spPr>
          <a:xfrm>
            <a:off x="8000838" y="177729"/>
            <a:ext cx="3956180" cy="655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2">
            <a:extLst>
              <a:ext uri="{FF2B5EF4-FFF2-40B4-BE49-F238E27FC236}">
                <a16:creationId xmlns:a16="http://schemas.microsoft.com/office/drawing/2014/main" id="{2015491A-15C9-460D-BC78-BD787054501F}"/>
              </a:ext>
            </a:extLst>
          </p:cNvPr>
          <p:cNvSpPr>
            <a:spLocks noGrp="1"/>
          </p:cNvSpPr>
          <p:nvPr>
            <p:ph type="title"/>
          </p:nvPr>
        </p:nvSpPr>
        <p:spPr>
          <a:xfrm>
            <a:off x="8394739" y="532702"/>
            <a:ext cx="2936009" cy="1583727"/>
          </a:xfrm>
        </p:spPr>
        <p:txBody>
          <a:bodyPr/>
          <a:lstStyle/>
          <a:p>
            <a:pPr algn="ctr"/>
            <a:r>
              <a:rPr lang="en-US" b="1" dirty="0"/>
              <a:t>Inheritance </a:t>
            </a:r>
            <a:br>
              <a:rPr lang="en-US" b="1" dirty="0"/>
            </a:br>
            <a:r>
              <a:rPr lang="en-US" b="1" dirty="0"/>
              <a:t>in </a:t>
            </a:r>
            <a:br>
              <a:rPr lang="en-US" b="1" dirty="0"/>
            </a:br>
            <a:r>
              <a:rPr lang="en-US" b="1" dirty="0"/>
              <a:t>OCL</a:t>
            </a:r>
          </a:p>
        </p:txBody>
      </p:sp>
      <p:grpSp>
        <p:nvGrpSpPr>
          <p:cNvPr id="20" name="Group 19">
            <a:extLst>
              <a:ext uri="{FF2B5EF4-FFF2-40B4-BE49-F238E27FC236}">
                <a16:creationId xmlns:a16="http://schemas.microsoft.com/office/drawing/2014/main" id="{46474DD2-3EFE-4C25-8067-2F6D7FFF4DB1}"/>
              </a:ext>
            </a:extLst>
          </p:cNvPr>
          <p:cNvGrpSpPr/>
          <p:nvPr/>
        </p:nvGrpSpPr>
        <p:grpSpPr>
          <a:xfrm>
            <a:off x="260059" y="264447"/>
            <a:ext cx="7659147" cy="6346077"/>
            <a:chOff x="260059" y="264447"/>
            <a:chExt cx="7659147" cy="6346077"/>
          </a:xfrm>
        </p:grpSpPr>
        <p:sp>
          <p:nvSpPr>
            <p:cNvPr id="19" name="Rectangle 18">
              <a:extLst>
                <a:ext uri="{FF2B5EF4-FFF2-40B4-BE49-F238E27FC236}">
                  <a16:creationId xmlns:a16="http://schemas.microsoft.com/office/drawing/2014/main" id="{EA453D4B-E6FA-4E86-AC22-C7EFC03D386D}"/>
                </a:ext>
              </a:extLst>
            </p:cNvPr>
            <p:cNvSpPr/>
            <p:nvPr/>
          </p:nvSpPr>
          <p:spPr>
            <a:xfrm>
              <a:off x="260059" y="264447"/>
              <a:ext cx="7659147" cy="6346077"/>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black"/>
                </a:solidFill>
              </a:endParaRPr>
            </a:p>
          </p:txBody>
        </p:sp>
        <p:sp>
          <p:nvSpPr>
            <p:cNvPr id="5" name="Rectangle 4">
              <a:extLst>
                <a:ext uri="{FF2B5EF4-FFF2-40B4-BE49-F238E27FC236}">
                  <a16:creationId xmlns:a16="http://schemas.microsoft.com/office/drawing/2014/main" id="{FE346159-B41F-4271-9066-78E93B66989B}"/>
                </a:ext>
              </a:extLst>
            </p:cNvPr>
            <p:cNvSpPr/>
            <p:nvPr/>
          </p:nvSpPr>
          <p:spPr>
            <a:xfrm>
              <a:off x="411060" y="427838"/>
              <a:ext cx="7340367" cy="6023295"/>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noFill/>
              </a:endParaRPr>
            </a:p>
          </p:txBody>
        </p:sp>
      </p:grpSp>
      <p:grpSp>
        <p:nvGrpSpPr>
          <p:cNvPr id="6" name="Group 5">
            <a:extLst>
              <a:ext uri="{FF2B5EF4-FFF2-40B4-BE49-F238E27FC236}">
                <a16:creationId xmlns:a16="http://schemas.microsoft.com/office/drawing/2014/main" id="{CC1DD765-16DA-467B-95CD-25034291CD9E}"/>
              </a:ext>
            </a:extLst>
          </p:cNvPr>
          <p:cNvGrpSpPr/>
          <p:nvPr/>
        </p:nvGrpSpPr>
        <p:grpSpPr>
          <a:xfrm>
            <a:off x="1265593" y="1484686"/>
            <a:ext cx="1999394" cy="1403361"/>
            <a:chOff x="8304245" y="2410912"/>
            <a:chExt cx="3219061" cy="2366361"/>
          </a:xfrm>
        </p:grpSpPr>
        <p:sp>
          <p:nvSpPr>
            <p:cNvPr id="7" name="Rectangle 6">
              <a:extLst>
                <a:ext uri="{FF2B5EF4-FFF2-40B4-BE49-F238E27FC236}">
                  <a16:creationId xmlns:a16="http://schemas.microsoft.com/office/drawing/2014/main" id="{53E45DA3-9127-4F2E-834B-AC1B894B774A}"/>
                </a:ext>
              </a:extLst>
            </p:cNvPr>
            <p:cNvSpPr/>
            <p:nvPr/>
          </p:nvSpPr>
          <p:spPr>
            <a:xfrm>
              <a:off x="8304245" y="2410912"/>
              <a:ext cx="3219061" cy="2366361"/>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Orange</a:t>
              </a:r>
            </a:p>
            <a:p>
              <a:endParaRPr lang="en-US" dirty="0">
                <a:solidFill>
                  <a:prstClr val="black"/>
                </a:solidFill>
              </a:endParaRPr>
            </a:p>
            <a:p>
              <a:r>
                <a:rPr lang="en-US" dirty="0">
                  <a:solidFill>
                    <a:prstClr val="black"/>
                  </a:solidFill>
                </a:rPr>
                <a:t>-</a:t>
              </a:r>
              <a:r>
                <a:rPr lang="en-US" dirty="0" err="1">
                  <a:solidFill>
                    <a:prstClr val="black"/>
                  </a:solidFill>
                </a:rPr>
                <a:t>juice:Boolean</a:t>
              </a:r>
              <a:endParaRPr lang="en-US" dirty="0">
                <a:solidFill>
                  <a:prstClr val="black"/>
                </a:solidFill>
              </a:endParaRPr>
            </a:p>
            <a:p>
              <a:pPr algn="ctr"/>
              <a:endParaRPr lang="en-US" dirty="0">
                <a:solidFill>
                  <a:prstClr val="black"/>
                </a:solidFill>
              </a:endParaRPr>
            </a:p>
            <a:p>
              <a:pPr algn="ctr"/>
              <a:endParaRPr lang="en-US" dirty="0">
                <a:solidFill>
                  <a:prstClr val="black"/>
                </a:solidFill>
              </a:endParaRPr>
            </a:p>
          </p:txBody>
        </p:sp>
        <p:cxnSp>
          <p:nvCxnSpPr>
            <p:cNvPr id="8" name="Straight Connector 7">
              <a:extLst>
                <a:ext uri="{FF2B5EF4-FFF2-40B4-BE49-F238E27FC236}">
                  <a16:creationId xmlns:a16="http://schemas.microsoft.com/office/drawing/2014/main" id="{7F465941-9379-4B81-A2A1-85B9684CCAC9}"/>
                </a:ext>
              </a:extLst>
            </p:cNvPr>
            <p:cNvCxnSpPr>
              <a:cxnSpLocks/>
            </p:cNvCxnSpPr>
            <p:nvPr/>
          </p:nvCxnSpPr>
          <p:spPr>
            <a:xfrm>
              <a:off x="8304245" y="3100880"/>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120D42E4-E06D-42EF-84E8-3120653B463F}"/>
                </a:ext>
              </a:extLst>
            </p:cNvPr>
            <p:cNvCxnSpPr>
              <a:cxnSpLocks/>
            </p:cNvCxnSpPr>
            <p:nvPr/>
          </p:nvCxnSpPr>
          <p:spPr>
            <a:xfrm>
              <a:off x="8304245" y="4129895"/>
              <a:ext cx="3219061" cy="0"/>
            </a:xfrm>
            <a:prstGeom prst="line">
              <a:avLst/>
            </a:prstGeom>
          </p:spPr>
          <p:style>
            <a:lnRef idx="3">
              <a:schemeClr val="dk1"/>
            </a:lnRef>
            <a:fillRef idx="0">
              <a:schemeClr val="dk1"/>
            </a:fillRef>
            <a:effectRef idx="2">
              <a:schemeClr val="dk1"/>
            </a:effectRef>
            <a:fontRef idx="minor">
              <a:schemeClr val="tx1"/>
            </a:fontRef>
          </p:style>
        </p:cxnSp>
      </p:grpSp>
      <p:pic>
        <p:nvPicPr>
          <p:cNvPr id="28" name="Picture 27">
            <a:extLst>
              <a:ext uri="{FF2B5EF4-FFF2-40B4-BE49-F238E27FC236}">
                <a16:creationId xmlns:a16="http://schemas.microsoft.com/office/drawing/2014/main" id="{66C9138B-208A-4233-AAD1-2FC13D1CA30A}"/>
              </a:ext>
            </a:extLst>
          </p:cNvPr>
          <p:cNvPicPr/>
          <p:nvPr/>
        </p:nvPicPr>
        <p:blipFill rotWithShape="1">
          <a:blip r:embed="rId2"/>
          <a:srcRect l="3291" t="6692" r="7450"/>
          <a:stretch/>
        </p:blipFill>
        <p:spPr>
          <a:xfrm>
            <a:off x="8153340" y="2346299"/>
            <a:ext cx="3627600" cy="3978999"/>
          </a:xfrm>
          <a:prstGeom prst="rect">
            <a:avLst/>
          </a:prstGeom>
          <a:ln>
            <a:noFill/>
          </a:ln>
        </p:spPr>
      </p:pic>
      <p:grpSp>
        <p:nvGrpSpPr>
          <p:cNvPr id="15" name="Group 14">
            <a:extLst>
              <a:ext uri="{FF2B5EF4-FFF2-40B4-BE49-F238E27FC236}">
                <a16:creationId xmlns:a16="http://schemas.microsoft.com/office/drawing/2014/main" id="{6A01E0FC-999D-48E0-B1E3-ADD7767EEEB6}"/>
              </a:ext>
            </a:extLst>
          </p:cNvPr>
          <p:cNvGrpSpPr/>
          <p:nvPr/>
        </p:nvGrpSpPr>
        <p:grpSpPr>
          <a:xfrm>
            <a:off x="3647016" y="1558168"/>
            <a:ext cx="3480126" cy="1256398"/>
            <a:chOff x="3894442" y="2250714"/>
            <a:chExt cx="3480126" cy="1060452"/>
          </a:xfrm>
        </p:grpSpPr>
        <p:sp>
          <p:nvSpPr>
            <p:cNvPr id="30" name="Rectangle 29">
              <a:extLst>
                <a:ext uri="{FF2B5EF4-FFF2-40B4-BE49-F238E27FC236}">
                  <a16:creationId xmlns:a16="http://schemas.microsoft.com/office/drawing/2014/main" id="{DABE37AF-8AE8-432E-9656-39B5CEE30725}"/>
                </a:ext>
              </a:extLst>
            </p:cNvPr>
            <p:cNvSpPr/>
            <p:nvPr/>
          </p:nvSpPr>
          <p:spPr>
            <a:xfrm>
              <a:off x="3894443" y="2250714"/>
              <a:ext cx="3480125" cy="1060452"/>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Lemon</a:t>
              </a:r>
            </a:p>
            <a:p>
              <a:endParaRPr lang="en-US" dirty="0">
                <a:solidFill>
                  <a:prstClr val="black"/>
                </a:solidFill>
              </a:endParaRPr>
            </a:p>
            <a:p>
              <a:pPr algn="ctr"/>
              <a:endParaRPr lang="en-US" dirty="0">
                <a:solidFill>
                  <a:prstClr val="black"/>
                </a:solidFill>
              </a:endParaRPr>
            </a:p>
            <a:p>
              <a:r>
                <a:rPr lang="en-US" dirty="0">
                  <a:solidFill>
                    <a:prstClr val="black"/>
                  </a:solidFill>
                </a:rPr>
                <a:t>+squeeze(</a:t>
              </a:r>
              <a:r>
                <a:rPr lang="en-US" dirty="0" err="1">
                  <a:solidFill>
                    <a:prstClr val="black"/>
                  </a:solidFill>
                </a:rPr>
                <a:t>i</a:t>
              </a:r>
              <a:r>
                <a:rPr lang="en-US" dirty="0">
                  <a:solidFill>
                    <a:prstClr val="black"/>
                  </a:solidFill>
                </a:rPr>
                <a:t>: Integer):Integer</a:t>
              </a:r>
            </a:p>
          </p:txBody>
        </p:sp>
        <p:cxnSp>
          <p:nvCxnSpPr>
            <p:cNvPr id="31" name="Straight Connector 30">
              <a:extLst>
                <a:ext uri="{FF2B5EF4-FFF2-40B4-BE49-F238E27FC236}">
                  <a16:creationId xmlns:a16="http://schemas.microsoft.com/office/drawing/2014/main" id="{859DD872-88CA-47AC-98C7-0C384E149FD8}"/>
                </a:ext>
              </a:extLst>
            </p:cNvPr>
            <p:cNvCxnSpPr>
              <a:cxnSpLocks/>
            </p:cNvCxnSpPr>
            <p:nvPr/>
          </p:nvCxnSpPr>
          <p:spPr>
            <a:xfrm>
              <a:off x="3894442" y="2589528"/>
              <a:ext cx="3480125" cy="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45495764-2EB8-4CBE-BB3B-9DEE6A8F7576}"/>
                </a:ext>
              </a:extLst>
            </p:cNvPr>
            <p:cNvCxnSpPr>
              <a:cxnSpLocks/>
            </p:cNvCxnSpPr>
            <p:nvPr/>
          </p:nvCxnSpPr>
          <p:spPr>
            <a:xfrm>
              <a:off x="3894442" y="2901190"/>
              <a:ext cx="3480125" cy="0"/>
            </a:xfrm>
            <a:prstGeom prst="line">
              <a:avLst/>
            </a:prstGeom>
          </p:spPr>
          <p:style>
            <a:lnRef idx="3">
              <a:schemeClr val="dk1"/>
            </a:lnRef>
            <a:fillRef idx="0">
              <a:schemeClr val="dk1"/>
            </a:fillRef>
            <a:effectRef idx="2">
              <a:schemeClr val="dk1"/>
            </a:effectRef>
            <a:fontRef idx="minor">
              <a:schemeClr val="tx1"/>
            </a:fontRef>
          </p:style>
        </p:cxnSp>
      </p:grpSp>
      <p:grpSp>
        <p:nvGrpSpPr>
          <p:cNvPr id="22" name="Group 21">
            <a:extLst>
              <a:ext uri="{FF2B5EF4-FFF2-40B4-BE49-F238E27FC236}">
                <a16:creationId xmlns:a16="http://schemas.microsoft.com/office/drawing/2014/main" id="{2DAC005C-19F4-4D0A-97B1-28E83C4C209D}"/>
              </a:ext>
            </a:extLst>
          </p:cNvPr>
          <p:cNvGrpSpPr/>
          <p:nvPr/>
        </p:nvGrpSpPr>
        <p:grpSpPr>
          <a:xfrm>
            <a:off x="2765138" y="4240462"/>
            <a:ext cx="1999394" cy="1091634"/>
            <a:chOff x="2765138" y="4208198"/>
            <a:chExt cx="1999394" cy="1403361"/>
          </a:xfrm>
        </p:grpSpPr>
        <p:sp>
          <p:nvSpPr>
            <p:cNvPr id="35" name="Rectangle 34">
              <a:extLst>
                <a:ext uri="{FF2B5EF4-FFF2-40B4-BE49-F238E27FC236}">
                  <a16:creationId xmlns:a16="http://schemas.microsoft.com/office/drawing/2014/main" id="{65272876-654C-4410-9837-5AF9ED289E9F}"/>
                </a:ext>
              </a:extLst>
            </p:cNvPr>
            <p:cNvSpPr/>
            <p:nvPr/>
          </p:nvSpPr>
          <p:spPr>
            <a:xfrm>
              <a:off x="2765138" y="4208198"/>
              <a:ext cx="1999394" cy="1403361"/>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Apple</a:t>
              </a:r>
            </a:p>
            <a:p>
              <a:endParaRPr lang="en-US" dirty="0">
                <a:solidFill>
                  <a:prstClr val="black"/>
                </a:solidFill>
              </a:endParaRPr>
            </a:p>
            <a:p>
              <a:pPr algn="ctr"/>
              <a:endParaRPr lang="en-US" dirty="0">
                <a:solidFill>
                  <a:prstClr val="black"/>
                </a:solidFill>
              </a:endParaRPr>
            </a:p>
            <a:p>
              <a:pPr algn="ctr"/>
              <a:endParaRPr lang="en-US" dirty="0">
                <a:solidFill>
                  <a:prstClr val="black"/>
                </a:solidFill>
              </a:endParaRPr>
            </a:p>
          </p:txBody>
        </p:sp>
        <p:cxnSp>
          <p:nvCxnSpPr>
            <p:cNvPr id="36" name="Straight Connector 35">
              <a:extLst>
                <a:ext uri="{FF2B5EF4-FFF2-40B4-BE49-F238E27FC236}">
                  <a16:creationId xmlns:a16="http://schemas.microsoft.com/office/drawing/2014/main" id="{782A71D6-1A6B-4061-B2BD-D1E35F9489D6}"/>
                </a:ext>
              </a:extLst>
            </p:cNvPr>
            <p:cNvCxnSpPr>
              <a:cxnSpLocks/>
            </p:cNvCxnSpPr>
            <p:nvPr/>
          </p:nvCxnSpPr>
          <p:spPr>
            <a:xfrm>
              <a:off x="2765138" y="4617381"/>
              <a:ext cx="1999394" cy="0"/>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FE164B73-E7E2-4734-B6EF-E07837695228}"/>
                </a:ext>
              </a:extLst>
            </p:cNvPr>
            <p:cNvCxnSpPr>
              <a:cxnSpLocks/>
            </p:cNvCxnSpPr>
            <p:nvPr/>
          </p:nvCxnSpPr>
          <p:spPr>
            <a:xfrm>
              <a:off x="2765138" y="5076650"/>
              <a:ext cx="1999394" cy="0"/>
            </a:xfrm>
            <a:prstGeom prst="line">
              <a:avLst/>
            </a:prstGeom>
          </p:spPr>
          <p:style>
            <a:lnRef idx="3">
              <a:schemeClr val="dk1"/>
            </a:lnRef>
            <a:fillRef idx="0">
              <a:schemeClr val="dk1"/>
            </a:fillRef>
            <a:effectRef idx="2">
              <a:schemeClr val="dk1"/>
            </a:effectRef>
            <a:fontRef idx="minor">
              <a:schemeClr val="tx1"/>
            </a:fontRef>
          </p:style>
        </p:cxnSp>
      </p:grpSp>
      <p:cxnSp>
        <p:nvCxnSpPr>
          <p:cNvPr id="18" name="Straight Arrow Connector 17">
            <a:extLst>
              <a:ext uri="{FF2B5EF4-FFF2-40B4-BE49-F238E27FC236}">
                <a16:creationId xmlns:a16="http://schemas.microsoft.com/office/drawing/2014/main" id="{4670270E-85D2-4840-8C87-1F27E7D08BFB}"/>
              </a:ext>
            </a:extLst>
          </p:cNvPr>
          <p:cNvCxnSpPr>
            <a:stCxn id="35" idx="0"/>
            <a:endCxn id="7" idx="2"/>
          </p:cNvCxnSpPr>
          <p:nvPr/>
        </p:nvCxnSpPr>
        <p:spPr>
          <a:xfrm flipH="1" flipV="1">
            <a:off x="2265290" y="2888047"/>
            <a:ext cx="1499545" cy="13524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CF172905-A91E-4067-AA45-8F9EC9EFC1BE}"/>
              </a:ext>
            </a:extLst>
          </p:cNvPr>
          <p:cNvCxnSpPr>
            <a:cxnSpLocks/>
            <a:stCxn id="35" idx="0"/>
            <a:endCxn id="30" idx="2"/>
          </p:cNvCxnSpPr>
          <p:nvPr/>
        </p:nvCxnSpPr>
        <p:spPr>
          <a:xfrm flipV="1">
            <a:off x="3764835" y="2814566"/>
            <a:ext cx="1622245" cy="14258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A0991571-E0E6-4435-9A8A-8D7B5013F9CB}"/>
              </a:ext>
            </a:extLst>
          </p:cNvPr>
          <p:cNvSpPr txBox="1"/>
          <p:nvPr/>
        </p:nvSpPr>
        <p:spPr>
          <a:xfrm>
            <a:off x="4634871" y="3349074"/>
            <a:ext cx="1064715" cy="369332"/>
          </a:xfrm>
          <a:prstGeom prst="rect">
            <a:avLst/>
          </a:prstGeom>
          <a:noFill/>
        </p:spPr>
        <p:txBody>
          <a:bodyPr wrap="none" rtlCol="0">
            <a:spAutoFit/>
          </a:bodyPr>
          <a:lstStyle/>
          <a:p>
            <a:r>
              <a:rPr lang="en-US" b="1" dirty="0">
                <a:solidFill>
                  <a:prstClr val="black"/>
                </a:solidFill>
              </a:rPr>
              <a:t>extends</a:t>
            </a:r>
          </a:p>
        </p:txBody>
      </p:sp>
      <p:sp>
        <p:nvSpPr>
          <p:cNvPr id="46" name="TextBox 45">
            <a:extLst>
              <a:ext uri="{FF2B5EF4-FFF2-40B4-BE49-F238E27FC236}">
                <a16:creationId xmlns:a16="http://schemas.microsoft.com/office/drawing/2014/main" id="{78C6B2A5-2307-4F26-B7B6-7CA17905DF4B}"/>
              </a:ext>
            </a:extLst>
          </p:cNvPr>
          <p:cNvSpPr txBox="1"/>
          <p:nvPr/>
        </p:nvSpPr>
        <p:spPr>
          <a:xfrm>
            <a:off x="1950347" y="3336622"/>
            <a:ext cx="1064715" cy="369332"/>
          </a:xfrm>
          <a:prstGeom prst="rect">
            <a:avLst/>
          </a:prstGeom>
          <a:noFill/>
        </p:spPr>
        <p:txBody>
          <a:bodyPr wrap="none" rtlCol="0">
            <a:spAutoFit/>
          </a:bodyPr>
          <a:lstStyle/>
          <a:p>
            <a:r>
              <a:rPr lang="en-US" b="1" dirty="0">
                <a:solidFill>
                  <a:prstClr val="black"/>
                </a:solidFill>
              </a:rPr>
              <a:t>extends</a:t>
            </a:r>
          </a:p>
        </p:txBody>
      </p:sp>
    </p:spTree>
    <p:extLst>
      <p:ext uri="{BB962C8B-B14F-4D97-AF65-F5344CB8AC3E}">
        <p14:creationId xmlns:p14="http://schemas.microsoft.com/office/powerpoint/2010/main" val="37886628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613546"/>
            <a:ext cx="4775075" cy="1630907"/>
          </a:xfrm>
          <a:solidFill>
            <a:schemeClr val="tx1">
              <a:lumMod val="65000"/>
              <a:lumOff val="35000"/>
            </a:schemeClr>
          </a:solidFill>
          <a:ln>
            <a:solidFill>
              <a:schemeClr val="bg2"/>
            </a:solidFill>
          </a:ln>
        </p:spPr>
        <p:txBody>
          <a:bodyPr>
            <a:normAutofit/>
          </a:bodyPr>
          <a:lstStyle/>
          <a:p>
            <a:r>
              <a:rPr lang="en-US" sz="4400" dirty="0">
                <a:solidFill>
                  <a:schemeClr val="bg1"/>
                </a:solidFill>
              </a:rPr>
              <a:t>Example 2</a:t>
            </a:r>
          </a:p>
        </p:txBody>
      </p:sp>
    </p:spTree>
    <p:extLst>
      <p:ext uri="{BB962C8B-B14F-4D97-AF65-F5344CB8AC3E}">
        <p14:creationId xmlns:p14="http://schemas.microsoft.com/office/powerpoint/2010/main" val="10526994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8812FB2-E03D-4FA5-BA1E-0BD3ECFC9CA0}"/>
              </a:ext>
            </a:extLst>
          </p:cNvPr>
          <p:cNvSpPr/>
          <p:nvPr/>
        </p:nvSpPr>
        <p:spPr>
          <a:xfrm>
            <a:off x="8089640" y="177282"/>
            <a:ext cx="3956180" cy="655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2">
            <a:extLst>
              <a:ext uri="{FF2B5EF4-FFF2-40B4-BE49-F238E27FC236}">
                <a16:creationId xmlns:a16="http://schemas.microsoft.com/office/drawing/2014/main" id="{2015491A-15C9-460D-BC78-BD787054501F}"/>
              </a:ext>
            </a:extLst>
          </p:cNvPr>
          <p:cNvSpPr>
            <a:spLocks noGrp="1"/>
          </p:cNvSpPr>
          <p:nvPr>
            <p:ph type="title"/>
          </p:nvPr>
        </p:nvSpPr>
        <p:spPr>
          <a:xfrm>
            <a:off x="8234650" y="427837"/>
            <a:ext cx="3144774" cy="989901"/>
          </a:xfrm>
        </p:spPr>
        <p:txBody>
          <a:bodyPr/>
          <a:lstStyle/>
          <a:p>
            <a:pPr algn="ctr"/>
            <a:r>
              <a:rPr lang="en-US" b="1" dirty="0"/>
              <a:t>Defining Classes</a:t>
            </a:r>
          </a:p>
        </p:txBody>
      </p:sp>
      <p:grpSp>
        <p:nvGrpSpPr>
          <p:cNvPr id="20" name="Group 19">
            <a:extLst>
              <a:ext uri="{FF2B5EF4-FFF2-40B4-BE49-F238E27FC236}">
                <a16:creationId xmlns:a16="http://schemas.microsoft.com/office/drawing/2014/main" id="{46474DD2-3EFE-4C25-8067-2F6D7FFF4DB1}"/>
              </a:ext>
            </a:extLst>
          </p:cNvPr>
          <p:cNvGrpSpPr/>
          <p:nvPr/>
        </p:nvGrpSpPr>
        <p:grpSpPr>
          <a:xfrm>
            <a:off x="260059" y="264447"/>
            <a:ext cx="7659147" cy="6346077"/>
            <a:chOff x="260059" y="264447"/>
            <a:chExt cx="7659147" cy="6346077"/>
          </a:xfrm>
        </p:grpSpPr>
        <p:sp>
          <p:nvSpPr>
            <p:cNvPr id="19" name="Rectangle 18">
              <a:extLst>
                <a:ext uri="{FF2B5EF4-FFF2-40B4-BE49-F238E27FC236}">
                  <a16:creationId xmlns:a16="http://schemas.microsoft.com/office/drawing/2014/main" id="{EA453D4B-E6FA-4E86-AC22-C7EFC03D386D}"/>
                </a:ext>
              </a:extLst>
            </p:cNvPr>
            <p:cNvSpPr/>
            <p:nvPr/>
          </p:nvSpPr>
          <p:spPr>
            <a:xfrm>
              <a:off x="260059" y="264447"/>
              <a:ext cx="7659147" cy="6346077"/>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Rectangle 4">
              <a:extLst>
                <a:ext uri="{FF2B5EF4-FFF2-40B4-BE49-F238E27FC236}">
                  <a16:creationId xmlns:a16="http://schemas.microsoft.com/office/drawing/2014/main" id="{FE346159-B41F-4271-9066-78E93B66989B}"/>
                </a:ext>
              </a:extLst>
            </p:cNvPr>
            <p:cNvSpPr/>
            <p:nvPr/>
          </p:nvSpPr>
          <p:spPr>
            <a:xfrm>
              <a:off x="411060" y="427838"/>
              <a:ext cx="7340367" cy="6023295"/>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noFill/>
              </a:endParaRPr>
            </a:p>
          </p:txBody>
        </p:sp>
      </p:grpSp>
      <p:grpSp>
        <p:nvGrpSpPr>
          <p:cNvPr id="6" name="Group 5">
            <a:extLst>
              <a:ext uri="{FF2B5EF4-FFF2-40B4-BE49-F238E27FC236}">
                <a16:creationId xmlns:a16="http://schemas.microsoft.com/office/drawing/2014/main" id="{CC1DD765-16DA-467B-95CD-25034291CD9E}"/>
              </a:ext>
            </a:extLst>
          </p:cNvPr>
          <p:cNvGrpSpPr/>
          <p:nvPr/>
        </p:nvGrpSpPr>
        <p:grpSpPr>
          <a:xfrm>
            <a:off x="2790722" y="831623"/>
            <a:ext cx="1974225" cy="1769904"/>
            <a:chOff x="8304245" y="2509936"/>
            <a:chExt cx="3219061" cy="1769904"/>
          </a:xfrm>
        </p:grpSpPr>
        <p:sp>
          <p:nvSpPr>
            <p:cNvPr id="7" name="Rectangle 6">
              <a:extLst>
                <a:ext uri="{FF2B5EF4-FFF2-40B4-BE49-F238E27FC236}">
                  <a16:creationId xmlns:a16="http://schemas.microsoft.com/office/drawing/2014/main" id="{53E45DA3-9127-4F2E-834B-AC1B894B774A}"/>
                </a:ext>
              </a:extLst>
            </p:cNvPr>
            <p:cNvSpPr/>
            <p:nvPr/>
          </p:nvSpPr>
          <p:spPr>
            <a:xfrm>
              <a:off x="8304245" y="2509936"/>
              <a:ext cx="3219061" cy="1769904"/>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Employee</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-salary: Integer</a:t>
              </a:r>
            </a:p>
            <a:p>
              <a:pPr algn="ctr"/>
              <a:endParaRPr lang="en-US" dirty="0">
                <a:solidFill>
                  <a:prstClr val="black"/>
                </a:solidFill>
              </a:endParaRPr>
            </a:p>
            <a:p>
              <a:endParaRPr lang="en-US" dirty="0">
                <a:solidFill>
                  <a:prstClr val="black"/>
                </a:solidFill>
              </a:endParaRPr>
            </a:p>
          </p:txBody>
        </p:sp>
        <p:cxnSp>
          <p:nvCxnSpPr>
            <p:cNvPr id="8" name="Straight Connector 7">
              <a:extLst>
                <a:ext uri="{FF2B5EF4-FFF2-40B4-BE49-F238E27FC236}">
                  <a16:creationId xmlns:a16="http://schemas.microsoft.com/office/drawing/2014/main" id="{7F465941-9379-4B81-A2A1-85B9684CCAC9}"/>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120D42E4-E06D-42EF-84E8-3120653B463F}"/>
                </a:ext>
              </a:extLst>
            </p:cNvPr>
            <p:cNvCxnSpPr>
              <a:cxnSpLocks/>
            </p:cNvCxnSpPr>
            <p:nvPr/>
          </p:nvCxnSpPr>
          <p:spPr>
            <a:xfrm>
              <a:off x="8304245" y="3848445"/>
              <a:ext cx="3219061" cy="0"/>
            </a:xfrm>
            <a:prstGeom prst="line">
              <a:avLst/>
            </a:prstGeom>
          </p:spPr>
          <p:style>
            <a:lnRef idx="3">
              <a:schemeClr val="dk1"/>
            </a:lnRef>
            <a:fillRef idx="0">
              <a:schemeClr val="dk1"/>
            </a:fillRef>
            <a:effectRef idx="2">
              <a:schemeClr val="dk1"/>
            </a:effectRef>
            <a:fontRef idx="minor">
              <a:schemeClr val="tx1"/>
            </a:fontRef>
          </p:style>
        </p:cxnSp>
      </p:grpSp>
      <p:grpSp>
        <p:nvGrpSpPr>
          <p:cNvPr id="27" name="Group 26">
            <a:extLst>
              <a:ext uri="{FF2B5EF4-FFF2-40B4-BE49-F238E27FC236}">
                <a16:creationId xmlns:a16="http://schemas.microsoft.com/office/drawing/2014/main" id="{381983C4-EC50-497E-986D-5EAE97803B81}"/>
              </a:ext>
            </a:extLst>
          </p:cNvPr>
          <p:cNvGrpSpPr/>
          <p:nvPr/>
        </p:nvGrpSpPr>
        <p:grpSpPr>
          <a:xfrm>
            <a:off x="4889370" y="3729346"/>
            <a:ext cx="2246453" cy="1941611"/>
            <a:chOff x="4251806" y="3729346"/>
            <a:chExt cx="2246453" cy="1941611"/>
          </a:xfrm>
        </p:grpSpPr>
        <p:sp>
          <p:nvSpPr>
            <p:cNvPr id="11" name="Rectangle 10">
              <a:extLst>
                <a:ext uri="{FF2B5EF4-FFF2-40B4-BE49-F238E27FC236}">
                  <a16:creationId xmlns:a16="http://schemas.microsoft.com/office/drawing/2014/main" id="{6850F7CB-3447-4C50-A963-E5FCFB965CC0}"/>
                </a:ext>
              </a:extLst>
            </p:cNvPr>
            <p:cNvSpPr/>
            <p:nvPr/>
          </p:nvSpPr>
          <p:spPr>
            <a:xfrm>
              <a:off x="4251806" y="3729346"/>
              <a:ext cx="2246453" cy="1941611"/>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Department</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t>
              </a:r>
              <a:r>
                <a:rPr lang="en-US" dirty="0" err="1">
                  <a:solidFill>
                    <a:prstClr val="black"/>
                  </a:solidFill>
                </a:rPr>
                <a:t>location:String</a:t>
              </a:r>
              <a:endParaRPr lang="en-US" dirty="0">
                <a:solidFill>
                  <a:prstClr val="black"/>
                </a:solidFill>
              </a:endParaRPr>
            </a:p>
            <a:p>
              <a:r>
                <a:rPr lang="en-US" dirty="0">
                  <a:solidFill>
                    <a:prstClr val="black"/>
                  </a:solidFill>
                </a:rPr>
                <a:t>-budget: Integer</a:t>
              </a:r>
            </a:p>
            <a:p>
              <a:endParaRPr lang="en-US" dirty="0">
                <a:solidFill>
                  <a:prstClr val="black"/>
                </a:solidFill>
              </a:endParaRPr>
            </a:p>
            <a:p>
              <a:pPr algn="ctr"/>
              <a:endParaRPr lang="en-US" dirty="0">
                <a:solidFill>
                  <a:prstClr val="black"/>
                </a:solidFill>
              </a:endParaRPr>
            </a:p>
          </p:txBody>
        </p:sp>
        <p:cxnSp>
          <p:nvCxnSpPr>
            <p:cNvPr id="12" name="Straight Connector 11">
              <a:extLst>
                <a:ext uri="{FF2B5EF4-FFF2-40B4-BE49-F238E27FC236}">
                  <a16:creationId xmlns:a16="http://schemas.microsoft.com/office/drawing/2014/main" id="{66331951-0FCE-4845-B579-9952B6846B15}"/>
                </a:ext>
              </a:extLst>
            </p:cNvPr>
            <p:cNvCxnSpPr>
              <a:cxnSpLocks/>
            </p:cNvCxnSpPr>
            <p:nvPr/>
          </p:nvCxnSpPr>
          <p:spPr>
            <a:xfrm>
              <a:off x="4251806" y="4130155"/>
              <a:ext cx="2246453"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7B03EF1F-EB2B-41ED-AC14-F7C295BAF0F1}"/>
                </a:ext>
              </a:extLst>
            </p:cNvPr>
            <p:cNvCxnSpPr>
              <a:cxnSpLocks/>
            </p:cNvCxnSpPr>
            <p:nvPr/>
          </p:nvCxnSpPr>
          <p:spPr>
            <a:xfrm>
              <a:off x="4251806" y="5282143"/>
              <a:ext cx="2246453" cy="0"/>
            </a:xfrm>
            <a:prstGeom prst="line">
              <a:avLst/>
            </a:prstGeom>
          </p:spPr>
          <p:style>
            <a:lnRef idx="3">
              <a:schemeClr val="dk1"/>
            </a:lnRef>
            <a:fillRef idx="0">
              <a:schemeClr val="dk1"/>
            </a:fillRef>
            <a:effectRef idx="2">
              <a:schemeClr val="dk1"/>
            </a:effectRef>
            <a:fontRef idx="minor">
              <a:schemeClr val="tx1"/>
            </a:fontRef>
          </p:style>
        </p:cxnSp>
      </p:grpSp>
      <p:pic>
        <p:nvPicPr>
          <p:cNvPr id="23" name="Picture 22">
            <a:extLst>
              <a:ext uri="{FF2B5EF4-FFF2-40B4-BE49-F238E27FC236}">
                <a16:creationId xmlns:a16="http://schemas.microsoft.com/office/drawing/2014/main" id="{C8FD6081-AC09-432C-A4A5-C2FAA6097C4D}"/>
              </a:ext>
            </a:extLst>
          </p:cNvPr>
          <p:cNvPicPr/>
          <p:nvPr/>
        </p:nvPicPr>
        <p:blipFill rotWithShape="1">
          <a:blip r:embed="rId2"/>
          <a:srcRect b="56298"/>
          <a:stretch/>
        </p:blipFill>
        <p:spPr>
          <a:xfrm>
            <a:off x="8080403" y="1638829"/>
            <a:ext cx="3840480" cy="2018771"/>
          </a:xfrm>
          <a:prstGeom prst="rect">
            <a:avLst/>
          </a:prstGeom>
          <a:ln>
            <a:noFill/>
          </a:ln>
        </p:spPr>
      </p:pic>
      <p:grpSp>
        <p:nvGrpSpPr>
          <p:cNvPr id="16" name="Group 15">
            <a:extLst>
              <a:ext uri="{FF2B5EF4-FFF2-40B4-BE49-F238E27FC236}">
                <a16:creationId xmlns:a16="http://schemas.microsoft.com/office/drawing/2014/main" id="{0285D644-37DB-4C00-8AC0-6C64FA1D6673}"/>
              </a:ext>
            </a:extLst>
          </p:cNvPr>
          <p:cNvGrpSpPr/>
          <p:nvPr/>
        </p:nvGrpSpPr>
        <p:grpSpPr>
          <a:xfrm>
            <a:off x="689694" y="3782729"/>
            <a:ext cx="2246453" cy="1789206"/>
            <a:chOff x="4169314" y="3604910"/>
            <a:chExt cx="3219061" cy="1789206"/>
          </a:xfrm>
        </p:grpSpPr>
        <p:sp>
          <p:nvSpPr>
            <p:cNvPr id="29" name="Rectangle 28">
              <a:extLst>
                <a:ext uri="{FF2B5EF4-FFF2-40B4-BE49-F238E27FC236}">
                  <a16:creationId xmlns:a16="http://schemas.microsoft.com/office/drawing/2014/main" id="{9F09B2C1-388D-4AE8-8BB1-703A7E1F9DCF}"/>
                </a:ext>
              </a:extLst>
            </p:cNvPr>
            <p:cNvSpPr/>
            <p:nvPr/>
          </p:nvSpPr>
          <p:spPr>
            <a:xfrm>
              <a:off x="4169314" y="3604910"/>
              <a:ext cx="3219061" cy="1789206"/>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Project</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-budget: Integer</a:t>
              </a:r>
            </a:p>
            <a:p>
              <a:endParaRPr lang="en-US" dirty="0">
                <a:solidFill>
                  <a:prstClr val="black"/>
                </a:solidFill>
              </a:endParaRPr>
            </a:p>
            <a:p>
              <a:pPr algn="ctr"/>
              <a:endParaRPr lang="en-US" dirty="0">
                <a:solidFill>
                  <a:prstClr val="black"/>
                </a:solidFill>
              </a:endParaRPr>
            </a:p>
          </p:txBody>
        </p:sp>
        <p:cxnSp>
          <p:nvCxnSpPr>
            <p:cNvPr id="30" name="Straight Connector 29">
              <a:extLst>
                <a:ext uri="{FF2B5EF4-FFF2-40B4-BE49-F238E27FC236}">
                  <a16:creationId xmlns:a16="http://schemas.microsoft.com/office/drawing/2014/main" id="{984EB4FD-D06C-4AE8-B497-188625F0A690}"/>
                </a:ext>
              </a:extLst>
            </p:cNvPr>
            <p:cNvCxnSpPr>
              <a:cxnSpLocks/>
            </p:cNvCxnSpPr>
            <p:nvPr/>
          </p:nvCxnSpPr>
          <p:spPr>
            <a:xfrm>
              <a:off x="4169314" y="4005718"/>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6DE1819B-E0AC-49FA-9BCB-472D037C8DC1}"/>
                </a:ext>
              </a:extLst>
            </p:cNvPr>
            <p:cNvCxnSpPr>
              <a:cxnSpLocks/>
            </p:cNvCxnSpPr>
            <p:nvPr/>
          </p:nvCxnSpPr>
          <p:spPr>
            <a:xfrm>
              <a:off x="4169314" y="5005306"/>
              <a:ext cx="3219061" cy="0"/>
            </a:xfrm>
            <a:prstGeom prst="line">
              <a:avLst/>
            </a:prstGeom>
          </p:spPr>
          <p:style>
            <a:lnRef idx="3">
              <a:schemeClr val="dk1"/>
            </a:lnRef>
            <a:fillRef idx="0">
              <a:schemeClr val="dk1"/>
            </a:fillRef>
            <a:effectRef idx="2">
              <a:schemeClr val="dk1"/>
            </a:effectRef>
            <a:fontRef idx="minor">
              <a:schemeClr val="tx1"/>
            </a:fontRef>
          </p:style>
        </p:cxnSp>
      </p:grpSp>
      <p:pic>
        <p:nvPicPr>
          <p:cNvPr id="45" name="Picture 44">
            <a:extLst>
              <a:ext uri="{FF2B5EF4-FFF2-40B4-BE49-F238E27FC236}">
                <a16:creationId xmlns:a16="http://schemas.microsoft.com/office/drawing/2014/main" id="{B7FF0763-DB27-4CC6-AF92-C7B4525BD788}"/>
              </a:ext>
            </a:extLst>
          </p:cNvPr>
          <p:cNvPicPr/>
          <p:nvPr/>
        </p:nvPicPr>
        <p:blipFill rotWithShape="1">
          <a:blip r:embed="rId2"/>
          <a:srcRect t="42431" b="26515"/>
          <a:stretch/>
        </p:blipFill>
        <p:spPr>
          <a:xfrm>
            <a:off x="8080403" y="3598877"/>
            <a:ext cx="3840480" cy="1434517"/>
          </a:xfrm>
          <a:prstGeom prst="rect">
            <a:avLst/>
          </a:prstGeom>
          <a:ln>
            <a:noFill/>
          </a:ln>
        </p:spPr>
      </p:pic>
      <p:pic>
        <p:nvPicPr>
          <p:cNvPr id="46" name="Picture 45">
            <a:extLst>
              <a:ext uri="{FF2B5EF4-FFF2-40B4-BE49-F238E27FC236}">
                <a16:creationId xmlns:a16="http://schemas.microsoft.com/office/drawing/2014/main" id="{627C6735-E599-488C-ACDA-1A96FA398B95}"/>
              </a:ext>
            </a:extLst>
          </p:cNvPr>
          <p:cNvPicPr/>
          <p:nvPr/>
        </p:nvPicPr>
        <p:blipFill rotWithShape="1">
          <a:blip r:embed="rId2"/>
          <a:srcRect t="75342"/>
          <a:stretch/>
        </p:blipFill>
        <p:spPr>
          <a:xfrm>
            <a:off x="8080403" y="5119147"/>
            <a:ext cx="3840480" cy="1139040"/>
          </a:xfrm>
          <a:prstGeom prst="rect">
            <a:avLst/>
          </a:prstGeom>
          <a:ln>
            <a:noFill/>
          </a:ln>
        </p:spPr>
      </p:pic>
    </p:spTree>
    <p:extLst>
      <p:ext uri="{BB962C8B-B14F-4D97-AF65-F5344CB8AC3E}">
        <p14:creationId xmlns:p14="http://schemas.microsoft.com/office/powerpoint/2010/main" val="17629656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barn(inVertical)">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p:cTn id="24" dur="500" fill="hold"/>
                                        <p:tgtEl>
                                          <p:spTgt spid="45"/>
                                        </p:tgtEl>
                                        <p:attrNameLst>
                                          <p:attrName>ppt_w</p:attrName>
                                        </p:attrNameLst>
                                      </p:cBhvr>
                                      <p:tavLst>
                                        <p:tav tm="0">
                                          <p:val>
                                            <p:fltVal val="0"/>
                                          </p:val>
                                        </p:tav>
                                        <p:tav tm="100000">
                                          <p:val>
                                            <p:strVal val="#ppt_w"/>
                                          </p:val>
                                        </p:tav>
                                      </p:tavLst>
                                    </p:anim>
                                    <p:anim calcmode="lin" valueType="num">
                                      <p:cBhvr>
                                        <p:cTn id="25" dur="500" fill="hold"/>
                                        <p:tgtEl>
                                          <p:spTgt spid="45"/>
                                        </p:tgtEl>
                                        <p:attrNameLst>
                                          <p:attrName>ppt_h</p:attrName>
                                        </p:attrNameLst>
                                      </p:cBhvr>
                                      <p:tavLst>
                                        <p:tav tm="0">
                                          <p:val>
                                            <p:fltVal val="0"/>
                                          </p:val>
                                        </p:tav>
                                        <p:tav tm="100000">
                                          <p:val>
                                            <p:strVal val="#ppt_h"/>
                                          </p:val>
                                        </p:tav>
                                      </p:tavLst>
                                    </p:anim>
                                    <p:animEffect transition="in" filter="fad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arn(inVertical)">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p:cTn id="36" dur="500" fill="hold"/>
                                        <p:tgtEl>
                                          <p:spTgt spid="46"/>
                                        </p:tgtEl>
                                        <p:attrNameLst>
                                          <p:attrName>ppt_w</p:attrName>
                                        </p:attrNameLst>
                                      </p:cBhvr>
                                      <p:tavLst>
                                        <p:tav tm="0">
                                          <p:val>
                                            <p:fltVal val="0"/>
                                          </p:val>
                                        </p:tav>
                                        <p:tav tm="100000">
                                          <p:val>
                                            <p:strVal val="#ppt_w"/>
                                          </p:val>
                                        </p:tav>
                                      </p:tavLst>
                                    </p:anim>
                                    <p:anim calcmode="lin" valueType="num">
                                      <p:cBhvr>
                                        <p:cTn id="37" dur="500" fill="hold"/>
                                        <p:tgtEl>
                                          <p:spTgt spid="46"/>
                                        </p:tgtEl>
                                        <p:attrNameLst>
                                          <p:attrName>ppt_h</p:attrName>
                                        </p:attrNameLst>
                                      </p:cBhvr>
                                      <p:tavLst>
                                        <p:tav tm="0">
                                          <p:val>
                                            <p:fltVal val="0"/>
                                          </p:val>
                                        </p:tav>
                                        <p:tav tm="100000">
                                          <p:val>
                                            <p:strVal val="#ppt_h"/>
                                          </p:val>
                                        </p:tav>
                                      </p:tavLst>
                                    </p:anim>
                                    <p:animEffect transition="in" filter="fade">
                                      <p:cBhvr>
                                        <p:cTn id="3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8812FB2-E03D-4FA5-BA1E-0BD3ECFC9CA0}"/>
              </a:ext>
            </a:extLst>
          </p:cNvPr>
          <p:cNvSpPr/>
          <p:nvPr/>
        </p:nvSpPr>
        <p:spPr>
          <a:xfrm>
            <a:off x="8089640" y="177282"/>
            <a:ext cx="3956180" cy="655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2">
            <a:extLst>
              <a:ext uri="{FF2B5EF4-FFF2-40B4-BE49-F238E27FC236}">
                <a16:creationId xmlns:a16="http://schemas.microsoft.com/office/drawing/2014/main" id="{2015491A-15C9-460D-BC78-BD787054501F}"/>
              </a:ext>
            </a:extLst>
          </p:cNvPr>
          <p:cNvSpPr>
            <a:spLocks noGrp="1"/>
          </p:cNvSpPr>
          <p:nvPr>
            <p:ph type="title"/>
          </p:nvPr>
        </p:nvSpPr>
        <p:spPr>
          <a:xfrm>
            <a:off x="8234650" y="427837"/>
            <a:ext cx="3144774" cy="989901"/>
          </a:xfrm>
        </p:spPr>
        <p:txBody>
          <a:bodyPr/>
          <a:lstStyle/>
          <a:p>
            <a:pPr algn="ctr"/>
            <a:r>
              <a:rPr lang="en-US" b="1" dirty="0"/>
              <a:t>Defining Associations</a:t>
            </a:r>
          </a:p>
        </p:txBody>
      </p:sp>
      <p:grpSp>
        <p:nvGrpSpPr>
          <p:cNvPr id="20" name="Group 19">
            <a:extLst>
              <a:ext uri="{FF2B5EF4-FFF2-40B4-BE49-F238E27FC236}">
                <a16:creationId xmlns:a16="http://schemas.microsoft.com/office/drawing/2014/main" id="{46474DD2-3EFE-4C25-8067-2F6D7FFF4DB1}"/>
              </a:ext>
            </a:extLst>
          </p:cNvPr>
          <p:cNvGrpSpPr/>
          <p:nvPr/>
        </p:nvGrpSpPr>
        <p:grpSpPr>
          <a:xfrm>
            <a:off x="260059" y="264447"/>
            <a:ext cx="7659147" cy="6346077"/>
            <a:chOff x="260059" y="264447"/>
            <a:chExt cx="7659147" cy="6346077"/>
          </a:xfrm>
        </p:grpSpPr>
        <p:sp>
          <p:nvSpPr>
            <p:cNvPr id="19" name="Rectangle 18">
              <a:extLst>
                <a:ext uri="{FF2B5EF4-FFF2-40B4-BE49-F238E27FC236}">
                  <a16:creationId xmlns:a16="http://schemas.microsoft.com/office/drawing/2014/main" id="{EA453D4B-E6FA-4E86-AC22-C7EFC03D386D}"/>
                </a:ext>
              </a:extLst>
            </p:cNvPr>
            <p:cNvSpPr/>
            <p:nvPr/>
          </p:nvSpPr>
          <p:spPr>
            <a:xfrm>
              <a:off x="260059" y="264447"/>
              <a:ext cx="7659147" cy="6346077"/>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Rectangle 4">
              <a:extLst>
                <a:ext uri="{FF2B5EF4-FFF2-40B4-BE49-F238E27FC236}">
                  <a16:creationId xmlns:a16="http://schemas.microsoft.com/office/drawing/2014/main" id="{FE346159-B41F-4271-9066-78E93B66989B}"/>
                </a:ext>
              </a:extLst>
            </p:cNvPr>
            <p:cNvSpPr/>
            <p:nvPr/>
          </p:nvSpPr>
          <p:spPr>
            <a:xfrm>
              <a:off x="411060" y="427838"/>
              <a:ext cx="7340367" cy="6023295"/>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noFill/>
              </a:endParaRPr>
            </a:p>
          </p:txBody>
        </p:sp>
      </p:grpSp>
      <p:pic>
        <p:nvPicPr>
          <p:cNvPr id="22" name="Picture 21">
            <a:extLst>
              <a:ext uri="{FF2B5EF4-FFF2-40B4-BE49-F238E27FC236}">
                <a16:creationId xmlns:a16="http://schemas.microsoft.com/office/drawing/2014/main" id="{E598439D-44E6-4C03-810F-45A9292730B8}"/>
              </a:ext>
            </a:extLst>
          </p:cNvPr>
          <p:cNvPicPr/>
          <p:nvPr/>
        </p:nvPicPr>
        <p:blipFill rotWithShape="1">
          <a:blip r:embed="rId2"/>
          <a:srcRect b="57905"/>
          <a:stretch/>
        </p:blipFill>
        <p:spPr>
          <a:xfrm>
            <a:off x="8304829" y="1868080"/>
            <a:ext cx="3454064" cy="1859869"/>
          </a:xfrm>
          <a:prstGeom prst="rect">
            <a:avLst/>
          </a:prstGeom>
          <a:ln>
            <a:noFill/>
          </a:ln>
        </p:spPr>
      </p:pic>
      <p:grpSp>
        <p:nvGrpSpPr>
          <p:cNvPr id="24" name="Group 23">
            <a:extLst>
              <a:ext uri="{FF2B5EF4-FFF2-40B4-BE49-F238E27FC236}">
                <a16:creationId xmlns:a16="http://schemas.microsoft.com/office/drawing/2014/main" id="{9D1C666F-9DDA-487F-A4DA-06E4D258D3CF}"/>
              </a:ext>
            </a:extLst>
          </p:cNvPr>
          <p:cNvGrpSpPr/>
          <p:nvPr/>
        </p:nvGrpSpPr>
        <p:grpSpPr>
          <a:xfrm>
            <a:off x="2924946" y="831623"/>
            <a:ext cx="1974225" cy="1769904"/>
            <a:chOff x="8304245" y="2509936"/>
            <a:chExt cx="3219061" cy="1769904"/>
          </a:xfrm>
        </p:grpSpPr>
        <p:sp>
          <p:nvSpPr>
            <p:cNvPr id="25" name="Rectangle 24">
              <a:extLst>
                <a:ext uri="{FF2B5EF4-FFF2-40B4-BE49-F238E27FC236}">
                  <a16:creationId xmlns:a16="http://schemas.microsoft.com/office/drawing/2014/main" id="{F4A51A82-4513-4AB4-9FA5-59BC53408F23}"/>
                </a:ext>
              </a:extLst>
            </p:cNvPr>
            <p:cNvSpPr/>
            <p:nvPr/>
          </p:nvSpPr>
          <p:spPr>
            <a:xfrm>
              <a:off x="8304245" y="2509936"/>
              <a:ext cx="3219061" cy="1769904"/>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Employee</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-salary: Integer</a:t>
              </a:r>
            </a:p>
            <a:p>
              <a:pPr algn="ctr"/>
              <a:endParaRPr lang="en-US" dirty="0">
                <a:solidFill>
                  <a:prstClr val="black"/>
                </a:solidFill>
              </a:endParaRPr>
            </a:p>
            <a:p>
              <a:endParaRPr lang="en-US" dirty="0">
                <a:solidFill>
                  <a:prstClr val="black"/>
                </a:solidFill>
              </a:endParaRPr>
            </a:p>
          </p:txBody>
        </p:sp>
        <p:cxnSp>
          <p:nvCxnSpPr>
            <p:cNvPr id="26" name="Straight Connector 25">
              <a:extLst>
                <a:ext uri="{FF2B5EF4-FFF2-40B4-BE49-F238E27FC236}">
                  <a16:creationId xmlns:a16="http://schemas.microsoft.com/office/drawing/2014/main" id="{7731A19B-0201-4306-96DE-F4CF0C75E4EC}"/>
                </a:ext>
              </a:extLst>
            </p:cNvPr>
            <p:cNvCxnSpPr>
              <a:cxnSpLocks/>
            </p:cNvCxnSpPr>
            <p:nvPr/>
          </p:nvCxnSpPr>
          <p:spPr>
            <a:xfrm>
              <a:off x="8304245" y="2938031"/>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26587C05-2534-4082-AE3C-80EB626AF3DB}"/>
                </a:ext>
              </a:extLst>
            </p:cNvPr>
            <p:cNvCxnSpPr>
              <a:cxnSpLocks/>
            </p:cNvCxnSpPr>
            <p:nvPr/>
          </p:nvCxnSpPr>
          <p:spPr>
            <a:xfrm>
              <a:off x="8304245" y="3848445"/>
              <a:ext cx="3219061" cy="0"/>
            </a:xfrm>
            <a:prstGeom prst="line">
              <a:avLst/>
            </a:prstGeom>
          </p:spPr>
          <p:style>
            <a:lnRef idx="3">
              <a:schemeClr val="dk1"/>
            </a:lnRef>
            <a:fillRef idx="0">
              <a:schemeClr val="dk1"/>
            </a:fillRef>
            <a:effectRef idx="2">
              <a:schemeClr val="dk1"/>
            </a:effectRef>
            <a:fontRef idx="minor">
              <a:schemeClr val="tx1"/>
            </a:fontRef>
          </p:style>
        </p:cxnSp>
      </p:grpSp>
      <p:grpSp>
        <p:nvGrpSpPr>
          <p:cNvPr id="28" name="Group 27">
            <a:extLst>
              <a:ext uri="{FF2B5EF4-FFF2-40B4-BE49-F238E27FC236}">
                <a16:creationId xmlns:a16="http://schemas.microsoft.com/office/drawing/2014/main" id="{F1C4F251-84EC-4BAF-B5E2-8E1A225E1261}"/>
              </a:ext>
            </a:extLst>
          </p:cNvPr>
          <p:cNvGrpSpPr/>
          <p:nvPr/>
        </p:nvGrpSpPr>
        <p:grpSpPr>
          <a:xfrm>
            <a:off x="5023594" y="3704179"/>
            <a:ext cx="2246453" cy="1941611"/>
            <a:chOff x="4251806" y="3729346"/>
            <a:chExt cx="2246453" cy="1941611"/>
          </a:xfrm>
        </p:grpSpPr>
        <p:sp>
          <p:nvSpPr>
            <p:cNvPr id="32" name="Rectangle 31">
              <a:extLst>
                <a:ext uri="{FF2B5EF4-FFF2-40B4-BE49-F238E27FC236}">
                  <a16:creationId xmlns:a16="http://schemas.microsoft.com/office/drawing/2014/main" id="{E482F20D-13C8-44E7-AC40-113F7F0769A0}"/>
                </a:ext>
              </a:extLst>
            </p:cNvPr>
            <p:cNvSpPr/>
            <p:nvPr/>
          </p:nvSpPr>
          <p:spPr>
            <a:xfrm>
              <a:off x="4251806" y="3729346"/>
              <a:ext cx="2246453" cy="1941611"/>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Department</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a:t>
              </a:r>
              <a:r>
                <a:rPr lang="en-US" dirty="0" err="1">
                  <a:solidFill>
                    <a:prstClr val="black"/>
                  </a:solidFill>
                </a:rPr>
                <a:t>location:String</a:t>
              </a:r>
              <a:endParaRPr lang="en-US" dirty="0">
                <a:solidFill>
                  <a:prstClr val="black"/>
                </a:solidFill>
              </a:endParaRPr>
            </a:p>
            <a:p>
              <a:r>
                <a:rPr lang="en-US" dirty="0">
                  <a:solidFill>
                    <a:prstClr val="black"/>
                  </a:solidFill>
                </a:rPr>
                <a:t>-budget: Integer</a:t>
              </a:r>
            </a:p>
            <a:p>
              <a:endParaRPr lang="en-US" dirty="0">
                <a:solidFill>
                  <a:prstClr val="black"/>
                </a:solidFill>
              </a:endParaRPr>
            </a:p>
            <a:p>
              <a:pPr algn="ctr"/>
              <a:endParaRPr lang="en-US" dirty="0">
                <a:solidFill>
                  <a:prstClr val="black"/>
                </a:solidFill>
              </a:endParaRPr>
            </a:p>
          </p:txBody>
        </p:sp>
        <p:cxnSp>
          <p:nvCxnSpPr>
            <p:cNvPr id="33" name="Straight Connector 32">
              <a:extLst>
                <a:ext uri="{FF2B5EF4-FFF2-40B4-BE49-F238E27FC236}">
                  <a16:creationId xmlns:a16="http://schemas.microsoft.com/office/drawing/2014/main" id="{F433F25C-F1C0-4C0B-9258-8571F5CD05A6}"/>
                </a:ext>
              </a:extLst>
            </p:cNvPr>
            <p:cNvCxnSpPr>
              <a:cxnSpLocks/>
            </p:cNvCxnSpPr>
            <p:nvPr/>
          </p:nvCxnSpPr>
          <p:spPr>
            <a:xfrm>
              <a:off x="4251806" y="4130155"/>
              <a:ext cx="2246453" cy="0"/>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F7B1E6A4-7215-4669-A70B-D328B47D0C47}"/>
                </a:ext>
              </a:extLst>
            </p:cNvPr>
            <p:cNvCxnSpPr>
              <a:cxnSpLocks/>
            </p:cNvCxnSpPr>
            <p:nvPr/>
          </p:nvCxnSpPr>
          <p:spPr>
            <a:xfrm>
              <a:off x="4251806" y="5282143"/>
              <a:ext cx="2246453" cy="0"/>
            </a:xfrm>
            <a:prstGeom prst="line">
              <a:avLst/>
            </a:prstGeom>
          </p:spPr>
          <p:style>
            <a:lnRef idx="3">
              <a:schemeClr val="dk1"/>
            </a:lnRef>
            <a:fillRef idx="0">
              <a:schemeClr val="dk1"/>
            </a:fillRef>
            <a:effectRef idx="2">
              <a:schemeClr val="dk1"/>
            </a:effectRef>
            <a:fontRef idx="minor">
              <a:schemeClr val="tx1"/>
            </a:fontRef>
          </p:style>
        </p:cxnSp>
      </p:grpSp>
      <p:grpSp>
        <p:nvGrpSpPr>
          <p:cNvPr id="35" name="Group 34">
            <a:extLst>
              <a:ext uri="{FF2B5EF4-FFF2-40B4-BE49-F238E27FC236}">
                <a16:creationId xmlns:a16="http://schemas.microsoft.com/office/drawing/2014/main" id="{7D82AA8E-3C0E-4B57-81DB-5343787395A7}"/>
              </a:ext>
            </a:extLst>
          </p:cNvPr>
          <p:cNvGrpSpPr/>
          <p:nvPr/>
        </p:nvGrpSpPr>
        <p:grpSpPr>
          <a:xfrm>
            <a:off x="823918" y="3782729"/>
            <a:ext cx="2246453" cy="1789206"/>
            <a:chOff x="4169314" y="3604910"/>
            <a:chExt cx="3219061" cy="1789206"/>
          </a:xfrm>
        </p:grpSpPr>
        <p:sp>
          <p:nvSpPr>
            <p:cNvPr id="36" name="Rectangle 35">
              <a:extLst>
                <a:ext uri="{FF2B5EF4-FFF2-40B4-BE49-F238E27FC236}">
                  <a16:creationId xmlns:a16="http://schemas.microsoft.com/office/drawing/2014/main" id="{F7C2389A-2A24-4D38-B794-263A2766018D}"/>
                </a:ext>
              </a:extLst>
            </p:cNvPr>
            <p:cNvSpPr/>
            <p:nvPr/>
          </p:nvSpPr>
          <p:spPr>
            <a:xfrm>
              <a:off x="4169314" y="3604910"/>
              <a:ext cx="3219061" cy="1789206"/>
            </a:xfrm>
            <a:prstGeom prst="rect">
              <a:avLst/>
            </a:prstGeom>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Project</a:t>
              </a:r>
            </a:p>
            <a:p>
              <a:endParaRPr lang="en-US" dirty="0">
                <a:solidFill>
                  <a:prstClr val="black"/>
                </a:solidFill>
              </a:endParaRPr>
            </a:p>
            <a:p>
              <a:r>
                <a:rPr lang="en-US" dirty="0">
                  <a:solidFill>
                    <a:prstClr val="black"/>
                  </a:solidFill>
                </a:rPr>
                <a:t>-</a:t>
              </a:r>
              <a:r>
                <a:rPr lang="en-US" dirty="0" err="1">
                  <a:solidFill>
                    <a:prstClr val="black"/>
                  </a:solidFill>
                </a:rPr>
                <a:t>name:String</a:t>
              </a:r>
              <a:endParaRPr lang="en-US" dirty="0">
                <a:solidFill>
                  <a:prstClr val="black"/>
                </a:solidFill>
              </a:endParaRPr>
            </a:p>
            <a:p>
              <a:r>
                <a:rPr lang="en-US" dirty="0">
                  <a:solidFill>
                    <a:prstClr val="black"/>
                  </a:solidFill>
                </a:rPr>
                <a:t>-budget: Integer</a:t>
              </a:r>
            </a:p>
            <a:p>
              <a:endParaRPr lang="en-US" dirty="0">
                <a:solidFill>
                  <a:prstClr val="black"/>
                </a:solidFill>
              </a:endParaRPr>
            </a:p>
            <a:p>
              <a:pPr algn="ctr"/>
              <a:endParaRPr lang="en-US" dirty="0">
                <a:solidFill>
                  <a:prstClr val="black"/>
                </a:solidFill>
              </a:endParaRPr>
            </a:p>
          </p:txBody>
        </p:sp>
        <p:cxnSp>
          <p:nvCxnSpPr>
            <p:cNvPr id="37" name="Straight Connector 36">
              <a:extLst>
                <a:ext uri="{FF2B5EF4-FFF2-40B4-BE49-F238E27FC236}">
                  <a16:creationId xmlns:a16="http://schemas.microsoft.com/office/drawing/2014/main" id="{5AA8DFF9-D511-4FF6-BE7F-AAC128BEBE4E}"/>
                </a:ext>
              </a:extLst>
            </p:cNvPr>
            <p:cNvCxnSpPr>
              <a:cxnSpLocks/>
            </p:cNvCxnSpPr>
            <p:nvPr/>
          </p:nvCxnSpPr>
          <p:spPr>
            <a:xfrm>
              <a:off x="4169314" y="4005718"/>
              <a:ext cx="3219061" cy="0"/>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556B22EB-D535-47D0-AF8B-73AA598EB882}"/>
                </a:ext>
              </a:extLst>
            </p:cNvPr>
            <p:cNvCxnSpPr>
              <a:cxnSpLocks/>
            </p:cNvCxnSpPr>
            <p:nvPr/>
          </p:nvCxnSpPr>
          <p:spPr>
            <a:xfrm>
              <a:off x="4169314" y="5005306"/>
              <a:ext cx="3219061" cy="0"/>
            </a:xfrm>
            <a:prstGeom prst="line">
              <a:avLst/>
            </a:prstGeom>
          </p:spPr>
          <p:style>
            <a:lnRef idx="3">
              <a:schemeClr val="dk1"/>
            </a:lnRef>
            <a:fillRef idx="0">
              <a:schemeClr val="dk1"/>
            </a:fillRef>
            <a:effectRef idx="2">
              <a:schemeClr val="dk1"/>
            </a:effectRef>
            <a:fontRef idx="minor">
              <a:schemeClr val="tx1"/>
            </a:fontRef>
          </p:style>
        </p:cxnSp>
      </p:grpSp>
      <p:grpSp>
        <p:nvGrpSpPr>
          <p:cNvPr id="54" name="Group 53">
            <a:extLst>
              <a:ext uri="{FF2B5EF4-FFF2-40B4-BE49-F238E27FC236}">
                <a16:creationId xmlns:a16="http://schemas.microsoft.com/office/drawing/2014/main" id="{5573FE34-6AF6-4A55-99C5-A9E8FE91271B}"/>
              </a:ext>
            </a:extLst>
          </p:cNvPr>
          <p:cNvGrpSpPr/>
          <p:nvPr/>
        </p:nvGrpSpPr>
        <p:grpSpPr>
          <a:xfrm>
            <a:off x="777807" y="1398744"/>
            <a:ext cx="2147138" cy="2524178"/>
            <a:chOff x="777807" y="1398744"/>
            <a:chExt cx="2147138" cy="2524178"/>
          </a:xfrm>
        </p:grpSpPr>
        <p:cxnSp>
          <p:nvCxnSpPr>
            <p:cNvPr id="4" name="Connector: Elbow 3">
              <a:extLst>
                <a:ext uri="{FF2B5EF4-FFF2-40B4-BE49-F238E27FC236}">
                  <a16:creationId xmlns:a16="http://schemas.microsoft.com/office/drawing/2014/main" id="{5A7D0A7A-A0C5-4F94-9A10-326D8A111F3D}"/>
                </a:ext>
              </a:extLst>
            </p:cNvPr>
            <p:cNvCxnSpPr>
              <a:stCxn id="36" idx="0"/>
              <a:endCxn id="25" idx="1"/>
            </p:cNvCxnSpPr>
            <p:nvPr/>
          </p:nvCxnSpPr>
          <p:spPr>
            <a:xfrm rot="5400000" flipH="1" flipV="1">
              <a:off x="1402968" y="2260752"/>
              <a:ext cx="2066154" cy="977801"/>
            </a:xfrm>
            <a:prstGeom prst="bentConnector2">
              <a:avLst/>
            </a:prstGeom>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FCE42037-DB6A-4BFF-A21A-609A6AA1AE9C}"/>
                </a:ext>
              </a:extLst>
            </p:cNvPr>
            <p:cNvSpPr txBox="1"/>
            <p:nvPr/>
          </p:nvSpPr>
          <p:spPr>
            <a:xfrm>
              <a:off x="777807" y="2392526"/>
              <a:ext cx="1181734" cy="369332"/>
            </a:xfrm>
            <a:prstGeom prst="rect">
              <a:avLst/>
            </a:prstGeom>
            <a:noFill/>
          </p:spPr>
          <p:txBody>
            <a:bodyPr wrap="none" rtlCol="0">
              <a:spAutoFit/>
            </a:bodyPr>
            <a:lstStyle/>
            <a:p>
              <a:r>
                <a:rPr lang="en-US" b="1" dirty="0" err="1">
                  <a:solidFill>
                    <a:prstClr val="black"/>
                  </a:solidFill>
                </a:rPr>
                <a:t>WorksOn</a:t>
              </a:r>
              <a:endParaRPr lang="en-US" b="1" dirty="0">
                <a:solidFill>
                  <a:prstClr val="black"/>
                </a:solidFill>
              </a:endParaRPr>
            </a:p>
          </p:txBody>
        </p:sp>
        <p:sp>
          <p:nvSpPr>
            <p:cNvPr id="45" name="TextBox 44">
              <a:extLst>
                <a:ext uri="{FF2B5EF4-FFF2-40B4-BE49-F238E27FC236}">
                  <a16:creationId xmlns:a16="http://schemas.microsoft.com/office/drawing/2014/main" id="{81585AB9-2213-412D-8B33-760040E77A06}"/>
                </a:ext>
              </a:extLst>
            </p:cNvPr>
            <p:cNvSpPr txBox="1"/>
            <p:nvPr/>
          </p:nvSpPr>
          <p:spPr>
            <a:xfrm>
              <a:off x="2611684" y="1398744"/>
              <a:ext cx="285656" cy="461665"/>
            </a:xfrm>
            <a:prstGeom prst="rect">
              <a:avLst/>
            </a:prstGeom>
            <a:noFill/>
          </p:spPr>
          <p:txBody>
            <a:bodyPr wrap="square" rtlCol="0">
              <a:spAutoFit/>
            </a:bodyPr>
            <a:lstStyle/>
            <a:p>
              <a:r>
                <a:rPr lang="en-US" sz="2400" b="1" dirty="0">
                  <a:solidFill>
                    <a:prstClr val="black"/>
                  </a:solidFill>
                </a:rPr>
                <a:t>*</a:t>
              </a:r>
            </a:p>
          </p:txBody>
        </p:sp>
        <p:sp>
          <p:nvSpPr>
            <p:cNvPr id="46" name="TextBox 45">
              <a:extLst>
                <a:ext uri="{FF2B5EF4-FFF2-40B4-BE49-F238E27FC236}">
                  <a16:creationId xmlns:a16="http://schemas.microsoft.com/office/drawing/2014/main" id="{FAB8C69E-9063-4237-9102-B349F5C80BF4}"/>
                </a:ext>
              </a:extLst>
            </p:cNvPr>
            <p:cNvSpPr txBox="1"/>
            <p:nvPr/>
          </p:nvSpPr>
          <p:spPr>
            <a:xfrm>
              <a:off x="1633882" y="3461257"/>
              <a:ext cx="285656" cy="461665"/>
            </a:xfrm>
            <a:prstGeom prst="rect">
              <a:avLst/>
            </a:prstGeom>
            <a:noFill/>
          </p:spPr>
          <p:txBody>
            <a:bodyPr wrap="square" rtlCol="0">
              <a:spAutoFit/>
            </a:bodyPr>
            <a:lstStyle/>
            <a:p>
              <a:r>
                <a:rPr lang="en-US" sz="2400" b="1" dirty="0">
                  <a:solidFill>
                    <a:prstClr val="black"/>
                  </a:solidFill>
                </a:rPr>
                <a:t>*</a:t>
              </a:r>
            </a:p>
          </p:txBody>
        </p:sp>
      </p:grpSp>
      <p:grpSp>
        <p:nvGrpSpPr>
          <p:cNvPr id="53" name="Group 52">
            <a:extLst>
              <a:ext uri="{FF2B5EF4-FFF2-40B4-BE49-F238E27FC236}">
                <a16:creationId xmlns:a16="http://schemas.microsoft.com/office/drawing/2014/main" id="{E61D309D-8347-44D7-A734-33B52A821C2B}"/>
              </a:ext>
            </a:extLst>
          </p:cNvPr>
          <p:cNvGrpSpPr/>
          <p:nvPr/>
        </p:nvGrpSpPr>
        <p:grpSpPr>
          <a:xfrm>
            <a:off x="4852345" y="1398744"/>
            <a:ext cx="2337978" cy="2329205"/>
            <a:chOff x="4852345" y="1398744"/>
            <a:chExt cx="2337978" cy="2329205"/>
          </a:xfrm>
        </p:grpSpPr>
        <p:cxnSp>
          <p:nvCxnSpPr>
            <p:cNvPr id="15" name="Connector: Elbow 14">
              <a:extLst>
                <a:ext uri="{FF2B5EF4-FFF2-40B4-BE49-F238E27FC236}">
                  <a16:creationId xmlns:a16="http://schemas.microsoft.com/office/drawing/2014/main" id="{FC30CD67-B5CA-4A04-8ADE-F9994365BC7C}"/>
                </a:ext>
              </a:extLst>
            </p:cNvPr>
            <p:cNvCxnSpPr>
              <a:stCxn id="25" idx="3"/>
              <a:endCxn id="32" idx="0"/>
            </p:cNvCxnSpPr>
            <p:nvPr/>
          </p:nvCxnSpPr>
          <p:spPr>
            <a:xfrm>
              <a:off x="4899171" y="1716575"/>
              <a:ext cx="1247650" cy="1987604"/>
            </a:xfrm>
            <a:prstGeom prst="bentConnector2">
              <a:avLst/>
            </a:prstGeom>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644F71E2-81C0-4BA7-B357-532FE8DE387B}"/>
                </a:ext>
              </a:extLst>
            </p:cNvPr>
            <p:cNvSpPr txBox="1"/>
            <p:nvPr/>
          </p:nvSpPr>
          <p:spPr>
            <a:xfrm>
              <a:off x="6138432" y="2365695"/>
              <a:ext cx="1051891" cy="369332"/>
            </a:xfrm>
            <a:prstGeom prst="rect">
              <a:avLst/>
            </a:prstGeom>
            <a:noFill/>
          </p:spPr>
          <p:txBody>
            <a:bodyPr wrap="none" rtlCol="0">
              <a:spAutoFit/>
            </a:bodyPr>
            <a:lstStyle/>
            <a:p>
              <a:r>
                <a:rPr lang="en-US" b="1" dirty="0" err="1">
                  <a:solidFill>
                    <a:prstClr val="black"/>
                  </a:solidFill>
                </a:rPr>
                <a:t>WorksIn</a:t>
              </a:r>
              <a:endParaRPr lang="en-US" b="1" dirty="0">
                <a:solidFill>
                  <a:prstClr val="black"/>
                </a:solidFill>
              </a:endParaRPr>
            </a:p>
          </p:txBody>
        </p:sp>
        <p:sp>
          <p:nvSpPr>
            <p:cNvPr id="47" name="TextBox 46">
              <a:extLst>
                <a:ext uri="{FF2B5EF4-FFF2-40B4-BE49-F238E27FC236}">
                  <a16:creationId xmlns:a16="http://schemas.microsoft.com/office/drawing/2014/main" id="{6722DDEF-036A-4C8A-8974-E38DEF0CEF34}"/>
                </a:ext>
              </a:extLst>
            </p:cNvPr>
            <p:cNvSpPr txBox="1"/>
            <p:nvPr/>
          </p:nvSpPr>
          <p:spPr>
            <a:xfrm>
              <a:off x="4852345" y="1398744"/>
              <a:ext cx="285656" cy="461665"/>
            </a:xfrm>
            <a:prstGeom prst="rect">
              <a:avLst/>
            </a:prstGeom>
            <a:noFill/>
          </p:spPr>
          <p:txBody>
            <a:bodyPr wrap="square" rtlCol="0">
              <a:spAutoFit/>
            </a:bodyPr>
            <a:lstStyle/>
            <a:p>
              <a:r>
                <a:rPr lang="en-US" sz="2400" b="1" dirty="0">
                  <a:solidFill>
                    <a:prstClr val="black"/>
                  </a:solidFill>
                </a:rPr>
                <a:t>*</a:t>
              </a:r>
            </a:p>
          </p:txBody>
        </p:sp>
        <p:sp>
          <p:nvSpPr>
            <p:cNvPr id="49" name="TextBox 48">
              <a:extLst>
                <a:ext uri="{FF2B5EF4-FFF2-40B4-BE49-F238E27FC236}">
                  <a16:creationId xmlns:a16="http://schemas.microsoft.com/office/drawing/2014/main" id="{6BAB28F3-2DDC-4388-A849-3C8D829917FE}"/>
                </a:ext>
              </a:extLst>
            </p:cNvPr>
            <p:cNvSpPr txBox="1"/>
            <p:nvPr/>
          </p:nvSpPr>
          <p:spPr>
            <a:xfrm>
              <a:off x="6121202" y="3266284"/>
              <a:ext cx="821823" cy="461665"/>
            </a:xfrm>
            <a:prstGeom prst="rect">
              <a:avLst/>
            </a:prstGeom>
            <a:noFill/>
          </p:spPr>
          <p:txBody>
            <a:bodyPr wrap="square" rtlCol="0">
              <a:spAutoFit/>
            </a:bodyPr>
            <a:lstStyle/>
            <a:p>
              <a:r>
                <a:rPr lang="en-US" sz="2400" b="1" dirty="0">
                  <a:solidFill>
                    <a:prstClr val="black"/>
                  </a:solidFill>
                </a:rPr>
                <a:t>1..*</a:t>
              </a:r>
            </a:p>
          </p:txBody>
        </p:sp>
      </p:grpSp>
      <p:grpSp>
        <p:nvGrpSpPr>
          <p:cNvPr id="55" name="Group 54">
            <a:extLst>
              <a:ext uri="{FF2B5EF4-FFF2-40B4-BE49-F238E27FC236}">
                <a16:creationId xmlns:a16="http://schemas.microsoft.com/office/drawing/2014/main" id="{90F4602D-5C9C-4DBF-A10A-5D214EB3159C}"/>
              </a:ext>
            </a:extLst>
          </p:cNvPr>
          <p:cNvGrpSpPr/>
          <p:nvPr/>
        </p:nvGrpSpPr>
        <p:grpSpPr>
          <a:xfrm>
            <a:off x="3025405" y="4219685"/>
            <a:ext cx="1998189" cy="806937"/>
            <a:chOff x="3025405" y="4219685"/>
            <a:chExt cx="1998189" cy="806937"/>
          </a:xfrm>
        </p:grpSpPr>
        <p:cxnSp>
          <p:nvCxnSpPr>
            <p:cNvPr id="41" name="Straight Connector 40">
              <a:extLst>
                <a:ext uri="{FF2B5EF4-FFF2-40B4-BE49-F238E27FC236}">
                  <a16:creationId xmlns:a16="http://schemas.microsoft.com/office/drawing/2014/main" id="{ACA2E8CF-58D5-4D70-B2BE-15FFC1D110A6}"/>
                </a:ext>
              </a:extLst>
            </p:cNvPr>
            <p:cNvCxnSpPr>
              <a:stCxn id="36" idx="3"/>
              <a:endCxn id="32" idx="1"/>
            </p:cNvCxnSpPr>
            <p:nvPr/>
          </p:nvCxnSpPr>
          <p:spPr>
            <a:xfrm flipV="1">
              <a:off x="3070371" y="4674985"/>
              <a:ext cx="1953223" cy="2347"/>
            </a:xfrm>
            <a:prstGeom prst="line">
              <a:avLst/>
            </a:prstGeom>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8D45A6F3-2080-44D9-872E-224A6E7C9505}"/>
                </a:ext>
              </a:extLst>
            </p:cNvPr>
            <p:cNvSpPr txBox="1"/>
            <p:nvPr/>
          </p:nvSpPr>
          <p:spPr>
            <a:xfrm>
              <a:off x="3572796" y="4657290"/>
              <a:ext cx="1096775" cy="369332"/>
            </a:xfrm>
            <a:prstGeom prst="rect">
              <a:avLst/>
            </a:prstGeom>
            <a:noFill/>
          </p:spPr>
          <p:txBody>
            <a:bodyPr wrap="none" rtlCol="0">
              <a:spAutoFit/>
            </a:bodyPr>
            <a:lstStyle/>
            <a:p>
              <a:r>
                <a:rPr lang="en-US" b="1" dirty="0">
                  <a:solidFill>
                    <a:prstClr val="black"/>
                  </a:solidFill>
                </a:rPr>
                <a:t>Controls</a:t>
              </a:r>
            </a:p>
          </p:txBody>
        </p:sp>
        <p:sp>
          <p:nvSpPr>
            <p:cNvPr id="48" name="TextBox 47">
              <a:extLst>
                <a:ext uri="{FF2B5EF4-FFF2-40B4-BE49-F238E27FC236}">
                  <a16:creationId xmlns:a16="http://schemas.microsoft.com/office/drawing/2014/main" id="{1BEBE3E0-AD45-4F5F-A3C6-0BFE153328CA}"/>
                </a:ext>
              </a:extLst>
            </p:cNvPr>
            <p:cNvSpPr txBox="1"/>
            <p:nvPr/>
          </p:nvSpPr>
          <p:spPr>
            <a:xfrm>
              <a:off x="3025405" y="4325926"/>
              <a:ext cx="285656" cy="461665"/>
            </a:xfrm>
            <a:prstGeom prst="rect">
              <a:avLst/>
            </a:prstGeom>
            <a:noFill/>
          </p:spPr>
          <p:txBody>
            <a:bodyPr wrap="square" rtlCol="0">
              <a:spAutoFit/>
            </a:bodyPr>
            <a:lstStyle/>
            <a:p>
              <a:r>
                <a:rPr lang="en-US" sz="2400" b="1" dirty="0">
                  <a:solidFill>
                    <a:prstClr val="black"/>
                  </a:solidFill>
                </a:rPr>
                <a:t>*</a:t>
              </a:r>
            </a:p>
          </p:txBody>
        </p:sp>
        <p:sp>
          <p:nvSpPr>
            <p:cNvPr id="50" name="TextBox 49">
              <a:extLst>
                <a:ext uri="{FF2B5EF4-FFF2-40B4-BE49-F238E27FC236}">
                  <a16:creationId xmlns:a16="http://schemas.microsoft.com/office/drawing/2014/main" id="{BFEFBCD5-6887-45C6-A941-0FE4C9522E11}"/>
                </a:ext>
              </a:extLst>
            </p:cNvPr>
            <p:cNvSpPr txBox="1"/>
            <p:nvPr/>
          </p:nvSpPr>
          <p:spPr>
            <a:xfrm>
              <a:off x="4709516" y="4219685"/>
              <a:ext cx="285657" cy="461665"/>
            </a:xfrm>
            <a:prstGeom prst="rect">
              <a:avLst/>
            </a:prstGeom>
            <a:noFill/>
          </p:spPr>
          <p:txBody>
            <a:bodyPr wrap="square" rtlCol="0">
              <a:spAutoFit/>
            </a:bodyPr>
            <a:lstStyle/>
            <a:p>
              <a:r>
                <a:rPr lang="en-US" sz="2400" b="1" dirty="0">
                  <a:solidFill>
                    <a:prstClr val="black"/>
                  </a:solidFill>
                </a:rPr>
                <a:t>1</a:t>
              </a:r>
            </a:p>
          </p:txBody>
        </p:sp>
      </p:grpSp>
      <p:pic>
        <p:nvPicPr>
          <p:cNvPr id="51" name="Picture 50">
            <a:extLst>
              <a:ext uri="{FF2B5EF4-FFF2-40B4-BE49-F238E27FC236}">
                <a16:creationId xmlns:a16="http://schemas.microsoft.com/office/drawing/2014/main" id="{AFB17B61-2F81-45D6-AB12-A0620BD17845}"/>
              </a:ext>
            </a:extLst>
          </p:cNvPr>
          <p:cNvPicPr/>
          <p:nvPr/>
        </p:nvPicPr>
        <p:blipFill rotWithShape="1">
          <a:blip r:embed="rId2"/>
          <a:srcRect t="41557" b="28512"/>
          <a:stretch/>
        </p:blipFill>
        <p:spPr>
          <a:xfrm>
            <a:off x="8304829" y="3704179"/>
            <a:ext cx="3454064" cy="1322444"/>
          </a:xfrm>
          <a:prstGeom prst="rect">
            <a:avLst/>
          </a:prstGeom>
          <a:ln>
            <a:noFill/>
          </a:ln>
        </p:spPr>
      </p:pic>
      <p:pic>
        <p:nvPicPr>
          <p:cNvPr id="52" name="Picture 51">
            <a:extLst>
              <a:ext uri="{FF2B5EF4-FFF2-40B4-BE49-F238E27FC236}">
                <a16:creationId xmlns:a16="http://schemas.microsoft.com/office/drawing/2014/main" id="{824F7913-1C07-407C-9041-69E7FBFF7773}"/>
              </a:ext>
            </a:extLst>
          </p:cNvPr>
          <p:cNvPicPr/>
          <p:nvPr/>
        </p:nvPicPr>
        <p:blipFill rotWithShape="1">
          <a:blip r:embed="rId2"/>
          <a:srcRect t="73161"/>
          <a:stretch/>
        </p:blipFill>
        <p:spPr>
          <a:xfrm>
            <a:off x="8304829" y="5100506"/>
            <a:ext cx="3454064" cy="1185853"/>
          </a:xfrm>
          <a:prstGeom prst="rect">
            <a:avLst/>
          </a:prstGeom>
          <a:ln>
            <a:noFill/>
          </a:ln>
        </p:spPr>
      </p:pic>
    </p:spTree>
    <p:extLst>
      <p:ext uri="{BB962C8B-B14F-4D97-AF65-F5344CB8AC3E}">
        <p14:creationId xmlns:p14="http://schemas.microsoft.com/office/powerpoint/2010/main" val="2712809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arn(inVertical)">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barn(inVertical)">
                                      <p:cBhvr>
                                        <p:cTn id="19" dur="500"/>
                                        <p:tgtEl>
                                          <p:spTgt spid="54"/>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51"/>
                                        </p:tgtEl>
                                        <p:attrNameLst>
                                          <p:attrName>style.visibility</p:attrName>
                                        </p:attrNameLst>
                                      </p:cBhvr>
                                      <p:to>
                                        <p:strVal val="visible"/>
                                      </p:to>
                                    </p:set>
                                    <p:anim calcmode="lin" valueType="num">
                                      <p:cBhvr>
                                        <p:cTn id="24" dur="500" fill="hold"/>
                                        <p:tgtEl>
                                          <p:spTgt spid="51"/>
                                        </p:tgtEl>
                                        <p:attrNameLst>
                                          <p:attrName>ppt_w</p:attrName>
                                        </p:attrNameLst>
                                      </p:cBhvr>
                                      <p:tavLst>
                                        <p:tav tm="0">
                                          <p:val>
                                            <p:fltVal val="0"/>
                                          </p:val>
                                        </p:tav>
                                        <p:tav tm="100000">
                                          <p:val>
                                            <p:strVal val="#ppt_w"/>
                                          </p:val>
                                        </p:tav>
                                      </p:tavLst>
                                    </p:anim>
                                    <p:anim calcmode="lin" valueType="num">
                                      <p:cBhvr>
                                        <p:cTn id="25" dur="500" fill="hold"/>
                                        <p:tgtEl>
                                          <p:spTgt spid="51"/>
                                        </p:tgtEl>
                                        <p:attrNameLst>
                                          <p:attrName>ppt_h</p:attrName>
                                        </p:attrNameLst>
                                      </p:cBhvr>
                                      <p:tavLst>
                                        <p:tav tm="0">
                                          <p:val>
                                            <p:fltVal val="0"/>
                                          </p:val>
                                        </p:tav>
                                        <p:tav tm="100000">
                                          <p:val>
                                            <p:strVal val="#ppt_h"/>
                                          </p:val>
                                        </p:tav>
                                      </p:tavLst>
                                    </p:anim>
                                    <p:animEffect transition="in" filter="fade">
                                      <p:cBhvr>
                                        <p:cTn id="26" dur="500"/>
                                        <p:tgtEl>
                                          <p:spTgt spid="5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barn(inVertical)">
                                      <p:cBhvr>
                                        <p:cTn id="31" dur="500"/>
                                        <p:tgtEl>
                                          <p:spTgt spid="55"/>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 calcmode="lin" valueType="num">
                                      <p:cBhvr>
                                        <p:cTn id="36" dur="500" fill="hold"/>
                                        <p:tgtEl>
                                          <p:spTgt spid="52"/>
                                        </p:tgtEl>
                                        <p:attrNameLst>
                                          <p:attrName>ppt_w</p:attrName>
                                        </p:attrNameLst>
                                      </p:cBhvr>
                                      <p:tavLst>
                                        <p:tav tm="0">
                                          <p:val>
                                            <p:fltVal val="0"/>
                                          </p:val>
                                        </p:tav>
                                        <p:tav tm="100000">
                                          <p:val>
                                            <p:strVal val="#ppt_w"/>
                                          </p:val>
                                        </p:tav>
                                      </p:tavLst>
                                    </p:anim>
                                    <p:anim calcmode="lin" valueType="num">
                                      <p:cBhvr>
                                        <p:cTn id="37" dur="500" fill="hold"/>
                                        <p:tgtEl>
                                          <p:spTgt spid="52"/>
                                        </p:tgtEl>
                                        <p:attrNameLst>
                                          <p:attrName>ppt_h</p:attrName>
                                        </p:attrNameLst>
                                      </p:cBhvr>
                                      <p:tavLst>
                                        <p:tav tm="0">
                                          <p:val>
                                            <p:fltVal val="0"/>
                                          </p:val>
                                        </p:tav>
                                        <p:tav tm="100000">
                                          <p:val>
                                            <p:strVal val="#ppt_h"/>
                                          </p:val>
                                        </p:tav>
                                      </p:tavLst>
                                    </p:anim>
                                    <p:animEffect transition="in" filter="fade">
                                      <p:cBhvr>
                                        <p:cTn id="3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8812FB2-E03D-4FA5-BA1E-0BD3ECFC9CA0}"/>
              </a:ext>
            </a:extLst>
          </p:cNvPr>
          <p:cNvSpPr/>
          <p:nvPr/>
        </p:nvSpPr>
        <p:spPr>
          <a:xfrm>
            <a:off x="6641627" y="177282"/>
            <a:ext cx="5404193" cy="65594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0" name="Group 19">
            <a:extLst>
              <a:ext uri="{FF2B5EF4-FFF2-40B4-BE49-F238E27FC236}">
                <a16:creationId xmlns:a16="http://schemas.microsoft.com/office/drawing/2014/main" id="{46474DD2-3EFE-4C25-8067-2F6D7FFF4DB1}"/>
              </a:ext>
            </a:extLst>
          </p:cNvPr>
          <p:cNvGrpSpPr/>
          <p:nvPr/>
        </p:nvGrpSpPr>
        <p:grpSpPr>
          <a:xfrm>
            <a:off x="260059" y="264447"/>
            <a:ext cx="6258187" cy="6346077"/>
            <a:chOff x="260059" y="264447"/>
            <a:chExt cx="7659147" cy="6346077"/>
          </a:xfrm>
        </p:grpSpPr>
        <p:sp>
          <p:nvSpPr>
            <p:cNvPr id="19" name="Rectangle 18">
              <a:extLst>
                <a:ext uri="{FF2B5EF4-FFF2-40B4-BE49-F238E27FC236}">
                  <a16:creationId xmlns:a16="http://schemas.microsoft.com/office/drawing/2014/main" id="{EA453D4B-E6FA-4E86-AC22-C7EFC03D386D}"/>
                </a:ext>
              </a:extLst>
            </p:cNvPr>
            <p:cNvSpPr/>
            <p:nvPr/>
          </p:nvSpPr>
          <p:spPr>
            <a:xfrm>
              <a:off x="260059" y="264447"/>
              <a:ext cx="7659147" cy="6346077"/>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Rectangle 4">
              <a:extLst>
                <a:ext uri="{FF2B5EF4-FFF2-40B4-BE49-F238E27FC236}">
                  <a16:creationId xmlns:a16="http://schemas.microsoft.com/office/drawing/2014/main" id="{FE346159-B41F-4271-9066-78E93B66989B}"/>
                </a:ext>
              </a:extLst>
            </p:cNvPr>
            <p:cNvSpPr/>
            <p:nvPr/>
          </p:nvSpPr>
          <p:spPr>
            <a:xfrm>
              <a:off x="411060" y="427838"/>
              <a:ext cx="7340367" cy="6023295"/>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noFill/>
              </a:endParaRPr>
            </a:p>
          </p:txBody>
        </p:sp>
      </p:grpSp>
      <p:sp>
        <p:nvSpPr>
          <p:cNvPr id="40" name="Title 2">
            <a:extLst>
              <a:ext uri="{FF2B5EF4-FFF2-40B4-BE49-F238E27FC236}">
                <a16:creationId xmlns:a16="http://schemas.microsoft.com/office/drawing/2014/main" id="{DE369800-81AF-4D1F-86C4-7222047EA3DE}"/>
              </a:ext>
            </a:extLst>
          </p:cNvPr>
          <p:cNvSpPr txBox="1">
            <a:spLocks/>
          </p:cNvSpPr>
          <p:nvPr/>
        </p:nvSpPr>
        <p:spPr>
          <a:xfrm>
            <a:off x="904537" y="578840"/>
            <a:ext cx="4968736" cy="641036"/>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lang="en-US" sz="3200" b="0" i="0" kern="1200" cap="none" spc="0" baseline="0">
                <a:solidFill>
                  <a:schemeClr val="tx1"/>
                </a:solidFill>
                <a:effectLst/>
                <a:latin typeface="+mj-lt"/>
                <a:ea typeface="+mn-ea"/>
                <a:cs typeface="+mn-cs"/>
              </a:defRPr>
            </a:lvl1pPr>
          </a:lstStyle>
          <a:p>
            <a:pPr algn="ctr"/>
            <a:r>
              <a:rPr b="1" dirty="0">
                <a:solidFill>
                  <a:prstClr val="black"/>
                </a:solidFill>
              </a:rPr>
              <a:t>Adding Constrains</a:t>
            </a:r>
          </a:p>
        </p:txBody>
      </p:sp>
      <p:pic>
        <p:nvPicPr>
          <p:cNvPr id="56" name="Picture 55">
            <a:extLst>
              <a:ext uri="{FF2B5EF4-FFF2-40B4-BE49-F238E27FC236}">
                <a16:creationId xmlns:a16="http://schemas.microsoft.com/office/drawing/2014/main" id="{66FC3525-ED4B-4352-BF2B-A5F860550ABE}"/>
              </a:ext>
            </a:extLst>
          </p:cNvPr>
          <p:cNvPicPr/>
          <p:nvPr/>
        </p:nvPicPr>
        <p:blipFill rotWithShape="1">
          <a:blip r:embed="rId2"/>
          <a:srcRect r="10880" b="87298"/>
          <a:stretch/>
        </p:blipFill>
        <p:spPr>
          <a:xfrm>
            <a:off x="6779556" y="606200"/>
            <a:ext cx="4847585" cy="719261"/>
          </a:xfrm>
          <a:prstGeom prst="rect">
            <a:avLst/>
          </a:prstGeom>
          <a:ln>
            <a:noFill/>
          </a:ln>
        </p:spPr>
      </p:pic>
      <p:sp>
        <p:nvSpPr>
          <p:cNvPr id="57" name="Content Placeholder 2">
            <a:extLst>
              <a:ext uri="{FF2B5EF4-FFF2-40B4-BE49-F238E27FC236}">
                <a16:creationId xmlns:a16="http://schemas.microsoft.com/office/drawing/2014/main" id="{8A257F9A-46BA-4987-BC0C-ED7560F2FBCA}"/>
              </a:ext>
            </a:extLst>
          </p:cNvPr>
          <p:cNvSpPr txBox="1">
            <a:spLocks/>
          </p:cNvSpPr>
          <p:nvPr/>
        </p:nvSpPr>
        <p:spPr>
          <a:xfrm>
            <a:off x="656670" y="1493239"/>
            <a:ext cx="5439329" cy="4701023"/>
          </a:xfrm>
          <a:prstGeom prst="rect">
            <a:avLst/>
          </a:prstGeom>
          <a:noFill/>
          <a:ln>
            <a:noFill/>
          </a:ln>
        </p:spPr>
        <p:txBody>
          <a:bodyPr vert="horz" lIns="91440" tIns="45720" rIns="91440" bIns="45720" rtlCol="0" anchor="t">
            <a:noAutofit/>
          </a:bodyPr>
          <a:lstStyle>
            <a:lvl1pPr marL="0" indent="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None/>
              <a:defRPr sz="3200" kern="1200">
                <a:solidFill>
                  <a:schemeClr val="tx1"/>
                </a:solidFill>
                <a:latin typeface="+mn-lt"/>
                <a:ea typeface="+mn-ea"/>
                <a:cs typeface="+mn-cs"/>
              </a:defRPr>
            </a:lvl1pPr>
            <a:lvl2pPr marL="457200" indent="0" algn="l" defTabSz="914400" rtl="0" eaLnBrk="1" latinLnBrk="0" hangingPunct="1">
              <a:lnSpc>
                <a:spcPct val="100000"/>
              </a:lnSpc>
              <a:spcBef>
                <a:spcPts val="500"/>
              </a:spcBef>
              <a:buClr>
                <a:schemeClr val="tx1">
                  <a:lumMod val="85000"/>
                  <a:lumOff val="15000"/>
                </a:schemeClr>
              </a:buClr>
              <a:buFont typeface="Garamond" pitchFamily="18" charset="0"/>
              <a:buNone/>
              <a:defRPr sz="2800"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tx1">
                  <a:lumMod val="85000"/>
                  <a:lumOff val="15000"/>
                </a:schemeClr>
              </a:buClr>
              <a:buFont typeface="Garamond" pitchFamily="18" charset="0"/>
              <a:buNone/>
              <a:defRPr sz="2400"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5pPr>
            <a:lvl6pPr marL="22860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6pPr>
            <a:lvl7pPr marL="27432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7pPr>
            <a:lvl8pPr marL="32004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8pPr>
            <a:lvl9pPr marL="3657600" indent="0" algn="l" defTabSz="914400" rtl="0" eaLnBrk="1" latinLnBrk="0" hangingPunct="1">
              <a:lnSpc>
                <a:spcPct val="100000"/>
              </a:lnSpc>
              <a:spcBef>
                <a:spcPts val="500"/>
              </a:spcBef>
              <a:buClr>
                <a:schemeClr val="tx1">
                  <a:lumMod val="85000"/>
                  <a:lumOff val="15000"/>
                </a:schemeClr>
              </a:buClr>
              <a:buFont typeface="Garamond" pitchFamily="18" charset="0"/>
              <a:buNone/>
              <a:defRPr sz="2000" kern="1200">
                <a:solidFill>
                  <a:schemeClr val="tx1"/>
                </a:solidFill>
                <a:latin typeface="+mn-lt"/>
                <a:ea typeface="+mn-ea"/>
                <a:cs typeface="+mn-cs"/>
              </a:defRPr>
            </a:lvl9pPr>
          </a:lstStyle>
          <a:p>
            <a:pPr marL="342900" indent="-342900" fontAlgn="base">
              <a:buClr>
                <a:prstClr val="black">
                  <a:lumMod val="85000"/>
                  <a:lumOff val="15000"/>
                </a:prstClr>
              </a:buClr>
              <a:buFont typeface="Arial" panose="020B0604020202020204" pitchFamily="34" charset="0"/>
              <a:buChar char="•"/>
            </a:pPr>
            <a:r>
              <a:rPr lang="en-US" sz="1800" dirty="0">
                <a:solidFill>
                  <a:srgbClr val="000000"/>
                </a:solidFill>
                <a:latin typeface="Georgia" panose="02040502050405020303" pitchFamily="18" charset="0"/>
              </a:rPr>
              <a:t>The number of employees working in a department must be greater or equal to the no. of projects controlled by the department</a:t>
            </a:r>
          </a:p>
          <a:p>
            <a:pPr marL="342900" indent="-342900" fontAlgn="base">
              <a:buClr>
                <a:prstClr val="black">
                  <a:lumMod val="85000"/>
                  <a:lumOff val="15000"/>
                </a:prstClr>
              </a:buClr>
              <a:buFont typeface="Arial" panose="020B0604020202020204" pitchFamily="34" charset="0"/>
              <a:buChar char="•"/>
            </a:pPr>
            <a:endParaRPr lang="en-US" sz="1800" dirty="0">
              <a:solidFill>
                <a:srgbClr val="000000"/>
              </a:solidFill>
              <a:latin typeface="Georgia" panose="02040502050405020303" pitchFamily="18" charset="0"/>
            </a:endParaRPr>
          </a:p>
          <a:p>
            <a:pPr marL="342900" indent="-342900" fontAlgn="base">
              <a:buClr>
                <a:prstClr val="black">
                  <a:lumMod val="85000"/>
                  <a:lumOff val="15000"/>
                </a:prstClr>
              </a:buClr>
              <a:buFont typeface="Arial" panose="020B0604020202020204" pitchFamily="34" charset="0"/>
              <a:buChar char="•"/>
            </a:pPr>
            <a:r>
              <a:rPr lang="en-US" sz="1800" dirty="0">
                <a:solidFill>
                  <a:srgbClr val="000000"/>
                </a:solidFill>
                <a:latin typeface="Georgia" panose="02040502050405020303" pitchFamily="18" charset="0"/>
              </a:rPr>
              <a:t>The budget of a project must not exceed the budget of the controlling department</a:t>
            </a:r>
          </a:p>
          <a:p>
            <a:pPr marL="342900" indent="-342900" fontAlgn="base">
              <a:buClr>
                <a:prstClr val="black">
                  <a:lumMod val="85000"/>
                  <a:lumOff val="15000"/>
                </a:prstClr>
              </a:buClr>
              <a:buFont typeface="Arial" panose="020B0604020202020204" pitchFamily="34" charset="0"/>
              <a:buChar char="•"/>
            </a:pPr>
            <a:endParaRPr lang="en-US" sz="1800" dirty="0">
              <a:solidFill>
                <a:srgbClr val="000000"/>
              </a:solidFill>
              <a:latin typeface="Georgia" panose="02040502050405020303" pitchFamily="18" charset="0"/>
            </a:endParaRPr>
          </a:p>
          <a:p>
            <a:pPr marL="342900" indent="-342900" fontAlgn="base">
              <a:buClr>
                <a:prstClr val="black">
                  <a:lumMod val="85000"/>
                  <a:lumOff val="15000"/>
                </a:prstClr>
              </a:buClr>
              <a:buFont typeface="Arial" panose="020B0604020202020204" pitchFamily="34" charset="0"/>
              <a:buChar char="•"/>
            </a:pPr>
            <a:r>
              <a:rPr lang="en-US" sz="1800" dirty="0">
                <a:solidFill>
                  <a:srgbClr val="000000"/>
                </a:solidFill>
                <a:latin typeface="Georgia" panose="02040502050405020303" pitchFamily="18" charset="0"/>
              </a:rPr>
              <a:t>Employees working on a project must also work in the controlling department</a:t>
            </a:r>
          </a:p>
          <a:p>
            <a:pPr marL="342900" indent="-342900" fontAlgn="base">
              <a:buClr>
                <a:prstClr val="black">
                  <a:lumMod val="85000"/>
                  <a:lumOff val="15000"/>
                </a:prstClr>
              </a:buClr>
              <a:buFont typeface="Arial" panose="020B0604020202020204" pitchFamily="34" charset="0"/>
              <a:buChar char="•"/>
            </a:pPr>
            <a:endParaRPr lang="en-US" sz="1800" dirty="0">
              <a:solidFill>
                <a:srgbClr val="000000"/>
              </a:solidFill>
              <a:latin typeface="Georgia" panose="02040502050405020303" pitchFamily="18" charset="0"/>
            </a:endParaRPr>
          </a:p>
          <a:p>
            <a:pPr marL="342900" indent="-342900" fontAlgn="base">
              <a:buClr>
                <a:prstClr val="black">
                  <a:lumMod val="85000"/>
                  <a:lumOff val="15000"/>
                </a:prstClr>
              </a:buClr>
              <a:buFont typeface="Arial" panose="020B0604020202020204" pitchFamily="34" charset="0"/>
              <a:buChar char="•"/>
            </a:pPr>
            <a:r>
              <a:rPr lang="en-US" sz="1800" dirty="0">
                <a:solidFill>
                  <a:srgbClr val="000000"/>
                </a:solidFill>
                <a:latin typeface="Georgia" panose="02040502050405020303" pitchFamily="18" charset="0"/>
              </a:rPr>
              <a:t>Employees get a higher salary when they work on more projects</a:t>
            </a:r>
          </a:p>
          <a:p>
            <a:pPr marL="342900" indent="-342900" fontAlgn="base">
              <a:buClr>
                <a:prstClr val="black">
                  <a:lumMod val="85000"/>
                  <a:lumOff val="15000"/>
                </a:prstClr>
              </a:buClr>
              <a:buFont typeface="Arial" panose="020B0604020202020204" pitchFamily="34" charset="0"/>
              <a:buChar char="•"/>
            </a:pPr>
            <a:endParaRPr lang="en-US" sz="1500" dirty="0">
              <a:solidFill>
                <a:srgbClr val="000000"/>
              </a:solidFill>
              <a:latin typeface="Georgia" panose="02040502050405020303" pitchFamily="18" charset="0"/>
            </a:endParaRPr>
          </a:p>
          <a:p>
            <a:pPr lvl="1" fontAlgn="base">
              <a:buClr>
                <a:prstClr val="black">
                  <a:lumMod val="85000"/>
                  <a:lumOff val="15000"/>
                </a:prstClr>
              </a:buClr>
            </a:pPr>
            <a:endParaRPr lang="en-US" sz="1500" dirty="0">
              <a:solidFill>
                <a:prstClr val="black"/>
              </a:solidFill>
            </a:endParaRPr>
          </a:p>
        </p:txBody>
      </p:sp>
      <p:pic>
        <p:nvPicPr>
          <p:cNvPr id="58" name="Picture 57">
            <a:extLst>
              <a:ext uri="{FF2B5EF4-FFF2-40B4-BE49-F238E27FC236}">
                <a16:creationId xmlns:a16="http://schemas.microsoft.com/office/drawing/2014/main" id="{37BDEC7D-7A61-4765-8C1B-709540B3403C}"/>
              </a:ext>
            </a:extLst>
          </p:cNvPr>
          <p:cNvPicPr/>
          <p:nvPr/>
        </p:nvPicPr>
        <p:blipFill rotWithShape="1">
          <a:blip r:embed="rId2"/>
          <a:srcRect t="12702" r="10880" b="64780"/>
          <a:stretch/>
        </p:blipFill>
        <p:spPr>
          <a:xfrm>
            <a:off x="6779556" y="1325461"/>
            <a:ext cx="4847585" cy="1359016"/>
          </a:xfrm>
          <a:prstGeom prst="rect">
            <a:avLst/>
          </a:prstGeom>
          <a:ln>
            <a:noFill/>
          </a:ln>
        </p:spPr>
      </p:pic>
      <p:pic>
        <p:nvPicPr>
          <p:cNvPr id="59" name="Picture 58">
            <a:extLst>
              <a:ext uri="{FF2B5EF4-FFF2-40B4-BE49-F238E27FC236}">
                <a16:creationId xmlns:a16="http://schemas.microsoft.com/office/drawing/2014/main" id="{A47A196C-0060-4443-9205-CB25D74E8F05}"/>
              </a:ext>
            </a:extLst>
          </p:cNvPr>
          <p:cNvPicPr/>
          <p:nvPr/>
        </p:nvPicPr>
        <p:blipFill rotWithShape="1">
          <a:blip r:embed="rId2"/>
          <a:srcRect t="61887" r="10880" b="17076"/>
          <a:stretch/>
        </p:blipFill>
        <p:spPr>
          <a:xfrm>
            <a:off x="6779556" y="2634142"/>
            <a:ext cx="4847585" cy="1291905"/>
          </a:xfrm>
          <a:prstGeom prst="rect">
            <a:avLst/>
          </a:prstGeom>
          <a:ln>
            <a:noFill/>
          </a:ln>
        </p:spPr>
      </p:pic>
      <p:pic>
        <p:nvPicPr>
          <p:cNvPr id="60" name="Picture 59">
            <a:extLst>
              <a:ext uri="{FF2B5EF4-FFF2-40B4-BE49-F238E27FC236}">
                <a16:creationId xmlns:a16="http://schemas.microsoft.com/office/drawing/2014/main" id="{94DEC7CE-D472-471E-9D65-0533E588F611}"/>
              </a:ext>
            </a:extLst>
          </p:cNvPr>
          <p:cNvPicPr/>
          <p:nvPr/>
        </p:nvPicPr>
        <p:blipFill rotWithShape="1">
          <a:blip r:embed="rId2"/>
          <a:srcRect t="82924" r="10880"/>
          <a:stretch/>
        </p:blipFill>
        <p:spPr>
          <a:xfrm>
            <a:off x="6779556" y="3766654"/>
            <a:ext cx="4847585" cy="1031851"/>
          </a:xfrm>
          <a:prstGeom prst="rect">
            <a:avLst/>
          </a:prstGeom>
          <a:ln>
            <a:noFill/>
          </a:ln>
        </p:spPr>
      </p:pic>
      <p:pic>
        <p:nvPicPr>
          <p:cNvPr id="61" name="Picture 60">
            <a:extLst>
              <a:ext uri="{FF2B5EF4-FFF2-40B4-BE49-F238E27FC236}">
                <a16:creationId xmlns:a16="http://schemas.microsoft.com/office/drawing/2014/main" id="{277728F5-A3B8-44CD-829B-48B042A0030C}"/>
              </a:ext>
            </a:extLst>
          </p:cNvPr>
          <p:cNvPicPr/>
          <p:nvPr/>
        </p:nvPicPr>
        <p:blipFill rotWithShape="1">
          <a:blip r:embed="rId2"/>
          <a:srcRect t="35221" r="10880" b="39594"/>
          <a:stretch/>
        </p:blipFill>
        <p:spPr>
          <a:xfrm>
            <a:off x="6779556" y="4756560"/>
            <a:ext cx="4847585" cy="1602294"/>
          </a:xfrm>
          <a:prstGeom prst="rect">
            <a:avLst/>
          </a:prstGeom>
          <a:ln>
            <a:noFill/>
          </a:ln>
        </p:spPr>
      </p:pic>
    </p:spTree>
    <p:extLst>
      <p:ext uri="{BB962C8B-B14F-4D97-AF65-F5344CB8AC3E}">
        <p14:creationId xmlns:p14="http://schemas.microsoft.com/office/powerpoint/2010/main" val="42830359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1000" fill="hold"/>
                                        <p:tgtEl>
                                          <p:spTgt spid="56"/>
                                        </p:tgtEl>
                                        <p:attrNameLst>
                                          <p:attrName>ppt_w</p:attrName>
                                        </p:attrNameLst>
                                      </p:cBhvr>
                                      <p:tavLst>
                                        <p:tav tm="0">
                                          <p:val>
                                            <p:fltVal val="0"/>
                                          </p:val>
                                        </p:tav>
                                        <p:tav tm="100000">
                                          <p:val>
                                            <p:strVal val="#ppt_w"/>
                                          </p:val>
                                        </p:tav>
                                      </p:tavLst>
                                    </p:anim>
                                    <p:anim calcmode="lin" valueType="num">
                                      <p:cBhvr>
                                        <p:cTn id="8" dur="1000" fill="hold"/>
                                        <p:tgtEl>
                                          <p:spTgt spid="56"/>
                                        </p:tgtEl>
                                        <p:attrNameLst>
                                          <p:attrName>ppt_h</p:attrName>
                                        </p:attrNameLst>
                                      </p:cBhvr>
                                      <p:tavLst>
                                        <p:tav tm="0">
                                          <p:val>
                                            <p:fltVal val="0"/>
                                          </p:val>
                                        </p:tav>
                                        <p:tav tm="100000">
                                          <p:val>
                                            <p:strVal val="#ppt_h"/>
                                          </p:val>
                                        </p:tav>
                                      </p:tavLst>
                                    </p:anim>
                                    <p:anim calcmode="lin" valueType="num">
                                      <p:cBhvr>
                                        <p:cTn id="9" dur="1000" fill="hold"/>
                                        <p:tgtEl>
                                          <p:spTgt spid="56"/>
                                        </p:tgtEl>
                                        <p:attrNameLst>
                                          <p:attrName>style.rotation</p:attrName>
                                        </p:attrNameLst>
                                      </p:cBhvr>
                                      <p:tavLst>
                                        <p:tav tm="0">
                                          <p:val>
                                            <p:fltVal val="90"/>
                                          </p:val>
                                        </p:tav>
                                        <p:tav tm="100000">
                                          <p:val>
                                            <p:fltVal val="0"/>
                                          </p:val>
                                        </p:tav>
                                      </p:tavLst>
                                    </p:anim>
                                    <p:animEffect transition="in" filter="fade">
                                      <p:cBhvr>
                                        <p:cTn id="10" dur="1000"/>
                                        <p:tgtEl>
                                          <p:spTgt spid="5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7">
                                            <p:txEl>
                                              <p:pRg st="0" end="0"/>
                                            </p:txEl>
                                          </p:spTgt>
                                        </p:tgtEl>
                                        <p:attrNameLst>
                                          <p:attrName>style.visibility</p:attrName>
                                        </p:attrNameLst>
                                      </p:cBhvr>
                                      <p:to>
                                        <p:strVal val="visible"/>
                                      </p:to>
                                    </p:set>
                                    <p:animEffect transition="in" filter="fade">
                                      <p:cBhvr>
                                        <p:cTn id="15" dur="1000"/>
                                        <p:tgtEl>
                                          <p:spTgt spid="57">
                                            <p:txEl>
                                              <p:pRg st="0" end="0"/>
                                            </p:txEl>
                                          </p:spTgt>
                                        </p:tgtEl>
                                      </p:cBhvr>
                                    </p:animEffect>
                                    <p:anim calcmode="lin" valueType="num">
                                      <p:cBhvr>
                                        <p:cTn id="16" dur="1000" fill="hold"/>
                                        <p:tgtEl>
                                          <p:spTgt spid="57">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1000"/>
                                        <p:tgtEl>
                                          <p:spTgt spid="58"/>
                                        </p:tgtEl>
                                      </p:cBhvr>
                                    </p:animEffect>
                                    <p:anim calcmode="lin" valueType="num">
                                      <p:cBhvr>
                                        <p:cTn id="23" dur="1000" fill="hold"/>
                                        <p:tgtEl>
                                          <p:spTgt spid="58"/>
                                        </p:tgtEl>
                                        <p:attrNameLst>
                                          <p:attrName>ppt_x</p:attrName>
                                        </p:attrNameLst>
                                      </p:cBhvr>
                                      <p:tavLst>
                                        <p:tav tm="0">
                                          <p:val>
                                            <p:strVal val="#ppt_x"/>
                                          </p:val>
                                        </p:tav>
                                        <p:tav tm="100000">
                                          <p:val>
                                            <p:strVal val="#ppt_x"/>
                                          </p:val>
                                        </p:tav>
                                      </p:tavLst>
                                    </p:anim>
                                    <p:anim calcmode="lin" valueType="num">
                                      <p:cBhvr>
                                        <p:cTn id="24"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57">
                                            <p:txEl>
                                              <p:pRg st="2" end="2"/>
                                            </p:txEl>
                                          </p:spTgt>
                                        </p:tgtEl>
                                        <p:attrNameLst>
                                          <p:attrName>style.visibility</p:attrName>
                                        </p:attrNameLst>
                                      </p:cBhvr>
                                      <p:to>
                                        <p:strVal val="visible"/>
                                      </p:to>
                                    </p:set>
                                    <p:animEffect transition="in" filter="fade">
                                      <p:cBhvr>
                                        <p:cTn id="29" dur="1000"/>
                                        <p:tgtEl>
                                          <p:spTgt spid="57">
                                            <p:txEl>
                                              <p:pRg st="2" end="2"/>
                                            </p:txEl>
                                          </p:spTgt>
                                        </p:tgtEl>
                                      </p:cBhvr>
                                    </p:animEffect>
                                    <p:anim calcmode="lin" valueType="num">
                                      <p:cBhvr>
                                        <p:cTn id="30" dur="1000" fill="hold"/>
                                        <p:tgtEl>
                                          <p:spTgt spid="57">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5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1000"/>
                                        <p:tgtEl>
                                          <p:spTgt spid="59"/>
                                        </p:tgtEl>
                                      </p:cBhvr>
                                    </p:animEffect>
                                    <p:anim calcmode="lin" valueType="num">
                                      <p:cBhvr>
                                        <p:cTn id="37" dur="1000" fill="hold"/>
                                        <p:tgtEl>
                                          <p:spTgt spid="59"/>
                                        </p:tgtEl>
                                        <p:attrNameLst>
                                          <p:attrName>ppt_x</p:attrName>
                                        </p:attrNameLst>
                                      </p:cBhvr>
                                      <p:tavLst>
                                        <p:tav tm="0">
                                          <p:val>
                                            <p:strVal val="#ppt_x"/>
                                          </p:val>
                                        </p:tav>
                                        <p:tav tm="100000">
                                          <p:val>
                                            <p:strVal val="#ppt_x"/>
                                          </p:val>
                                        </p:tav>
                                      </p:tavLst>
                                    </p:anim>
                                    <p:anim calcmode="lin" valueType="num">
                                      <p:cBhvr>
                                        <p:cTn id="38"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57">
                                            <p:txEl>
                                              <p:pRg st="4" end="4"/>
                                            </p:txEl>
                                          </p:spTgt>
                                        </p:tgtEl>
                                        <p:attrNameLst>
                                          <p:attrName>style.visibility</p:attrName>
                                        </p:attrNameLst>
                                      </p:cBhvr>
                                      <p:to>
                                        <p:strVal val="visible"/>
                                      </p:to>
                                    </p:set>
                                    <p:animEffect transition="in" filter="fade">
                                      <p:cBhvr>
                                        <p:cTn id="43" dur="1000"/>
                                        <p:tgtEl>
                                          <p:spTgt spid="57">
                                            <p:txEl>
                                              <p:pRg st="4" end="4"/>
                                            </p:txEl>
                                          </p:spTgt>
                                        </p:tgtEl>
                                      </p:cBhvr>
                                    </p:animEffect>
                                    <p:anim calcmode="lin" valueType="num">
                                      <p:cBhvr>
                                        <p:cTn id="44" dur="1000" fill="hold"/>
                                        <p:tgtEl>
                                          <p:spTgt spid="57">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5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fade">
                                      <p:cBhvr>
                                        <p:cTn id="50" dur="1000"/>
                                        <p:tgtEl>
                                          <p:spTgt spid="60"/>
                                        </p:tgtEl>
                                      </p:cBhvr>
                                    </p:animEffect>
                                    <p:anim calcmode="lin" valueType="num">
                                      <p:cBhvr>
                                        <p:cTn id="51" dur="1000" fill="hold"/>
                                        <p:tgtEl>
                                          <p:spTgt spid="60"/>
                                        </p:tgtEl>
                                        <p:attrNameLst>
                                          <p:attrName>ppt_x</p:attrName>
                                        </p:attrNameLst>
                                      </p:cBhvr>
                                      <p:tavLst>
                                        <p:tav tm="0">
                                          <p:val>
                                            <p:strVal val="#ppt_x"/>
                                          </p:val>
                                        </p:tav>
                                        <p:tav tm="100000">
                                          <p:val>
                                            <p:strVal val="#ppt_x"/>
                                          </p:val>
                                        </p:tav>
                                      </p:tavLst>
                                    </p:anim>
                                    <p:anim calcmode="lin" valueType="num">
                                      <p:cBhvr>
                                        <p:cTn id="52"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57">
                                            <p:txEl>
                                              <p:pRg st="6" end="6"/>
                                            </p:txEl>
                                          </p:spTgt>
                                        </p:tgtEl>
                                        <p:attrNameLst>
                                          <p:attrName>style.visibility</p:attrName>
                                        </p:attrNameLst>
                                      </p:cBhvr>
                                      <p:to>
                                        <p:strVal val="visible"/>
                                      </p:to>
                                    </p:set>
                                    <p:animEffect transition="in" filter="fade">
                                      <p:cBhvr>
                                        <p:cTn id="57" dur="1000"/>
                                        <p:tgtEl>
                                          <p:spTgt spid="57">
                                            <p:txEl>
                                              <p:pRg st="6" end="6"/>
                                            </p:txEl>
                                          </p:spTgt>
                                        </p:tgtEl>
                                      </p:cBhvr>
                                    </p:animEffect>
                                    <p:anim calcmode="lin" valueType="num">
                                      <p:cBhvr>
                                        <p:cTn id="58" dur="1000" fill="hold"/>
                                        <p:tgtEl>
                                          <p:spTgt spid="57">
                                            <p:txEl>
                                              <p:pRg st="6" end="6"/>
                                            </p:txEl>
                                          </p:spTgt>
                                        </p:tgtEl>
                                        <p:attrNameLst>
                                          <p:attrName>ppt_x</p:attrName>
                                        </p:attrNameLst>
                                      </p:cBhvr>
                                      <p:tavLst>
                                        <p:tav tm="0">
                                          <p:val>
                                            <p:strVal val="#ppt_x"/>
                                          </p:val>
                                        </p:tav>
                                        <p:tav tm="100000">
                                          <p:val>
                                            <p:strVal val="#ppt_x"/>
                                          </p:val>
                                        </p:tav>
                                      </p:tavLst>
                                    </p:anim>
                                    <p:anim calcmode="lin" valueType="num">
                                      <p:cBhvr>
                                        <p:cTn id="59" dur="1000" fill="hold"/>
                                        <p:tgtEl>
                                          <p:spTgt spid="5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1000"/>
                                        <p:tgtEl>
                                          <p:spTgt spid="61"/>
                                        </p:tgtEl>
                                      </p:cBhvr>
                                    </p:animEffect>
                                    <p:anim calcmode="lin" valueType="num">
                                      <p:cBhvr>
                                        <p:cTn id="65" dur="1000" fill="hold"/>
                                        <p:tgtEl>
                                          <p:spTgt spid="61"/>
                                        </p:tgtEl>
                                        <p:attrNameLst>
                                          <p:attrName>ppt_x</p:attrName>
                                        </p:attrNameLst>
                                      </p:cBhvr>
                                      <p:tavLst>
                                        <p:tav tm="0">
                                          <p:val>
                                            <p:strVal val="#ppt_x"/>
                                          </p:val>
                                        </p:tav>
                                        <p:tav tm="100000">
                                          <p:val>
                                            <p:strVal val="#ppt_x"/>
                                          </p:val>
                                        </p:tav>
                                      </p:tavLst>
                                    </p:anim>
                                    <p:anim calcmode="lin" valueType="num">
                                      <p:cBhvr>
                                        <p:cTn id="66"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2" y="2613546"/>
            <a:ext cx="4775075" cy="1630907"/>
          </a:xfrm>
          <a:solidFill>
            <a:schemeClr val="tx1">
              <a:lumMod val="65000"/>
              <a:lumOff val="35000"/>
            </a:schemeClr>
          </a:solidFill>
          <a:ln>
            <a:solidFill>
              <a:schemeClr val="bg2"/>
            </a:solidFill>
          </a:ln>
        </p:spPr>
        <p:txBody>
          <a:bodyPr>
            <a:normAutofit/>
          </a:bodyPr>
          <a:lstStyle/>
          <a:p>
            <a:r>
              <a:rPr lang="en-US" sz="4400" dirty="0">
                <a:solidFill>
                  <a:schemeClr val="bg1"/>
                </a:solidFill>
              </a:rPr>
              <a:t>Example 3</a:t>
            </a:r>
          </a:p>
        </p:txBody>
      </p:sp>
    </p:spTree>
    <p:extLst>
      <p:ext uri="{BB962C8B-B14F-4D97-AF65-F5344CB8AC3E}">
        <p14:creationId xmlns:p14="http://schemas.microsoft.com/office/powerpoint/2010/main" val="9211202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C2519C53-D8CD-4A51-93E2-2564897FDCDA}"/>
              </a:ext>
            </a:extLst>
          </p:cNvPr>
          <p:cNvGrpSpPr/>
          <p:nvPr/>
        </p:nvGrpSpPr>
        <p:grpSpPr>
          <a:xfrm>
            <a:off x="2705160" y="974071"/>
            <a:ext cx="6781680" cy="4647960"/>
            <a:chOff x="1219320" y="1729080"/>
            <a:chExt cx="6781680" cy="4647960"/>
          </a:xfrm>
        </p:grpSpPr>
        <p:sp>
          <p:nvSpPr>
            <p:cNvPr id="9" name="CustomShape 1">
              <a:extLst>
                <a:ext uri="{FF2B5EF4-FFF2-40B4-BE49-F238E27FC236}">
                  <a16:creationId xmlns:a16="http://schemas.microsoft.com/office/drawing/2014/main" id="{DE9B90B6-946A-4534-90FB-7B67C33EE9A3}"/>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10" name="CustomShape 2">
              <a:extLst>
                <a:ext uri="{FF2B5EF4-FFF2-40B4-BE49-F238E27FC236}">
                  <a16:creationId xmlns:a16="http://schemas.microsoft.com/office/drawing/2014/main" id="{EE1A964A-C524-4E55-B47E-EF4E9462128F}"/>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11" name="CustomShape 3">
              <a:extLst>
                <a:ext uri="{FF2B5EF4-FFF2-40B4-BE49-F238E27FC236}">
                  <a16:creationId xmlns:a16="http://schemas.microsoft.com/office/drawing/2014/main" id="{F41E1FF1-04FB-4BA5-AEDF-58FA6178DBB1}"/>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4">
              <a:extLst>
                <a:ext uri="{FF2B5EF4-FFF2-40B4-BE49-F238E27FC236}">
                  <a16:creationId xmlns:a16="http://schemas.microsoft.com/office/drawing/2014/main" id="{CE52AD5A-CF5E-4BA8-A208-A856B2E2EDF2}"/>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13" name="CustomShape 5">
              <a:extLst>
                <a:ext uri="{FF2B5EF4-FFF2-40B4-BE49-F238E27FC236}">
                  <a16:creationId xmlns:a16="http://schemas.microsoft.com/office/drawing/2014/main" id="{3E385610-5B1D-495B-B28C-1B2862257679}"/>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6">
              <a:extLst>
                <a:ext uri="{FF2B5EF4-FFF2-40B4-BE49-F238E27FC236}">
                  <a16:creationId xmlns:a16="http://schemas.microsoft.com/office/drawing/2014/main" id="{DB4D0E3C-3C57-4FB9-86DE-F6A6C8C59677}"/>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5" name="CustomShape 7">
              <a:extLst>
                <a:ext uri="{FF2B5EF4-FFF2-40B4-BE49-F238E27FC236}">
                  <a16:creationId xmlns:a16="http://schemas.microsoft.com/office/drawing/2014/main" id="{8B68F1EB-9E21-4794-9E31-0EFE074DF5A2}"/>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8">
              <a:extLst>
                <a:ext uri="{FF2B5EF4-FFF2-40B4-BE49-F238E27FC236}">
                  <a16:creationId xmlns:a16="http://schemas.microsoft.com/office/drawing/2014/main" id="{6FD306C2-75B0-421A-8652-A1B9EAB982E0}"/>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7" name="CustomShape 9">
              <a:extLst>
                <a:ext uri="{FF2B5EF4-FFF2-40B4-BE49-F238E27FC236}">
                  <a16:creationId xmlns:a16="http://schemas.microsoft.com/office/drawing/2014/main" id="{9722ECC7-20AA-40B6-857C-3D57ECF1EF86}"/>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8" name="CustomShape 10">
              <a:extLst>
                <a:ext uri="{FF2B5EF4-FFF2-40B4-BE49-F238E27FC236}">
                  <a16:creationId xmlns:a16="http://schemas.microsoft.com/office/drawing/2014/main" id="{064A0226-1E1B-4B0D-8DCF-D23F263D0EBC}"/>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9" name="CustomShape 11">
              <a:extLst>
                <a:ext uri="{FF2B5EF4-FFF2-40B4-BE49-F238E27FC236}">
                  <a16:creationId xmlns:a16="http://schemas.microsoft.com/office/drawing/2014/main" id="{75242526-6C50-45AB-869C-7C6AC1F06EB6}"/>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20" name="CustomShape 12">
              <a:extLst>
                <a:ext uri="{FF2B5EF4-FFF2-40B4-BE49-F238E27FC236}">
                  <a16:creationId xmlns:a16="http://schemas.microsoft.com/office/drawing/2014/main" id="{95634345-8EDE-4738-9504-297DA31EDFE2}"/>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21" name="CustomShape 13">
              <a:extLst>
                <a:ext uri="{FF2B5EF4-FFF2-40B4-BE49-F238E27FC236}">
                  <a16:creationId xmlns:a16="http://schemas.microsoft.com/office/drawing/2014/main" id="{9CE2EC12-91F8-4278-9499-2D1DCA6A7646}"/>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22" name="Line 14">
              <a:extLst>
                <a:ext uri="{FF2B5EF4-FFF2-40B4-BE49-F238E27FC236}">
                  <a16:creationId xmlns:a16="http://schemas.microsoft.com/office/drawing/2014/main" id="{9F018E75-5789-498E-834B-34228B52FCD5}"/>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3" name="Line 15">
              <a:extLst>
                <a:ext uri="{FF2B5EF4-FFF2-40B4-BE49-F238E27FC236}">
                  <a16:creationId xmlns:a16="http://schemas.microsoft.com/office/drawing/2014/main" id="{3B6791EE-6F61-4888-823C-AD11E541D78E}"/>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4" name="Line 16">
              <a:extLst>
                <a:ext uri="{FF2B5EF4-FFF2-40B4-BE49-F238E27FC236}">
                  <a16:creationId xmlns:a16="http://schemas.microsoft.com/office/drawing/2014/main" id="{79BFD1AE-AD0B-4FC4-857B-F192A459EAC8}"/>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5" name="Line 17">
              <a:extLst>
                <a:ext uri="{FF2B5EF4-FFF2-40B4-BE49-F238E27FC236}">
                  <a16:creationId xmlns:a16="http://schemas.microsoft.com/office/drawing/2014/main" id="{F84C8ECC-870E-4785-A9A6-FE9458D6419A}"/>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6" name="CustomShape 18">
              <a:extLst>
                <a:ext uri="{FF2B5EF4-FFF2-40B4-BE49-F238E27FC236}">
                  <a16:creationId xmlns:a16="http://schemas.microsoft.com/office/drawing/2014/main" id="{38BF7F24-C9F1-4660-8496-47045C64AFE5}"/>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7" name="CustomShape 19">
              <a:extLst>
                <a:ext uri="{FF2B5EF4-FFF2-40B4-BE49-F238E27FC236}">
                  <a16:creationId xmlns:a16="http://schemas.microsoft.com/office/drawing/2014/main" id="{4BD93970-E095-4E66-BE9D-11141E10BC96}"/>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8" name="CustomShape 20">
              <a:extLst>
                <a:ext uri="{FF2B5EF4-FFF2-40B4-BE49-F238E27FC236}">
                  <a16:creationId xmlns:a16="http://schemas.microsoft.com/office/drawing/2014/main" id="{66C3E825-16AB-4B88-9022-B6B576A56BA3}"/>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9" name="CustomShape 21">
              <a:extLst>
                <a:ext uri="{FF2B5EF4-FFF2-40B4-BE49-F238E27FC236}">
                  <a16:creationId xmlns:a16="http://schemas.microsoft.com/office/drawing/2014/main" id="{9DF3529B-FC55-478A-BEEC-46BFF961BE9A}"/>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30" name="CustomShape 22">
              <a:extLst>
                <a:ext uri="{FF2B5EF4-FFF2-40B4-BE49-F238E27FC236}">
                  <a16:creationId xmlns:a16="http://schemas.microsoft.com/office/drawing/2014/main" id="{9902157D-F7E9-4E25-BAA6-089068C9574C}"/>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31" name="CustomShape 23">
              <a:extLst>
                <a:ext uri="{FF2B5EF4-FFF2-40B4-BE49-F238E27FC236}">
                  <a16:creationId xmlns:a16="http://schemas.microsoft.com/office/drawing/2014/main" id="{AFFDC5AF-3949-42CD-B7F4-1EAADBBB3B6A}"/>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32" name="CustomShape 24">
              <a:extLst>
                <a:ext uri="{FF2B5EF4-FFF2-40B4-BE49-F238E27FC236}">
                  <a16:creationId xmlns:a16="http://schemas.microsoft.com/office/drawing/2014/main" id="{02D7604C-1394-4B78-8219-28E3AC81AC06}"/>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33" name="CustomShape 25">
              <a:extLst>
                <a:ext uri="{FF2B5EF4-FFF2-40B4-BE49-F238E27FC236}">
                  <a16:creationId xmlns:a16="http://schemas.microsoft.com/office/drawing/2014/main" id="{8164DB2D-2DAD-4F9B-A686-77E47C4B28E9}"/>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4" name="CustomShape 26">
              <a:extLst>
                <a:ext uri="{FF2B5EF4-FFF2-40B4-BE49-F238E27FC236}">
                  <a16:creationId xmlns:a16="http://schemas.microsoft.com/office/drawing/2014/main" id="{FC854BB6-85DE-47C8-A738-F454CE837D4B}"/>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5" name="CustomShape 27">
              <a:extLst>
                <a:ext uri="{FF2B5EF4-FFF2-40B4-BE49-F238E27FC236}">
                  <a16:creationId xmlns:a16="http://schemas.microsoft.com/office/drawing/2014/main" id="{A4D36025-1F53-46BD-AF86-F1E3300B6230}"/>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6" name="Line 28">
              <a:extLst>
                <a:ext uri="{FF2B5EF4-FFF2-40B4-BE49-F238E27FC236}">
                  <a16:creationId xmlns:a16="http://schemas.microsoft.com/office/drawing/2014/main" id="{85756821-5523-45C5-A2BB-8B6BAC054D74}"/>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Line 29">
              <a:extLst>
                <a:ext uri="{FF2B5EF4-FFF2-40B4-BE49-F238E27FC236}">
                  <a16:creationId xmlns:a16="http://schemas.microsoft.com/office/drawing/2014/main" id="{FF8A0A32-6630-4F4A-9A3D-F5BC6C455DA4}"/>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8" name="CustomShape 30">
              <a:extLst>
                <a:ext uri="{FF2B5EF4-FFF2-40B4-BE49-F238E27FC236}">
                  <a16:creationId xmlns:a16="http://schemas.microsoft.com/office/drawing/2014/main" id="{B2BC312A-9FA3-439C-80A9-5303463EE42D}"/>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name: String</a:t>
              </a:r>
              <a:endParaRPr lang="en-US" sz="2000" spc="-1">
                <a:solidFill>
                  <a:prstClr val="black"/>
                </a:solidFill>
                <a:latin typeface="Arial"/>
              </a:endParaRPr>
            </a:p>
          </p:txBody>
        </p:sp>
        <p:sp>
          <p:nvSpPr>
            <p:cNvPr id="39" name="CustomShape 31">
              <a:extLst>
                <a:ext uri="{FF2B5EF4-FFF2-40B4-BE49-F238E27FC236}">
                  <a16:creationId xmlns:a16="http://schemas.microsoft.com/office/drawing/2014/main" id="{3116BCA4-67F3-427C-A180-21D11493C011}"/>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40" name="Line 32">
              <a:extLst>
                <a:ext uri="{FF2B5EF4-FFF2-40B4-BE49-F238E27FC236}">
                  <a16:creationId xmlns:a16="http://schemas.microsoft.com/office/drawing/2014/main" id="{C778A708-1785-486E-B85A-5858C8331B77}"/>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1" name="CustomShape 33">
              <a:extLst>
                <a:ext uri="{FF2B5EF4-FFF2-40B4-BE49-F238E27FC236}">
                  <a16:creationId xmlns:a16="http://schemas.microsoft.com/office/drawing/2014/main" id="{62C7953C-DDD1-469A-940C-F4A234CE5D6B}"/>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weight: Integer</a:t>
              </a:r>
              <a:endParaRPr lang="en-US" sz="2000" spc="-1">
                <a:solidFill>
                  <a:prstClr val="black"/>
                </a:solidFill>
                <a:latin typeface="Arial"/>
              </a:endParaRPr>
            </a:p>
          </p:txBody>
        </p:sp>
        <p:sp>
          <p:nvSpPr>
            <p:cNvPr id="42" name="Line 34">
              <a:extLst>
                <a:ext uri="{FF2B5EF4-FFF2-40B4-BE49-F238E27FC236}">
                  <a16:creationId xmlns:a16="http://schemas.microsoft.com/office/drawing/2014/main" id="{60EB6F73-96FE-4B5B-8C93-E7C4C199B7DC}"/>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3" name="Line 35">
              <a:extLst>
                <a:ext uri="{FF2B5EF4-FFF2-40B4-BE49-F238E27FC236}">
                  <a16:creationId xmlns:a16="http://schemas.microsoft.com/office/drawing/2014/main" id="{0D17AEBF-D6A8-45BB-840A-457D8CF13AD8}"/>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4" name="CustomShape 36">
              <a:extLst>
                <a:ext uri="{FF2B5EF4-FFF2-40B4-BE49-F238E27FC236}">
                  <a16:creationId xmlns:a16="http://schemas.microsoft.com/office/drawing/2014/main" id="{E80BF076-1C7D-4033-8151-3778F8F9E275}"/>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5" name="CustomShape 37">
              <a:extLst>
                <a:ext uri="{FF2B5EF4-FFF2-40B4-BE49-F238E27FC236}">
                  <a16:creationId xmlns:a16="http://schemas.microsoft.com/office/drawing/2014/main" id="{6A05AF17-18FB-4A35-8887-93B1E3C11750}"/>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6" name="Line 38">
              <a:extLst>
                <a:ext uri="{FF2B5EF4-FFF2-40B4-BE49-F238E27FC236}">
                  <a16:creationId xmlns:a16="http://schemas.microsoft.com/office/drawing/2014/main" id="{A9F0C3A7-02A3-44F8-AC2A-17C389C3A143}"/>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7" name="Line 39">
              <a:extLst>
                <a:ext uri="{FF2B5EF4-FFF2-40B4-BE49-F238E27FC236}">
                  <a16:creationId xmlns:a16="http://schemas.microsoft.com/office/drawing/2014/main" id="{A9A094C7-B6B2-4E56-B978-9439579E04B7}"/>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0108757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1E1AD-AA2F-4E3F-B5CC-34B535401533}"/>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533FA374-D30C-498C-9258-E8ADAC17FFEC}"/>
              </a:ext>
            </a:extLst>
          </p:cNvPr>
          <p:cNvSpPr>
            <a:spLocks noGrp="1"/>
          </p:cNvSpPr>
          <p:nvPr>
            <p:ph idx="1"/>
          </p:nvPr>
        </p:nvSpPr>
        <p:spPr/>
        <p:txBody>
          <a:bodyPr>
            <a:normAutofit/>
          </a:bodyPr>
          <a:lstStyle/>
          <a:p>
            <a:pPr marL="457200" indent="-457200">
              <a:buFont typeface="+mj-lt"/>
              <a:buAutoNum type="arabicPeriod"/>
            </a:pPr>
            <a:r>
              <a:rPr lang="en-US" sz="2000" dirty="0"/>
              <a:t>Modules must have more than seven students registered</a:t>
            </a:r>
          </a:p>
          <a:p>
            <a:pPr marL="457200" indent="-457200">
              <a:buFont typeface="+mj-lt"/>
              <a:buAutoNum type="arabicPeriod"/>
            </a:pPr>
            <a:r>
              <a:rPr lang="en-US" sz="2000" dirty="0"/>
              <a:t>The assessments for a module must total to 100</a:t>
            </a:r>
          </a:p>
          <a:p>
            <a:pPr marL="457200" indent="-457200">
              <a:buFont typeface="+mj-lt"/>
              <a:buAutoNum type="arabicPeriod"/>
            </a:pPr>
            <a:r>
              <a:rPr lang="en-US" sz="2000" dirty="0"/>
              <a:t>Students must register for 120 credits each year</a:t>
            </a:r>
          </a:p>
          <a:p>
            <a:pPr marL="457200" indent="-457200">
              <a:buFont typeface="+mj-lt"/>
              <a:buAutoNum type="arabicPeriod"/>
            </a:pPr>
            <a:r>
              <a:rPr lang="en-US" sz="2000" dirty="0"/>
              <a:t>Students must take at least 90 credits of CS modules each year</a:t>
            </a:r>
          </a:p>
          <a:p>
            <a:pPr marL="457200" indent="-457200">
              <a:buFont typeface="+mj-lt"/>
              <a:buAutoNum type="arabicPeriod"/>
            </a:pPr>
            <a:r>
              <a:rPr lang="en-US" sz="2000" dirty="0"/>
              <a:t>All modules must have at least one assessment worth over 50</a:t>
            </a:r>
          </a:p>
          <a:p>
            <a:pPr marL="457200" indent="-457200">
              <a:buFont typeface="+mj-lt"/>
              <a:buAutoNum type="arabicPeriod"/>
            </a:pPr>
            <a:r>
              <a:rPr lang="en-US" sz="2000" dirty="0"/>
              <a:t>Students can only have assessments for modules which they are taking</a:t>
            </a:r>
          </a:p>
          <a:p>
            <a:pPr marL="457200" indent="-457200">
              <a:buFont typeface="+mj-lt"/>
              <a:buAutoNum type="arabicPeriod"/>
            </a:pPr>
            <a:endParaRPr lang="en-US" sz="2000" dirty="0"/>
          </a:p>
        </p:txBody>
      </p:sp>
    </p:spTree>
    <p:extLst>
      <p:ext uri="{BB962C8B-B14F-4D97-AF65-F5344CB8AC3E}">
        <p14:creationId xmlns:p14="http://schemas.microsoft.com/office/powerpoint/2010/main" val="9749361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66800" y="1416511"/>
            <a:ext cx="10058400" cy="1371600"/>
          </a:xfrm>
        </p:spPr>
        <p:txBody>
          <a:bodyPr/>
          <a:lstStyle/>
          <a:p>
            <a:r>
              <a:rPr lang="en-US" b="1" dirty="0"/>
              <a:t>Constraint 1</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66800" y="2720193"/>
            <a:ext cx="4300263" cy="3232550"/>
          </a:xfrm>
        </p:spPr>
        <p:txBody>
          <a:bodyPr>
            <a:normAutofit/>
          </a:bodyPr>
          <a:lstStyle/>
          <a:p>
            <a:pPr marL="0" indent="0">
              <a:buNone/>
            </a:pPr>
            <a:r>
              <a:rPr lang="en-US" sz="2000" b="1" dirty="0"/>
              <a:t>Modules must have more than seven students registered</a:t>
            </a:r>
          </a:p>
          <a:p>
            <a:endParaRPr lang="en-US" sz="2000" dirty="0"/>
          </a:p>
          <a:p>
            <a:pPr marL="0" indent="0">
              <a:buNone/>
            </a:pPr>
            <a:r>
              <a:rPr lang="en-US" sz="2000" b="1" dirty="0">
                <a:solidFill>
                  <a:srgbClr val="0070C0"/>
                </a:solidFill>
              </a:rPr>
              <a:t>context Module</a:t>
            </a:r>
          </a:p>
          <a:p>
            <a:pPr marL="0" indent="0">
              <a:buNone/>
            </a:pPr>
            <a:r>
              <a:rPr lang="en-US" sz="2000" b="1" dirty="0">
                <a:solidFill>
                  <a:srgbClr val="0070C0"/>
                </a:solidFill>
              </a:rPr>
              <a:t>	inv: </a:t>
            </a:r>
            <a:r>
              <a:rPr lang="en-US" sz="2000" b="1" dirty="0" err="1">
                <a:solidFill>
                  <a:srgbClr val="0070C0"/>
                </a:solidFill>
              </a:rPr>
              <a:t>taken_by</a:t>
            </a:r>
            <a:r>
              <a:rPr lang="en-US" sz="2000" b="1" dirty="0">
                <a:solidFill>
                  <a:srgbClr val="0070C0"/>
                </a:solidFill>
              </a:rPr>
              <a:t>-&gt;size &gt; 7</a:t>
            </a:r>
          </a:p>
          <a:p>
            <a:endParaRPr lang="en-US" sz="2000" dirty="0"/>
          </a:p>
        </p:txBody>
      </p:sp>
      <p:grpSp>
        <p:nvGrpSpPr>
          <p:cNvPr id="4" name="Group 3">
            <a:extLst>
              <a:ext uri="{FF2B5EF4-FFF2-40B4-BE49-F238E27FC236}">
                <a16:creationId xmlns:a16="http://schemas.microsoft.com/office/drawing/2014/main" id="{B862F1EB-C762-4EC4-814D-F78DA89B6903}"/>
              </a:ext>
            </a:extLst>
          </p:cNvPr>
          <p:cNvGrpSpPr/>
          <p:nvPr/>
        </p:nvGrpSpPr>
        <p:grpSpPr>
          <a:xfrm>
            <a:off x="4760463" y="1105020"/>
            <a:ext cx="6781680" cy="4647960"/>
            <a:chOff x="1219320" y="1729080"/>
            <a:chExt cx="6781680" cy="4647960"/>
          </a:xfrm>
        </p:grpSpPr>
        <p:sp>
          <p:nvSpPr>
            <p:cNvPr id="5" name="CustomShape 1">
              <a:extLst>
                <a:ext uri="{FF2B5EF4-FFF2-40B4-BE49-F238E27FC236}">
                  <a16:creationId xmlns:a16="http://schemas.microsoft.com/office/drawing/2014/main" id="{529E0FC2-F74E-49AC-AB1E-6A3335369911}"/>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6C68C991-4416-489C-8DEF-7A466CDDF9C7}"/>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42962BAC-070A-4467-9D58-F918346C7FB8}"/>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EA5C5D10-2011-4838-B274-DCB54373315F}"/>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1582D0F3-BF51-4949-B2A3-5CD5B1B10DFD}"/>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C873C663-EE13-417F-AF40-59C1BD95EEDB}"/>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7A36EE42-6308-44B3-93DB-66CBC11F28A4}"/>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7EE2F0F0-8066-409A-A446-E1307FAAC628}"/>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BA72AE46-45C7-474E-BE0C-0618A1FA25FA}"/>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BC0B5410-54AA-48EE-B09C-EC80981E8C72}"/>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5D0A7ECB-0D8F-4B60-A094-00AAE9202B61}"/>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FE8E58AB-4FB6-41BC-8E23-52AF03945910}"/>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8A519F59-5E29-4114-8AED-E8480665E42D}"/>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5376C93C-1E57-4354-B848-4A2FB2691E96}"/>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D13013F6-1080-46EB-BF92-1B56486DB671}"/>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DBD17196-D351-4AA6-9335-D85135615203}"/>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39786EFA-FC3D-4975-B9C1-A7210D0C731E}"/>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E4E85561-FDA3-4F68-BC29-AF2071DA4D57}"/>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25FCC01D-F96F-40C9-8D7E-FF0AD2B57EA4}"/>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CD208B5C-7003-47EF-8E11-77AB59D5E856}"/>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C68C2825-C43E-4521-837A-3C3D4916E6A1}"/>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13BE48F2-733A-40BE-8A1C-EAAE690FBFFB}"/>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C35B3804-3BC6-484E-A967-341CA5B48F0E}"/>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8" name="CustomShape 24">
              <a:extLst>
                <a:ext uri="{FF2B5EF4-FFF2-40B4-BE49-F238E27FC236}">
                  <a16:creationId xmlns:a16="http://schemas.microsoft.com/office/drawing/2014/main" id="{4E3961AB-FD12-47EF-8F35-5A36F4B69B43}"/>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D1473523-DD3C-4EFE-AB8F-BE12B2FFF6BE}"/>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11A39067-61C2-4655-80AF-0CC4B69F8CD4}"/>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637847F6-D4AC-4863-88F9-7E00943A4BDF}"/>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7ED1C25E-923E-43CF-A954-E637A893DE05}"/>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1917ADFC-7143-4592-B262-2F879B69D761}"/>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7CC75292-6732-4C7F-84F6-3618DB6B5355}"/>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8808574D-3E40-4C55-AFC0-F92F48471A6F}"/>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4DC34ED2-873B-4C98-B2C5-C3E4FED26F24}"/>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205DFE1A-52FF-4C0F-A59F-FB518DFBF4B8}"/>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D8709F6E-2252-4659-9A3E-43D48A69C9FC}"/>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39E88B54-95C7-487D-9169-4CA219DDFFFC}"/>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E7A4542D-6AE5-4C9B-8662-ED26D2250F5E}"/>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2D3936CB-5D1C-4688-BA17-0CCD0B9FD20C}"/>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9AA6862C-E2BE-4AB8-A9AC-4677F3539900}"/>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8C6E0DB3-15DC-4490-9CC0-CBFFBFFDDE67}"/>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4336468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66800" y="1632495"/>
            <a:ext cx="10058400" cy="1371600"/>
          </a:xfrm>
        </p:spPr>
        <p:txBody>
          <a:bodyPr/>
          <a:lstStyle/>
          <a:p>
            <a:r>
              <a:rPr lang="en-US" b="1" dirty="0"/>
              <a:t>Constraint 2</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66800" y="3103926"/>
            <a:ext cx="5089687" cy="2848817"/>
          </a:xfrm>
        </p:spPr>
        <p:txBody>
          <a:bodyPr>
            <a:normAutofit/>
          </a:bodyPr>
          <a:lstStyle/>
          <a:p>
            <a:pPr marL="0" indent="0">
              <a:buNone/>
            </a:pPr>
            <a:r>
              <a:rPr lang="en-US" sz="2000" b="1" dirty="0"/>
              <a:t>The assessments for a module must total to 100%</a:t>
            </a:r>
          </a:p>
          <a:p>
            <a:pPr marL="0" indent="0">
              <a:buNone/>
            </a:pPr>
            <a:endParaRPr lang="en-US" sz="2000" b="1" dirty="0"/>
          </a:p>
          <a:p>
            <a:pPr marL="0" indent="0">
              <a:buNone/>
            </a:pPr>
            <a:r>
              <a:rPr lang="en-US" sz="2000" b="1" dirty="0">
                <a:solidFill>
                  <a:srgbClr val="0070C0"/>
                </a:solidFill>
              </a:rPr>
              <a:t>context Module</a:t>
            </a:r>
          </a:p>
          <a:p>
            <a:pPr marL="0" indent="0">
              <a:buNone/>
            </a:pPr>
            <a:r>
              <a:rPr lang="en-US" sz="2000" b="1" dirty="0">
                <a:solidFill>
                  <a:srgbClr val="0070C0"/>
                </a:solidFill>
              </a:rPr>
              <a:t>         inv: </a:t>
            </a:r>
            <a:r>
              <a:rPr lang="en-US" sz="2000" b="1" dirty="0" err="1">
                <a:solidFill>
                  <a:srgbClr val="0070C0"/>
                </a:solidFill>
              </a:rPr>
              <a:t>set_work.weight</a:t>
            </a:r>
            <a:r>
              <a:rPr lang="en-US" sz="2000" b="1" dirty="0">
                <a:solidFill>
                  <a:srgbClr val="0070C0"/>
                </a:solidFill>
              </a:rPr>
              <a:t>-&gt;sum( ) = 100</a:t>
            </a:r>
          </a:p>
          <a:p>
            <a:pPr marL="0" indent="0">
              <a:buNone/>
            </a:pPr>
            <a:endParaRPr lang="en-US" sz="2000" b="1" dirty="0"/>
          </a:p>
          <a:p>
            <a:endParaRPr lang="en-US" sz="2000" dirty="0"/>
          </a:p>
        </p:txBody>
      </p:sp>
      <p:grpSp>
        <p:nvGrpSpPr>
          <p:cNvPr id="4" name="Group 3">
            <a:extLst>
              <a:ext uri="{FF2B5EF4-FFF2-40B4-BE49-F238E27FC236}">
                <a16:creationId xmlns:a16="http://schemas.microsoft.com/office/drawing/2014/main" id="{239792E3-77C4-4F02-A114-9792DE948210}"/>
              </a:ext>
            </a:extLst>
          </p:cNvPr>
          <p:cNvGrpSpPr/>
          <p:nvPr/>
        </p:nvGrpSpPr>
        <p:grpSpPr>
          <a:xfrm>
            <a:off x="4894687" y="1088242"/>
            <a:ext cx="6781680" cy="4647960"/>
            <a:chOff x="1219320" y="1729080"/>
            <a:chExt cx="6781680" cy="4647960"/>
          </a:xfrm>
        </p:grpSpPr>
        <p:sp>
          <p:nvSpPr>
            <p:cNvPr id="5" name="CustomShape 1">
              <a:extLst>
                <a:ext uri="{FF2B5EF4-FFF2-40B4-BE49-F238E27FC236}">
                  <a16:creationId xmlns:a16="http://schemas.microsoft.com/office/drawing/2014/main" id="{6667A9FA-5A17-4B16-9A60-E3C707F303C4}"/>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B2236520-A12F-4A85-87FC-AAFD0DE92BEB}"/>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1D64A87C-F171-45D8-8353-0E5014531342}"/>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6AFFCAC5-ED5B-47EE-AAB2-6DD8C79193BC}"/>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7A43B1CE-9CB3-4070-907C-95693A06A607}"/>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F5DA7A68-3742-436F-8933-B072F0A9B5CF}"/>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32C9E756-FAE4-4517-BCE8-5192E603A65E}"/>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D92E1767-5EDC-44EC-8008-F466AC57E796}"/>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6546E85A-3E92-488C-BDC0-72239E2079FF}"/>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0FC409EE-8212-4BDD-A03C-32AF7098CD40}"/>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DBCB8F79-B4C0-4DF2-9E6F-7F57934F9678}"/>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198CCA2C-465F-4DB2-AAF0-195E5818286E}"/>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110DF48D-AB04-46B4-B1F3-388BEF6657D1}"/>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BBD7DB4A-CB78-44E4-AE79-D6E125EE5957}"/>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F4990E8F-2842-4072-8B6A-EE98C7423084}"/>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870925DD-F38D-4AF4-B3AE-F895688C909D}"/>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1DE133F0-A1DB-4B66-96BA-059E244E41EA}"/>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F2DEB569-36C9-4E51-A6AD-CF10E8DE2918}"/>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2B077DBC-1E91-4894-9881-778EE84F7BAC}"/>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6F7FABD9-7538-412D-975B-E64590E6D04B}"/>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84DE505A-9F7F-497B-A7B3-16BD64F055B1}"/>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AD243B85-81A3-4C30-B760-69D986499A80}"/>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3A100781-F12C-4ECA-8EA3-0C572D76328C}"/>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8" name="CustomShape 24">
              <a:extLst>
                <a:ext uri="{FF2B5EF4-FFF2-40B4-BE49-F238E27FC236}">
                  <a16:creationId xmlns:a16="http://schemas.microsoft.com/office/drawing/2014/main" id="{02871975-5630-4DD3-94E1-06F1F3E29791}"/>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7B3B47F5-BFB6-4CBA-8088-9BA9B2EB0B7D}"/>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D850C4CE-2F18-4C68-B196-18E089746485}"/>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F4CB8C30-F5C6-44D2-B701-2195CF2B60D5}"/>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222C3E9D-C844-4364-B7E8-6703C3CA23B3}"/>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E29F835E-07A3-4F52-8B71-F4ACC203C843}"/>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3785C846-FA15-431C-B4E2-BF0E5061067B}"/>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AC692353-8AA0-435C-BA2C-52191F1AF7C0}"/>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AE2049BF-B5FE-4B33-B92C-C875CEF57C39}"/>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CFF255A8-1CC1-4E8B-9FC8-67A80029BA3D}"/>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A0313F4A-4457-4AFB-8950-1E01E3193623}"/>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94F55E1E-5D6E-48F3-AE85-C8573AF09853}"/>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A902AA57-539E-4CE6-BC18-4B39F4980EA2}"/>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116E2267-E926-4E9B-B955-2DB092AFE01E}"/>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101FB8F5-80F3-425B-9236-82CABCCEF285}"/>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9E6AA410-83E6-4A37-AA8D-5F14CD9C2AD0}"/>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0299229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66801" y="1506660"/>
            <a:ext cx="10058400" cy="1371600"/>
          </a:xfrm>
        </p:spPr>
        <p:txBody>
          <a:bodyPr/>
          <a:lstStyle/>
          <a:p>
            <a:r>
              <a:rPr lang="en-US" b="1" dirty="0"/>
              <a:t>Constraint 3</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66801" y="2952924"/>
            <a:ext cx="4801326" cy="2999819"/>
          </a:xfrm>
        </p:spPr>
        <p:txBody>
          <a:bodyPr>
            <a:normAutofit/>
          </a:bodyPr>
          <a:lstStyle/>
          <a:p>
            <a:pPr marL="0" indent="0">
              <a:buNone/>
            </a:pPr>
            <a:r>
              <a:rPr lang="en-US" sz="2000" b="1" dirty="0"/>
              <a:t>Students must register for 120 credits each year</a:t>
            </a:r>
          </a:p>
          <a:p>
            <a:pPr marL="0" indent="0">
              <a:buNone/>
            </a:pPr>
            <a:endParaRPr lang="en-US" sz="2000" b="1" dirty="0"/>
          </a:p>
          <a:p>
            <a:pPr marL="0" indent="0">
              <a:buNone/>
            </a:pPr>
            <a:r>
              <a:rPr lang="en-US" sz="2000" b="1" dirty="0">
                <a:solidFill>
                  <a:srgbClr val="0070C0"/>
                </a:solidFill>
              </a:rPr>
              <a:t>context Student</a:t>
            </a:r>
          </a:p>
          <a:p>
            <a:pPr marL="0" indent="0">
              <a:buNone/>
            </a:pPr>
            <a:r>
              <a:rPr lang="en-US" sz="2000" b="1" dirty="0">
                <a:solidFill>
                  <a:srgbClr val="0070C0"/>
                </a:solidFill>
              </a:rPr>
              <a:t>	inv: </a:t>
            </a:r>
            <a:r>
              <a:rPr lang="en-US" sz="2000" b="1" dirty="0" err="1">
                <a:solidFill>
                  <a:srgbClr val="0070C0"/>
                </a:solidFill>
              </a:rPr>
              <a:t>takes.credit</a:t>
            </a:r>
            <a:r>
              <a:rPr lang="en-US" sz="2000" b="1" dirty="0">
                <a:solidFill>
                  <a:srgbClr val="0070C0"/>
                </a:solidFill>
              </a:rPr>
              <a:t>-&gt;sum( ) = 120</a:t>
            </a:r>
          </a:p>
          <a:p>
            <a:pPr marL="0" indent="0">
              <a:buNone/>
            </a:pPr>
            <a:endParaRPr lang="en-US" sz="2000" b="1" dirty="0">
              <a:solidFill>
                <a:srgbClr val="0070C0"/>
              </a:solidFill>
            </a:endParaRPr>
          </a:p>
          <a:p>
            <a:endParaRPr lang="en-US" sz="2000" dirty="0"/>
          </a:p>
        </p:txBody>
      </p:sp>
      <p:grpSp>
        <p:nvGrpSpPr>
          <p:cNvPr id="4" name="Group 3">
            <a:extLst>
              <a:ext uri="{FF2B5EF4-FFF2-40B4-BE49-F238E27FC236}">
                <a16:creationId xmlns:a16="http://schemas.microsoft.com/office/drawing/2014/main" id="{4ED7029C-7E61-40BC-81FC-ECEB6EAFF9A8}"/>
              </a:ext>
            </a:extLst>
          </p:cNvPr>
          <p:cNvGrpSpPr/>
          <p:nvPr/>
        </p:nvGrpSpPr>
        <p:grpSpPr>
          <a:xfrm>
            <a:off x="4894687" y="1088242"/>
            <a:ext cx="6781680" cy="4647960"/>
            <a:chOff x="1219320" y="1729080"/>
            <a:chExt cx="6781680" cy="4647960"/>
          </a:xfrm>
        </p:grpSpPr>
        <p:sp>
          <p:nvSpPr>
            <p:cNvPr id="5" name="CustomShape 1">
              <a:extLst>
                <a:ext uri="{FF2B5EF4-FFF2-40B4-BE49-F238E27FC236}">
                  <a16:creationId xmlns:a16="http://schemas.microsoft.com/office/drawing/2014/main" id="{D858B3FA-7628-484A-A7A7-DB0631BD0F67}"/>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4A809C53-933D-4F5D-9C32-92B4F0A765DD}"/>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662ABEE3-7499-489B-AD4A-972BF1E6A46C}"/>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D40EAAD6-C546-4013-B456-A2A397273F40}"/>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CF42BF8A-8BD4-4EBD-8930-E6FF9102532B}"/>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33ADB387-C1AD-49D1-8E04-C146333DA366}"/>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5D1AE35E-A722-4571-BF31-84DD3C9BE843}"/>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1DAB7FAB-1C76-4F72-BE9B-939E51689620}"/>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5988CD99-ADBE-47F0-BA7C-866B1270961E}"/>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B5359FEB-2CAF-4EEA-931E-6F8EB69FAC96}"/>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F044A30C-5864-4530-A11D-031A558D84CC}"/>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29530108-39E8-407C-B13B-458F9CA39E82}"/>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74DA2451-0006-4951-8250-DEDF527FC569}"/>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E69551C9-4ADB-4B37-A710-B5E813EE4BB2}"/>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ACC92984-F700-4E37-AEFB-2C48FA5268AF}"/>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9898165B-204D-46B8-8AE4-2F7CD33C5216}"/>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B2058C87-D00E-43C8-B76D-81EF4CE47098}"/>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C2D79D6D-EFDF-4EAC-BD52-48A178F33395}"/>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C0A8BB45-F948-49AE-8E73-2249D1148A24}"/>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31B02BF3-E7B0-4796-A46A-F919C80425E6}"/>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8C6A6B21-DEE7-486C-8204-D2934694F233}"/>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51F0598A-A83D-42F1-94B4-A170B660E9F3}"/>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9ACF8143-4F22-421A-A4AC-34FF80844950}"/>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8" name="CustomShape 24">
              <a:extLst>
                <a:ext uri="{FF2B5EF4-FFF2-40B4-BE49-F238E27FC236}">
                  <a16:creationId xmlns:a16="http://schemas.microsoft.com/office/drawing/2014/main" id="{482D602A-D983-4EC6-879E-227CC3001234}"/>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76936FEF-96D1-42B7-B70E-368B3EBF252B}"/>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4D0BDDE1-491A-414C-9D2B-127455F8A9CD}"/>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DD230EC4-F769-44C7-9F1A-0E9775F35C81}"/>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B69B1820-63B1-44B5-9F38-11F2379852D9}"/>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9036ADB7-6BE8-4DC6-A713-E8E954BA2213}"/>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821BCC9C-F825-42C0-84DC-FA23A8B51DE8}"/>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DFEA25CD-5E5B-4E98-922C-BE818E35F8A5}"/>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B92B113F-9E75-4854-BF0D-296C4749EEDE}"/>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CD0C9D18-8587-41B5-A570-38FED5770FF1}"/>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8F407BF8-4552-4C34-9E85-555C625CA60D}"/>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30D8B8A3-39F3-4762-BD19-0B9A7A801ED0}"/>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B9372367-DB38-4BE4-892E-9DFE721294FE}"/>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1A467EC5-ED87-4820-B282-126CD1B5433F}"/>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8FB53106-2482-4FEC-9AD9-4890982081E4}"/>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76CBA323-84A9-4D17-BD0B-F7FBE07A55D9}"/>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9644059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73640" y="1530682"/>
            <a:ext cx="10058400" cy="1371600"/>
          </a:xfrm>
        </p:spPr>
        <p:txBody>
          <a:bodyPr/>
          <a:lstStyle/>
          <a:p>
            <a:r>
              <a:rPr lang="en-US" b="1" dirty="0"/>
              <a:t>Constraint 4</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72380" y="2862844"/>
            <a:ext cx="8147167" cy="2899461"/>
          </a:xfrm>
        </p:spPr>
        <p:txBody>
          <a:bodyPr>
            <a:normAutofit/>
          </a:bodyPr>
          <a:lstStyle/>
          <a:p>
            <a:pPr marL="0" indent="0">
              <a:buNone/>
            </a:pPr>
            <a:r>
              <a:rPr lang="en-US" sz="2000" b="1" dirty="0"/>
              <a:t>Students must take at least </a:t>
            </a:r>
          </a:p>
          <a:p>
            <a:pPr marL="0" indent="0">
              <a:buNone/>
            </a:pPr>
            <a:r>
              <a:rPr lang="en-US" sz="2000" b="1" dirty="0"/>
              <a:t>90 credits of CS modules each year</a:t>
            </a:r>
          </a:p>
          <a:p>
            <a:pPr marL="0" indent="0">
              <a:buNone/>
            </a:pPr>
            <a:endParaRPr lang="en-US" sz="2000" b="1" dirty="0"/>
          </a:p>
          <a:p>
            <a:pPr marL="0" indent="0">
              <a:buNone/>
            </a:pPr>
            <a:r>
              <a:rPr lang="en-US" sz="2000" b="1" dirty="0">
                <a:solidFill>
                  <a:srgbClr val="0070C0"/>
                </a:solidFill>
              </a:rPr>
              <a:t>context Student inv: </a:t>
            </a:r>
          </a:p>
          <a:p>
            <a:pPr marL="0" indent="0">
              <a:buNone/>
            </a:pPr>
            <a:r>
              <a:rPr lang="en-US" sz="2000" b="1" dirty="0">
                <a:solidFill>
                  <a:srgbClr val="0070C0"/>
                </a:solidFill>
              </a:rPr>
              <a:t>takes-&gt;select(</a:t>
            </a:r>
            <a:r>
              <a:rPr lang="en-US" sz="2000" b="1" dirty="0" err="1">
                <a:solidFill>
                  <a:srgbClr val="0070C0"/>
                </a:solidFill>
              </a:rPr>
              <a:t>code.substring</a:t>
            </a:r>
            <a:r>
              <a:rPr lang="en-US" sz="2000" b="1" dirty="0">
                <a:solidFill>
                  <a:srgbClr val="0070C0"/>
                </a:solidFill>
              </a:rPr>
              <a:t>(1,2) = </a:t>
            </a:r>
          </a:p>
          <a:p>
            <a:pPr marL="0" indent="0">
              <a:buNone/>
            </a:pPr>
            <a:r>
              <a:rPr lang="en-US" sz="2000" b="1" dirty="0">
                <a:solidFill>
                  <a:srgbClr val="0070C0"/>
                </a:solidFill>
              </a:rPr>
              <a:t>		‘CS’).credit-&gt;sum() &gt;= 90</a:t>
            </a:r>
          </a:p>
          <a:p>
            <a:pPr marL="0" indent="0">
              <a:buNone/>
            </a:pPr>
            <a:endParaRPr lang="en-US" sz="2000" b="1" dirty="0"/>
          </a:p>
          <a:p>
            <a:endParaRPr lang="en-US" sz="2000" dirty="0"/>
          </a:p>
        </p:txBody>
      </p:sp>
      <p:grpSp>
        <p:nvGrpSpPr>
          <p:cNvPr id="4" name="Group 3">
            <a:extLst>
              <a:ext uri="{FF2B5EF4-FFF2-40B4-BE49-F238E27FC236}">
                <a16:creationId xmlns:a16="http://schemas.microsoft.com/office/drawing/2014/main" id="{0CB21B58-C534-4752-A80A-4C16FAB1F5CE}"/>
              </a:ext>
            </a:extLst>
          </p:cNvPr>
          <p:cNvGrpSpPr/>
          <p:nvPr/>
        </p:nvGrpSpPr>
        <p:grpSpPr>
          <a:xfrm>
            <a:off x="4894687" y="1088242"/>
            <a:ext cx="6781680" cy="4647960"/>
            <a:chOff x="1219320" y="1729080"/>
            <a:chExt cx="6781680" cy="4647960"/>
          </a:xfrm>
        </p:grpSpPr>
        <p:sp>
          <p:nvSpPr>
            <p:cNvPr id="5" name="CustomShape 1">
              <a:extLst>
                <a:ext uri="{FF2B5EF4-FFF2-40B4-BE49-F238E27FC236}">
                  <a16:creationId xmlns:a16="http://schemas.microsoft.com/office/drawing/2014/main" id="{7040A6DC-5933-4EFD-9482-866D75523F30}"/>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7D0E07B9-9558-4CE3-B0CE-98A43E821E21}"/>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66E1B3CD-48A2-4953-A198-9DDC960FDC93}"/>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761D23BE-E26B-4442-BD99-7A98CCD9468D}"/>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F09EDB71-9A53-4D88-BEF6-9BEB0546557F}"/>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8E35C549-F771-4F39-A19F-EB40F588E7C1}"/>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65FFE6F2-4B8D-478B-ABF1-87788B93DC8D}"/>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93C38062-F6D7-4A62-AFB2-3F5DE0EB2A31}"/>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94A4E553-F396-4D70-AE25-7DFCE4089E80}"/>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21C59A9B-C4E4-4680-8E42-A567A0AE0FD4}"/>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7132F555-A2DA-47E9-84DD-4B37B42F0987}"/>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E546A53E-4EF9-4E6D-B420-342694F48851}"/>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A48E64BB-CD7C-4551-9655-81E96B0F3C95}"/>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B6D6F8D9-7402-48F4-930C-BD33CEB9EAEF}"/>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A863FED4-1EFB-4E62-9CDE-0BAB5B3B06BA}"/>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2DB3BB84-1818-4C31-8C92-5127532EBDFA}"/>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602B33B4-431E-4CB1-B414-C94D49A3B7DF}"/>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2EE1385C-6D96-4AD5-A495-9217803986CE}"/>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6F1638CA-1D50-450F-BE4B-F8636529F99E}"/>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14517FDD-CEFD-4FBD-BE53-6257AB5587F2}"/>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8850AF70-7373-421C-BA10-473C687ADBBE}"/>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A90015B9-9352-4E21-90F7-518D0898EC9C}"/>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1C3755F0-2578-4F79-B708-21A2CCBBC931}"/>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dirty="0">
                  <a:solidFill>
                    <a:srgbClr val="000000"/>
                  </a:solidFill>
                  <a:latin typeface="Times New Roman"/>
                  <a:ea typeface="DejaVu Sans"/>
                </a:rPr>
                <a:t>0..*</a:t>
              </a:r>
              <a:endParaRPr lang="en-US" spc="-1" dirty="0">
                <a:solidFill>
                  <a:prstClr val="black"/>
                </a:solidFill>
                <a:latin typeface="Arial"/>
              </a:endParaRPr>
            </a:p>
          </p:txBody>
        </p:sp>
        <p:sp>
          <p:nvSpPr>
            <p:cNvPr id="28" name="CustomShape 24">
              <a:extLst>
                <a:ext uri="{FF2B5EF4-FFF2-40B4-BE49-F238E27FC236}">
                  <a16:creationId xmlns:a16="http://schemas.microsoft.com/office/drawing/2014/main" id="{DEC397F4-2475-4E79-8D29-8CB7A1F99FE6}"/>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79AA5452-DBBE-4666-84DA-02A0191AF6B2}"/>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4E80D742-91C2-4CC4-B66E-959BA0D38DF6}"/>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2EB49DB2-6A73-4A06-88EE-BFBEC19D0052}"/>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35041159-6611-48E3-AD36-8EEDB7EAF11A}"/>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86A30C26-3A09-4F31-A73A-A97AB4F7F9B9}"/>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0A4E545B-0D74-4A83-86E1-EC2366029B7C}"/>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2E9E9DC2-A57B-4F4C-8680-651F9AB97124}"/>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B31B808E-1876-4C50-817D-239B3FBF3483}"/>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617D2356-3A2F-45CE-B8A2-C2A71C6A9E53}"/>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14A31D05-4A0E-4EA0-8B76-98C86DC28E3D}"/>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1B6D4CE3-340A-4F56-ACC3-EE094D5C3760}"/>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E049F363-C2AD-4AE8-963A-9A48BCA7421D}"/>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2F59A2ED-FEED-40BC-9547-45A2FED18C7C}"/>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6E18C268-57A7-4F9E-A45B-577E166D3CF2}"/>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1A998BA6-FD68-482D-86B7-5A851FEFB2A1}"/>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5358503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66800" y="1574242"/>
            <a:ext cx="10058400" cy="1371600"/>
          </a:xfrm>
        </p:spPr>
        <p:txBody>
          <a:bodyPr/>
          <a:lstStyle/>
          <a:p>
            <a:r>
              <a:rPr lang="en-US" b="1" dirty="0"/>
              <a:t>Constraint 5</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66800" y="2993362"/>
            <a:ext cx="5424127" cy="2959382"/>
          </a:xfrm>
        </p:spPr>
        <p:txBody>
          <a:bodyPr>
            <a:normAutofit/>
          </a:bodyPr>
          <a:lstStyle/>
          <a:p>
            <a:pPr marL="0" indent="0">
              <a:buNone/>
            </a:pPr>
            <a:r>
              <a:rPr lang="en-US" sz="2000" b="1" dirty="0"/>
              <a:t>All modules must have at least one assessment worth over 50%</a:t>
            </a:r>
          </a:p>
          <a:p>
            <a:pPr marL="0" indent="0">
              <a:buNone/>
            </a:pPr>
            <a:endParaRPr lang="en-US" sz="2000" b="1" dirty="0"/>
          </a:p>
          <a:p>
            <a:pPr marL="0" indent="0">
              <a:buNone/>
            </a:pPr>
            <a:r>
              <a:rPr lang="en-US" sz="2000" b="1" dirty="0">
                <a:solidFill>
                  <a:srgbClr val="0070C0"/>
                </a:solidFill>
              </a:rPr>
              <a:t>context Module</a:t>
            </a:r>
          </a:p>
          <a:p>
            <a:pPr marL="0" indent="0">
              <a:buNone/>
            </a:pPr>
            <a:r>
              <a:rPr lang="en-US" sz="2000" b="1" dirty="0">
                <a:solidFill>
                  <a:srgbClr val="0070C0"/>
                </a:solidFill>
              </a:rPr>
              <a:t>	inv: </a:t>
            </a:r>
            <a:r>
              <a:rPr lang="en-US" sz="2000" b="1" dirty="0" err="1">
                <a:solidFill>
                  <a:srgbClr val="0070C0"/>
                </a:solidFill>
              </a:rPr>
              <a:t>set_work</a:t>
            </a:r>
            <a:r>
              <a:rPr lang="en-US" sz="2000" b="1" dirty="0">
                <a:solidFill>
                  <a:srgbClr val="0070C0"/>
                </a:solidFill>
              </a:rPr>
              <a:t>-&gt;exists(weight &gt; 50)</a:t>
            </a:r>
          </a:p>
          <a:p>
            <a:endParaRPr lang="en-US" sz="2000" dirty="0"/>
          </a:p>
        </p:txBody>
      </p:sp>
      <p:grpSp>
        <p:nvGrpSpPr>
          <p:cNvPr id="4" name="Group 3">
            <a:extLst>
              <a:ext uri="{FF2B5EF4-FFF2-40B4-BE49-F238E27FC236}">
                <a16:creationId xmlns:a16="http://schemas.microsoft.com/office/drawing/2014/main" id="{31EF40CD-46E8-4D5A-A88D-192397EC7106}"/>
              </a:ext>
            </a:extLst>
          </p:cNvPr>
          <p:cNvGrpSpPr/>
          <p:nvPr/>
        </p:nvGrpSpPr>
        <p:grpSpPr>
          <a:xfrm>
            <a:off x="4894687" y="1088242"/>
            <a:ext cx="6781680" cy="4647960"/>
            <a:chOff x="1219320" y="1729080"/>
            <a:chExt cx="6781680" cy="4647960"/>
          </a:xfrm>
        </p:grpSpPr>
        <p:sp>
          <p:nvSpPr>
            <p:cNvPr id="5" name="CustomShape 1">
              <a:extLst>
                <a:ext uri="{FF2B5EF4-FFF2-40B4-BE49-F238E27FC236}">
                  <a16:creationId xmlns:a16="http://schemas.microsoft.com/office/drawing/2014/main" id="{31FCFA53-6C42-48C8-8A32-DF25644D0CBB}"/>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29487976-D1C1-41F5-BDC4-BAF76410481C}"/>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3DC69B95-8AA9-4E1F-A2FA-E5201654978B}"/>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C8DECD3F-CD2D-4D98-BC90-2E60499183DC}"/>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BBD8AFBE-CFB9-481E-9DAF-AF6C651752A3}"/>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FBB0006E-34B8-44E7-BE10-C4354982BD36}"/>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D853202D-EC8A-4D2F-8743-4F6A191E79B0}"/>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98A4F798-19AD-4203-BB6F-B5120A95965C}"/>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B6AB656E-13A5-499A-AA03-1DFCAA25A6A0}"/>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BE9B07C3-388F-4D80-B69F-7633B69F8939}"/>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FBB265C8-7B14-4852-8533-9EF83CB2B513}"/>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16226057-E0A7-4728-A736-0C12DA663B02}"/>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A7C1E2E3-B99C-4837-A6B7-4E2A0CDE23C2}"/>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C16A78FE-CBE0-42C1-A637-C7D1AF4D2156}"/>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7262C8FC-A674-41E4-A35A-05259FACD05A}"/>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974B10F7-9599-410C-9189-E413DD9B7968}"/>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F9BAC141-2803-4274-8B4F-B2D12A39647A}"/>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96BB0F94-01B7-4F45-B902-CDFDB28CCD8D}"/>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C7C58949-7C0A-454D-8221-A7A7DF0A3582}"/>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C51B0E96-9C74-4EB6-AC92-BB7F1544F3DE}"/>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634D47F1-12A3-427D-8948-16FC84570814}"/>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609993D2-FC40-4906-954F-7DD4DEE689CA}"/>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556C314E-675B-4F23-9288-C290F6C48B36}"/>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dirty="0">
                  <a:solidFill>
                    <a:srgbClr val="000000"/>
                  </a:solidFill>
                  <a:latin typeface="Times New Roman"/>
                  <a:ea typeface="DejaVu Sans"/>
                </a:rPr>
                <a:t>0..*</a:t>
              </a:r>
              <a:endParaRPr lang="en-US" spc="-1" dirty="0">
                <a:solidFill>
                  <a:prstClr val="black"/>
                </a:solidFill>
                <a:latin typeface="Arial"/>
              </a:endParaRPr>
            </a:p>
          </p:txBody>
        </p:sp>
        <p:sp>
          <p:nvSpPr>
            <p:cNvPr id="28" name="CustomShape 24">
              <a:extLst>
                <a:ext uri="{FF2B5EF4-FFF2-40B4-BE49-F238E27FC236}">
                  <a16:creationId xmlns:a16="http://schemas.microsoft.com/office/drawing/2014/main" id="{3FD496F7-4BC0-4C85-A315-463D471E3D60}"/>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AF22CEBD-B5FA-4550-BAD6-317A2951E3F9}"/>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E07B08C9-2CDE-4D84-BEE9-166A9A2A1EB1}"/>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D8D9D2FA-7780-472A-81AB-FE15EFC6B24C}"/>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CA0DEC2B-3D45-455D-A6AD-AE22240EEED5}"/>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05554D52-D00A-47C3-848A-9320C8469C10}"/>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EE168C54-7A7C-459B-95E5-90D0BFCF7F0C}"/>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439D35A6-DA8A-4905-8CD9-1D3D908599A7}"/>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41BCDB6C-8228-43A8-8479-E44713699BD6}"/>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DB20DF32-F642-4CC8-A941-CE081EA25593}"/>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733480E5-FC67-4C7D-B1EA-1125D7F9B96E}"/>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797673C8-CAB0-424F-A4DB-73D57D51EBC0}"/>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1D4D62E7-28C9-4A78-8B44-00662A0BD534}"/>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5503B95D-D886-433E-81D1-B7E3D117AEC0}"/>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0E53AFFA-48C8-4AD8-B8D8-12008AAC92C3}"/>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716E7DFD-E050-4441-AAFC-DF08B9793238}"/>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5469887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FF70-7B37-4867-99EA-9EE91D585F8E}"/>
              </a:ext>
            </a:extLst>
          </p:cNvPr>
          <p:cNvSpPr>
            <a:spLocks noGrp="1"/>
          </p:cNvSpPr>
          <p:nvPr>
            <p:ph type="title"/>
          </p:nvPr>
        </p:nvSpPr>
        <p:spPr>
          <a:xfrm>
            <a:off x="1066800" y="1556623"/>
            <a:ext cx="10058400" cy="1371600"/>
          </a:xfrm>
        </p:spPr>
        <p:txBody>
          <a:bodyPr/>
          <a:lstStyle/>
          <a:p>
            <a:r>
              <a:rPr lang="en-US" b="1" dirty="0"/>
              <a:t>Constraint 6</a:t>
            </a:r>
          </a:p>
        </p:txBody>
      </p:sp>
      <p:sp>
        <p:nvSpPr>
          <p:cNvPr id="3" name="Content Placeholder 2">
            <a:extLst>
              <a:ext uri="{FF2B5EF4-FFF2-40B4-BE49-F238E27FC236}">
                <a16:creationId xmlns:a16="http://schemas.microsoft.com/office/drawing/2014/main" id="{E752C26E-437B-44F3-B666-329904C90C11}"/>
              </a:ext>
            </a:extLst>
          </p:cNvPr>
          <p:cNvSpPr>
            <a:spLocks noGrp="1"/>
          </p:cNvSpPr>
          <p:nvPr>
            <p:ph idx="1"/>
          </p:nvPr>
        </p:nvSpPr>
        <p:spPr>
          <a:xfrm>
            <a:off x="1066800" y="2993362"/>
            <a:ext cx="5673974" cy="2959382"/>
          </a:xfrm>
        </p:spPr>
        <p:txBody>
          <a:bodyPr>
            <a:normAutofit/>
          </a:bodyPr>
          <a:lstStyle/>
          <a:p>
            <a:pPr marL="0" indent="0">
              <a:buNone/>
            </a:pPr>
            <a:r>
              <a:rPr lang="en-US" sz="2000" b="1" dirty="0"/>
              <a:t>Students can only have assessments for modules which they are taking</a:t>
            </a:r>
          </a:p>
          <a:p>
            <a:pPr marL="0" indent="0">
              <a:buNone/>
            </a:pPr>
            <a:endParaRPr lang="en-US" sz="2000" b="1" dirty="0"/>
          </a:p>
          <a:p>
            <a:pPr marL="0" indent="0">
              <a:buNone/>
            </a:pPr>
            <a:r>
              <a:rPr lang="en-US" sz="2000" b="1" dirty="0">
                <a:solidFill>
                  <a:srgbClr val="0070C0"/>
                </a:solidFill>
              </a:rPr>
              <a:t>context Student</a:t>
            </a:r>
          </a:p>
          <a:p>
            <a:pPr marL="0" indent="0">
              <a:buNone/>
            </a:pPr>
            <a:r>
              <a:rPr lang="en-US" sz="2000" b="1" dirty="0">
                <a:solidFill>
                  <a:srgbClr val="0070C0"/>
                </a:solidFill>
              </a:rPr>
              <a:t>inv: takes-&gt;</a:t>
            </a:r>
            <a:r>
              <a:rPr lang="en-US" sz="2000" b="1" dirty="0" err="1">
                <a:solidFill>
                  <a:srgbClr val="0070C0"/>
                </a:solidFill>
              </a:rPr>
              <a:t>includesAll</a:t>
            </a:r>
            <a:r>
              <a:rPr lang="en-US" sz="2000" b="1" dirty="0">
                <a:solidFill>
                  <a:srgbClr val="0070C0"/>
                </a:solidFill>
              </a:rPr>
              <a:t>(</a:t>
            </a:r>
            <a:r>
              <a:rPr lang="en-US" sz="2000" b="1" dirty="0" err="1">
                <a:solidFill>
                  <a:srgbClr val="0070C0"/>
                </a:solidFill>
              </a:rPr>
              <a:t>submits.for_module</a:t>
            </a:r>
            <a:r>
              <a:rPr lang="en-US" sz="2000" b="1" dirty="0">
                <a:solidFill>
                  <a:srgbClr val="0070C0"/>
                </a:solidFill>
              </a:rPr>
              <a:t>)</a:t>
            </a:r>
          </a:p>
          <a:p>
            <a:pPr marL="0" indent="0">
              <a:buNone/>
            </a:pPr>
            <a:endParaRPr lang="en-US" sz="2000" b="1" dirty="0">
              <a:solidFill>
                <a:srgbClr val="0070C0"/>
              </a:solidFill>
            </a:endParaRPr>
          </a:p>
          <a:p>
            <a:pPr marL="0" indent="0">
              <a:buNone/>
            </a:pPr>
            <a:endParaRPr lang="en-US" sz="2000" b="1" dirty="0"/>
          </a:p>
          <a:p>
            <a:endParaRPr lang="en-US" sz="2000" dirty="0"/>
          </a:p>
        </p:txBody>
      </p:sp>
      <p:grpSp>
        <p:nvGrpSpPr>
          <p:cNvPr id="4" name="Group 3">
            <a:extLst>
              <a:ext uri="{FF2B5EF4-FFF2-40B4-BE49-F238E27FC236}">
                <a16:creationId xmlns:a16="http://schemas.microsoft.com/office/drawing/2014/main" id="{93220B6D-610D-408E-B8BD-01C21F28DC42}"/>
              </a:ext>
            </a:extLst>
          </p:cNvPr>
          <p:cNvGrpSpPr/>
          <p:nvPr/>
        </p:nvGrpSpPr>
        <p:grpSpPr>
          <a:xfrm>
            <a:off x="4894687" y="1088242"/>
            <a:ext cx="6781680" cy="4647960"/>
            <a:chOff x="1219320" y="1729080"/>
            <a:chExt cx="6781680" cy="4647960"/>
          </a:xfrm>
        </p:grpSpPr>
        <p:sp>
          <p:nvSpPr>
            <p:cNvPr id="5" name="CustomShape 1">
              <a:extLst>
                <a:ext uri="{FF2B5EF4-FFF2-40B4-BE49-F238E27FC236}">
                  <a16:creationId xmlns:a16="http://schemas.microsoft.com/office/drawing/2014/main" id="{1DD2E15B-CB0A-4A4B-9306-C9D032F5C253}"/>
                </a:ext>
              </a:extLst>
            </p:cNvPr>
            <p:cNvSpPr/>
            <p:nvPr/>
          </p:nvSpPr>
          <p:spPr>
            <a:xfrm>
              <a:off x="4033440" y="2148480"/>
              <a:ext cx="65124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takes</a:t>
              </a:r>
              <a:endParaRPr lang="en-US" spc="-1">
                <a:solidFill>
                  <a:prstClr val="black"/>
                </a:solidFill>
                <a:latin typeface="Arial"/>
              </a:endParaRPr>
            </a:p>
          </p:txBody>
        </p:sp>
        <p:sp>
          <p:nvSpPr>
            <p:cNvPr id="6" name="CustomShape 2">
              <a:extLst>
                <a:ext uri="{FF2B5EF4-FFF2-40B4-BE49-F238E27FC236}">
                  <a16:creationId xmlns:a16="http://schemas.microsoft.com/office/drawing/2014/main" id="{85808B7E-4500-4AF8-8E7B-E57BCF885AC3}"/>
                </a:ext>
              </a:extLst>
            </p:cNvPr>
            <p:cNvSpPr/>
            <p:nvPr/>
          </p:nvSpPr>
          <p:spPr>
            <a:xfrm>
              <a:off x="2972520" y="2148480"/>
              <a:ext cx="10080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taken_by</a:t>
              </a:r>
              <a:endParaRPr lang="en-US" spc="-1">
                <a:solidFill>
                  <a:prstClr val="black"/>
                </a:solidFill>
                <a:latin typeface="Arial"/>
              </a:endParaRPr>
            </a:p>
          </p:txBody>
        </p:sp>
        <p:sp>
          <p:nvSpPr>
            <p:cNvPr id="7" name="CustomShape 3">
              <a:extLst>
                <a:ext uri="{FF2B5EF4-FFF2-40B4-BE49-F238E27FC236}">
                  <a16:creationId xmlns:a16="http://schemas.microsoft.com/office/drawing/2014/main" id="{C8D8BF96-4629-43D0-AFC8-1E554B39CAF5}"/>
                </a:ext>
              </a:extLst>
            </p:cNvPr>
            <p:cNvSpPr/>
            <p:nvPr/>
          </p:nvSpPr>
          <p:spPr>
            <a:xfrm>
              <a:off x="1219320" y="172908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8" name="CustomShape 4">
              <a:extLst>
                <a:ext uri="{FF2B5EF4-FFF2-40B4-BE49-F238E27FC236}">
                  <a16:creationId xmlns:a16="http://schemas.microsoft.com/office/drawing/2014/main" id="{61095209-B9EE-4A6F-8A18-1736D29D9A4D}"/>
                </a:ext>
              </a:extLst>
            </p:cNvPr>
            <p:cNvSpPr/>
            <p:nvPr/>
          </p:nvSpPr>
          <p:spPr>
            <a:xfrm>
              <a:off x="1524240" y="1729080"/>
              <a:ext cx="11131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Student</a:t>
              </a:r>
              <a:endParaRPr lang="en-US" sz="2400" spc="-1">
                <a:solidFill>
                  <a:prstClr val="black"/>
                </a:solidFill>
                <a:latin typeface="Arial"/>
              </a:endParaRPr>
            </a:p>
          </p:txBody>
        </p:sp>
        <p:sp>
          <p:nvSpPr>
            <p:cNvPr id="9" name="CustomShape 5">
              <a:extLst>
                <a:ext uri="{FF2B5EF4-FFF2-40B4-BE49-F238E27FC236}">
                  <a16:creationId xmlns:a16="http://schemas.microsoft.com/office/drawing/2014/main" id="{16165020-32B8-4FC4-8BF7-72A0361BF9BC}"/>
                </a:ext>
              </a:extLst>
            </p:cNvPr>
            <p:cNvSpPr/>
            <p:nvPr/>
          </p:nvSpPr>
          <p:spPr>
            <a:xfrm>
              <a:off x="4648320" y="1729080"/>
              <a:ext cx="1828440" cy="121896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0" name="CustomShape 6">
              <a:extLst>
                <a:ext uri="{FF2B5EF4-FFF2-40B4-BE49-F238E27FC236}">
                  <a16:creationId xmlns:a16="http://schemas.microsoft.com/office/drawing/2014/main" id="{11F50305-2818-4E78-9911-95F350699705}"/>
                </a:ext>
              </a:extLst>
            </p:cNvPr>
            <p:cNvSpPr/>
            <p:nvPr/>
          </p:nvSpPr>
          <p:spPr>
            <a:xfrm>
              <a:off x="4953600" y="1729080"/>
              <a:ext cx="11296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Module</a:t>
              </a:r>
              <a:endParaRPr lang="en-US" sz="2400" spc="-1">
                <a:solidFill>
                  <a:prstClr val="black"/>
                </a:solidFill>
                <a:latin typeface="Arial"/>
              </a:endParaRPr>
            </a:p>
          </p:txBody>
        </p:sp>
        <p:sp>
          <p:nvSpPr>
            <p:cNvPr id="11" name="CustomShape 7">
              <a:extLst>
                <a:ext uri="{FF2B5EF4-FFF2-40B4-BE49-F238E27FC236}">
                  <a16:creationId xmlns:a16="http://schemas.microsoft.com/office/drawing/2014/main" id="{B8CC3C9F-DB56-4DFA-9BF6-0E35EF25B2CF}"/>
                </a:ext>
              </a:extLst>
            </p:cNvPr>
            <p:cNvSpPr/>
            <p:nvPr/>
          </p:nvSpPr>
          <p:spPr>
            <a:xfrm>
              <a:off x="4648320" y="36342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2" name="CustomShape 8">
              <a:extLst>
                <a:ext uri="{FF2B5EF4-FFF2-40B4-BE49-F238E27FC236}">
                  <a16:creationId xmlns:a16="http://schemas.microsoft.com/office/drawing/2014/main" id="{AA23B811-41DF-41ED-9E50-1810964D4D16}"/>
                </a:ext>
              </a:extLst>
            </p:cNvPr>
            <p:cNvSpPr/>
            <p:nvPr/>
          </p:nvSpPr>
          <p:spPr>
            <a:xfrm>
              <a:off x="4725360" y="3634200"/>
              <a:ext cx="157032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i="1" spc="-1">
                  <a:solidFill>
                    <a:srgbClr val="000000"/>
                  </a:solidFill>
                  <a:latin typeface="Times New Roman"/>
                  <a:ea typeface="DejaVu Sans"/>
                </a:rPr>
                <a:t>Assessment</a:t>
              </a:r>
              <a:endParaRPr lang="en-US" sz="2400" spc="-1">
                <a:solidFill>
                  <a:prstClr val="black"/>
                </a:solidFill>
                <a:latin typeface="Arial"/>
              </a:endParaRPr>
            </a:p>
          </p:txBody>
        </p:sp>
        <p:sp>
          <p:nvSpPr>
            <p:cNvPr id="13" name="CustomShape 9">
              <a:extLst>
                <a:ext uri="{FF2B5EF4-FFF2-40B4-BE49-F238E27FC236}">
                  <a16:creationId xmlns:a16="http://schemas.microsoft.com/office/drawing/2014/main" id="{AFD87916-48F8-4017-9710-F361A1BE7BEB}"/>
                </a:ext>
              </a:extLst>
            </p:cNvPr>
            <p:cNvSpPr/>
            <p:nvPr/>
          </p:nvSpPr>
          <p:spPr>
            <a:xfrm>
              <a:off x="312408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4" name="CustomShape 10">
              <a:extLst>
                <a:ext uri="{FF2B5EF4-FFF2-40B4-BE49-F238E27FC236}">
                  <a16:creationId xmlns:a16="http://schemas.microsoft.com/office/drawing/2014/main" id="{558E77C0-A1DC-4215-8120-A30AA260BB2E}"/>
                </a:ext>
              </a:extLst>
            </p:cNvPr>
            <p:cNvSpPr/>
            <p:nvPr/>
          </p:nvSpPr>
          <p:spPr>
            <a:xfrm>
              <a:off x="3602520" y="5463000"/>
              <a:ext cx="89208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Exam</a:t>
              </a:r>
              <a:endParaRPr lang="en-US" sz="2400" spc="-1">
                <a:solidFill>
                  <a:prstClr val="black"/>
                </a:solidFill>
                <a:latin typeface="Arial"/>
              </a:endParaRPr>
            </a:p>
          </p:txBody>
        </p:sp>
        <p:sp>
          <p:nvSpPr>
            <p:cNvPr id="15" name="CustomShape 11">
              <a:extLst>
                <a:ext uri="{FF2B5EF4-FFF2-40B4-BE49-F238E27FC236}">
                  <a16:creationId xmlns:a16="http://schemas.microsoft.com/office/drawing/2014/main" id="{1C88C8BA-E526-4F62-969A-632D8D10B4A2}"/>
                </a:ext>
              </a:extLst>
            </p:cNvPr>
            <p:cNvSpPr/>
            <p:nvPr/>
          </p:nvSpPr>
          <p:spPr>
            <a:xfrm>
              <a:off x="6172200" y="5463000"/>
              <a:ext cx="1828440" cy="914040"/>
            </a:xfrm>
            <a:prstGeom prst="rect">
              <a:avLst/>
            </a:prstGeom>
            <a:noFill/>
            <a:ln w="38160">
              <a:solidFill>
                <a:srgbClr val="0000FF"/>
              </a:solidFill>
              <a:miter/>
            </a:ln>
          </p:spPr>
          <p:style>
            <a:lnRef idx="0">
              <a:scrgbClr r="0" g="0" b="0"/>
            </a:lnRef>
            <a:fillRef idx="0">
              <a:scrgbClr r="0" g="0" b="0"/>
            </a:fillRef>
            <a:effectRef idx="0">
              <a:scrgbClr r="0" g="0" b="0"/>
            </a:effectRef>
            <a:fontRef idx="minor"/>
          </p:style>
        </p:sp>
        <p:sp>
          <p:nvSpPr>
            <p:cNvPr id="16" name="CustomShape 12">
              <a:extLst>
                <a:ext uri="{FF2B5EF4-FFF2-40B4-BE49-F238E27FC236}">
                  <a16:creationId xmlns:a16="http://schemas.microsoft.com/office/drawing/2014/main" id="{930207B9-6341-4953-9ACF-D9F50CE8C8EE}"/>
                </a:ext>
              </a:extLst>
            </p:cNvPr>
            <p:cNvSpPr/>
            <p:nvPr/>
          </p:nvSpPr>
          <p:spPr>
            <a:xfrm>
              <a:off x="6250320" y="5463000"/>
              <a:ext cx="1670760" cy="4593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400" spc="-1">
                  <a:solidFill>
                    <a:srgbClr val="000000"/>
                  </a:solidFill>
                  <a:latin typeface="Times New Roman"/>
                  <a:ea typeface="DejaVu Sans"/>
                </a:rPr>
                <a:t>Coursework</a:t>
              </a:r>
              <a:endParaRPr lang="en-US" sz="2400" spc="-1">
                <a:solidFill>
                  <a:prstClr val="black"/>
                </a:solidFill>
                <a:latin typeface="Arial"/>
              </a:endParaRPr>
            </a:p>
          </p:txBody>
        </p:sp>
        <p:sp>
          <p:nvSpPr>
            <p:cNvPr id="17" name="CustomShape 13">
              <a:extLst>
                <a:ext uri="{FF2B5EF4-FFF2-40B4-BE49-F238E27FC236}">
                  <a16:creationId xmlns:a16="http://schemas.microsoft.com/office/drawing/2014/main" id="{98FCBEAD-CB7D-4267-8F10-DB283CF505D1}"/>
                </a:ext>
              </a:extLst>
            </p:cNvPr>
            <p:cNvSpPr/>
            <p:nvPr/>
          </p:nvSpPr>
          <p:spPr>
            <a:xfrm>
              <a:off x="5380200" y="4548600"/>
              <a:ext cx="380520" cy="304560"/>
            </a:xfrm>
            <a:prstGeom prst="flowChartExtract">
              <a:avLst/>
            </a:prstGeom>
            <a:noFill/>
            <a:ln w="28440">
              <a:solidFill>
                <a:srgbClr val="000000"/>
              </a:solidFill>
              <a:miter/>
            </a:ln>
          </p:spPr>
          <p:style>
            <a:lnRef idx="0">
              <a:scrgbClr r="0" g="0" b="0"/>
            </a:lnRef>
            <a:fillRef idx="0">
              <a:scrgbClr r="0" g="0" b="0"/>
            </a:fillRef>
            <a:effectRef idx="0">
              <a:scrgbClr r="0" g="0" b="0"/>
            </a:effectRef>
            <a:fontRef idx="minor"/>
          </p:style>
        </p:sp>
        <p:sp>
          <p:nvSpPr>
            <p:cNvPr id="18" name="Line 14">
              <a:extLst>
                <a:ext uri="{FF2B5EF4-FFF2-40B4-BE49-F238E27FC236}">
                  <a16:creationId xmlns:a16="http://schemas.microsoft.com/office/drawing/2014/main" id="{896B4709-461D-43B3-83C2-7333CB21C9F5}"/>
                </a:ext>
              </a:extLst>
            </p:cNvPr>
            <p:cNvSpPr/>
            <p:nvPr/>
          </p:nvSpPr>
          <p:spPr>
            <a:xfrm>
              <a:off x="5562720" y="4853520"/>
              <a:ext cx="360" cy="22860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19" name="Line 15">
              <a:extLst>
                <a:ext uri="{FF2B5EF4-FFF2-40B4-BE49-F238E27FC236}">
                  <a16:creationId xmlns:a16="http://schemas.microsoft.com/office/drawing/2014/main" id="{4B734A9E-D998-4F9C-96B8-EBF34EA1001E}"/>
                </a:ext>
              </a:extLst>
            </p:cNvPr>
            <p:cNvSpPr/>
            <p:nvPr/>
          </p:nvSpPr>
          <p:spPr>
            <a:xfrm>
              <a:off x="4038480" y="5082120"/>
              <a:ext cx="3124440" cy="36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0" name="Line 16">
              <a:extLst>
                <a:ext uri="{FF2B5EF4-FFF2-40B4-BE49-F238E27FC236}">
                  <a16:creationId xmlns:a16="http://schemas.microsoft.com/office/drawing/2014/main" id="{282FD4A6-4D36-47A7-A084-F5F79CE1C314}"/>
                </a:ext>
              </a:extLst>
            </p:cNvPr>
            <p:cNvSpPr/>
            <p:nvPr/>
          </p:nvSpPr>
          <p:spPr>
            <a:xfrm>
              <a:off x="403848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1" name="Line 17">
              <a:extLst>
                <a:ext uri="{FF2B5EF4-FFF2-40B4-BE49-F238E27FC236}">
                  <a16:creationId xmlns:a16="http://schemas.microsoft.com/office/drawing/2014/main" id="{C976076B-BA30-452B-8DE6-272868126896}"/>
                </a:ext>
              </a:extLst>
            </p:cNvPr>
            <p:cNvSpPr/>
            <p:nvPr/>
          </p:nvSpPr>
          <p:spPr>
            <a:xfrm>
              <a:off x="7162920" y="5082120"/>
              <a:ext cx="360" cy="380880"/>
            </a:xfrm>
            <a:prstGeom prst="line">
              <a:avLst/>
            </a:prstGeom>
            <a:ln w="28440">
              <a:solidFill>
                <a:srgbClr val="000000"/>
              </a:solidFill>
              <a:miter/>
            </a:ln>
          </p:spPr>
          <p:style>
            <a:lnRef idx="0">
              <a:scrgbClr r="0" g="0" b="0"/>
            </a:lnRef>
            <a:fillRef idx="0">
              <a:scrgbClr r="0" g="0" b="0"/>
            </a:fillRef>
            <a:effectRef idx="0">
              <a:scrgbClr r="0" g="0" b="0"/>
            </a:effectRef>
            <a:fontRef idx="minor"/>
          </p:style>
        </p:sp>
        <p:sp>
          <p:nvSpPr>
            <p:cNvPr id="22" name="CustomShape 18">
              <a:extLst>
                <a:ext uri="{FF2B5EF4-FFF2-40B4-BE49-F238E27FC236}">
                  <a16:creationId xmlns:a16="http://schemas.microsoft.com/office/drawing/2014/main" id="{E53440EE-C4D7-431C-89EF-166DD4657AE2}"/>
                </a:ext>
              </a:extLst>
            </p:cNvPr>
            <p:cNvSpPr/>
            <p:nvPr/>
          </p:nvSpPr>
          <p:spPr>
            <a:xfrm>
              <a:off x="304884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0..*</a:t>
              </a:r>
              <a:endParaRPr lang="en-US" spc="-1">
                <a:solidFill>
                  <a:prstClr val="black"/>
                </a:solidFill>
                <a:latin typeface="Arial"/>
              </a:endParaRPr>
            </a:p>
          </p:txBody>
        </p:sp>
        <p:sp>
          <p:nvSpPr>
            <p:cNvPr id="23" name="CustomShape 19">
              <a:extLst>
                <a:ext uri="{FF2B5EF4-FFF2-40B4-BE49-F238E27FC236}">
                  <a16:creationId xmlns:a16="http://schemas.microsoft.com/office/drawing/2014/main" id="{14B45987-D850-4266-BA41-EB768A78DE9E}"/>
                </a:ext>
              </a:extLst>
            </p:cNvPr>
            <p:cNvSpPr/>
            <p:nvPr/>
          </p:nvSpPr>
          <p:spPr>
            <a:xfrm>
              <a:off x="4122000" y="188172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4" name="CustomShape 20">
              <a:extLst>
                <a:ext uri="{FF2B5EF4-FFF2-40B4-BE49-F238E27FC236}">
                  <a16:creationId xmlns:a16="http://schemas.microsoft.com/office/drawing/2014/main" id="{6A283DBC-5156-4838-A039-B8B0F6419C52}"/>
                </a:ext>
              </a:extLst>
            </p:cNvPr>
            <p:cNvSpPr/>
            <p:nvPr/>
          </p:nvSpPr>
          <p:spPr>
            <a:xfrm>
              <a:off x="5563440" y="33292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5" name="CustomShape 21">
              <a:extLst>
                <a:ext uri="{FF2B5EF4-FFF2-40B4-BE49-F238E27FC236}">
                  <a16:creationId xmlns:a16="http://schemas.microsoft.com/office/drawing/2014/main" id="{575D2340-4C20-44DC-B093-A0D1EBF32CDE}"/>
                </a:ext>
              </a:extLst>
            </p:cNvPr>
            <p:cNvSpPr/>
            <p:nvPr/>
          </p:nvSpPr>
          <p:spPr>
            <a:xfrm>
              <a:off x="4191840" y="401508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a:solidFill>
                    <a:srgbClr val="000000"/>
                  </a:solidFill>
                  <a:latin typeface="Times New Roman"/>
                  <a:ea typeface="DejaVu Sans"/>
                </a:rPr>
                <a:t>1..*</a:t>
              </a:r>
              <a:endParaRPr lang="en-US" spc="-1">
                <a:solidFill>
                  <a:prstClr val="black"/>
                </a:solidFill>
                <a:latin typeface="Arial"/>
              </a:endParaRPr>
            </a:p>
          </p:txBody>
        </p:sp>
        <p:sp>
          <p:nvSpPr>
            <p:cNvPr id="26" name="CustomShape 22">
              <a:extLst>
                <a:ext uri="{FF2B5EF4-FFF2-40B4-BE49-F238E27FC236}">
                  <a16:creationId xmlns:a16="http://schemas.microsoft.com/office/drawing/2014/main" id="{21D438FC-87BC-47F3-8215-0A86885F7909}"/>
                </a:ext>
              </a:extLst>
            </p:cNvPr>
            <p:cNvSpPr/>
            <p:nvPr/>
          </p:nvSpPr>
          <p:spPr>
            <a:xfrm>
              <a:off x="2133720" y="2643480"/>
              <a:ext cx="2514600" cy="1447920"/>
            </a:xfrm>
            <a:custGeom>
              <a:avLst/>
              <a:gdLst/>
              <a:ahLst/>
              <a:cxnLst/>
              <a:rect l="l" t="t" r="r" b="b"/>
              <a:pathLst>
                <a:path w="21600" h="21600">
                  <a:moveTo>
                    <a:pt x="0" y="0"/>
                  </a:moveTo>
                  <a:lnTo>
                    <a:pt x="21600" y="21600"/>
                  </a:lnTo>
                </a:path>
              </a:pathLst>
            </a:custGeom>
            <a:noFill/>
            <a:ln w="12600">
              <a:solidFill>
                <a:srgbClr val="000000"/>
              </a:solidFill>
              <a:miter/>
            </a:ln>
          </p:spPr>
          <p:style>
            <a:lnRef idx="0">
              <a:scrgbClr r="0" g="0" b="0"/>
            </a:lnRef>
            <a:fillRef idx="0">
              <a:scrgbClr r="0" g="0" b="0"/>
            </a:fillRef>
            <a:effectRef idx="0">
              <a:scrgbClr r="0" g="0" b="0"/>
            </a:effectRef>
            <a:fontRef idx="minor"/>
          </p:style>
        </p:sp>
        <p:sp>
          <p:nvSpPr>
            <p:cNvPr id="27" name="CustomShape 23">
              <a:extLst>
                <a:ext uri="{FF2B5EF4-FFF2-40B4-BE49-F238E27FC236}">
                  <a16:creationId xmlns:a16="http://schemas.microsoft.com/office/drawing/2014/main" id="{2544FFEB-AF4B-4103-9702-9E69B009AEE7}"/>
                </a:ext>
              </a:extLst>
            </p:cNvPr>
            <p:cNvSpPr/>
            <p:nvPr/>
          </p:nvSpPr>
          <p:spPr>
            <a:xfrm>
              <a:off x="1683360" y="2581560"/>
              <a:ext cx="52488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b="1" spc="-1" dirty="0">
                  <a:solidFill>
                    <a:srgbClr val="000000"/>
                  </a:solidFill>
                  <a:latin typeface="Times New Roman"/>
                  <a:ea typeface="DejaVu Sans"/>
                </a:rPr>
                <a:t>0..*</a:t>
              </a:r>
              <a:endParaRPr lang="en-US" spc="-1" dirty="0">
                <a:solidFill>
                  <a:prstClr val="black"/>
                </a:solidFill>
                <a:latin typeface="Arial"/>
              </a:endParaRPr>
            </a:p>
          </p:txBody>
        </p:sp>
        <p:sp>
          <p:nvSpPr>
            <p:cNvPr id="28" name="CustomShape 24">
              <a:extLst>
                <a:ext uri="{FF2B5EF4-FFF2-40B4-BE49-F238E27FC236}">
                  <a16:creationId xmlns:a16="http://schemas.microsoft.com/office/drawing/2014/main" id="{0397BE3C-D2D9-4D71-A7C1-F16D053AC635}"/>
                </a:ext>
              </a:extLst>
            </p:cNvPr>
            <p:cNvSpPr/>
            <p:nvPr/>
          </p:nvSpPr>
          <p:spPr>
            <a:xfrm>
              <a:off x="4344840" y="2948400"/>
              <a:ext cx="12348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for_module</a:t>
              </a:r>
              <a:endParaRPr lang="en-US" spc="-1">
                <a:solidFill>
                  <a:prstClr val="black"/>
                </a:solidFill>
                <a:latin typeface="Arial"/>
              </a:endParaRPr>
            </a:p>
          </p:txBody>
        </p:sp>
        <p:sp>
          <p:nvSpPr>
            <p:cNvPr id="29" name="CustomShape 25">
              <a:extLst>
                <a:ext uri="{FF2B5EF4-FFF2-40B4-BE49-F238E27FC236}">
                  <a16:creationId xmlns:a16="http://schemas.microsoft.com/office/drawing/2014/main" id="{128E9B6B-44C0-429F-BE89-566686396D5E}"/>
                </a:ext>
              </a:extLst>
            </p:cNvPr>
            <p:cNvSpPr/>
            <p:nvPr/>
          </p:nvSpPr>
          <p:spPr>
            <a:xfrm>
              <a:off x="4573440" y="3267360"/>
              <a:ext cx="10062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set_work</a:t>
              </a:r>
              <a:endParaRPr lang="en-US" spc="-1">
                <a:solidFill>
                  <a:prstClr val="black"/>
                </a:solidFill>
                <a:latin typeface="Arial"/>
              </a:endParaRPr>
            </a:p>
          </p:txBody>
        </p:sp>
        <p:sp>
          <p:nvSpPr>
            <p:cNvPr id="30" name="CustomShape 26">
              <a:extLst>
                <a:ext uri="{FF2B5EF4-FFF2-40B4-BE49-F238E27FC236}">
                  <a16:creationId xmlns:a16="http://schemas.microsoft.com/office/drawing/2014/main" id="{720D5681-F354-4CCB-B2F9-64F7C94FBB74}"/>
                </a:ext>
              </a:extLst>
            </p:cNvPr>
            <p:cNvSpPr/>
            <p:nvPr/>
          </p:nvSpPr>
          <p:spPr>
            <a:xfrm>
              <a:off x="3507120" y="3800880"/>
              <a:ext cx="87840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submits</a:t>
              </a:r>
              <a:endParaRPr lang="en-US" spc="-1">
                <a:solidFill>
                  <a:prstClr val="black"/>
                </a:solidFill>
                <a:latin typeface="Arial"/>
              </a:endParaRPr>
            </a:p>
          </p:txBody>
        </p:sp>
        <p:sp>
          <p:nvSpPr>
            <p:cNvPr id="31" name="CustomShape 27">
              <a:extLst>
                <a:ext uri="{FF2B5EF4-FFF2-40B4-BE49-F238E27FC236}">
                  <a16:creationId xmlns:a16="http://schemas.microsoft.com/office/drawing/2014/main" id="{D2F6EF6A-E28B-4BD2-92C6-AD4EB75BFB5D}"/>
                </a:ext>
              </a:extLst>
            </p:cNvPr>
            <p:cNvSpPr/>
            <p:nvPr/>
          </p:nvSpPr>
          <p:spPr>
            <a:xfrm>
              <a:off x="2515320" y="2643480"/>
              <a:ext cx="1401120" cy="3679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i="1" spc="-1">
                  <a:solidFill>
                    <a:srgbClr val="000000"/>
                  </a:solidFill>
                  <a:latin typeface="Times New Roman"/>
                  <a:ea typeface="DejaVu Sans"/>
                </a:rPr>
                <a:t>submitted_by</a:t>
              </a:r>
              <a:endParaRPr lang="en-US" spc="-1">
                <a:solidFill>
                  <a:prstClr val="black"/>
                </a:solidFill>
                <a:latin typeface="Arial"/>
              </a:endParaRPr>
            </a:p>
          </p:txBody>
        </p:sp>
        <p:sp>
          <p:nvSpPr>
            <p:cNvPr id="32" name="Line 28">
              <a:extLst>
                <a:ext uri="{FF2B5EF4-FFF2-40B4-BE49-F238E27FC236}">
                  <a16:creationId xmlns:a16="http://schemas.microsoft.com/office/drawing/2014/main" id="{BE08ACBC-DAFE-42D2-9780-53C23E7D6DFE}"/>
                </a:ext>
              </a:extLst>
            </p:cNvPr>
            <p:cNvSpPr/>
            <p:nvPr/>
          </p:nvSpPr>
          <p:spPr>
            <a:xfrm>
              <a:off x="1219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3" name="Line 29">
              <a:extLst>
                <a:ext uri="{FF2B5EF4-FFF2-40B4-BE49-F238E27FC236}">
                  <a16:creationId xmlns:a16="http://schemas.microsoft.com/office/drawing/2014/main" id="{38615671-2D0E-4211-B8DF-19E151D594DB}"/>
                </a:ext>
              </a:extLst>
            </p:cNvPr>
            <p:cNvSpPr/>
            <p:nvPr/>
          </p:nvSpPr>
          <p:spPr>
            <a:xfrm>
              <a:off x="4648320" y="218628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4" name="CustomShape 30">
              <a:extLst>
                <a:ext uri="{FF2B5EF4-FFF2-40B4-BE49-F238E27FC236}">
                  <a16:creationId xmlns:a16="http://schemas.microsoft.com/office/drawing/2014/main" id="{E20602D2-D556-42B0-BA60-40BC00BBC412}"/>
                </a:ext>
              </a:extLst>
            </p:cNvPr>
            <p:cNvSpPr/>
            <p:nvPr/>
          </p:nvSpPr>
          <p:spPr>
            <a:xfrm>
              <a:off x="1293480" y="2200680"/>
              <a:ext cx="14893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name: String</a:t>
              </a:r>
              <a:endParaRPr lang="en-US" sz="2000" spc="-1" dirty="0">
                <a:solidFill>
                  <a:prstClr val="black"/>
                </a:solidFill>
                <a:latin typeface="Arial"/>
              </a:endParaRPr>
            </a:p>
          </p:txBody>
        </p:sp>
        <p:sp>
          <p:nvSpPr>
            <p:cNvPr id="35" name="CustomShape 31">
              <a:extLst>
                <a:ext uri="{FF2B5EF4-FFF2-40B4-BE49-F238E27FC236}">
                  <a16:creationId xmlns:a16="http://schemas.microsoft.com/office/drawing/2014/main" id="{AF20D485-65E4-4B77-991D-B338D18C2E51}"/>
                </a:ext>
              </a:extLst>
            </p:cNvPr>
            <p:cNvSpPr/>
            <p:nvPr/>
          </p:nvSpPr>
          <p:spPr>
            <a:xfrm>
              <a:off x="4759920" y="2186280"/>
              <a:ext cx="1616040" cy="7034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code: String</a:t>
              </a:r>
              <a:endParaRPr lang="en-US" sz="2000" spc="-1">
                <a:solidFill>
                  <a:prstClr val="black"/>
                </a:solidFill>
                <a:latin typeface="Arial"/>
              </a:endParaRPr>
            </a:p>
            <a:p>
              <a:r>
                <a:rPr lang="en-US" sz="2000" spc="-1">
                  <a:solidFill>
                    <a:srgbClr val="000000"/>
                  </a:solidFill>
                  <a:latin typeface="Times New Roman"/>
                  <a:ea typeface="DejaVu Sans"/>
                </a:rPr>
                <a:t>credit: Integer</a:t>
              </a:r>
              <a:endParaRPr lang="en-US" sz="2000" spc="-1">
                <a:solidFill>
                  <a:prstClr val="black"/>
                </a:solidFill>
                <a:latin typeface="Arial"/>
              </a:endParaRPr>
            </a:p>
          </p:txBody>
        </p:sp>
        <p:sp>
          <p:nvSpPr>
            <p:cNvPr id="36" name="Line 32">
              <a:extLst>
                <a:ext uri="{FF2B5EF4-FFF2-40B4-BE49-F238E27FC236}">
                  <a16:creationId xmlns:a16="http://schemas.microsoft.com/office/drawing/2014/main" id="{C378403B-2EBF-4E24-8720-DC21DD0C7F27}"/>
                </a:ext>
              </a:extLst>
            </p:cNvPr>
            <p:cNvSpPr/>
            <p:nvPr/>
          </p:nvSpPr>
          <p:spPr>
            <a:xfrm>
              <a:off x="4648320" y="40914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7" name="CustomShape 33">
              <a:extLst>
                <a:ext uri="{FF2B5EF4-FFF2-40B4-BE49-F238E27FC236}">
                  <a16:creationId xmlns:a16="http://schemas.microsoft.com/office/drawing/2014/main" id="{422CC328-310D-482B-A07C-4FC9C86FCEA3}"/>
                </a:ext>
              </a:extLst>
            </p:cNvPr>
            <p:cNvSpPr/>
            <p:nvPr/>
          </p:nvSpPr>
          <p:spPr>
            <a:xfrm>
              <a:off x="4753800" y="4091400"/>
              <a:ext cx="173016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dirty="0">
                  <a:solidFill>
                    <a:srgbClr val="000000"/>
                  </a:solidFill>
                  <a:latin typeface="Times New Roman"/>
                  <a:ea typeface="DejaVu Sans"/>
                </a:rPr>
                <a:t>weight: Integer</a:t>
              </a:r>
              <a:endParaRPr lang="en-US" sz="2000" spc="-1" dirty="0">
                <a:solidFill>
                  <a:prstClr val="black"/>
                </a:solidFill>
                <a:latin typeface="Arial"/>
              </a:endParaRPr>
            </a:p>
          </p:txBody>
        </p:sp>
        <p:sp>
          <p:nvSpPr>
            <p:cNvPr id="38" name="Line 34">
              <a:extLst>
                <a:ext uri="{FF2B5EF4-FFF2-40B4-BE49-F238E27FC236}">
                  <a16:creationId xmlns:a16="http://schemas.microsoft.com/office/drawing/2014/main" id="{1FA04087-84D7-424B-A154-D757EEDED8C2}"/>
                </a:ext>
              </a:extLst>
            </p:cNvPr>
            <p:cNvSpPr/>
            <p:nvPr/>
          </p:nvSpPr>
          <p:spPr>
            <a:xfrm>
              <a:off x="312408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39" name="Line 35">
              <a:extLst>
                <a:ext uri="{FF2B5EF4-FFF2-40B4-BE49-F238E27FC236}">
                  <a16:creationId xmlns:a16="http://schemas.microsoft.com/office/drawing/2014/main" id="{2F1DA841-B817-446A-8E17-3EA9F9CE173E}"/>
                </a:ext>
              </a:extLst>
            </p:cNvPr>
            <p:cNvSpPr/>
            <p:nvPr/>
          </p:nvSpPr>
          <p:spPr>
            <a:xfrm>
              <a:off x="6172200" y="5920200"/>
              <a:ext cx="1828800" cy="360"/>
            </a:xfrm>
            <a:prstGeom prst="line">
              <a:avLst/>
            </a:prstGeom>
            <a:ln w="38160">
              <a:solidFill>
                <a:srgbClr val="0000FF"/>
              </a:solidFill>
              <a:miter/>
            </a:ln>
          </p:spPr>
          <p:style>
            <a:lnRef idx="0">
              <a:scrgbClr r="0" g="0" b="0"/>
            </a:lnRef>
            <a:fillRef idx="0">
              <a:scrgbClr r="0" g="0" b="0"/>
            </a:fillRef>
            <a:effectRef idx="0">
              <a:scrgbClr r="0" g="0" b="0"/>
            </a:effectRef>
            <a:fontRef idx="minor"/>
          </p:style>
        </p:sp>
        <p:sp>
          <p:nvSpPr>
            <p:cNvPr id="40" name="CustomShape 36">
              <a:extLst>
                <a:ext uri="{FF2B5EF4-FFF2-40B4-BE49-F238E27FC236}">
                  <a16:creationId xmlns:a16="http://schemas.microsoft.com/office/drawing/2014/main" id="{0062A599-A1AB-410B-87C6-309CEDA50260}"/>
                </a:ext>
              </a:extLst>
            </p:cNvPr>
            <p:cNvSpPr/>
            <p:nvPr/>
          </p:nvSpPr>
          <p:spPr>
            <a:xfrm>
              <a:off x="3197160" y="5904360"/>
              <a:ext cx="160524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hours: Integer</a:t>
              </a:r>
              <a:endParaRPr lang="en-US" sz="2000" spc="-1">
                <a:solidFill>
                  <a:prstClr val="black"/>
                </a:solidFill>
                <a:latin typeface="Arial"/>
              </a:endParaRPr>
            </a:p>
          </p:txBody>
        </p:sp>
        <p:sp>
          <p:nvSpPr>
            <p:cNvPr id="41" name="CustomShape 37">
              <a:extLst>
                <a:ext uri="{FF2B5EF4-FFF2-40B4-BE49-F238E27FC236}">
                  <a16:creationId xmlns:a16="http://schemas.microsoft.com/office/drawing/2014/main" id="{5B4BF896-E61E-4673-A5E3-F63F739EA653}"/>
                </a:ext>
              </a:extLst>
            </p:cNvPr>
            <p:cNvSpPr/>
            <p:nvPr/>
          </p:nvSpPr>
          <p:spPr>
            <a:xfrm>
              <a:off x="6324840" y="5904360"/>
              <a:ext cx="1361520" cy="3985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lstStyle/>
            <a:p>
              <a:r>
                <a:rPr lang="en-US" sz="2000" spc="-1">
                  <a:solidFill>
                    <a:srgbClr val="000000"/>
                  </a:solidFill>
                  <a:latin typeface="Times New Roman"/>
                  <a:ea typeface="DejaVu Sans"/>
                </a:rPr>
                <a:t>date: String</a:t>
              </a:r>
              <a:endParaRPr lang="en-US" sz="2000" spc="-1">
                <a:solidFill>
                  <a:prstClr val="black"/>
                </a:solidFill>
                <a:latin typeface="Arial"/>
              </a:endParaRPr>
            </a:p>
          </p:txBody>
        </p:sp>
        <p:sp>
          <p:nvSpPr>
            <p:cNvPr id="42" name="Line 38">
              <a:extLst>
                <a:ext uri="{FF2B5EF4-FFF2-40B4-BE49-F238E27FC236}">
                  <a16:creationId xmlns:a16="http://schemas.microsoft.com/office/drawing/2014/main" id="{CD6357B1-B058-4160-9D95-E300AEE89DEF}"/>
                </a:ext>
              </a:extLst>
            </p:cNvPr>
            <p:cNvSpPr/>
            <p:nvPr/>
          </p:nvSpPr>
          <p:spPr>
            <a:xfrm>
              <a:off x="5562720" y="2948400"/>
              <a:ext cx="360" cy="685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43" name="Line 39">
              <a:extLst>
                <a:ext uri="{FF2B5EF4-FFF2-40B4-BE49-F238E27FC236}">
                  <a16:creationId xmlns:a16="http://schemas.microsoft.com/office/drawing/2014/main" id="{C639F378-4633-4460-9513-B1280A90A8F1}"/>
                </a:ext>
              </a:extLst>
            </p:cNvPr>
            <p:cNvSpPr/>
            <p:nvPr/>
          </p:nvSpPr>
          <p:spPr>
            <a:xfrm>
              <a:off x="3048120" y="2186280"/>
              <a:ext cx="1600200" cy="360"/>
            </a:xfrm>
            <a:prstGeom prst="line">
              <a:avLst/>
            </a:prstGeom>
            <a:ln w="12600">
              <a:solidFill>
                <a:srgbClr val="00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9130482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8EB239-CB74-4BE3-8D44-D69E8260CDD2}"/>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39189193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82" name="Rectangle 81"/>
          <p:cNvSpPr>
            <a:spLocks noGrp="1" noRot="1" noChangeAspect="1" noMove="1" noResize="1" noEditPoints="1" noAdjustHandles="1" noChangeArrowheads="1" noChangeShapeType="1" noTextEdit="1"/>
          </p:cNvSpPr>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p:cNvSpPr>
            <a:spLocks noGrp="1" noRot="1" noChangeAspect="1" noMove="1" noResize="1" noEditPoints="1" noAdjustHandles="1" noChangeArrowheads="1" noChangeShapeType="1" noTextEdit="1"/>
          </p:cNvSpPr>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p:cNvSpPr>
            <a:spLocks noGrp="1"/>
          </p:cNvSpPr>
          <p:nvPr>
            <p:ph type="ctrTitle"/>
          </p:nvPr>
        </p:nvSpPr>
        <p:spPr>
          <a:xfrm>
            <a:off x="6033792" y="2613546"/>
            <a:ext cx="4775075" cy="1630907"/>
          </a:xfrm>
        </p:spPr>
        <p:txBody>
          <a:bodyPr>
            <a:normAutofit fontScale="90000"/>
          </a:bodyPr>
          <a:lstStyle/>
          <a:p>
            <a:r>
              <a:rPr lang="en-US" sz="4400" dirty="0">
                <a:solidFill>
                  <a:schemeClr val="tx1"/>
                </a:solidFill>
              </a:rPr>
              <a:t>Alloy Modelling Language</a:t>
            </a:r>
          </a:p>
        </p:txBody>
      </p:sp>
    </p:spTree>
    <p:extLst>
      <p:ext uri="{BB962C8B-B14F-4D97-AF65-F5344CB8AC3E}">
        <p14:creationId xmlns:p14="http://schemas.microsoft.com/office/powerpoint/2010/main" val="136164629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Alloy</a:t>
            </a:r>
          </a:p>
        </p:txBody>
      </p:sp>
      <p:sp>
        <p:nvSpPr>
          <p:cNvPr id="3" name="Content Placeholder 2"/>
          <p:cNvSpPr>
            <a:spLocks noGrp="1"/>
          </p:cNvSpPr>
          <p:nvPr>
            <p:ph idx="1"/>
          </p:nvPr>
        </p:nvSpPr>
        <p:spPr/>
        <p:txBody>
          <a:bodyPr/>
          <a:lstStyle/>
          <a:p>
            <a:pPr marL="431800" indent="-320675">
              <a:lnSpc>
                <a:spcPct val="100000"/>
              </a:lnSpc>
              <a:spcBef>
                <a:spcPts val="500"/>
              </a:spcBef>
              <a:buClr>
                <a:srgbClr val="000000"/>
              </a:buClr>
              <a:buSzPct val="45000"/>
              <a:buFont typeface="Wingdings" panose="05000000000000000000" pitchFamily="2" charset="2"/>
              <a:buChar char=""/>
            </a:pPr>
            <a:r>
              <a:rPr lang="en-US" sz="1600" b="0" strike="noStrike" spc="-1" dirty="0">
                <a:solidFill>
                  <a:srgbClr val="000000"/>
                </a:solidFill>
                <a:latin typeface="Arial" panose="020B0604020202020204"/>
                <a:ea typeface="DejaVu Sans"/>
              </a:rPr>
              <a:t>Alloy is a formal modeling language aimed at expressing structural and behavioral properties of software systems</a:t>
            </a:r>
            <a:endParaRPr lang="en-US" sz="1600" b="0" strike="noStrike" spc="-1" dirty="0">
              <a:latin typeface="Arial" panose="020B0604020202020204"/>
            </a:endParaRPr>
          </a:p>
          <a:p>
            <a:pPr marL="431800" indent="-320675">
              <a:lnSpc>
                <a:spcPct val="100000"/>
              </a:lnSpc>
              <a:spcBef>
                <a:spcPts val="500"/>
              </a:spcBef>
              <a:buClr>
                <a:srgbClr val="000000"/>
              </a:buClr>
              <a:buSzPct val="45000"/>
              <a:buFont typeface="Wingdings" panose="05000000000000000000" pitchFamily="2" charset="2"/>
              <a:buChar char=""/>
            </a:pPr>
            <a:r>
              <a:rPr lang="en-US" sz="1600" b="0" strike="noStrike" spc="-1" dirty="0">
                <a:solidFill>
                  <a:srgbClr val="000000"/>
                </a:solidFill>
                <a:latin typeface="Arial" panose="020B0604020202020204"/>
                <a:ea typeface="DejaVu Sans"/>
              </a:rPr>
              <a:t>Alloy has formal syntax and semantics</a:t>
            </a:r>
            <a:endParaRPr lang="en-US" sz="1600" b="0" strike="noStrike" spc="-1" dirty="0">
              <a:latin typeface="Arial" panose="020B0604020202020204"/>
            </a:endParaRPr>
          </a:p>
          <a:p>
            <a:pPr marL="431800" indent="-320675">
              <a:lnSpc>
                <a:spcPct val="100000"/>
              </a:lnSpc>
              <a:spcBef>
                <a:spcPts val="500"/>
              </a:spcBef>
              <a:buClr>
                <a:srgbClr val="000000"/>
              </a:buClr>
              <a:buSzPct val="45000"/>
              <a:buFont typeface="Wingdings" panose="05000000000000000000" pitchFamily="2" charset="2"/>
              <a:buChar char=""/>
            </a:pPr>
            <a:r>
              <a:rPr lang="en-US" sz="1600" b="0" strike="noStrike" spc="-1" dirty="0">
                <a:solidFill>
                  <a:srgbClr val="000000"/>
                </a:solidFill>
                <a:latin typeface="Arial" panose="020B0604020202020204"/>
                <a:ea typeface="DejaVu Sans"/>
              </a:rPr>
              <a:t>There is also a visual representation (similar to UML class diagrams and entity-relationship diagrams) but the visual representation does not have the expressiveness of the whole language</a:t>
            </a:r>
            <a:endParaRPr lang="en-US" sz="1600" b="0" strike="noStrike" spc="-1" dirty="0">
              <a:latin typeface="Arial" panose="020B0604020202020204"/>
            </a:endParaRPr>
          </a:p>
          <a:p>
            <a:pPr marL="431800" indent="-320675">
              <a:lnSpc>
                <a:spcPct val="100000"/>
              </a:lnSpc>
              <a:spcBef>
                <a:spcPts val="1415"/>
              </a:spcBef>
              <a:buClr>
                <a:srgbClr val="000000"/>
              </a:buClr>
              <a:buSzPct val="45000"/>
              <a:buFont typeface="Wingdings" panose="05000000000000000000" pitchFamily="2" charset="2"/>
              <a:buChar char=""/>
            </a:pPr>
            <a:r>
              <a:rPr lang="en-US" sz="1600" b="0" strike="noStrike" spc="-1" dirty="0">
                <a:solidFill>
                  <a:srgbClr val="000000"/>
                </a:solidFill>
                <a:latin typeface="Arial" panose="020B0604020202020204"/>
                <a:ea typeface="DejaVu Sans"/>
              </a:rPr>
              <a:t>Alloy has a verification tool called Alloy Analyzer which can be used to automatically analyze properties of Alloy models</a:t>
            </a:r>
            <a:endParaRPr lang="en-US" sz="1600" b="0" strike="noStrike" spc="-1" dirty="0">
              <a:latin typeface="Arial" panose="020B0604020202020204"/>
            </a:endParaRPr>
          </a:p>
          <a:p>
            <a:endParaRPr lang="en-US" dirty="0"/>
          </a:p>
        </p:txBody>
      </p:sp>
    </p:spTree>
    <p:extLst>
      <p:ext uri="{BB962C8B-B14F-4D97-AF65-F5344CB8AC3E}">
        <p14:creationId xmlns:p14="http://schemas.microsoft.com/office/powerpoint/2010/main" val="331979972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Alloy</a:t>
            </a:r>
          </a:p>
        </p:txBody>
      </p:sp>
      <p:sp>
        <p:nvSpPr>
          <p:cNvPr id="3" name="Content Placeholder 2"/>
          <p:cNvSpPr>
            <a:spLocks noGrp="1"/>
          </p:cNvSpPr>
          <p:nvPr>
            <p:ph idx="1"/>
          </p:nvPr>
        </p:nvSpPr>
        <p:spPr/>
        <p:txBody>
          <a:bodyPr>
            <a:normAutofit/>
          </a:bodyPr>
          <a:lstStyle/>
          <a:p>
            <a:r>
              <a:rPr lang="en-US" sz="1800" dirty="0"/>
              <a:t>Formal modeling of entities and associations, using sets and relations</a:t>
            </a:r>
          </a:p>
          <a:p>
            <a:pPr lvl="1"/>
            <a:r>
              <a:rPr lang="en-US" sz="1500" b="0" strike="noStrike" spc="-1" dirty="0">
                <a:solidFill>
                  <a:srgbClr val="000000"/>
                </a:solidFill>
                <a:latin typeface="Century Gothic (Body)"/>
                <a:ea typeface="DejaVu Sans"/>
                <a:cs typeface="Times New Roman" panose="02020603050405020304" pitchFamily="18" charset="0"/>
              </a:rPr>
              <a:t>In Alloy, everything is a set and those sets are built from atoms and relations</a:t>
            </a:r>
          </a:p>
          <a:p>
            <a:pPr lvl="2"/>
            <a:r>
              <a:rPr lang="en-US" sz="1600" b="0" strike="noStrike" spc="-1" dirty="0">
                <a:solidFill>
                  <a:srgbClr val="000000"/>
                </a:solidFill>
                <a:latin typeface="Century Gothic (Body)"/>
                <a:ea typeface="DejaVu Sans"/>
                <a:cs typeface="Times New Roman" panose="02020603050405020304" pitchFamily="18" charset="0"/>
              </a:rPr>
              <a:t>An atom is a primitive entity that is indivisible, immutable, uninterpreted (it does not have any built-in property)</a:t>
            </a:r>
          </a:p>
          <a:p>
            <a:pPr lvl="2"/>
            <a:r>
              <a:rPr lang="en-US" sz="1700" b="0" strike="noStrike" spc="-1" dirty="0">
                <a:solidFill>
                  <a:srgbClr val="000000"/>
                </a:solidFill>
                <a:latin typeface="Century Gothic (Body)"/>
                <a:ea typeface="DejaVu Sans"/>
                <a:cs typeface="Times New Roman" panose="02020603050405020304" pitchFamily="18" charset="0"/>
              </a:rPr>
              <a:t>A relation is a structure that relates atoms. </a:t>
            </a:r>
          </a:p>
          <a:p>
            <a:pPr lvl="3"/>
            <a:r>
              <a:rPr lang="en-US" sz="1600" b="0" strike="noStrike" spc="-1" dirty="0">
                <a:solidFill>
                  <a:srgbClr val="000000"/>
                </a:solidFill>
                <a:latin typeface="Century Gothic (Body)"/>
                <a:ea typeface="DejaVu Sans"/>
                <a:cs typeface="Times New Roman" panose="02020603050405020304" pitchFamily="18" charset="0"/>
              </a:rPr>
              <a:t>It is a set of tuples, each tuple being a sequence of atoms</a:t>
            </a:r>
            <a:endParaRPr lang="en-US" sz="1600" dirty="0">
              <a:latin typeface="Century Gothic (Body)"/>
            </a:endParaRPr>
          </a:p>
          <a:p>
            <a:r>
              <a:rPr lang="en-US" sz="1800" dirty="0"/>
              <a:t>Modeling of invariants/constraints on the relationships </a:t>
            </a:r>
          </a:p>
          <a:p>
            <a:r>
              <a:rPr lang="en-US" sz="1800" dirty="0"/>
              <a:t>Analyzing the model, and identifying whether </a:t>
            </a:r>
          </a:p>
          <a:p>
            <a:pPr lvl="1"/>
            <a:r>
              <a:rPr lang="en-US" sz="1600" dirty="0"/>
              <a:t>it is under-constrained (i.e., allows erroneous relationships), </a:t>
            </a:r>
          </a:p>
          <a:p>
            <a:pPr lvl="1"/>
            <a:r>
              <a:rPr lang="en-US" sz="1600" dirty="0"/>
              <a:t>or over-constrained (i.e., disallows required relationships)</a:t>
            </a:r>
          </a:p>
        </p:txBody>
      </p:sp>
    </p:spTree>
    <p:extLst>
      <p:ext uri="{BB962C8B-B14F-4D97-AF65-F5344CB8AC3E}">
        <p14:creationId xmlns:p14="http://schemas.microsoft.com/office/powerpoint/2010/main" val="306550953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Signatures</a:t>
            </a:r>
          </a:p>
        </p:txBody>
      </p:sp>
      <p:sp>
        <p:nvSpPr>
          <p:cNvPr id="3" name="Content Placeholder 2"/>
          <p:cNvSpPr>
            <a:spLocks noGrp="1"/>
          </p:cNvSpPr>
          <p:nvPr>
            <p:ph idx="1"/>
          </p:nvPr>
        </p:nvSpPr>
        <p:spPr/>
        <p:txBody>
          <a:bodyPr>
            <a:normAutofit fontScale="92500" lnSpcReduction="20000"/>
          </a:bodyPr>
          <a:lstStyle/>
          <a:p>
            <a:pPr marL="431800" indent="-320675">
              <a:lnSpc>
                <a:spcPct val="100000"/>
              </a:lnSpc>
              <a:spcBef>
                <a:spcPts val="1415"/>
              </a:spcBef>
              <a:buClr>
                <a:srgbClr val="000000"/>
              </a:buClr>
              <a:buSzPct val="45000"/>
              <a:buFont typeface="Wingdings" panose="05000000000000000000" pitchFamily="2" charset="2"/>
              <a:buChar char=""/>
            </a:pPr>
            <a:r>
              <a:rPr lang="en-US" sz="2800" b="0" strike="noStrike" spc="-1" dirty="0">
                <a:solidFill>
                  <a:srgbClr val="000000"/>
                </a:solidFill>
                <a:latin typeface="Arial" panose="020B0604020202020204"/>
                <a:ea typeface="DejaVu Sans"/>
              </a:rPr>
              <a:t>Entities are represented using Signatures in Alloy</a:t>
            </a:r>
            <a:endParaRPr lang="en-US" sz="2600" b="0" strike="noStrike" spc="-1" dirty="0">
              <a:solidFill>
                <a:srgbClr val="000000"/>
              </a:solidFill>
              <a:latin typeface="Arial" panose="020B0604020202020204"/>
              <a:ea typeface="DejaVu Sans"/>
            </a:endParaRPr>
          </a:p>
          <a:p>
            <a:pPr marL="431800" indent="-320675">
              <a:lnSpc>
                <a:spcPct val="100000"/>
              </a:lnSpc>
              <a:spcBef>
                <a:spcPts val="1415"/>
              </a:spcBef>
              <a:buClr>
                <a:srgbClr val="000000"/>
              </a:buClr>
              <a:buSzPct val="45000"/>
              <a:buFont typeface="Wingdings" panose="05000000000000000000" pitchFamily="2" charset="2"/>
              <a:buChar char=""/>
            </a:pPr>
            <a:r>
              <a:rPr lang="en-US" sz="2800" b="0" strike="noStrike" spc="-1" dirty="0">
                <a:solidFill>
                  <a:srgbClr val="000000"/>
                </a:solidFill>
                <a:latin typeface="Arial" panose="020B0604020202020204"/>
                <a:ea typeface="DejaVu Sans"/>
              </a:rPr>
              <a:t>Describe classes of entities we want to reason about</a:t>
            </a:r>
            <a:endParaRPr lang="en-US" sz="2800" spc="-1" dirty="0">
              <a:solidFill>
                <a:srgbClr val="000000"/>
              </a:solidFill>
              <a:latin typeface="Arial" panose="020B0604020202020204"/>
              <a:ea typeface="DejaVu Sans"/>
            </a:endParaRPr>
          </a:p>
          <a:p>
            <a:pPr marL="431800" indent="-320675">
              <a:lnSpc>
                <a:spcPct val="100000"/>
              </a:lnSpc>
              <a:spcBef>
                <a:spcPts val="1415"/>
              </a:spcBef>
              <a:buClr>
                <a:srgbClr val="000000"/>
              </a:buClr>
              <a:buSzPct val="45000"/>
              <a:buFont typeface="Wingdings" panose="05000000000000000000" pitchFamily="2" charset="2"/>
              <a:buChar char=""/>
            </a:pPr>
            <a:r>
              <a:rPr lang="en-US" sz="2800" b="0" strike="noStrike" spc="-1" dirty="0">
                <a:solidFill>
                  <a:srgbClr val="000000"/>
                </a:solidFill>
                <a:latin typeface="Arial" panose="020B0604020202020204"/>
              </a:rPr>
              <a:t>For Example</a:t>
            </a:r>
            <a:r>
              <a:rPr lang="en-US" sz="2800" spc="-1" dirty="0">
                <a:solidFill>
                  <a:srgbClr val="000000"/>
                </a:solidFill>
                <a:latin typeface="Arial" panose="020B0604020202020204"/>
              </a:rPr>
              <a:t>, for a school management system entities will be: Student, Teacher, Subject, etc.</a:t>
            </a:r>
          </a:p>
          <a:p>
            <a:pPr marL="431800" indent="-320675">
              <a:lnSpc>
                <a:spcPct val="100000"/>
              </a:lnSpc>
              <a:spcBef>
                <a:spcPts val="1415"/>
              </a:spcBef>
              <a:buClr>
                <a:srgbClr val="000000"/>
              </a:buClr>
              <a:buSzPct val="45000"/>
              <a:buFont typeface="Wingdings" panose="05000000000000000000" pitchFamily="2" charset="2"/>
              <a:buChar char=""/>
            </a:pPr>
            <a:r>
              <a:rPr lang="en-US" sz="2700" spc="-1" dirty="0">
                <a:solidFill>
                  <a:srgbClr val="0070C0"/>
                </a:solidFill>
                <a:latin typeface="Arial" panose="020B0604020202020204"/>
              </a:rPr>
              <a:t>Syntax: </a:t>
            </a:r>
          </a:p>
          <a:p>
            <a:pPr marL="111125" indent="0">
              <a:lnSpc>
                <a:spcPct val="100000"/>
              </a:lnSpc>
              <a:spcBef>
                <a:spcPts val="1415"/>
              </a:spcBef>
              <a:buClr>
                <a:srgbClr val="000000"/>
              </a:buClr>
              <a:buSzPct val="45000"/>
              <a:buNone/>
            </a:pPr>
            <a:r>
              <a:rPr lang="en-US" sz="2700" spc="-1" dirty="0">
                <a:solidFill>
                  <a:srgbClr val="0070C0"/>
                </a:solidFill>
                <a:latin typeface="Arial" panose="020B0604020202020204"/>
              </a:rPr>
              <a:t>	sig Student{}	</a:t>
            </a:r>
          </a:p>
          <a:p>
            <a:pPr marL="111125" indent="0">
              <a:lnSpc>
                <a:spcPct val="100000"/>
              </a:lnSpc>
              <a:spcBef>
                <a:spcPts val="1415"/>
              </a:spcBef>
              <a:buClr>
                <a:srgbClr val="000000"/>
              </a:buClr>
              <a:buSzPct val="45000"/>
              <a:buNone/>
            </a:pPr>
            <a:r>
              <a:rPr lang="en-US" sz="2700" spc="-1" dirty="0">
                <a:solidFill>
                  <a:srgbClr val="0070C0"/>
                </a:solidFill>
                <a:latin typeface="Arial" panose="020B0604020202020204"/>
              </a:rPr>
              <a:t>	sig Teacher{}	</a:t>
            </a:r>
          </a:p>
          <a:p>
            <a:pPr marL="111125" indent="0">
              <a:lnSpc>
                <a:spcPct val="100000"/>
              </a:lnSpc>
              <a:spcBef>
                <a:spcPts val="1415"/>
              </a:spcBef>
              <a:buClr>
                <a:srgbClr val="000000"/>
              </a:buClr>
              <a:buSzPct val="45000"/>
              <a:buNone/>
            </a:pPr>
            <a:r>
              <a:rPr lang="en-US" sz="2700" spc="-1" dirty="0">
                <a:solidFill>
                  <a:srgbClr val="0070C0"/>
                </a:solidFill>
                <a:latin typeface="Arial" panose="020B0604020202020204"/>
              </a:rPr>
              <a:t>	sig Subject{} </a:t>
            </a:r>
            <a:endParaRPr lang="en-US" sz="2700" b="0" strike="noStrike" spc="-1" dirty="0">
              <a:solidFill>
                <a:srgbClr val="0070C0"/>
              </a:solidFill>
              <a:latin typeface="Arial" panose="020B0604020202020204"/>
            </a:endParaRPr>
          </a:p>
          <a:p>
            <a:pPr marL="431800" indent="-320675">
              <a:lnSpc>
                <a:spcPct val="100000"/>
              </a:lnSpc>
              <a:spcBef>
                <a:spcPts val="1415"/>
              </a:spcBef>
              <a:buClr>
                <a:srgbClr val="000000"/>
              </a:buClr>
              <a:buSzPct val="45000"/>
              <a:buFont typeface="Wingdings" panose="05000000000000000000" pitchFamily="2" charset="2"/>
              <a:buChar char=""/>
            </a:pPr>
            <a:endParaRPr lang="en-US" sz="2800" b="0" strike="noStrike" spc="-1" dirty="0">
              <a:solidFill>
                <a:srgbClr val="000000"/>
              </a:solidFill>
              <a:latin typeface="Arial" panose="020B0604020202020204"/>
              <a:ea typeface="DejaVu Sans"/>
            </a:endParaRPr>
          </a:p>
          <a:p>
            <a:pPr marL="431800" indent="-320675">
              <a:lnSpc>
                <a:spcPct val="100000"/>
              </a:lnSpc>
              <a:spcBef>
                <a:spcPts val="1415"/>
              </a:spcBef>
              <a:buClr>
                <a:srgbClr val="000000"/>
              </a:buClr>
              <a:buSzPct val="45000"/>
              <a:buFont typeface="Wingdings" panose="05000000000000000000" pitchFamily="2" charset="2"/>
              <a:buChar char=""/>
            </a:pPr>
            <a:endParaRPr lang="en-US" sz="1400" dirty="0"/>
          </a:p>
        </p:txBody>
      </p:sp>
    </p:spTree>
    <p:extLst>
      <p:ext uri="{BB962C8B-B14F-4D97-AF65-F5344CB8AC3E}">
        <p14:creationId xmlns:p14="http://schemas.microsoft.com/office/powerpoint/2010/main" val="475538991"/>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Signatures</a:t>
            </a:r>
          </a:p>
        </p:txBody>
      </p:sp>
      <p:sp>
        <p:nvSpPr>
          <p:cNvPr id="3" name="Content Placeholder 2"/>
          <p:cNvSpPr>
            <a:spLocks noGrp="1"/>
          </p:cNvSpPr>
          <p:nvPr>
            <p:ph idx="1"/>
          </p:nvPr>
        </p:nvSpPr>
        <p:spPr/>
        <p:txBody>
          <a:bodyPr>
            <a:normAutofit fontScale="92500" lnSpcReduction="10000"/>
          </a:bodyPr>
          <a:lstStyle/>
          <a:p>
            <a:r>
              <a:rPr lang="en-US" b="0" i="0" dirty="0">
                <a:solidFill>
                  <a:srgbClr val="404040"/>
                </a:solidFill>
                <a:effectLst/>
                <a:latin typeface="Lato" panose="020B0604020202020204" pitchFamily="34" charset="0"/>
              </a:rPr>
              <a:t>Alloy can generate models that have elements of each signature, called </a:t>
            </a:r>
            <a:r>
              <a:rPr lang="en-US" b="1" i="0" dirty="0">
                <a:solidFill>
                  <a:srgbClr val="404040"/>
                </a:solidFill>
                <a:effectLst/>
                <a:latin typeface="Lato" panose="020B0604020202020204" pitchFamily="34" charset="0"/>
              </a:rPr>
              <a:t>atoms</a:t>
            </a:r>
            <a:r>
              <a:rPr lang="en-US" b="0" i="0" dirty="0">
                <a:solidFill>
                  <a:srgbClr val="404040"/>
                </a:solidFill>
                <a:effectLst/>
                <a:latin typeface="Lato" panose="020B0604020202020204" pitchFamily="34" charset="0"/>
              </a:rPr>
              <a:t>. </a:t>
            </a:r>
            <a:r>
              <a:rPr lang="en-US" dirty="0"/>
              <a:t>Following are some of the models generated by Alloy</a:t>
            </a:r>
          </a:p>
          <a:p>
            <a:r>
              <a:rPr lang="en-US" dirty="0"/>
              <a:t> Model 1 – </a:t>
            </a:r>
            <a:r>
              <a:rPr lang="en-US" dirty="0">
                <a:solidFill>
                  <a:srgbClr val="0070C0"/>
                </a:solidFill>
              </a:rPr>
              <a:t>Student= {Student0, Student1}, Teacher={Teacher0, Teacher1}, Subject={Subject}</a:t>
            </a:r>
          </a:p>
          <a:p>
            <a:endParaRPr lang="en-US" dirty="0">
              <a:solidFill>
                <a:srgbClr val="0070C0"/>
              </a:solidFill>
            </a:endParaRPr>
          </a:p>
          <a:p>
            <a:endParaRPr lang="en-US" dirty="0"/>
          </a:p>
          <a:p>
            <a:r>
              <a:rPr lang="en-US" dirty="0"/>
              <a:t>Model 2 – </a:t>
            </a:r>
            <a:r>
              <a:rPr lang="en-US" dirty="0">
                <a:solidFill>
                  <a:srgbClr val="0070C0"/>
                </a:solidFill>
              </a:rPr>
              <a:t>Student= {Student}, Teacher={Teacher0, Teacher1, Teacher2}, Subject={Subject}</a:t>
            </a:r>
            <a:endParaRPr lang="en-US" dirty="0"/>
          </a:p>
          <a:p>
            <a:endParaRPr lang="en-US" dirty="0"/>
          </a:p>
          <a:p>
            <a:endParaRPr lang="en-US" dirty="0"/>
          </a:p>
          <a:p>
            <a:endParaRPr lang="en-US" dirty="0"/>
          </a:p>
          <a:p>
            <a:r>
              <a:rPr lang="en-US" dirty="0"/>
              <a:t>Model 3 – </a:t>
            </a:r>
            <a:r>
              <a:rPr lang="en-US" dirty="0">
                <a:solidFill>
                  <a:srgbClr val="0070C0"/>
                </a:solidFill>
              </a:rPr>
              <a:t>Student= {Student0, Student1}, Teacher={}, Subject={}</a:t>
            </a:r>
            <a:r>
              <a:rPr lang="en-US" dirty="0"/>
              <a:t>                                                                      </a:t>
            </a:r>
          </a:p>
          <a:p>
            <a:endParaRPr lang="en-US" dirty="0"/>
          </a:p>
          <a:p>
            <a:r>
              <a:rPr lang="en-US" dirty="0"/>
              <a:t>Model 4 – </a:t>
            </a:r>
            <a:r>
              <a:rPr lang="en-US" dirty="0">
                <a:solidFill>
                  <a:srgbClr val="0070C0"/>
                </a:solidFill>
              </a:rPr>
              <a:t>Student= {Student}, Teacher={Teacher}, Subject={}</a:t>
            </a:r>
            <a:endParaRPr lang="en-US" dirty="0"/>
          </a:p>
          <a:p>
            <a:endParaRPr lang="en-US" dirty="0"/>
          </a:p>
        </p:txBody>
      </p:sp>
      <p:pic>
        <p:nvPicPr>
          <p:cNvPr id="4" name="Picture 3"/>
          <p:cNvPicPr>
            <a:picLocks noChangeAspect="1"/>
          </p:cNvPicPr>
          <p:nvPr/>
        </p:nvPicPr>
        <p:blipFill>
          <a:blip r:embed="rId2"/>
          <a:stretch>
            <a:fillRect/>
          </a:stretch>
        </p:blipFill>
        <p:spPr>
          <a:xfrm>
            <a:off x="3309457" y="2983317"/>
            <a:ext cx="3962400" cy="609600"/>
          </a:xfrm>
          <a:prstGeom prst="rect">
            <a:avLst/>
          </a:prstGeom>
        </p:spPr>
      </p:pic>
      <p:pic>
        <p:nvPicPr>
          <p:cNvPr id="6" name="Picture 5"/>
          <p:cNvPicPr>
            <a:picLocks noChangeAspect="1"/>
          </p:cNvPicPr>
          <p:nvPr/>
        </p:nvPicPr>
        <p:blipFill>
          <a:blip r:embed="rId3"/>
          <a:stretch>
            <a:fillRect/>
          </a:stretch>
        </p:blipFill>
        <p:spPr>
          <a:xfrm>
            <a:off x="3309457" y="4084424"/>
            <a:ext cx="3962400" cy="609600"/>
          </a:xfrm>
          <a:prstGeom prst="rect">
            <a:avLst/>
          </a:prstGeom>
        </p:spPr>
      </p:pic>
      <p:pic>
        <p:nvPicPr>
          <p:cNvPr id="8" name="Picture 7"/>
          <p:cNvPicPr>
            <a:picLocks noChangeAspect="1"/>
          </p:cNvPicPr>
          <p:nvPr/>
        </p:nvPicPr>
        <p:blipFill>
          <a:blip r:embed="rId4"/>
          <a:stretch>
            <a:fillRect/>
          </a:stretch>
        </p:blipFill>
        <p:spPr>
          <a:xfrm>
            <a:off x="7345960" y="4876419"/>
            <a:ext cx="1724025" cy="504825"/>
          </a:xfrm>
          <a:prstGeom prst="rect">
            <a:avLst/>
          </a:prstGeom>
        </p:spPr>
      </p:pic>
      <p:pic>
        <p:nvPicPr>
          <p:cNvPr id="10" name="Picture 9"/>
          <p:cNvPicPr>
            <a:picLocks noChangeAspect="1"/>
          </p:cNvPicPr>
          <p:nvPr/>
        </p:nvPicPr>
        <p:blipFill>
          <a:blip r:embed="rId5"/>
          <a:stretch>
            <a:fillRect/>
          </a:stretch>
        </p:blipFill>
        <p:spPr>
          <a:xfrm>
            <a:off x="7355485" y="5532246"/>
            <a:ext cx="1714500" cy="571500"/>
          </a:xfrm>
          <a:prstGeom prst="rect">
            <a:avLst/>
          </a:prstGeom>
        </p:spPr>
      </p:pic>
      <p:cxnSp>
        <p:nvCxnSpPr>
          <p:cNvPr id="12" name="Straight Arrow Connector 11"/>
          <p:cNvCxnSpPr/>
          <p:nvPr/>
        </p:nvCxnSpPr>
        <p:spPr>
          <a:xfrm flipH="1">
            <a:off x="8665830" y="3214949"/>
            <a:ext cx="562060" cy="4413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flipH="1">
            <a:off x="7363875" y="3201687"/>
            <a:ext cx="1880793" cy="4643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H="1" flipV="1">
            <a:off x="8835009" y="2960347"/>
            <a:ext cx="409659" cy="2413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TextBox 24"/>
          <p:cNvSpPr txBox="1"/>
          <p:nvPr/>
        </p:nvSpPr>
        <p:spPr>
          <a:xfrm>
            <a:off x="9244668" y="3017021"/>
            <a:ext cx="801823" cy="369332"/>
          </a:xfrm>
          <a:prstGeom prst="rect">
            <a:avLst/>
          </a:prstGeom>
          <a:noFill/>
        </p:spPr>
        <p:txBody>
          <a:bodyPr wrap="none" rtlCol="0">
            <a:spAutoFit/>
          </a:bodyPr>
          <a:lstStyle/>
          <a:p>
            <a:r>
              <a:rPr lang="en-US" dirty="0">
                <a:solidFill>
                  <a:prstClr val="black"/>
                </a:solidFill>
              </a:rPr>
              <a:t>Atom</a:t>
            </a:r>
          </a:p>
        </p:txBody>
      </p:sp>
    </p:spTree>
    <p:extLst>
      <p:ext uri="{BB962C8B-B14F-4D97-AF65-F5344CB8AC3E}">
        <p14:creationId xmlns:p14="http://schemas.microsoft.com/office/powerpoint/2010/main" val="88879388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 - Fields</a:t>
            </a:r>
          </a:p>
        </p:txBody>
      </p:sp>
      <p:sp>
        <p:nvSpPr>
          <p:cNvPr id="3" name="Content Placeholder 2"/>
          <p:cNvSpPr>
            <a:spLocks noGrp="1"/>
          </p:cNvSpPr>
          <p:nvPr>
            <p:ph idx="1"/>
          </p:nvPr>
        </p:nvSpPr>
        <p:spPr>
          <a:xfrm>
            <a:off x="1066800" y="1786855"/>
            <a:ext cx="10058400" cy="4165889"/>
          </a:xfrm>
        </p:spPr>
        <p:txBody>
          <a:bodyPr>
            <a:normAutofit fontScale="62500" lnSpcReduction="20000"/>
          </a:bodyPr>
          <a:lstStyle/>
          <a:p>
            <a:r>
              <a:rPr lang="en-US" b="0" i="0" dirty="0">
                <a:solidFill>
                  <a:srgbClr val="404040"/>
                </a:solidFill>
                <a:effectLst/>
                <a:latin typeface="Lato" panose="020B0604020202020204" pitchFamily="34" charset="0"/>
              </a:rPr>
              <a:t>Usually, we care about the relationships between the parts of our systems. </a:t>
            </a:r>
          </a:p>
          <a:p>
            <a:r>
              <a:rPr lang="en-US" b="0" i="0" dirty="0">
                <a:solidFill>
                  <a:srgbClr val="404040"/>
                </a:solidFill>
                <a:effectLst/>
                <a:latin typeface="Lato" panose="020B0604020202020204" pitchFamily="34" charset="0"/>
              </a:rPr>
              <a:t>We don’t just care that there are students, teachers and subjects, we care which students are enrolled in what subjects, which subject is taught by whom, etc.</a:t>
            </a:r>
          </a:p>
          <a:p>
            <a:r>
              <a:rPr lang="en-US" b="0" i="0" dirty="0">
                <a:solidFill>
                  <a:srgbClr val="404040"/>
                </a:solidFill>
                <a:effectLst/>
                <a:latin typeface="Lato" panose="020B0604020202020204" pitchFamily="34" charset="0"/>
              </a:rPr>
              <a:t>We do this by adding </a:t>
            </a:r>
            <a:r>
              <a:rPr lang="en-US" b="1" i="0" dirty="0">
                <a:solidFill>
                  <a:srgbClr val="404040"/>
                </a:solidFill>
                <a:effectLst/>
                <a:latin typeface="Lato" panose="020B0604020202020204" pitchFamily="34" charset="0"/>
              </a:rPr>
              <a:t>relations</a:t>
            </a:r>
            <a:r>
              <a:rPr lang="en-US" b="0" i="0" dirty="0">
                <a:solidFill>
                  <a:srgbClr val="404040"/>
                </a:solidFill>
                <a:effectLst/>
                <a:latin typeface="Lato" panose="020B0604020202020204" pitchFamily="34" charset="0"/>
              </a:rPr>
              <a:t> inside of the signature body. These are called Fields.</a:t>
            </a:r>
          </a:p>
          <a:p>
            <a:pPr algn="l"/>
            <a:r>
              <a:rPr lang="en-US" sz="1600" b="0" i="0" dirty="0">
                <a:solidFill>
                  <a:srgbClr val="404040"/>
                </a:solidFill>
                <a:effectLst/>
                <a:latin typeface="Lato" panose="020B0604020202020204" pitchFamily="34" charset="0"/>
              </a:rPr>
              <a:t>The body of a signature is a list of </a:t>
            </a:r>
            <a:r>
              <a:rPr lang="en-US" sz="1600" b="1" i="0" dirty="0">
                <a:solidFill>
                  <a:srgbClr val="404040"/>
                </a:solidFill>
                <a:effectLst/>
                <a:latin typeface="Lato" panose="020B0604020202020204" pitchFamily="34" charset="0"/>
              </a:rPr>
              <a:t>relations</a:t>
            </a:r>
            <a:r>
              <a:rPr lang="en-US" sz="1600" b="0" i="0" dirty="0">
                <a:solidFill>
                  <a:srgbClr val="404040"/>
                </a:solidFill>
                <a:effectLst/>
                <a:latin typeface="Lato" panose="020B0604020202020204" pitchFamily="34" charset="0"/>
              </a:rPr>
              <a:t>, which show how the signatures are connected to each other. </a:t>
            </a:r>
          </a:p>
          <a:p>
            <a:pPr algn="l"/>
            <a:r>
              <a:rPr lang="en-US" sz="1600" b="0" i="0" dirty="0">
                <a:solidFill>
                  <a:srgbClr val="404040"/>
                </a:solidFill>
                <a:effectLst/>
                <a:latin typeface="Lato" panose="020B0604020202020204" pitchFamily="34" charset="0"/>
              </a:rPr>
              <a:t>Relations are separated by a comma. The list can also start and end with a comma. Relations do not have to be on separate lines, as long as they are separated by commas.</a:t>
            </a:r>
            <a:endParaRPr lang="en-US" b="0" i="0" dirty="0">
              <a:solidFill>
                <a:srgbClr val="404040"/>
              </a:solidFill>
              <a:effectLst/>
              <a:latin typeface="Lato" panose="020B0604020202020204" pitchFamily="34" charset="0"/>
            </a:endParaRPr>
          </a:p>
          <a:p>
            <a:r>
              <a:rPr lang="en-US" dirty="0">
                <a:solidFill>
                  <a:srgbClr val="404040"/>
                </a:solidFill>
                <a:latin typeface="Lato" panose="020B0604020202020204" pitchFamily="34" charset="0"/>
              </a:rPr>
              <a:t>Continuing the example:</a:t>
            </a:r>
          </a:p>
          <a:p>
            <a:pPr marL="0" indent="0">
              <a:buNone/>
            </a:pPr>
            <a:r>
              <a:rPr lang="en-US" dirty="0"/>
              <a:t>	</a:t>
            </a:r>
            <a:r>
              <a:rPr lang="en-US" b="1" dirty="0">
                <a:solidFill>
                  <a:srgbClr val="0070C0"/>
                </a:solidFill>
              </a:rPr>
              <a:t>sig Student{}</a:t>
            </a:r>
          </a:p>
          <a:p>
            <a:pPr marL="0" indent="0">
              <a:buNone/>
            </a:pPr>
            <a:r>
              <a:rPr lang="en-US" b="1" dirty="0">
                <a:solidFill>
                  <a:srgbClr val="0070C0"/>
                </a:solidFill>
              </a:rPr>
              <a:t>	sig Teacher{}</a:t>
            </a:r>
          </a:p>
          <a:p>
            <a:pPr marL="0" indent="0">
              <a:buNone/>
            </a:pPr>
            <a:r>
              <a:rPr lang="en-US" b="1" dirty="0">
                <a:solidFill>
                  <a:srgbClr val="0070C0"/>
                </a:solidFill>
              </a:rPr>
              <a:t>	sig Subject{</a:t>
            </a:r>
          </a:p>
          <a:p>
            <a:pPr marL="0" indent="0">
              <a:buNone/>
            </a:pPr>
            <a:r>
              <a:rPr lang="en-US" b="1" dirty="0">
                <a:solidFill>
                  <a:srgbClr val="0070C0"/>
                </a:solidFill>
              </a:rPr>
              <a:t>	     </a:t>
            </a:r>
            <a:r>
              <a:rPr lang="en-US" b="1" dirty="0" err="1">
                <a:solidFill>
                  <a:srgbClr val="0070C0"/>
                </a:solidFill>
              </a:rPr>
              <a:t>taught_by</a:t>
            </a:r>
            <a:r>
              <a:rPr lang="en-US" b="1" dirty="0">
                <a:solidFill>
                  <a:srgbClr val="0070C0"/>
                </a:solidFill>
              </a:rPr>
              <a:t>: Teacher,</a:t>
            </a:r>
          </a:p>
          <a:p>
            <a:pPr marL="0" indent="0">
              <a:buNone/>
            </a:pPr>
            <a:r>
              <a:rPr lang="en-US" b="1" dirty="0">
                <a:solidFill>
                  <a:srgbClr val="0070C0"/>
                </a:solidFill>
              </a:rPr>
              <a:t>	     enrolled: Student,</a:t>
            </a:r>
          </a:p>
          <a:p>
            <a:pPr marL="0" indent="0">
              <a:buNone/>
            </a:pPr>
            <a:r>
              <a:rPr lang="en-US" b="1" dirty="0">
                <a:solidFill>
                  <a:srgbClr val="0070C0"/>
                </a:solidFill>
              </a:rPr>
              <a:t>	}</a:t>
            </a:r>
          </a:p>
          <a:p>
            <a:r>
              <a:rPr lang="en-US" dirty="0"/>
              <a:t>One of the models generated by Alloy </a:t>
            </a:r>
          </a:p>
          <a:p>
            <a:r>
              <a:rPr lang="en-US" b="1" dirty="0">
                <a:solidFill>
                  <a:srgbClr val="0070C0"/>
                </a:solidFill>
              </a:rPr>
              <a:t>Subject={Subject}, Student={Student}, Teacher={Teacher1, Teacher2}</a:t>
            </a:r>
          </a:p>
          <a:p>
            <a:r>
              <a:rPr lang="en-US" b="1" dirty="0" err="1">
                <a:solidFill>
                  <a:srgbClr val="0070C0"/>
                </a:solidFill>
              </a:rPr>
              <a:t>taught_by</a:t>
            </a:r>
            <a:r>
              <a:rPr lang="en-US" b="1" dirty="0">
                <a:solidFill>
                  <a:srgbClr val="0070C0"/>
                </a:solidFill>
              </a:rPr>
              <a:t> = {(Subject, Teacher1)}, enrolled={(Subject, Student)} </a:t>
            </a:r>
          </a:p>
        </p:txBody>
      </p:sp>
      <p:pic>
        <p:nvPicPr>
          <p:cNvPr id="5" name="Picture 4"/>
          <p:cNvPicPr>
            <a:picLocks noChangeAspect="1"/>
          </p:cNvPicPr>
          <p:nvPr/>
        </p:nvPicPr>
        <p:blipFill>
          <a:blip r:embed="rId2"/>
          <a:stretch>
            <a:fillRect/>
          </a:stretch>
        </p:blipFill>
        <p:spPr>
          <a:xfrm>
            <a:off x="4905506" y="3307341"/>
            <a:ext cx="4981575" cy="1666875"/>
          </a:xfrm>
          <a:prstGeom prst="rect">
            <a:avLst/>
          </a:prstGeom>
        </p:spPr>
      </p:pic>
      <p:cxnSp>
        <p:nvCxnSpPr>
          <p:cNvPr id="6" name="Straight Arrow Connector 5"/>
          <p:cNvCxnSpPr/>
          <p:nvPr/>
        </p:nvCxnSpPr>
        <p:spPr>
          <a:xfrm flipH="1" flipV="1">
            <a:off x="3251303" y="5817946"/>
            <a:ext cx="699912" cy="3974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flipV="1">
            <a:off x="3951215" y="5885346"/>
            <a:ext cx="696286" cy="3300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flipH="1" flipV="1">
            <a:off x="5746459" y="5595457"/>
            <a:ext cx="1062191" cy="3483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p:cNvSpPr txBox="1"/>
          <p:nvPr/>
        </p:nvSpPr>
        <p:spPr>
          <a:xfrm>
            <a:off x="6742678" y="5810311"/>
            <a:ext cx="801823" cy="369332"/>
          </a:xfrm>
          <a:prstGeom prst="rect">
            <a:avLst/>
          </a:prstGeom>
          <a:noFill/>
        </p:spPr>
        <p:txBody>
          <a:bodyPr wrap="none" rtlCol="0">
            <a:spAutoFit/>
          </a:bodyPr>
          <a:lstStyle/>
          <a:p>
            <a:r>
              <a:rPr lang="en-US" dirty="0">
                <a:solidFill>
                  <a:prstClr val="black"/>
                </a:solidFill>
              </a:rPr>
              <a:t>Atom</a:t>
            </a:r>
          </a:p>
        </p:txBody>
      </p:sp>
      <p:sp>
        <p:nvSpPr>
          <p:cNvPr id="15" name="TextBox 14"/>
          <p:cNvSpPr txBox="1"/>
          <p:nvPr/>
        </p:nvSpPr>
        <p:spPr>
          <a:xfrm>
            <a:off x="3601259" y="6170494"/>
            <a:ext cx="777777" cy="369332"/>
          </a:xfrm>
          <a:prstGeom prst="rect">
            <a:avLst/>
          </a:prstGeom>
          <a:noFill/>
        </p:spPr>
        <p:txBody>
          <a:bodyPr wrap="none" rtlCol="0">
            <a:spAutoFit/>
          </a:bodyPr>
          <a:lstStyle/>
          <a:p>
            <a:r>
              <a:rPr lang="en-US" dirty="0">
                <a:solidFill>
                  <a:prstClr val="black"/>
                </a:solidFill>
              </a:rPr>
              <a:t>Tuple</a:t>
            </a:r>
          </a:p>
        </p:txBody>
      </p:sp>
    </p:spTree>
    <p:extLst>
      <p:ext uri="{BB962C8B-B14F-4D97-AF65-F5344CB8AC3E}">
        <p14:creationId xmlns:p14="http://schemas.microsoft.com/office/powerpoint/2010/main" val="403664881"/>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 - Fields</a:t>
            </a:r>
          </a:p>
        </p:txBody>
      </p:sp>
      <p:sp>
        <p:nvSpPr>
          <p:cNvPr id="3" name="Content Placeholder 2"/>
          <p:cNvSpPr>
            <a:spLocks noGrp="1"/>
          </p:cNvSpPr>
          <p:nvPr>
            <p:ph idx="1"/>
          </p:nvPr>
        </p:nvSpPr>
        <p:spPr>
          <a:xfrm>
            <a:off x="1066800" y="1691830"/>
            <a:ext cx="10058400" cy="4650247"/>
          </a:xfrm>
        </p:spPr>
        <p:txBody>
          <a:bodyPr>
            <a:normAutofit/>
          </a:bodyPr>
          <a:lstStyle/>
          <a:p>
            <a:pPr algn="l"/>
            <a:r>
              <a:rPr lang="en-US" sz="1200" b="0" i="0" dirty="0">
                <a:solidFill>
                  <a:srgbClr val="404040"/>
                </a:solidFill>
                <a:effectLst/>
                <a:latin typeface="Lato" panose="020B0604020202020204" pitchFamily="34" charset="0"/>
              </a:rPr>
              <a:t>Relations </a:t>
            </a:r>
            <a:r>
              <a:rPr lang="en-US" sz="1200" b="0" i="1" dirty="0">
                <a:solidFill>
                  <a:srgbClr val="404040"/>
                </a:solidFill>
                <a:effectLst/>
                <a:latin typeface="Lato" panose="020B0604020202020204" pitchFamily="34" charset="0"/>
              </a:rPr>
              <a:t>can</a:t>
            </a:r>
            <a:r>
              <a:rPr lang="en-US" sz="1200" b="0" i="0" dirty="0">
                <a:solidFill>
                  <a:srgbClr val="404040"/>
                </a:solidFill>
                <a:effectLst/>
                <a:latin typeface="Lato" panose="020B0604020202020204" pitchFamily="34" charset="0"/>
              </a:rPr>
              <a:t> refer to the same signature. </a:t>
            </a:r>
            <a:endParaRPr lang="en-US" sz="1200" dirty="0">
              <a:solidFill>
                <a:srgbClr val="404040"/>
              </a:solidFill>
              <a:latin typeface="Lato" panose="020B0604020202020204" pitchFamily="34" charset="0"/>
            </a:endParaRPr>
          </a:p>
          <a:p>
            <a:pPr algn="l"/>
            <a:r>
              <a:rPr lang="en-US" sz="1200" b="0" i="0" dirty="0">
                <a:solidFill>
                  <a:srgbClr val="404040"/>
                </a:solidFill>
                <a:effectLst/>
                <a:latin typeface="Lato" panose="020B0604020202020204" pitchFamily="34" charset="0"/>
              </a:rPr>
              <a:t>For Example:</a:t>
            </a:r>
          </a:p>
          <a:p>
            <a:pPr marL="0" indent="0">
              <a:buNone/>
            </a:pPr>
            <a:r>
              <a:rPr lang="en-US" sz="1200" dirty="0"/>
              <a:t>	</a:t>
            </a:r>
            <a:r>
              <a:rPr lang="en-US" sz="1200" b="1" dirty="0">
                <a:solidFill>
                  <a:srgbClr val="0070C0"/>
                </a:solidFill>
              </a:rPr>
              <a:t>sig Student{}</a:t>
            </a:r>
          </a:p>
          <a:p>
            <a:pPr marL="0" indent="0">
              <a:buNone/>
            </a:pPr>
            <a:r>
              <a:rPr lang="en-US" sz="1200" b="1" dirty="0">
                <a:solidFill>
                  <a:srgbClr val="0070C0"/>
                </a:solidFill>
              </a:rPr>
              <a:t>	sig Teacher{}</a:t>
            </a:r>
          </a:p>
          <a:p>
            <a:pPr marL="0" indent="0">
              <a:buNone/>
            </a:pPr>
            <a:r>
              <a:rPr lang="en-US" sz="1200" b="1" dirty="0">
                <a:solidFill>
                  <a:srgbClr val="0070C0"/>
                </a:solidFill>
              </a:rPr>
              <a:t>	sig Subject{</a:t>
            </a:r>
          </a:p>
          <a:p>
            <a:pPr marL="0" indent="0">
              <a:buNone/>
            </a:pPr>
            <a:r>
              <a:rPr lang="en-US" sz="1200" b="1" dirty="0">
                <a:solidFill>
                  <a:srgbClr val="0070C0"/>
                </a:solidFill>
              </a:rPr>
              <a:t>	     </a:t>
            </a:r>
            <a:r>
              <a:rPr lang="en-US" sz="1200" b="1" dirty="0" err="1">
                <a:solidFill>
                  <a:srgbClr val="0070C0"/>
                </a:solidFill>
              </a:rPr>
              <a:t>taught_by</a:t>
            </a:r>
            <a:r>
              <a:rPr lang="en-US" sz="1200" b="1" dirty="0">
                <a:solidFill>
                  <a:srgbClr val="0070C0"/>
                </a:solidFill>
              </a:rPr>
              <a:t>: Teacher,</a:t>
            </a:r>
          </a:p>
          <a:p>
            <a:pPr marL="0" indent="0">
              <a:buNone/>
            </a:pPr>
            <a:r>
              <a:rPr lang="en-US" sz="1200" b="1" dirty="0">
                <a:solidFill>
                  <a:srgbClr val="0070C0"/>
                </a:solidFill>
              </a:rPr>
              <a:t>	     enrolled: Student,</a:t>
            </a:r>
          </a:p>
          <a:p>
            <a:pPr marL="0" indent="0">
              <a:buNone/>
            </a:pPr>
            <a:r>
              <a:rPr lang="en-US" sz="1200" b="1" dirty="0">
                <a:solidFill>
                  <a:srgbClr val="0070C0"/>
                </a:solidFill>
              </a:rPr>
              <a:t>	     </a:t>
            </a:r>
            <a:r>
              <a:rPr lang="en-US" sz="1200" b="1" dirty="0" err="1">
                <a:solidFill>
                  <a:srgbClr val="0070C0"/>
                </a:solidFill>
              </a:rPr>
              <a:t>pre_requisite</a:t>
            </a:r>
            <a:r>
              <a:rPr lang="en-US" sz="1200" b="1" dirty="0">
                <a:solidFill>
                  <a:srgbClr val="0070C0"/>
                </a:solidFill>
              </a:rPr>
              <a:t>: Subject</a:t>
            </a:r>
          </a:p>
          <a:p>
            <a:pPr marL="0" indent="0">
              <a:buNone/>
            </a:pPr>
            <a:r>
              <a:rPr lang="en-US" sz="1200" b="1" dirty="0">
                <a:solidFill>
                  <a:srgbClr val="0070C0"/>
                </a:solidFill>
              </a:rPr>
              <a:t>	}</a:t>
            </a:r>
            <a:endParaRPr lang="en-US" sz="1200" dirty="0">
              <a:solidFill>
                <a:srgbClr val="404040"/>
              </a:solidFill>
              <a:latin typeface="Lato" panose="020B0604020202020204" pitchFamily="34" charset="0"/>
            </a:endParaRPr>
          </a:p>
          <a:p>
            <a:pPr algn="l"/>
            <a:r>
              <a:rPr lang="en-US" sz="1200" dirty="0">
                <a:solidFill>
                  <a:srgbClr val="404040"/>
                </a:solidFill>
                <a:latin typeface="Lato" panose="020B0604020202020204" pitchFamily="34" charset="0"/>
              </a:rPr>
              <a:t>One of the models generated: </a:t>
            </a:r>
          </a:p>
          <a:p>
            <a:r>
              <a:rPr lang="en-US" sz="1200" b="1" dirty="0">
                <a:solidFill>
                  <a:srgbClr val="0070C0"/>
                </a:solidFill>
              </a:rPr>
              <a:t>Subject={Subject0, Subject1}, Student={Student}, Teacher={Teacher}</a:t>
            </a:r>
          </a:p>
          <a:p>
            <a:r>
              <a:rPr lang="en-US" sz="1200" b="1" dirty="0" err="1">
                <a:solidFill>
                  <a:srgbClr val="0070C0"/>
                </a:solidFill>
              </a:rPr>
              <a:t>taught_by</a:t>
            </a:r>
            <a:r>
              <a:rPr lang="en-US" sz="1200" b="1" dirty="0">
                <a:solidFill>
                  <a:srgbClr val="0070C0"/>
                </a:solidFill>
              </a:rPr>
              <a:t> = {(Subject0, Teacher), (Subject1,Teacher)}, enrolled={(Subject0, Student), (Subject1, Student)}, </a:t>
            </a:r>
            <a:r>
              <a:rPr lang="en-US" sz="1200" b="1" dirty="0" err="1">
                <a:solidFill>
                  <a:srgbClr val="0070C0"/>
                </a:solidFill>
              </a:rPr>
              <a:t>pre_requisite</a:t>
            </a:r>
            <a:r>
              <a:rPr lang="en-US" sz="1200" b="1" dirty="0">
                <a:solidFill>
                  <a:srgbClr val="0070C0"/>
                </a:solidFill>
              </a:rPr>
              <a:t>={(Subject0,Subject0), (Subject1,Subject1)} </a:t>
            </a:r>
          </a:p>
          <a:p>
            <a:r>
              <a:rPr lang="en-US" sz="1200" b="0" i="0" dirty="0">
                <a:solidFill>
                  <a:srgbClr val="404040"/>
                </a:solidFill>
                <a:effectLst/>
                <a:latin typeface="Lato" panose="020B0604020202020204" pitchFamily="34" charset="0"/>
              </a:rPr>
              <a:t>Alloy can generate models where a relation points from an atom to itself, aka a “self-loop”. </a:t>
            </a:r>
          </a:p>
          <a:p>
            <a:r>
              <a:rPr lang="en-US" sz="1200" b="0" i="0" dirty="0">
                <a:solidFill>
                  <a:srgbClr val="404040"/>
                </a:solidFill>
                <a:effectLst/>
                <a:latin typeface="Lato" panose="020B0604020202020204" pitchFamily="34" charset="0"/>
              </a:rPr>
              <a:t>For this reason we often want to add constraints to our model, such as </a:t>
            </a:r>
            <a:r>
              <a:rPr lang="en-US" sz="1200" b="0" i="0" u="none" strike="noStrike" dirty="0">
                <a:solidFill>
                  <a:srgbClr val="2980B9"/>
                </a:solidFill>
                <a:effectLst/>
                <a:latin typeface="Lato" panose="020B0604020202020204" pitchFamily="34" charset="0"/>
                <a:hlinkClick r:id="rId2"/>
              </a:rPr>
              <a:t>Facts</a:t>
            </a:r>
            <a:r>
              <a:rPr lang="en-US" sz="1200" b="0" i="0" dirty="0">
                <a:solidFill>
                  <a:srgbClr val="404040"/>
                </a:solidFill>
                <a:effectLst/>
                <a:latin typeface="Lato" panose="020B0604020202020204" pitchFamily="34" charset="0"/>
              </a:rPr>
              <a:t> or </a:t>
            </a:r>
            <a:r>
              <a:rPr lang="en-US" sz="1200" b="0" i="0" u="none" strike="noStrike" dirty="0">
                <a:solidFill>
                  <a:srgbClr val="2980B9"/>
                </a:solidFill>
                <a:effectLst/>
                <a:latin typeface="Lato" panose="020B0604020202020204" pitchFamily="34" charset="0"/>
                <a:hlinkClick r:id="rId3"/>
              </a:rPr>
              <a:t>Predicates</a:t>
            </a:r>
            <a:r>
              <a:rPr lang="en-US" sz="1200" b="0" i="0" dirty="0">
                <a:solidFill>
                  <a:srgbClr val="404040"/>
                </a:solidFill>
                <a:effectLst/>
                <a:latin typeface="Lato" panose="020B0604020202020204" pitchFamily="34" charset="0"/>
              </a:rPr>
              <a:t>.</a:t>
            </a:r>
            <a:endParaRPr lang="en-US" sz="1200" dirty="0"/>
          </a:p>
        </p:txBody>
      </p:sp>
      <p:pic>
        <p:nvPicPr>
          <p:cNvPr id="5" name="Picture 4"/>
          <p:cNvPicPr>
            <a:picLocks noChangeAspect="1"/>
          </p:cNvPicPr>
          <p:nvPr/>
        </p:nvPicPr>
        <p:blipFill>
          <a:blip r:embed="rId4"/>
          <a:stretch>
            <a:fillRect/>
          </a:stretch>
        </p:blipFill>
        <p:spPr>
          <a:xfrm>
            <a:off x="4598828" y="2089160"/>
            <a:ext cx="6257925" cy="2276475"/>
          </a:xfrm>
          <a:prstGeom prst="rect">
            <a:avLst/>
          </a:prstGeom>
        </p:spPr>
      </p:pic>
    </p:spTree>
    <p:extLst>
      <p:ext uri="{BB962C8B-B14F-4D97-AF65-F5344CB8AC3E}">
        <p14:creationId xmlns:p14="http://schemas.microsoft.com/office/powerpoint/2010/main" val="73972588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458200" y="607392"/>
            <a:ext cx="3161963" cy="1003294"/>
          </a:xfrm>
        </p:spPr>
        <p:txBody>
          <a:bodyPr>
            <a:normAutofit fontScale="90000"/>
          </a:bodyPr>
          <a:lstStyle/>
          <a:p>
            <a:r>
              <a:rPr lang="en-US" dirty="0"/>
              <a:t>Atoms &amp; Relations</a:t>
            </a:r>
          </a:p>
        </p:txBody>
      </p:sp>
      <p:pic>
        <p:nvPicPr>
          <p:cNvPr id="4" name="Content Placeholder 3"/>
          <p:cNvPicPr>
            <a:picLocks noGrp="1"/>
          </p:cNvPicPr>
          <p:nvPr>
            <p:ph idx="1"/>
          </p:nvPr>
        </p:nvPicPr>
        <p:blipFill>
          <a:blip r:embed="rId2"/>
          <a:stretch>
            <a:fillRect/>
          </a:stretch>
        </p:blipFill>
        <p:spPr>
          <a:xfrm>
            <a:off x="520065" y="1611312"/>
            <a:ext cx="6858000" cy="3891915"/>
          </a:xfrm>
          <a:prstGeom prst="rect">
            <a:avLst/>
          </a:prstGeom>
          <a:noFill/>
          <a:ln>
            <a:noFill/>
          </a:ln>
        </p:spPr>
      </p:pic>
      <p:sp>
        <p:nvSpPr>
          <p:cNvPr id="11" name="Text Placeholder 3"/>
          <p:cNvSpPr>
            <a:spLocks noGrp="1"/>
          </p:cNvSpPr>
          <p:nvPr>
            <p:ph type="body" sz="half" idx="2"/>
          </p:nvPr>
        </p:nvSpPr>
        <p:spPr>
          <a:xfrm>
            <a:off x="8458200" y="1828800"/>
            <a:ext cx="3161963" cy="4114800"/>
          </a:xfrm>
        </p:spPr>
        <p:txBody>
          <a:bodyPr>
            <a:normAutofit fontScale="47500" lnSpcReduction="20000"/>
          </a:bodyPr>
          <a:lstStyle/>
          <a:p>
            <a:pPr marL="111125">
              <a:lnSpc>
                <a:spcPct val="100000"/>
              </a:lnSpc>
              <a:spcBef>
                <a:spcPts val="1415"/>
              </a:spcBef>
              <a:buClr>
                <a:srgbClr val="000000"/>
              </a:buClr>
              <a:buSzPct val="45000"/>
            </a:pPr>
            <a:r>
              <a:rPr lang="en-US" sz="3200" b="1" strike="noStrike" spc="-1" dirty="0">
                <a:solidFill>
                  <a:srgbClr val="000000"/>
                </a:solidFill>
                <a:latin typeface="Arial" panose="020B0604020202020204"/>
                <a:ea typeface="DejaVu Sans"/>
              </a:rPr>
              <a:t>Size of a relation:</a:t>
            </a:r>
            <a:r>
              <a:rPr lang="en-US" sz="3200" b="0" strike="noStrike" spc="-1" dirty="0">
                <a:solidFill>
                  <a:srgbClr val="000000"/>
                </a:solidFill>
                <a:latin typeface="Arial" panose="020B0604020202020204"/>
                <a:ea typeface="DejaVu Sans"/>
              </a:rPr>
              <a:t> the number of tuples in the relation</a:t>
            </a:r>
            <a:endParaRPr lang="en-US" sz="3200" b="0" strike="noStrike" spc="-1" dirty="0">
              <a:latin typeface="Arial" panose="020B0604020202020204"/>
            </a:endParaRPr>
          </a:p>
          <a:p>
            <a:pPr marL="111125">
              <a:lnSpc>
                <a:spcPct val="100000"/>
              </a:lnSpc>
              <a:spcBef>
                <a:spcPts val="1415"/>
              </a:spcBef>
              <a:buClr>
                <a:srgbClr val="000000"/>
              </a:buClr>
              <a:buSzPct val="45000"/>
            </a:pPr>
            <a:r>
              <a:rPr lang="en-US" sz="3200" b="1" strike="noStrike" spc="-1" dirty="0">
                <a:solidFill>
                  <a:srgbClr val="000000"/>
                </a:solidFill>
                <a:latin typeface="Arial" panose="020B0604020202020204"/>
                <a:ea typeface="DejaVu Sans"/>
              </a:rPr>
              <a:t>Arity of a relation:</a:t>
            </a:r>
            <a:r>
              <a:rPr lang="en-US" sz="3200" b="0" strike="noStrike" spc="-1" dirty="0">
                <a:solidFill>
                  <a:srgbClr val="000000"/>
                </a:solidFill>
                <a:latin typeface="Arial" panose="020B0604020202020204"/>
                <a:ea typeface="DejaVu Sans"/>
              </a:rPr>
              <a:t> the number of atoms in each tuple of the relation</a:t>
            </a:r>
            <a:endParaRPr lang="en-US" sz="3200" b="0" strike="noStrike" spc="-1" dirty="0">
              <a:latin typeface="Arial" panose="020B0604020202020204"/>
            </a:endParaRPr>
          </a:p>
          <a:p>
            <a:pPr marL="111125">
              <a:lnSpc>
                <a:spcPct val="100000"/>
              </a:lnSpc>
              <a:spcBef>
                <a:spcPts val="1415"/>
              </a:spcBef>
              <a:buClr>
                <a:srgbClr val="000000"/>
              </a:buClr>
              <a:buSzPct val="45000"/>
            </a:pPr>
            <a:r>
              <a:rPr lang="en-US" sz="3200" b="0" strike="noStrike" spc="-1" dirty="0">
                <a:solidFill>
                  <a:srgbClr val="000000"/>
                </a:solidFill>
                <a:latin typeface="Arial" panose="020B0604020202020204"/>
                <a:ea typeface="DejaVu Sans"/>
              </a:rPr>
              <a:t>Relations with arity 1, 2, and 3 are said to be unary, binary, and ternary relations respectively</a:t>
            </a:r>
            <a:endParaRPr lang="en-US" sz="3200" b="0" strike="noStrike" spc="-1" dirty="0">
              <a:latin typeface="Arial" panose="020B0604020202020204"/>
            </a:endParaRPr>
          </a:p>
          <a:p>
            <a:pPr marL="111125">
              <a:lnSpc>
                <a:spcPct val="100000"/>
              </a:lnSpc>
              <a:spcBef>
                <a:spcPts val="1415"/>
              </a:spcBef>
              <a:buClr>
                <a:srgbClr val="000000"/>
              </a:buClr>
              <a:buSzPct val="45000"/>
            </a:pPr>
            <a:r>
              <a:rPr lang="en-US" sz="3200" b="0" strike="noStrike" spc="-1" dirty="0">
                <a:solidFill>
                  <a:srgbClr val="000000"/>
                </a:solidFill>
                <a:latin typeface="Arial" panose="020B0604020202020204"/>
                <a:ea typeface="DejaVu Sans"/>
              </a:rPr>
              <a:t>Examples.</a:t>
            </a:r>
          </a:p>
          <a:p>
            <a:pPr marL="111125">
              <a:lnSpc>
                <a:spcPct val="100000"/>
              </a:lnSpc>
              <a:spcBef>
                <a:spcPts val="1415"/>
              </a:spcBef>
              <a:buClr>
                <a:srgbClr val="000000"/>
              </a:buClr>
              <a:buSzPct val="45000"/>
            </a:pPr>
            <a:r>
              <a:rPr lang="en-US" sz="2800" b="0" strike="noStrike" spc="-1" dirty="0">
                <a:solidFill>
                  <a:srgbClr val="0066B3"/>
                </a:solidFill>
                <a:latin typeface="Arial" panose="020B0604020202020204"/>
                <a:ea typeface="DejaVu Sans"/>
              </a:rPr>
              <a:t>relation of arity 1 and size 1</a:t>
            </a:r>
          </a:p>
          <a:p>
            <a:pPr marL="111125">
              <a:lnSpc>
                <a:spcPct val="100000"/>
              </a:lnSpc>
              <a:spcBef>
                <a:spcPts val="1415"/>
              </a:spcBef>
              <a:buClr>
                <a:srgbClr val="000000"/>
              </a:buClr>
              <a:buSzPct val="45000"/>
            </a:pPr>
            <a:r>
              <a:rPr lang="en-US" sz="2800" b="0" strike="noStrike" spc="-1" dirty="0">
                <a:solidFill>
                  <a:srgbClr val="0066B3"/>
                </a:solidFill>
                <a:latin typeface="Arial" panose="020B0604020202020204"/>
                <a:ea typeface="DejaVu Sans"/>
              </a:rPr>
              <a:t>         </a:t>
            </a:r>
            <a:r>
              <a:rPr lang="en-US" sz="2800" b="0" strike="noStrike" spc="-1" dirty="0" err="1">
                <a:solidFill>
                  <a:srgbClr val="0066B3"/>
                </a:solidFill>
                <a:latin typeface="Arial" panose="020B0604020202020204"/>
                <a:ea typeface="DejaVu Sans"/>
              </a:rPr>
              <a:t>myName</a:t>
            </a:r>
            <a:r>
              <a:rPr lang="en-US" sz="2800" b="0" strike="noStrike" spc="-1" dirty="0">
                <a:solidFill>
                  <a:srgbClr val="0066B3"/>
                </a:solidFill>
                <a:latin typeface="Arial" panose="020B0604020202020204"/>
                <a:ea typeface="DejaVu Sans"/>
              </a:rPr>
              <a:t> = {(N0)}</a:t>
            </a:r>
            <a:endParaRPr lang="en-US" sz="2800" spc="-1" dirty="0">
              <a:latin typeface="Arial" panose="020B0604020202020204"/>
            </a:endParaRPr>
          </a:p>
          <a:p>
            <a:pPr marL="111125">
              <a:lnSpc>
                <a:spcPct val="100000"/>
              </a:lnSpc>
              <a:spcBef>
                <a:spcPts val="1415"/>
              </a:spcBef>
              <a:buClr>
                <a:srgbClr val="000000"/>
              </a:buClr>
              <a:buSzPct val="45000"/>
            </a:pPr>
            <a:r>
              <a:rPr lang="en-US" sz="2800" b="0" strike="noStrike" spc="-1" dirty="0">
                <a:solidFill>
                  <a:srgbClr val="0066B3"/>
                </a:solidFill>
                <a:latin typeface="Arial" panose="020B0604020202020204"/>
                <a:ea typeface="DejaVu Sans"/>
              </a:rPr>
              <a:t>relation of arity 2 and size 3 </a:t>
            </a:r>
          </a:p>
          <a:p>
            <a:pPr marL="111125">
              <a:lnSpc>
                <a:spcPct val="100000"/>
              </a:lnSpc>
              <a:spcBef>
                <a:spcPts val="1415"/>
              </a:spcBef>
              <a:buClr>
                <a:srgbClr val="000000"/>
              </a:buClr>
              <a:buSzPct val="45000"/>
            </a:pPr>
            <a:r>
              <a:rPr lang="en-US" sz="2800" spc="-1" dirty="0">
                <a:solidFill>
                  <a:srgbClr val="0066B3"/>
                </a:solidFill>
                <a:latin typeface="Arial" panose="020B0604020202020204"/>
                <a:ea typeface="DejaVu Sans"/>
              </a:rPr>
              <a:t>  </a:t>
            </a:r>
            <a:r>
              <a:rPr lang="en-US" sz="2800" b="0" strike="noStrike" spc="-1" dirty="0">
                <a:solidFill>
                  <a:srgbClr val="0066B3"/>
                </a:solidFill>
                <a:latin typeface="Arial" panose="020B0604020202020204"/>
                <a:ea typeface="DejaVu Sans"/>
              </a:rPr>
              <a:t>address = {(N0,D0),(N1,D1),(N2,D1))</a:t>
            </a:r>
            <a:endParaRPr lang="en-US" sz="2800" b="0" strike="noStrike" spc="-1" dirty="0">
              <a:latin typeface="Arial" panose="020B0604020202020204"/>
            </a:endParaRPr>
          </a:p>
          <a:p>
            <a:endParaRPr lang="en-US" dirty="0"/>
          </a:p>
        </p:txBody>
      </p:sp>
    </p:spTree>
    <p:extLst>
      <p:ext uri="{BB962C8B-B14F-4D97-AF65-F5344CB8AC3E}">
        <p14:creationId xmlns:p14="http://schemas.microsoft.com/office/powerpoint/2010/main" val="409628382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074239"/>
          </a:xfrm>
        </p:spPr>
        <p:txBody>
          <a:bodyPr/>
          <a:lstStyle/>
          <a:p>
            <a:r>
              <a:rPr lang="en-US" dirty="0"/>
              <a:t>Field Expressions</a:t>
            </a:r>
          </a:p>
        </p:txBody>
      </p:sp>
      <p:sp>
        <p:nvSpPr>
          <p:cNvPr id="3" name="Content Placeholder 2"/>
          <p:cNvSpPr>
            <a:spLocks noGrp="1"/>
          </p:cNvSpPr>
          <p:nvPr>
            <p:ph idx="1"/>
          </p:nvPr>
        </p:nvSpPr>
        <p:spPr>
          <a:xfrm>
            <a:off x="1066800" y="1567543"/>
            <a:ext cx="10058400" cy="4842588"/>
          </a:xfrm>
        </p:spPr>
        <p:txBody>
          <a:bodyPr>
            <a:noAutofit/>
          </a:bodyPr>
          <a:lstStyle/>
          <a:p>
            <a:r>
              <a:rPr lang="en-US" sz="1400" dirty="0"/>
              <a:t>A field can be a simple expression over other signatures.</a:t>
            </a:r>
          </a:p>
          <a:p>
            <a:pPr marL="0" indent="0">
              <a:buNone/>
            </a:pPr>
            <a:r>
              <a:rPr lang="en-US" sz="1400" dirty="0"/>
              <a:t>     </a:t>
            </a:r>
            <a:r>
              <a:rPr lang="en-US" sz="1400" b="1" dirty="0">
                <a:solidFill>
                  <a:srgbClr val="0070C0"/>
                </a:solidFill>
              </a:rPr>
              <a:t>sig Resource {</a:t>
            </a:r>
          </a:p>
          <a:p>
            <a:pPr marL="274320" lvl="1" indent="0">
              <a:buNone/>
            </a:pPr>
            <a:r>
              <a:rPr lang="en-US" sz="1400" b="1" dirty="0">
                <a:solidFill>
                  <a:srgbClr val="0070C0"/>
                </a:solidFill>
              </a:rPr>
              <a:t>      permissions: (User + Group)</a:t>
            </a:r>
          </a:p>
          <a:p>
            <a:pPr marL="274320" lvl="1" indent="0">
              <a:buNone/>
            </a:pPr>
            <a:r>
              <a:rPr lang="en-US" sz="1400" b="1" dirty="0">
                <a:solidFill>
                  <a:srgbClr val="0070C0"/>
                </a:solidFill>
              </a:rPr>
              <a:t>}</a:t>
            </a:r>
          </a:p>
          <a:p>
            <a:r>
              <a:rPr lang="en-US" sz="1400" dirty="0"/>
              <a:t>In addition to full signatures, the expression may contain this, which refers to the specific atom itself.</a:t>
            </a:r>
          </a:p>
          <a:p>
            <a:pPr marL="274320" lvl="1" indent="0">
              <a:buNone/>
            </a:pPr>
            <a:r>
              <a:rPr lang="en-US" sz="1400" b="1" dirty="0">
                <a:solidFill>
                  <a:srgbClr val="0070C0"/>
                </a:solidFill>
              </a:rPr>
              <a:t>sig Node {</a:t>
            </a:r>
          </a:p>
          <a:p>
            <a:pPr marL="274320" lvl="1" indent="0">
              <a:buNone/>
            </a:pPr>
            <a:r>
              <a:rPr lang="en-US" sz="1400" b="1" dirty="0">
                <a:solidFill>
                  <a:srgbClr val="0070C0"/>
                </a:solidFill>
              </a:rPr>
              <a:t>     -- no self loops</a:t>
            </a:r>
          </a:p>
          <a:p>
            <a:pPr marL="274320" lvl="1" indent="0">
              <a:buNone/>
            </a:pPr>
            <a:r>
              <a:rPr lang="en-US" sz="1400" b="1" dirty="0">
                <a:solidFill>
                  <a:srgbClr val="0070C0"/>
                </a:solidFill>
              </a:rPr>
              <a:t>     , edges: Node – this</a:t>
            </a:r>
          </a:p>
          <a:p>
            <a:pPr marL="274320" lvl="1" indent="0">
              <a:buNone/>
            </a:pPr>
            <a:r>
              <a:rPr lang="en-US" sz="1400" b="1" dirty="0">
                <a:solidFill>
                  <a:srgbClr val="0070C0"/>
                </a:solidFill>
              </a:rPr>
              <a:t>}</a:t>
            </a:r>
          </a:p>
          <a:p>
            <a:r>
              <a:rPr lang="en-US" sz="1400" dirty="0"/>
              <a:t>A dependent field is one where the expression depends on the values of other fields in the atom. The dependencies must be fields defined either in the signature or its supertype.</a:t>
            </a:r>
          </a:p>
          <a:p>
            <a:pPr marL="274320" lvl="1" indent="0">
              <a:buNone/>
            </a:pPr>
            <a:r>
              <a:rPr lang="en-US" sz="1400" b="1" dirty="0">
                <a:solidFill>
                  <a:srgbClr val="0070C0"/>
                </a:solidFill>
              </a:rPr>
              <a:t>sig Item {}</a:t>
            </a:r>
          </a:p>
          <a:p>
            <a:pPr marL="274320" lvl="1" indent="0">
              <a:buNone/>
            </a:pPr>
            <a:r>
              <a:rPr lang="en-US" sz="1400" b="1" dirty="0">
                <a:solidFill>
                  <a:srgbClr val="0070C0"/>
                </a:solidFill>
              </a:rPr>
              <a:t>sig Person {</a:t>
            </a:r>
          </a:p>
          <a:p>
            <a:pPr marL="274320" lvl="1" indent="0">
              <a:buNone/>
            </a:pPr>
            <a:r>
              <a:rPr lang="en-US" sz="1400" b="1" dirty="0">
                <a:solidFill>
                  <a:srgbClr val="0070C0"/>
                </a:solidFill>
              </a:rPr>
              <a:t>    , favorite: Item</a:t>
            </a:r>
          </a:p>
          <a:p>
            <a:pPr marL="274320" lvl="1" indent="0">
              <a:buNone/>
            </a:pPr>
            <a:r>
              <a:rPr lang="en-US" sz="1400" b="1" dirty="0">
                <a:solidFill>
                  <a:srgbClr val="0070C0"/>
                </a:solidFill>
              </a:rPr>
              <a:t>    , second: Item - favorite</a:t>
            </a:r>
          </a:p>
          <a:p>
            <a:pPr marL="274320" lvl="1" indent="0">
              <a:buNone/>
            </a:pPr>
            <a:r>
              <a:rPr lang="en-US" sz="1400" b="1" dirty="0">
                <a:solidFill>
                  <a:srgbClr val="0070C0"/>
                </a:solidFill>
              </a:rPr>
              <a:t>}</a:t>
            </a:r>
          </a:p>
        </p:txBody>
      </p:sp>
    </p:spTree>
    <p:extLst>
      <p:ext uri="{BB962C8B-B14F-4D97-AF65-F5344CB8AC3E}">
        <p14:creationId xmlns:p14="http://schemas.microsoft.com/office/powerpoint/2010/main" val="4169332235"/>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Continuing Academia Example</a:t>
            </a:r>
          </a:p>
        </p:txBody>
      </p:sp>
      <p:sp>
        <p:nvSpPr>
          <p:cNvPr id="3" name="Content Placeholder 2"/>
          <p:cNvSpPr>
            <a:spLocks noGrp="1"/>
          </p:cNvSpPr>
          <p:nvPr>
            <p:ph idx="1"/>
          </p:nvPr>
        </p:nvSpPr>
        <p:spPr/>
        <p:txBody>
          <a:bodyPr/>
          <a:lstStyle/>
          <a:p>
            <a:r>
              <a:rPr lang="en-US" sz="1600" b="1" dirty="0"/>
              <a:t>Removing Self loop</a:t>
            </a:r>
          </a:p>
          <a:p>
            <a:pPr marL="0" indent="0">
              <a:buNone/>
            </a:pPr>
            <a:r>
              <a:rPr lang="en-US" sz="1600" b="1" dirty="0">
                <a:solidFill>
                  <a:srgbClr val="0070C0"/>
                </a:solidFill>
              </a:rPr>
              <a:t>sig Student{}</a:t>
            </a:r>
          </a:p>
          <a:p>
            <a:pPr marL="0" indent="0">
              <a:buNone/>
            </a:pPr>
            <a:r>
              <a:rPr lang="en-US" sz="1600" b="1" dirty="0">
                <a:solidFill>
                  <a:srgbClr val="0070C0"/>
                </a:solidFill>
              </a:rPr>
              <a:t>sig Teacher{}</a:t>
            </a:r>
          </a:p>
          <a:p>
            <a:pPr marL="0" indent="0">
              <a:buNone/>
            </a:pPr>
            <a:r>
              <a:rPr lang="en-US" sz="1600" b="1" dirty="0">
                <a:solidFill>
                  <a:srgbClr val="0070C0"/>
                </a:solidFill>
              </a:rPr>
              <a:t>sig Subject{</a:t>
            </a:r>
          </a:p>
          <a:p>
            <a:pPr marL="0" indent="0">
              <a:buNone/>
            </a:pPr>
            <a:r>
              <a:rPr lang="en-US" sz="1600" b="1" dirty="0">
                <a:solidFill>
                  <a:srgbClr val="0070C0"/>
                </a:solidFill>
              </a:rPr>
              <a:t>     </a:t>
            </a:r>
            <a:r>
              <a:rPr lang="en-US" sz="1600" b="1" dirty="0" err="1">
                <a:solidFill>
                  <a:srgbClr val="0070C0"/>
                </a:solidFill>
              </a:rPr>
              <a:t>taught_by</a:t>
            </a:r>
            <a:r>
              <a:rPr lang="en-US" sz="1600" b="1" dirty="0">
                <a:solidFill>
                  <a:srgbClr val="0070C0"/>
                </a:solidFill>
              </a:rPr>
              <a:t>: Teacher,</a:t>
            </a:r>
          </a:p>
          <a:p>
            <a:pPr marL="0" indent="0">
              <a:buNone/>
            </a:pPr>
            <a:r>
              <a:rPr lang="en-US" sz="1600" b="1" dirty="0">
                <a:solidFill>
                  <a:srgbClr val="0070C0"/>
                </a:solidFill>
              </a:rPr>
              <a:t>     enrolled: Student,</a:t>
            </a:r>
          </a:p>
          <a:p>
            <a:pPr marL="0" indent="0">
              <a:buNone/>
            </a:pPr>
            <a:r>
              <a:rPr lang="en-US" sz="1600" b="1" dirty="0">
                <a:solidFill>
                  <a:srgbClr val="0070C0"/>
                </a:solidFill>
              </a:rPr>
              <a:t>     </a:t>
            </a:r>
            <a:r>
              <a:rPr lang="en-US" sz="1600" b="1" dirty="0" err="1">
                <a:solidFill>
                  <a:srgbClr val="0070C0"/>
                </a:solidFill>
              </a:rPr>
              <a:t>pre_requisite</a:t>
            </a:r>
            <a:r>
              <a:rPr lang="en-US" sz="1600" b="1" dirty="0">
                <a:solidFill>
                  <a:srgbClr val="0070C0"/>
                </a:solidFill>
              </a:rPr>
              <a:t>: Subject </a:t>
            </a:r>
            <a:r>
              <a:rPr lang="en-US" sz="1600" b="1" dirty="0">
                <a:solidFill>
                  <a:schemeClr val="accent2"/>
                </a:solidFill>
              </a:rPr>
              <a:t>- this</a:t>
            </a:r>
          </a:p>
          <a:p>
            <a:pPr marL="0" indent="0">
              <a:buNone/>
            </a:pPr>
            <a:r>
              <a:rPr lang="en-US" sz="1600" b="1" dirty="0">
                <a:solidFill>
                  <a:srgbClr val="0070C0"/>
                </a:solidFill>
              </a:rPr>
              <a:t>}</a:t>
            </a:r>
            <a:endParaRPr lang="en-US" sz="1600" dirty="0">
              <a:solidFill>
                <a:srgbClr val="404040"/>
              </a:solidFill>
              <a:latin typeface="Lato" panose="020B0604020202020204" pitchFamily="34" charset="0"/>
            </a:endParaRPr>
          </a:p>
          <a:p>
            <a:endParaRPr lang="en-US" dirty="0"/>
          </a:p>
        </p:txBody>
      </p:sp>
    </p:spTree>
    <p:extLst>
      <p:ext uri="{BB962C8B-B14F-4D97-AF65-F5344CB8AC3E}">
        <p14:creationId xmlns:p14="http://schemas.microsoft.com/office/powerpoint/2010/main" val="150430848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Multi-relations</a:t>
            </a:r>
          </a:p>
        </p:txBody>
      </p:sp>
      <p:sp>
        <p:nvSpPr>
          <p:cNvPr id="3" name="Content Placeholder 2"/>
          <p:cNvSpPr>
            <a:spLocks noGrp="1"/>
          </p:cNvSpPr>
          <p:nvPr>
            <p:ph idx="1"/>
          </p:nvPr>
        </p:nvSpPr>
        <p:spPr/>
        <p:txBody>
          <a:bodyPr/>
          <a:lstStyle/>
          <a:p>
            <a:r>
              <a:rPr lang="en-US" dirty="0"/>
              <a:t>Signatures can have multi-relations as fields:</a:t>
            </a:r>
          </a:p>
          <a:p>
            <a:pPr marL="0" indent="0">
              <a:buNone/>
            </a:pPr>
            <a:r>
              <a:rPr lang="en-US" b="1" dirty="0">
                <a:solidFill>
                  <a:srgbClr val="0070C0"/>
                </a:solidFill>
              </a:rPr>
              <a:t>	sig Door {}</a:t>
            </a:r>
          </a:p>
          <a:p>
            <a:pPr marL="0" indent="0">
              <a:buNone/>
            </a:pPr>
            <a:r>
              <a:rPr lang="en-US" b="1" dirty="0">
                <a:solidFill>
                  <a:srgbClr val="0070C0"/>
                </a:solidFill>
              </a:rPr>
              <a:t>	sig Card {}</a:t>
            </a:r>
          </a:p>
          <a:p>
            <a:pPr marL="0" indent="0">
              <a:buNone/>
            </a:pPr>
            <a:r>
              <a:rPr lang="en-US" b="1" dirty="0">
                <a:solidFill>
                  <a:srgbClr val="0070C0"/>
                </a:solidFill>
              </a:rPr>
              <a:t>	sig Person {</a:t>
            </a:r>
          </a:p>
          <a:p>
            <a:pPr marL="0" indent="0">
              <a:buNone/>
            </a:pPr>
            <a:r>
              <a:rPr lang="en-US" b="1" dirty="0">
                <a:solidFill>
                  <a:srgbClr val="0070C0"/>
                </a:solidFill>
              </a:rPr>
              <a:t>	      access: Card -&gt; Door</a:t>
            </a:r>
          </a:p>
          <a:p>
            <a:pPr marL="0" indent="0">
              <a:buNone/>
            </a:pPr>
            <a:r>
              <a:rPr lang="en-US" b="1" dirty="0">
                <a:solidFill>
                  <a:srgbClr val="0070C0"/>
                </a:solidFill>
              </a:rPr>
              <a:t>	}</a:t>
            </a:r>
          </a:p>
          <a:p>
            <a:r>
              <a:rPr lang="en-US" dirty="0"/>
              <a:t>In this case access is a ternary relationship, where each element of access is a relation of form </a:t>
            </a:r>
          </a:p>
          <a:p>
            <a:pPr lvl="1"/>
            <a:r>
              <a:rPr lang="en-US" b="1" dirty="0"/>
              <a:t>Person -&gt; Card -&gt; Door</a:t>
            </a:r>
            <a:r>
              <a:rPr lang="en-US" dirty="0"/>
              <a:t>.</a:t>
            </a:r>
          </a:p>
          <a:p>
            <a:r>
              <a:rPr lang="en-US" b="1" dirty="0">
                <a:solidFill>
                  <a:srgbClr val="0070C0"/>
                </a:solidFill>
              </a:rPr>
              <a:t>access = {(Person0,Card1,Door1), (Person1,Card0, Door0)}</a:t>
            </a:r>
          </a:p>
        </p:txBody>
      </p:sp>
    </p:spTree>
    <p:extLst>
      <p:ext uri="{BB962C8B-B14F-4D97-AF65-F5344CB8AC3E}">
        <p14:creationId xmlns:p14="http://schemas.microsoft.com/office/powerpoint/2010/main" val="335860694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 one</a:t>
            </a:r>
          </a:p>
        </p:txBody>
      </p:sp>
      <p:sp>
        <p:nvSpPr>
          <p:cNvPr id="3" name="Content Placeholder 2"/>
          <p:cNvSpPr>
            <a:spLocks noGrp="1"/>
          </p:cNvSpPr>
          <p:nvPr>
            <p:ph idx="1"/>
          </p:nvPr>
        </p:nvSpPr>
        <p:spPr>
          <a:xfrm>
            <a:off x="1066800" y="2103119"/>
            <a:ext cx="10058400" cy="3952447"/>
          </a:xfrm>
        </p:spPr>
        <p:txBody>
          <a:bodyPr>
            <a:normAutofit lnSpcReduction="10000"/>
          </a:bodyPr>
          <a:lstStyle/>
          <a:p>
            <a:r>
              <a:rPr lang="en-US" dirty="0"/>
              <a:t>Each relation has a multiplicity, which represents how many atoms it can include. If you do not include a multiplicity, it’s assumed to be one.</a:t>
            </a:r>
          </a:p>
          <a:p>
            <a:pPr lvl="1"/>
            <a:r>
              <a:rPr lang="en-US" sz="1400" b="1" dirty="0">
                <a:solidFill>
                  <a:schemeClr val="accent3"/>
                </a:solidFill>
              </a:rPr>
              <a:t>one</a:t>
            </a:r>
            <a:endParaRPr lang="en-US" b="1" dirty="0">
              <a:solidFill>
                <a:schemeClr val="accent3"/>
              </a:solidFill>
            </a:endParaRPr>
          </a:p>
          <a:p>
            <a:pPr lvl="1"/>
            <a:r>
              <a:rPr lang="en-US" b="1" dirty="0"/>
              <a:t>The default. </a:t>
            </a:r>
          </a:p>
          <a:p>
            <a:pPr lvl="1"/>
            <a:r>
              <a:rPr lang="en-US" b="1" dirty="0">
                <a:solidFill>
                  <a:srgbClr val="0070C0"/>
                </a:solidFill>
              </a:rPr>
              <a:t>r: one A </a:t>
            </a:r>
            <a:r>
              <a:rPr lang="en-US" dirty="0"/>
              <a:t>states that there is exactly one A in the set.</a:t>
            </a:r>
          </a:p>
          <a:p>
            <a:pPr marL="274320" lvl="1" indent="0">
              <a:buNone/>
            </a:pPr>
            <a:r>
              <a:rPr lang="en-US" dirty="0"/>
              <a:t>	sig Key {}</a:t>
            </a:r>
          </a:p>
          <a:p>
            <a:pPr marL="274320" lvl="1" indent="0">
              <a:buNone/>
            </a:pPr>
            <a:r>
              <a:rPr lang="en-US" dirty="0"/>
              <a:t>	sig Lock { key: one Key }</a:t>
            </a:r>
          </a:p>
          <a:p>
            <a:pPr lvl="1"/>
            <a:r>
              <a:rPr lang="en-US" dirty="0"/>
              <a:t>This says that every lock has exactly one Key. This does not guarantee a 1-1 correspondence! Two locks can share the same key.</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If no multiplicity is listed, Alloy assumes to be one. So, the above relation can also be written as key: Key.</a:t>
            </a: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0670" y="4180010"/>
            <a:ext cx="158115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437858"/>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 lone</a:t>
            </a:r>
          </a:p>
        </p:txBody>
      </p:sp>
      <p:sp>
        <p:nvSpPr>
          <p:cNvPr id="3" name="Content Placeholder 2"/>
          <p:cNvSpPr>
            <a:spLocks noGrp="1"/>
          </p:cNvSpPr>
          <p:nvPr>
            <p:ph idx="1"/>
          </p:nvPr>
        </p:nvSpPr>
        <p:spPr/>
        <p:txBody>
          <a:bodyPr/>
          <a:lstStyle/>
          <a:p>
            <a:pPr marL="0" indent="0">
              <a:buNone/>
            </a:pPr>
            <a:r>
              <a:rPr lang="en-US" b="1" dirty="0"/>
              <a:t>lone</a:t>
            </a:r>
          </a:p>
          <a:p>
            <a:r>
              <a:rPr lang="en-US" b="1" dirty="0">
                <a:solidFill>
                  <a:srgbClr val="0070C0"/>
                </a:solidFill>
              </a:rPr>
              <a:t>r: lone A</a:t>
            </a:r>
            <a:r>
              <a:rPr lang="en-US" dirty="0"/>
              <a:t> </a:t>
            </a:r>
          </a:p>
          <a:p>
            <a:pPr lvl="1"/>
            <a:r>
              <a:rPr lang="en-US" dirty="0"/>
              <a:t>states that either there is one A in the set, or that the set is empty. You can also think of it as “optional”.</a:t>
            </a:r>
          </a:p>
          <a:p>
            <a:r>
              <a:rPr lang="en-US" dirty="0"/>
              <a:t>Example:</a:t>
            </a:r>
          </a:p>
          <a:p>
            <a:pPr marL="548640" lvl="2" indent="0">
              <a:buNone/>
            </a:pPr>
            <a:endParaRPr lang="en-US" sz="1600" b="1" dirty="0">
              <a:solidFill>
                <a:srgbClr val="0070C0"/>
              </a:solidFill>
            </a:endParaRPr>
          </a:p>
          <a:p>
            <a:pPr marL="548640" lvl="2" indent="0">
              <a:buNone/>
            </a:pPr>
            <a:r>
              <a:rPr lang="en-US" sz="1600" b="1" dirty="0">
                <a:solidFill>
                  <a:srgbClr val="0070C0"/>
                </a:solidFill>
              </a:rPr>
              <a:t>sig Directory {</a:t>
            </a:r>
          </a:p>
          <a:p>
            <a:pPr marL="548640" lvl="2" indent="0">
              <a:buNone/>
            </a:pPr>
            <a:r>
              <a:rPr lang="en-US" sz="1600" b="1" dirty="0">
                <a:solidFill>
                  <a:srgbClr val="0070C0"/>
                </a:solidFill>
              </a:rPr>
              <a:t>	parent: lone Directory</a:t>
            </a:r>
          </a:p>
          <a:p>
            <a:pPr marL="548640" lvl="2" indent="0">
              <a:buNone/>
            </a:pPr>
            <a:r>
              <a:rPr lang="en-US" sz="1600" b="1" dirty="0">
                <a:solidFill>
                  <a:srgbClr val="0070C0"/>
                </a:solidFill>
              </a:rPr>
              <a:t>}</a:t>
            </a:r>
          </a:p>
          <a:p>
            <a:pPr marL="548640" lvl="2" indent="0">
              <a:buNone/>
            </a:pPr>
            <a:endParaRPr lang="en-US" sz="1600" b="1" dirty="0">
              <a:solidFill>
                <a:srgbClr val="0070C0"/>
              </a:solidFill>
            </a:endParaRPr>
          </a:p>
          <a:p>
            <a:r>
              <a:rPr lang="en-US" dirty="0"/>
              <a:t>This says that every directory either has one parent, or it does not have a parent (it’s a root directory).</a:t>
            </a:r>
          </a:p>
          <a:p>
            <a:endParaRPr lang="en-US" dirty="0"/>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487" y="3342787"/>
            <a:ext cx="2105025" cy="1571625"/>
          </a:xfrm>
          <a:prstGeom prst="rect">
            <a:avLst/>
          </a:prstGeom>
          <a:solidFill>
            <a:schemeClr val="accent1"/>
          </a:solidFill>
        </p:spPr>
      </p:pic>
    </p:spTree>
    <p:extLst>
      <p:ext uri="{BB962C8B-B14F-4D97-AF65-F5344CB8AC3E}">
        <p14:creationId xmlns:p14="http://schemas.microsoft.com/office/powerpoint/2010/main" val="361165325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 set</a:t>
            </a:r>
          </a:p>
        </p:txBody>
      </p:sp>
      <p:sp>
        <p:nvSpPr>
          <p:cNvPr id="3" name="Content Placeholder 2"/>
          <p:cNvSpPr>
            <a:spLocks noGrp="1"/>
          </p:cNvSpPr>
          <p:nvPr>
            <p:ph idx="1"/>
          </p:nvPr>
        </p:nvSpPr>
        <p:spPr/>
        <p:txBody>
          <a:bodyPr/>
          <a:lstStyle/>
          <a:p>
            <a:pPr marL="0" indent="0">
              <a:buNone/>
            </a:pPr>
            <a:r>
              <a:rPr lang="en-US" b="1" dirty="0"/>
              <a:t>set</a:t>
            </a:r>
          </a:p>
          <a:p>
            <a:r>
              <a:rPr lang="en-US" b="1" dirty="0">
                <a:solidFill>
                  <a:srgbClr val="0070C0"/>
                </a:solidFill>
              </a:rPr>
              <a:t>r: set A</a:t>
            </a:r>
            <a:r>
              <a:rPr lang="en-US" dirty="0"/>
              <a:t> </a:t>
            </a:r>
          </a:p>
          <a:p>
            <a:pPr lvl="1"/>
            <a:r>
              <a:rPr lang="en-US" dirty="0"/>
              <a:t>states that there can be any number of A in the relation.</a:t>
            </a:r>
          </a:p>
          <a:p>
            <a:r>
              <a:rPr lang="en-US" dirty="0"/>
              <a:t>Example:</a:t>
            </a:r>
            <a:endParaRPr lang="en-US" b="1" dirty="0">
              <a:solidFill>
                <a:srgbClr val="0070C0"/>
              </a:solidFill>
            </a:endParaRPr>
          </a:p>
          <a:p>
            <a:pPr marL="548640" lvl="2" indent="0">
              <a:buNone/>
            </a:pPr>
            <a:r>
              <a:rPr lang="en-US" sz="1600" b="1" dirty="0">
                <a:solidFill>
                  <a:srgbClr val="0070C0"/>
                </a:solidFill>
              </a:rPr>
              <a:t>sig User {}</a:t>
            </a:r>
          </a:p>
          <a:p>
            <a:pPr marL="548640" lvl="2" indent="0">
              <a:buNone/>
            </a:pPr>
            <a:r>
              <a:rPr lang="en-US" sz="1600" b="1" dirty="0">
                <a:solidFill>
                  <a:srgbClr val="0070C0"/>
                </a:solidFill>
              </a:rPr>
              <a:t>sig Region {</a:t>
            </a:r>
          </a:p>
          <a:p>
            <a:pPr marL="548640" lvl="2" indent="0">
              <a:buNone/>
            </a:pPr>
            <a:r>
              <a:rPr lang="en-US" sz="1600" b="1" dirty="0">
                <a:solidFill>
                  <a:srgbClr val="0070C0"/>
                </a:solidFill>
              </a:rPr>
              <a:t>	servers: set User</a:t>
            </a:r>
          </a:p>
          <a:p>
            <a:pPr marL="548640" lvl="2" indent="0">
              <a:buNone/>
            </a:pPr>
            <a:r>
              <a:rPr lang="en-US" sz="1600" b="1" dirty="0">
                <a:solidFill>
                  <a:srgbClr val="0070C0"/>
                </a:solidFill>
              </a:rPr>
              <a:t>}</a:t>
            </a:r>
          </a:p>
          <a:p>
            <a:endParaRPr lang="en-US" dirty="0"/>
          </a:p>
          <a:p>
            <a:endParaRPr lang="en-US"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412" y="3284283"/>
            <a:ext cx="3305175"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047114"/>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 some</a:t>
            </a:r>
          </a:p>
        </p:txBody>
      </p:sp>
      <p:sp>
        <p:nvSpPr>
          <p:cNvPr id="3" name="Content Placeholder 2"/>
          <p:cNvSpPr>
            <a:spLocks noGrp="1"/>
          </p:cNvSpPr>
          <p:nvPr>
            <p:ph idx="1"/>
          </p:nvPr>
        </p:nvSpPr>
        <p:spPr/>
        <p:txBody>
          <a:bodyPr/>
          <a:lstStyle/>
          <a:p>
            <a:pPr marL="0" indent="0">
              <a:buNone/>
            </a:pPr>
            <a:r>
              <a:rPr lang="en-US" b="1" dirty="0"/>
              <a:t>some</a:t>
            </a:r>
          </a:p>
          <a:p>
            <a:r>
              <a:rPr lang="en-US" b="1" dirty="0">
                <a:solidFill>
                  <a:srgbClr val="0070C0"/>
                </a:solidFill>
              </a:rPr>
              <a:t>r: some A</a:t>
            </a:r>
            <a:r>
              <a:rPr lang="en-US" dirty="0"/>
              <a:t> </a:t>
            </a:r>
          </a:p>
          <a:p>
            <a:pPr lvl="1"/>
            <a:r>
              <a:rPr lang="en-US" dirty="0"/>
              <a:t>states that there is at least one A in the relation.</a:t>
            </a:r>
          </a:p>
          <a:p>
            <a:pPr lvl="1"/>
            <a:endParaRPr lang="en-US" dirty="0"/>
          </a:p>
          <a:p>
            <a:r>
              <a:rPr lang="en-US" dirty="0"/>
              <a:t>Example:</a:t>
            </a:r>
            <a:endParaRPr lang="en-US" b="1" dirty="0">
              <a:solidFill>
                <a:srgbClr val="0070C0"/>
              </a:solidFill>
            </a:endParaRPr>
          </a:p>
          <a:p>
            <a:pPr marL="548640" lvl="2" indent="0">
              <a:buNone/>
            </a:pPr>
            <a:r>
              <a:rPr lang="en-US" sz="1600" b="1" dirty="0">
                <a:solidFill>
                  <a:srgbClr val="0070C0"/>
                </a:solidFill>
              </a:rPr>
              <a:t>sig Author {}</a:t>
            </a:r>
          </a:p>
          <a:p>
            <a:pPr marL="548640" lvl="2" indent="0">
              <a:buNone/>
            </a:pPr>
            <a:r>
              <a:rPr lang="en-US" sz="1600" b="1" dirty="0">
                <a:solidFill>
                  <a:srgbClr val="0070C0"/>
                </a:solidFill>
              </a:rPr>
              <a:t>sig Book {</a:t>
            </a:r>
          </a:p>
          <a:p>
            <a:pPr marL="548640" lvl="2" indent="0">
              <a:buNone/>
            </a:pPr>
            <a:r>
              <a:rPr lang="en-US" sz="1600" b="1" dirty="0">
                <a:solidFill>
                  <a:srgbClr val="0070C0"/>
                </a:solidFill>
              </a:rPr>
              <a:t>	by: some Author</a:t>
            </a:r>
          </a:p>
          <a:p>
            <a:pPr marL="548640" lvl="2" indent="0">
              <a:buNone/>
            </a:pPr>
            <a:r>
              <a:rPr lang="en-US" sz="1600" b="1" dirty="0">
                <a:solidFill>
                  <a:srgbClr val="0070C0"/>
                </a:solidFill>
              </a:rPr>
              <a:t>}</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3744" y="3270660"/>
            <a:ext cx="3781425"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73050"/>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 </a:t>
            </a:r>
            <a:r>
              <a:rPr lang="en-US" dirty="0" err="1"/>
              <a:t>disj</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err="1"/>
              <a:t>disj</a:t>
            </a:r>
            <a:endParaRPr lang="en-US" b="1" dirty="0"/>
          </a:p>
          <a:p>
            <a:r>
              <a:rPr lang="en-US" b="1" dirty="0" err="1"/>
              <a:t>disj</a:t>
            </a:r>
            <a:r>
              <a:rPr lang="en-US" b="1" dirty="0"/>
              <a:t> can be prepended to any multiplicity to guarantee that it will be disjoint among all atoms. If we write</a:t>
            </a:r>
          </a:p>
          <a:p>
            <a:pPr marL="0" indent="0">
              <a:buNone/>
            </a:pPr>
            <a:r>
              <a:rPr lang="en-US" b="1" dirty="0">
                <a:solidFill>
                  <a:srgbClr val="0070C0"/>
                </a:solidFill>
              </a:rPr>
              <a:t>    sig Lock {}</a:t>
            </a:r>
          </a:p>
          <a:p>
            <a:pPr marL="0" indent="0">
              <a:buNone/>
            </a:pPr>
            <a:r>
              <a:rPr lang="en-US" b="1" dirty="0">
                <a:solidFill>
                  <a:srgbClr val="0070C0"/>
                </a:solidFill>
              </a:rPr>
              <a:t>    sig Key {</a:t>
            </a:r>
          </a:p>
          <a:p>
            <a:pPr marL="0" indent="0">
              <a:buNone/>
            </a:pPr>
            <a:r>
              <a:rPr lang="en-US" b="1" dirty="0">
                <a:solidFill>
                  <a:srgbClr val="0070C0"/>
                </a:solidFill>
              </a:rPr>
              <a:t>        lock: </a:t>
            </a:r>
            <a:r>
              <a:rPr lang="en-US" b="1" dirty="0" err="1">
                <a:solidFill>
                  <a:srgbClr val="0070C0"/>
                </a:solidFill>
              </a:rPr>
              <a:t>disj</a:t>
            </a:r>
            <a:r>
              <a:rPr lang="en-US" b="1" dirty="0">
                <a:solidFill>
                  <a:srgbClr val="0070C0"/>
                </a:solidFill>
              </a:rPr>
              <a:t> one Lock</a:t>
            </a:r>
          </a:p>
          <a:p>
            <a:pPr marL="0" indent="0">
              <a:buNone/>
            </a:pPr>
            <a:r>
              <a:rPr lang="en-US" b="1" dirty="0">
                <a:solidFill>
                  <a:srgbClr val="0070C0"/>
                </a:solidFill>
              </a:rPr>
              <a:t>    }</a:t>
            </a:r>
          </a:p>
          <a:p>
            <a:r>
              <a:rPr lang="en-US" b="1" dirty="0"/>
              <a:t>Then every key will correspond to a different lock. If we instead write</a:t>
            </a:r>
          </a:p>
          <a:p>
            <a:pPr marL="0" indent="0">
              <a:buNone/>
            </a:pPr>
            <a:r>
              <a:rPr lang="en-US" b="1" dirty="0">
                <a:solidFill>
                  <a:srgbClr val="0070C0"/>
                </a:solidFill>
              </a:rPr>
              <a:t>    sig Lock {}</a:t>
            </a:r>
          </a:p>
          <a:p>
            <a:pPr marL="0" indent="0">
              <a:buNone/>
            </a:pPr>
            <a:r>
              <a:rPr lang="en-US" b="1" dirty="0">
                <a:solidFill>
                  <a:srgbClr val="0070C0"/>
                </a:solidFill>
              </a:rPr>
              <a:t>    sig Key {</a:t>
            </a:r>
          </a:p>
          <a:p>
            <a:pPr marL="0" indent="0">
              <a:buNone/>
            </a:pPr>
            <a:r>
              <a:rPr lang="en-US" b="1" dirty="0">
                <a:solidFill>
                  <a:srgbClr val="0070C0"/>
                </a:solidFill>
              </a:rPr>
              <a:t>      locks: </a:t>
            </a:r>
            <a:r>
              <a:rPr lang="en-US" b="1" dirty="0" err="1">
                <a:solidFill>
                  <a:srgbClr val="0070C0"/>
                </a:solidFill>
              </a:rPr>
              <a:t>disj</a:t>
            </a:r>
            <a:r>
              <a:rPr lang="en-US" b="1" dirty="0">
                <a:solidFill>
                  <a:srgbClr val="0070C0"/>
                </a:solidFill>
              </a:rPr>
              <a:t> some Lock</a:t>
            </a:r>
          </a:p>
          <a:p>
            <a:pPr marL="0" indent="0">
              <a:buNone/>
            </a:pPr>
            <a:r>
              <a:rPr lang="en-US" b="1" dirty="0">
                <a:solidFill>
                  <a:srgbClr val="0070C0"/>
                </a:solidFill>
              </a:rPr>
              <a:t>    }</a:t>
            </a:r>
          </a:p>
          <a:p>
            <a:r>
              <a:rPr lang="en-US" b="1" dirty="0"/>
              <a:t>Then every key will correspond to one or more locks, but no two keys will share a lock.</a:t>
            </a:r>
            <a:endParaRPr lang="en-US" dirty="0"/>
          </a:p>
        </p:txBody>
      </p:sp>
    </p:spTree>
    <p:extLst>
      <p:ext uri="{BB962C8B-B14F-4D97-AF65-F5344CB8AC3E}">
        <p14:creationId xmlns:p14="http://schemas.microsoft.com/office/powerpoint/2010/main" val="20482787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Signature Multiplicity</a:t>
            </a:r>
          </a:p>
        </p:txBody>
      </p:sp>
      <p:sp>
        <p:nvSpPr>
          <p:cNvPr id="3" name="Content Placeholder 2"/>
          <p:cNvSpPr>
            <a:spLocks noGrp="1"/>
          </p:cNvSpPr>
          <p:nvPr>
            <p:ph idx="1"/>
          </p:nvPr>
        </p:nvSpPr>
        <p:spPr/>
        <p:txBody>
          <a:bodyPr/>
          <a:lstStyle/>
          <a:p>
            <a:r>
              <a:rPr lang="en-US" dirty="0"/>
              <a:t>In addition to having multiplicity relationships, we can put multiplicities on the signatures themselves.</a:t>
            </a:r>
          </a:p>
          <a:p>
            <a:r>
              <a:rPr lang="en-US" b="1" dirty="0">
                <a:solidFill>
                  <a:srgbClr val="0070C0"/>
                </a:solidFill>
              </a:rPr>
              <a:t>one sig Foo {}</a:t>
            </a:r>
          </a:p>
          <a:p>
            <a:r>
              <a:rPr lang="en-US" b="1" dirty="0">
                <a:solidFill>
                  <a:srgbClr val="0070C0"/>
                </a:solidFill>
              </a:rPr>
              <a:t>some sig Bar {}</a:t>
            </a:r>
          </a:p>
          <a:p>
            <a:r>
              <a:rPr lang="en-US" b="1" dirty="0">
                <a:solidFill>
                  <a:srgbClr val="0070C0"/>
                </a:solidFill>
              </a:rPr>
              <a:t>//</a:t>
            </a:r>
            <a:r>
              <a:rPr lang="en-US" b="1" dirty="0" err="1">
                <a:solidFill>
                  <a:srgbClr val="0070C0"/>
                </a:solidFill>
              </a:rPr>
              <a:t>etc</a:t>
            </a:r>
            <a:endParaRPr lang="en-US" b="1" dirty="0">
              <a:solidFill>
                <a:srgbClr val="0070C0"/>
              </a:solidFill>
            </a:endParaRPr>
          </a:p>
          <a:p>
            <a:r>
              <a:rPr lang="en-US" dirty="0"/>
              <a:t>By default, signatures have multiplicity set, and there may be zero or more in the model. </a:t>
            </a:r>
          </a:p>
          <a:p>
            <a:r>
              <a:rPr lang="en-US" dirty="0"/>
              <a:t>By making the signature one, every model will have exactly one atom of that signature. </a:t>
            </a:r>
          </a:p>
          <a:p>
            <a:r>
              <a:rPr lang="en-US" dirty="0"/>
              <a:t>By writing some, there will be at least one. </a:t>
            </a:r>
          </a:p>
          <a:p>
            <a:r>
              <a:rPr lang="en-US" dirty="0"/>
              <a:t>By writing lone, there will be zero or one.</a:t>
            </a:r>
          </a:p>
        </p:txBody>
      </p:sp>
    </p:spTree>
    <p:extLst>
      <p:ext uri="{BB962C8B-B14F-4D97-AF65-F5344CB8AC3E}">
        <p14:creationId xmlns:p14="http://schemas.microsoft.com/office/powerpoint/2010/main" val="362753963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in Multi-relations</a:t>
            </a:r>
          </a:p>
        </p:txBody>
      </p:sp>
      <p:sp>
        <p:nvSpPr>
          <p:cNvPr id="3" name="Content Placeholder 2"/>
          <p:cNvSpPr>
            <a:spLocks noGrp="1"/>
          </p:cNvSpPr>
          <p:nvPr>
            <p:ph idx="1"/>
          </p:nvPr>
        </p:nvSpPr>
        <p:spPr/>
        <p:txBody>
          <a:bodyPr/>
          <a:lstStyle/>
          <a:p>
            <a:r>
              <a:rPr lang="en-US" dirty="0" err="1"/>
              <a:t>Multirelations</a:t>
            </a:r>
            <a:r>
              <a:rPr lang="en-US" dirty="0"/>
              <a:t> have a special kind of multiplicity:</a:t>
            </a:r>
          </a:p>
          <a:p>
            <a:r>
              <a:rPr lang="en-US" b="1" dirty="0">
                <a:solidFill>
                  <a:srgbClr val="0070C0"/>
                </a:solidFill>
              </a:rPr>
              <a:t>r: A m -&gt; n B</a:t>
            </a:r>
          </a:p>
          <a:p>
            <a:r>
              <a:rPr lang="en-US" dirty="0"/>
              <a:t>This says that </a:t>
            </a:r>
            <a:r>
              <a:rPr lang="en-US" b="1" dirty="0">
                <a:solidFill>
                  <a:srgbClr val="0070C0"/>
                </a:solidFill>
              </a:rPr>
              <a:t>each member of A is mapped to </a:t>
            </a:r>
            <a:r>
              <a:rPr lang="en-US" b="1" i="1" dirty="0">
                <a:solidFill>
                  <a:srgbClr val="0070C0"/>
                </a:solidFill>
              </a:rPr>
              <a:t>n</a:t>
            </a:r>
            <a:r>
              <a:rPr lang="en-US" b="1" dirty="0">
                <a:solidFill>
                  <a:srgbClr val="0070C0"/>
                </a:solidFill>
              </a:rPr>
              <a:t> elements of B</a:t>
            </a:r>
            <a:r>
              <a:rPr lang="en-US" dirty="0"/>
              <a:t>, and </a:t>
            </a:r>
            <a:r>
              <a:rPr lang="en-US" b="1" i="1" dirty="0">
                <a:solidFill>
                  <a:srgbClr val="0070C0"/>
                </a:solidFill>
              </a:rPr>
              <a:t>m</a:t>
            </a:r>
            <a:r>
              <a:rPr lang="en-US" b="1" dirty="0">
                <a:solidFill>
                  <a:srgbClr val="0070C0"/>
                </a:solidFill>
              </a:rPr>
              <a:t> elements of A map to each element of B</a:t>
            </a:r>
            <a:r>
              <a:rPr lang="en-US" dirty="0"/>
              <a:t>. If not specified, the multiplicities are assumed to be set.</a:t>
            </a:r>
          </a:p>
        </p:txBody>
      </p:sp>
    </p:spTree>
    <p:extLst>
      <p:ext uri="{BB962C8B-B14F-4D97-AF65-F5344CB8AC3E}">
        <p14:creationId xmlns:p14="http://schemas.microsoft.com/office/powerpoint/2010/main" val="110682867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43281" y="241551"/>
          <a:ext cx="11729207" cy="6374897"/>
        </p:xfrm>
        <a:graphic>
          <a:graphicData uri="http://schemas.openxmlformats.org/drawingml/2006/table">
            <a:tbl>
              <a:tblPr/>
              <a:tblGrid>
                <a:gridCol w="1174458">
                  <a:extLst>
                    <a:ext uri="{9D8B030D-6E8A-4147-A177-3AD203B41FA5}">
                      <a16:colId xmlns:a16="http://schemas.microsoft.com/office/drawing/2014/main" val="20000"/>
                    </a:ext>
                  </a:extLst>
                </a:gridCol>
                <a:gridCol w="1150834">
                  <a:extLst>
                    <a:ext uri="{9D8B030D-6E8A-4147-A177-3AD203B41FA5}">
                      <a16:colId xmlns:a16="http://schemas.microsoft.com/office/drawing/2014/main" val="20001"/>
                    </a:ext>
                  </a:extLst>
                </a:gridCol>
                <a:gridCol w="9403915">
                  <a:extLst>
                    <a:ext uri="{9D8B030D-6E8A-4147-A177-3AD203B41FA5}">
                      <a16:colId xmlns:a16="http://schemas.microsoft.com/office/drawing/2014/main" val="20002"/>
                    </a:ext>
                  </a:extLst>
                </a:gridCol>
              </a:tblGrid>
              <a:tr h="242494">
                <a:tc gridSpan="3">
                  <a:txBody>
                    <a:bodyPr/>
                    <a:lstStyle/>
                    <a:p>
                      <a:pPr algn="ctr"/>
                      <a:r>
                        <a:rPr lang="en-US" sz="1800" b="1" dirty="0">
                          <a:solidFill>
                            <a:srgbClr val="0070C0"/>
                          </a:solidFill>
                        </a:rPr>
                        <a:t>r: A m -&gt; n B</a:t>
                      </a:r>
                      <a:endParaRPr lang="en-US" sz="1800" b="1" dirty="0">
                        <a:effectLst/>
                      </a:endParaRP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hMerge="1">
                  <a:txBody>
                    <a:bodyPr/>
                    <a:lstStyle/>
                    <a:p>
                      <a:endParaRPr lang="en-US"/>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hMerge="1">
                  <a:txBody>
                    <a:bodyPr/>
                    <a:lstStyle/>
                    <a:p>
                      <a:endParaRPr lang="en-US"/>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0"/>
                  </a:ext>
                </a:extLst>
              </a:tr>
              <a:tr h="345357">
                <a:tc>
                  <a:txBody>
                    <a:bodyPr/>
                    <a:lstStyle/>
                    <a:p>
                      <a:r>
                        <a:rPr lang="en-US" sz="1600" b="1" dirty="0">
                          <a:effectLst/>
                        </a:rPr>
                        <a:t>m</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r>
                        <a:rPr lang="en-US" sz="1600" b="1">
                          <a:effectLst/>
                        </a:rPr>
                        <a:t>n</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r>
                        <a:rPr lang="en-US" sz="1600" b="1" dirty="0">
                          <a:effectLst/>
                        </a:rPr>
                        <a:t>Meaning</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1"/>
                  </a:ext>
                </a:extLst>
              </a:tr>
              <a:tr h="345357">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dirty="0">
                          <a:effectLst/>
                        </a:rPr>
                        <a:t>No restrictions</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345357">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Each A used at least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3"/>
                  </a:ext>
                </a:extLst>
              </a:tr>
              <a:tr h="363617">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A is mapped to exactly one B (total function)</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04"/>
                  </a:ext>
                </a:extLst>
              </a:tr>
              <a:tr h="363617">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Each A is mapped to at most one B (partial function)</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5"/>
                  </a:ext>
                </a:extLst>
              </a:tr>
              <a:tr h="345357">
                <a:tc>
                  <a:txBody>
                    <a:bodyPr/>
                    <a:lstStyle/>
                    <a:p>
                      <a:pPr fontAlgn="ctr"/>
                      <a:r>
                        <a:rPr lang="en-US" sz="1600" dirty="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B mapped to at least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06"/>
                  </a:ext>
                </a:extLst>
              </a:tr>
              <a:tr h="345357">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Every A mapped from and every B mapped to</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7"/>
                  </a:ext>
                </a:extLst>
              </a:tr>
              <a:tr h="363617">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A used exactly once, each B used at least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08"/>
                  </a:ext>
                </a:extLst>
              </a:tr>
              <a:tr h="363617">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Each A used at most once, each B used at least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09"/>
                  </a:ext>
                </a:extLst>
              </a:tr>
              <a:tr h="362403">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B used exactly once, no other restrictions (one A can map to two B atoms)</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10"/>
                  </a:ext>
                </a:extLst>
              </a:tr>
              <a:tr h="363617">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Each B used exactly once, each A used at least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11"/>
                  </a:ext>
                </a:extLst>
              </a:tr>
              <a:tr h="345357">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Only satisfiable if #A = #B, bijection</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12"/>
                  </a:ext>
                </a:extLst>
              </a:tr>
              <a:tr h="363617">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At most #A arrows, exactly #B arrows, each A used at most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13"/>
                  </a:ext>
                </a:extLst>
              </a:tr>
              <a:tr h="345357">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set</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B used at most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14"/>
                  </a:ext>
                </a:extLst>
              </a:tr>
              <a:tr h="363617">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some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Each A used at least once and each B used at most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15"/>
                  </a:ext>
                </a:extLst>
              </a:tr>
              <a:tr h="363617">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tc>
                  <a:txBody>
                    <a:bodyPr/>
                    <a:lstStyle/>
                    <a:p>
                      <a:pPr fontAlgn="ctr"/>
                      <a:r>
                        <a:rPr lang="en-US" sz="1600">
                          <a:effectLst/>
                        </a:rPr>
                        <a:t>Each A used exactly once, each B used at most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3F6F6"/>
                    </a:solidFill>
                  </a:tcPr>
                </a:tc>
                <a:extLst>
                  <a:ext uri="{0D108BD9-81ED-4DB2-BD59-A6C34878D82A}">
                    <a16:rowId xmlns:a16="http://schemas.microsoft.com/office/drawing/2014/main" val="10016"/>
                  </a:ext>
                </a:extLst>
              </a:tr>
              <a:tr h="363617">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a:effectLst/>
                        </a:rPr>
                        <a:t>lone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tc>
                  <a:txBody>
                    <a:bodyPr/>
                    <a:lstStyle/>
                    <a:p>
                      <a:pPr fontAlgn="ctr"/>
                      <a:r>
                        <a:rPr lang="en-US" sz="1600" dirty="0">
                          <a:effectLst/>
                        </a:rPr>
                        <a:t>Each A used at most once, each B used at most once</a:t>
                      </a:r>
                    </a:p>
                  </a:txBody>
                  <a:tcPr marL="48121" marR="48121" marT="24061" marB="24061" anchor="ctr">
                    <a:lnL w="9525" cap="flat" cmpd="sng" algn="ctr">
                      <a:solidFill>
                        <a:srgbClr val="E1E4E5"/>
                      </a:solidFill>
                      <a:prstDash val="solid"/>
                      <a:round/>
                      <a:headEnd type="none" w="med" len="med"/>
                      <a:tailEnd type="none" w="med" len="med"/>
                    </a:lnL>
                    <a:lnR w="9525" cap="flat" cmpd="sng" algn="ctr">
                      <a:solidFill>
                        <a:srgbClr val="E1E4E5"/>
                      </a:solidFill>
                      <a:prstDash val="solid"/>
                      <a:round/>
                      <a:headEnd type="none" w="med" len="med"/>
                      <a:tailEnd type="none" w="med" len="med"/>
                    </a:lnR>
                    <a:lnT w="9525" cap="flat" cmpd="sng" algn="ctr">
                      <a:solidFill>
                        <a:srgbClr val="E1E4E5"/>
                      </a:solidFill>
                      <a:prstDash val="solid"/>
                      <a:round/>
                      <a:headEnd type="none" w="med" len="med"/>
                      <a:tailEnd type="none" w="med" len="med"/>
                    </a:lnT>
                    <a:lnB w="9525" cap="flat" cmpd="sng" algn="ctr">
                      <a:solidFill>
                        <a:srgbClr val="E1E4E5"/>
                      </a:solidFill>
                      <a:prstDash val="solid"/>
                      <a:round/>
                      <a:headEnd type="none" w="med" len="med"/>
                      <a:tailEnd type="none" w="med" len="med"/>
                    </a:lnB>
                    <a:solidFill>
                      <a:srgbClr val="FCFCFC"/>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625046191"/>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Continuing Academia Example</a:t>
            </a:r>
          </a:p>
        </p:txBody>
      </p:sp>
      <p:sp>
        <p:nvSpPr>
          <p:cNvPr id="3" name="Content Placeholder 2"/>
          <p:cNvSpPr>
            <a:spLocks noGrp="1"/>
          </p:cNvSpPr>
          <p:nvPr>
            <p:ph idx="1"/>
          </p:nvPr>
        </p:nvSpPr>
        <p:spPr/>
        <p:txBody>
          <a:bodyPr>
            <a:normAutofit fontScale="92500" lnSpcReduction="20000"/>
          </a:bodyPr>
          <a:lstStyle/>
          <a:p>
            <a:r>
              <a:rPr lang="en-US" sz="1600" b="1" dirty="0"/>
              <a:t>Adding multiplicity constraints</a:t>
            </a:r>
          </a:p>
          <a:p>
            <a:pPr marL="0" indent="0">
              <a:buNone/>
            </a:pPr>
            <a:r>
              <a:rPr lang="en-US" sz="1600" b="1" dirty="0">
                <a:solidFill>
                  <a:srgbClr val="0070C0"/>
                </a:solidFill>
              </a:rPr>
              <a:t>module tour/</a:t>
            </a:r>
            <a:r>
              <a:rPr lang="en-US" sz="1600" b="1" dirty="0" err="1">
                <a:solidFill>
                  <a:srgbClr val="0070C0"/>
                </a:solidFill>
              </a:rPr>
              <a:t>schoolmgmt</a:t>
            </a:r>
            <a:endParaRPr lang="en-US" sz="1600" b="1" dirty="0">
              <a:solidFill>
                <a:srgbClr val="0070C0"/>
              </a:solidFill>
            </a:endParaRPr>
          </a:p>
          <a:p>
            <a:pPr marL="0" indent="0">
              <a:buNone/>
            </a:pPr>
            <a:r>
              <a:rPr lang="en-US" sz="1600" b="1" dirty="0">
                <a:solidFill>
                  <a:srgbClr val="0070C0"/>
                </a:solidFill>
              </a:rPr>
              <a:t>sig Student{}</a:t>
            </a:r>
          </a:p>
          <a:p>
            <a:pPr marL="0" indent="0">
              <a:buNone/>
            </a:pPr>
            <a:r>
              <a:rPr lang="en-US" sz="1600" b="1" dirty="0">
                <a:solidFill>
                  <a:srgbClr val="0070C0"/>
                </a:solidFill>
              </a:rPr>
              <a:t>some sig Teacher{}</a:t>
            </a:r>
          </a:p>
          <a:p>
            <a:pPr marL="0" indent="0">
              <a:buNone/>
            </a:pPr>
            <a:r>
              <a:rPr lang="en-US" sz="1600" b="1" dirty="0">
                <a:solidFill>
                  <a:srgbClr val="0070C0"/>
                </a:solidFill>
              </a:rPr>
              <a:t>some sig Subject{</a:t>
            </a:r>
          </a:p>
          <a:p>
            <a:pPr marL="0" indent="0">
              <a:buNone/>
            </a:pPr>
            <a:r>
              <a:rPr lang="en-US" sz="1600" b="1" dirty="0">
                <a:solidFill>
                  <a:srgbClr val="0070C0"/>
                </a:solidFill>
              </a:rPr>
              <a:t>     </a:t>
            </a:r>
            <a:r>
              <a:rPr lang="en-US" sz="1600" b="1" dirty="0" err="1">
                <a:solidFill>
                  <a:srgbClr val="0070C0"/>
                </a:solidFill>
              </a:rPr>
              <a:t>taught_by</a:t>
            </a:r>
            <a:r>
              <a:rPr lang="en-US" sz="1600" b="1" dirty="0">
                <a:solidFill>
                  <a:srgbClr val="0070C0"/>
                </a:solidFill>
              </a:rPr>
              <a:t>: one Teacher,</a:t>
            </a:r>
          </a:p>
          <a:p>
            <a:pPr marL="0" indent="0">
              <a:buNone/>
            </a:pPr>
            <a:r>
              <a:rPr lang="en-US" sz="1600" b="1" dirty="0">
                <a:solidFill>
                  <a:srgbClr val="0070C0"/>
                </a:solidFill>
              </a:rPr>
              <a:t>     enrolled: some Student,</a:t>
            </a:r>
          </a:p>
          <a:p>
            <a:pPr marL="0" indent="0">
              <a:buNone/>
            </a:pPr>
            <a:r>
              <a:rPr lang="en-US" sz="1600" b="1" dirty="0">
                <a:solidFill>
                  <a:srgbClr val="0070C0"/>
                </a:solidFill>
              </a:rPr>
              <a:t>     </a:t>
            </a:r>
            <a:r>
              <a:rPr lang="en-US" sz="1600" b="1" dirty="0" err="1">
                <a:solidFill>
                  <a:srgbClr val="0070C0"/>
                </a:solidFill>
              </a:rPr>
              <a:t>pre_requisite</a:t>
            </a:r>
            <a:r>
              <a:rPr lang="en-US" sz="1600" b="1" dirty="0">
                <a:solidFill>
                  <a:srgbClr val="0070C0"/>
                </a:solidFill>
              </a:rPr>
              <a:t>: set Subject- this</a:t>
            </a:r>
          </a:p>
          <a:p>
            <a:pPr marL="0" indent="0">
              <a:buNone/>
            </a:pPr>
            <a:r>
              <a:rPr lang="en-US" sz="1600" b="1" dirty="0">
                <a:solidFill>
                  <a:srgbClr val="0070C0"/>
                </a:solidFill>
              </a:rPr>
              <a:t>}</a:t>
            </a:r>
          </a:p>
          <a:p>
            <a:pPr marL="0" indent="0">
              <a:buNone/>
            </a:pPr>
            <a:endParaRPr lang="en-US" sz="1600" b="1" dirty="0">
              <a:solidFill>
                <a:srgbClr val="0070C0"/>
              </a:solidFill>
            </a:endParaRPr>
          </a:p>
          <a:p>
            <a:pPr marL="0" indent="0">
              <a:buNone/>
            </a:pPr>
            <a:r>
              <a:rPr lang="en-US" sz="1600" b="1" dirty="0" err="1">
                <a:solidFill>
                  <a:srgbClr val="0070C0"/>
                </a:solidFill>
              </a:rPr>
              <a:t>pred</a:t>
            </a:r>
            <a:r>
              <a:rPr lang="en-US" sz="1600" b="1" dirty="0">
                <a:solidFill>
                  <a:srgbClr val="0070C0"/>
                </a:solidFill>
              </a:rPr>
              <a:t> show() {}</a:t>
            </a:r>
          </a:p>
          <a:p>
            <a:pPr marL="0" indent="0">
              <a:buNone/>
            </a:pPr>
            <a:r>
              <a:rPr lang="en-US" sz="1600" b="1" dirty="0">
                <a:solidFill>
                  <a:srgbClr val="0070C0"/>
                </a:solidFill>
              </a:rPr>
              <a:t>run show for 3 but 2 Teacher</a:t>
            </a:r>
          </a:p>
          <a:p>
            <a:endParaRPr lang="en-US" dirty="0"/>
          </a:p>
        </p:txBody>
      </p:sp>
    </p:spTree>
    <p:extLst>
      <p:ext uri="{BB962C8B-B14F-4D97-AF65-F5344CB8AC3E}">
        <p14:creationId xmlns:p14="http://schemas.microsoft.com/office/powerpoint/2010/main" val="220616102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Subtypes</a:t>
            </a:r>
          </a:p>
        </p:txBody>
      </p:sp>
      <p:sp>
        <p:nvSpPr>
          <p:cNvPr id="3" name="Content Placeholder 2"/>
          <p:cNvSpPr>
            <a:spLocks noGrp="1"/>
          </p:cNvSpPr>
          <p:nvPr>
            <p:ph idx="1"/>
          </p:nvPr>
        </p:nvSpPr>
        <p:spPr/>
        <p:txBody>
          <a:bodyPr>
            <a:normAutofit lnSpcReduction="10000"/>
          </a:bodyPr>
          <a:lstStyle/>
          <a:p>
            <a:r>
              <a:rPr lang="en-US" dirty="0"/>
              <a:t>We can make some signatures subtypes of other signatures.</a:t>
            </a:r>
          </a:p>
          <a:p>
            <a:pPr marL="0" indent="0">
              <a:buNone/>
            </a:pPr>
            <a:endParaRPr lang="en-US" dirty="0"/>
          </a:p>
          <a:p>
            <a:r>
              <a:rPr lang="en-US" b="1" dirty="0">
                <a:solidFill>
                  <a:srgbClr val="0070C0"/>
                </a:solidFill>
              </a:rPr>
              <a:t>In</a:t>
            </a:r>
          </a:p>
          <a:p>
            <a:r>
              <a:rPr lang="en-US" dirty="0"/>
              <a:t>Creates inclusive subsets</a:t>
            </a:r>
          </a:p>
          <a:p>
            <a:r>
              <a:rPr lang="en-US" dirty="0"/>
              <a:t>Writing </a:t>
            </a:r>
            <a:r>
              <a:rPr lang="en-US" b="1" dirty="0">
                <a:solidFill>
                  <a:srgbClr val="0070C0"/>
                </a:solidFill>
              </a:rPr>
              <a:t>sig Child in Parent</a:t>
            </a:r>
            <a:r>
              <a:rPr lang="en-US" dirty="0"/>
              <a:t> creates Child set a subset of Parent.</a:t>
            </a:r>
          </a:p>
          <a:p>
            <a:r>
              <a:rPr lang="en-US" dirty="0"/>
              <a:t>Example:</a:t>
            </a:r>
          </a:p>
          <a:p>
            <a:pPr marL="0" indent="0">
              <a:buNone/>
            </a:pPr>
            <a:r>
              <a:rPr lang="en-US" dirty="0"/>
              <a:t>	</a:t>
            </a:r>
            <a:r>
              <a:rPr lang="en-US" b="1" dirty="0">
                <a:solidFill>
                  <a:srgbClr val="0070C0"/>
                </a:solidFill>
              </a:rPr>
              <a:t>sig Machine {}</a:t>
            </a:r>
          </a:p>
          <a:p>
            <a:pPr marL="0" indent="0">
              <a:buNone/>
            </a:pPr>
            <a:r>
              <a:rPr lang="en-US" b="1" dirty="0">
                <a:solidFill>
                  <a:srgbClr val="0070C0"/>
                </a:solidFill>
              </a:rPr>
              <a:t>	sig Broken in Machine {}</a:t>
            </a:r>
          </a:p>
          <a:p>
            <a:pPr marL="0" indent="0">
              <a:buNone/>
            </a:pPr>
            <a:r>
              <a:rPr lang="en-US" b="1" dirty="0">
                <a:solidFill>
                  <a:srgbClr val="0070C0"/>
                </a:solidFill>
              </a:rPr>
              <a:t>	sig Online in Machine {}</a:t>
            </a:r>
          </a:p>
          <a:p>
            <a:r>
              <a:rPr lang="en-US" dirty="0"/>
              <a:t>In this case, Broken and online are subsets of Machines.</a:t>
            </a:r>
          </a:p>
          <a:p>
            <a:pPr lvl="1"/>
            <a:r>
              <a:rPr lang="en-US" dirty="0"/>
              <a:t>Any Machine can be Broken, Online, both, or neither.</a:t>
            </a:r>
          </a:p>
        </p:txBody>
      </p:sp>
    </p:spTree>
    <p:extLst>
      <p:ext uri="{BB962C8B-B14F-4D97-AF65-F5344CB8AC3E}">
        <p14:creationId xmlns:p14="http://schemas.microsoft.com/office/powerpoint/2010/main" val="938794702"/>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Subtypes</a:t>
            </a:r>
          </a:p>
        </p:txBody>
      </p:sp>
      <p:sp>
        <p:nvSpPr>
          <p:cNvPr id="3" name="Content Placeholder 2"/>
          <p:cNvSpPr>
            <a:spLocks noGrp="1"/>
          </p:cNvSpPr>
          <p:nvPr>
            <p:ph idx="1"/>
          </p:nvPr>
        </p:nvSpPr>
        <p:spPr/>
        <p:txBody>
          <a:bodyPr>
            <a:normAutofit/>
          </a:bodyPr>
          <a:lstStyle/>
          <a:p>
            <a:r>
              <a:rPr lang="en-US" b="1" dirty="0">
                <a:solidFill>
                  <a:srgbClr val="0070C0"/>
                </a:solidFill>
              </a:rPr>
              <a:t>extends</a:t>
            </a:r>
          </a:p>
          <a:p>
            <a:r>
              <a:rPr lang="en-US" dirty="0"/>
              <a:t>Creates disjoint subsets</a:t>
            </a:r>
          </a:p>
          <a:p>
            <a:r>
              <a:rPr lang="en-US" dirty="0"/>
              <a:t>Example:</a:t>
            </a:r>
          </a:p>
          <a:p>
            <a:pPr marL="0" indent="0">
              <a:buNone/>
            </a:pPr>
            <a:r>
              <a:rPr lang="en-US" dirty="0"/>
              <a:t>	</a:t>
            </a:r>
            <a:r>
              <a:rPr lang="en-US" b="1" dirty="0">
                <a:solidFill>
                  <a:srgbClr val="0070C0"/>
                </a:solidFill>
              </a:rPr>
              <a:t>sig Machine {}</a:t>
            </a:r>
          </a:p>
          <a:p>
            <a:pPr marL="0" indent="0">
              <a:buNone/>
            </a:pPr>
            <a:r>
              <a:rPr lang="en-US" b="1" dirty="0">
                <a:solidFill>
                  <a:srgbClr val="0070C0"/>
                </a:solidFill>
              </a:rPr>
              <a:t>	sig Client extends Machine {}</a:t>
            </a:r>
          </a:p>
          <a:p>
            <a:pPr marL="0" indent="0">
              <a:buNone/>
            </a:pPr>
            <a:r>
              <a:rPr lang="en-US" b="1" dirty="0">
                <a:solidFill>
                  <a:srgbClr val="0070C0"/>
                </a:solidFill>
              </a:rPr>
              <a:t>	sig Server extends Machine {}</a:t>
            </a:r>
          </a:p>
          <a:p>
            <a:r>
              <a:rPr lang="en-US" dirty="0"/>
              <a:t>In this case, any Machine can be a Server, a Client, or neither, but not both.</a:t>
            </a:r>
          </a:p>
          <a:p>
            <a:endParaRPr lang="en-US" dirty="0"/>
          </a:p>
        </p:txBody>
      </p:sp>
    </p:spTree>
    <p:extLst>
      <p:ext uri="{BB962C8B-B14F-4D97-AF65-F5344CB8AC3E}">
        <p14:creationId xmlns:p14="http://schemas.microsoft.com/office/powerpoint/2010/main" val="1535531136"/>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supertype</a:t>
            </a:r>
          </a:p>
        </p:txBody>
      </p:sp>
      <p:sp>
        <p:nvSpPr>
          <p:cNvPr id="3" name="Content Placeholder 2"/>
          <p:cNvSpPr>
            <a:spLocks noGrp="1"/>
          </p:cNvSpPr>
          <p:nvPr>
            <p:ph idx="1"/>
          </p:nvPr>
        </p:nvSpPr>
        <p:spPr/>
        <p:txBody>
          <a:bodyPr/>
          <a:lstStyle/>
          <a:p>
            <a:r>
              <a:rPr lang="en-US" b="1" dirty="0">
                <a:solidFill>
                  <a:srgbClr val="0070C0"/>
                </a:solidFill>
              </a:rPr>
              <a:t>abstract</a:t>
            </a:r>
          </a:p>
          <a:p>
            <a:r>
              <a:rPr lang="en-US" dirty="0"/>
              <a:t>If you make a signature abstract, then all atoms of the signature will belong to extensions. </a:t>
            </a:r>
          </a:p>
          <a:p>
            <a:r>
              <a:rPr lang="en-US" dirty="0"/>
              <a:t>There will be no atoms that are just the supertype and not any of the subtypes.</a:t>
            </a:r>
          </a:p>
          <a:p>
            <a:r>
              <a:rPr lang="en-US" dirty="0"/>
              <a:t>Example</a:t>
            </a:r>
          </a:p>
          <a:p>
            <a:pPr marL="0" indent="0">
              <a:buNone/>
            </a:pPr>
            <a:r>
              <a:rPr lang="en-US" dirty="0"/>
              <a:t>	</a:t>
            </a:r>
            <a:r>
              <a:rPr lang="en-US" b="1" dirty="0">
                <a:solidFill>
                  <a:srgbClr val="0070C0"/>
                </a:solidFill>
              </a:rPr>
              <a:t>abstract sig Machine {}</a:t>
            </a:r>
          </a:p>
          <a:p>
            <a:pPr marL="0" indent="0">
              <a:buNone/>
            </a:pPr>
            <a:r>
              <a:rPr lang="en-US" b="1" dirty="0">
                <a:solidFill>
                  <a:srgbClr val="0070C0"/>
                </a:solidFill>
              </a:rPr>
              <a:t>	sig Broken in Machine {}</a:t>
            </a:r>
          </a:p>
          <a:p>
            <a:pPr marL="0" indent="0">
              <a:buNone/>
            </a:pPr>
            <a:endParaRPr lang="en-US" b="1" dirty="0">
              <a:solidFill>
                <a:srgbClr val="0070C0"/>
              </a:solidFill>
            </a:endParaRPr>
          </a:p>
          <a:p>
            <a:pPr marL="0" indent="0">
              <a:buNone/>
            </a:pPr>
            <a:r>
              <a:rPr lang="en-US" b="1" dirty="0">
                <a:solidFill>
                  <a:srgbClr val="0070C0"/>
                </a:solidFill>
              </a:rPr>
              <a:t>	sig Server extends Machine {}</a:t>
            </a:r>
          </a:p>
          <a:p>
            <a:pPr marL="0" indent="0">
              <a:buNone/>
            </a:pPr>
            <a:r>
              <a:rPr lang="en-US" b="1" dirty="0">
                <a:solidFill>
                  <a:srgbClr val="0070C0"/>
                </a:solidFill>
              </a:rPr>
              <a:t>	sig Client extends Machine {}</a:t>
            </a:r>
          </a:p>
          <a:p>
            <a:r>
              <a:rPr lang="en-US" dirty="0"/>
              <a:t>Here any machine must be either a Server or a Client. They still may or may not be Broken.</a:t>
            </a:r>
          </a:p>
        </p:txBody>
      </p:sp>
    </p:spTree>
    <p:extLst>
      <p:ext uri="{BB962C8B-B14F-4D97-AF65-F5344CB8AC3E}">
        <p14:creationId xmlns:p14="http://schemas.microsoft.com/office/powerpoint/2010/main" val="237540825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2360576" y="793714"/>
            <a:ext cx="7054200" cy="2025360"/>
          </a:xfrm>
          <a:prstGeom prst="rect">
            <a:avLst/>
          </a:prstGeom>
          <a:ln>
            <a:noFill/>
          </a:ln>
        </p:spPr>
      </p:pic>
      <p:grpSp>
        <p:nvGrpSpPr>
          <p:cNvPr id="10" name="Group 9"/>
          <p:cNvGrpSpPr/>
          <p:nvPr/>
        </p:nvGrpSpPr>
        <p:grpSpPr>
          <a:xfrm>
            <a:off x="2360576" y="3204595"/>
            <a:ext cx="7197120" cy="2362542"/>
            <a:chOff x="2360576" y="3204595"/>
            <a:chExt cx="7197120" cy="2362542"/>
          </a:xfrm>
        </p:grpSpPr>
        <p:pic>
          <p:nvPicPr>
            <p:cNvPr id="5" name="Picture 4"/>
            <p:cNvPicPr/>
            <p:nvPr/>
          </p:nvPicPr>
          <p:blipFill>
            <a:blip r:embed="rId3"/>
            <a:stretch>
              <a:fillRect/>
            </a:stretch>
          </p:blipFill>
          <p:spPr>
            <a:xfrm>
              <a:off x="2360576" y="3204595"/>
              <a:ext cx="7197120" cy="1901520"/>
            </a:xfrm>
            <a:prstGeom prst="rect">
              <a:avLst/>
            </a:prstGeom>
            <a:ln>
              <a:noFill/>
            </a:ln>
          </p:spPr>
        </p:pic>
        <p:pic>
          <p:nvPicPr>
            <p:cNvPr id="9" name="Picture 8"/>
            <p:cNvPicPr>
              <a:picLocks noChangeAspect="1"/>
            </p:cNvPicPr>
            <p:nvPr/>
          </p:nvPicPr>
          <p:blipFill>
            <a:blip r:embed="rId4"/>
            <a:stretch>
              <a:fillRect/>
            </a:stretch>
          </p:blipFill>
          <p:spPr>
            <a:xfrm>
              <a:off x="2360576" y="5043262"/>
              <a:ext cx="7197120" cy="523875"/>
            </a:xfrm>
            <a:prstGeom prst="rect">
              <a:avLst/>
            </a:prstGeom>
          </p:spPr>
        </p:pic>
      </p:grpSp>
    </p:spTree>
    <p:extLst>
      <p:ext uri="{BB962C8B-B14F-4D97-AF65-F5344CB8AC3E}">
        <p14:creationId xmlns:p14="http://schemas.microsoft.com/office/powerpoint/2010/main" val="50661982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3.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ppt/theme/theme4.xml><?xml version="1.0" encoding="utf-8"?>
<a:theme xmlns:a="http://schemas.openxmlformats.org/drawingml/2006/main" name="1_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4C809AD19F7E4D9CE8D686D62A7F25" ma:contentTypeVersion="2" ma:contentTypeDescription="Create a new document." ma:contentTypeScope="" ma:versionID="892bf44ddc1b14daecb87b8e9b6f2f21">
  <xsd:schema xmlns:xsd="http://www.w3.org/2001/XMLSchema" xmlns:xs="http://www.w3.org/2001/XMLSchema" xmlns:p="http://schemas.microsoft.com/office/2006/metadata/properties" xmlns:ns2="8dae1f0d-6849-4bb1-b2e3-71de3eaa5682" targetNamespace="http://schemas.microsoft.com/office/2006/metadata/properties" ma:root="true" ma:fieldsID="13e074c1d8f3a4c682c6070ca9a6aa30" ns2:_="">
    <xsd:import namespace="8dae1f0d-6849-4bb1-b2e3-71de3eaa568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ae1f0d-6849-4bb1-b2e3-71de3eaa56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717FF2B-504A-4957-AD6B-0978B3826508}">
  <ds:schemaRefs>
    <ds:schemaRef ds:uri="http://schemas.microsoft.com/sharepoint/v3/contenttype/forms"/>
  </ds:schemaRefs>
</ds:datastoreItem>
</file>

<file path=customXml/itemProps2.xml><?xml version="1.0" encoding="utf-8"?>
<ds:datastoreItem xmlns:ds="http://schemas.openxmlformats.org/officeDocument/2006/customXml" ds:itemID="{E1439D15-3892-40D8-8ACA-77C1B41C20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ae1f0d-6849-4bb1-b2e3-71de3eaa56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8405FF-CA5F-41D5-9BC4-861E6A1F5FEB}">
  <ds:schemaRefs>
    <ds:schemaRef ds:uri="http://purl.org/dc/terms/"/>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8dae1f0d-6849-4bb1-b2e3-71de3eaa5682"/>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Waveform</Template>
  <TotalTime>7398846</TotalTime>
  <Words>10055</Words>
  <Application>Microsoft Office PowerPoint</Application>
  <PresentationFormat>Widescreen</PresentationFormat>
  <Paragraphs>1446</Paragraphs>
  <Slides>147</Slides>
  <Notes>4</Notes>
  <HiddenSlides>0</HiddenSlides>
  <MMClips>0</MMClips>
  <ScaleCrop>false</ScaleCrop>
  <HeadingPairs>
    <vt:vector size="6" baseType="variant">
      <vt:variant>
        <vt:lpstr>Fonts Used</vt:lpstr>
      </vt:variant>
      <vt:variant>
        <vt:i4>20</vt:i4>
      </vt:variant>
      <vt:variant>
        <vt:lpstr>Theme</vt:lpstr>
      </vt:variant>
      <vt:variant>
        <vt:i4>4</vt:i4>
      </vt:variant>
      <vt:variant>
        <vt:lpstr>Slide Titles</vt:lpstr>
      </vt:variant>
      <vt:variant>
        <vt:i4>147</vt:i4>
      </vt:variant>
    </vt:vector>
  </HeadingPairs>
  <TitlesOfParts>
    <vt:vector size="171" baseType="lpstr">
      <vt:lpstr>바탕</vt:lpstr>
      <vt:lpstr>Gulim</vt:lpstr>
      <vt:lpstr>Arial</vt:lpstr>
      <vt:lpstr>Berlin Sans FB</vt:lpstr>
      <vt:lpstr>BrowalliaUPC</vt:lpstr>
      <vt:lpstr>Candara</vt:lpstr>
      <vt:lpstr>Century Gothic</vt:lpstr>
      <vt:lpstr>Century Gothic (Body)</vt:lpstr>
      <vt:lpstr>DejaVu Sans</vt:lpstr>
      <vt:lpstr>Franklin Gothic Book</vt:lpstr>
      <vt:lpstr>Franklin Gothic Demi</vt:lpstr>
      <vt:lpstr>Garamond</vt:lpstr>
      <vt:lpstr>Georgia</vt:lpstr>
      <vt:lpstr>Gill Sans</vt:lpstr>
      <vt:lpstr>Helvetica Neue</vt:lpstr>
      <vt:lpstr>Lato</vt:lpstr>
      <vt:lpstr>Source Sans Pro</vt:lpstr>
      <vt:lpstr>Symbol</vt:lpstr>
      <vt:lpstr>Times New Roman</vt:lpstr>
      <vt:lpstr>Wingdings</vt:lpstr>
      <vt:lpstr>Waveform</vt:lpstr>
      <vt:lpstr>Theme1</vt:lpstr>
      <vt:lpstr>SavonVTI</vt:lpstr>
      <vt:lpstr>1_SavonVTI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MODELING Language</vt:lpstr>
      <vt:lpstr>Java Modeling Language - Introduction</vt:lpstr>
      <vt:lpstr>Unit Specification</vt:lpstr>
      <vt:lpstr>JML Contd.</vt:lpstr>
      <vt:lpstr>Pre and Post Conditions</vt:lpstr>
      <vt:lpstr>Design by Contract Paradigm</vt:lpstr>
      <vt:lpstr>Exceptional Post Conditions</vt:lpstr>
      <vt:lpstr>Exceptional Post Conditions</vt:lpstr>
      <vt:lpstr>Invariants</vt:lpstr>
      <vt:lpstr>Invariants</vt:lpstr>
      <vt:lpstr>JML Keywords</vt:lpstr>
      <vt:lpstr>Contents</vt:lpstr>
      <vt:lpstr>non_null</vt:lpstr>
      <vt:lpstr>Contd.</vt:lpstr>
      <vt:lpstr>nullable</vt:lpstr>
      <vt:lpstr>PowerPoint Presentation</vt:lpstr>
      <vt:lpstr>assert</vt:lpstr>
      <vt:lpstr>assignable</vt:lpstr>
      <vt:lpstr>PowerPoint Presentation</vt:lpstr>
      <vt:lpstr>pure</vt:lpstr>
      <vt:lpstr>Visibility </vt:lpstr>
      <vt:lpstr>spec_public</vt:lpstr>
      <vt:lpstr>Thank you!</vt:lpstr>
      <vt:lpstr>Java Modeling Language </vt:lpstr>
      <vt:lpstr>Agenda</vt:lpstr>
      <vt:lpstr>JML Expressions</vt:lpstr>
      <vt:lpstr>FOL in JML</vt:lpstr>
      <vt:lpstr>JML Quantifiers</vt:lpstr>
      <vt:lpstr>Using Quantified JML expressions </vt:lpstr>
      <vt:lpstr>Generalized Quantifiers </vt:lpstr>
      <vt:lpstr>Inheritance  &amp;  JML</vt:lpstr>
      <vt:lpstr>JML &amp; Inheritance</vt:lpstr>
      <vt:lpstr>Example 1</vt:lpstr>
      <vt:lpstr>PowerPoint Presentation</vt:lpstr>
      <vt:lpstr>Informal Specification</vt:lpstr>
      <vt:lpstr>Getting more precise   Specification as Contracts</vt:lpstr>
      <vt:lpstr>JML by Example</vt:lpstr>
      <vt:lpstr>Getting more precise   Specification as Contracts</vt:lpstr>
      <vt:lpstr>JML by Example</vt:lpstr>
      <vt:lpstr>Getting more precise   Specification as Contracts</vt:lpstr>
      <vt:lpstr>Contd.</vt:lpstr>
      <vt:lpstr>Contd.</vt:lpstr>
      <vt:lpstr>Are specification cases complete?</vt:lpstr>
      <vt:lpstr>Completing spec-case-1</vt:lpstr>
      <vt:lpstr>Completing spec-case-2</vt:lpstr>
      <vt:lpstr>Completing spec-case-3</vt:lpstr>
      <vt:lpstr>Deductive Verification</vt:lpstr>
      <vt:lpstr>Formal Verification with KeY</vt:lpstr>
      <vt:lpstr>Additional References</vt:lpstr>
      <vt:lpstr>THANK YOU!</vt:lpstr>
      <vt:lpstr>Object Constraint Language</vt:lpstr>
      <vt:lpstr>Motivation</vt:lpstr>
      <vt:lpstr>What is OCL?</vt:lpstr>
      <vt:lpstr>Basics of OCL</vt:lpstr>
      <vt:lpstr>Invariants</vt:lpstr>
      <vt:lpstr>Pre and post-conditions</vt:lpstr>
      <vt:lpstr>Contd.</vt:lpstr>
      <vt:lpstr>Navigating in OCL Expressions</vt:lpstr>
      <vt:lpstr>Types in OCL</vt:lpstr>
      <vt:lpstr>Pre-Defined: Basic Values</vt:lpstr>
      <vt:lpstr>Pre-Defined: Collections</vt:lpstr>
      <vt:lpstr>Examples</vt:lpstr>
      <vt:lpstr>Collection Operation</vt:lpstr>
      <vt:lpstr>Collection Operations</vt:lpstr>
      <vt:lpstr>Iteration Operation</vt:lpstr>
      <vt:lpstr>Iteration Operations</vt:lpstr>
      <vt:lpstr>Iteration Operations - Examples</vt:lpstr>
      <vt:lpstr>Iteration Operations - Examples</vt:lpstr>
      <vt:lpstr>The iterate Operation</vt:lpstr>
      <vt:lpstr>USE Tool</vt:lpstr>
      <vt:lpstr>Contents</vt:lpstr>
      <vt:lpstr>USE Tool</vt:lpstr>
      <vt:lpstr>Specifying a UML Model</vt:lpstr>
      <vt:lpstr>UML Model</vt:lpstr>
      <vt:lpstr>Defining a UML Model</vt:lpstr>
      <vt:lpstr>UML Model</vt:lpstr>
      <vt:lpstr>Defining Associations</vt:lpstr>
      <vt:lpstr>Adding Constraints</vt:lpstr>
      <vt:lpstr>Inheritance  in  OCL</vt:lpstr>
      <vt:lpstr>Example 2</vt:lpstr>
      <vt:lpstr>Defining Classes</vt:lpstr>
      <vt:lpstr>Defining Associations</vt:lpstr>
      <vt:lpstr>PowerPoint Presentation</vt:lpstr>
      <vt:lpstr>Example 3</vt:lpstr>
      <vt:lpstr>PowerPoint Presentation</vt:lpstr>
      <vt:lpstr>Constraints</vt:lpstr>
      <vt:lpstr>Constraint 1</vt:lpstr>
      <vt:lpstr>Constraint 2</vt:lpstr>
      <vt:lpstr>Constraint 3</vt:lpstr>
      <vt:lpstr>Constraint 4</vt:lpstr>
      <vt:lpstr>Constraint 5</vt:lpstr>
      <vt:lpstr>Constraint 6</vt:lpstr>
      <vt:lpstr>Thank you!</vt:lpstr>
      <vt:lpstr>Alloy Modelling Language</vt:lpstr>
      <vt:lpstr>Alloy</vt:lpstr>
      <vt:lpstr>Alloy</vt:lpstr>
      <vt:lpstr>Signatures</vt:lpstr>
      <vt:lpstr>Signatures</vt:lpstr>
      <vt:lpstr>Relations - Fields</vt:lpstr>
      <vt:lpstr>Relation - Fields</vt:lpstr>
      <vt:lpstr>Atoms &amp; Relations</vt:lpstr>
      <vt:lpstr>Field Expressions</vt:lpstr>
      <vt:lpstr>Continuing Academia Example</vt:lpstr>
      <vt:lpstr>Multi-relations</vt:lpstr>
      <vt:lpstr>Multiplicity - one</vt:lpstr>
      <vt:lpstr>Multiplicity - lone</vt:lpstr>
      <vt:lpstr>Multiplicity - set</vt:lpstr>
      <vt:lpstr>Multiplicity - some</vt:lpstr>
      <vt:lpstr>Multiplicity - disj</vt:lpstr>
      <vt:lpstr>Signature Multiplicity</vt:lpstr>
      <vt:lpstr>Multiplicity in Multi-relations</vt:lpstr>
      <vt:lpstr>PowerPoint Presentation</vt:lpstr>
      <vt:lpstr>Continuing Academia Example</vt:lpstr>
      <vt:lpstr>Subtypes</vt:lpstr>
      <vt:lpstr>Subtypes</vt:lpstr>
      <vt:lpstr>Abstract supertype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dc:creator>
  <cp:lastModifiedBy>Z220</cp:lastModifiedBy>
  <cp:revision>75</cp:revision>
  <dcterms:modified xsi:type="dcterms:W3CDTF">2025-01-30T04:04:30Z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0x010100384C809AD19F7E4D9CE8D686D62A7F25</vt:lpwstr>
  </property>
</Properties>
</file>