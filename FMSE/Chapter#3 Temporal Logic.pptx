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21" r:id="rId4"/>
  </p:sldMasterIdLst>
  <p:notesMasterIdLst>
    <p:notesMasterId r:id="rId46"/>
  </p:notesMasterIdLst>
  <p:sldIdLst>
    <p:sldId id="296" r:id="rId5"/>
    <p:sldId id="297" r:id="rId6"/>
    <p:sldId id="299" r:id="rId7"/>
    <p:sldId id="300" r:id="rId8"/>
    <p:sldId id="301" r:id="rId9"/>
    <p:sldId id="298" r:id="rId10"/>
    <p:sldId id="302" r:id="rId11"/>
    <p:sldId id="261" r:id="rId12"/>
    <p:sldId id="262" r:id="rId13"/>
    <p:sldId id="263" r:id="rId14"/>
    <p:sldId id="264" r:id="rId15"/>
    <p:sldId id="265" r:id="rId16"/>
    <p:sldId id="268" r:id="rId17"/>
    <p:sldId id="269" r:id="rId18"/>
    <p:sldId id="270" r:id="rId19"/>
    <p:sldId id="271" r:id="rId20"/>
    <p:sldId id="313" r:id="rId21"/>
    <p:sldId id="314" r:id="rId22"/>
    <p:sldId id="315" r:id="rId23"/>
    <p:sldId id="316" r:id="rId24"/>
    <p:sldId id="303" r:id="rId25"/>
    <p:sldId id="304" r:id="rId26"/>
    <p:sldId id="305" r:id="rId27"/>
    <p:sldId id="306" r:id="rId28"/>
    <p:sldId id="307" r:id="rId29"/>
    <p:sldId id="308" r:id="rId30"/>
    <p:sldId id="309" r:id="rId31"/>
    <p:sldId id="310" r:id="rId32"/>
    <p:sldId id="311" r:id="rId33"/>
    <p:sldId id="312" r:id="rId34"/>
    <p:sldId id="317" r:id="rId35"/>
    <p:sldId id="337" r:id="rId36"/>
    <p:sldId id="318" r:id="rId37"/>
    <p:sldId id="322" r:id="rId38"/>
    <p:sldId id="323" r:id="rId39"/>
    <p:sldId id="324" r:id="rId40"/>
    <p:sldId id="325" r:id="rId41"/>
    <p:sldId id="326" r:id="rId42"/>
    <p:sldId id="319" r:id="rId43"/>
    <p:sldId id="320" r:id="rId44"/>
    <p:sldId id="321"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3" d="100"/>
          <a:sy n="63" d="100"/>
        </p:scale>
        <p:origin x="-126" y="-15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4" name="PlaceHolder 1"/>
          <p:cNvSpPr>
            <a:spLocks noGrp="1" noRot="1" noChangeAspect="1"/>
          </p:cNvSpPr>
          <p:nvPr>
            <p:ph type="sldImg"/>
          </p:nvPr>
        </p:nvSpPr>
        <p:spPr>
          <a:xfrm>
            <a:off x="217488" y="812800"/>
            <a:ext cx="7124700" cy="4008438"/>
          </a:xfrm>
          <a:prstGeom prst="rect">
            <a:avLst/>
          </a:prstGeom>
        </p:spPr>
        <p:txBody>
          <a:bodyPr lIns="0" tIns="0" rIns="0" bIns="0" anchor="ctr"/>
          <a:lstStyle/>
          <a:p>
            <a:pPr algn="ctr"/>
            <a:r>
              <a:rPr lang="en-US" sz="4400" b="0" strike="noStrike" spc="-1">
                <a:latin typeface="Arial"/>
              </a:rPr>
              <a:t>Click to move the slide</a:t>
            </a:r>
          </a:p>
        </p:txBody>
      </p:sp>
      <p:sp>
        <p:nvSpPr>
          <p:cNvPr id="85" name="PlaceHolder 2"/>
          <p:cNvSpPr>
            <a:spLocks noGrp="1"/>
          </p:cNvSpPr>
          <p:nvPr>
            <p:ph type="body"/>
          </p:nvPr>
        </p:nvSpPr>
        <p:spPr>
          <a:xfrm>
            <a:off x="756000" y="5078520"/>
            <a:ext cx="6047640" cy="4811040"/>
          </a:xfrm>
          <a:prstGeom prst="rect">
            <a:avLst/>
          </a:prstGeom>
        </p:spPr>
        <p:txBody>
          <a:bodyPr lIns="0" tIns="0" rIns="0" bIns="0"/>
          <a:lstStyle/>
          <a:p>
            <a:r>
              <a:rPr lang="en-US" sz="2000" b="0" strike="noStrike" spc="-1">
                <a:latin typeface="Arial"/>
              </a:rPr>
              <a:t>Click to edit the notes format</a:t>
            </a:r>
          </a:p>
        </p:txBody>
      </p:sp>
      <p:sp>
        <p:nvSpPr>
          <p:cNvPr id="86" name="PlaceHolder 3"/>
          <p:cNvSpPr>
            <a:spLocks noGrp="1"/>
          </p:cNvSpPr>
          <p:nvPr>
            <p:ph type="hdr"/>
          </p:nvPr>
        </p:nvSpPr>
        <p:spPr>
          <a:xfrm>
            <a:off x="0" y="0"/>
            <a:ext cx="3280680" cy="534240"/>
          </a:xfrm>
          <a:prstGeom prst="rect">
            <a:avLst/>
          </a:prstGeom>
        </p:spPr>
        <p:txBody>
          <a:bodyPr lIns="0" tIns="0" rIns="0" bIns="0"/>
          <a:lstStyle/>
          <a:p>
            <a:r>
              <a:rPr lang="en-US" sz="1400" b="0" strike="noStrike" spc="-1">
                <a:latin typeface="Times New Roman"/>
              </a:rPr>
              <a:t> </a:t>
            </a:r>
          </a:p>
        </p:txBody>
      </p:sp>
      <p:sp>
        <p:nvSpPr>
          <p:cNvPr id="87" name="PlaceHolder 4"/>
          <p:cNvSpPr>
            <a:spLocks noGrp="1"/>
          </p:cNvSpPr>
          <p:nvPr>
            <p:ph type="dt"/>
          </p:nvPr>
        </p:nvSpPr>
        <p:spPr>
          <a:xfrm>
            <a:off x="4278960" y="0"/>
            <a:ext cx="3280680" cy="534240"/>
          </a:xfrm>
          <a:prstGeom prst="rect">
            <a:avLst/>
          </a:prstGeom>
        </p:spPr>
        <p:txBody>
          <a:bodyPr lIns="0" tIns="0" rIns="0" bIns="0"/>
          <a:lstStyle/>
          <a:p>
            <a:pPr algn="r"/>
            <a:r>
              <a:rPr lang="en-US" sz="1400" b="0" strike="noStrike" spc="-1">
                <a:latin typeface="Times New Roman"/>
              </a:rPr>
              <a:t> </a:t>
            </a:r>
          </a:p>
        </p:txBody>
      </p:sp>
      <p:sp>
        <p:nvSpPr>
          <p:cNvPr id="88" name="PlaceHolder 5"/>
          <p:cNvSpPr>
            <a:spLocks noGrp="1"/>
          </p:cNvSpPr>
          <p:nvPr>
            <p:ph type="ftr"/>
          </p:nvPr>
        </p:nvSpPr>
        <p:spPr>
          <a:xfrm>
            <a:off x="0" y="10157400"/>
            <a:ext cx="3280680" cy="534240"/>
          </a:xfrm>
          <a:prstGeom prst="rect">
            <a:avLst/>
          </a:prstGeom>
        </p:spPr>
        <p:txBody>
          <a:bodyPr lIns="0" tIns="0" rIns="0" bIns="0" anchor="b"/>
          <a:lstStyle/>
          <a:p>
            <a:r>
              <a:rPr lang="en-US" sz="1400" b="0" strike="noStrike" spc="-1">
                <a:latin typeface="Times New Roman"/>
              </a:rPr>
              <a:t> </a:t>
            </a:r>
          </a:p>
        </p:txBody>
      </p:sp>
      <p:sp>
        <p:nvSpPr>
          <p:cNvPr id="89" name="PlaceHolder 6"/>
          <p:cNvSpPr>
            <a:spLocks noGrp="1"/>
          </p:cNvSpPr>
          <p:nvPr>
            <p:ph type="sldNum"/>
          </p:nvPr>
        </p:nvSpPr>
        <p:spPr>
          <a:xfrm>
            <a:off x="4278960" y="10157400"/>
            <a:ext cx="3280680" cy="534240"/>
          </a:xfrm>
          <a:prstGeom prst="rect">
            <a:avLst/>
          </a:prstGeom>
        </p:spPr>
        <p:txBody>
          <a:bodyPr lIns="0" tIns="0" rIns="0" bIns="0" anchor="b"/>
          <a:lstStyle/>
          <a:p>
            <a:pPr algn="r"/>
            <a:fld id="{4EE713C5-4F38-4B67-8FCD-638F4DC104C3}" type="slidenum">
              <a:rPr lang="en-US" sz="1400" b="0" strike="noStrike" spc="-1">
                <a:latin typeface="Times New Roman"/>
              </a:rPr>
              <a:t>‹#›</a:t>
            </a:fld>
            <a:endParaRPr lang="en-US" sz="1400" b="0" strike="noStrike" spc="-1">
              <a:latin typeface="Times New Roman"/>
            </a:endParaRPr>
          </a:p>
        </p:txBody>
      </p:sp>
    </p:spTree>
    <p:extLst>
      <p:ext uri="{BB962C8B-B14F-4D97-AF65-F5344CB8AC3E}">
        <p14:creationId xmlns:p14="http://schemas.microsoft.com/office/powerpoint/2010/main" val="3088592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PlaceHolder 1"/>
          <p:cNvSpPr>
            <a:spLocks noGrp="1" noRot="1" noChangeAspect="1"/>
          </p:cNvSpPr>
          <p:nvPr>
            <p:ph type="sldImg"/>
          </p:nvPr>
        </p:nvSpPr>
        <p:spPr>
          <a:xfrm>
            <a:off x="217488" y="812800"/>
            <a:ext cx="7123112" cy="4008438"/>
          </a:xfrm>
          <a:prstGeom prst="rect">
            <a:avLst/>
          </a:prstGeom>
        </p:spPr>
      </p:sp>
      <p:sp>
        <p:nvSpPr>
          <p:cNvPr id="199" name="PlaceHolder 2"/>
          <p:cNvSpPr>
            <a:spLocks noGrp="1"/>
          </p:cNvSpPr>
          <p:nvPr>
            <p:ph type="body"/>
          </p:nvPr>
        </p:nvSpPr>
        <p:spPr>
          <a:xfrm>
            <a:off x="756000" y="5078520"/>
            <a:ext cx="6046920" cy="4810320"/>
          </a:xfrm>
          <a:prstGeom prst="rect">
            <a:avLst/>
          </a:prstGeom>
        </p:spPr>
        <p:txBody>
          <a:bodyPr lIns="0" tIns="0" rIns="0" bIns="0"/>
          <a:lstStyle/>
          <a:p>
            <a:endParaRPr lang="en-US" sz="2000" b="0" strike="noStrike" spc="-1">
              <a:latin typeface="Arial"/>
            </a:endParaRPr>
          </a:p>
        </p:txBody>
      </p:sp>
      <p:sp>
        <p:nvSpPr>
          <p:cNvPr id="200" name="CustomShape 3"/>
          <p:cNvSpPr/>
          <p:nvPr/>
        </p:nvSpPr>
        <p:spPr>
          <a:xfrm>
            <a:off x="4278960" y="10157400"/>
            <a:ext cx="3279960" cy="53352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lstStyle/>
          <a:p>
            <a:pPr algn="r">
              <a:lnSpc>
                <a:spcPct val="100000"/>
              </a:lnSpc>
            </a:pPr>
            <a:fld id="{971D35FD-0A86-406A-AD2E-45CB8165614C}" type="slidenum">
              <a:rPr lang="en-US" sz="1400" b="0" strike="noStrike" spc="-1">
                <a:latin typeface="Times New Roman"/>
              </a:rPr>
              <a:t>12</a:t>
            </a:fld>
            <a:endParaRPr lang="en-US" sz="1400" b="0" strike="noStrike" spc="-1">
              <a:latin typeface="Arial"/>
            </a:endParaRPr>
          </a:p>
        </p:txBody>
      </p:sp>
    </p:spTree>
    <p:extLst>
      <p:ext uri="{BB962C8B-B14F-4D97-AF65-F5344CB8AC3E}">
        <p14:creationId xmlns:p14="http://schemas.microsoft.com/office/powerpoint/2010/main" val="2612679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82220" y="5353963"/>
            <a:ext cx="11631168"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914400" y="1600200"/>
            <a:ext cx="10363200" cy="1780108"/>
          </a:xfrm>
        </p:spPr>
        <p:txBody>
          <a:bodyPr anchor="b">
            <a:normAutofit/>
          </a:bodyPr>
          <a:lstStyle>
            <a:lvl1pPr>
              <a:defRPr sz="440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28800" y="3556001"/>
            <a:ext cx="85344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4AF466F-BDA4-4F18-9C7B-FF0A9A1B0E80}" type="datetime1">
              <a:rPr lang="en-US" smtClean="0"/>
              <a:pPr/>
              <a:t>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EF607B-A47E-422C-9BEF-122CCDB7C526}" type="datetime1">
              <a:rPr lang="en-US" smtClean="0"/>
              <a:pPr/>
              <a:t>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228600"/>
            <a:ext cx="11594592"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8063251" y="4203592"/>
            <a:ext cx="383523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3492427" y="4075290"/>
            <a:ext cx="7392687"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3771637" y="4087562"/>
            <a:ext cx="729064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7479319" y="4074175"/>
            <a:ext cx="4410667"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82220" y="4058555"/>
            <a:ext cx="11631168"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920043" y="2463560"/>
            <a:ext cx="10363200" cy="1524000"/>
          </a:xfrm>
        </p:spPr>
        <p:txBody>
          <a:bodyPr anchor="t">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823153" y="1437449"/>
            <a:ext cx="8556979"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9A7CB-BEE6-4F99-898E-913F06E8E125}" type="datetime1">
              <a:rPr lang="en-US" smtClean="0"/>
              <a:pPr/>
              <a:t>1/29/2024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B6EE300C-6FC5-4FC3-AF1A-075E4F50620D}" type="datetime1">
              <a:rPr lang="en-US" smtClean="0"/>
              <a:pPr/>
              <a:t>1/29/2024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
        <p:nvSpPr>
          <p:cNvPr id="9" name="Content Placeholder 8"/>
          <p:cNvSpPr>
            <a:spLocks noGrp="1"/>
          </p:cNvSpPr>
          <p:nvPr>
            <p:ph sz="quarter" idx="13"/>
          </p:nvPr>
        </p:nvSpPr>
        <p:spPr>
          <a:xfrm>
            <a:off x="902207" y="2679192"/>
            <a:ext cx="5096256"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6193536" y="2679192"/>
            <a:ext cx="5096256"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902208" y="2678114"/>
            <a:ext cx="5096256"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03110" y="3429001"/>
            <a:ext cx="5093407"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97600" y="2678113"/>
            <a:ext cx="5096256"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7" y="3429001"/>
            <a:ext cx="5096256"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50D295D-4A77-4DEB-B04C-9F4282A8BC04}" type="datetime1">
              <a:rPr lang="en-US" smtClean="0"/>
              <a:pPr/>
              <a:t>1/29/2024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2B28685-4D0C-42D5-8013-B5904CD1FCBC}" type="datetime1">
              <a:rPr lang="en-US" smtClean="0"/>
              <a:pPr/>
              <a:t>1/29/2024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82220" y="714191"/>
            <a:ext cx="11631168"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FDF226C0-9885-4BA9-BBFA-A52CBFEBB775}" type="datetime1">
              <a:rPr lang="en-US" smtClean="0"/>
              <a:pPr/>
              <a:t>1/29/2024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EBEE1B38-C5EB-4D66-9137-0AFE9CDEDE8F}" type="datetime1">
              <a:rPr lang="en-US" smtClean="0"/>
              <a:pPr/>
              <a:t>1/29/2024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
        <p:nvSpPr>
          <p:cNvPr id="4" name="Text Placeholder 3"/>
          <p:cNvSpPr>
            <a:spLocks noGrp="1"/>
          </p:cNvSpPr>
          <p:nvPr>
            <p:ph type="body" sz="half" idx="2"/>
          </p:nvPr>
        </p:nvSpPr>
        <p:spPr>
          <a:xfrm>
            <a:off x="1219200" y="3581401"/>
            <a:ext cx="44704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grpSp>
        <p:nvGrpSpPr>
          <p:cNvPr id="2" name="Group 23"/>
          <p:cNvGrpSpPr>
            <a:grpSpLocks noChangeAspect="1"/>
          </p:cNvGrpSpPr>
          <p:nvPr/>
        </p:nvGrpSpPr>
        <p:grpSpPr bwMode="hidden">
          <a:xfrm>
            <a:off x="282220" y="714191"/>
            <a:ext cx="11631168"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1219200" y="2286000"/>
            <a:ext cx="4470400" cy="1252728"/>
          </a:xfrm>
        </p:spPr>
        <p:txBody>
          <a:bodyPr anchor="b">
            <a:noAutofit/>
          </a:bodyPr>
          <a:lstStyle>
            <a:lvl1pPr algn="l">
              <a:defRPr sz="320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202616" y="1828800"/>
            <a:ext cx="5205435"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82220" y="5353963"/>
            <a:ext cx="11631168"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6498874" y="338667"/>
            <a:ext cx="5083527" cy="2429934"/>
          </a:xfrm>
        </p:spPr>
        <p:txBody>
          <a:bodyPr anchor="b">
            <a:normAutofit/>
          </a:bodyPr>
          <a:lstStyle>
            <a:lvl1pPr algn="l">
              <a:defRPr sz="2800" b="0">
                <a:solidFill>
                  <a:srgbClr val="FFFFFF"/>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6491112" y="2785533"/>
            <a:ext cx="5091289"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27B613C-1AD7-49D3-885D-F654C5CDBAA6}" type="datetime1">
              <a:rPr lang="en-US" smtClean="0"/>
              <a:pPr/>
              <a:t>1/29/2024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dirty="0"/>
          </a:p>
        </p:txBody>
      </p:sp>
      <p:sp>
        <p:nvSpPr>
          <p:cNvPr id="3" name="Picture Placeholder 2"/>
          <p:cNvSpPr>
            <a:spLocks noGrp="1"/>
          </p:cNvSpPr>
          <p:nvPr>
            <p:ph type="pic" idx="1"/>
          </p:nvPr>
        </p:nvSpPr>
        <p:spPr>
          <a:xfrm>
            <a:off x="1117600" y="1371600"/>
            <a:ext cx="475488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8FB4290-6522-4139-852E-05BD9E7F0D2E}" type="datetime1">
              <a:rPr lang="en-US" smtClean="0"/>
              <a:pPr/>
              <a:t>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AAB955F9-81EA-47C5-8059-9E5C2B437C70}" type="datetime1">
              <a:rPr lang="en-US" smtClean="0"/>
              <a:pPr/>
              <a:t>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grpSp>
        <p:nvGrpSpPr>
          <p:cNvPr id="15" name="Group 14"/>
          <p:cNvGrpSpPr>
            <a:grpSpLocks noChangeAspect="1"/>
          </p:cNvGrpSpPr>
          <p:nvPr/>
        </p:nvGrpSpPr>
        <p:grpSpPr bwMode="hidden">
          <a:xfrm>
            <a:off x="282220" y="714191"/>
            <a:ext cx="11631168"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8839200" y="1447801"/>
            <a:ext cx="2743200" cy="4487333"/>
          </a:xfrm>
        </p:spPr>
        <p:txBody>
          <a:bodyPr vert="eaVert" anchor="ctr"/>
          <a:lstStyle>
            <a:lvl1pPr algn="l">
              <a:defRPr>
                <a:solidFill>
                  <a:schemeClr val="tx2"/>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600" y="1447800"/>
            <a:ext cx="80264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304800" y="228600"/>
            <a:ext cx="11594592"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82220" y="1679429"/>
            <a:ext cx="11631168"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609600" y="338328"/>
            <a:ext cx="10972800" cy="12527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4" name="Date Placeholder 3"/>
          <p:cNvSpPr>
            <a:spLocks noGrp="1"/>
          </p:cNvSpPr>
          <p:nvPr>
            <p:ph type="dt" sz="half" idx="2"/>
          </p:nvPr>
        </p:nvSpPr>
        <p:spPr>
          <a:xfrm>
            <a:off x="6884896" y="6250165"/>
            <a:ext cx="5048920" cy="365125"/>
          </a:xfrm>
          <a:prstGeom prst="rect">
            <a:avLst/>
          </a:prstGeom>
        </p:spPr>
        <p:txBody>
          <a:bodyPr vert="horz" lIns="91440" tIns="45720" rIns="91440" bIns="45720" rtlCol="0" anchor="ctr"/>
          <a:lstStyle>
            <a:lvl1pPr algn="r">
              <a:defRPr sz="1000">
                <a:solidFill>
                  <a:schemeClr val="tx2"/>
                </a:solidFill>
              </a:defRPr>
            </a:lvl1pPr>
          </a:lstStyle>
          <a:p>
            <a:fld id="{327B613C-1AD7-49D3-885D-F654C5CDBAA6}" type="datetime1">
              <a:rPr lang="en-US" smtClean="0"/>
              <a:pPr/>
              <a:t>1/29/2024</a:t>
            </a:fld>
            <a:endParaRPr lang="en-US" dirty="0"/>
          </a:p>
        </p:txBody>
      </p:sp>
      <p:sp>
        <p:nvSpPr>
          <p:cNvPr id="5" name="Footer Placeholder 4"/>
          <p:cNvSpPr>
            <a:spLocks noGrp="1"/>
          </p:cNvSpPr>
          <p:nvPr>
            <p:ph type="ftr" sz="quarter" idx="3"/>
          </p:nvPr>
        </p:nvSpPr>
        <p:spPr>
          <a:xfrm>
            <a:off x="258185" y="6250165"/>
            <a:ext cx="5048921" cy="365125"/>
          </a:xfrm>
          <a:prstGeom prst="rect">
            <a:avLst/>
          </a:prstGeom>
        </p:spPr>
        <p:txBody>
          <a:bodyPr vert="horz" lIns="91440" tIns="45720" rIns="91440" bIns="45720" rtlCol="0" anchor="ctr"/>
          <a:lstStyle>
            <a:lvl1pPr algn="l">
              <a:defRPr sz="1000">
                <a:solidFill>
                  <a:schemeClr val="tx2"/>
                </a:solidFill>
              </a:defRPr>
            </a:lvl1pPr>
          </a:lstStyle>
          <a:p>
            <a:endParaRPr lang="en-US" dirty="0"/>
          </a:p>
        </p:txBody>
      </p:sp>
      <p:sp>
        <p:nvSpPr>
          <p:cNvPr id="6" name="Slide Number Placeholder 5"/>
          <p:cNvSpPr>
            <a:spLocks noGrp="1"/>
          </p:cNvSpPr>
          <p:nvPr>
            <p:ph type="sldNum" sz="quarter" idx="4"/>
          </p:nvPr>
        </p:nvSpPr>
        <p:spPr>
          <a:xfrm>
            <a:off x="5321451" y="6250164"/>
            <a:ext cx="1549101" cy="365125"/>
          </a:xfrm>
          <a:prstGeom prst="rect">
            <a:avLst/>
          </a:prstGeom>
        </p:spPr>
        <p:txBody>
          <a:bodyPr vert="horz" lIns="91440" tIns="45720" rIns="91440" bIns="45720" rtlCol="0" anchor="ctr"/>
          <a:lstStyle>
            <a:lvl1pPr algn="ctr">
              <a:defRPr sz="1000">
                <a:solidFill>
                  <a:schemeClr val="tx2"/>
                </a:solidFill>
              </a:defRPr>
            </a:lvl1pPr>
          </a:lstStyle>
          <a:p>
            <a:fld id="{6E2D2B3B-882E-40F3-A32F-6DD516915044}" type="slidenum">
              <a:rPr lang="en-US" smtClean="0"/>
              <a:pPr/>
              <a:t>‹#›</a:t>
            </a:fld>
            <a:endParaRPr lang="en-US" dirty="0"/>
          </a:p>
        </p:txBody>
      </p:sp>
      <p:sp>
        <p:nvSpPr>
          <p:cNvPr id="3" name="Text Placeholder 2"/>
          <p:cNvSpPr>
            <a:spLocks noGrp="1"/>
          </p:cNvSpPr>
          <p:nvPr>
            <p:ph type="body" idx="1"/>
          </p:nvPr>
        </p:nvSpPr>
        <p:spPr>
          <a:xfrm>
            <a:off x="1162757" y="2675467"/>
            <a:ext cx="9877777" cy="345069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2800" b="1" strike="noStrike" spc="-1" dirty="0">
                <a:solidFill>
                  <a:srgbClr val="FF0000"/>
                </a:solidFill>
                <a:latin typeface="Gill Sans"/>
                <a:ea typeface="Gill Sans"/>
              </a:rPr>
              <a:t>TEMPORAL </a:t>
            </a:r>
            <a:r>
              <a:rPr lang="en-US" sz="2800" b="1" strike="noStrike" spc="-1" dirty="0" smtClean="0">
                <a:solidFill>
                  <a:srgbClr val="FF0000"/>
                </a:solidFill>
                <a:latin typeface="Gill Sans"/>
                <a:ea typeface="Gill Sans"/>
              </a:rPr>
              <a:t>LOGIC</a:t>
            </a:r>
            <a:endParaRPr lang="en-US" sz="2800" b="1" strike="noStrike"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1440">
              <a:lnSpc>
                <a:spcPct val="100000"/>
              </a:lnSpc>
              <a:spcAft>
                <a:spcPts val="600"/>
              </a:spcAft>
              <a:buClr>
                <a:srgbClr val="4590B8"/>
              </a:buClr>
            </a:pPr>
            <a:r>
              <a:rPr lang="en-US" sz="2000" b="1" strike="noStrike" spc="-1" dirty="0" smtClean="0">
                <a:solidFill>
                  <a:srgbClr val="3D3D3D"/>
                </a:solidFill>
                <a:latin typeface="Times New Roman" panose="02020603050405020304" pitchFamily="18" charset="0"/>
                <a:ea typeface="Gill Sans"/>
                <a:cs typeface="Times New Roman" panose="02020603050405020304" pitchFamily="18" charset="0"/>
              </a:rPr>
              <a:t>What is Temporal Logic?</a:t>
            </a:r>
          </a:p>
          <a:p>
            <a:pPr marL="305280" indent="-303840">
              <a:lnSpc>
                <a:spcPct val="100000"/>
              </a:lnSpc>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Temporal logic is a formal system used in the field of formal methods, which is a branch of computer science and mathematics that focuses on specifying, designing, and verifying systems and software. </a:t>
            </a:r>
            <a:endParaRPr lang="en-US" sz="2000" spc="-1" dirty="0" smtClean="0">
              <a:solidFill>
                <a:srgbClr val="3D3D3D"/>
              </a:solidFill>
              <a:latin typeface="Times New Roman" panose="02020603050405020304" pitchFamily="18" charset="0"/>
              <a:ea typeface="Gill Sans"/>
              <a:cs typeface="Times New Roman" panose="02020603050405020304" pitchFamily="18" charset="0"/>
            </a:endParaRPr>
          </a:p>
          <a:p>
            <a:pPr marL="305280" indent="-303840">
              <a:lnSpc>
                <a:spcPct val="100000"/>
              </a:lnSpc>
              <a:spcAft>
                <a:spcPts val="600"/>
              </a:spcAft>
              <a:buClr>
                <a:srgbClr val="4590B8"/>
              </a:buClr>
              <a:buFont typeface="Wingdings" panose="05000000000000000000" pitchFamily="2" charset="2"/>
              <a:buChar char="v"/>
            </a:pPr>
            <a:r>
              <a:rPr lang="en-US" sz="2000" spc="-1" dirty="0" smtClean="0">
                <a:solidFill>
                  <a:srgbClr val="3D3D3D"/>
                </a:solidFill>
                <a:latin typeface="Times New Roman" panose="02020603050405020304" pitchFamily="18" charset="0"/>
                <a:ea typeface="Gill Sans"/>
                <a:cs typeface="Times New Roman" panose="02020603050405020304" pitchFamily="18" charset="0"/>
              </a:rPr>
              <a:t>Temporal </a:t>
            </a:r>
            <a:r>
              <a:rPr lang="en-US" sz="2000" spc="-1" dirty="0">
                <a:solidFill>
                  <a:srgbClr val="3D3D3D"/>
                </a:solidFill>
                <a:latin typeface="Times New Roman" panose="02020603050405020304" pitchFamily="18" charset="0"/>
                <a:ea typeface="Gill Sans"/>
                <a:cs typeface="Times New Roman" panose="02020603050405020304" pitchFamily="18" charset="0"/>
              </a:rPr>
              <a:t>logic extends classical logic by introducing operators that allow reasoning about the ordering of events over time</a:t>
            </a:r>
            <a:r>
              <a:rPr lang="en-US" sz="2000" spc="-1" dirty="0" smtClean="0">
                <a:solidFill>
                  <a:srgbClr val="3D3D3D"/>
                </a:solidFill>
                <a:latin typeface="Times New Roman" panose="02020603050405020304" pitchFamily="18" charset="0"/>
                <a:ea typeface="Gill Sans"/>
                <a:cs typeface="Times New Roman" panose="02020603050405020304" pitchFamily="18" charset="0"/>
              </a:rPr>
              <a:t>.</a:t>
            </a:r>
          </a:p>
          <a:p>
            <a:pPr marL="305280" indent="-303840">
              <a:lnSpc>
                <a:spcPct val="100000"/>
              </a:lnSpc>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Temporal logic allows time-related properties to be formally specified without introducing the explicit notion of time.</a:t>
            </a:r>
          </a:p>
          <a:p>
            <a:pPr marL="305280" indent="-303840">
              <a:lnSpc>
                <a:spcPct val="100000"/>
              </a:lnSpc>
              <a:spcAft>
                <a:spcPts val="600"/>
              </a:spcAft>
              <a:buClr>
                <a:srgbClr val="4590B8"/>
              </a:buClr>
              <a:buFont typeface="Wingdings" panose="05000000000000000000" pitchFamily="2" charset="2"/>
              <a:buChar char="v"/>
            </a:pPr>
            <a:r>
              <a:rPr lang="en-US" sz="2000" spc="-1" dirty="0" smtClean="0">
                <a:solidFill>
                  <a:srgbClr val="3D3D3D"/>
                </a:solidFill>
                <a:latin typeface="Times New Roman" panose="02020603050405020304" pitchFamily="18" charset="0"/>
                <a:ea typeface="Gill Sans"/>
                <a:cs typeface="Times New Roman" panose="02020603050405020304" pitchFamily="18" charset="0"/>
              </a:rPr>
              <a:t>Temporal </a:t>
            </a:r>
            <a:r>
              <a:rPr lang="en-US" sz="2000" spc="-1" dirty="0">
                <a:solidFill>
                  <a:srgbClr val="3D3D3D"/>
                </a:solidFill>
                <a:latin typeface="Times New Roman" panose="02020603050405020304" pitchFamily="18" charset="0"/>
                <a:ea typeface="Gill Sans"/>
                <a:cs typeface="Times New Roman" panose="02020603050405020304" pitchFamily="18" charset="0"/>
              </a:rPr>
              <a:t>logic is particularly useful in formal verification, where the goal is to ensure that a system or software behaves according to specified requirements over time. </a:t>
            </a:r>
            <a:endParaRPr lang="en-US" sz="2000" spc="-1" dirty="0" smtClean="0">
              <a:solidFill>
                <a:srgbClr val="3D3D3D"/>
              </a:solidFill>
              <a:latin typeface="Times New Roman" panose="02020603050405020304" pitchFamily="18" charset="0"/>
              <a:ea typeface="Gill Sans"/>
              <a:cs typeface="Times New Roman" panose="02020603050405020304" pitchFamily="18" charset="0"/>
            </a:endParaRPr>
          </a:p>
          <a:p>
            <a:pPr marL="305280" indent="-303840">
              <a:lnSpc>
                <a:spcPct val="100000"/>
              </a:lnSpc>
              <a:spcAft>
                <a:spcPts val="600"/>
              </a:spcAft>
              <a:buClr>
                <a:srgbClr val="4590B8"/>
              </a:buClr>
              <a:buFont typeface="Wingdings" panose="05000000000000000000" pitchFamily="2" charset="2"/>
              <a:buChar char="v"/>
            </a:pPr>
            <a:r>
              <a:rPr lang="en-US" sz="2000" spc="-1" dirty="0" smtClean="0">
                <a:solidFill>
                  <a:srgbClr val="3D3D3D"/>
                </a:solidFill>
                <a:latin typeface="Times New Roman" panose="02020603050405020304" pitchFamily="18" charset="0"/>
                <a:ea typeface="Gill Sans"/>
                <a:cs typeface="Times New Roman" panose="02020603050405020304" pitchFamily="18" charset="0"/>
              </a:rPr>
              <a:t>By </a:t>
            </a:r>
            <a:r>
              <a:rPr lang="en-US" sz="2000" spc="-1" dirty="0">
                <a:solidFill>
                  <a:srgbClr val="3D3D3D"/>
                </a:solidFill>
                <a:latin typeface="Times New Roman" panose="02020603050405020304" pitchFamily="18" charset="0"/>
                <a:ea typeface="Gill Sans"/>
                <a:cs typeface="Times New Roman" panose="02020603050405020304" pitchFamily="18" charset="0"/>
              </a:rPr>
              <a:t>using temporal logic, one can express and analyze temporal properties of a system, such as </a:t>
            </a:r>
            <a:r>
              <a:rPr lang="en-US" sz="2000" b="1" spc="-1" dirty="0">
                <a:solidFill>
                  <a:srgbClr val="3D3D3D"/>
                </a:solidFill>
                <a:latin typeface="Times New Roman" panose="02020603050405020304" pitchFamily="18" charset="0"/>
                <a:ea typeface="Gill Sans"/>
                <a:cs typeface="Times New Roman" panose="02020603050405020304" pitchFamily="18" charset="0"/>
              </a:rPr>
              <a:t>liveness</a:t>
            </a:r>
            <a:r>
              <a:rPr lang="en-US" sz="2000" spc="-1" dirty="0">
                <a:solidFill>
                  <a:srgbClr val="3D3D3D"/>
                </a:solidFill>
                <a:latin typeface="Times New Roman" panose="02020603050405020304" pitchFamily="18" charset="0"/>
                <a:ea typeface="Gill Sans"/>
                <a:cs typeface="Times New Roman" panose="02020603050405020304" pitchFamily="18" charset="0"/>
              </a:rPr>
              <a:t> (something good eventually happens) and </a:t>
            </a:r>
            <a:r>
              <a:rPr lang="en-US" sz="2000" b="1" spc="-1" dirty="0">
                <a:solidFill>
                  <a:srgbClr val="3D3D3D"/>
                </a:solidFill>
                <a:latin typeface="Times New Roman" panose="02020603050405020304" pitchFamily="18" charset="0"/>
                <a:ea typeface="Gill Sans"/>
                <a:cs typeface="Times New Roman" panose="02020603050405020304" pitchFamily="18" charset="0"/>
              </a:rPr>
              <a:t>safety</a:t>
            </a:r>
            <a:r>
              <a:rPr lang="en-US" sz="2000" spc="-1" dirty="0">
                <a:solidFill>
                  <a:srgbClr val="3D3D3D"/>
                </a:solidFill>
                <a:latin typeface="Times New Roman" panose="02020603050405020304" pitchFamily="18" charset="0"/>
                <a:ea typeface="Gill Sans"/>
                <a:cs typeface="Times New Roman" panose="02020603050405020304" pitchFamily="18" charset="0"/>
              </a:rPr>
              <a:t> (something bad never happens</a:t>
            </a:r>
            <a:r>
              <a:rPr lang="en-US" sz="2000" spc="-1" dirty="0" smtClean="0">
                <a:solidFill>
                  <a:srgbClr val="3D3D3D"/>
                </a:solidFill>
                <a:latin typeface="Times New Roman" panose="02020603050405020304" pitchFamily="18" charset="0"/>
                <a:ea typeface="Gill Sans"/>
                <a:cs typeface="Times New Roman" panose="02020603050405020304" pitchFamily="18" charset="0"/>
              </a:rPr>
              <a:t>).</a:t>
            </a:r>
          </a:p>
          <a:p>
            <a:pPr marL="305280" indent="-303840">
              <a:lnSpc>
                <a:spcPct val="100000"/>
              </a:lnSpc>
              <a:spcAft>
                <a:spcPts val="600"/>
              </a:spcAft>
              <a:buClr>
                <a:srgbClr val="4590B8"/>
              </a:buClr>
              <a:buFont typeface="Wingdings" panose="05000000000000000000" pitchFamily="2" charset="2"/>
              <a:buChar char="v"/>
            </a:pPr>
            <a:endParaRPr lang="en-US" sz="2000" spc="-1" dirty="0" smtClean="0">
              <a:solidFill>
                <a:srgbClr val="3D3D3D"/>
              </a:solidFill>
              <a:latin typeface="Times New Roman" panose="02020603050405020304" pitchFamily="18" charset="0"/>
              <a:ea typeface="Gill Sans"/>
              <a:cs typeface="Times New Roman" panose="02020603050405020304" pitchFamily="18" charset="0"/>
            </a:endParaRPr>
          </a:p>
        </p:txBody>
      </p:sp>
    </p:spTree>
    <p:extLst>
      <p:ext uri="{BB962C8B-B14F-4D97-AF65-F5344CB8AC3E}">
        <p14:creationId xmlns:p14="http://schemas.microsoft.com/office/powerpoint/2010/main" val="1201453849"/>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2800" b="1" strike="noStrike" spc="-1" dirty="0">
                <a:solidFill>
                  <a:srgbClr val="FF0000"/>
                </a:solidFill>
                <a:latin typeface="Gill Sans"/>
                <a:ea typeface="Gill Sans"/>
              </a:rPr>
              <a:t>TEMPORAL </a:t>
            </a:r>
            <a:r>
              <a:rPr lang="en-US" sz="2800" b="1" strike="noStrike" spc="-1" dirty="0" smtClean="0">
                <a:solidFill>
                  <a:srgbClr val="FF0000"/>
                </a:solidFill>
                <a:latin typeface="Gill Sans"/>
                <a:ea typeface="Gill Sans"/>
              </a:rPr>
              <a:t>LOGIC</a:t>
            </a:r>
            <a:endParaRPr lang="en-US" sz="2800" b="1" strike="noStrike"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1440">
              <a:lnSpc>
                <a:spcPct val="100000"/>
              </a:lnSpc>
              <a:spcAft>
                <a:spcPts val="600"/>
              </a:spcAft>
              <a:buClr>
                <a:srgbClr val="4590B8"/>
              </a:buClr>
            </a:pP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Classical Logic V/S </a:t>
            </a:r>
            <a:r>
              <a:rPr lang="en-US" sz="2000" b="1" strike="noStrike" spc="-1" dirty="0" smtClean="0">
                <a:solidFill>
                  <a:srgbClr val="3D3D3D"/>
                </a:solidFill>
                <a:latin typeface="Times New Roman" panose="02020603050405020304" pitchFamily="18" charset="0"/>
                <a:ea typeface="Gill Sans"/>
                <a:cs typeface="Times New Roman" panose="02020603050405020304" pitchFamily="18" charset="0"/>
              </a:rPr>
              <a:t>Temporal Logic</a:t>
            </a:r>
          </a:p>
          <a:p>
            <a:pPr marL="305280" indent="-303840">
              <a:lnSpc>
                <a:spcPct val="100000"/>
              </a:lnSpc>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In classical </a:t>
            </a:r>
            <a:r>
              <a:rPr lang="en-US" sz="2000" spc="-1" dirty="0" smtClean="0">
                <a:solidFill>
                  <a:srgbClr val="3D3D3D"/>
                </a:solidFill>
                <a:latin typeface="Times New Roman" panose="02020603050405020304" pitchFamily="18" charset="0"/>
                <a:ea typeface="Gill Sans"/>
                <a:cs typeface="Times New Roman" panose="02020603050405020304" pitchFamily="18" charset="0"/>
              </a:rPr>
              <a:t>logic:</a:t>
            </a:r>
          </a:p>
          <a:p>
            <a:pPr marL="762480" lvl="1" indent="-303840">
              <a:spcAft>
                <a:spcPts val="600"/>
              </a:spcAft>
              <a:buClr>
                <a:srgbClr val="4590B8"/>
              </a:buClr>
              <a:buFont typeface="Wingdings" panose="05000000000000000000" pitchFamily="2" charset="2"/>
              <a:buChar char="v"/>
            </a:pPr>
            <a:r>
              <a:rPr lang="en-US" sz="2000" spc="-1" dirty="0" smtClean="0">
                <a:solidFill>
                  <a:srgbClr val="3D3D3D"/>
                </a:solidFill>
                <a:latin typeface="Times New Roman" panose="02020603050405020304" pitchFamily="18" charset="0"/>
                <a:ea typeface="Gill Sans"/>
                <a:cs typeface="Times New Roman" panose="02020603050405020304" pitchFamily="18" charset="0"/>
              </a:rPr>
              <a:t>formulas </a:t>
            </a:r>
            <a:r>
              <a:rPr lang="en-US" sz="2000" spc="-1" dirty="0">
                <a:solidFill>
                  <a:srgbClr val="3D3D3D"/>
                </a:solidFill>
                <a:latin typeface="Times New Roman" panose="02020603050405020304" pitchFamily="18" charset="0"/>
                <a:ea typeface="Gill Sans"/>
                <a:cs typeface="Times New Roman" panose="02020603050405020304" pitchFamily="18" charset="0"/>
              </a:rPr>
              <a:t>are evaluated within a single fixed world. </a:t>
            </a:r>
          </a:p>
          <a:p>
            <a:pPr marL="762480" lvl="1" indent="-303840">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For example, a proposition such as “it is Monday” is either true or false.</a:t>
            </a:r>
          </a:p>
          <a:p>
            <a:pPr marL="762480" lvl="1" indent="-303840">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Propositions are then combined using constructs such as ‘∧’, ‘¬’, etc.</a:t>
            </a:r>
          </a:p>
          <a:p>
            <a:pPr marL="305280" indent="-303840">
              <a:lnSpc>
                <a:spcPct val="100000"/>
              </a:lnSpc>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In temporal </a:t>
            </a:r>
            <a:r>
              <a:rPr lang="en-US" sz="2000" spc="-1" dirty="0" smtClean="0">
                <a:solidFill>
                  <a:srgbClr val="3D3D3D"/>
                </a:solidFill>
                <a:latin typeface="Times New Roman" panose="02020603050405020304" pitchFamily="18" charset="0"/>
                <a:ea typeface="Gill Sans"/>
                <a:cs typeface="Times New Roman" panose="02020603050405020304" pitchFamily="18" charset="0"/>
              </a:rPr>
              <a:t>logic:</a:t>
            </a:r>
          </a:p>
          <a:p>
            <a:pPr marL="762480" lvl="1" indent="-303840">
              <a:spcAft>
                <a:spcPts val="600"/>
              </a:spcAft>
              <a:buClr>
                <a:srgbClr val="4590B8"/>
              </a:buClr>
              <a:buFont typeface="Wingdings" panose="05000000000000000000" pitchFamily="2" charset="2"/>
              <a:buChar char="v"/>
            </a:pPr>
            <a:r>
              <a:rPr lang="en-US" sz="2000" spc="-1" dirty="0" smtClean="0">
                <a:solidFill>
                  <a:srgbClr val="3D3D3D"/>
                </a:solidFill>
                <a:latin typeface="Times New Roman" panose="02020603050405020304" pitchFamily="18" charset="0"/>
                <a:ea typeface="Gill Sans"/>
                <a:cs typeface="Times New Roman" panose="02020603050405020304" pitchFamily="18" charset="0"/>
              </a:rPr>
              <a:t>evaluation </a:t>
            </a:r>
            <a:r>
              <a:rPr lang="en-US" sz="2000" spc="-1" dirty="0">
                <a:solidFill>
                  <a:srgbClr val="3D3D3D"/>
                </a:solidFill>
                <a:latin typeface="Times New Roman" panose="02020603050405020304" pitchFamily="18" charset="0"/>
                <a:ea typeface="Gill Sans"/>
                <a:cs typeface="Times New Roman" panose="02020603050405020304" pitchFamily="18" charset="0"/>
              </a:rPr>
              <a:t>takes place within a set of worlds. Thus, “it is Monday” may be satisfied in some worlds, but not in others.</a:t>
            </a:r>
          </a:p>
          <a:p>
            <a:pPr marL="762480" lvl="1" indent="-303840">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The static notion of truth is replaced by a dynamic one</a:t>
            </a:r>
          </a:p>
          <a:p>
            <a:pPr marL="762480" lvl="1" indent="-303840">
              <a:spcAft>
                <a:spcPts val="600"/>
              </a:spcAft>
              <a:buClr>
                <a:srgbClr val="4590B8"/>
              </a:buClr>
              <a:buFont typeface="Wingdings" panose="05000000000000000000" pitchFamily="2" charset="2"/>
              <a:buChar char="v"/>
            </a:pPr>
            <a:r>
              <a:rPr lang="en-US" sz="2000" spc="-1" dirty="0" smtClean="0">
                <a:solidFill>
                  <a:srgbClr val="3D3D3D"/>
                </a:solidFill>
                <a:latin typeface="Times New Roman" panose="02020603050405020304" pitchFamily="18" charset="0"/>
                <a:ea typeface="Gill Sans"/>
                <a:cs typeface="Times New Roman" panose="02020603050405020304" pitchFamily="18" charset="0"/>
              </a:rPr>
              <a:t>The </a:t>
            </a:r>
            <a:r>
              <a:rPr lang="en-US" sz="2000" spc="-1" dirty="0">
                <a:solidFill>
                  <a:srgbClr val="3D3D3D"/>
                </a:solidFill>
                <a:latin typeface="Times New Roman" panose="02020603050405020304" pitchFamily="18" charset="0"/>
                <a:ea typeface="Gill Sans"/>
                <a:cs typeface="Times New Roman" panose="02020603050405020304" pitchFamily="18" charset="0"/>
              </a:rPr>
              <a:t>formulas may change their truth values as the system evolves from state to state</a:t>
            </a:r>
          </a:p>
          <a:p>
            <a:pPr marL="762480" lvl="1" indent="-303840">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The accessibility relation between worlds then describes a particular model of time.</a:t>
            </a:r>
          </a:p>
          <a:p>
            <a:pPr marL="762480" lvl="1" indent="-303840">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The set of classical operators is extended with various temporal operators which navigate by this relation</a:t>
            </a:r>
          </a:p>
          <a:p>
            <a:pPr marL="305280" indent="-303840">
              <a:lnSpc>
                <a:spcPct val="100000"/>
              </a:lnSpc>
              <a:spcAft>
                <a:spcPts val="600"/>
              </a:spcAft>
              <a:buClr>
                <a:srgbClr val="4590B8"/>
              </a:buClr>
              <a:buFont typeface="Wingdings" panose="05000000000000000000" pitchFamily="2" charset="2"/>
              <a:buChar char="v"/>
            </a:pPr>
            <a:endParaRPr lang="en-US" sz="2000" spc="-1" dirty="0" smtClean="0">
              <a:solidFill>
                <a:srgbClr val="3D3D3D"/>
              </a:solidFill>
              <a:latin typeface="Times New Roman" panose="02020603050405020304" pitchFamily="18" charset="0"/>
              <a:ea typeface="Gill Sans"/>
              <a:cs typeface="Times New Roman" panose="02020603050405020304" pitchFamily="18" charset="0"/>
            </a:endParaRPr>
          </a:p>
        </p:txBody>
      </p:sp>
    </p:spTree>
    <p:extLst>
      <p:ext uri="{BB962C8B-B14F-4D97-AF65-F5344CB8AC3E}">
        <p14:creationId xmlns:p14="http://schemas.microsoft.com/office/powerpoint/2010/main" val="3598234408"/>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2800" b="1" strike="noStrike" spc="-1" dirty="0">
                <a:solidFill>
                  <a:srgbClr val="FF0000"/>
                </a:solidFill>
                <a:latin typeface="Gill Sans"/>
                <a:ea typeface="Gill Sans"/>
              </a:rPr>
              <a:t>TEMPORAL </a:t>
            </a:r>
            <a:r>
              <a:rPr lang="en-US" sz="2800" b="1" strike="noStrike" spc="-1" dirty="0" smtClean="0">
                <a:solidFill>
                  <a:srgbClr val="FF0000"/>
                </a:solidFill>
                <a:latin typeface="Gill Sans"/>
                <a:ea typeface="Gill Sans"/>
              </a:rPr>
              <a:t>LOGIC</a:t>
            </a:r>
            <a:endParaRPr lang="en-US" sz="2800" b="1" strike="noStrike" spc="-1" dirty="0">
              <a:solidFill>
                <a:srgbClr val="FF0000"/>
              </a:solidFill>
              <a:latin typeface="Arial"/>
            </a:endParaRPr>
          </a:p>
        </p:txBody>
      </p:sp>
      <p:sp>
        <p:nvSpPr>
          <p:cNvPr id="105" name="CustomShape 2"/>
          <p:cNvSpPr/>
          <p:nvPr/>
        </p:nvSpPr>
        <p:spPr>
          <a:xfrm>
            <a:off x="581043" y="189720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1440">
              <a:lnSpc>
                <a:spcPct val="100000"/>
              </a:lnSpc>
              <a:spcAft>
                <a:spcPts val="600"/>
              </a:spcAft>
              <a:buClr>
                <a:srgbClr val="4590B8"/>
              </a:buClr>
            </a:pP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Role of </a:t>
            </a:r>
            <a:r>
              <a:rPr lang="en-US" sz="2000" b="1" strike="noStrike" spc="-1" dirty="0" smtClean="0">
                <a:solidFill>
                  <a:srgbClr val="3D3D3D"/>
                </a:solidFill>
                <a:latin typeface="Times New Roman" panose="02020603050405020304" pitchFamily="18" charset="0"/>
                <a:ea typeface="Gill Sans"/>
                <a:cs typeface="Times New Roman" panose="02020603050405020304" pitchFamily="18" charset="0"/>
              </a:rPr>
              <a:t>Temporal Logic in Software Engineering</a:t>
            </a:r>
          </a:p>
          <a:p>
            <a:pPr marL="305280" indent="-303840">
              <a:lnSpc>
                <a:spcPct val="100000"/>
              </a:lnSpc>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Temporal logic plays a crucial role in software engineering by providing a formal and systematic approach to express and verify temporal properties in software systems. </a:t>
            </a:r>
            <a:endParaRPr lang="en-US" sz="2000" spc="-1" dirty="0" smtClean="0">
              <a:solidFill>
                <a:srgbClr val="3D3D3D"/>
              </a:solidFill>
              <a:latin typeface="Times New Roman" panose="02020603050405020304" pitchFamily="18" charset="0"/>
              <a:ea typeface="Gill Sans"/>
              <a:cs typeface="Times New Roman" panose="02020603050405020304" pitchFamily="18" charset="0"/>
            </a:endParaRPr>
          </a:p>
          <a:p>
            <a:pPr marL="1440">
              <a:lnSpc>
                <a:spcPct val="100000"/>
              </a:lnSpc>
              <a:spcAft>
                <a:spcPts val="600"/>
              </a:spcAft>
              <a:buClr>
                <a:srgbClr val="4590B8"/>
              </a:buClr>
            </a:pPr>
            <a:r>
              <a:rPr lang="en-US" sz="2000" b="1" spc="-1" dirty="0">
                <a:solidFill>
                  <a:srgbClr val="3D3D3D"/>
                </a:solidFill>
                <a:latin typeface="Times New Roman" panose="02020603050405020304" pitchFamily="18" charset="0"/>
                <a:ea typeface="Gill Sans"/>
                <a:cs typeface="Times New Roman" panose="02020603050405020304" pitchFamily="18" charset="0"/>
              </a:rPr>
              <a:t>S</a:t>
            </a: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pecific </a:t>
            </a:r>
            <a:r>
              <a:rPr lang="en-US" sz="2000" b="1" spc="-1" dirty="0">
                <a:solidFill>
                  <a:srgbClr val="3D3D3D"/>
                </a:solidFill>
                <a:latin typeface="Times New Roman" panose="02020603050405020304" pitchFamily="18" charset="0"/>
                <a:ea typeface="Gill Sans"/>
                <a:cs typeface="Times New Roman" panose="02020603050405020304" pitchFamily="18" charset="0"/>
              </a:rPr>
              <a:t>areas where temporal logic is </a:t>
            </a: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applied</a:t>
            </a:r>
          </a:p>
          <a:p>
            <a:pPr marL="1440">
              <a:lnSpc>
                <a:spcPct val="100000"/>
              </a:lnSpc>
              <a:spcAft>
                <a:spcPts val="600"/>
              </a:spcAft>
              <a:buClr>
                <a:srgbClr val="4590B8"/>
              </a:buClr>
            </a:pPr>
            <a:r>
              <a:rPr lang="en-US" sz="2000" b="1" spc="-1" dirty="0" smtClean="0">
                <a:solidFill>
                  <a:srgbClr val="FF0000"/>
                </a:solidFill>
                <a:latin typeface="Times New Roman" panose="02020603050405020304" pitchFamily="18" charset="0"/>
                <a:ea typeface="Gill Sans"/>
                <a:cs typeface="Times New Roman" panose="02020603050405020304" pitchFamily="18" charset="0"/>
              </a:rPr>
              <a:t>Concurrency </a:t>
            </a:r>
            <a:r>
              <a:rPr lang="en-US" sz="2000" b="1" spc="-1" dirty="0">
                <a:solidFill>
                  <a:srgbClr val="FF0000"/>
                </a:solidFill>
                <a:latin typeface="Times New Roman" panose="02020603050405020304" pitchFamily="18" charset="0"/>
                <a:ea typeface="Gill Sans"/>
                <a:cs typeface="Times New Roman" panose="02020603050405020304" pitchFamily="18" charset="0"/>
              </a:rPr>
              <a:t>Control</a:t>
            </a:r>
            <a:r>
              <a:rPr lang="en-US" sz="2000" b="1" spc="-1" dirty="0" smtClean="0">
                <a:solidFill>
                  <a:srgbClr val="FF0000"/>
                </a:solidFill>
                <a:latin typeface="Times New Roman" panose="02020603050405020304" pitchFamily="18" charset="0"/>
                <a:ea typeface="Gill Sans"/>
                <a:cs typeface="Times New Roman" panose="02020603050405020304" pitchFamily="18" charset="0"/>
              </a:rPr>
              <a:t>:</a:t>
            </a:r>
            <a:endParaRPr lang="en-US" sz="2000" b="1" spc="-1" dirty="0">
              <a:solidFill>
                <a:srgbClr val="FF0000"/>
              </a:solidFill>
              <a:latin typeface="Times New Roman" panose="02020603050405020304" pitchFamily="18" charset="0"/>
              <a:ea typeface="Gill Sans"/>
              <a:cs typeface="Times New Roman" panose="02020603050405020304" pitchFamily="18" charset="0"/>
            </a:endParaRPr>
          </a:p>
          <a:p>
            <a:pPr marL="305280" indent="-303840">
              <a:lnSpc>
                <a:spcPct val="100000"/>
              </a:lnSpc>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Temporal logic helps </a:t>
            </a:r>
            <a:r>
              <a:rPr lang="en-US" sz="2000" spc="-1" dirty="0" smtClean="0">
                <a:solidFill>
                  <a:srgbClr val="3D3D3D"/>
                </a:solidFill>
                <a:latin typeface="Times New Roman" panose="02020603050405020304" pitchFamily="18" charset="0"/>
                <a:ea typeface="Gill Sans"/>
                <a:cs typeface="Times New Roman" panose="02020603050405020304" pitchFamily="18" charset="0"/>
              </a:rPr>
              <a:t>to ensure </a:t>
            </a:r>
            <a:r>
              <a:rPr lang="en-US" sz="2000" spc="-1" dirty="0">
                <a:solidFill>
                  <a:srgbClr val="3D3D3D"/>
                </a:solidFill>
                <a:latin typeface="Times New Roman" panose="02020603050405020304" pitchFamily="18" charset="0"/>
                <a:ea typeface="Gill Sans"/>
                <a:cs typeface="Times New Roman" panose="02020603050405020304" pitchFamily="18" charset="0"/>
              </a:rPr>
              <a:t>the correct execution order of concurrent operations in multi-threaded or distributed systems.</a:t>
            </a:r>
          </a:p>
          <a:p>
            <a:pPr marL="305280" indent="-303840">
              <a:lnSpc>
                <a:spcPct val="100000"/>
              </a:lnSpc>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Example: Using temporal operators to express that a critical section must be accessed exclusively by one thread at a time, preventing data race conditions</a:t>
            </a:r>
            <a:r>
              <a:rPr lang="en-US" sz="2000" spc="-1" dirty="0" smtClean="0">
                <a:solidFill>
                  <a:srgbClr val="3D3D3D"/>
                </a:solidFill>
                <a:latin typeface="Times New Roman" panose="02020603050405020304" pitchFamily="18" charset="0"/>
                <a:ea typeface="Gill Sans"/>
                <a:cs typeface="Times New Roman" panose="02020603050405020304" pitchFamily="18" charset="0"/>
              </a:rPr>
              <a:t>.</a:t>
            </a:r>
          </a:p>
          <a:p>
            <a:pPr marL="1440">
              <a:lnSpc>
                <a:spcPct val="100000"/>
              </a:lnSpc>
              <a:spcAft>
                <a:spcPts val="600"/>
              </a:spcAft>
              <a:buClr>
                <a:srgbClr val="4590B8"/>
              </a:buClr>
            </a:pPr>
            <a:r>
              <a:rPr lang="en-US" sz="2000" b="1" spc="-1" dirty="0" smtClean="0">
                <a:solidFill>
                  <a:srgbClr val="FF0000"/>
                </a:solidFill>
                <a:latin typeface="Times New Roman" panose="02020603050405020304" pitchFamily="18" charset="0"/>
                <a:ea typeface="Gill Sans"/>
                <a:cs typeface="Times New Roman" panose="02020603050405020304" pitchFamily="18" charset="0"/>
              </a:rPr>
              <a:t>Real-Time </a:t>
            </a:r>
            <a:r>
              <a:rPr lang="en-US" sz="2000" b="1" spc="-1" dirty="0">
                <a:solidFill>
                  <a:srgbClr val="FF0000"/>
                </a:solidFill>
                <a:latin typeface="Times New Roman" panose="02020603050405020304" pitchFamily="18" charset="0"/>
                <a:ea typeface="Gill Sans"/>
                <a:cs typeface="Times New Roman" panose="02020603050405020304" pitchFamily="18" charset="0"/>
              </a:rPr>
              <a:t>Systems</a:t>
            </a:r>
            <a:r>
              <a:rPr lang="en-US" sz="2000" b="1" spc="-1" dirty="0" smtClean="0">
                <a:solidFill>
                  <a:srgbClr val="FF0000"/>
                </a:solidFill>
                <a:latin typeface="Times New Roman" panose="02020603050405020304" pitchFamily="18" charset="0"/>
                <a:ea typeface="Gill Sans"/>
                <a:cs typeface="Times New Roman" panose="02020603050405020304" pitchFamily="18" charset="0"/>
              </a:rPr>
              <a:t>:</a:t>
            </a:r>
            <a:endParaRPr lang="en-US" sz="2000" b="1" spc="-1" dirty="0">
              <a:solidFill>
                <a:srgbClr val="FF0000"/>
              </a:solidFill>
              <a:latin typeface="Times New Roman" panose="02020603050405020304" pitchFamily="18" charset="0"/>
              <a:ea typeface="Gill Sans"/>
              <a:cs typeface="Times New Roman" panose="02020603050405020304" pitchFamily="18" charset="0"/>
            </a:endParaRPr>
          </a:p>
          <a:p>
            <a:pPr marL="305280" indent="-303840">
              <a:lnSpc>
                <a:spcPct val="100000"/>
              </a:lnSpc>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In real-time systems, timely execution of tasks is critical. </a:t>
            </a:r>
            <a:endParaRPr lang="en-US" sz="2000" spc="-1" dirty="0" smtClean="0">
              <a:solidFill>
                <a:srgbClr val="3D3D3D"/>
              </a:solidFill>
              <a:latin typeface="Times New Roman" panose="02020603050405020304" pitchFamily="18" charset="0"/>
              <a:ea typeface="Gill Sans"/>
              <a:cs typeface="Times New Roman" panose="02020603050405020304" pitchFamily="18" charset="0"/>
            </a:endParaRPr>
          </a:p>
          <a:p>
            <a:pPr marL="305280" indent="-303840">
              <a:lnSpc>
                <a:spcPct val="100000"/>
              </a:lnSpc>
              <a:spcAft>
                <a:spcPts val="600"/>
              </a:spcAft>
              <a:buClr>
                <a:srgbClr val="4590B8"/>
              </a:buClr>
              <a:buFont typeface="Wingdings" panose="05000000000000000000" pitchFamily="2" charset="2"/>
              <a:buChar char="v"/>
            </a:pPr>
            <a:r>
              <a:rPr lang="en-US" sz="2000" spc="-1" dirty="0" smtClean="0">
                <a:solidFill>
                  <a:srgbClr val="3D3D3D"/>
                </a:solidFill>
                <a:latin typeface="Times New Roman" panose="02020603050405020304" pitchFamily="18" charset="0"/>
                <a:ea typeface="Gill Sans"/>
                <a:cs typeface="Times New Roman" panose="02020603050405020304" pitchFamily="18" charset="0"/>
              </a:rPr>
              <a:t>Temporal </a:t>
            </a:r>
            <a:r>
              <a:rPr lang="en-US" sz="2000" spc="-1" dirty="0">
                <a:solidFill>
                  <a:srgbClr val="3D3D3D"/>
                </a:solidFill>
                <a:latin typeface="Times New Roman" panose="02020603050405020304" pitchFamily="18" charset="0"/>
                <a:ea typeface="Gill Sans"/>
                <a:cs typeface="Times New Roman" panose="02020603050405020304" pitchFamily="18" charset="0"/>
              </a:rPr>
              <a:t>logic is employed to specify and verify temporal constraints on system responses.</a:t>
            </a:r>
          </a:p>
          <a:p>
            <a:pPr marL="305280" indent="-303840">
              <a:lnSpc>
                <a:spcPct val="100000"/>
              </a:lnSpc>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Example: Ensuring that a control system responds to a sensor input within a specified time frame, expressed as a temporal property.</a:t>
            </a:r>
          </a:p>
          <a:p>
            <a:pPr marL="1440">
              <a:lnSpc>
                <a:spcPct val="100000"/>
              </a:lnSpc>
              <a:spcAft>
                <a:spcPts val="600"/>
              </a:spcAft>
              <a:buClr>
                <a:srgbClr val="4590B8"/>
              </a:buClr>
            </a:pPr>
            <a:endParaRPr lang="en-US" sz="2000" spc="-1" dirty="0" smtClean="0">
              <a:solidFill>
                <a:srgbClr val="3D3D3D"/>
              </a:solidFill>
              <a:latin typeface="Times New Roman" panose="02020603050405020304" pitchFamily="18" charset="0"/>
              <a:ea typeface="Gill Sans"/>
              <a:cs typeface="Times New Roman" panose="02020603050405020304" pitchFamily="18" charset="0"/>
            </a:endParaRPr>
          </a:p>
        </p:txBody>
      </p:sp>
    </p:spTree>
    <p:extLst>
      <p:ext uri="{BB962C8B-B14F-4D97-AF65-F5344CB8AC3E}">
        <p14:creationId xmlns:p14="http://schemas.microsoft.com/office/powerpoint/2010/main" val="455562884"/>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2800" b="1" strike="noStrike" spc="-1" dirty="0">
                <a:solidFill>
                  <a:srgbClr val="FF0000"/>
                </a:solidFill>
                <a:latin typeface="Gill Sans"/>
                <a:ea typeface="Gill Sans"/>
              </a:rPr>
              <a:t>TEMPORAL </a:t>
            </a:r>
            <a:r>
              <a:rPr lang="en-US" sz="2800" b="1" strike="noStrike" spc="-1" dirty="0" smtClean="0">
                <a:solidFill>
                  <a:srgbClr val="FF0000"/>
                </a:solidFill>
                <a:latin typeface="Gill Sans"/>
                <a:ea typeface="Gill Sans"/>
              </a:rPr>
              <a:t>LOGIC</a:t>
            </a:r>
            <a:endParaRPr lang="en-US" sz="2800" b="1" strike="noStrike" spc="-1" dirty="0">
              <a:solidFill>
                <a:srgbClr val="FF0000"/>
              </a:solidFill>
              <a:latin typeface="Arial"/>
            </a:endParaRPr>
          </a:p>
        </p:txBody>
      </p:sp>
      <p:sp>
        <p:nvSpPr>
          <p:cNvPr id="105" name="CustomShape 2"/>
          <p:cNvSpPr/>
          <p:nvPr/>
        </p:nvSpPr>
        <p:spPr>
          <a:xfrm>
            <a:off x="581043" y="189720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1440">
              <a:lnSpc>
                <a:spcPct val="100000"/>
              </a:lnSpc>
              <a:spcAft>
                <a:spcPts val="600"/>
              </a:spcAft>
              <a:buClr>
                <a:srgbClr val="4590B8"/>
              </a:buClr>
            </a:pPr>
            <a:r>
              <a:rPr lang="en-US" sz="2000" b="1" strike="noStrike" spc="-1" dirty="0" smtClean="0">
                <a:solidFill>
                  <a:srgbClr val="3D3D3D"/>
                </a:solidFill>
                <a:latin typeface="Times New Roman" panose="02020603050405020304" pitchFamily="18" charset="0"/>
                <a:ea typeface="Gill Sans"/>
                <a:cs typeface="Times New Roman" panose="02020603050405020304" pitchFamily="18" charset="0"/>
              </a:rPr>
              <a:t>Temporal Logic in Software Engineering</a:t>
            </a:r>
          </a:p>
          <a:p>
            <a:pPr marL="1440">
              <a:lnSpc>
                <a:spcPct val="100000"/>
              </a:lnSpc>
              <a:spcAft>
                <a:spcPts val="600"/>
              </a:spcAft>
              <a:buClr>
                <a:srgbClr val="4590B8"/>
              </a:buClr>
            </a:pPr>
            <a:r>
              <a:rPr lang="en-US" sz="1900" b="1" spc="-1" dirty="0">
                <a:solidFill>
                  <a:srgbClr val="FF0000"/>
                </a:solidFill>
                <a:latin typeface="Times New Roman" panose="02020603050405020304" pitchFamily="18" charset="0"/>
                <a:ea typeface="Gill Sans"/>
                <a:cs typeface="Times New Roman" panose="02020603050405020304" pitchFamily="18" charset="0"/>
              </a:rPr>
              <a:t>Fault Tolerance and Error Handling</a:t>
            </a:r>
            <a:r>
              <a:rPr lang="en-US" sz="1900" b="1" spc="-1" dirty="0" smtClean="0">
                <a:solidFill>
                  <a:srgbClr val="FF0000"/>
                </a:solidFill>
                <a:latin typeface="Times New Roman" panose="02020603050405020304" pitchFamily="18" charset="0"/>
                <a:ea typeface="Gill Sans"/>
                <a:cs typeface="Times New Roman" panose="02020603050405020304" pitchFamily="18" charset="0"/>
              </a:rPr>
              <a:t>:</a:t>
            </a:r>
            <a:endParaRPr lang="en-US" sz="1900" b="1" spc="-1" dirty="0">
              <a:solidFill>
                <a:srgbClr val="FF0000"/>
              </a:solidFill>
              <a:latin typeface="Times New Roman" panose="02020603050405020304" pitchFamily="18" charset="0"/>
              <a:ea typeface="Gill Sans"/>
              <a:cs typeface="Times New Roman" panose="02020603050405020304" pitchFamily="18" charset="0"/>
            </a:endParaRPr>
          </a:p>
          <a:p>
            <a:pPr marL="305280" indent="-303840">
              <a:lnSpc>
                <a:spcPct val="100000"/>
              </a:lnSpc>
              <a:spcAft>
                <a:spcPts val="600"/>
              </a:spcAft>
              <a:buClr>
                <a:srgbClr val="4590B8"/>
              </a:buClr>
              <a:buFont typeface="Wingdings" panose="05000000000000000000" pitchFamily="2" charset="2"/>
              <a:buChar char="v"/>
            </a:pPr>
            <a:r>
              <a:rPr lang="en-US" sz="1900" spc="-1" dirty="0">
                <a:solidFill>
                  <a:srgbClr val="3D3D3D"/>
                </a:solidFill>
                <a:latin typeface="Times New Roman" panose="02020603050405020304" pitchFamily="18" charset="0"/>
                <a:ea typeface="Gill Sans"/>
                <a:cs typeface="Times New Roman" panose="02020603050405020304" pitchFamily="18" charset="0"/>
              </a:rPr>
              <a:t>Temporal logic can express temporal properties related to fault tolerance and error recovery mechanisms in software systems.</a:t>
            </a:r>
          </a:p>
          <a:p>
            <a:pPr marL="305280" indent="-303840">
              <a:lnSpc>
                <a:spcPct val="100000"/>
              </a:lnSpc>
              <a:spcAft>
                <a:spcPts val="600"/>
              </a:spcAft>
              <a:buClr>
                <a:srgbClr val="4590B8"/>
              </a:buClr>
              <a:buFont typeface="Wingdings" panose="05000000000000000000" pitchFamily="2" charset="2"/>
              <a:buChar char="v"/>
            </a:pPr>
            <a:r>
              <a:rPr lang="en-US" sz="1900" spc="-1" dirty="0">
                <a:solidFill>
                  <a:srgbClr val="3D3D3D"/>
                </a:solidFill>
                <a:latin typeface="Times New Roman" panose="02020603050405020304" pitchFamily="18" charset="0"/>
                <a:ea typeface="Gill Sans"/>
                <a:cs typeface="Times New Roman" panose="02020603050405020304" pitchFamily="18" charset="0"/>
              </a:rPr>
              <a:t>Example: Specifying that a system should recover from a failure within a defined time period while maintaining correct functionality</a:t>
            </a:r>
            <a:r>
              <a:rPr lang="en-US" sz="1900" spc="-1" dirty="0" smtClean="0">
                <a:solidFill>
                  <a:srgbClr val="3D3D3D"/>
                </a:solidFill>
                <a:latin typeface="Times New Roman" panose="02020603050405020304" pitchFamily="18" charset="0"/>
                <a:ea typeface="Gill Sans"/>
                <a:cs typeface="Times New Roman" panose="02020603050405020304" pitchFamily="18" charset="0"/>
              </a:rPr>
              <a:t>.</a:t>
            </a:r>
            <a:endParaRPr lang="en-US" sz="1900" b="1" spc="-1" dirty="0">
              <a:solidFill>
                <a:srgbClr val="FF0000"/>
              </a:solidFill>
              <a:latin typeface="Times New Roman" panose="02020603050405020304" pitchFamily="18" charset="0"/>
              <a:ea typeface="Gill Sans"/>
              <a:cs typeface="Times New Roman" panose="02020603050405020304" pitchFamily="18" charset="0"/>
            </a:endParaRPr>
          </a:p>
          <a:p>
            <a:pPr marL="1440">
              <a:lnSpc>
                <a:spcPct val="100000"/>
              </a:lnSpc>
              <a:spcAft>
                <a:spcPts val="600"/>
              </a:spcAft>
              <a:buClr>
                <a:srgbClr val="4590B8"/>
              </a:buClr>
            </a:pPr>
            <a:r>
              <a:rPr lang="en-US" sz="1900" b="1" spc="-1" dirty="0">
                <a:solidFill>
                  <a:srgbClr val="FF0000"/>
                </a:solidFill>
                <a:latin typeface="Times New Roman" panose="02020603050405020304" pitchFamily="18" charset="0"/>
                <a:ea typeface="Gill Sans"/>
                <a:cs typeface="Times New Roman" panose="02020603050405020304" pitchFamily="18" charset="0"/>
              </a:rPr>
              <a:t>Temporal Specifications for System Behavior</a:t>
            </a:r>
            <a:r>
              <a:rPr lang="en-US" sz="1900" b="1" spc="-1" dirty="0" smtClean="0">
                <a:solidFill>
                  <a:srgbClr val="FF0000"/>
                </a:solidFill>
                <a:latin typeface="Times New Roman" panose="02020603050405020304" pitchFamily="18" charset="0"/>
                <a:ea typeface="Gill Sans"/>
                <a:cs typeface="Times New Roman" panose="02020603050405020304" pitchFamily="18" charset="0"/>
              </a:rPr>
              <a:t>:</a:t>
            </a:r>
            <a:endParaRPr lang="en-US" sz="1900" b="1" spc="-1" dirty="0">
              <a:solidFill>
                <a:srgbClr val="FF0000"/>
              </a:solidFill>
              <a:latin typeface="Times New Roman" panose="02020603050405020304" pitchFamily="18" charset="0"/>
              <a:ea typeface="Gill Sans"/>
              <a:cs typeface="Times New Roman" panose="02020603050405020304" pitchFamily="18" charset="0"/>
            </a:endParaRPr>
          </a:p>
          <a:p>
            <a:pPr marL="305280" indent="-303840">
              <a:lnSpc>
                <a:spcPct val="100000"/>
              </a:lnSpc>
              <a:spcAft>
                <a:spcPts val="600"/>
              </a:spcAft>
              <a:buClr>
                <a:srgbClr val="4590B8"/>
              </a:buClr>
              <a:buFont typeface="Wingdings" panose="05000000000000000000" pitchFamily="2" charset="2"/>
              <a:buChar char="v"/>
            </a:pPr>
            <a:r>
              <a:rPr lang="en-US" sz="1900" spc="-1" dirty="0">
                <a:solidFill>
                  <a:srgbClr val="3D3D3D"/>
                </a:solidFill>
                <a:latin typeface="Times New Roman" panose="02020603050405020304" pitchFamily="18" charset="0"/>
                <a:ea typeface="Gill Sans"/>
                <a:cs typeface="Times New Roman" panose="02020603050405020304" pitchFamily="18" charset="0"/>
              </a:rPr>
              <a:t>Temporal logic allows the formal specification of desired system behavior over time, providing a basis for system design and development.</a:t>
            </a:r>
          </a:p>
          <a:p>
            <a:pPr marL="305280" indent="-303840">
              <a:lnSpc>
                <a:spcPct val="100000"/>
              </a:lnSpc>
              <a:spcAft>
                <a:spcPts val="600"/>
              </a:spcAft>
              <a:buClr>
                <a:srgbClr val="4590B8"/>
              </a:buClr>
              <a:buFont typeface="Wingdings" panose="05000000000000000000" pitchFamily="2" charset="2"/>
              <a:buChar char="v"/>
            </a:pPr>
            <a:r>
              <a:rPr lang="en-US" sz="1900" spc="-1" dirty="0">
                <a:solidFill>
                  <a:srgbClr val="3D3D3D"/>
                </a:solidFill>
                <a:latin typeface="Times New Roman" panose="02020603050405020304" pitchFamily="18" charset="0"/>
                <a:ea typeface="Gill Sans"/>
                <a:cs typeface="Times New Roman" panose="02020603050405020304" pitchFamily="18" charset="0"/>
              </a:rPr>
              <a:t>Example: Defining a temporal property that specifies the correct sequence of user interactions in a graphical user interface (GUI) </a:t>
            </a:r>
            <a:r>
              <a:rPr lang="en-US" sz="1900" spc="-1" dirty="0" smtClean="0">
                <a:solidFill>
                  <a:srgbClr val="3D3D3D"/>
                </a:solidFill>
                <a:latin typeface="Times New Roman" panose="02020603050405020304" pitchFamily="18" charset="0"/>
                <a:ea typeface="Gill Sans"/>
                <a:cs typeface="Times New Roman" panose="02020603050405020304" pitchFamily="18" charset="0"/>
              </a:rPr>
              <a:t>applications</a:t>
            </a:r>
            <a:endParaRPr lang="en-US" sz="1900" b="1" spc="-1" dirty="0">
              <a:solidFill>
                <a:srgbClr val="FF0000"/>
              </a:solidFill>
              <a:latin typeface="Times New Roman" panose="02020603050405020304" pitchFamily="18" charset="0"/>
              <a:ea typeface="Gill Sans"/>
              <a:cs typeface="Times New Roman" panose="02020603050405020304" pitchFamily="18" charset="0"/>
            </a:endParaRPr>
          </a:p>
          <a:p>
            <a:pPr marL="1440">
              <a:lnSpc>
                <a:spcPct val="100000"/>
              </a:lnSpc>
              <a:spcAft>
                <a:spcPts val="600"/>
              </a:spcAft>
              <a:buClr>
                <a:srgbClr val="4590B8"/>
              </a:buClr>
            </a:pPr>
            <a:r>
              <a:rPr lang="en-US" sz="1900" b="1" spc="-1" dirty="0">
                <a:solidFill>
                  <a:srgbClr val="FF0000"/>
                </a:solidFill>
                <a:latin typeface="Times New Roman" panose="02020603050405020304" pitchFamily="18" charset="0"/>
                <a:ea typeface="Gill Sans"/>
                <a:cs typeface="Times New Roman" panose="02020603050405020304" pitchFamily="18" charset="0"/>
              </a:rPr>
              <a:t>Software Model Checking</a:t>
            </a:r>
            <a:r>
              <a:rPr lang="en-US" sz="1900" b="1" spc="-1" dirty="0" smtClean="0">
                <a:solidFill>
                  <a:srgbClr val="FF0000"/>
                </a:solidFill>
                <a:latin typeface="Times New Roman" panose="02020603050405020304" pitchFamily="18" charset="0"/>
                <a:ea typeface="Gill Sans"/>
                <a:cs typeface="Times New Roman" panose="02020603050405020304" pitchFamily="18" charset="0"/>
              </a:rPr>
              <a:t>:</a:t>
            </a:r>
            <a:endParaRPr lang="en-US" sz="1900" b="1" spc="-1" dirty="0">
              <a:solidFill>
                <a:srgbClr val="FF0000"/>
              </a:solidFill>
              <a:latin typeface="Times New Roman" panose="02020603050405020304" pitchFamily="18" charset="0"/>
              <a:ea typeface="Gill Sans"/>
              <a:cs typeface="Times New Roman" panose="02020603050405020304" pitchFamily="18" charset="0"/>
            </a:endParaRPr>
          </a:p>
          <a:p>
            <a:pPr marL="305280" indent="-303840">
              <a:lnSpc>
                <a:spcPct val="100000"/>
              </a:lnSpc>
              <a:spcAft>
                <a:spcPts val="600"/>
              </a:spcAft>
              <a:buClr>
                <a:srgbClr val="4590B8"/>
              </a:buClr>
              <a:buFont typeface="Wingdings" panose="05000000000000000000" pitchFamily="2" charset="2"/>
              <a:buChar char="v"/>
            </a:pPr>
            <a:r>
              <a:rPr lang="en-US" sz="1900" spc="-1" dirty="0">
                <a:solidFill>
                  <a:srgbClr val="3D3D3D"/>
                </a:solidFill>
                <a:latin typeface="Times New Roman" panose="02020603050405020304" pitchFamily="18" charset="0"/>
                <a:ea typeface="Gill Sans"/>
                <a:cs typeface="Times New Roman" panose="02020603050405020304" pitchFamily="18" charset="0"/>
              </a:rPr>
              <a:t>Temporal logic is a foundational component in software model checking, which involves exhaustively exploring the state space of a system to verify temporal properties.</a:t>
            </a:r>
          </a:p>
          <a:p>
            <a:pPr marL="305280" indent="-303840">
              <a:lnSpc>
                <a:spcPct val="100000"/>
              </a:lnSpc>
              <a:spcAft>
                <a:spcPts val="600"/>
              </a:spcAft>
              <a:buClr>
                <a:srgbClr val="4590B8"/>
              </a:buClr>
              <a:buFont typeface="Wingdings" panose="05000000000000000000" pitchFamily="2" charset="2"/>
              <a:buChar char="v"/>
            </a:pPr>
            <a:r>
              <a:rPr lang="en-US" sz="1900" spc="-1" dirty="0">
                <a:solidFill>
                  <a:srgbClr val="3D3D3D"/>
                </a:solidFill>
                <a:latin typeface="Times New Roman" panose="02020603050405020304" pitchFamily="18" charset="0"/>
                <a:ea typeface="Gill Sans"/>
                <a:cs typeface="Times New Roman" panose="02020603050405020304" pitchFamily="18" charset="0"/>
              </a:rPr>
              <a:t>Example: Verifying that a distributed system </a:t>
            </a:r>
            <a:r>
              <a:rPr lang="en-US" sz="1900" spc="-1" dirty="0" smtClean="0">
                <a:solidFill>
                  <a:srgbClr val="3D3D3D"/>
                </a:solidFill>
                <a:latin typeface="Times New Roman" panose="02020603050405020304" pitchFamily="18" charset="0"/>
                <a:ea typeface="Gill Sans"/>
                <a:cs typeface="Times New Roman" panose="02020603050405020304" pitchFamily="18" charset="0"/>
              </a:rPr>
              <a:t>obeys </a:t>
            </a:r>
            <a:r>
              <a:rPr lang="en-US" sz="1900" spc="-1" dirty="0">
                <a:solidFill>
                  <a:srgbClr val="3D3D3D"/>
                </a:solidFill>
                <a:latin typeface="Times New Roman" panose="02020603050405020304" pitchFamily="18" charset="0"/>
                <a:ea typeface="Gill Sans"/>
                <a:cs typeface="Times New Roman" panose="02020603050405020304" pitchFamily="18" charset="0"/>
              </a:rPr>
              <a:t>to a specific protocol by expressing the protocol's temporal constraints using temporal logic.</a:t>
            </a:r>
            <a:endParaRPr lang="en-US" sz="1900" spc="-1" dirty="0" smtClean="0">
              <a:solidFill>
                <a:srgbClr val="3D3D3D"/>
              </a:solidFill>
              <a:latin typeface="Times New Roman" panose="02020603050405020304" pitchFamily="18" charset="0"/>
              <a:ea typeface="Gill Sans"/>
              <a:cs typeface="Times New Roman" panose="02020603050405020304" pitchFamily="18" charset="0"/>
            </a:endParaRPr>
          </a:p>
        </p:txBody>
      </p:sp>
    </p:spTree>
    <p:extLst>
      <p:ext uri="{BB962C8B-B14F-4D97-AF65-F5344CB8AC3E}">
        <p14:creationId xmlns:p14="http://schemas.microsoft.com/office/powerpoint/2010/main" val="35412213"/>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2800" b="1" strike="noStrike" spc="-1" dirty="0">
                <a:solidFill>
                  <a:srgbClr val="FF0000"/>
                </a:solidFill>
                <a:latin typeface="Gill Sans"/>
                <a:ea typeface="Gill Sans"/>
              </a:rPr>
              <a:t>TEMPORAL </a:t>
            </a:r>
            <a:r>
              <a:rPr lang="en-US" sz="2800" b="1" strike="noStrike" spc="-1" dirty="0" smtClean="0">
                <a:solidFill>
                  <a:srgbClr val="FF0000"/>
                </a:solidFill>
                <a:latin typeface="Gill Sans"/>
                <a:ea typeface="Gill Sans"/>
              </a:rPr>
              <a:t>LOGIC</a:t>
            </a:r>
            <a:endParaRPr lang="en-US" sz="2800" b="1" strike="noStrike" spc="-1" dirty="0">
              <a:solidFill>
                <a:srgbClr val="FF0000"/>
              </a:solidFill>
              <a:latin typeface="Arial"/>
            </a:endParaRPr>
          </a:p>
        </p:txBody>
      </p:sp>
      <p:sp>
        <p:nvSpPr>
          <p:cNvPr id="105" name="CustomShape 2"/>
          <p:cNvSpPr/>
          <p:nvPr/>
        </p:nvSpPr>
        <p:spPr>
          <a:xfrm>
            <a:off x="581043" y="189720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1440">
              <a:lnSpc>
                <a:spcPct val="100000"/>
              </a:lnSpc>
              <a:spcAft>
                <a:spcPts val="600"/>
              </a:spcAft>
              <a:buClr>
                <a:srgbClr val="4590B8"/>
              </a:buClr>
            </a:pPr>
            <a:r>
              <a:rPr lang="en-US" sz="2000" b="1" strike="noStrike" spc="-1" dirty="0" smtClean="0">
                <a:solidFill>
                  <a:srgbClr val="3D3D3D"/>
                </a:solidFill>
                <a:latin typeface="Times New Roman" panose="02020603050405020304" pitchFamily="18" charset="0"/>
                <a:ea typeface="Gill Sans"/>
                <a:cs typeface="Times New Roman" panose="02020603050405020304" pitchFamily="18" charset="0"/>
              </a:rPr>
              <a:t>Temporal Logic in Software Engineering</a:t>
            </a:r>
          </a:p>
          <a:p>
            <a:pPr marL="1440">
              <a:lnSpc>
                <a:spcPct val="100000"/>
              </a:lnSpc>
              <a:spcAft>
                <a:spcPts val="600"/>
              </a:spcAft>
              <a:buClr>
                <a:srgbClr val="4590B8"/>
              </a:buClr>
            </a:pPr>
            <a:r>
              <a:rPr lang="en-US" sz="2000" b="1" spc="-1" dirty="0">
                <a:solidFill>
                  <a:srgbClr val="FF0000"/>
                </a:solidFill>
                <a:latin typeface="Times New Roman" panose="02020603050405020304" pitchFamily="18" charset="0"/>
                <a:ea typeface="Gill Sans"/>
                <a:cs typeface="Times New Roman" panose="02020603050405020304" pitchFamily="18" charset="0"/>
              </a:rPr>
              <a:t>Event-Based Systems</a:t>
            </a:r>
            <a:r>
              <a:rPr lang="en-US" sz="2000" b="1" spc="-1" dirty="0" smtClean="0">
                <a:solidFill>
                  <a:srgbClr val="FF0000"/>
                </a:solidFill>
                <a:latin typeface="Times New Roman" panose="02020603050405020304" pitchFamily="18" charset="0"/>
                <a:ea typeface="Gill Sans"/>
                <a:cs typeface="Times New Roman" panose="02020603050405020304" pitchFamily="18" charset="0"/>
              </a:rPr>
              <a:t>:</a:t>
            </a:r>
            <a:endParaRPr lang="en-US" sz="2000" b="1" spc="-1" dirty="0">
              <a:solidFill>
                <a:srgbClr val="FF0000"/>
              </a:solidFill>
              <a:latin typeface="Times New Roman" panose="02020603050405020304" pitchFamily="18" charset="0"/>
              <a:ea typeface="Gill Sans"/>
              <a:cs typeface="Times New Roman" panose="02020603050405020304" pitchFamily="18" charset="0"/>
            </a:endParaRPr>
          </a:p>
          <a:p>
            <a:pPr marL="305280" indent="-303840">
              <a:lnSpc>
                <a:spcPct val="100000"/>
              </a:lnSpc>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Temporal logic is well-suited for expressing properties in event-driven or reactive systems where the system behavior is triggered by events over time.</a:t>
            </a:r>
          </a:p>
          <a:p>
            <a:pPr marL="305280" indent="-303840">
              <a:lnSpc>
                <a:spcPct val="100000"/>
              </a:lnSpc>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Example: Specifying that an alarm should be triggered within a certain time after detecting a specific event in a monitoring system.</a:t>
            </a:r>
          </a:p>
          <a:p>
            <a:pPr marL="1440">
              <a:lnSpc>
                <a:spcPct val="100000"/>
              </a:lnSpc>
              <a:spcAft>
                <a:spcPts val="600"/>
              </a:spcAft>
              <a:buClr>
                <a:srgbClr val="4590B8"/>
              </a:buClr>
            </a:pPr>
            <a:r>
              <a:rPr lang="en-US" sz="2000" b="1" spc="-1" dirty="0">
                <a:solidFill>
                  <a:srgbClr val="FF0000"/>
                </a:solidFill>
                <a:latin typeface="Times New Roman" panose="02020603050405020304" pitchFamily="18" charset="0"/>
                <a:ea typeface="Gill Sans"/>
                <a:cs typeface="Times New Roman" panose="02020603050405020304" pitchFamily="18" charset="0"/>
              </a:rPr>
              <a:t>Temporal Aspects of Software Requirements</a:t>
            </a:r>
            <a:r>
              <a:rPr lang="en-US" sz="2000" b="1" spc="-1" dirty="0" smtClean="0">
                <a:solidFill>
                  <a:srgbClr val="FF0000"/>
                </a:solidFill>
                <a:latin typeface="Times New Roman" panose="02020603050405020304" pitchFamily="18" charset="0"/>
                <a:ea typeface="Gill Sans"/>
                <a:cs typeface="Times New Roman" panose="02020603050405020304" pitchFamily="18" charset="0"/>
              </a:rPr>
              <a:t>:</a:t>
            </a:r>
            <a:endParaRPr lang="en-US" sz="2000" b="1" spc="-1" dirty="0">
              <a:solidFill>
                <a:srgbClr val="FF0000"/>
              </a:solidFill>
              <a:latin typeface="Times New Roman" panose="02020603050405020304" pitchFamily="18" charset="0"/>
              <a:ea typeface="Gill Sans"/>
              <a:cs typeface="Times New Roman" panose="02020603050405020304" pitchFamily="18" charset="0"/>
            </a:endParaRPr>
          </a:p>
          <a:p>
            <a:pPr marL="305280" indent="-303840">
              <a:lnSpc>
                <a:spcPct val="100000"/>
              </a:lnSpc>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Temporal logic helps in formalizing and verifying time-related requirements in software specifications.</a:t>
            </a:r>
          </a:p>
          <a:p>
            <a:pPr marL="305280" indent="-303840">
              <a:lnSpc>
                <a:spcPct val="100000"/>
              </a:lnSpc>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Example: Expressing that a software system must generate a specific report every week without errors, using temporal operators to capture the periodicity.</a:t>
            </a:r>
            <a:endParaRPr lang="en-US" sz="2000" spc="-1" dirty="0" smtClean="0">
              <a:solidFill>
                <a:srgbClr val="3D3D3D"/>
              </a:solidFill>
              <a:latin typeface="Times New Roman" panose="02020603050405020304" pitchFamily="18" charset="0"/>
              <a:ea typeface="Gill Sans"/>
              <a:cs typeface="Times New Roman" panose="02020603050405020304" pitchFamily="18" charset="0"/>
            </a:endParaRPr>
          </a:p>
        </p:txBody>
      </p:sp>
    </p:spTree>
    <p:extLst>
      <p:ext uri="{BB962C8B-B14F-4D97-AF65-F5344CB8AC3E}">
        <p14:creationId xmlns:p14="http://schemas.microsoft.com/office/powerpoint/2010/main" val="861029914"/>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2800" b="1" strike="noStrike" spc="-1" dirty="0">
                <a:solidFill>
                  <a:srgbClr val="FF0000"/>
                </a:solidFill>
                <a:latin typeface="Gill Sans"/>
                <a:ea typeface="Gill Sans"/>
              </a:rPr>
              <a:t>TEMPORAL </a:t>
            </a:r>
            <a:r>
              <a:rPr lang="en-US" sz="2800" b="1" strike="noStrike" spc="-1" dirty="0" smtClean="0">
                <a:solidFill>
                  <a:srgbClr val="FF0000"/>
                </a:solidFill>
                <a:latin typeface="Gill Sans"/>
                <a:ea typeface="Gill Sans"/>
              </a:rPr>
              <a:t>LOGIC</a:t>
            </a:r>
            <a:endParaRPr lang="en-US" sz="2800" b="1" strike="noStrike"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1440">
              <a:lnSpc>
                <a:spcPct val="100000"/>
              </a:lnSpc>
              <a:spcAft>
                <a:spcPts val="600"/>
              </a:spcAft>
              <a:buClr>
                <a:srgbClr val="4590B8"/>
              </a:buClr>
            </a:pPr>
            <a:r>
              <a:rPr lang="en-US" sz="2000" b="1" strike="noStrike" spc="-1" dirty="0" smtClean="0">
                <a:solidFill>
                  <a:srgbClr val="3D3D3D"/>
                </a:solidFill>
                <a:latin typeface="Times New Roman" panose="02020603050405020304" pitchFamily="18" charset="0"/>
                <a:ea typeface="Gill Sans"/>
                <a:cs typeface="Times New Roman" panose="02020603050405020304" pitchFamily="18" charset="0"/>
              </a:rPr>
              <a:t>Temporal Logic</a:t>
            </a:r>
          </a:p>
          <a:p>
            <a:pPr marL="305280" indent="-303840">
              <a:lnSpc>
                <a:spcPct val="100000"/>
              </a:lnSpc>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Commonly, propositional, discrete, linear temporal logic extends the descriptive power of propositional logic in order to be able </a:t>
            </a:r>
            <a:r>
              <a:rPr lang="en-US" sz="2000" spc="-1" dirty="0" smtClean="0">
                <a:solidFill>
                  <a:srgbClr val="3D3D3D"/>
                </a:solidFill>
                <a:latin typeface="Times New Roman" panose="02020603050405020304" pitchFamily="18" charset="0"/>
                <a:ea typeface="Gill Sans"/>
                <a:cs typeface="Times New Roman" panose="02020603050405020304" pitchFamily="18" charset="0"/>
              </a:rPr>
              <a:t>to:</a:t>
            </a:r>
            <a:endParaRPr lang="en-US" sz="2000" spc="-1" dirty="0">
              <a:solidFill>
                <a:srgbClr val="3D3D3D"/>
              </a:solidFill>
              <a:latin typeface="Times New Roman" panose="02020603050405020304" pitchFamily="18" charset="0"/>
              <a:ea typeface="Gill Sans"/>
              <a:cs typeface="Times New Roman" panose="02020603050405020304" pitchFamily="18" charset="0"/>
            </a:endParaRPr>
          </a:p>
          <a:p>
            <a:pPr marL="762480" lvl="1" indent="-303840">
              <a:spcAft>
                <a:spcPts val="600"/>
              </a:spcAft>
              <a:buClr>
                <a:srgbClr val="4590B8"/>
              </a:buClr>
              <a:buFont typeface="Wingdings" panose="05000000000000000000" pitchFamily="2" charset="2"/>
              <a:buChar char="v"/>
            </a:pPr>
            <a:r>
              <a:rPr lang="en-US" sz="2000" spc="-1" dirty="0" smtClean="0">
                <a:solidFill>
                  <a:srgbClr val="3D3D3D"/>
                </a:solidFill>
                <a:latin typeface="Times New Roman" panose="02020603050405020304" pitchFamily="18" charset="0"/>
                <a:ea typeface="Gill Sans"/>
                <a:cs typeface="Times New Roman" panose="02020603050405020304" pitchFamily="18" charset="0"/>
              </a:rPr>
              <a:t>Describe </a:t>
            </a:r>
            <a:r>
              <a:rPr lang="en-US" sz="2000" spc="-1" dirty="0">
                <a:solidFill>
                  <a:srgbClr val="3D3D3D"/>
                </a:solidFill>
                <a:latin typeface="Times New Roman" panose="02020603050405020304" pitchFamily="18" charset="0"/>
                <a:ea typeface="Gill Sans"/>
                <a:cs typeface="Times New Roman" panose="02020603050405020304" pitchFamily="18" charset="0"/>
              </a:rPr>
              <a:t>sequences (hence</a:t>
            </a:r>
            <a:r>
              <a:rPr lang="en-US" sz="2000" spc="-1" dirty="0" smtClean="0">
                <a:solidFill>
                  <a:srgbClr val="3D3D3D"/>
                </a:solidFill>
                <a:latin typeface="Times New Roman" panose="02020603050405020304" pitchFamily="18" charset="0"/>
                <a:ea typeface="Gill Sans"/>
                <a:cs typeface="Times New Roman" panose="02020603050405020304" pitchFamily="18" charset="0"/>
              </a:rPr>
              <a:t>: linear</a:t>
            </a:r>
            <a:r>
              <a:rPr lang="en-US" sz="2000" spc="-1" dirty="0">
                <a:solidFill>
                  <a:srgbClr val="3D3D3D"/>
                </a:solidFill>
                <a:latin typeface="Times New Roman" panose="02020603050405020304" pitchFamily="18" charset="0"/>
                <a:ea typeface="Gill Sans"/>
                <a:cs typeface="Times New Roman" panose="02020603050405020304" pitchFamily="18" charset="0"/>
              </a:rPr>
              <a:t>)</a:t>
            </a:r>
          </a:p>
          <a:p>
            <a:pPr marL="762480" lvl="1" indent="-303840">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of distinct (hence</a:t>
            </a:r>
            <a:r>
              <a:rPr lang="en-US" sz="2000" spc="-1" dirty="0" smtClean="0">
                <a:solidFill>
                  <a:srgbClr val="3D3D3D"/>
                </a:solidFill>
                <a:latin typeface="Times New Roman" panose="02020603050405020304" pitchFamily="18" charset="0"/>
                <a:ea typeface="Gill Sans"/>
                <a:cs typeface="Times New Roman" panose="02020603050405020304" pitchFamily="18" charset="0"/>
              </a:rPr>
              <a:t>: discrete</a:t>
            </a:r>
            <a:r>
              <a:rPr lang="en-US" sz="2000" spc="-1" dirty="0">
                <a:solidFill>
                  <a:srgbClr val="3D3D3D"/>
                </a:solidFill>
                <a:latin typeface="Times New Roman" panose="02020603050405020304" pitchFamily="18" charset="0"/>
                <a:ea typeface="Gill Sans"/>
                <a:cs typeface="Times New Roman" panose="02020603050405020304" pitchFamily="18" charset="0"/>
              </a:rPr>
              <a:t>) </a:t>
            </a:r>
            <a:r>
              <a:rPr lang="en-US" sz="2000" spc="-1" dirty="0" smtClean="0">
                <a:solidFill>
                  <a:srgbClr val="3D3D3D"/>
                </a:solidFill>
                <a:latin typeface="Times New Roman" panose="02020603050405020304" pitchFamily="18" charset="0"/>
                <a:ea typeface="Gill Sans"/>
                <a:cs typeface="Times New Roman" panose="02020603050405020304" pitchFamily="18" charset="0"/>
              </a:rPr>
              <a:t>worlds</a:t>
            </a:r>
            <a:endParaRPr lang="en-US" sz="2000" spc="-1" dirty="0">
              <a:solidFill>
                <a:srgbClr val="3D3D3D"/>
              </a:solidFill>
              <a:latin typeface="Times New Roman" panose="02020603050405020304" pitchFamily="18" charset="0"/>
              <a:ea typeface="Gill Sans"/>
              <a:cs typeface="Times New Roman" panose="02020603050405020304" pitchFamily="18" charset="0"/>
            </a:endParaRPr>
          </a:p>
          <a:p>
            <a:pPr marL="762480" lvl="1" indent="-303840">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with each world being similar to a classical(propositional) model</a:t>
            </a:r>
          </a:p>
          <a:p>
            <a:pPr marL="305280" indent="-303840">
              <a:lnSpc>
                <a:spcPct val="100000"/>
              </a:lnSpc>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So, we can equivalently describe the basis of our model of time in terms of a sequence of worlds, a sequence of states, or a sequence of propositional models.</a:t>
            </a:r>
          </a:p>
          <a:p>
            <a:pPr marL="305280" indent="-303840">
              <a:lnSpc>
                <a:spcPct val="100000"/>
              </a:lnSpc>
              <a:spcAft>
                <a:spcPts val="600"/>
              </a:spcAft>
              <a:buClr>
                <a:srgbClr val="4590B8"/>
              </a:buClr>
              <a:buFont typeface="Wingdings" panose="05000000000000000000" pitchFamily="2" charset="2"/>
              <a:buChar char="v"/>
            </a:pPr>
            <a:r>
              <a:rPr lang="en-US" sz="2000" spc="-1" dirty="0">
                <a:solidFill>
                  <a:srgbClr val="3D3D3D"/>
                </a:solidFill>
                <a:latin typeface="Times New Roman" panose="02020603050405020304" pitchFamily="18" charset="0"/>
                <a:ea typeface="Gill Sans"/>
                <a:cs typeface="Times New Roman" panose="02020603050405020304" pitchFamily="18" charset="0"/>
              </a:rPr>
              <a:t>Each state in the sequence is taken as modeling a different moment in time; hence the name temporal </a:t>
            </a:r>
            <a:r>
              <a:rPr lang="en-US" sz="2000" spc="-1" dirty="0" smtClean="0">
                <a:solidFill>
                  <a:srgbClr val="3D3D3D"/>
                </a:solidFill>
                <a:latin typeface="Times New Roman" panose="02020603050405020304" pitchFamily="18" charset="0"/>
                <a:ea typeface="Gill Sans"/>
                <a:cs typeface="Times New Roman" panose="02020603050405020304" pitchFamily="18" charset="0"/>
              </a:rPr>
              <a:t>logic</a:t>
            </a:r>
            <a:endParaRPr lang="en-US" sz="2000" spc="-1" dirty="0">
              <a:solidFill>
                <a:srgbClr val="3D3D3D"/>
              </a:solidFill>
              <a:latin typeface="Times New Roman" panose="02020603050405020304" pitchFamily="18" charset="0"/>
              <a:ea typeface="Gill Sans"/>
              <a:cs typeface="Times New Roman" panose="02020603050405020304" pitchFamily="18" charset="0"/>
            </a:endParaRPr>
          </a:p>
        </p:txBody>
      </p:sp>
    </p:spTree>
    <p:extLst>
      <p:ext uri="{BB962C8B-B14F-4D97-AF65-F5344CB8AC3E}">
        <p14:creationId xmlns:p14="http://schemas.microsoft.com/office/powerpoint/2010/main" val="937054439"/>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2800" b="1" strike="noStrike" spc="-1" dirty="0">
                <a:solidFill>
                  <a:srgbClr val="FF0000"/>
                </a:solidFill>
                <a:latin typeface="Gill Sans"/>
                <a:ea typeface="Gill Sans"/>
              </a:rPr>
              <a:t>TEMPORAL </a:t>
            </a:r>
            <a:r>
              <a:rPr lang="en-US" sz="2800" b="1" strike="noStrike" spc="-1" dirty="0" smtClean="0">
                <a:solidFill>
                  <a:srgbClr val="FF0000"/>
                </a:solidFill>
                <a:latin typeface="Gill Sans"/>
                <a:ea typeface="Gill Sans"/>
              </a:rPr>
              <a:t>LOGIC</a:t>
            </a:r>
            <a:endParaRPr lang="en-US" sz="2800" b="1" strike="noStrike"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1440">
              <a:lnSpc>
                <a:spcPct val="100000"/>
              </a:lnSpc>
              <a:spcAft>
                <a:spcPts val="600"/>
              </a:spcAft>
              <a:buClr>
                <a:srgbClr val="4590B8"/>
              </a:buClr>
            </a:pPr>
            <a:r>
              <a:rPr lang="en-US" b="1" spc="-1" dirty="0" smtClean="0">
                <a:solidFill>
                  <a:srgbClr val="3D3D3D"/>
                </a:solidFill>
                <a:latin typeface="Times New Roman" panose="02020603050405020304" pitchFamily="18" charset="0"/>
                <a:ea typeface="Gill Sans"/>
                <a:cs typeface="Times New Roman" panose="02020603050405020304" pitchFamily="18" charset="0"/>
              </a:rPr>
              <a:t>Types of </a:t>
            </a:r>
            <a:r>
              <a:rPr lang="en-US" b="1" strike="noStrike" spc="-1" dirty="0" smtClean="0">
                <a:solidFill>
                  <a:srgbClr val="3D3D3D"/>
                </a:solidFill>
                <a:latin typeface="Times New Roman" panose="02020603050405020304" pitchFamily="18" charset="0"/>
                <a:ea typeface="Gill Sans"/>
                <a:cs typeface="Times New Roman" panose="02020603050405020304" pitchFamily="18" charset="0"/>
              </a:rPr>
              <a:t>Temporal Logic</a:t>
            </a:r>
          </a:p>
          <a:p>
            <a:pPr marL="305280" indent="-303840">
              <a:lnSpc>
                <a:spcPct val="100000"/>
              </a:lnSpc>
              <a:spcAft>
                <a:spcPts val="600"/>
              </a:spcAft>
              <a:buClr>
                <a:srgbClr val="4590B8"/>
              </a:buClr>
              <a:buFont typeface="Wingdings" panose="05000000000000000000" pitchFamily="2" charset="2"/>
              <a:buChar char="v"/>
            </a:pPr>
            <a:r>
              <a:rPr lang="en-US" spc="-1" dirty="0">
                <a:solidFill>
                  <a:srgbClr val="3D3D3D"/>
                </a:solidFill>
                <a:latin typeface="Times New Roman" panose="02020603050405020304" pitchFamily="18" charset="0"/>
                <a:ea typeface="Gill Sans"/>
                <a:cs typeface="Times New Roman" panose="02020603050405020304" pitchFamily="18" charset="0"/>
              </a:rPr>
              <a:t>There are two main types of temporal logic: linear temporal logic (LTL) and branching temporal logic </a:t>
            </a:r>
            <a:r>
              <a:rPr lang="en-US" spc="-1" dirty="0" smtClean="0">
                <a:solidFill>
                  <a:srgbClr val="3D3D3D"/>
                </a:solidFill>
                <a:latin typeface="Times New Roman" panose="02020603050405020304" pitchFamily="18" charset="0"/>
                <a:ea typeface="Gill Sans"/>
                <a:cs typeface="Times New Roman" panose="02020603050405020304" pitchFamily="18" charset="0"/>
              </a:rPr>
              <a:t>(Computational </a:t>
            </a:r>
            <a:r>
              <a:rPr lang="en-US" spc="-1" dirty="0">
                <a:solidFill>
                  <a:srgbClr val="3D3D3D"/>
                </a:solidFill>
                <a:latin typeface="Times New Roman" panose="02020603050405020304" pitchFamily="18" charset="0"/>
                <a:ea typeface="Gill Sans"/>
                <a:cs typeface="Times New Roman" panose="02020603050405020304" pitchFamily="18" charset="0"/>
              </a:rPr>
              <a:t>Tree </a:t>
            </a:r>
            <a:r>
              <a:rPr lang="en-US" spc="-1" dirty="0" smtClean="0">
                <a:solidFill>
                  <a:srgbClr val="3D3D3D"/>
                </a:solidFill>
                <a:latin typeface="Times New Roman" panose="02020603050405020304" pitchFamily="18" charset="0"/>
                <a:ea typeface="Gill Sans"/>
                <a:cs typeface="Times New Roman" panose="02020603050405020304" pitchFamily="18" charset="0"/>
              </a:rPr>
              <a:t>Logic (CTL)). </a:t>
            </a:r>
            <a:endParaRPr lang="en-US" spc="-1" dirty="0">
              <a:solidFill>
                <a:srgbClr val="3D3D3D"/>
              </a:solidFill>
              <a:latin typeface="Times New Roman" panose="02020603050405020304" pitchFamily="18" charset="0"/>
              <a:ea typeface="Gill Sans"/>
              <a:cs typeface="Times New Roman" panose="02020603050405020304" pitchFamily="18" charset="0"/>
            </a:endParaRPr>
          </a:p>
          <a:p>
            <a:pPr marL="1440">
              <a:lnSpc>
                <a:spcPct val="100000"/>
              </a:lnSpc>
              <a:spcAft>
                <a:spcPts val="600"/>
              </a:spcAft>
              <a:buClr>
                <a:srgbClr val="4590B8"/>
              </a:buClr>
            </a:pPr>
            <a:r>
              <a:rPr lang="en-US" b="1" spc="-1" dirty="0" smtClean="0">
                <a:solidFill>
                  <a:srgbClr val="3D3D3D"/>
                </a:solidFill>
                <a:latin typeface="Times New Roman" panose="02020603050405020304" pitchFamily="18" charset="0"/>
                <a:ea typeface="Gill Sans"/>
                <a:cs typeface="Times New Roman" panose="02020603050405020304" pitchFamily="18" charset="0"/>
              </a:rPr>
              <a:t>Linear </a:t>
            </a:r>
            <a:r>
              <a:rPr lang="en-US" b="1" spc="-1" dirty="0">
                <a:solidFill>
                  <a:srgbClr val="3D3D3D"/>
                </a:solidFill>
                <a:latin typeface="Times New Roman" panose="02020603050405020304" pitchFamily="18" charset="0"/>
                <a:ea typeface="Gill Sans"/>
                <a:cs typeface="Times New Roman" panose="02020603050405020304" pitchFamily="18" charset="0"/>
              </a:rPr>
              <a:t>Temporal Logic (LTL):</a:t>
            </a:r>
          </a:p>
          <a:p>
            <a:pPr marL="305280" indent="-303840">
              <a:lnSpc>
                <a:spcPct val="100000"/>
              </a:lnSpc>
              <a:spcAft>
                <a:spcPts val="600"/>
              </a:spcAft>
              <a:buClr>
                <a:srgbClr val="4590B8"/>
              </a:buClr>
              <a:buFont typeface="Wingdings" panose="05000000000000000000" pitchFamily="2" charset="2"/>
              <a:buChar char="v"/>
            </a:pPr>
            <a:r>
              <a:rPr lang="en-US" spc="-1" dirty="0" smtClean="0">
                <a:solidFill>
                  <a:srgbClr val="3D3D3D"/>
                </a:solidFill>
                <a:latin typeface="Times New Roman" panose="02020603050405020304" pitchFamily="18" charset="0"/>
                <a:ea typeface="Gill Sans"/>
                <a:cs typeface="Times New Roman" panose="02020603050405020304" pitchFamily="18" charset="0"/>
              </a:rPr>
              <a:t>LTL </a:t>
            </a:r>
            <a:r>
              <a:rPr lang="en-US" spc="-1" dirty="0">
                <a:solidFill>
                  <a:srgbClr val="3D3D3D"/>
                </a:solidFill>
                <a:latin typeface="Times New Roman" panose="02020603050405020304" pitchFamily="18" charset="0"/>
                <a:ea typeface="Gill Sans"/>
                <a:cs typeface="Times New Roman" panose="02020603050405020304" pitchFamily="18" charset="0"/>
              </a:rPr>
              <a:t>deals with linear sequences of time, representing a single unfolding time line.</a:t>
            </a:r>
          </a:p>
          <a:p>
            <a:pPr marL="305280" indent="-303840">
              <a:lnSpc>
                <a:spcPct val="100000"/>
              </a:lnSpc>
              <a:spcAft>
                <a:spcPts val="600"/>
              </a:spcAft>
              <a:buClr>
                <a:srgbClr val="4590B8"/>
              </a:buClr>
              <a:buFont typeface="Wingdings" panose="05000000000000000000" pitchFamily="2" charset="2"/>
              <a:buChar char="v"/>
            </a:pPr>
            <a:r>
              <a:rPr lang="en-US" spc="-1" dirty="0">
                <a:solidFill>
                  <a:srgbClr val="3D3D3D"/>
                </a:solidFill>
                <a:latin typeface="Times New Roman" panose="02020603050405020304" pitchFamily="18" charset="0"/>
                <a:ea typeface="Gill Sans"/>
                <a:cs typeface="Times New Roman" panose="02020603050405020304" pitchFamily="18" charset="0"/>
              </a:rPr>
              <a:t>Operators in LTL include:</a:t>
            </a:r>
          </a:p>
          <a:p>
            <a:pPr marL="762480" lvl="1" indent="-303840">
              <a:spcAft>
                <a:spcPts val="600"/>
              </a:spcAft>
              <a:buClr>
                <a:srgbClr val="4590B8"/>
              </a:buClr>
              <a:buFont typeface="Wingdings" panose="05000000000000000000" pitchFamily="2" charset="2"/>
              <a:buChar char="v"/>
            </a:pPr>
            <a:r>
              <a:rPr lang="en-US" spc="-1" dirty="0">
                <a:solidFill>
                  <a:srgbClr val="3D3D3D"/>
                </a:solidFill>
                <a:latin typeface="Times New Roman" panose="02020603050405020304" pitchFamily="18" charset="0"/>
                <a:ea typeface="Gill Sans"/>
                <a:cs typeface="Times New Roman" panose="02020603050405020304" pitchFamily="18" charset="0"/>
              </a:rPr>
              <a:t>G (Globally): A property holds globally throughout the entire sequence.</a:t>
            </a:r>
          </a:p>
          <a:p>
            <a:pPr marL="762480" lvl="1" indent="-303840">
              <a:spcAft>
                <a:spcPts val="600"/>
              </a:spcAft>
              <a:buClr>
                <a:srgbClr val="4590B8"/>
              </a:buClr>
              <a:buFont typeface="Wingdings" panose="05000000000000000000" pitchFamily="2" charset="2"/>
              <a:buChar char="v"/>
            </a:pPr>
            <a:r>
              <a:rPr lang="en-US" spc="-1" dirty="0">
                <a:solidFill>
                  <a:srgbClr val="3D3D3D"/>
                </a:solidFill>
                <a:latin typeface="Times New Roman" panose="02020603050405020304" pitchFamily="18" charset="0"/>
                <a:ea typeface="Gill Sans"/>
                <a:cs typeface="Times New Roman" panose="02020603050405020304" pitchFamily="18" charset="0"/>
              </a:rPr>
              <a:t>F (Finally): A property will eventually hold at some point in the future.</a:t>
            </a:r>
          </a:p>
          <a:p>
            <a:pPr marL="762480" lvl="1" indent="-303840">
              <a:spcAft>
                <a:spcPts val="600"/>
              </a:spcAft>
              <a:buClr>
                <a:srgbClr val="4590B8"/>
              </a:buClr>
              <a:buFont typeface="Wingdings" panose="05000000000000000000" pitchFamily="2" charset="2"/>
              <a:buChar char="v"/>
            </a:pPr>
            <a:r>
              <a:rPr lang="en-US" spc="-1" dirty="0">
                <a:solidFill>
                  <a:srgbClr val="3D3D3D"/>
                </a:solidFill>
                <a:latin typeface="Times New Roman" panose="02020603050405020304" pitchFamily="18" charset="0"/>
                <a:ea typeface="Gill Sans"/>
                <a:cs typeface="Times New Roman" panose="02020603050405020304" pitchFamily="18" charset="0"/>
              </a:rPr>
              <a:t>X (Next): A property will hold in the next state.</a:t>
            </a:r>
          </a:p>
          <a:p>
            <a:pPr marL="762480" lvl="1" indent="-303840">
              <a:spcAft>
                <a:spcPts val="600"/>
              </a:spcAft>
              <a:buClr>
                <a:srgbClr val="4590B8"/>
              </a:buClr>
              <a:buFont typeface="Wingdings" panose="05000000000000000000" pitchFamily="2" charset="2"/>
              <a:buChar char="v"/>
            </a:pPr>
            <a:r>
              <a:rPr lang="en-US" spc="-1" dirty="0">
                <a:solidFill>
                  <a:srgbClr val="3D3D3D"/>
                </a:solidFill>
                <a:latin typeface="Times New Roman" panose="02020603050405020304" pitchFamily="18" charset="0"/>
                <a:ea typeface="Gill Sans"/>
                <a:cs typeface="Times New Roman" panose="02020603050405020304" pitchFamily="18" charset="0"/>
              </a:rPr>
              <a:t>U (Until): A property will hold until another property becomes true.</a:t>
            </a:r>
          </a:p>
          <a:p>
            <a:pPr marL="1440">
              <a:lnSpc>
                <a:spcPct val="100000"/>
              </a:lnSpc>
              <a:spcAft>
                <a:spcPts val="600"/>
              </a:spcAft>
              <a:buClr>
                <a:srgbClr val="4590B8"/>
              </a:buClr>
            </a:pPr>
            <a:r>
              <a:rPr lang="en-US" b="1" spc="-1" dirty="0">
                <a:solidFill>
                  <a:srgbClr val="3D3D3D"/>
                </a:solidFill>
                <a:latin typeface="Times New Roman" panose="02020603050405020304" pitchFamily="18" charset="0"/>
                <a:ea typeface="Gill Sans"/>
                <a:cs typeface="Times New Roman" panose="02020603050405020304" pitchFamily="18" charset="0"/>
              </a:rPr>
              <a:t>Branching Temporal Logic (CTL</a:t>
            </a:r>
            <a:r>
              <a:rPr lang="en-US" b="1" spc="-1" dirty="0" smtClean="0">
                <a:solidFill>
                  <a:srgbClr val="3D3D3D"/>
                </a:solidFill>
                <a:latin typeface="Times New Roman" panose="02020603050405020304" pitchFamily="18" charset="0"/>
                <a:ea typeface="Gill Sans"/>
                <a:cs typeface="Times New Roman" panose="02020603050405020304" pitchFamily="18" charset="0"/>
              </a:rPr>
              <a:t>):</a:t>
            </a:r>
            <a:endParaRPr lang="en-US" b="1" spc="-1" dirty="0">
              <a:solidFill>
                <a:srgbClr val="3D3D3D"/>
              </a:solidFill>
              <a:latin typeface="Times New Roman" panose="02020603050405020304" pitchFamily="18" charset="0"/>
              <a:ea typeface="Gill Sans"/>
              <a:cs typeface="Times New Roman" panose="02020603050405020304" pitchFamily="18" charset="0"/>
            </a:endParaRPr>
          </a:p>
          <a:p>
            <a:pPr marL="305280" indent="-303840">
              <a:lnSpc>
                <a:spcPct val="100000"/>
              </a:lnSpc>
              <a:spcAft>
                <a:spcPts val="600"/>
              </a:spcAft>
              <a:buClr>
                <a:srgbClr val="4590B8"/>
              </a:buClr>
              <a:buFont typeface="Wingdings" panose="05000000000000000000" pitchFamily="2" charset="2"/>
              <a:buChar char="v"/>
            </a:pPr>
            <a:r>
              <a:rPr lang="en-US" spc="-1" dirty="0">
                <a:solidFill>
                  <a:srgbClr val="3D3D3D"/>
                </a:solidFill>
                <a:latin typeface="Times New Roman" panose="02020603050405020304" pitchFamily="18" charset="0"/>
                <a:ea typeface="Gill Sans"/>
                <a:cs typeface="Times New Roman" panose="02020603050405020304" pitchFamily="18" charset="0"/>
              </a:rPr>
              <a:t>CTL is designed to reason about different possible branches of a computation.</a:t>
            </a:r>
          </a:p>
          <a:p>
            <a:pPr marL="305280" indent="-303840">
              <a:lnSpc>
                <a:spcPct val="100000"/>
              </a:lnSpc>
              <a:spcAft>
                <a:spcPts val="600"/>
              </a:spcAft>
              <a:buClr>
                <a:srgbClr val="4590B8"/>
              </a:buClr>
              <a:buFont typeface="Wingdings" panose="05000000000000000000" pitchFamily="2" charset="2"/>
              <a:buChar char="v"/>
            </a:pPr>
            <a:r>
              <a:rPr lang="en-US" spc="-1" dirty="0">
                <a:solidFill>
                  <a:srgbClr val="3D3D3D"/>
                </a:solidFill>
                <a:latin typeface="Times New Roman" panose="02020603050405020304" pitchFamily="18" charset="0"/>
                <a:ea typeface="Gill Sans"/>
                <a:cs typeface="Times New Roman" panose="02020603050405020304" pitchFamily="18" charset="0"/>
              </a:rPr>
              <a:t>Operators in CTL include:</a:t>
            </a:r>
          </a:p>
          <a:p>
            <a:pPr marL="762480" lvl="1" indent="-303840">
              <a:spcAft>
                <a:spcPts val="600"/>
              </a:spcAft>
              <a:buClr>
                <a:srgbClr val="4590B8"/>
              </a:buClr>
              <a:buFont typeface="Wingdings" panose="05000000000000000000" pitchFamily="2" charset="2"/>
              <a:buChar char="v"/>
            </a:pPr>
            <a:r>
              <a:rPr lang="en-US" spc="-1" dirty="0">
                <a:solidFill>
                  <a:srgbClr val="3D3D3D"/>
                </a:solidFill>
                <a:latin typeface="Times New Roman" panose="02020603050405020304" pitchFamily="18" charset="0"/>
                <a:ea typeface="Gill Sans"/>
                <a:cs typeface="Times New Roman" panose="02020603050405020304" pitchFamily="18" charset="0"/>
              </a:rPr>
              <a:t>A (For All): A property holds for all future states along all paths.</a:t>
            </a:r>
          </a:p>
          <a:p>
            <a:pPr marL="762480" lvl="1" indent="-303840">
              <a:spcAft>
                <a:spcPts val="600"/>
              </a:spcAft>
              <a:buClr>
                <a:srgbClr val="4590B8"/>
              </a:buClr>
              <a:buFont typeface="Wingdings" panose="05000000000000000000" pitchFamily="2" charset="2"/>
              <a:buChar char="v"/>
            </a:pPr>
            <a:r>
              <a:rPr lang="en-US" spc="-1" dirty="0">
                <a:solidFill>
                  <a:srgbClr val="3D3D3D"/>
                </a:solidFill>
                <a:latin typeface="Times New Roman" panose="02020603050405020304" pitchFamily="18" charset="0"/>
                <a:ea typeface="Gill Sans"/>
                <a:cs typeface="Times New Roman" panose="02020603050405020304" pitchFamily="18" charset="0"/>
              </a:rPr>
              <a:t>E (Exists): There exists a path along which a property holds.</a:t>
            </a:r>
          </a:p>
          <a:p>
            <a:pPr marL="762480" lvl="1" indent="-303840">
              <a:spcAft>
                <a:spcPts val="600"/>
              </a:spcAft>
              <a:buClr>
                <a:srgbClr val="4590B8"/>
              </a:buClr>
              <a:buFont typeface="Wingdings" panose="05000000000000000000" pitchFamily="2" charset="2"/>
              <a:buChar char="v"/>
            </a:pPr>
            <a:r>
              <a:rPr lang="en-US" spc="-1" dirty="0">
                <a:solidFill>
                  <a:srgbClr val="3D3D3D"/>
                </a:solidFill>
                <a:latin typeface="Times New Roman" panose="02020603050405020304" pitchFamily="18" charset="0"/>
                <a:ea typeface="Gill Sans"/>
                <a:cs typeface="Times New Roman" panose="02020603050405020304" pitchFamily="18" charset="0"/>
              </a:rPr>
              <a:t>CTL also includes the temporal operators G, F, X, and U, but they are interpreted differently than in LTL.</a:t>
            </a:r>
          </a:p>
        </p:txBody>
      </p:sp>
    </p:spTree>
    <p:extLst>
      <p:ext uri="{BB962C8B-B14F-4D97-AF65-F5344CB8AC3E}">
        <p14:creationId xmlns:p14="http://schemas.microsoft.com/office/powerpoint/2010/main" val="300235381"/>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2800" b="0" strike="noStrike" spc="-1">
                <a:solidFill>
                  <a:srgbClr val="FF0000"/>
                </a:solidFill>
                <a:latin typeface="Gill Sans"/>
                <a:ea typeface="Gill Sans"/>
              </a:rPr>
              <a:t>PTL IN A NUTSHELL</a:t>
            </a:r>
            <a:endParaRPr lang="en-US" sz="2800" b="0" strike="noStrike" spc="-1">
              <a:solidFill>
                <a:srgbClr val="FF0000"/>
              </a:solidFill>
              <a:latin typeface="Arial"/>
            </a:endParaRPr>
          </a:p>
        </p:txBody>
      </p:sp>
      <p:sp>
        <p:nvSpPr>
          <p:cNvPr id="109" name="CustomShape 2"/>
          <p:cNvSpPr/>
          <p:nvPr/>
        </p:nvSpPr>
        <p:spPr>
          <a:xfrm>
            <a:off x="581043" y="1939320"/>
            <a:ext cx="11028240" cy="3131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05280" indent="-312840">
              <a:lnSpc>
                <a:spcPct val="100000"/>
              </a:lnSpc>
              <a:buClr>
                <a:srgbClr val="4590B8"/>
              </a:buClr>
              <a:buFont typeface="Gill Sans"/>
              <a:buChar char="◼"/>
            </a:pPr>
            <a:r>
              <a:rPr lang="en-US" sz="1800" b="0" strike="noStrike" spc="-1" dirty="0">
                <a:solidFill>
                  <a:srgbClr val="000000"/>
                </a:solidFill>
                <a:latin typeface="Arial"/>
                <a:ea typeface="Arial"/>
              </a:rPr>
              <a:t>We use a simple temporal logic (PTL) where the accessibility relation characterizes a discrete, linear order isomorphic to the Natural </a:t>
            </a:r>
            <a:r>
              <a:rPr lang="en-US" sz="1800" b="0" strike="noStrike" spc="-1" dirty="0" smtClean="0">
                <a:solidFill>
                  <a:srgbClr val="000000"/>
                </a:solidFill>
                <a:latin typeface="Arial"/>
                <a:ea typeface="Arial"/>
              </a:rPr>
              <a:t>Numbers, N</a:t>
            </a: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marL="305280" indent="-312840">
              <a:lnSpc>
                <a:spcPct val="100000"/>
              </a:lnSpc>
              <a:spcBef>
                <a:spcPts val="961"/>
              </a:spcBef>
              <a:buClr>
                <a:srgbClr val="4590B8"/>
              </a:buClr>
              <a:buFont typeface="Gill Sans"/>
              <a:buChar char="◼"/>
            </a:pPr>
            <a:r>
              <a:rPr lang="en-US" sz="1800" b="0" strike="noStrike" spc="-1" dirty="0">
                <a:solidFill>
                  <a:srgbClr val="000000"/>
                </a:solidFill>
                <a:latin typeface="Gill Sans"/>
                <a:ea typeface="Gill Sans"/>
              </a:rPr>
              <a:t>Typical Operators used</a:t>
            </a:r>
            <a:endParaRPr lang="en-US" sz="1800" b="0" strike="noStrike" spc="-1" dirty="0">
              <a:latin typeface="Arial"/>
            </a:endParaRPr>
          </a:p>
          <a:p>
            <a:pPr marL="457200">
              <a:lnSpc>
                <a:spcPct val="100000"/>
              </a:lnSpc>
              <a:spcBef>
                <a:spcPts val="961"/>
              </a:spcBef>
            </a:pPr>
            <a:endParaRPr lang="en-US" sz="1800" b="0" strike="noStrike" spc="-1" dirty="0">
              <a:latin typeface="Arial"/>
            </a:endParaRPr>
          </a:p>
        </p:txBody>
      </p:sp>
      <p:pic>
        <p:nvPicPr>
          <p:cNvPr id="110" name="Google Shape;165;p32"/>
          <p:cNvPicPr/>
          <p:nvPr/>
        </p:nvPicPr>
        <p:blipFill>
          <a:blip r:embed="rId2"/>
          <a:srcRect r="19984" b="73474"/>
          <a:stretch/>
        </p:blipFill>
        <p:spPr>
          <a:xfrm>
            <a:off x="1661403" y="2922480"/>
            <a:ext cx="7003801" cy="1012320"/>
          </a:xfrm>
          <a:prstGeom prst="rect">
            <a:avLst/>
          </a:prstGeom>
          <a:ln>
            <a:noFill/>
          </a:ln>
        </p:spPr>
      </p:pic>
      <p:pic>
        <p:nvPicPr>
          <p:cNvPr id="111" name="Google Shape;166;p32"/>
          <p:cNvPicPr/>
          <p:nvPr/>
        </p:nvPicPr>
        <p:blipFill>
          <a:blip r:embed="rId2"/>
          <a:srcRect l="5523" t="36117"/>
          <a:stretch/>
        </p:blipFill>
        <p:spPr>
          <a:xfrm>
            <a:off x="3739686" y="4294800"/>
            <a:ext cx="5326921" cy="190260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2800" b="0" strike="noStrike" spc="-1">
                <a:solidFill>
                  <a:srgbClr val="FF0000"/>
                </a:solidFill>
                <a:latin typeface="Gill Sans"/>
                <a:ea typeface="Gill Sans"/>
              </a:rPr>
              <a:t>PTL EXAMPLES</a:t>
            </a:r>
            <a:endParaRPr lang="en-US" sz="2800" b="0" strike="noStrike" spc="-1">
              <a:solidFill>
                <a:srgbClr val="FF0000"/>
              </a:solidFill>
              <a:latin typeface="Arial"/>
            </a:endParaRPr>
          </a:p>
        </p:txBody>
      </p:sp>
      <p:sp>
        <p:nvSpPr>
          <p:cNvPr id="113" name="CustomShape 2"/>
          <p:cNvSpPr/>
          <p:nvPr/>
        </p:nvSpPr>
        <p:spPr>
          <a:xfrm>
            <a:off x="581043" y="2180520"/>
            <a:ext cx="11028240" cy="3677040"/>
          </a:xfrm>
          <a:prstGeom prst="rect">
            <a:avLst/>
          </a:prstGeom>
          <a:noFill/>
          <a:ln>
            <a:noFill/>
          </a:ln>
        </p:spPr>
        <p:style>
          <a:lnRef idx="0">
            <a:scrgbClr r="0" g="0" b="0"/>
          </a:lnRef>
          <a:fillRef idx="0">
            <a:scrgbClr r="0" g="0" b="0"/>
          </a:fillRef>
          <a:effectRef idx="0">
            <a:scrgbClr r="0" g="0" b="0"/>
          </a:effectRef>
          <a:fontRef idx="minor"/>
        </p:style>
      </p:sp>
      <p:pic>
        <p:nvPicPr>
          <p:cNvPr id="114" name="Google Shape;173;p33"/>
          <p:cNvPicPr/>
          <p:nvPr/>
        </p:nvPicPr>
        <p:blipFill>
          <a:blip r:embed="rId2"/>
          <a:stretch/>
        </p:blipFill>
        <p:spPr>
          <a:xfrm>
            <a:off x="2572921" y="2047680"/>
            <a:ext cx="6730560" cy="424260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2800" b="0" strike="noStrike" spc="-1">
                <a:solidFill>
                  <a:srgbClr val="FF0000"/>
                </a:solidFill>
                <a:latin typeface="Gill Sans"/>
                <a:ea typeface="Gill Sans"/>
              </a:rPr>
              <a:t>LOOKING BACK</a:t>
            </a:r>
            <a:endParaRPr lang="en-US" sz="2800" b="0" strike="noStrike" spc="-1">
              <a:solidFill>
                <a:srgbClr val="FF0000"/>
              </a:solidFill>
              <a:latin typeface="Arial"/>
            </a:endParaRPr>
          </a:p>
        </p:txBody>
      </p:sp>
      <p:sp>
        <p:nvSpPr>
          <p:cNvPr id="116" name="CustomShape 2"/>
          <p:cNvSpPr/>
          <p:nvPr/>
        </p:nvSpPr>
        <p:spPr>
          <a:xfrm>
            <a:off x="581043" y="2180520"/>
            <a:ext cx="11028240" cy="3677040"/>
          </a:xfrm>
          <a:prstGeom prst="rect">
            <a:avLst/>
          </a:prstGeom>
          <a:noFill/>
          <a:ln>
            <a:noFill/>
          </a:ln>
        </p:spPr>
        <p:style>
          <a:lnRef idx="0">
            <a:scrgbClr r="0" g="0" b="0"/>
          </a:lnRef>
          <a:fillRef idx="0">
            <a:scrgbClr r="0" g="0" b="0"/>
          </a:fillRef>
          <a:effectRef idx="0">
            <a:scrgbClr r="0" g="0" b="0"/>
          </a:effectRef>
          <a:fontRef idx="minor"/>
        </p:style>
      </p:sp>
      <p:pic>
        <p:nvPicPr>
          <p:cNvPr id="117" name="Google Shape;180;p34"/>
          <p:cNvPicPr/>
          <p:nvPr/>
        </p:nvPicPr>
        <p:blipFill>
          <a:blip r:embed="rId2"/>
          <a:stretch/>
        </p:blipFill>
        <p:spPr>
          <a:xfrm>
            <a:off x="2486886" y="2093400"/>
            <a:ext cx="8309161" cy="402264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2800" b="0" strike="noStrike" spc="-1">
                <a:solidFill>
                  <a:srgbClr val="FF0000"/>
                </a:solidFill>
                <a:latin typeface="Gill Sans"/>
                <a:ea typeface="Gill Sans"/>
              </a:rPr>
              <a:t>BRANCHING MODELS</a:t>
            </a:r>
            <a:endParaRPr lang="en-US" sz="2800" b="0" strike="noStrike" spc="-1">
              <a:solidFill>
                <a:srgbClr val="FF0000"/>
              </a:solidFill>
              <a:latin typeface="Arial"/>
            </a:endParaRPr>
          </a:p>
        </p:txBody>
      </p:sp>
      <p:pic>
        <p:nvPicPr>
          <p:cNvPr id="119" name="Google Shape;186;p35"/>
          <p:cNvPicPr/>
          <p:nvPr/>
        </p:nvPicPr>
        <p:blipFill>
          <a:blip r:embed="rId2"/>
          <a:stretch/>
        </p:blipFill>
        <p:spPr>
          <a:xfrm>
            <a:off x="2562843" y="1999440"/>
            <a:ext cx="7064281" cy="415116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 name="Google Shape;192;p36"/>
          <p:cNvPicPr/>
          <p:nvPr/>
        </p:nvPicPr>
        <p:blipFill>
          <a:blip r:embed="rId3"/>
          <a:srcRect b="43185"/>
          <a:stretch/>
        </p:blipFill>
        <p:spPr>
          <a:xfrm>
            <a:off x="1053360" y="2888640"/>
            <a:ext cx="10337760" cy="2342520"/>
          </a:xfrm>
          <a:prstGeom prst="rect">
            <a:avLst/>
          </a:prstGeom>
          <a:ln>
            <a:noFill/>
          </a:ln>
        </p:spPr>
      </p:pic>
      <p:sp>
        <p:nvSpPr>
          <p:cNvPr id="121"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2800" b="0" strike="noStrike" spc="-1" dirty="0">
                <a:solidFill>
                  <a:srgbClr val="FF0000"/>
                </a:solidFill>
                <a:latin typeface="Gill Sans"/>
                <a:ea typeface="Gill Sans"/>
              </a:rPr>
              <a:t>BRANCHING TEMPORAL LOGIC (COMPUTATIONAL TREE LOGIC)</a:t>
            </a:r>
            <a:endParaRPr lang="en-US" sz="2800" b="0" strike="noStrike" spc="-1" dirty="0">
              <a:solidFill>
                <a:srgbClr val="FF0000"/>
              </a:solidFill>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2800" b="0" strike="noStrike" spc="-1">
                <a:solidFill>
                  <a:srgbClr val="FF0000"/>
                </a:solidFill>
                <a:latin typeface="Gill Sans"/>
                <a:ea typeface="Gill Sans"/>
              </a:rPr>
              <a:t>TEMPORAL LOGIC GETS EVERYWHERE</a:t>
            </a:r>
            <a:endParaRPr lang="en-US" sz="2800" b="0" strike="noStrike" spc="-1">
              <a:solidFill>
                <a:srgbClr val="FF0000"/>
              </a:solidFill>
              <a:latin typeface="Arial"/>
            </a:endParaRPr>
          </a:p>
        </p:txBody>
      </p:sp>
      <p:sp>
        <p:nvSpPr>
          <p:cNvPr id="127" name="CustomShape 2"/>
          <p:cNvSpPr/>
          <p:nvPr/>
        </p:nvSpPr>
        <p:spPr>
          <a:xfrm>
            <a:off x="581043" y="2639520"/>
            <a:ext cx="11028240" cy="3677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457200" indent="-380160">
              <a:lnSpc>
                <a:spcPct val="100000"/>
              </a:lnSpc>
              <a:buClr>
                <a:srgbClr val="4590B8"/>
              </a:buClr>
              <a:buFont typeface="Gill Sans"/>
              <a:buChar char="◼"/>
            </a:pPr>
            <a:r>
              <a:rPr lang="en-US" sz="2400" b="0" strike="noStrike" spc="-1" dirty="0">
                <a:solidFill>
                  <a:srgbClr val="000000"/>
                </a:solidFill>
                <a:latin typeface="Times New Roman" panose="02020603050405020304" pitchFamily="18" charset="0"/>
                <a:ea typeface="Arial"/>
                <a:cs typeface="Times New Roman" panose="02020603050405020304" pitchFamily="18" charset="0"/>
              </a:rPr>
              <a:t>specification and verification of (dynamic) programs</a:t>
            </a:r>
            <a:endParaRPr lang="en-US" sz="2400" b="0" strike="noStrike" spc="-1" dirty="0">
              <a:latin typeface="Times New Roman" panose="02020603050405020304" pitchFamily="18" charset="0"/>
              <a:cs typeface="Times New Roman" panose="02020603050405020304" pitchFamily="18" charset="0"/>
            </a:endParaRPr>
          </a:p>
          <a:p>
            <a:pPr marL="457200" indent="-380160">
              <a:lnSpc>
                <a:spcPct val="100000"/>
              </a:lnSpc>
              <a:buClr>
                <a:srgbClr val="4590B8"/>
              </a:buClr>
              <a:buFont typeface="Gill Sans"/>
              <a:buChar char="◼"/>
            </a:pPr>
            <a:r>
              <a:rPr lang="en-US" sz="2400" b="0" strike="noStrike" spc="-1" dirty="0">
                <a:solidFill>
                  <a:srgbClr val="000000"/>
                </a:solidFill>
                <a:latin typeface="Times New Roman" panose="02020603050405020304" pitchFamily="18" charset="0"/>
                <a:ea typeface="Arial"/>
                <a:cs typeface="Times New Roman" panose="02020603050405020304" pitchFamily="18" charset="0"/>
              </a:rPr>
              <a:t>specification and verification of distributed and concurrent programs</a:t>
            </a:r>
            <a:endParaRPr lang="en-US" sz="2400" b="0" strike="noStrike" spc="-1" dirty="0">
              <a:latin typeface="Times New Roman" panose="02020603050405020304" pitchFamily="18" charset="0"/>
              <a:cs typeface="Times New Roman" panose="02020603050405020304" pitchFamily="18" charset="0"/>
            </a:endParaRPr>
          </a:p>
          <a:p>
            <a:pPr marL="457200" indent="-380160">
              <a:lnSpc>
                <a:spcPct val="100000"/>
              </a:lnSpc>
              <a:buClr>
                <a:srgbClr val="4590B8"/>
              </a:buClr>
              <a:buFont typeface="Gill Sans"/>
              <a:buChar char="◼"/>
            </a:pPr>
            <a:r>
              <a:rPr lang="en-US" sz="2400" b="0" strike="noStrike" spc="-1" dirty="0">
                <a:solidFill>
                  <a:srgbClr val="000000"/>
                </a:solidFill>
                <a:latin typeface="Times New Roman" panose="02020603050405020304" pitchFamily="18" charset="0"/>
                <a:ea typeface="Arial"/>
                <a:cs typeface="Times New Roman" panose="02020603050405020304" pitchFamily="18" charset="0"/>
              </a:rPr>
              <a:t>representation of tense in natural language </a:t>
            </a:r>
            <a:endParaRPr lang="en-US" sz="2400" b="0" strike="noStrike" spc="-1" dirty="0">
              <a:latin typeface="Times New Roman" panose="02020603050405020304" pitchFamily="18" charset="0"/>
              <a:cs typeface="Times New Roman" panose="02020603050405020304" pitchFamily="18" charset="0"/>
            </a:endParaRPr>
          </a:p>
          <a:p>
            <a:pPr marL="457200" indent="-380160">
              <a:lnSpc>
                <a:spcPct val="100000"/>
              </a:lnSpc>
              <a:buClr>
                <a:srgbClr val="4590B8"/>
              </a:buClr>
              <a:buFont typeface="Gill Sans"/>
              <a:buChar char="◼"/>
            </a:pPr>
            <a:r>
              <a:rPr lang="en-US" sz="2400" b="0" strike="noStrike" spc="-1" dirty="0">
                <a:solidFill>
                  <a:srgbClr val="000000"/>
                </a:solidFill>
                <a:latin typeface="Times New Roman" panose="02020603050405020304" pitchFamily="18" charset="0"/>
                <a:ea typeface="Arial"/>
                <a:cs typeface="Times New Roman" panose="02020603050405020304" pitchFamily="18" charset="0"/>
              </a:rPr>
              <a:t>characterizing temporal database queries</a:t>
            </a:r>
            <a:endParaRPr lang="en-US" sz="2400" b="0" strike="noStrike" spc="-1" dirty="0">
              <a:latin typeface="Times New Roman" panose="02020603050405020304" pitchFamily="18" charset="0"/>
              <a:cs typeface="Times New Roman" panose="02020603050405020304" pitchFamily="18" charset="0"/>
            </a:endParaRPr>
          </a:p>
          <a:p>
            <a:pPr marL="457200" indent="-380160">
              <a:lnSpc>
                <a:spcPct val="100000"/>
              </a:lnSpc>
              <a:buClr>
                <a:srgbClr val="4590B8"/>
              </a:buClr>
              <a:buFont typeface="Gill Sans"/>
              <a:buChar char="◼"/>
            </a:pPr>
            <a:r>
              <a:rPr lang="en-US" sz="2400" b="0" strike="noStrike" spc="-1" dirty="0">
                <a:solidFill>
                  <a:srgbClr val="000000"/>
                </a:solidFill>
                <a:latin typeface="Times New Roman" panose="02020603050405020304" pitchFamily="18" charset="0"/>
                <a:ea typeface="Arial"/>
                <a:cs typeface="Times New Roman" panose="02020603050405020304" pitchFamily="18" charset="0"/>
              </a:rPr>
              <a:t>verification of finite state models derived from ‘real’ systems (model checking)</a:t>
            </a:r>
            <a:endParaRPr lang="en-US" sz="2400" b="0" strike="noStrike" spc="-1" dirty="0">
              <a:latin typeface="Times New Roman" panose="02020603050405020304" pitchFamily="18" charset="0"/>
              <a:cs typeface="Times New Roman" panose="02020603050405020304" pitchFamily="18" charset="0"/>
            </a:endParaRPr>
          </a:p>
          <a:p>
            <a:pPr marL="457200" indent="-380160">
              <a:lnSpc>
                <a:spcPct val="100000"/>
              </a:lnSpc>
              <a:buClr>
                <a:srgbClr val="4590B8"/>
              </a:buClr>
              <a:buFont typeface="Gill Sans"/>
              <a:buChar char="◼"/>
            </a:pPr>
            <a:r>
              <a:rPr lang="en-US" sz="2400" b="0" strike="noStrike" spc="-1" dirty="0">
                <a:solidFill>
                  <a:srgbClr val="000000"/>
                </a:solidFill>
                <a:latin typeface="Times New Roman" panose="02020603050405020304" pitchFamily="18" charset="0"/>
                <a:ea typeface="Arial"/>
                <a:cs typeface="Times New Roman" panose="02020603050405020304" pitchFamily="18" charset="0"/>
              </a:rPr>
              <a:t>agent theory</a:t>
            </a:r>
            <a:endParaRPr lang="en-US" sz="2400" b="0" strike="noStrike" spc="-1" dirty="0">
              <a:latin typeface="Times New Roman" panose="02020603050405020304" pitchFamily="18" charset="0"/>
              <a:cs typeface="Times New Roman" panose="02020603050405020304" pitchFamily="18" charset="0"/>
            </a:endParaRPr>
          </a:p>
          <a:p>
            <a:pPr marL="457200" indent="-380160">
              <a:lnSpc>
                <a:spcPct val="100000"/>
              </a:lnSpc>
              <a:buClr>
                <a:srgbClr val="4590B8"/>
              </a:buClr>
              <a:buFont typeface="Gill Sans"/>
              <a:buChar char="◼"/>
            </a:pPr>
            <a:r>
              <a:rPr lang="en-US" sz="2400" b="0" strike="noStrike" spc="-1" dirty="0">
                <a:solidFill>
                  <a:srgbClr val="000000"/>
                </a:solidFill>
                <a:latin typeface="Times New Roman" panose="02020603050405020304" pitchFamily="18" charset="0"/>
                <a:ea typeface="Arial"/>
                <a:cs typeface="Times New Roman" panose="02020603050405020304" pitchFamily="18" charset="0"/>
              </a:rPr>
              <a:t>direct execution</a:t>
            </a:r>
            <a:endParaRPr lang="en-US" sz="2400" b="0" strike="noStrike" spc="-1" dirty="0">
              <a:latin typeface="Times New Roman" panose="02020603050405020304" pitchFamily="18" charset="0"/>
              <a:cs typeface="Times New Roman" panose="02020603050405020304" pitchFamily="18" charset="0"/>
            </a:endParaRPr>
          </a:p>
          <a:p>
            <a:pPr marL="457200" indent="-380160">
              <a:lnSpc>
                <a:spcPct val="100000"/>
              </a:lnSpc>
              <a:buClr>
                <a:srgbClr val="4590B8"/>
              </a:buClr>
              <a:buFont typeface="Gill Sans"/>
              <a:buChar char="◼"/>
            </a:pPr>
            <a:r>
              <a:rPr lang="en-US" sz="2400" b="0" strike="noStrike" spc="-1" dirty="0">
                <a:solidFill>
                  <a:srgbClr val="000000"/>
                </a:solidFill>
                <a:latin typeface="Times New Roman" panose="02020603050405020304" pitchFamily="18" charset="0"/>
                <a:ea typeface="Arial"/>
                <a:cs typeface="Times New Roman" panose="02020603050405020304" pitchFamily="18" charset="0"/>
              </a:rPr>
              <a:t>real-time analysis </a:t>
            </a:r>
            <a:endParaRPr lang="en-US" sz="2400" b="0" strike="noStrike" spc="-1" dirty="0">
              <a:latin typeface="Times New Roman" panose="02020603050405020304" pitchFamily="18" charset="0"/>
              <a:cs typeface="Times New Roman" panose="02020603050405020304" pitchFamily="18" charset="0"/>
            </a:endParaRPr>
          </a:p>
          <a:p>
            <a:pPr marL="457200" indent="-380160">
              <a:lnSpc>
                <a:spcPct val="100000"/>
              </a:lnSpc>
              <a:buClr>
                <a:srgbClr val="4590B8"/>
              </a:buClr>
              <a:buFont typeface="Gill Sans"/>
              <a:buChar char="◼"/>
            </a:pPr>
            <a:r>
              <a:rPr lang="en-US" sz="2400" b="0" strike="noStrike" spc="-1" dirty="0">
                <a:solidFill>
                  <a:srgbClr val="000000"/>
                </a:solidFill>
                <a:latin typeface="Times New Roman" panose="02020603050405020304" pitchFamily="18" charset="0"/>
                <a:ea typeface="Arial"/>
                <a:cs typeface="Times New Roman" panose="02020603050405020304" pitchFamily="18" charset="0"/>
              </a:rPr>
              <a:t>temporal data mining</a:t>
            </a:r>
            <a:endParaRPr lang="en-US" sz="2400" b="0" strike="noStrike" spc="-1" dirty="0">
              <a:latin typeface="Times New Roman" panose="02020603050405020304" pitchFamily="18" charset="0"/>
              <a:cs typeface="Times New Roman" panose="02020603050405020304" pitchFamily="18" charset="0"/>
            </a:endParaRPr>
          </a:p>
          <a:p>
            <a:pPr marL="457200" indent="-380160">
              <a:lnSpc>
                <a:spcPct val="100000"/>
              </a:lnSpc>
              <a:buClr>
                <a:srgbClr val="4590B8"/>
              </a:buClr>
              <a:buFont typeface="Gill Sans"/>
              <a:buChar char="◼"/>
            </a:pPr>
            <a:r>
              <a:rPr lang="en-US" sz="2400" b="0" strike="noStrike" spc="-1" dirty="0">
                <a:solidFill>
                  <a:srgbClr val="000000"/>
                </a:solidFill>
                <a:latin typeface="Times New Roman" panose="02020603050405020304" pitchFamily="18" charset="0"/>
                <a:ea typeface="Arial"/>
                <a:cs typeface="Times New Roman" panose="02020603050405020304" pitchFamily="18" charset="0"/>
              </a:rPr>
              <a:t>exploring the limits of decidability</a:t>
            </a:r>
            <a:endParaRPr lang="en-US" sz="2400" b="0" strike="noStrike" spc="-1" dirty="0">
              <a:latin typeface="Times New Roman" panose="02020603050405020304" pitchFamily="18" charset="0"/>
              <a:cs typeface="Times New Roman" panose="02020603050405020304" pitchFamily="18" charset="0"/>
            </a:endParaRPr>
          </a:p>
          <a:p>
            <a:pPr marL="457200">
              <a:lnSpc>
                <a:spcPct val="100000"/>
              </a:lnSpc>
              <a:spcBef>
                <a:spcPts val="961"/>
              </a:spcBef>
            </a:pPr>
            <a:endParaRPr lang="en-US" sz="2400" b="0" strike="noStrike" spc="-1" dirty="0">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2800" b="0" strike="noStrike" spc="-1">
                <a:solidFill>
                  <a:srgbClr val="FF0000"/>
                </a:solidFill>
                <a:latin typeface="Gill Sans"/>
                <a:ea typeface="Gill Sans"/>
              </a:rPr>
              <a:t>INTUITION: SAFETY PROPERTY</a:t>
            </a:r>
            <a:endParaRPr lang="en-US" sz="2800" b="0" strike="noStrike" spc="-1">
              <a:solidFill>
                <a:srgbClr val="FF0000"/>
              </a:solidFill>
              <a:latin typeface="Arial"/>
            </a:endParaRPr>
          </a:p>
        </p:txBody>
      </p:sp>
      <p:pic>
        <p:nvPicPr>
          <p:cNvPr id="129" name="Google Shape;217;p40"/>
          <p:cNvPicPr/>
          <p:nvPr/>
        </p:nvPicPr>
        <p:blipFill>
          <a:blip r:embed="rId2"/>
          <a:stretch/>
        </p:blipFill>
        <p:spPr>
          <a:xfrm>
            <a:off x="2649603" y="1972800"/>
            <a:ext cx="7121520" cy="433620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2800" b="0" strike="noStrike" spc="-1" dirty="0">
                <a:solidFill>
                  <a:srgbClr val="FF0000"/>
                </a:solidFill>
                <a:latin typeface="Gill Sans"/>
                <a:ea typeface="Gill Sans"/>
              </a:rPr>
              <a:t>INTUITION: LIVENESS PROPERTY</a:t>
            </a:r>
            <a:endParaRPr lang="en-US" sz="2800" b="0" strike="noStrike" spc="-1" dirty="0">
              <a:solidFill>
                <a:srgbClr val="FF0000"/>
              </a:solidFill>
              <a:latin typeface="Arial"/>
            </a:endParaRPr>
          </a:p>
        </p:txBody>
      </p:sp>
      <p:pic>
        <p:nvPicPr>
          <p:cNvPr id="131" name="Google Shape;223;p41"/>
          <p:cNvPicPr/>
          <p:nvPr/>
        </p:nvPicPr>
        <p:blipFill>
          <a:blip r:embed="rId2"/>
          <a:stretch/>
        </p:blipFill>
        <p:spPr>
          <a:xfrm>
            <a:off x="2161084" y="1944000"/>
            <a:ext cx="7419241" cy="440640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2800" b="0" strike="noStrike" spc="-1">
                <a:solidFill>
                  <a:srgbClr val="FF0000"/>
                </a:solidFill>
                <a:latin typeface="Gill Sans"/>
                <a:ea typeface="Gill Sans"/>
              </a:rPr>
              <a:t>INTUITION: FAIRNESS PROPERTY</a:t>
            </a:r>
            <a:endParaRPr lang="en-US" sz="2800" b="0" strike="noStrike" spc="-1">
              <a:solidFill>
                <a:srgbClr val="FF0000"/>
              </a:solidFill>
              <a:latin typeface="Arial"/>
            </a:endParaRPr>
          </a:p>
        </p:txBody>
      </p:sp>
      <p:pic>
        <p:nvPicPr>
          <p:cNvPr id="133" name="Google Shape;229;p42"/>
          <p:cNvPicPr/>
          <p:nvPr/>
        </p:nvPicPr>
        <p:blipFill>
          <a:blip r:embed="rId2"/>
          <a:stretch/>
        </p:blipFill>
        <p:spPr>
          <a:xfrm>
            <a:off x="2036524" y="2067840"/>
            <a:ext cx="7737840" cy="416772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2800" b="1" strike="noStrike" spc="-1" dirty="0">
                <a:solidFill>
                  <a:srgbClr val="FF0000"/>
                </a:solidFill>
                <a:latin typeface="Gill Sans"/>
                <a:ea typeface="Gill Sans"/>
              </a:rPr>
              <a:t>TEMPORAL </a:t>
            </a:r>
            <a:r>
              <a:rPr lang="en-US" sz="2800" b="1" strike="noStrike" spc="-1" dirty="0" smtClean="0">
                <a:solidFill>
                  <a:srgbClr val="FF0000"/>
                </a:solidFill>
                <a:latin typeface="Gill Sans"/>
                <a:ea typeface="Gill Sans"/>
              </a:rPr>
              <a:t>LOGIC</a:t>
            </a:r>
            <a:endParaRPr lang="en-US" sz="2800" b="1" strike="noStrike"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1440">
              <a:lnSpc>
                <a:spcPct val="100000"/>
              </a:lnSpc>
              <a:spcAft>
                <a:spcPts val="600"/>
              </a:spcAft>
              <a:buClr>
                <a:srgbClr val="4590B8"/>
              </a:buClr>
            </a:pPr>
            <a:r>
              <a:rPr lang="en-US" sz="2000" b="1" spc="-1" dirty="0">
                <a:solidFill>
                  <a:srgbClr val="3D3D3D"/>
                </a:solidFill>
                <a:latin typeface="Times New Roman" panose="02020603050405020304" pitchFamily="18" charset="0"/>
                <a:ea typeface="Gill Sans"/>
                <a:cs typeface="Times New Roman" panose="02020603050405020304" pitchFamily="18" charset="0"/>
              </a:rPr>
              <a:t>Temporal logic is commonly used to specify various properties in </a:t>
            </a: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software systems</a:t>
            </a:r>
            <a:r>
              <a:rPr lang="en-US" sz="2000" b="1" spc="-1" dirty="0">
                <a:solidFill>
                  <a:srgbClr val="3D3D3D"/>
                </a:solidFill>
                <a:latin typeface="Times New Roman" panose="02020603050405020304" pitchFamily="18" charset="0"/>
                <a:ea typeface="Gill Sans"/>
                <a:cs typeface="Times New Roman" panose="02020603050405020304" pitchFamily="18" charset="0"/>
              </a:rPr>
              <a:t>. </a:t>
            </a:r>
            <a:endParaRPr lang="en-US" sz="2000" b="1" spc="-1" dirty="0" smtClean="0">
              <a:solidFill>
                <a:srgbClr val="3D3D3D"/>
              </a:solidFill>
              <a:latin typeface="Times New Roman" panose="02020603050405020304" pitchFamily="18" charset="0"/>
              <a:ea typeface="Gill Sans"/>
              <a:cs typeface="Times New Roman" panose="02020603050405020304" pitchFamily="18" charset="0"/>
            </a:endParaRPr>
          </a:p>
          <a:p>
            <a:r>
              <a:rPr lang="en-US" b="1" dirty="0" smtClean="0"/>
              <a:t>1) Real-Time </a:t>
            </a:r>
            <a:r>
              <a:rPr lang="en-US" b="1" dirty="0"/>
              <a:t>System: Deadline Constraint</a:t>
            </a:r>
            <a:endParaRPr lang="en-US" dirty="0"/>
          </a:p>
          <a:p>
            <a:pPr lvl="1"/>
            <a:r>
              <a:rPr lang="en-US" b="1" dirty="0"/>
              <a:t>Temporal Logic </a:t>
            </a:r>
            <a:r>
              <a:rPr lang="en-US" b="1" dirty="0" smtClean="0"/>
              <a:t>Specification:</a:t>
            </a:r>
            <a:r>
              <a:rPr lang="en-US" dirty="0" smtClean="0"/>
              <a:t> </a:t>
            </a:r>
            <a:r>
              <a:rPr lang="en-US" i="1" dirty="0" smtClean="0"/>
              <a:t>G</a:t>
            </a:r>
            <a:r>
              <a:rPr lang="en-US" dirty="0" smtClean="0"/>
              <a:t>(</a:t>
            </a:r>
            <a:r>
              <a:rPr lang="en-US" i="1" dirty="0" smtClean="0"/>
              <a:t>request</a:t>
            </a:r>
            <a:r>
              <a:rPr lang="en-US" dirty="0"/>
              <a:t>→(</a:t>
            </a:r>
            <a:r>
              <a:rPr lang="en-US" i="1" dirty="0" err="1"/>
              <a:t>Xgrant</a:t>
            </a:r>
            <a:r>
              <a:rPr lang="en-US" dirty="0"/>
              <a:t>∧(</a:t>
            </a:r>
            <a:r>
              <a:rPr lang="en-US" i="1" dirty="0" err="1"/>
              <a:t>grant</a:t>
            </a:r>
            <a:r>
              <a:rPr lang="en-US" dirty="0" err="1"/>
              <a:t>→</a:t>
            </a:r>
            <a:r>
              <a:rPr lang="en-US" i="1" dirty="0" err="1"/>
              <a:t>Fresponse</a:t>
            </a:r>
            <a:r>
              <a:rPr lang="en-US" dirty="0"/>
              <a:t>)))</a:t>
            </a:r>
          </a:p>
          <a:p>
            <a:pPr lvl="1"/>
            <a:r>
              <a:rPr lang="en-US" b="1" dirty="0"/>
              <a:t>Interpretation:</a:t>
            </a:r>
            <a:r>
              <a:rPr lang="en-US" dirty="0"/>
              <a:t> Whenever a request is made, it should be followed by an immediate grant, and subsequently, there must be a response. This ensures a real-time deadline constraint.</a:t>
            </a:r>
          </a:p>
          <a:p>
            <a:r>
              <a:rPr lang="en-US" b="1" dirty="0" smtClean="0"/>
              <a:t>2)Concurrency </a:t>
            </a:r>
            <a:r>
              <a:rPr lang="en-US" b="1" dirty="0"/>
              <a:t>Control in a Database System</a:t>
            </a:r>
            <a:endParaRPr lang="en-US" dirty="0"/>
          </a:p>
          <a:p>
            <a:pPr lvl="1"/>
            <a:r>
              <a:rPr lang="en-US" b="1" dirty="0"/>
              <a:t>Temporal Logic Specification:</a:t>
            </a:r>
            <a:r>
              <a:rPr lang="en-US" dirty="0"/>
              <a:t> </a:t>
            </a:r>
            <a:r>
              <a:rPr lang="en-US" i="1" dirty="0" smtClean="0"/>
              <a:t>G</a:t>
            </a:r>
            <a:r>
              <a:rPr lang="en-US" dirty="0"/>
              <a:t>(¬(</a:t>
            </a:r>
            <a:r>
              <a:rPr lang="en-US" i="1" dirty="0"/>
              <a:t>transaction</a:t>
            </a:r>
            <a:r>
              <a:rPr lang="en-US" dirty="0"/>
              <a:t>_1∧</a:t>
            </a:r>
            <a:r>
              <a:rPr lang="en-US" i="1" dirty="0"/>
              <a:t>transaction</a:t>
            </a:r>
            <a:r>
              <a:rPr lang="en-US" dirty="0"/>
              <a:t>_2))</a:t>
            </a:r>
          </a:p>
          <a:p>
            <a:pPr lvl="1"/>
            <a:r>
              <a:rPr lang="en-US" b="1" dirty="0"/>
              <a:t>Interpretation:</a:t>
            </a:r>
            <a:r>
              <a:rPr lang="en-US" dirty="0"/>
              <a:t> It is always the case that transactions 1 and 2 are not executed concurrently. This expresses a property of mutual exclusion in a database system.</a:t>
            </a:r>
          </a:p>
          <a:p>
            <a:r>
              <a:rPr lang="en-US" b="1" dirty="0" smtClean="0"/>
              <a:t>3) Fault </a:t>
            </a:r>
            <a:r>
              <a:rPr lang="en-US" b="1" dirty="0"/>
              <a:t>Tolerance in a Redundant System</a:t>
            </a:r>
            <a:endParaRPr lang="en-US" dirty="0"/>
          </a:p>
          <a:p>
            <a:pPr lvl="1"/>
            <a:r>
              <a:rPr lang="en-US" b="1" dirty="0"/>
              <a:t>Temporal Logic Specification:</a:t>
            </a:r>
            <a:r>
              <a:rPr lang="en-US" dirty="0"/>
              <a:t> </a:t>
            </a:r>
            <a:r>
              <a:rPr lang="en-US" i="1" dirty="0" smtClean="0"/>
              <a:t>G</a:t>
            </a:r>
            <a:r>
              <a:rPr lang="en-US" dirty="0"/>
              <a:t>(¬(</a:t>
            </a:r>
            <a:r>
              <a:rPr lang="en-US" i="1" dirty="0"/>
              <a:t>failure</a:t>
            </a:r>
            <a:r>
              <a:rPr lang="en-US" dirty="0"/>
              <a:t>_1∧</a:t>
            </a:r>
            <a:r>
              <a:rPr lang="en-US" i="1" dirty="0"/>
              <a:t>failure</a:t>
            </a:r>
            <a:r>
              <a:rPr lang="en-US" dirty="0"/>
              <a:t>_2))</a:t>
            </a:r>
          </a:p>
          <a:p>
            <a:pPr lvl="1"/>
            <a:r>
              <a:rPr lang="en-US" b="1" dirty="0"/>
              <a:t>Interpretation:</a:t>
            </a:r>
            <a:r>
              <a:rPr lang="en-US" dirty="0"/>
              <a:t> It is always the case that failures 1 and 2 do not occur simultaneously. This specifies a fault-tolerance property in a redundant system.</a:t>
            </a:r>
          </a:p>
          <a:p>
            <a:pPr marL="305280" indent="-303840">
              <a:lnSpc>
                <a:spcPct val="100000"/>
              </a:lnSpc>
              <a:spcAft>
                <a:spcPts val="600"/>
              </a:spcAft>
              <a:buClr>
                <a:srgbClr val="4590B8"/>
              </a:buClr>
              <a:buFont typeface="Wingdings" panose="05000000000000000000" pitchFamily="2" charset="2"/>
              <a:buChar char="v"/>
            </a:pPr>
            <a:endParaRPr lang="en-US" sz="2000" spc="-1" dirty="0" smtClean="0">
              <a:solidFill>
                <a:srgbClr val="3D3D3D"/>
              </a:solidFill>
              <a:latin typeface="Times New Roman" panose="02020603050405020304" pitchFamily="18" charset="0"/>
              <a:ea typeface="Gill Sans"/>
              <a:cs typeface="Times New Roman" panose="02020603050405020304" pitchFamily="18" charset="0"/>
            </a:endParaRPr>
          </a:p>
        </p:txBody>
      </p:sp>
    </p:spTree>
    <p:extLst>
      <p:ext uri="{BB962C8B-B14F-4D97-AF65-F5344CB8AC3E}">
        <p14:creationId xmlns:p14="http://schemas.microsoft.com/office/powerpoint/2010/main" val="889737717"/>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2800" b="1" strike="noStrike" spc="-1" dirty="0">
                <a:solidFill>
                  <a:srgbClr val="FF0000"/>
                </a:solidFill>
                <a:latin typeface="Gill Sans"/>
                <a:ea typeface="Gill Sans"/>
              </a:rPr>
              <a:t>TEMPORAL </a:t>
            </a:r>
            <a:r>
              <a:rPr lang="en-US" sz="2800" b="1" strike="noStrike" spc="-1" dirty="0" smtClean="0">
                <a:solidFill>
                  <a:srgbClr val="FF0000"/>
                </a:solidFill>
                <a:latin typeface="Gill Sans"/>
                <a:ea typeface="Gill Sans"/>
              </a:rPr>
              <a:t>LOGIC</a:t>
            </a:r>
            <a:endParaRPr lang="en-US" sz="2800" b="1" strike="noStrike"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1440">
              <a:lnSpc>
                <a:spcPct val="100000"/>
              </a:lnSpc>
              <a:spcAft>
                <a:spcPts val="600"/>
              </a:spcAft>
              <a:buClr>
                <a:srgbClr val="4590B8"/>
              </a:buClr>
            </a:pPr>
            <a:r>
              <a:rPr lang="en-US" sz="2000" b="1" spc="-1" dirty="0">
                <a:solidFill>
                  <a:srgbClr val="3D3D3D"/>
                </a:solidFill>
                <a:latin typeface="Times New Roman" panose="02020603050405020304" pitchFamily="18" charset="0"/>
                <a:ea typeface="Gill Sans"/>
                <a:cs typeface="Times New Roman" panose="02020603050405020304" pitchFamily="18" charset="0"/>
              </a:rPr>
              <a:t>Temporal logic is commonly used to specify various properties in </a:t>
            </a: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software systems</a:t>
            </a:r>
            <a:r>
              <a:rPr lang="en-US" sz="2000" b="1" spc="-1" dirty="0">
                <a:solidFill>
                  <a:srgbClr val="3D3D3D"/>
                </a:solidFill>
                <a:latin typeface="Times New Roman" panose="02020603050405020304" pitchFamily="18" charset="0"/>
                <a:ea typeface="Gill Sans"/>
                <a:cs typeface="Times New Roman" panose="02020603050405020304" pitchFamily="18" charset="0"/>
              </a:rPr>
              <a:t>. </a:t>
            </a:r>
            <a:endParaRPr lang="en-US" sz="2000" b="1" spc="-1" dirty="0" smtClean="0">
              <a:solidFill>
                <a:srgbClr val="3D3D3D"/>
              </a:solidFill>
              <a:latin typeface="Times New Roman" panose="02020603050405020304" pitchFamily="18" charset="0"/>
              <a:ea typeface="Gill Sans"/>
              <a:cs typeface="Times New Roman" panose="02020603050405020304" pitchFamily="18" charset="0"/>
            </a:endParaRPr>
          </a:p>
          <a:p>
            <a:r>
              <a:rPr lang="en-US" b="1" dirty="0"/>
              <a:t>4</a:t>
            </a:r>
            <a:r>
              <a:rPr lang="en-US" b="1" dirty="0" smtClean="0"/>
              <a:t>) </a:t>
            </a:r>
            <a:r>
              <a:rPr lang="en-US" b="1" dirty="0"/>
              <a:t>Robot Navigation System</a:t>
            </a:r>
            <a:endParaRPr lang="en-US" dirty="0"/>
          </a:p>
          <a:p>
            <a:pPr lvl="1"/>
            <a:r>
              <a:rPr lang="en-US" b="1" dirty="0"/>
              <a:t>Temporal Logic Specification:</a:t>
            </a:r>
            <a:r>
              <a:rPr lang="en-US" dirty="0"/>
              <a:t> </a:t>
            </a:r>
            <a:r>
              <a:rPr lang="en-US" i="1" dirty="0" smtClean="0"/>
              <a:t>G</a:t>
            </a:r>
            <a:r>
              <a:rPr lang="en-US" dirty="0" smtClean="0"/>
              <a:t>(</a:t>
            </a:r>
            <a:r>
              <a:rPr lang="en-US" i="1" dirty="0" smtClean="0"/>
              <a:t>start</a:t>
            </a:r>
            <a:r>
              <a:rPr lang="en-US" dirty="0"/>
              <a:t>→(</a:t>
            </a:r>
            <a:r>
              <a:rPr lang="en-US" i="1" dirty="0"/>
              <a:t>X</a:t>
            </a:r>
            <a:r>
              <a:rPr lang="en-US" dirty="0"/>
              <a:t>(</a:t>
            </a:r>
            <a:r>
              <a:rPr lang="en-US" i="1" dirty="0"/>
              <a:t>move</a:t>
            </a:r>
            <a:r>
              <a:rPr lang="en-US" dirty="0"/>
              <a:t>∧¬</a:t>
            </a:r>
            <a:r>
              <a:rPr lang="en-US" i="1" dirty="0"/>
              <a:t>obstacle</a:t>
            </a:r>
            <a:r>
              <a:rPr lang="en-US" dirty="0"/>
              <a:t>)∧</a:t>
            </a:r>
            <a:r>
              <a:rPr lang="en-US" i="1" dirty="0" err="1"/>
              <a:t>Fgoal</a:t>
            </a:r>
            <a:r>
              <a:rPr lang="en-US" dirty="0"/>
              <a:t>))</a:t>
            </a:r>
          </a:p>
          <a:p>
            <a:pPr lvl="1"/>
            <a:r>
              <a:rPr lang="en-US" b="1" dirty="0"/>
              <a:t>Interpretation:</a:t>
            </a:r>
            <a:r>
              <a:rPr lang="en-US" dirty="0"/>
              <a:t> Once the robot starts, in the next state, it should move without encountering obstacles, and eventually, it should reach the goal. This specifies the navigation behavior of a robot.</a:t>
            </a:r>
          </a:p>
          <a:p>
            <a:r>
              <a:rPr lang="en-US" b="1" dirty="0" smtClean="0"/>
              <a:t>5) Network </a:t>
            </a:r>
            <a:r>
              <a:rPr lang="en-US" b="1" dirty="0"/>
              <a:t>Communication</a:t>
            </a:r>
            <a:endParaRPr lang="en-US" dirty="0"/>
          </a:p>
          <a:p>
            <a:pPr lvl="1"/>
            <a:r>
              <a:rPr lang="en-US" b="1" dirty="0"/>
              <a:t>Temporal Logic Specification:</a:t>
            </a:r>
            <a:r>
              <a:rPr lang="en-US" dirty="0"/>
              <a:t> </a:t>
            </a:r>
            <a:r>
              <a:rPr lang="en-US" i="1" dirty="0" smtClean="0"/>
              <a:t>G</a:t>
            </a:r>
            <a:r>
              <a:rPr lang="en-US" dirty="0" smtClean="0"/>
              <a:t>(</a:t>
            </a:r>
            <a:r>
              <a:rPr lang="en-US" i="1" dirty="0" smtClean="0"/>
              <a:t>sender</a:t>
            </a:r>
            <a:r>
              <a:rPr lang="en-US" dirty="0"/>
              <a:t>→(</a:t>
            </a:r>
            <a:r>
              <a:rPr lang="en-US" i="1" dirty="0"/>
              <a:t>X</a:t>
            </a:r>
            <a:r>
              <a:rPr lang="en-US" dirty="0"/>
              <a:t>(</a:t>
            </a:r>
            <a:r>
              <a:rPr lang="en-US" i="1" dirty="0"/>
              <a:t>send</a:t>
            </a:r>
            <a:r>
              <a:rPr lang="en-US" dirty="0"/>
              <a:t>∧¬</a:t>
            </a:r>
            <a:r>
              <a:rPr lang="en-US" i="1" dirty="0"/>
              <a:t>collision</a:t>
            </a:r>
            <a:r>
              <a:rPr lang="en-US" dirty="0"/>
              <a:t>)∧</a:t>
            </a:r>
            <a:r>
              <a:rPr lang="en-US" i="1" dirty="0" err="1"/>
              <a:t>Freceiver</a:t>
            </a:r>
            <a:r>
              <a:rPr lang="en-US" dirty="0"/>
              <a:t>))</a:t>
            </a:r>
          </a:p>
          <a:p>
            <a:pPr lvl="1"/>
            <a:r>
              <a:rPr lang="en-US" b="1" dirty="0"/>
              <a:t>Interpretation:</a:t>
            </a:r>
            <a:r>
              <a:rPr lang="en-US" dirty="0"/>
              <a:t> Whenever a sender initiates communication, in the next state, it should send the message without collision, and eventually, the receiver should receive the message.</a:t>
            </a:r>
          </a:p>
          <a:p>
            <a:r>
              <a:rPr lang="en-US" b="1" dirty="0" smtClean="0"/>
              <a:t>6) User </a:t>
            </a:r>
            <a:r>
              <a:rPr lang="en-US" b="1" dirty="0"/>
              <a:t>Authentication System</a:t>
            </a:r>
            <a:endParaRPr lang="en-US" dirty="0"/>
          </a:p>
          <a:p>
            <a:pPr lvl="1"/>
            <a:r>
              <a:rPr lang="en-US" b="1" dirty="0"/>
              <a:t>Temporal Logic Specification:</a:t>
            </a:r>
            <a:r>
              <a:rPr lang="en-US" dirty="0"/>
              <a:t> </a:t>
            </a:r>
            <a:r>
              <a:rPr lang="en-US" i="1" dirty="0" smtClean="0"/>
              <a:t>G</a:t>
            </a:r>
            <a:r>
              <a:rPr lang="en-US" dirty="0"/>
              <a:t>(¬(</a:t>
            </a:r>
            <a:r>
              <a:rPr lang="en-US" i="1" dirty="0" err="1"/>
              <a:t>login</a:t>
            </a:r>
            <a:r>
              <a:rPr lang="en-US" dirty="0" err="1"/>
              <a:t>_</a:t>
            </a:r>
            <a:r>
              <a:rPr lang="en-US" i="1" dirty="0" err="1"/>
              <a:t>attempt</a:t>
            </a:r>
            <a:r>
              <a:rPr lang="en-US" dirty="0" err="1"/>
              <a:t>∧</a:t>
            </a:r>
            <a:r>
              <a:rPr lang="en-US" i="1" dirty="0" err="1"/>
              <a:t>login</a:t>
            </a:r>
            <a:r>
              <a:rPr lang="en-US" dirty="0" err="1"/>
              <a:t>_</a:t>
            </a:r>
            <a:r>
              <a:rPr lang="en-US" i="1" dirty="0" err="1"/>
              <a:t>failure</a:t>
            </a:r>
            <a:r>
              <a:rPr lang="en-US" dirty="0"/>
              <a:t>))</a:t>
            </a:r>
          </a:p>
          <a:p>
            <a:pPr lvl="1"/>
            <a:r>
              <a:rPr lang="en-US" b="1" dirty="0"/>
              <a:t>Interpretation:</a:t>
            </a:r>
            <a:r>
              <a:rPr lang="en-US" dirty="0"/>
              <a:t> It is always the case that login attempts and login failures do not occur simultaneously. This specifies a safety property in a user authentication system.</a:t>
            </a:r>
          </a:p>
          <a:p>
            <a:pPr marL="305280" indent="-303840">
              <a:lnSpc>
                <a:spcPct val="100000"/>
              </a:lnSpc>
              <a:spcAft>
                <a:spcPts val="600"/>
              </a:spcAft>
              <a:buClr>
                <a:srgbClr val="4590B8"/>
              </a:buClr>
              <a:buFont typeface="Wingdings" panose="05000000000000000000" pitchFamily="2" charset="2"/>
              <a:buChar char="v"/>
            </a:pPr>
            <a:endParaRPr lang="en-US" sz="2000" spc="-1" dirty="0" smtClean="0">
              <a:solidFill>
                <a:srgbClr val="3D3D3D"/>
              </a:solidFill>
              <a:latin typeface="Times New Roman" panose="02020603050405020304" pitchFamily="18" charset="0"/>
              <a:ea typeface="Gill Sans"/>
              <a:cs typeface="Times New Roman" panose="02020603050405020304" pitchFamily="18" charset="0"/>
            </a:endParaRPr>
          </a:p>
        </p:txBody>
      </p:sp>
    </p:spTree>
    <p:extLst>
      <p:ext uri="{BB962C8B-B14F-4D97-AF65-F5344CB8AC3E}">
        <p14:creationId xmlns:p14="http://schemas.microsoft.com/office/powerpoint/2010/main" val="3983029943"/>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2800" b="1" strike="noStrike" spc="-1" dirty="0">
                <a:solidFill>
                  <a:srgbClr val="FF0000"/>
                </a:solidFill>
                <a:latin typeface="Gill Sans"/>
                <a:ea typeface="Gill Sans"/>
              </a:rPr>
              <a:t>TEMPORAL </a:t>
            </a:r>
            <a:r>
              <a:rPr lang="en-US" sz="2800" b="1" strike="noStrike" spc="-1" dirty="0" smtClean="0">
                <a:solidFill>
                  <a:srgbClr val="FF0000"/>
                </a:solidFill>
                <a:latin typeface="Gill Sans"/>
                <a:ea typeface="Gill Sans"/>
              </a:rPr>
              <a:t>LOGIC</a:t>
            </a:r>
            <a:endParaRPr lang="en-US" sz="2800" b="1" strike="noStrike"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1440">
              <a:lnSpc>
                <a:spcPct val="100000"/>
              </a:lnSpc>
              <a:spcAft>
                <a:spcPts val="600"/>
              </a:spcAft>
              <a:buClr>
                <a:srgbClr val="4590B8"/>
              </a:buClr>
            </a:pPr>
            <a:r>
              <a:rPr lang="en-US" sz="2000" b="1" spc="-1" dirty="0">
                <a:solidFill>
                  <a:srgbClr val="3D3D3D"/>
                </a:solidFill>
                <a:latin typeface="Times New Roman" panose="02020603050405020304" pitchFamily="18" charset="0"/>
                <a:ea typeface="Gill Sans"/>
                <a:cs typeface="Times New Roman" panose="02020603050405020304" pitchFamily="18" charset="0"/>
              </a:rPr>
              <a:t>Temporal logic is commonly used to specify various properties in </a:t>
            </a: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software systems</a:t>
            </a:r>
            <a:r>
              <a:rPr lang="en-US" sz="2000" b="1" spc="-1" dirty="0">
                <a:solidFill>
                  <a:srgbClr val="3D3D3D"/>
                </a:solidFill>
                <a:latin typeface="Times New Roman" panose="02020603050405020304" pitchFamily="18" charset="0"/>
                <a:ea typeface="Gill Sans"/>
                <a:cs typeface="Times New Roman" panose="02020603050405020304" pitchFamily="18" charset="0"/>
              </a:rPr>
              <a:t>. </a:t>
            </a:r>
            <a:endParaRPr lang="en-US" sz="2000" b="1" spc="-1" dirty="0" smtClean="0">
              <a:solidFill>
                <a:srgbClr val="3D3D3D"/>
              </a:solidFill>
              <a:latin typeface="Times New Roman" panose="02020603050405020304" pitchFamily="18" charset="0"/>
              <a:ea typeface="Gill Sans"/>
              <a:cs typeface="Times New Roman" panose="02020603050405020304" pitchFamily="18" charset="0"/>
            </a:endParaRPr>
          </a:p>
          <a:p>
            <a:r>
              <a:rPr lang="en-US" b="1" dirty="0" smtClean="0"/>
              <a:t>7) </a:t>
            </a:r>
            <a:r>
              <a:rPr lang="en-US" b="1" dirty="0"/>
              <a:t>Elevator Control System</a:t>
            </a:r>
            <a:endParaRPr lang="en-US" dirty="0"/>
          </a:p>
          <a:p>
            <a:pPr lvl="1"/>
            <a:r>
              <a:rPr lang="en-US" b="1" dirty="0"/>
              <a:t>Temporal Logic Specification:</a:t>
            </a:r>
            <a:r>
              <a:rPr lang="en-US" dirty="0"/>
              <a:t> </a:t>
            </a:r>
            <a:r>
              <a:rPr lang="en-US" i="1" dirty="0" smtClean="0"/>
              <a:t>G</a:t>
            </a:r>
            <a:r>
              <a:rPr lang="en-US" dirty="0"/>
              <a:t>(¬(</a:t>
            </a:r>
            <a:r>
              <a:rPr lang="en-US" i="1" dirty="0" err="1"/>
              <a:t>door</a:t>
            </a:r>
            <a:r>
              <a:rPr lang="en-US" dirty="0" err="1"/>
              <a:t>_</a:t>
            </a:r>
            <a:r>
              <a:rPr lang="en-US" i="1" dirty="0" err="1"/>
              <a:t>open</a:t>
            </a:r>
            <a:r>
              <a:rPr lang="en-US" dirty="0" err="1"/>
              <a:t>∧</a:t>
            </a:r>
            <a:r>
              <a:rPr lang="en-US" i="1" dirty="0" err="1"/>
              <a:t>moving</a:t>
            </a:r>
            <a:r>
              <a:rPr lang="en-US" dirty="0"/>
              <a:t>))</a:t>
            </a:r>
          </a:p>
          <a:p>
            <a:pPr lvl="1"/>
            <a:r>
              <a:rPr lang="en-US" b="1" dirty="0"/>
              <a:t>Interpretation:</a:t>
            </a:r>
            <a:r>
              <a:rPr lang="en-US" dirty="0"/>
              <a:t> It is always the case that the door is not open while the elevator is in motion. This expresses a safety property in an elevator control system.</a:t>
            </a:r>
          </a:p>
          <a:p>
            <a:r>
              <a:rPr lang="en-US" b="1" dirty="0" smtClean="0"/>
              <a:t>8) Web </a:t>
            </a:r>
            <a:r>
              <a:rPr lang="en-US" b="1" dirty="0"/>
              <a:t>Server Performance</a:t>
            </a:r>
            <a:endParaRPr lang="en-US" dirty="0"/>
          </a:p>
          <a:p>
            <a:pPr lvl="1"/>
            <a:r>
              <a:rPr lang="en-US" b="1" dirty="0"/>
              <a:t>Temporal Logic Specification:</a:t>
            </a:r>
            <a:r>
              <a:rPr lang="en-US" dirty="0"/>
              <a:t> </a:t>
            </a:r>
            <a:r>
              <a:rPr lang="en-US" i="1" dirty="0" smtClean="0"/>
              <a:t>G</a:t>
            </a:r>
            <a:r>
              <a:rPr lang="en-US" dirty="0" smtClean="0"/>
              <a:t>(</a:t>
            </a:r>
            <a:r>
              <a:rPr lang="en-US" i="1" dirty="0" smtClean="0"/>
              <a:t>request</a:t>
            </a:r>
            <a:r>
              <a:rPr lang="en-US" dirty="0"/>
              <a:t>→(</a:t>
            </a:r>
            <a:r>
              <a:rPr lang="en-US" i="1" dirty="0" err="1"/>
              <a:t>Xresponse</a:t>
            </a:r>
            <a:r>
              <a:rPr lang="en-US" dirty="0" err="1"/>
              <a:t>∧</a:t>
            </a:r>
            <a:r>
              <a:rPr lang="en-US" i="1" dirty="0" err="1"/>
              <a:t>F</a:t>
            </a:r>
            <a:r>
              <a:rPr lang="en-US" dirty="0"/>
              <a:t>(</a:t>
            </a:r>
            <a:r>
              <a:rPr lang="en-US" i="1" dirty="0" err="1"/>
              <a:t>response</a:t>
            </a:r>
            <a:r>
              <a:rPr lang="en-US" dirty="0" err="1"/>
              <a:t>_</a:t>
            </a:r>
            <a:r>
              <a:rPr lang="en-US" i="1" dirty="0" err="1"/>
              <a:t>time</a:t>
            </a:r>
            <a:r>
              <a:rPr lang="en-US" dirty="0"/>
              <a:t>&lt;</a:t>
            </a:r>
            <a:r>
              <a:rPr lang="en-US" i="1" dirty="0"/>
              <a:t>threshold</a:t>
            </a:r>
            <a:r>
              <a:rPr lang="en-US" dirty="0"/>
              <a:t>)))</a:t>
            </a:r>
          </a:p>
          <a:p>
            <a:pPr lvl="1"/>
            <a:r>
              <a:rPr lang="en-US" b="1" dirty="0"/>
              <a:t>Interpretation:</a:t>
            </a:r>
            <a:r>
              <a:rPr lang="en-US" dirty="0"/>
              <a:t> Whenever a request is made, in the next state, there should be a response, and eventually, the response time should be less than a specified threshold.</a:t>
            </a:r>
          </a:p>
          <a:p>
            <a:pPr marL="305280" indent="-303840">
              <a:lnSpc>
                <a:spcPct val="100000"/>
              </a:lnSpc>
              <a:spcAft>
                <a:spcPts val="600"/>
              </a:spcAft>
              <a:buClr>
                <a:srgbClr val="4590B8"/>
              </a:buClr>
              <a:buFont typeface="Wingdings" panose="05000000000000000000" pitchFamily="2" charset="2"/>
              <a:buChar char="v"/>
            </a:pPr>
            <a:endParaRPr lang="en-US" sz="2000" spc="-1" dirty="0" smtClean="0">
              <a:solidFill>
                <a:srgbClr val="3D3D3D"/>
              </a:solidFill>
              <a:latin typeface="Times New Roman" panose="02020603050405020304" pitchFamily="18" charset="0"/>
              <a:ea typeface="Gill Sans"/>
              <a:cs typeface="Times New Roman" panose="02020603050405020304" pitchFamily="18" charset="0"/>
            </a:endParaRPr>
          </a:p>
        </p:txBody>
      </p:sp>
    </p:spTree>
    <p:extLst>
      <p:ext uri="{BB962C8B-B14F-4D97-AF65-F5344CB8AC3E}">
        <p14:creationId xmlns:p14="http://schemas.microsoft.com/office/powerpoint/2010/main" val="120266385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2800" b="1" strike="noStrike" spc="-1" dirty="0">
                <a:solidFill>
                  <a:srgbClr val="FF0000"/>
                </a:solidFill>
                <a:latin typeface="Gill Sans"/>
                <a:ea typeface="Gill Sans"/>
              </a:rPr>
              <a:t>TEMPORAL </a:t>
            </a:r>
            <a:r>
              <a:rPr lang="en-US" sz="2800" b="1" strike="noStrike" spc="-1" dirty="0" smtClean="0">
                <a:solidFill>
                  <a:srgbClr val="FF0000"/>
                </a:solidFill>
                <a:latin typeface="Gill Sans"/>
                <a:ea typeface="Gill Sans"/>
              </a:rPr>
              <a:t>LOGIC (Some Questions)</a:t>
            </a:r>
            <a:endParaRPr lang="en-US" sz="2800" b="1" strike="noStrike" spc="-1" dirty="0">
              <a:solidFill>
                <a:srgbClr val="FF0000"/>
              </a:solidFill>
              <a:latin typeface="Arial"/>
            </a:endParaRPr>
          </a:p>
        </p:txBody>
      </p:sp>
      <p:sp>
        <p:nvSpPr>
          <p:cNvPr id="105" name="CustomShape 2"/>
          <p:cNvSpPr/>
          <p:nvPr/>
        </p:nvSpPr>
        <p:spPr>
          <a:xfrm>
            <a:off x="581043" y="159240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b="1" dirty="0"/>
              <a:t>Temporal Logic Specification:</a:t>
            </a:r>
            <a:endParaRPr lang="en-US" dirty="0"/>
          </a:p>
          <a:p>
            <a:pPr lvl="1"/>
            <a:r>
              <a:rPr lang="en-US" dirty="0"/>
              <a:t>Given the temporal logic specification </a:t>
            </a:r>
            <a:r>
              <a:rPr lang="en-US" i="1" dirty="0" smtClean="0"/>
              <a:t>G</a:t>
            </a:r>
            <a:r>
              <a:rPr lang="en-US" dirty="0" smtClean="0"/>
              <a:t>(</a:t>
            </a:r>
            <a:r>
              <a:rPr lang="en-US" i="1" dirty="0" smtClean="0"/>
              <a:t>request</a:t>
            </a:r>
            <a:r>
              <a:rPr lang="en-US" dirty="0"/>
              <a:t>→(</a:t>
            </a:r>
            <a:r>
              <a:rPr lang="en-US" i="1" dirty="0" err="1"/>
              <a:t>Xresponse</a:t>
            </a:r>
            <a:r>
              <a:rPr lang="en-US" dirty="0" err="1"/>
              <a:t>∧</a:t>
            </a:r>
            <a:r>
              <a:rPr lang="en-US" i="1" dirty="0" err="1"/>
              <a:t>F</a:t>
            </a:r>
            <a:r>
              <a:rPr lang="en-US" dirty="0"/>
              <a:t>(</a:t>
            </a:r>
            <a:r>
              <a:rPr lang="en-US" i="1" dirty="0" err="1"/>
              <a:t>response</a:t>
            </a:r>
            <a:r>
              <a:rPr lang="en-US" dirty="0" err="1"/>
              <a:t>_</a:t>
            </a:r>
            <a:r>
              <a:rPr lang="en-US" i="1" dirty="0" err="1"/>
              <a:t>time</a:t>
            </a:r>
            <a:r>
              <a:rPr lang="en-US" dirty="0"/>
              <a:t>&lt;</a:t>
            </a:r>
            <a:r>
              <a:rPr lang="en-US" i="1" dirty="0"/>
              <a:t>threshold</a:t>
            </a:r>
            <a:r>
              <a:rPr lang="en-US" dirty="0"/>
              <a:t>))), explain its meaning in the context of the web server performance system.</a:t>
            </a:r>
          </a:p>
          <a:p>
            <a:r>
              <a:rPr lang="en-US" b="1" dirty="0"/>
              <a:t>Safety Property:</a:t>
            </a:r>
            <a:endParaRPr lang="en-US" dirty="0"/>
          </a:p>
          <a:p>
            <a:pPr lvl="1"/>
            <a:r>
              <a:rPr lang="en-US" dirty="0"/>
              <a:t>Define a safety property related to web server performance that could be expressed using temporal logic. Provide a temporal logic formula for this safety property and explain its significance.</a:t>
            </a:r>
          </a:p>
          <a:p>
            <a:r>
              <a:rPr lang="en-US" b="1" dirty="0"/>
              <a:t>Liveness Property:</a:t>
            </a:r>
            <a:endParaRPr lang="en-US" dirty="0"/>
          </a:p>
          <a:p>
            <a:pPr lvl="1"/>
            <a:r>
              <a:rPr lang="en-US" dirty="0"/>
              <a:t>Define a liveness property related to web server performance that could be expressed using temporal logic. Provide a temporal logic formula for this liveness property and explain its significance.</a:t>
            </a:r>
          </a:p>
          <a:p>
            <a:r>
              <a:rPr lang="en-US" b="1" dirty="0"/>
              <a:t>Concurrency Control:</a:t>
            </a:r>
            <a:endParaRPr lang="en-US" dirty="0"/>
          </a:p>
          <a:p>
            <a:pPr lvl="1"/>
            <a:r>
              <a:rPr lang="en-US" dirty="0"/>
              <a:t>Discuss how temporal logic can be used to specify concurrency control aspects in the web server performance system. Provide an example of a temporal logic formula that ensures proper concurrency control.</a:t>
            </a:r>
          </a:p>
          <a:p>
            <a:r>
              <a:rPr lang="en-US" b="1" dirty="0"/>
              <a:t>Real-Time Constraint:</a:t>
            </a:r>
            <a:endParaRPr lang="en-US" dirty="0"/>
          </a:p>
          <a:p>
            <a:pPr lvl="1"/>
            <a:r>
              <a:rPr lang="en-US" dirty="0"/>
              <a:t>Consider the real-time constraint specified in </a:t>
            </a:r>
            <a:r>
              <a:rPr lang="en-US" i="1" dirty="0" smtClean="0"/>
              <a:t>G</a:t>
            </a:r>
            <a:r>
              <a:rPr lang="en-US" dirty="0" smtClean="0"/>
              <a:t>(</a:t>
            </a:r>
            <a:r>
              <a:rPr lang="en-US" i="1" dirty="0" smtClean="0"/>
              <a:t>request</a:t>
            </a:r>
            <a:r>
              <a:rPr lang="en-US" dirty="0"/>
              <a:t>→(</a:t>
            </a:r>
            <a:r>
              <a:rPr lang="en-US" i="1" dirty="0" err="1"/>
              <a:t>Xresponse</a:t>
            </a:r>
            <a:r>
              <a:rPr lang="en-US" dirty="0" err="1"/>
              <a:t>∧</a:t>
            </a:r>
            <a:r>
              <a:rPr lang="en-US" i="1" dirty="0" err="1"/>
              <a:t>F</a:t>
            </a:r>
            <a:r>
              <a:rPr lang="en-US" dirty="0"/>
              <a:t>(</a:t>
            </a:r>
            <a:r>
              <a:rPr lang="en-US" i="1" dirty="0" err="1"/>
              <a:t>response</a:t>
            </a:r>
            <a:r>
              <a:rPr lang="en-US" dirty="0" err="1"/>
              <a:t>_</a:t>
            </a:r>
            <a:r>
              <a:rPr lang="en-US" i="1" dirty="0" err="1"/>
              <a:t>time</a:t>
            </a:r>
            <a:r>
              <a:rPr lang="en-US" dirty="0"/>
              <a:t>&lt;</a:t>
            </a:r>
            <a:r>
              <a:rPr lang="en-US" i="1" dirty="0"/>
              <a:t>threshold</a:t>
            </a:r>
            <a:r>
              <a:rPr lang="en-US" dirty="0"/>
              <a:t>))). Explain why this constraint is important for the web server performance system and discuss potential consequences if this constraint is not satisfied.</a:t>
            </a:r>
          </a:p>
          <a:p>
            <a:r>
              <a:rPr lang="en-US" b="1" dirty="0"/>
              <a:t>Extension: Fault Tolerance:</a:t>
            </a:r>
            <a:endParaRPr lang="en-US" dirty="0"/>
          </a:p>
          <a:p>
            <a:pPr lvl="1"/>
            <a:r>
              <a:rPr lang="en-US" dirty="0"/>
              <a:t>Propose a temporal logic formula to express a fault tolerance property in the context of web server performance. Explain the nature of the fault tolerance property and how the temporal logic formula ensures fault tolerance.</a:t>
            </a:r>
          </a:p>
          <a:p>
            <a:pPr marL="305280" indent="-303840">
              <a:lnSpc>
                <a:spcPct val="100000"/>
              </a:lnSpc>
              <a:spcAft>
                <a:spcPts val="600"/>
              </a:spcAft>
              <a:buClr>
                <a:srgbClr val="4590B8"/>
              </a:buClr>
              <a:buFont typeface="Wingdings" panose="05000000000000000000" pitchFamily="2" charset="2"/>
              <a:buChar char="v"/>
            </a:pPr>
            <a:endParaRPr lang="en-US" sz="2000" spc="-1" dirty="0" smtClean="0">
              <a:solidFill>
                <a:srgbClr val="3D3D3D"/>
              </a:solidFill>
              <a:latin typeface="Times New Roman" panose="02020603050405020304" pitchFamily="18" charset="0"/>
              <a:ea typeface="Gill Sans"/>
              <a:cs typeface="Times New Roman" panose="02020603050405020304" pitchFamily="18" charset="0"/>
            </a:endParaRPr>
          </a:p>
        </p:txBody>
      </p:sp>
    </p:spTree>
    <p:extLst>
      <p:ext uri="{BB962C8B-B14F-4D97-AF65-F5344CB8AC3E}">
        <p14:creationId xmlns:p14="http://schemas.microsoft.com/office/powerpoint/2010/main" val="2919256124"/>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2800" b="1" spc="-1" dirty="0">
                <a:solidFill>
                  <a:srgbClr val="FF0000"/>
                </a:solidFill>
                <a:latin typeface="Gill Sans"/>
                <a:ea typeface="Gill Sans"/>
              </a:rPr>
              <a:t>C</a:t>
            </a:r>
            <a:r>
              <a:rPr lang="en-US" sz="2800" b="1" spc="-1" dirty="0" smtClean="0">
                <a:solidFill>
                  <a:srgbClr val="FF0000"/>
                </a:solidFill>
                <a:latin typeface="Gill Sans"/>
                <a:ea typeface="Gill Sans"/>
              </a:rPr>
              <a:t>onsider </a:t>
            </a:r>
            <a:r>
              <a:rPr lang="en-US" sz="2800" b="1" spc="-1" dirty="0">
                <a:solidFill>
                  <a:srgbClr val="FF0000"/>
                </a:solidFill>
                <a:latin typeface="Gill Sans"/>
                <a:ea typeface="Gill Sans"/>
              </a:rPr>
              <a:t>a scenario and formulate temporal logic specifications to capture certain properties related to that scenario.</a:t>
            </a:r>
            <a:endParaRPr lang="en-US" sz="2800" b="1" strike="noStrike"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1440">
              <a:lnSpc>
                <a:spcPct val="100000"/>
              </a:lnSpc>
              <a:spcAft>
                <a:spcPts val="600"/>
              </a:spcAft>
              <a:buClr>
                <a:srgbClr val="4590B8"/>
              </a:buClr>
            </a:pP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1) Imagine </a:t>
            </a:r>
            <a:r>
              <a:rPr lang="en-US" sz="2000" b="1" spc="-1" dirty="0">
                <a:solidFill>
                  <a:srgbClr val="3D3D3D"/>
                </a:solidFill>
                <a:latin typeface="Times New Roman" panose="02020603050405020304" pitchFamily="18" charset="0"/>
                <a:ea typeface="Gill Sans"/>
                <a:cs typeface="Times New Roman" panose="02020603050405020304" pitchFamily="18" charset="0"/>
              </a:rPr>
              <a:t>an elevator control system with the following characteristics:</a:t>
            </a:r>
          </a:p>
          <a:p>
            <a:pPr marL="344340" indent="-342900">
              <a:lnSpc>
                <a:spcPct val="100000"/>
              </a:lnSpc>
              <a:spcAft>
                <a:spcPts val="600"/>
              </a:spcAft>
              <a:buClr>
                <a:srgbClr val="4590B8"/>
              </a:buClr>
              <a:buFont typeface="Wingdings" panose="05000000000000000000" pitchFamily="2" charset="2"/>
              <a:buChar char="v"/>
            </a:pP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The </a:t>
            </a:r>
            <a:r>
              <a:rPr lang="en-US" sz="2000" b="1" spc="-1" dirty="0">
                <a:solidFill>
                  <a:srgbClr val="3D3D3D"/>
                </a:solidFill>
                <a:latin typeface="Times New Roman" panose="02020603050405020304" pitchFamily="18" charset="0"/>
                <a:ea typeface="Gill Sans"/>
                <a:cs typeface="Times New Roman" panose="02020603050405020304" pitchFamily="18" charset="0"/>
              </a:rPr>
              <a:t>elevator has multiple floors (e.g., Ground, Floor 1, Floor 2).</a:t>
            </a:r>
          </a:p>
          <a:p>
            <a:pPr marL="344340" indent="-342900">
              <a:lnSpc>
                <a:spcPct val="100000"/>
              </a:lnSpc>
              <a:spcAft>
                <a:spcPts val="600"/>
              </a:spcAft>
              <a:buClr>
                <a:srgbClr val="4590B8"/>
              </a:buClr>
              <a:buFont typeface="Wingdings" panose="05000000000000000000" pitchFamily="2" charset="2"/>
              <a:buChar char="v"/>
            </a:pPr>
            <a:r>
              <a:rPr lang="en-US" sz="2000" b="1" spc="-1" dirty="0">
                <a:solidFill>
                  <a:srgbClr val="3D3D3D"/>
                </a:solidFill>
                <a:latin typeface="Times New Roman" panose="02020603050405020304" pitchFamily="18" charset="0"/>
                <a:ea typeface="Gill Sans"/>
                <a:cs typeface="Times New Roman" panose="02020603050405020304" pitchFamily="18" charset="0"/>
              </a:rPr>
              <a:t>Passengers can request the elevator to move to a specific floor</a:t>
            </a: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a:t>
            </a:r>
          </a:p>
          <a:p>
            <a:pPr marL="344340" indent="-342900">
              <a:lnSpc>
                <a:spcPct val="100000"/>
              </a:lnSpc>
              <a:spcAft>
                <a:spcPts val="600"/>
              </a:spcAft>
              <a:buClr>
                <a:srgbClr val="4590B8"/>
              </a:buClr>
              <a:buFont typeface="Wingdings" panose="05000000000000000000" pitchFamily="2" charset="2"/>
              <a:buChar char="v"/>
            </a:pP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The </a:t>
            </a:r>
            <a:r>
              <a:rPr lang="en-US" sz="2000" b="1" spc="-1" dirty="0">
                <a:solidFill>
                  <a:srgbClr val="3D3D3D"/>
                </a:solidFill>
                <a:latin typeface="Times New Roman" panose="02020603050405020304" pitchFamily="18" charset="0"/>
                <a:ea typeface="Gill Sans"/>
                <a:cs typeface="Times New Roman" panose="02020603050405020304" pitchFamily="18" charset="0"/>
              </a:rPr>
              <a:t>elevator should follow certain safety and liveness properties</a:t>
            </a: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 </a:t>
            </a:r>
          </a:p>
          <a:p>
            <a:pPr marL="1440">
              <a:lnSpc>
                <a:spcPct val="100000"/>
              </a:lnSpc>
              <a:spcAft>
                <a:spcPts val="600"/>
              </a:spcAft>
              <a:buClr>
                <a:srgbClr val="4590B8"/>
              </a:buClr>
            </a:pPr>
            <a:r>
              <a:rPr lang="en-US" sz="2000" b="1" spc="-1" dirty="0" smtClean="0">
                <a:solidFill>
                  <a:srgbClr val="FF0000"/>
                </a:solidFill>
                <a:latin typeface="Times New Roman" panose="02020603050405020304" pitchFamily="18" charset="0"/>
                <a:ea typeface="Gill Sans"/>
                <a:cs typeface="Times New Roman" panose="02020603050405020304" pitchFamily="18" charset="0"/>
              </a:rPr>
              <a:t>Temporal logic Specification</a:t>
            </a:r>
          </a:p>
          <a:p>
            <a:r>
              <a:rPr lang="en-US" sz="2000" spc="-1" dirty="0" smtClean="0">
                <a:solidFill>
                  <a:srgbClr val="3D3D3D"/>
                </a:solidFill>
                <a:latin typeface="Times New Roman" panose="02020603050405020304" pitchFamily="18" charset="0"/>
                <a:cs typeface="Times New Roman" panose="02020603050405020304" pitchFamily="18" charset="0"/>
              </a:rPr>
              <a:t>1) </a:t>
            </a:r>
            <a:r>
              <a:rPr lang="en-US" b="1" dirty="0" smtClean="0"/>
              <a:t>Safety </a:t>
            </a:r>
            <a:r>
              <a:rPr lang="en-US" b="1" dirty="0"/>
              <a:t>Property - Door and Movement:</a:t>
            </a:r>
            <a:endParaRPr lang="en-US" dirty="0"/>
          </a:p>
          <a:p>
            <a:pPr lvl="1"/>
            <a:r>
              <a:rPr lang="en-US" i="1" dirty="0"/>
              <a:t>Scenario:</a:t>
            </a:r>
            <a:r>
              <a:rPr lang="en-US" dirty="0"/>
              <a:t> The elevator doors should remain closed while the elevator is in motion.</a:t>
            </a:r>
          </a:p>
          <a:p>
            <a:pPr lvl="1"/>
            <a:r>
              <a:rPr lang="en-US" i="1" dirty="0"/>
              <a:t>Temporal Logic Specification:</a:t>
            </a:r>
            <a:r>
              <a:rPr lang="en-US" dirty="0"/>
              <a:t> </a:t>
            </a:r>
            <a:r>
              <a:rPr lang="en-US" i="1" dirty="0" smtClean="0"/>
              <a:t>G</a:t>
            </a:r>
            <a:r>
              <a:rPr lang="en-US" dirty="0"/>
              <a:t>(¬(</a:t>
            </a:r>
            <a:r>
              <a:rPr lang="en-US" i="1" dirty="0" err="1"/>
              <a:t>door</a:t>
            </a:r>
            <a:r>
              <a:rPr lang="en-US" dirty="0" err="1"/>
              <a:t>_</a:t>
            </a:r>
            <a:r>
              <a:rPr lang="en-US" i="1" dirty="0" err="1"/>
              <a:t>open</a:t>
            </a:r>
            <a:r>
              <a:rPr lang="en-US" dirty="0" err="1"/>
              <a:t>∧</a:t>
            </a:r>
            <a:r>
              <a:rPr lang="en-US" i="1" dirty="0" err="1"/>
              <a:t>moving</a:t>
            </a:r>
            <a:r>
              <a:rPr lang="en-US" dirty="0"/>
              <a:t>))</a:t>
            </a:r>
          </a:p>
          <a:p>
            <a:pPr lvl="1"/>
            <a:r>
              <a:rPr lang="en-US" i="1" dirty="0"/>
              <a:t>Interpretation:</a:t>
            </a:r>
            <a:r>
              <a:rPr lang="en-US" dirty="0"/>
              <a:t> It is always the case that the door is not open while the elevator is in motion.</a:t>
            </a:r>
          </a:p>
          <a:p>
            <a:r>
              <a:rPr lang="en-US" b="1" dirty="0" smtClean="0"/>
              <a:t>2) Liveness </a:t>
            </a:r>
            <a:r>
              <a:rPr lang="en-US" b="1" dirty="0"/>
              <a:t>Property - Response to Requests:</a:t>
            </a:r>
            <a:endParaRPr lang="en-US" dirty="0"/>
          </a:p>
          <a:p>
            <a:pPr lvl="1"/>
            <a:r>
              <a:rPr lang="en-US" i="1" dirty="0"/>
              <a:t>Scenario:</a:t>
            </a:r>
            <a:r>
              <a:rPr lang="en-US" dirty="0"/>
              <a:t> Whenever a passenger requests the elevator, the elevator should eventually arrive at that floor.</a:t>
            </a:r>
          </a:p>
          <a:p>
            <a:pPr lvl="1"/>
            <a:r>
              <a:rPr lang="en-US" i="1" dirty="0"/>
              <a:t>Temporal Logic Specification:</a:t>
            </a:r>
            <a:r>
              <a:rPr lang="en-US" dirty="0"/>
              <a:t> </a:t>
            </a:r>
            <a:r>
              <a:rPr lang="en-US" i="1" dirty="0" smtClean="0"/>
              <a:t>G</a:t>
            </a:r>
            <a:r>
              <a:rPr lang="en-US" dirty="0" smtClean="0"/>
              <a:t>(</a:t>
            </a:r>
            <a:r>
              <a:rPr lang="en-US" i="1" dirty="0" smtClean="0"/>
              <a:t>request</a:t>
            </a:r>
            <a:r>
              <a:rPr lang="en-US" dirty="0"/>
              <a:t>→(</a:t>
            </a:r>
            <a:r>
              <a:rPr lang="en-US" i="1" dirty="0" err="1"/>
              <a:t>Xarrival</a:t>
            </a:r>
            <a:r>
              <a:rPr lang="en-US" dirty="0" err="1"/>
              <a:t>∧</a:t>
            </a:r>
            <a:r>
              <a:rPr lang="en-US" i="1" dirty="0" err="1"/>
              <a:t>Fdoor</a:t>
            </a:r>
            <a:r>
              <a:rPr lang="en-US" dirty="0" err="1"/>
              <a:t>_</a:t>
            </a:r>
            <a:r>
              <a:rPr lang="en-US" i="1" dirty="0" err="1"/>
              <a:t>open</a:t>
            </a:r>
            <a:r>
              <a:rPr lang="en-US" dirty="0"/>
              <a:t>))</a:t>
            </a:r>
          </a:p>
          <a:p>
            <a:pPr lvl="1"/>
            <a:r>
              <a:rPr lang="en-US" i="1" dirty="0"/>
              <a:t>Interpretation:</a:t>
            </a:r>
            <a:r>
              <a:rPr lang="en-US" dirty="0"/>
              <a:t> Whenever a passenger requests the elevator, in the next state, the elevator should arrive, and eventually, the door should open.</a:t>
            </a:r>
          </a:p>
        </p:txBody>
      </p:sp>
    </p:spTree>
    <p:extLst>
      <p:ext uri="{BB962C8B-B14F-4D97-AF65-F5344CB8AC3E}">
        <p14:creationId xmlns:p14="http://schemas.microsoft.com/office/powerpoint/2010/main" val="2101721355"/>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2800" b="1" spc="-1" dirty="0">
                <a:solidFill>
                  <a:srgbClr val="FF0000"/>
                </a:solidFill>
                <a:latin typeface="Gill Sans"/>
                <a:ea typeface="Gill Sans"/>
              </a:rPr>
              <a:t>C</a:t>
            </a:r>
            <a:r>
              <a:rPr lang="en-US" sz="2800" b="1" spc="-1" dirty="0" smtClean="0">
                <a:solidFill>
                  <a:srgbClr val="FF0000"/>
                </a:solidFill>
                <a:latin typeface="Gill Sans"/>
                <a:ea typeface="Gill Sans"/>
              </a:rPr>
              <a:t>onsider </a:t>
            </a:r>
            <a:r>
              <a:rPr lang="en-US" sz="2800" b="1" spc="-1" dirty="0">
                <a:solidFill>
                  <a:srgbClr val="FF0000"/>
                </a:solidFill>
                <a:latin typeface="Gill Sans"/>
                <a:ea typeface="Gill Sans"/>
              </a:rPr>
              <a:t>a scenario and formulate temporal logic specifications to capture certain properties related to that scenario.</a:t>
            </a:r>
            <a:endParaRPr lang="en-US" sz="2800" b="1" strike="noStrike"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b="1" dirty="0" smtClean="0">
                <a:solidFill>
                  <a:srgbClr val="374151"/>
                </a:solidFill>
                <a:latin typeface="Söhne"/>
              </a:rPr>
              <a:t>3) Concurrency </a:t>
            </a:r>
            <a:r>
              <a:rPr lang="en-US" b="1" dirty="0">
                <a:solidFill>
                  <a:srgbClr val="374151"/>
                </a:solidFill>
                <a:latin typeface="Söhne"/>
              </a:rPr>
              <a:t>Control - Mutual Exclusion of Floors:</a:t>
            </a:r>
            <a:endParaRPr lang="en-US" dirty="0">
              <a:solidFill>
                <a:srgbClr val="374151"/>
              </a:solidFill>
              <a:latin typeface="Söhne"/>
            </a:endParaRPr>
          </a:p>
          <a:p>
            <a:pPr lvl="1"/>
            <a:r>
              <a:rPr lang="en-US" i="1" dirty="0">
                <a:solidFill>
                  <a:srgbClr val="374151"/>
                </a:solidFill>
                <a:latin typeface="Söhne"/>
              </a:rPr>
              <a:t>Scenario:</a:t>
            </a:r>
            <a:r>
              <a:rPr lang="en-US" dirty="0">
                <a:solidFill>
                  <a:srgbClr val="374151"/>
                </a:solidFill>
                <a:latin typeface="Söhne"/>
              </a:rPr>
              <a:t> The elevator should not serve multiple floors simultaneously.</a:t>
            </a:r>
          </a:p>
          <a:p>
            <a:pPr lvl="1"/>
            <a:r>
              <a:rPr lang="en-US" i="1" dirty="0">
                <a:solidFill>
                  <a:srgbClr val="374151"/>
                </a:solidFill>
                <a:latin typeface="Söhne"/>
              </a:rPr>
              <a:t>Temporal Logic Specification:</a:t>
            </a:r>
            <a:r>
              <a:rPr lang="en-US" dirty="0">
                <a:solidFill>
                  <a:srgbClr val="374151"/>
                </a:solidFill>
                <a:latin typeface="Söhne"/>
              </a:rPr>
              <a:t> </a:t>
            </a:r>
            <a:r>
              <a:rPr lang="en-US" i="1" dirty="0" smtClean="0">
                <a:solidFill>
                  <a:srgbClr val="374151"/>
                </a:solidFill>
                <a:latin typeface="KaTeX_Math"/>
              </a:rPr>
              <a:t>G</a:t>
            </a:r>
            <a:r>
              <a:rPr lang="en-US" dirty="0">
                <a:solidFill>
                  <a:srgbClr val="374151"/>
                </a:solidFill>
                <a:latin typeface="KaTeX_Main"/>
              </a:rPr>
              <a:t>(¬(</a:t>
            </a:r>
            <a:r>
              <a:rPr lang="en-US" i="1" dirty="0">
                <a:solidFill>
                  <a:srgbClr val="374151"/>
                </a:solidFill>
                <a:latin typeface="KaTeX_Math"/>
              </a:rPr>
              <a:t>at</a:t>
            </a:r>
            <a:r>
              <a:rPr lang="en-US" dirty="0">
                <a:solidFill>
                  <a:srgbClr val="374151"/>
                </a:solidFill>
                <a:latin typeface="KaTeX_Main"/>
              </a:rPr>
              <a:t>_</a:t>
            </a:r>
            <a:r>
              <a:rPr lang="en-US" i="1" dirty="0">
                <a:solidFill>
                  <a:srgbClr val="374151"/>
                </a:solidFill>
                <a:latin typeface="KaTeX_Math"/>
              </a:rPr>
              <a:t>floor</a:t>
            </a:r>
            <a:r>
              <a:rPr lang="en-US" dirty="0">
                <a:solidFill>
                  <a:srgbClr val="374151"/>
                </a:solidFill>
                <a:latin typeface="KaTeX_Main"/>
              </a:rPr>
              <a:t>_1∧</a:t>
            </a:r>
            <a:r>
              <a:rPr lang="en-US" i="1" dirty="0">
                <a:solidFill>
                  <a:srgbClr val="374151"/>
                </a:solidFill>
                <a:latin typeface="KaTeX_Math"/>
              </a:rPr>
              <a:t>at</a:t>
            </a:r>
            <a:r>
              <a:rPr lang="en-US" dirty="0">
                <a:solidFill>
                  <a:srgbClr val="374151"/>
                </a:solidFill>
                <a:latin typeface="KaTeX_Main"/>
              </a:rPr>
              <a:t>_</a:t>
            </a:r>
            <a:r>
              <a:rPr lang="en-US" i="1" dirty="0">
                <a:solidFill>
                  <a:srgbClr val="374151"/>
                </a:solidFill>
                <a:latin typeface="KaTeX_Math"/>
              </a:rPr>
              <a:t>floor</a:t>
            </a:r>
            <a:r>
              <a:rPr lang="en-US" dirty="0">
                <a:solidFill>
                  <a:srgbClr val="374151"/>
                </a:solidFill>
                <a:latin typeface="KaTeX_Main"/>
              </a:rPr>
              <a:t>_2))</a:t>
            </a:r>
            <a:endParaRPr lang="en-US" dirty="0">
              <a:solidFill>
                <a:srgbClr val="374151"/>
              </a:solidFill>
              <a:latin typeface="Söhne"/>
            </a:endParaRPr>
          </a:p>
          <a:p>
            <a:pPr lvl="1"/>
            <a:r>
              <a:rPr lang="en-US" i="1" dirty="0">
                <a:solidFill>
                  <a:srgbClr val="374151"/>
                </a:solidFill>
                <a:latin typeface="Söhne"/>
              </a:rPr>
              <a:t>Interpretation:</a:t>
            </a:r>
            <a:r>
              <a:rPr lang="en-US" dirty="0">
                <a:solidFill>
                  <a:srgbClr val="374151"/>
                </a:solidFill>
                <a:latin typeface="Söhne"/>
              </a:rPr>
              <a:t> It is always the case that the elevator is not at both Floor 1 and Floor 2 </a:t>
            </a:r>
            <a:r>
              <a:rPr lang="en-US" dirty="0" smtClean="0">
                <a:solidFill>
                  <a:srgbClr val="374151"/>
                </a:solidFill>
                <a:latin typeface="Söhne"/>
              </a:rPr>
              <a:t>simultaneously.</a:t>
            </a:r>
          </a:p>
          <a:p>
            <a:r>
              <a:rPr lang="en-US" b="1" dirty="0" smtClean="0">
                <a:solidFill>
                  <a:srgbClr val="374151"/>
                </a:solidFill>
                <a:latin typeface="Söhne"/>
              </a:rPr>
              <a:t>4) Fault Tolerance - Emergency Stop:</a:t>
            </a:r>
            <a:endParaRPr lang="en-US" dirty="0" smtClean="0">
              <a:solidFill>
                <a:srgbClr val="374151"/>
              </a:solidFill>
              <a:latin typeface="Söhne"/>
            </a:endParaRPr>
          </a:p>
          <a:p>
            <a:pPr lvl="1"/>
            <a:r>
              <a:rPr lang="en-US" i="1" dirty="0" smtClean="0">
                <a:solidFill>
                  <a:srgbClr val="374151"/>
                </a:solidFill>
                <a:latin typeface="Söhne"/>
              </a:rPr>
              <a:t>Scenario</a:t>
            </a:r>
            <a:r>
              <a:rPr lang="en-US" i="1" dirty="0">
                <a:solidFill>
                  <a:srgbClr val="374151"/>
                </a:solidFill>
                <a:latin typeface="Söhne"/>
              </a:rPr>
              <a:t>:</a:t>
            </a:r>
            <a:r>
              <a:rPr lang="en-US" dirty="0">
                <a:solidFill>
                  <a:srgbClr val="374151"/>
                </a:solidFill>
                <a:latin typeface="Söhne"/>
              </a:rPr>
              <a:t> In case of an emergency, the elevator should immediately stop.</a:t>
            </a:r>
          </a:p>
          <a:p>
            <a:pPr lvl="1"/>
            <a:r>
              <a:rPr lang="en-US" i="1" dirty="0">
                <a:solidFill>
                  <a:srgbClr val="374151"/>
                </a:solidFill>
                <a:latin typeface="Söhne"/>
              </a:rPr>
              <a:t>Temporal Logic Specification:</a:t>
            </a:r>
            <a:r>
              <a:rPr lang="en-US" dirty="0">
                <a:solidFill>
                  <a:srgbClr val="374151"/>
                </a:solidFill>
                <a:latin typeface="Söhne"/>
              </a:rPr>
              <a:t> </a:t>
            </a:r>
            <a:r>
              <a:rPr lang="en-US" i="1" dirty="0" smtClean="0">
                <a:solidFill>
                  <a:srgbClr val="374151"/>
                </a:solidFill>
                <a:latin typeface="KaTeX_Math"/>
              </a:rPr>
              <a:t>G</a:t>
            </a:r>
            <a:r>
              <a:rPr lang="en-US" dirty="0" smtClean="0">
                <a:solidFill>
                  <a:srgbClr val="374151"/>
                </a:solidFill>
                <a:latin typeface="KaTeX_Main"/>
              </a:rPr>
              <a:t>(</a:t>
            </a:r>
            <a:r>
              <a:rPr lang="en-US" i="1" dirty="0" err="1" smtClean="0">
                <a:solidFill>
                  <a:srgbClr val="374151"/>
                </a:solidFill>
                <a:latin typeface="KaTeX_Math"/>
              </a:rPr>
              <a:t>emergency</a:t>
            </a:r>
            <a:r>
              <a:rPr lang="en-US" dirty="0" err="1" smtClean="0">
                <a:solidFill>
                  <a:srgbClr val="374151"/>
                </a:solidFill>
                <a:latin typeface="KaTeX_Main"/>
              </a:rPr>
              <a:t>_</a:t>
            </a:r>
            <a:r>
              <a:rPr lang="en-US" i="1" dirty="0" err="1" smtClean="0">
                <a:solidFill>
                  <a:srgbClr val="374151"/>
                </a:solidFill>
                <a:latin typeface="KaTeX_Math"/>
              </a:rPr>
              <a:t>stop</a:t>
            </a:r>
            <a:r>
              <a:rPr lang="en-US" dirty="0" err="1">
                <a:solidFill>
                  <a:srgbClr val="374151"/>
                </a:solidFill>
                <a:latin typeface="KaTeX_Main"/>
              </a:rPr>
              <a:t>→</a:t>
            </a:r>
            <a:r>
              <a:rPr lang="en-US" i="1" dirty="0" err="1">
                <a:solidFill>
                  <a:srgbClr val="374151"/>
                </a:solidFill>
                <a:latin typeface="KaTeX_Math"/>
              </a:rPr>
              <a:t>Xstopped</a:t>
            </a:r>
            <a:r>
              <a:rPr lang="en-US" dirty="0">
                <a:solidFill>
                  <a:srgbClr val="374151"/>
                </a:solidFill>
                <a:latin typeface="KaTeX_Main"/>
              </a:rPr>
              <a:t>)</a:t>
            </a:r>
            <a:endParaRPr lang="en-US" dirty="0">
              <a:solidFill>
                <a:srgbClr val="374151"/>
              </a:solidFill>
              <a:latin typeface="Söhne"/>
            </a:endParaRPr>
          </a:p>
          <a:p>
            <a:pPr lvl="1"/>
            <a:r>
              <a:rPr lang="en-US" i="1" dirty="0">
                <a:solidFill>
                  <a:srgbClr val="374151"/>
                </a:solidFill>
                <a:latin typeface="Söhne"/>
              </a:rPr>
              <a:t>Interpretation:</a:t>
            </a:r>
            <a:r>
              <a:rPr lang="en-US" dirty="0">
                <a:solidFill>
                  <a:srgbClr val="374151"/>
                </a:solidFill>
                <a:latin typeface="Söhne"/>
              </a:rPr>
              <a:t> If there is an emergency stop, in the next state, the elevator should be stopped.</a:t>
            </a:r>
          </a:p>
          <a:p>
            <a:r>
              <a:rPr lang="en-US" b="1" dirty="0" smtClean="0">
                <a:solidFill>
                  <a:srgbClr val="374151"/>
                </a:solidFill>
                <a:latin typeface="Söhne"/>
              </a:rPr>
              <a:t>5) Real-Time </a:t>
            </a:r>
            <a:r>
              <a:rPr lang="en-US" b="1" dirty="0">
                <a:solidFill>
                  <a:srgbClr val="374151"/>
                </a:solidFill>
                <a:latin typeface="Söhne"/>
              </a:rPr>
              <a:t>Constraint - Maximum Response Time:</a:t>
            </a:r>
            <a:endParaRPr lang="en-US" dirty="0">
              <a:solidFill>
                <a:srgbClr val="374151"/>
              </a:solidFill>
              <a:latin typeface="Söhne"/>
            </a:endParaRPr>
          </a:p>
          <a:p>
            <a:pPr lvl="1"/>
            <a:r>
              <a:rPr lang="en-US" i="1" dirty="0">
                <a:solidFill>
                  <a:srgbClr val="374151"/>
                </a:solidFill>
                <a:latin typeface="Söhne"/>
              </a:rPr>
              <a:t>Scenario:</a:t>
            </a:r>
            <a:r>
              <a:rPr lang="en-US" dirty="0">
                <a:solidFill>
                  <a:srgbClr val="374151"/>
                </a:solidFill>
                <a:latin typeface="Söhne"/>
              </a:rPr>
              <a:t> The elevator should respond to a request within a specified time.</a:t>
            </a:r>
          </a:p>
          <a:p>
            <a:pPr lvl="1"/>
            <a:r>
              <a:rPr lang="en-US" i="1" dirty="0">
                <a:solidFill>
                  <a:srgbClr val="374151"/>
                </a:solidFill>
                <a:latin typeface="Söhne"/>
              </a:rPr>
              <a:t>Temporal Logic Specification:</a:t>
            </a:r>
            <a:r>
              <a:rPr lang="en-US" dirty="0">
                <a:solidFill>
                  <a:srgbClr val="374151"/>
                </a:solidFill>
                <a:latin typeface="Söhne"/>
              </a:rPr>
              <a:t> </a:t>
            </a:r>
            <a:r>
              <a:rPr lang="en-US" i="1" dirty="0" smtClean="0">
                <a:solidFill>
                  <a:srgbClr val="374151"/>
                </a:solidFill>
                <a:latin typeface="KaTeX_Math"/>
              </a:rPr>
              <a:t>G</a:t>
            </a:r>
            <a:r>
              <a:rPr lang="en-US" dirty="0" smtClean="0">
                <a:solidFill>
                  <a:srgbClr val="374151"/>
                </a:solidFill>
                <a:latin typeface="KaTeX_Main"/>
              </a:rPr>
              <a:t>(</a:t>
            </a:r>
            <a:r>
              <a:rPr lang="en-US" i="1" dirty="0" smtClean="0">
                <a:solidFill>
                  <a:srgbClr val="374151"/>
                </a:solidFill>
                <a:latin typeface="KaTeX_Math"/>
              </a:rPr>
              <a:t>request</a:t>
            </a:r>
            <a:r>
              <a:rPr lang="en-US" dirty="0">
                <a:solidFill>
                  <a:srgbClr val="374151"/>
                </a:solidFill>
                <a:latin typeface="KaTeX_Main"/>
              </a:rPr>
              <a:t>→(</a:t>
            </a:r>
            <a:r>
              <a:rPr lang="en-US" i="1" dirty="0" err="1">
                <a:solidFill>
                  <a:srgbClr val="374151"/>
                </a:solidFill>
                <a:latin typeface="KaTeX_Math"/>
              </a:rPr>
              <a:t>Xarrival</a:t>
            </a:r>
            <a:r>
              <a:rPr lang="en-US" dirty="0" err="1">
                <a:solidFill>
                  <a:srgbClr val="374151"/>
                </a:solidFill>
                <a:latin typeface="KaTeX_Main"/>
              </a:rPr>
              <a:t>∧</a:t>
            </a:r>
            <a:r>
              <a:rPr lang="en-US" i="1" dirty="0" err="1">
                <a:solidFill>
                  <a:srgbClr val="374151"/>
                </a:solidFill>
                <a:latin typeface="KaTeX_Math"/>
              </a:rPr>
              <a:t>F</a:t>
            </a:r>
            <a:r>
              <a:rPr lang="en-US" dirty="0">
                <a:solidFill>
                  <a:srgbClr val="374151"/>
                </a:solidFill>
                <a:latin typeface="KaTeX_Main"/>
              </a:rPr>
              <a:t>(</a:t>
            </a:r>
            <a:r>
              <a:rPr lang="en-US" i="1" dirty="0" err="1">
                <a:solidFill>
                  <a:srgbClr val="374151"/>
                </a:solidFill>
                <a:latin typeface="KaTeX_Math"/>
              </a:rPr>
              <a:t>response</a:t>
            </a:r>
            <a:r>
              <a:rPr lang="en-US" dirty="0" err="1">
                <a:solidFill>
                  <a:srgbClr val="374151"/>
                </a:solidFill>
                <a:latin typeface="KaTeX_Main"/>
              </a:rPr>
              <a:t>_</a:t>
            </a:r>
            <a:r>
              <a:rPr lang="en-US" i="1" dirty="0" err="1">
                <a:solidFill>
                  <a:srgbClr val="374151"/>
                </a:solidFill>
                <a:latin typeface="KaTeX_Math"/>
              </a:rPr>
              <a:t>time</a:t>
            </a:r>
            <a:r>
              <a:rPr lang="en-US" dirty="0">
                <a:solidFill>
                  <a:srgbClr val="374151"/>
                </a:solidFill>
                <a:latin typeface="KaTeX_Main"/>
              </a:rPr>
              <a:t>&lt;</a:t>
            </a:r>
            <a:r>
              <a:rPr lang="en-US" i="1" dirty="0">
                <a:solidFill>
                  <a:srgbClr val="374151"/>
                </a:solidFill>
                <a:latin typeface="KaTeX_Math"/>
              </a:rPr>
              <a:t>threshold</a:t>
            </a:r>
            <a:r>
              <a:rPr lang="en-US" dirty="0">
                <a:solidFill>
                  <a:srgbClr val="374151"/>
                </a:solidFill>
                <a:latin typeface="KaTeX_Main"/>
              </a:rPr>
              <a:t>)))</a:t>
            </a:r>
            <a:endParaRPr lang="en-US" dirty="0">
              <a:solidFill>
                <a:srgbClr val="374151"/>
              </a:solidFill>
              <a:latin typeface="Söhne"/>
            </a:endParaRPr>
          </a:p>
          <a:p>
            <a:pPr lvl="1"/>
            <a:r>
              <a:rPr lang="en-US" i="1" dirty="0">
                <a:solidFill>
                  <a:srgbClr val="374151"/>
                </a:solidFill>
                <a:latin typeface="Söhne"/>
              </a:rPr>
              <a:t>Interpretation:</a:t>
            </a:r>
            <a:r>
              <a:rPr lang="en-US" dirty="0">
                <a:solidFill>
                  <a:srgbClr val="374151"/>
                </a:solidFill>
                <a:latin typeface="Söhne"/>
              </a:rPr>
              <a:t> Whenever a passenger requests the elevator, in the next state, the elevator should arrive, and eventually, the response time should be less than a specified threshold</a:t>
            </a:r>
            <a:r>
              <a:rPr lang="en-US" dirty="0" smtClean="0">
                <a:solidFill>
                  <a:srgbClr val="374151"/>
                </a:solidFill>
                <a:latin typeface="Söhne"/>
              </a:rPr>
              <a:t>.</a:t>
            </a:r>
          </a:p>
          <a:p>
            <a:pPr lvl="1"/>
            <a:endParaRPr lang="en-US" dirty="0" smtClean="0">
              <a:solidFill>
                <a:srgbClr val="374151"/>
              </a:solidFill>
              <a:latin typeface="Söhne"/>
            </a:endParaRPr>
          </a:p>
          <a:p>
            <a:pPr lvl="1"/>
            <a:r>
              <a:rPr lang="en-US" dirty="0" smtClean="0">
                <a:solidFill>
                  <a:srgbClr val="374151"/>
                </a:solidFill>
                <a:latin typeface="Söhne"/>
              </a:rPr>
              <a:t>These </a:t>
            </a:r>
            <a:r>
              <a:rPr lang="en-US" dirty="0">
                <a:solidFill>
                  <a:srgbClr val="374151"/>
                </a:solidFill>
                <a:latin typeface="Söhne"/>
              </a:rPr>
              <a:t>temporal logic specifications help ensure safety, liveness, concurrency control, fault tolerance, and real-time constraints in the elevator control system. </a:t>
            </a:r>
          </a:p>
        </p:txBody>
      </p:sp>
    </p:spTree>
    <p:extLst>
      <p:ext uri="{BB962C8B-B14F-4D97-AF65-F5344CB8AC3E}">
        <p14:creationId xmlns:p14="http://schemas.microsoft.com/office/powerpoint/2010/main" val="2190136431"/>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2800" b="1" spc="-1" dirty="0">
                <a:solidFill>
                  <a:srgbClr val="FF0000"/>
                </a:solidFill>
                <a:latin typeface="Gill Sans"/>
                <a:ea typeface="Gill Sans"/>
              </a:rPr>
              <a:t>C</a:t>
            </a:r>
            <a:r>
              <a:rPr lang="en-US" sz="2800" b="1" spc="-1" dirty="0" smtClean="0">
                <a:solidFill>
                  <a:srgbClr val="FF0000"/>
                </a:solidFill>
                <a:latin typeface="Gill Sans"/>
                <a:ea typeface="Gill Sans"/>
              </a:rPr>
              <a:t>onsider </a:t>
            </a:r>
            <a:r>
              <a:rPr lang="en-US" sz="2800" b="1" spc="-1" dirty="0">
                <a:solidFill>
                  <a:srgbClr val="FF0000"/>
                </a:solidFill>
                <a:latin typeface="Gill Sans"/>
                <a:ea typeface="Gill Sans"/>
              </a:rPr>
              <a:t>a scenario and formulate temporal logic specifications to capture certain properties related to that scenario.</a:t>
            </a:r>
            <a:endParaRPr lang="en-US" sz="2800" b="1" strike="noStrike"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1440">
              <a:lnSpc>
                <a:spcPct val="100000"/>
              </a:lnSpc>
              <a:spcAft>
                <a:spcPts val="600"/>
              </a:spcAft>
              <a:buClr>
                <a:srgbClr val="4590B8"/>
              </a:buClr>
            </a:pP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2) You </a:t>
            </a:r>
            <a:r>
              <a:rPr lang="en-US" sz="2000" b="1" spc="-1" dirty="0">
                <a:solidFill>
                  <a:srgbClr val="3D3D3D"/>
                </a:solidFill>
                <a:latin typeface="Times New Roman" panose="02020603050405020304" pitchFamily="18" charset="0"/>
                <a:ea typeface="Gill Sans"/>
                <a:cs typeface="Times New Roman" panose="02020603050405020304" pitchFamily="18" charset="0"/>
              </a:rPr>
              <a:t>have an intersection with traffic lights controlling the flow of traffic. </a:t>
            </a:r>
            <a:endParaRPr lang="en-US" sz="2000" b="1" spc="-1" dirty="0" smtClean="0">
              <a:solidFill>
                <a:srgbClr val="3D3D3D"/>
              </a:solidFill>
              <a:latin typeface="Times New Roman" panose="02020603050405020304" pitchFamily="18" charset="0"/>
              <a:ea typeface="Gill Sans"/>
              <a:cs typeface="Times New Roman" panose="02020603050405020304" pitchFamily="18" charset="0"/>
            </a:endParaRPr>
          </a:p>
          <a:p>
            <a:pPr marL="344340" indent="-342900">
              <a:lnSpc>
                <a:spcPct val="100000"/>
              </a:lnSpc>
              <a:spcAft>
                <a:spcPts val="600"/>
              </a:spcAft>
              <a:buClr>
                <a:srgbClr val="4590B8"/>
              </a:buClr>
              <a:buFont typeface="Wingdings" panose="05000000000000000000" pitchFamily="2" charset="2"/>
              <a:buChar char="v"/>
            </a:pP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The </a:t>
            </a:r>
            <a:r>
              <a:rPr lang="en-US" sz="2000" b="1" spc="-1" dirty="0">
                <a:solidFill>
                  <a:srgbClr val="3D3D3D"/>
                </a:solidFill>
                <a:latin typeface="Times New Roman" panose="02020603050405020304" pitchFamily="18" charset="0"/>
                <a:ea typeface="Gill Sans"/>
                <a:cs typeface="Times New Roman" panose="02020603050405020304" pitchFamily="18" charset="0"/>
              </a:rPr>
              <a:t>intersection has lights for North-South (NS) and East-West (EW) directions. </a:t>
            </a:r>
            <a:endParaRPr lang="en-US" sz="2000" b="1" spc="-1" dirty="0" smtClean="0">
              <a:solidFill>
                <a:srgbClr val="3D3D3D"/>
              </a:solidFill>
              <a:latin typeface="Times New Roman" panose="02020603050405020304" pitchFamily="18" charset="0"/>
              <a:ea typeface="Gill Sans"/>
              <a:cs typeface="Times New Roman" panose="02020603050405020304" pitchFamily="18" charset="0"/>
            </a:endParaRPr>
          </a:p>
          <a:p>
            <a:pPr marL="344340" indent="-342900">
              <a:lnSpc>
                <a:spcPct val="100000"/>
              </a:lnSpc>
              <a:spcAft>
                <a:spcPts val="600"/>
              </a:spcAft>
              <a:buClr>
                <a:srgbClr val="4590B8"/>
              </a:buClr>
              <a:buFont typeface="Wingdings" panose="05000000000000000000" pitchFamily="2" charset="2"/>
              <a:buChar char="v"/>
            </a:pP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Vehicles </a:t>
            </a:r>
            <a:r>
              <a:rPr lang="en-US" sz="2000" b="1" spc="-1" dirty="0">
                <a:solidFill>
                  <a:srgbClr val="3D3D3D"/>
                </a:solidFill>
                <a:latin typeface="Times New Roman" panose="02020603050405020304" pitchFamily="18" charset="0"/>
                <a:ea typeface="Gill Sans"/>
                <a:cs typeface="Times New Roman" panose="02020603050405020304" pitchFamily="18" charset="0"/>
              </a:rPr>
              <a:t>are expected to follow traffic rules, and </a:t>
            </a:r>
            <a:endParaRPr lang="en-US" sz="2000" b="1" spc="-1" dirty="0" smtClean="0">
              <a:solidFill>
                <a:srgbClr val="3D3D3D"/>
              </a:solidFill>
              <a:latin typeface="Times New Roman" panose="02020603050405020304" pitchFamily="18" charset="0"/>
              <a:ea typeface="Gill Sans"/>
              <a:cs typeface="Times New Roman" panose="02020603050405020304" pitchFamily="18" charset="0"/>
            </a:endParaRPr>
          </a:p>
          <a:p>
            <a:pPr marL="344340" indent="-342900">
              <a:lnSpc>
                <a:spcPct val="100000"/>
              </a:lnSpc>
              <a:spcAft>
                <a:spcPts val="600"/>
              </a:spcAft>
              <a:buClr>
                <a:srgbClr val="4590B8"/>
              </a:buClr>
              <a:buFont typeface="Wingdings" panose="05000000000000000000" pitchFamily="2" charset="2"/>
              <a:buChar char="v"/>
            </a:pP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the </a:t>
            </a:r>
            <a:r>
              <a:rPr lang="en-US" sz="2000" b="1" spc="-1" dirty="0">
                <a:solidFill>
                  <a:srgbClr val="3D3D3D"/>
                </a:solidFill>
                <a:latin typeface="Times New Roman" panose="02020603050405020304" pitchFamily="18" charset="0"/>
                <a:ea typeface="Gill Sans"/>
                <a:cs typeface="Times New Roman" panose="02020603050405020304" pitchFamily="18" charset="0"/>
              </a:rPr>
              <a:t>traffic lights should operate according to a set sequence</a:t>
            </a: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a:t>
            </a:r>
          </a:p>
          <a:p>
            <a:pPr marL="1440">
              <a:lnSpc>
                <a:spcPct val="100000"/>
              </a:lnSpc>
              <a:spcAft>
                <a:spcPts val="600"/>
              </a:spcAft>
              <a:buClr>
                <a:srgbClr val="4590B8"/>
              </a:buClr>
            </a:pPr>
            <a:r>
              <a:rPr lang="en-US" sz="2000" b="1" spc="-1" dirty="0" smtClean="0">
                <a:solidFill>
                  <a:srgbClr val="FF0000"/>
                </a:solidFill>
                <a:latin typeface="Times New Roman" panose="02020603050405020304" pitchFamily="18" charset="0"/>
                <a:ea typeface="Gill Sans"/>
                <a:cs typeface="Times New Roman" panose="02020603050405020304" pitchFamily="18" charset="0"/>
              </a:rPr>
              <a:t>Temporal logic Specification</a:t>
            </a:r>
          </a:p>
          <a:p>
            <a:r>
              <a:rPr lang="en-US" sz="2000" spc="-1" dirty="0" smtClean="0">
                <a:solidFill>
                  <a:srgbClr val="3D3D3D"/>
                </a:solidFill>
                <a:latin typeface="Times New Roman" panose="02020603050405020304" pitchFamily="18" charset="0"/>
                <a:cs typeface="Times New Roman" panose="02020603050405020304" pitchFamily="18" charset="0"/>
              </a:rPr>
              <a:t>1) </a:t>
            </a:r>
            <a:r>
              <a:rPr lang="en-US" b="1" dirty="0"/>
              <a:t>Safety Property - No Conflicting Lights:</a:t>
            </a:r>
            <a:endParaRPr lang="en-US" dirty="0"/>
          </a:p>
          <a:p>
            <a:r>
              <a:rPr lang="en-US" i="1" dirty="0"/>
              <a:t>Scenario:</a:t>
            </a:r>
            <a:r>
              <a:rPr lang="en-US" dirty="0"/>
              <a:t> There should not be a situation where both NS and EW lights are green simultaneously.</a:t>
            </a:r>
          </a:p>
          <a:p>
            <a:r>
              <a:rPr lang="en-US" i="1" dirty="0"/>
              <a:t>Temporal Logic Specification:</a:t>
            </a:r>
            <a:r>
              <a:rPr lang="en-US" dirty="0"/>
              <a:t> </a:t>
            </a:r>
            <a:r>
              <a:rPr lang="en-US" i="1" dirty="0" smtClean="0"/>
              <a:t>G</a:t>
            </a:r>
            <a:r>
              <a:rPr lang="en-US" dirty="0"/>
              <a:t>(¬(</a:t>
            </a:r>
            <a:r>
              <a:rPr lang="en-US" i="1" dirty="0" err="1"/>
              <a:t>NS</a:t>
            </a:r>
            <a:r>
              <a:rPr lang="en-US" dirty="0" err="1"/>
              <a:t>_</a:t>
            </a:r>
            <a:r>
              <a:rPr lang="en-US" i="1" dirty="0" err="1"/>
              <a:t>green</a:t>
            </a:r>
            <a:r>
              <a:rPr lang="en-US" dirty="0" err="1"/>
              <a:t>∧</a:t>
            </a:r>
            <a:r>
              <a:rPr lang="en-US" i="1" dirty="0" err="1"/>
              <a:t>EW</a:t>
            </a:r>
            <a:r>
              <a:rPr lang="en-US" dirty="0" err="1"/>
              <a:t>_</a:t>
            </a:r>
            <a:r>
              <a:rPr lang="en-US" i="1" dirty="0" err="1"/>
              <a:t>green</a:t>
            </a:r>
            <a:r>
              <a:rPr lang="en-US" dirty="0"/>
              <a:t>))</a:t>
            </a:r>
          </a:p>
          <a:p>
            <a:r>
              <a:rPr lang="en-US" i="1" dirty="0"/>
              <a:t>Interpretation:</a:t>
            </a:r>
            <a:r>
              <a:rPr lang="en-US" dirty="0"/>
              <a:t> It is always the case that both NS and EW lights are not green simultaneously.</a:t>
            </a:r>
          </a:p>
          <a:p>
            <a:r>
              <a:rPr lang="en-US" b="1" dirty="0" smtClean="0"/>
              <a:t>2) </a:t>
            </a:r>
            <a:r>
              <a:rPr lang="en-US" b="1" dirty="0"/>
              <a:t>Liveness Property - Fairness in Light Switching:</a:t>
            </a:r>
            <a:endParaRPr lang="en-US" dirty="0"/>
          </a:p>
          <a:p>
            <a:r>
              <a:rPr lang="en-US" i="1" dirty="0"/>
              <a:t>Scenario:</a:t>
            </a:r>
            <a:r>
              <a:rPr lang="en-US" dirty="0"/>
              <a:t> Each direction should have a fair chance to get a green light.</a:t>
            </a:r>
          </a:p>
          <a:p>
            <a:r>
              <a:rPr lang="en-US" i="1" dirty="0"/>
              <a:t>Temporal Logic Specification:</a:t>
            </a:r>
            <a:r>
              <a:rPr lang="en-US" dirty="0"/>
              <a:t> </a:t>
            </a:r>
            <a:r>
              <a:rPr lang="en-US" i="1" dirty="0" smtClean="0"/>
              <a:t>G</a:t>
            </a:r>
            <a:r>
              <a:rPr lang="en-US" dirty="0" smtClean="0"/>
              <a:t>(</a:t>
            </a:r>
            <a:r>
              <a:rPr lang="en-US" i="1" dirty="0" smtClean="0"/>
              <a:t>F</a:t>
            </a:r>
            <a:r>
              <a:rPr lang="en-US" dirty="0" smtClean="0"/>
              <a:t>(</a:t>
            </a:r>
            <a:r>
              <a:rPr lang="en-US" i="1" dirty="0" err="1" smtClean="0"/>
              <a:t>NS</a:t>
            </a:r>
            <a:r>
              <a:rPr lang="en-US" dirty="0" err="1" smtClean="0"/>
              <a:t>_</a:t>
            </a:r>
            <a:r>
              <a:rPr lang="en-US" i="1" dirty="0" err="1" smtClean="0"/>
              <a:t>green</a:t>
            </a:r>
            <a:r>
              <a:rPr lang="en-US" dirty="0"/>
              <a:t>))∧</a:t>
            </a:r>
            <a:r>
              <a:rPr lang="en-US" i="1" dirty="0"/>
              <a:t>G</a:t>
            </a:r>
            <a:r>
              <a:rPr lang="en-US" dirty="0"/>
              <a:t>(</a:t>
            </a:r>
            <a:r>
              <a:rPr lang="en-US" i="1" dirty="0"/>
              <a:t>F</a:t>
            </a:r>
            <a:r>
              <a:rPr lang="en-US" dirty="0"/>
              <a:t>(</a:t>
            </a:r>
            <a:r>
              <a:rPr lang="en-US" i="1" dirty="0" err="1"/>
              <a:t>EW</a:t>
            </a:r>
            <a:r>
              <a:rPr lang="en-US" dirty="0" err="1"/>
              <a:t>_</a:t>
            </a:r>
            <a:r>
              <a:rPr lang="en-US" i="1" dirty="0" err="1"/>
              <a:t>green</a:t>
            </a:r>
            <a:r>
              <a:rPr lang="en-US" dirty="0"/>
              <a:t>))</a:t>
            </a:r>
          </a:p>
          <a:p>
            <a:r>
              <a:rPr lang="en-US" i="1" dirty="0"/>
              <a:t>Interpretation:</a:t>
            </a:r>
            <a:r>
              <a:rPr lang="en-US" dirty="0"/>
              <a:t> It is always the case that eventually NS will get a green light, and it is always the case that eventually EW will get a green light.</a:t>
            </a:r>
          </a:p>
        </p:txBody>
      </p:sp>
    </p:spTree>
    <p:extLst>
      <p:ext uri="{BB962C8B-B14F-4D97-AF65-F5344CB8AC3E}">
        <p14:creationId xmlns:p14="http://schemas.microsoft.com/office/powerpoint/2010/main" val="2053110800"/>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2800" b="1" spc="-1" dirty="0">
                <a:solidFill>
                  <a:srgbClr val="FF0000"/>
                </a:solidFill>
                <a:latin typeface="Gill Sans"/>
                <a:ea typeface="Gill Sans"/>
              </a:rPr>
              <a:t>C</a:t>
            </a:r>
            <a:r>
              <a:rPr lang="en-US" sz="2800" b="1" spc="-1" dirty="0" smtClean="0">
                <a:solidFill>
                  <a:srgbClr val="FF0000"/>
                </a:solidFill>
                <a:latin typeface="Gill Sans"/>
                <a:ea typeface="Gill Sans"/>
              </a:rPr>
              <a:t>onsider </a:t>
            </a:r>
            <a:r>
              <a:rPr lang="en-US" sz="2800" b="1" spc="-1" dirty="0">
                <a:solidFill>
                  <a:srgbClr val="FF0000"/>
                </a:solidFill>
                <a:latin typeface="Gill Sans"/>
                <a:ea typeface="Gill Sans"/>
              </a:rPr>
              <a:t>a scenario and formulate temporal logic specifications to capture certain properties related to that scenario.</a:t>
            </a:r>
            <a:endParaRPr lang="en-US" sz="2800" b="1" strike="noStrike"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b="1" dirty="0" smtClean="0">
                <a:solidFill>
                  <a:srgbClr val="374151"/>
                </a:solidFill>
                <a:latin typeface="Söhne"/>
              </a:rPr>
              <a:t>3) </a:t>
            </a:r>
            <a:r>
              <a:rPr lang="en-US" b="1" dirty="0">
                <a:solidFill>
                  <a:srgbClr val="374151"/>
                </a:solidFill>
                <a:latin typeface="Söhne"/>
              </a:rPr>
              <a:t>Concurrency Control - Exclusive Green Lights:</a:t>
            </a:r>
            <a:endParaRPr lang="en-US" dirty="0">
              <a:solidFill>
                <a:srgbClr val="374151"/>
              </a:solidFill>
              <a:latin typeface="Söhne"/>
            </a:endParaRPr>
          </a:p>
          <a:p>
            <a:pPr lvl="1"/>
            <a:r>
              <a:rPr lang="en-US" i="1" dirty="0">
                <a:solidFill>
                  <a:srgbClr val="374151"/>
                </a:solidFill>
                <a:latin typeface="Söhne"/>
              </a:rPr>
              <a:t>Scenario:</a:t>
            </a:r>
            <a:r>
              <a:rPr lang="en-US" dirty="0">
                <a:solidFill>
                  <a:srgbClr val="374151"/>
                </a:solidFill>
                <a:latin typeface="Söhne"/>
              </a:rPr>
              <a:t> At any given time, only one direction should have a green light.</a:t>
            </a:r>
          </a:p>
          <a:p>
            <a:pPr lvl="1"/>
            <a:r>
              <a:rPr lang="en-US" i="1" dirty="0">
                <a:solidFill>
                  <a:srgbClr val="374151"/>
                </a:solidFill>
                <a:latin typeface="Söhne"/>
              </a:rPr>
              <a:t>Temporal Logic Specification:</a:t>
            </a:r>
            <a:r>
              <a:rPr lang="en-US" dirty="0">
                <a:solidFill>
                  <a:srgbClr val="374151"/>
                </a:solidFill>
                <a:latin typeface="Söhne"/>
              </a:rPr>
              <a:t> </a:t>
            </a:r>
            <a:r>
              <a:rPr lang="en-US" i="1" dirty="0" smtClean="0">
                <a:solidFill>
                  <a:srgbClr val="374151"/>
                </a:solidFill>
                <a:latin typeface="KaTeX_Math"/>
              </a:rPr>
              <a:t>G</a:t>
            </a:r>
            <a:r>
              <a:rPr lang="en-US" dirty="0">
                <a:solidFill>
                  <a:srgbClr val="374151"/>
                </a:solidFill>
                <a:latin typeface="KaTeX_Main"/>
              </a:rPr>
              <a:t>(¬(</a:t>
            </a:r>
            <a:r>
              <a:rPr lang="en-US" i="1" dirty="0" err="1">
                <a:solidFill>
                  <a:srgbClr val="374151"/>
                </a:solidFill>
                <a:latin typeface="KaTeX_Math"/>
              </a:rPr>
              <a:t>NS</a:t>
            </a:r>
            <a:r>
              <a:rPr lang="en-US" dirty="0" err="1">
                <a:solidFill>
                  <a:srgbClr val="374151"/>
                </a:solidFill>
                <a:latin typeface="KaTeX_Main"/>
              </a:rPr>
              <a:t>_</a:t>
            </a:r>
            <a:r>
              <a:rPr lang="en-US" i="1" dirty="0" err="1">
                <a:solidFill>
                  <a:srgbClr val="374151"/>
                </a:solidFill>
                <a:latin typeface="KaTeX_Math"/>
              </a:rPr>
              <a:t>green</a:t>
            </a:r>
            <a:r>
              <a:rPr lang="en-US" dirty="0" err="1">
                <a:solidFill>
                  <a:srgbClr val="374151"/>
                </a:solidFill>
                <a:latin typeface="KaTeX_Main"/>
              </a:rPr>
              <a:t>∧</a:t>
            </a:r>
            <a:r>
              <a:rPr lang="en-US" i="1" dirty="0" err="1">
                <a:solidFill>
                  <a:srgbClr val="374151"/>
                </a:solidFill>
                <a:latin typeface="KaTeX_Math"/>
              </a:rPr>
              <a:t>EW</a:t>
            </a:r>
            <a:r>
              <a:rPr lang="en-US" dirty="0" err="1">
                <a:solidFill>
                  <a:srgbClr val="374151"/>
                </a:solidFill>
                <a:latin typeface="KaTeX_Main"/>
              </a:rPr>
              <a:t>_</a:t>
            </a:r>
            <a:r>
              <a:rPr lang="en-US" i="1" dirty="0" err="1">
                <a:solidFill>
                  <a:srgbClr val="374151"/>
                </a:solidFill>
                <a:latin typeface="KaTeX_Math"/>
              </a:rPr>
              <a:t>green</a:t>
            </a:r>
            <a:r>
              <a:rPr lang="en-US" dirty="0">
                <a:solidFill>
                  <a:srgbClr val="374151"/>
                </a:solidFill>
                <a:latin typeface="KaTeX_Main"/>
              </a:rPr>
              <a:t>))</a:t>
            </a:r>
            <a:endParaRPr lang="en-US" dirty="0">
              <a:solidFill>
                <a:srgbClr val="374151"/>
              </a:solidFill>
              <a:latin typeface="Söhne"/>
            </a:endParaRPr>
          </a:p>
          <a:p>
            <a:pPr lvl="1"/>
            <a:r>
              <a:rPr lang="en-US" i="1" dirty="0">
                <a:solidFill>
                  <a:srgbClr val="374151"/>
                </a:solidFill>
                <a:latin typeface="Söhne"/>
              </a:rPr>
              <a:t>Interpretation:</a:t>
            </a:r>
            <a:r>
              <a:rPr lang="en-US" dirty="0">
                <a:solidFill>
                  <a:srgbClr val="374151"/>
                </a:solidFill>
                <a:latin typeface="Söhne"/>
              </a:rPr>
              <a:t> It is always the case that both NS and EW lights are not green simultaneously, ensuring exclusive green lights.</a:t>
            </a:r>
          </a:p>
          <a:p>
            <a:r>
              <a:rPr lang="en-US" b="1" dirty="0" smtClean="0">
                <a:solidFill>
                  <a:srgbClr val="374151"/>
                </a:solidFill>
                <a:latin typeface="Söhne"/>
              </a:rPr>
              <a:t>4) Real-Time </a:t>
            </a:r>
            <a:r>
              <a:rPr lang="en-US" b="1" dirty="0">
                <a:solidFill>
                  <a:srgbClr val="374151"/>
                </a:solidFill>
                <a:latin typeface="Söhne"/>
              </a:rPr>
              <a:t>Constraint - Minimum Green Light Duration:</a:t>
            </a:r>
            <a:endParaRPr lang="en-US" dirty="0">
              <a:solidFill>
                <a:srgbClr val="374151"/>
              </a:solidFill>
              <a:latin typeface="Söhne"/>
            </a:endParaRPr>
          </a:p>
          <a:p>
            <a:pPr lvl="1"/>
            <a:r>
              <a:rPr lang="en-US" i="1" dirty="0">
                <a:solidFill>
                  <a:srgbClr val="374151"/>
                </a:solidFill>
                <a:latin typeface="Söhne"/>
              </a:rPr>
              <a:t>Scenario:</a:t>
            </a:r>
            <a:r>
              <a:rPr lang="en-US" dirty="0">
                <a:solidFill>
                  <a:srgbClr val="374151"/>
                </a:solidFill>
                <a:latin typeface="Söhne"/>
              </a:rPr>
              <a:t> Each green light should have a minimum duration to allow sufficient time for traffic flow.</a:t>
            </a:r>
          </a:p>
          <a:p>
            <a:pPr lvl="1"/>
            <a:r>
              <a:rPr lang="en-US" i="1" dirty="0">
                <a:solidFill>
                  <a:srgbClr val="374151"/>
                </a:solidFill>
                <a:latin typeface="Söhne"/>
              </a:rPr>
              <a:t>Temporal Logic Specification:</a:t>
            </a:r>
            <a:r>
              <a:rPr lang="en-US" dirty="0">
                <a:solidFill>
                  <a:srgbClr val="374151"/>
                </a:solidFill>
                <a:latin typeface="Söhne"/>
              </a:rPr>
              <a:t> </a:t>
            </a:r>
            <a:r>
              <a:rPr lang="en-US" i="1" dirty="0" smtClean="0">
                <a:solidFill>
                  <a:srgbClr val="374151"/>
                </a:solidFill>
                <a:latin typeface="KaTeX_Math"/>
              </a:rPr>
              <a:t>G</a:t>
            </a:r>
            <a:r>
              <a:rPr lang="en-US" dirty="0" smtClean="0">
                <a:solidFill>
                  <a:srgbClr val="374151"/>
                </a:solidFill>
                <a:latin typeface="KaTeX_Main"/>
              </a:rPr>
              <a:t>(</a:t>
            </a:r>
            <a:r>
              <a:rPr lang="en-US" i="1" dirty="0" err="1" smtClean="0">
                <a:solidFill>
                  <a:srgbClr val="374151"/>
                </a:solidFill>
                <a:latin typeface="KaTeX_Math"/>
              </a:rPr>
              <a:t>NS</a:t>
            </a:r>
            <a:r>
              <a:rPr lang="en-US" dirty="0" err="1" smtClean="0">
                <a:solidFill>
                  <a:srgbClr val="374151"/>
                </a:solidFill>
                <a:latin typeface="KaTeX_Main"/>
              </a:rPr>
              <a:t>_</a:t>
            </a:r>
            <a:r>
              <a:rPr lang="en-US" i="1" dirty="0" err="1" smtClean="0">
                <a:solidFill>
                  <a:srgbClr val="374151"/>
                </a:solidFill>
                <a:latin typeface="KaTeX_Math"/>
              </a:rPr>
              <a:t>green</a:t>
            </a:r>
            <a:r>
              <a:rPr lang="en-US" dirty="0">
                <a:solidFill>
                  <a:srgbClr val="374151"/>
                </a:solidFill>
                <a:latin typeface="KaTeX_Main"/>
              </a:rPr>
              <a:t>→(</a:t>
            </a:r>
            <a:r>
              <a:rPr lang="en-US" i="1" dirty="0" err="1">
                <a:solidFill>
                  <a:srgbClr val="374151"/>
                </a:solidFill>
                <a:latin typeface="KaTeX_Math"/>
              </a:rPr>
              <a:t>XNS</a:t>
            </a:r>
            <a:r>
              <a:rPr lang="en-US" dirty="0" err="1">
                <a:solidFill>
                  <a:srgbClr val="374151"/>
                </a:solidFill>
                <a:latin typeface="KaTeX_Main"/>
              </a:rPr>
              <a:t>_</a:t>
            </a:r>
            <a:r>
              <a:rPr lang="en-US" i="1" dirty="0" err="1">
                <a:solidFill>
                  <a:srgbClr val="374151"/>
                </a:solidFill>
                <a:latin typeface="KaTeX_Math"/>
              </a:rPr>
              <a:t>green</a:t>
            </a:r>
            <a:r>
              <a:rPr lang="en-US" dirty="0" err="1">
                <a:solidFill>
                  <a:srgbClr val="374151"/>
                </a:solidFill>
                <a:latin typeface="KaTeX_Main"/>
              </a:rPr>
              <a:t>∧</a:t>
            </a:r>
            <a:r>
              <a:rPr lang="en-US" i="1" dirty="0" err="1">
                <a:solidFill>
                  <a:srgbClr val="374151"/>
                </a:solidFill>
                <a:latin typeface="KaTeX_Math"/>
              </a:rPr>
              <a:t>F</a:t>
            </a:r>
            <a:r>
              <a:rPr lang="en-US" dirty="0">
                <a:solidFill>
                  <a:srgbClr val="374151"/>
                </a:solidFill>
                <a:latin typeface="KaTeX_Main"/>
              </a:rPr>
              <a:t>(</a:t>
            </a:r>
            <a:r>
              <a:rPr lang="en-US" dirty="0" err="1">
                <a:solidFill>
                  <a:srgbClr val="374151"/>
                </a:solidFill>
                <a:latin typeface="KaTeX_Main"/>
              </a:rPr>
              <a:t>duration≥min_duration</a:t>
            </a:r>
            <a:r>
              <a:rPr lang="en-US" dirty="0">
                <a:solidFill>
                  <a:srgbClr val="374151"/>
                </a:solidFill>
                <a:latin typeface="KaTeX_Main"/>
              </a:rPr>
              <a:t>)))</a:t>
            </a:r>
            <a:endParaRPr lang="en-US" dirty="0">
              <a:solidFill>
                <a:srgbClr val="374151"/>
              </a:solidFill>
              <a:latin typeface="Söhne"/>
            </a:endParaRPr>
          </a:p>
          <a:p>
            <a:pPr lvl="1"/>
            <a:r>
              <a:rPr lang="en-US" i="1" dirty="0">
                <a:solidFill>
                  <a:srgbClr val="374151"/>
                </a:solidFill>
                <a:latin typeface="Söhne"/>
              </a:rPr>
              <a:t>Interpretation:</a:t>
            </a:r>
            <a:r>
              <a:rPr lang="en-US" dirty="0">
                <a:solidFill>
                  <a:srgbClr val="374151"/>
                </a:solidFill>
                <a:latin typeface="Söhne"/>
              </a:rPr>
              <a:t> Whenever NS gets a green light, in the next state, NS should still have a green light, and eventually, the duration should be greater than or equal to a minimum threshold.</a:t>
            </a:r>
          </a:p>
          <a:p>
            <a:r>
              <a:rPr lang="en-US" b="1" dirty="0" smtClean="0">
                <a:solidFill>
                  <a:srgbClr val="374151"/>
                </a:solidFill>
                <a:latin typeface="Söhne"/>
              </a:rPr>
              <a:t>5) Fault </a:t>
            </a:r>
            <a:r>
              <a:rPr lang="en-US" b="1" dirty="0">
                <a:solidFill>
                  <a:srgbClr val="374151"/>
                </a:solidFill>
                <a:latin typeface="Söhne"/>
              </a:rPr>
              <a:t>Tolerance - Emergency Stop:</a:t>
            </a:r>
            <a:endParaRPr lang="en-US" dirty="0">
              <a:solidFill>
                <a:srgbClr val="374151"/>
              </a:solidFill>
              <a:latin typeface="Söhne"/>
            </a:endParaRPr>
          </a:p>
          <a:p>
            <a:pPr lvl="1"/>
            <a:r>
              <a:rPr lang="en-US" i="1" dirty="0">
                <a:solidFill>
                  <a:srgbClr val="374151"/>
                </a:solidFill>
                <a:latin typeface="Söhne"/>
              </a:rPr>
              <a:t>Scenario:</a:t>
            </a:r>
            <a:r>
              <a:rPr lang="en-US" dirty="0">
                <a:solidFill>
                  <a:srgbClr val="374151"/>
                </a:solidFill>
                <a:latin typeface="Söhne"/>
              </a:rPr>
              <a:t> In case of a system malfunction or emergency, the lights should immediately switch to a safe state.</a:t>
            </a:r>
          </a:p>
          <a:p>
            <a:pPr lvl="1"/>
            <a:r>
              <a:rPr lang="en-US" i="1" dirty="0">
                <a:solidFill>
                  <a:srgbClr val="374151"/>
                </a:solidFill>
                <a:latin typeface="Söhne"/>
              </a:rPr>
              <a:t>Temporal Logic Specification:</a:t>
            </a:r>
            <a:r>
              <a:rPr lang="en-US" dirty="0">
                <a:solidFill>
                  <a:srgbClr val="374151"/>
                </a:solidFill>
                <a:latin typeface="Söhne"/>
              </a:rPr>
              <a:t> </a:t>
            </a:r>
            <a:r>
              <a:rPr lang="en-US" i="1" dirty="0" smtClean="0">
                <a:solidFill>
                  <a:srgbClr val="374151"/>
                </a:solidFill>
                <a:latin typeface="KaTeX_Math"/>
              </a:rPr>
              <a:t>G</a:t>
            </a:r>
            <a:r>
              <a:rPr lang="en-US" dirty="0" smtClean="0">
                <a:solidFill>
                  <a:srgbClr val="374151"/>
                </a:solidFill>
                <a:latin typeface="KaTeX_Main"/>
              </a:rPr>
              <a:t>(</a:t>
            </a:r>
            <a:r>
              <a:rPr lang="en-US" i="1" dirty="0" err="1" smtClean="0">
                <a:solidFill>
                  <a:srgbClr val="374151"/>
                </a:solidFill>
                <a:latin typeface="KaTeX_Math"/>
              </a:rPr>
              <a:t>emergency</a:t>
            </a:r>
            <a:r>
              <a:rPr lang="en-US" dirty="0" err="1" smtClean="0">
                <a:solidFill>
                  <a:srgbClr val="374151"/>
                </a:solidFill>
                <a:latin typeface="KaTeX_Main"/>
              </a:rPr>
              <a:t>_</a:t>
            </a:r>
            <a:r>
              <a:rPr lang="en-US" i="1" dirty="0" err="1" smtClean="0">
                <a:solidFill>
                  <a:srgbClr val="374151"/>
                </a:solidFill>
                <a:latin typeface="KaTeX_Math"/>
              </a:rPr>
              <a:t>stop</a:t>
            </a:r>
            <a:r>
              <a:rPr lang="en-US" dirty="0" err="1">
                <a:solidFill>
                  <a:srgbClr val="374151"/>
                </a:solidFill>
                <a:latin typeface="KaTeX_Main"/>
              </a:rPr>
              <a:t>→</a:t>
            </a:r>
            <a:r>
              <a:rPr lang="en-US" i="1" dirty="0" err="1">
                <a:solidFill>
                  <a:srgbClr val="374151"/>
                </a:solidFill>
                <a:latin typeface="KaTeX_Math"/>
              </a:rPr>
              <a:t>X</a:t>
            </a:r>
            <a:r>
              <a:rPr lang="en-US" dirty="0">
                <a:solidFill>
                  <a:srgbClr val="374151"/>
                </a:solidFill>
                <a:latin typeface="KaTeX_Main"/>
              </a:rPr>
              <a:t>(</a:t>
            </a:r>
            <a:r>
              <a:rPr lang="en-US" i="1" dirty="0" err="1">
                <a:solidFill>
                  <a:srgbClr val="374151"/>
                </a:solidFill>
                <a:latin typeface="KaTeX_Math"/>
              </a:rPr>
              <a:t>NS</a:t>
            </a:r>
            <a:r>
              <a:rPr lang="en-US" dirty="0" err="1">
                <a:solidFill>
                  <a:srgbClr val="374151"/>
                </a:solidFill>
                <a:latin typeface="KaTeX_Main"/>
              </a:rPr>
              <a:t>_</a:t>
            </a:r>
            <a:r>
              <a:rPr lang="en-US" i="1" dirty="0" err="1">
                <a:solidFill>
                  <a:srgbClr val="374151"/>
                </a:solidFill>
                <a:latin typeface="KaTeX_Math"/>
              </a:rPr>
              <a:t>red</a:t>
            </a:r>
            <a:r>
              <a:rPr lang="en-US" dirty="0" err="1">
                <a:solidFill>
                  <a:srgbClr val="374151"/>
                </a:solidFill>
                <a:latin typeface="KaTeX_Main"/>
              </a:rPr>
              <a:t>∧</a:t>
            </a:r>
            <a:r>
              <a:rPr lang="en-US" i="1" dirty="0" err="1">
                <a:solidFill>
                  <a:srgbClr val="374151"/>
                </a:solidFill>
                <a:latin typeface="KaTeX_Math"/>
              </a:rPr>
              <a:t>EW</a:t>
            </a:r>
            <a:r>
              <a:rPr lang="en-US" dirty="0" err="1">
                <a:solidFill>
                  <a:srgbClr val="374151"/>
                </a:solidFill>
                <a:latin typeface="KaTeX_Main"/>
              </a:rPr>
              <a:t>_</a:t>
            </a:r>
            <a:r>
              <a:rPr lang="en-US" i="1" dirty="0" err="1">
                <a:solidFill>
                  <a:srgbClr val="374151"/>
                </a:solidFill>
                <a:latin typeface="KaTeX_Math"/>
              </a:rPr>
              <a:t>red</a:t>
            </a:r>
            <a:r>
              <a:rPr lang="en-US" dirty="0">
                <a:solidFill>
                  <a:srgbClr val="374151"/>
                </a:solidFill>
                <a:latin typeface="KaTeX_Main"/>
              </a:rPr>
              <a:t>))</a:t>
            </a:r>
            <a:endParaRPr lang="en-US" dirty="0">
              <a:solidFill>
                <a:srgbClr val="374151"/>
              </a:solidFill>
              <a:latin typeface="Söhne"/>
            </a:endParaRPr>
          </a:p>
          <a:p>
            <a:pPr lvl="1"/>
            <a:r>
              <a:rPr lang="en-US" i="1" dirty="0">
                <a:solidFill>
                  <a:srgbClr val="374151"/>
                </a:solidFill>
                <a:latin typeface="Söhne"/>
              </a:rPr>
              <a:t>Interpretation:</a:t>
            </a:r>
            <a:r>
              <a:rPr lang="en-US" dirty="0">
                <a:solidFill>
                  <a:srgbClr val="374151"/>
                </a:solidFill>
                <a:latin typeface="Söhne"/>
              </a:rPr>
              <a:t> If there is an emergency stop, in the next state, both NS and EW lights should be red.</a:t>
            </a:r>
            <a:endParaRPr lang="en-US" b="0" i="0" dirty="0">
              <a:solidFill>
                <a:srgbClr val="374151"/>
              </a:solidFill>
              <a:effectLst/>
              <a:latin typeface="Söhne"/>
            </a:endParaRPr>
          </a:p>
        </p:txBody>
      </p:sp>
    </p:spTree>
    <p:extLst>
      <p:ext uri="{BB962C8B-B14F-4D97-AF65-F5344CB8AC3E}">
        <p14:creationId xmlns:p14="http://schemas.microsoft.com/office/powerpoint/2010/main" val="1116584375"/>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2800" b="1" spc="-1" dirty="0">
                <a:solidFill>
                  <a:srgbClr val="FF0000"/>
                </a:solidFill>
                <a:latin typeface="Gill Sans"/>
                <a:ea typeface="Gill Sans"/>
              </a:rPr>
              <a:t>C</a:t>
            </a:r>
            <a:r>
              <a:rPr lang="en-US" sz="2800" b="1" spc="-1" dirty="0" smtClean="0">
                <a:solidFill>
                  <a:srgbClr val="FF0000"/>
                </a:solidFill>
                <a:latin typeface="Gill Sans"/>
                <a:ea typeface="Gill Sans"/>
              </a:rPr>
              <a:t>onsider </a:t>
            </a:r>
            <a:r>
              <a:rPr lang="en-US" sz="2800" b="1" spc="-1" dirty="0">
                <a:solidFill>
                  <a:srgbClr val="FF0000"/>
                </a:solidFill>
                <a:latin typeface="Gill Sans"/>
                <a:ea typeface="Gill Sans"/>
              </a:rPr>
              <a:t>a scenario and formulate temporal logic specifications to capture certain properties related to that scenario.</a:t>
            </a:r>
            <a:endParaRPr lang="en-US" sz="2800" b="1" strike="noStrike"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1440">
              <a:lnSpc>
                <a:spcPct val="100000"/>
              </a:lnSpc>
              <a:spcAft>
                <a:spcPts val="600"/>
              </a:spcAft>
              <a:buClr>
                <a:srgbClr val="4590B8"/>
              </a:buClr>
            </a:pPr>
            <a:r>
              <a:rPr lang="en-US" sz="2000" b="1" spc="-1" dirty="0">
                <a:solidFill>
                  <a:srgbClr val="3D3D3D"/>
                </a:solidFill>
                <a:latin typeface="Times New Roman" panose="02020603050405020304" pitchFamily="18" charset="0"/>
                <a:ea typeface="Gill Sans"/>
                <a:cs typeface="Times New Roman" panose="02020603050405020304" pitchFamily="18" charset="0"/>
              </a:rPr>
              <a:t>3</a:t>
            </a: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 </a:t>
            </a:r>
            <a:r>
              <a:rPr lang="en-US" sz="2000" b="1" spc="-1" dirty="0">
                <a:solidFill>
                  <a:srgbClr val="3D3D3D"/>
                </a:solidFill>
                <a:latin typeface="Times New Roman" panose="02020603050405020304" pitchFamily="18" charset="0"/>
                <a:ea typeface="Gill Sans"/>
                <a:cs typeface="Times New Roman" panose="02020603050405020304" pitchFamily="18" charset="0"/>
              </a:rPr>
              <a:t>You have a vending machine that dispenses different types of beverages (e.g., coffee, tea, and soda). Customers insert money, make a selection, and receive their chosen beverage</a:t>
            </a: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a:t>
            </a:r>
          </a:p>
          <a:p>
            <a:pPr marL="1440">
              <a:lnSpc>
                <a:spcPct val="100000"/>
              </a:lnSpc>
              <a:spcAft>
                <a:spcPts val="600"/>
              </a:spcAft>
              <a:buClr>
                <a:srgbClr val="4590B8"/>
              </a:buClr>
            </a:pPr>
            <a:r>
              <a:rPr lang="en-US" sz="2000" b="1" spc="-1" dirty="0" smtClean="0">
                <a:solidFill>
                  <a:srgbClr val="FF0000"/>
                </a:solidFill>
                <a:latin typeface="Times New Roman" panose="02020603050405020304" pitchFamily="18" charset="0"/>
                <a:ea typeface="Gill Sans"/>
                <a:cs typeface="Times New Roman" panose="02020603050405020304" pitchFamily="18" charset="0"/>
              </a:rPr>
              <a:t>Temporal logic Specification</a:t>
            </a:r>
          </a:p>
          <a:p>
            <a:r>
              <a:rPr lang="en-US" sz="2000" spc="-1" dirty="0" smtClean="0">
                <a:solidFill>
                  <a:srgbClr val="3D3D3D"/>
                </a:solidFill>
                <a:latin typeface="Times New Roman" panose="02020603050405020304" pitchFamily="18" charset="0"/>
                <a:cs typeface="Times New Roman" panose="02020603050405020304" pitchFamily="18" charset="0"/>
              </a:rPr>
              <a:t>1) </a:t>
            </a:r>
            <a:r>
              <a:rPr lang="en-US" b="1" dirty="0"/>
              <a:t>Safety Property - Proper Change Dispensing:</a:t>
            </a:r>
            <a:endParaRPr lang="en-US" dirty="0"/>
          </a:p>
          <a:p>
            <a:pPr lvl="1"/>
            <a:r>
              <a:rPr lang="en-US" i="1" dirty="0"/>
              <a:t>Scenario:</a:t>
            </a:r>
            <a:r>
              <a:rPr lang="en-US" dirty="0"/>
              <a:t> When a customer makes a purchase, the vending machine should dispense the correct change.</a:t>
            </a:r>
          </a:p>
          <a:p>
            <a:pPr lvl="1"/>
            <a:r>
              <a:rPr lang="en-US" i="1" dirty="0"/>
              <a:t>Temporal Logic Specification:</a:t>
            </a:r>
            <a:r>
              <a:rPr lang="en-US" dirty="0"/>
              <a:t> </a:t>
            </a:r>
            <a:r>
              <a:rPr lang="en-US" i="1" dirty="0" smtClean="0"/>
              <a:t>G</a:t>
            </a:r>
            <a:r>
              <a:rPr lang="en-US" dirty="0" smtClean="0"/>
              <a:t>(</a:t>
            </a:r>
            <a:r>
              <a:rPr lang="en-US" i="1" dirty="0" smtClean="0"/>
              <a:t>purchase</a:t>
            </a:r>
            <a:r>
              <a:rPr lang="en-US" dirty="0"/>
              <a:t>→(</a:t>
            </a:r>
            <a:r>
              <a:rPr lang="en-US" i="1" dirty="0" err="1"/>
              <a:t>Xchange</a:t>
            </a:r>
            <a:r>
              <a:rPr lang="en-US" dirty="0" err="1"/>
              <a:t>_</a:t>
            </a:r>
            <a:r>
              <a:rPr lang="en-US" i="1" dirty="0" err="1"/>
              <a:t>dispensed</a:t>
            </a:r>
            <a:r>
              <a:rPr lang="en-US" dirty="0" err="1"/>
              <a:t>∧</a:t>
            </a:r>
            <a:r>
              <a:rPr lang="en-US" i="1" dirty="0" err="1"/>
              <a:t>F</a:t>
            </a:r>
            <a:r>
              <a:rPr lang="en-US" dirty="0"/>
              <a:t>(</a:t>
            </a:r>
            <a:r>
              <a:rPr lang="en-US" i="1" dirty="0" err="1"/>
              <a:t>correct</a:t>
            </a:r>
            <a:r>
              <a:rPr lang="en-US" dirty="0" err="1"/>
              <a:t>_</a:t>
            </a:r>
            <a:r>
              <a:rPr lang="en-US" i="1" dirty="0" err="1"/>
              <a:t>change</a:t>
            </a:r>
            <a:r>
              <a:rPr lang="en-US" dirty="0"/>
              <a:t>)))</a:t>
            </a:r>
          </a:p>
          <a:p>
            <a:pPr lvl="1"/>
            <a:r>
              <a:rPr lang="en-US" i="1" dirty="0"/>
              <a:t>Interpretation:</a:t>
            </a:r>
            <a:r>
              <a:rPr lang="en-US" dirty="0"/>
              <a:t> Whenever a customer makes a purchase, in the next state, change should be dispensed, and eventually, it should be the correct amount.</a:t>
            </a:r>
          </a:p>
          <a:p>
            <a:r>
              <a:rPr lang="en-US" b="1" dirty="0" smtClean="0"/>
              <a:t>2) Liveness </a:t>
            </a:r>
            <a:r>
              <a:rPr lang="en-US" b="1" dirty="0"/>
              <a:t>Property - Availability of All Beverages:</a:t>
            </a:r>
            <a:endParaRPr lang="en-US" dirty="0"/>
          </a:p>
          <a:p>
            <a:pPr lvl="1"/>
            <a:r>
              <a:rPr lang="en-US" i="1" dirty="0"/>
              <a:t>Scenario:</a:t>
            </a:r>
            <a:r>
              <a:rPr lang="en-US" dirty="0"/>
              <a:t> All available beverages should be accessible to customers.</a:t>
            </a:r>
          </a:p>
          <a:p>
            <a:pPr lvl="1"/>
            <a:r>
              <a:rPr lang="en-US" i="1" dirty="0"/>
              <a:t>Temporal Logic Specification:</a:t>
            </a:r>
            <a:r>
              <a:rPr lang="en-US" dirty="0"/>
              <a:t> </a:t>
            </a:r>
            <a:r>
              <a:rPr lang="en-US" i="1" dirty="0" smtClean="0"/>
              <a:t>G</a:t>
            </a:r>
            <a:r>
              <a:rPr lang="en-US" dirty="0" smtClean="0"/>
              <a:t>(</a:t>
            </a:r>
            <a:r>
              <a:rPr lang="en-US" i="1" dirty="0" smtClean="0"/>
              <a:t>F</a:t>
            </a:r>
            <a:r>
              <a:rPr lang="en-US" dirty="0" smtClean="0"/>
              <a:t>(</a:t>
            </a:r>
            <a:r>
              <a:rPr lang="en-US" i="1" dirty="0" smtClean="0"/>
              <a:t>coffee</a:t>
            </a:r>
            <a:r>
              <a:rPr lang="en-US" dirty="0"/>
              <a:t>))∧</a:t>
            </a:r>
            <a:r>
              <a:rPr lang="en-US" i="1" dirty="0"/>
              <a:t>G</a:t>
            </a:r>
            <a:r>
              <a:rPr lang="en-US" dirty="0"/>
              <a:t>(</a:t>
            </a:r>
            <a:r>
              <a:rPr lang="en-US" i="1" dirty="0"/>
              <a:t>F</a:t>
            </a:r>
            <a:r>
              <a:rPr lang="en-US" dirty="0"/>
              <a:t>(</a:t>
            </a:r>
            <a:r>
              <a:rPr lang="en-US" i="1" dirty="0"/>
              <a:t>tea</a:t>
            </a:r>
            <a:r>
              <a:rPr lang="en-US" dirty="0"/>
              <a:t>))∧</a:t>
            </a:r>
            <a:r>
              <a:rPr lang="en-US" i="1" dirty="0"/>
              <a:t>G</a:t>
            </a:r>
            <a:r>
              <a:rPr lang="en-US" dirty="0"/>
              <a:t>(</a:t>
            </a:r>
            <a:r>
              <a:rPr lang="en-US" i="1" dirty="0"/>
              <a:t>F</a:t>
            </a:r>
            <a:r>
              <a:rPr lang="en-US" dirty="0"/>
              <a:t>(</a:t>
            </a:r>
            <a:r>
              <a:rPr lang="en-US" i="1" dirty="0"/>
              <a:t>soda</a:t>
            </a:r>
            <a:r>
              <a:rPr lang="en-US" dirty="0"/>
              <a:t>))</a:t>
            </a:r>
          </a:p>
          <a:p>
            <a:pPr lvl="1"/>
            <a:r>
              <a:rPr lang="en-US" i="1" dirty="0"/>
              <a:t>Interpretation:</a:t>
            </a:r>
            <a:r>
              <a:rPr lang="en-US" dirty="0"/>
              <a:t> It is always the case that eventually coffee, tea, and soda will be available for selection.</a:t>
            </a:r>
          </a:p>
        </p:txBody>
      </p:sp>
    </p:spTree>
    <p:extLst>
      <p:ext uri="{BB962C8B-B14F-4D97-AF65-F5344CB8AC3E}">
        <p14:creationId xmlns:p14="http://schemas.microsoft.com/office/powerpoint/2010/main" val="188016610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2800" b="1" spc="-1" dirty="0">
                <a:solidFill>
                  <a:srgbClr val="FF0000"/>
                </a:solidFill>
                <a:latin typeface="Gill Sans"/>
                <a:ea typeface="Gill Sans"/>
              </a:rPr>
              <a:t>C</a:t>
            </a:r>
            <a:r>
              <a:rPr lang="en-US" sz="2800" b="1" spc="-1" dirty="0" smtClean="0">
                <a:solidFill>
                  <a:srgbClr val="FF0000"/>
                </a:solidFill>
                <a:latin typeface="Gill Sans"/>
                <a:ea typeface="Gill Sans"/>
              </a:rPr>
              <a:t>onsider </a:t>
            </a:r>
            <a:r>
              <a:rPr lang="en-US" sz="2800" b="1" spc="-1" dirty="0">
                <a:solidFill>
                  <a:srgbClr val="FF0000"/>
                </a:solidFill>
                <a:latin typeface="Gill Sans"/>
                <a:ea typeface="Gill Sans"/>
              </a:rPr>
              <a:t>a scenario and formulate temporal logic specifications to capture certain properties related to that scenario.</a:t>
            </a:r>
            <a:endParaRPr lang="en-US" sz="2800" b="1" strike="noStrike"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b="1" dirty="0" smtClean="0">
                <a:solidFill>
                  <a:srgbClr val="374151"/>
                </a:solidFill>
                <a:latin typeface="Söhne"/>
              </a:rPr>
              <a:t>3) </a:t>
            </a:r>
            <a:r>
              <a:rPr lang="en-US" b="1" dirty="0"/>
              <a:t>Concurrency Control - One Purchase at a Time:</a:t>
            </a:r>
            <a:endParaRPr lang="en-US" dirty="0"/>
          </a:p>
          <a:p>
            <a:pPr lvl="1"/>
            <a:r>
              <a:rPr lang="en-US" i="1" dirty="0"/>
              <a:t>Scenario:</a:t>
            </a:r>
            <a:r>
              <a:rPr lang="en-US" dirty="0"/>
              <a:t> Only one customer should be able to make a purchase at a time.</a:t>
            </a:r>
          </a:p>
          <a:p>
            <a:pPr lvl="1"/>
            <a:r>
              <a:rPr lang="en-US" i="1" dirty="0"/>
              <a:t>Temporal Logic Specification:</a:t>
            </a:r>
            <a:r>
              <a:rPr lang="en-US" dirty="0"/>
              <a:t> </a:t>
            </a:r>
            <a:r>
              <a:rPr lang="en-US" i="1" dirty="0" smtClean="0"/>
              <a:t>G</a:t>
            </a:r>
            <a:r>
              <a:rPr lang="en-US" dirty="0"/>
              <a:t>(¬(</a:t>
            </a:r>
            <a:r>
              <a:rPr lang="en-US" i="1" dirty="0" err="1"/>
              <a:t>purchase</a:t>
            </a:r>
            <a:r>
              <a:rPr lang="en-US" dirty="0" err="1"/>
              <a:t>∧</a:t>
            </a:r>
            <a:r>
              <a:rPr lang="en-US" i="1" dirty="0" err="1"/>
              <a:t>Xpurchase</a:t>
            </a:r>
            <a:r>
              <a:rPr lang="en-US" dirty="0"/>
              <a:t>))</a:t>
            </a:r>
          </a:p>
          <a:p>
            <a:pPr lvl="1"/>
            <a:r>
              <a:rPr lang="en-US" i="1" dirty="0"/>
              <a:t>Interpretation:</a:t>
            </a:r>
            <a:r>
              <a:rPr lang="en-US" dirty="0"/>
              <a:t> It is always the case that purchases are not made simultaneously, ensuring only one customer can make a purchase at a time.</a:t>
            </a:r>
          </a:p>
          <a:p>
            <a:r>
              <a:rPr lang="en-US" b="1" dirty="0"/>
              <a:t>Real-Time Constraint - Maximum Transaction Time:</a:t>
            </a:r>
            <a:endParaRPr lang="en-US" dirty="0"/>
          </a:p>
          <a:p>
            <a:pPr lvl="1"/>
            <a:r>
              <a:rPr lang="en-US" i="1" dirty="0"/>
              <a:t>Scenario:</a:t>
            </a:r>
            <a:r>
              <a:rPr lang="en-US" dirty="0"/>
              <a:t> Each transaction, from money insertion to beverage dispensing, should take less than a specified maximum time.</a:t>
            </a:r>
          </a:p>
          <a:p>
            <a:pPr lvl="1"/>
            <a:r>
              <a:rPr lang="en-US" i="1" dirty="0"/>
              <a:t>Temporal Logic Specification:</a:t>
            </a:r>
            <a:r>
              <a:rPr lang="en-US" dirty="0"/>
              <a:t> </a:t>
            </a:r>
            <a:r>
              <a:rPr lang="en-US" i="1" dirty="0" smtClean="0"/>
              <a:t>G</a:t>
            </a:r>
            <a:r>
              <a:rPr lang="en-US" dirty="0" smtClean="0"/>
              <a:t>(</a:t>
            </a:r>
            <a:r>
              <a:rPr lang="en-US" i="1" dirty="0" err="1" smtClean="0"/>
              <a:t>money</a:t>
            </a:r>
            <a:r>
              <a:rPr lang="en-US" dirty="0" err="1" smtClean="0"/>
              <a:t>_</a:t>
            </a:r>
            <a:r>
              <a:rPr lang="en-US" i="1" dirty="0" err="1" smtClean="0"/>
              <a:t>inserted</a:t>
            </a:r>
            <a:r>
              <a:rPr lang="en-US" dirty="0"/>
              <a:t>→(</a:t>
            </a:r>
            <a:r>
              <a:rPr lang="en-US" i="1" dirty="0" err="1"/>
              <a:t>Xbeverage</a:t>
            </a:r>
            <a:r>
              <a:rPr lang="en-US" dirty="0" err="1"/>
              <a:t>_</a:t>
            </a:r>
            <a:r>
              <a:rPr lang="en-US" i="1" dirty="0" err="1"/>
              <a:t>dispensed</a:t>
            </a:r>
            <a:r>
              <a:rPr lang="en-US" dirty="0" err="1"/>
              <a:t>∧</a:t>
            </a:r>
            <a:r>
              <a:rPr lang="en-US" i="1" dirty="0" err="1"/>
              <a:t>F</a:t>
            </a:r>
            <a:r>
              <a:rPr lang="en-US" dirty="0"/>
              <a:t>(</a:t>
            </a:r>
            <a:r>
              <a:rPr lang="en-US" i="1" dirty="0" err="1"/>
              <a:t>transaction</a:t>
            </a:r>
            <a:r>
              <a:rPr lang="en-US" dirty="0" err="1"/>
              <a:t>_</a:t>
            </a:r>
            <a:r>
              <a:rPr lang="en-US" i="1" dirty="0" err="1"/>
              <a:t>time</a:t>
            </a:r>
            <a:r>
              <a:rPr lang="en-US" dirty="0"/>
              <a:t>&lt;</a:t>
            </a:r>
            <a:r>
              <a:rPr lang="en-US" i="1" dirty="0" err="1"/>
              <a:t>max</a:t>
            </a:r>
            <a:r>
              <a:rPr lang="en-US" dirty="0" err="1"/>
              <a:t>_</a:t>
            </a:r>
            <a:r>
              <a:rPr lang="en-US" i="1" dirty="0" err="1"/>
              <a:t>time</a:t>
            </a:r>
            <a:r>
              <a:rPr lang="en-US" dirty="0"/>
              <a:t>)))</a:t>
            </a:r>
          </a:p>
          <a:p>
            <a:pPr lvl="1"/>
            <a:r>
              <a:rPr lang="en-US" i="1" dirty="0"/>
              <a:t>Interpretation:</a:t>
            </a:r>
            <a:r>
              <a:rPr lang="en-US" dirty="0"/>
              <a:t> Whenever money is inserted, in the next state, a beverage should be dispensed, and eventually, the transaction time should be less than the maximum allowed time.</a:t>
            </a:r>
          </a:p>
          <a:p>
            <a:r>
              <a:rPr lang="en-US" b="1" dirty="0"/>
              <a:t>Fault Tolerance - Refund for Out-of-Stock Item:</a:t>
            </a:r>
            <a:endParaRPr lang="en-US" dirty="0"/>
          </a:p>
          <a:p>
            <a:pPr lvl="1"/>
            <a:r>
              <a:rPr lang="en-US" i="1" dirty="0"/>
              <a:t>Scenario:</a:t>
            </a:r>
            <a:r>
              <a:rPr lang="en-US" dirty="0"/>
              <a:t> If a selected beverage is out of stock, the vending machine should refund the customer.</a:t>
            </a:r>
          </a:p>
          <a:p>
            <a:pPr lvl="1"/>
            <a:r>
              <a:rPr lang="en-US" i="1" dirty="0"/>
              <a:t>Temporal Logic Specification:</a:t>
            </a:r>
            <a:r>
              <a:rPr lang="en-US" dirty="0"/>
              <a:t> </a:t>
            </a:r>
            <a:r>
              <a:rPr lang="en-US" i="1" dirty="0" smtClean="0"/>
              <a:t>G</a:t>
            </a:r>
            <a:r>
              <a:rPr lang="en-US" dirty="0" smtClean="0"/>
              <a:t>(</a:t>
            </a:r>
            <a:r>
              <a:rPr lang="en-US" i="1" dirty="0" err="1" smtClean="0"/>
              <a:t>out</a:t>
            </a:r>
            <a:r>
              <a:rPr lang="en-US" dirty="0" err="1" smtClean="0"/>
              <a:t>_</a:t>
            </a:r>
            <a:r>
              <a:rPr lang="en-US" i="1" dirty="0" err="1" smtClean="0"/>
              <a:t>of</a:t>
            </a:r>
            <a:r>
              <a:rPr lang="en-US" dirty="0" err="1" smtClean="0"/>
              <a:t>_</a:t>
            </a:r>
            <a:r>
              <a:rPr lang="en-US" i="1" dirty="0" err="1" smtClean="0"/>
              <a:t>stock</a:t>
            </a:r>
            <a:r>
              <a:rPr lang="en-US" dirty="0" err="1"/>
              <a:t>→</a:t>
            </a:r>
            <a:r>
              <a:rPr lang="en-US" i="1" dirty="0" err="1"/>
              <a:t>Xrefund</a:t>
            </a:r>
            <a:r>
              <a:rPr lang="en-US" dirty="0" err="1"/>
              <a:t>_</a:t>
            </a:r>
            <a:r>
              <a:rPr lang="en-US" i="1" dirty="0" err="1"/>
              <a:t>issued</a:t>
            </a:r>
            <a:r>
              <a:rPr lang="en-US" dirty="0"/>
              <a:t>)</a:t>
            </a:r>
          </a:p>
          <a:p>
            <a:pPr lvl="1"/>
            <a:r>
              <a:rPr lang="en-US" i="1" dirty="0"/>
              <a:t>Interpretation:</a:t>
            </a:r>
            <a:r>
              <a:rPr lang="en-US" dirty="0"/>
              <a:t> If a selected beverage is out of stock, in the next state, a refund should be issued.</a:t>
            </a:r>
          </a:p>
        </p:txBody>
      </p:sp>
    </p:spTree>
    <p:extLst>
      <p:ext uri="{BB962C8B-B14F-4D97-AF65-F5344CB8AC3E}">
        <p14:creationId xmlns:p14="http://schemas.microsoft.com/office/powerpoint/2010/main" val="3340093000"/>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2800" b="1" spc="-1" dirty="0">
                <a:solidFill>
                  <a:srgbClr val="FF0000"/>
                </a:solidFill>
                <a:latin typeface="Gill Sans"/>
                <a:ea typeface="Gill Sans"/>
              </a:rPr>
              <a:t>C</a:t>
            </a:r>
            <a:r>
              <a:rPr lang="en-US" sz="2800" b="1" spc="-1" dirty="0" smtClean="0">
                <a:solidFill>
                  <a:srgbClr val="FF0000"/>
                </a:solidFill>
                <a:latin typeface="Gill Sans"/>
                <a:ea typeface="Gill Sans"/>
              </a:rPr>
              <a:t>onsider </a:t>
            </a:r>
            <a:r>
              <a:rPr lang="en-US" sz="2800" b="1" spc="-1" dirty="0">
                <a:solidFill>
                  <a:srgbClr val="FF0000"/>
                </a:solidFill>
                <a:latin typeface="Gill Sans"/>
                <a:ea typeface="Gill Sans"/>
              </a:rPr>
              <a:t>a scenario and formulate temporal logic specifications to capture certain properties related to that scenario.</a:t>
            </a:r>
            <a:endParaRPr lang="en-US" sz="2800" b="1" strike="noStrike"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1440">
              <a:lnSpc>
                <a:spcPct val="100000"/>
              </a:lnSpc>
              <a:spcAft>
                <a:spcPts val="600"/>
              </a:spcAft>
              <a:buClr>
                <a:srgbClr val="4590B8"/>
              </a:buClr>
            </a:pPr>
            <a:r>
              <a:rPr lang="en-US" sz="2000" b="1" spc="-1" dirty="0">
                <a:solidFill>
                  <a:srgbClr val="3D3D3D"/>
                </a:solidFill>
                <a:latin typeface="Times New Roman" panose="02020603050405020304" pitchFamily="18" charset="0"/>
                <a:ea typeface="Gill Sans"/>
                <a:cs typeface="Times New Roman" panose="02020603050405020304" pitchFamily="18" charset="0"/>
              </a:rPr>
              <a:t>4</a:t>
            </a: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 </a:t>
            </a:r>
            <a:r>
              <a:rPr lang="en-US" sz="2000" b="1" spc="-1" dirty="0">
                <a:solidFill>
                  <a:srgbClr val="3D3D3D"/>
                </a:solidFill>
                <a:latin typeface="Times New Roman" panose="02020603050405020304" pitchFamily="18" charset="0"/>
                <a:ea typeface="Gill Sans"/>
                <a:cs typeface="Times New Roman" panose="02020603050405020304" pitchFamily="18" charset="0"/>
              </a:rPr>
              <a:t>An access control system is in place to manage entry and exit through an automated door in a secure facility. Authorized personnel use keycards to access the facility</a:t>
            </a: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a:t>
            </a:r>
          </a:p>
          <a:p>
            <a:pPr marL="1440">
              <a:lnSpc>
                <a:spcPct val="100000"/>
              </a:lnSpc>
              <a:spcAft>
                <a:spcPts val="600"/>
              </a:spcAft>
              <a:buClr>
                <a:srgbClr val="4590B8"/>
              </a:buClr>
            </a:pPr>
            <a:r>
              <a:rPr lang="en-US" sz="2000" b="1" spc="-1" dirty="0" smtClean="0">
                <a:solidFill>
                  <a:srgbClr val="FF0000"/>
                </a:solidFill>
                <a:latin typeface="Times New Roman" panose="02020603050405020304" pitchFamily="18" charset="0"/>
                <a:ea typeface="Gill Sans"/>
                <a:cs typeface="Times New Roman" panose="02020603050405020304" pitchFamily="18" charset="0"/>
              </a:rPr>
              <a:t>Temporal logic Specification</a:t>
            </a:r>
          </a:p>
          <a:p>
            <a:r>
              <a:rPr lang="en-US" sz="2000" spc="-1" dirty="0" smtClean="0">
                <a:solidFill>
                  <a:srgbClr val="3D3D3D"/>
                </a:solidFill>
                <a:latin typeface="Times New Roman" panose="02020603050405020304" pitchFamily="18" charset="0"/>
                <a:cs typeface="Times New Roman" panose="02020603050405020304" pitchFamily="18" charset="0"/>
              </a:rPr>
              <a:t>1) </a:t>
            </a:r>
            <a:r>
              <a:rPr lang="en-US" b="1" dirty="0"/>
              <a:t>Safety Property - Door Locking Mechanism:</a:t>
            </a:r>
            <a:endParaRPr lang="en-US" dirty="0"/>
          </a:p>
          <a:p>
            <a:pPr lvl="1"/>
            <a:r>
              <a:rPr lang="en-US" i="1" dirty="0"/>
              <a:t>Scenario:</a:t>
            </a:r>
            <a:r>
              <a:rPr lang="en-US" dirty="0"/>
              <a:t> The automated door should remain locked when not in use.</a:t>
            </a:r>
          </a:p>
          <a:p>
            <a:pPr lvl="1"/>
            <a:r>
              <a:rPr lang="en-US" i="1" dirty="0"/>
              <a:t>Temporal Logic Specification:</a:t>
            </a:r>
            <a:r>
              <a:rPr lang="en-US" dirty="0"/>
              <a:t> </a:t>
            </a:r>
            <a:r>
              <a:rPr lang="en-US" i="1" dirty="0" smtClean="0"/>
              <a:t>G</a:t>
            </a:r>
            <a:r>
              <a:rPr lang="en-US" dirty="0"/>
              <a:t>(¬(</a:t>
            </a:r>
            <a:r>
              <a:rPr lang="en-US" i="1" dirty="0" err="1"/>
              <a:t>access</a:t>
            </a:r>
            <a:r>
              <a:rPr lang="en-US" dirty="0" err="1"/>
              <a:t>_</a:t>
            </a:r>
            <a:r>
              <a:rPr lang="en-US" i="1" dirty="0" err="1"/>
              <a:t>requested</a:t>
            </a:r>
            <a:r>
              <a:rPr lang="en-US" dirty="0" err="1"/>
              <a:t>∧</a:t>
            </a:r>
            <a:r>
              <a:rPr lang="en-US" i="1" dirty="0" err="1"/>
              <a:t>door</a:t>
            </a:r>
            <a:r>
              <a:rPr lang="en-US" dirty="0" err="1"/>
              <a:t>_</a:t>
            </a:r>
            <a:r>
              <a:rPr lang="en-US" i="1" dirty="0" err="1"/>
              <a:t>unlocked</a:t>
            </a:r>
            <a:r>
              <a:rPr lang="en-US" dirty="0"/>
              <a:t>))</a:t>
            </a:r>
          </a:p>
          <a:p>
            <a:pPr lvl="1"/>
            <a:r>
              <a:rPr lang="en-US" i="1" dirty="0"/>
              <a:t>Interpretation:</a:t>
            </a:r>
            <a:r>
              <a:rPr lang="en-US" dirty="0"/>
              <a:t> It is always the case that when access is not requested, the door remains locked.</a:t>
            </a:r>
          </a:p>
          <a:p>
            <a:r>
              <a:rPr lang="en-US" b="1" dirty="0"/>
              <a:t>Liveness Property - Access for Authorized Personnel:</a:t>
            </a:r>
            <a:endParaRPr lang="en-US" dirty="0"/>
          </a:p>
          <a:p>
            <a:pPr lvl="1"/>
            <a:r>
              <a:rPr lang="en-US" i="1" dirty="0"/>
              <a:t>Scenario:</a:t>
            </a:r>
            <a:r>
              <a:rPr lang="en-US" dirty="0"/>
              <a:t> Authorized personnel should be able to access the facility when needed.</a:t>
            </a:r>
          </a:p>
          <a:p>
            <a:pPr lvl="1"/>
            <a:r>
              <a:rPr lang="en-US" i="1" dirty="0"/>
              <a:t>Temporal Logic Specification:</a:t>
            </a:r>
            <a:r>
              <a:rPr lang="en-US" dirty="0"/>
              <a:t> </a:t>
            </a:r>
            <a:r>
              <a:rPr lang="en-US" i="1" dirty="0" smtClean="0"/>
              <a:t>G</a:t>
            </a:r>
            <a:r>
              <a:rPr lang="en-US" dirty="0" smtClean="0"/>
              <a:t>(</a:t>
            </a:r>
            <a:r>
              <a:rPr lang="en-US" i="1" dirty="0" smtClean="0"/>
              <a:t>authorized</a:t>
            </a:r>
            <a:r>
              <a:rPr lang="en-US" dirty="0"/>
              <a:t>→(</a:t>
            </a:r>
            <a:r>
              <a:rPr lang="en-US" i="1" dirty="0" err="1"/>
              <a:t>Xaccess</a:t>
            </a:r>
            <a:r>
              <a:rPr lang="en-US" dirty="0" err="1"/>
              <a:t>_</a:t>
            </a:r>
            <a:r>
              <a:rPr lang="en-US" i="1" dirty="0" err="1"/>
              <a:t>requested</a:t>
            </a:r>
            <a:r>
              <a:rPr lang="en-US" dirty="0" err="1"/>
              <a:t>∧</a:t>
            </a:r>
            <a:r>
              <a:rPr lang="en-US" i="1" dirty="0" err="1"/>
              <a:t>F</a:t>
            </a:r>
            <a:r>
              <a:rPr lang="en-US" dirty="0"/>
              <a:t>(</a:t>
            </a:r>
            <a:r>
              <a:rPr lang="en-US" i="1" dirty="0" err="1"/>
              <a:t>door</a:t>
            </a:r>
            <a:r>
              <a:rPr lang="en-US" dirty="0" err="1"/>
              <a:t>_</a:t>
            </a:r>
            <a:r>
              <a:rPr lang="en-US" i="1" dirty="0" err="1"/>
              <a:t>unlocked</a:t>
            </a:r>
            <a:r>
              <a:rPr lang="en-US" dirty="0"/>
              <a:t>)))</a:t>
            </a:r>
          </a:p>
          <a:p>
            <a:pPr lvl="1"/>
            <a:r>
              <a:rPr lang="en-US" i="1" dirty="0"/>
              <a:t>Interpretation:</a:t>
            </a:r>
            <a:r>
              <a:rPr lang="en-US" dirty="0"/>
              <a:t> It is always the case that if a person is authorized, in the next state, access should be requested, and eventually, the door should be unlocked.</a:t>
            </a:r>
          </a:p>
        </p:txBody>
      </p:sp>
    </p:spTree>
    <p:extLst>
      <p:ext uri="{BB962C8B-B14F-4D97-AF65-F5344CB8AC3E}">
        <p14:creationId xmlns:p14="http://schemas.microsoft.com/office/powerpoint/2010/main" val="4170103955"/>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a:solidFill>
                  <a:srgbClr val="FF0000"/>
                </a:solidFill>
                <a:latin typeface="Gill Sans"/>
                <a:ea typeface="Gill Sans"/>
              </a:rPr>
              <a:t>C</a:t>
            </a:r>
            <a:r>
              <a:rPr lang="en-US" sz="2800" b="1" spc="-1" dirty="0" smtClean="0">
                <a:solidFill>
                  <a:srgbClr val="FF0000"/>
                </a:solidFill>
                <a:latin typeface="Gill Sans"/>
                <a:ea typeface="Gill Sans"/>
              </a:rPr>
              <a:t>onsider </a:t>
            </a:r>
            <a:r>
              <a:rPr lang="en-US" sz="2800" b="1" spc="-1" dirty="0">
                <a:solidFill>
                  <a:srgbClr val="FF0000"/>
                </a:solidFill>
                <a:latin typeface="Gill Sans"/>
                <a:ea typeface="Gill Sans"/>
              </a:rPr>
              <a:t>a scenario and formulate temporal logic specifications to capture certain properties related to that scenario.</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b="1" dirty="0" smtClean="0">
                <a:solidFill>
                  <a:srgbClr val="374151"/>
                </a:solidFill>
                <a:latin typeface="Söhne"/>
              </a:rPr>
              <a:t>3) </a:t>
            </a:r>
            <a:r>
              <a:rPr lang="en-US" b="1" dirty="0"/>
              <a:t>Concurrency Control - Exclusive Access Request:</a:t>
            </a:r>
            <a:endParaRPr lang="en-US" dirty="0"/>
          </a:p>
          <a:p>
            <a:pPr lvl="1"/>
            <a:r>
              <a:rPr lang="en-US" i="1" dirty="0"/>
              <a:t>Scenario:</a:t>
            </a:r>
            <a:r>
              <a:rPr lang="en-US" dirty="0"/>
              <a:t> Only one person should be able to request access at a time.</a:t>
            </a:r>
          </a:p>
          <a:p>
            <a:pPr lvl="1"/>
            <a:r>
              <a:rPr lang="en-US" i="1" dirty="0"/>
              <a:t>Temporal Logic Specification:</a:t>
            </a:r>
            <a:r>
              <a:rPr lang="en-US" dirty="0"/>
              <a:t> </a:t>
            </a:r>
            <a:r>
              <a:rPr lang="en-US" i="1" dirty="0" smtClean="0"/>
              <a:t>G</a:t>
            </a:r>
            <a:r>
              <a:rPr lang="en-US" dirty="0"/>
              <a:t>(¬(</a:t>
            </a:r>
            <a:r>
              <a:rPr lang="en-US" i="1" dirty="0" err="1"/>
              <a:t>access</a:t>
            </a:r>
            <a:r>
              <a:rPr lang="en-US" dirty="0" err="1"/>
              <a:t>_</a:t>
            </a:r>
            <a:r>
              <a:rPr lang="en-US" i="1" dirty="0" err="1"/>
              <a:t>requested</a:t>
            </a:r>
            <a:r>
              <a:rPr lang="en-US" dirty="0" err="1"/>
              <a:t>∧</a:t>
            </a:r>
            <a:r>
              <a:rPr lang="en-US" i="1" dirty="0" err="1"/>
              <a:t>Xaccess</a:t>
            </a:r>
            <a:r>
              <a:rPr lang="en-US" dirty="0" err="1"/>
              <a:t>_</a:t>
            </a:r>
            <a:r>
              <a:rPr lang="en-US" i="1" dirty="0" err="1"/>
              <a:t>requested</a:t>
            </a:r>
            <a:r>
              <a:rPr lang="en-US" dirty="0"/>
              <a:t>))</a:t>
            </a:r>
          </a:p>
          <a:p>
            <a:pPr lvl="1"/>
            <a:r>
              <a:rPr lang="en-US" i="1" dirty="0"/>
              <a:t>Interpretation:</a:t>
            </a:r>
            <a:r>
              <a:rPr lang="en-US" dirty="0"/>
              <a:t> It is always the case that access requests are not made simultaneously, ensuring exclusive access request control.</a:t>
            </a:r>
          </a:p>
          <a:p>
            <a:r>
              <a:rPr lang="en-US" b="1" dirty="0"/>
              <a:t>Real-Time Constraint - Time-Limited Access:</a:t>
            </a:r>
            <a:endParaRPr lang="en-US" dirty="0"/>
          </a:p>
          <a:p>
            <a:pPr lvl="1"/>
            <a:r>
              <a:rPr lang="en-US" i="1" dirty="0"/>
              <a:t>Scenario:</a:t>
            </a:r>
            <a:r>
              <a:rPr lang="en-US" dirty="0"/>
              <a:t> Once access is granted, it should be valid for a specified duration.</a:t>
            </a:r>
          </a:p>
          <a:p>
            <a:pPr lvl="1"/>
            <a:r>
              <a:rPr lang="en-US" i="1" dirty="0"/>
              <a:t>Temporal Logic Specification:</a:t>
            </a:r>
            <a:r>
              <a:rPr lang="en-US" dirty="0"/>
              <a:t> </a:t>
            </a:r>
            <a:r>
              <a:rPr lang="en-US" i="1" dirty="0" smtClean="0"/>
              <a:t>G</a:t>
            </a:r>
            <a:r>
              <a:rPr lang="en-US" dirty="0" smtClean="0"/>
              <a:t>(</a:t>
            </a:r>
            <a:r>
              <a:rPr lang="en-US" i="1" dirty="0" err="1" smtClean="0"/>
              <a:t>door</a:t>
            </a:r>
            <a:r>
              <a:rPr lang="en-US" dirty="0" err="1" smtClean="0"/>
              <a:t>_</a:t>
            </a:r>
            <a:r>
              <a:rPr lang="en-US" i="1" dirty="0" err="1" smtClean="0"/>
              <a:t>unlocked</a:t>
            </a:r>
            <a:r>
              <a:rPr lang="en-US" dirty="0"/>
              <a:t>→(</a:t>
            </a:r>
            <a:r>
              <a:rPr lang="en-US" i="1" dirty="0" err="1"/>
              <a:t>Xdoor</a:t>
            </a:r>
            <a:r>
              <a:rPr lang="en-US" dirty="0" err="1"/>
              <a:t>_</a:t>
            </a:r>
            <a:r>
              <a:rPr lang="en-US" i="1" dirty="0" err="1"/>
              <a:t>unlocked</a:t>
            </a:r>
            <a:r>
              <a:rPr lang="en-US" dirty="0" err="1"/>
              <a:t>∧</a:t>
            </a:r>
            <a:r>
              <a:rPr lang="en-US" i="1" dirty="0" err="1"/>
              <a:t>F</a:t>
            </a:r>
            <a:r>
              <a:rPr lang="en-US" dirty="0"/>
              <a:t>(</a:t>
            </a:r>
            <a:r>
              <a:rPr lang="en-US" i="1" dirty="0" err="1"/>
              <a:t>access</a:t>
            </a:r>
            <a:r>
              <a:rPr lang="en-US" dirty="0" err="1"/>
              <a:t>_</a:t>
            </a:r>
            <a:r>
              <a:rPr lang="en-US" i="1" dirty="0" err="1"/>
              <a:t>duration</a:t>
            </a:r>
            <a:r>
              <a:rPr lang="en-US" dirty="0"/>
              <a:t>&lt;</a:t>
            </a:r>
            <a:r>
              <a:rPr lang="en-US" i="1" dirty="0" err="1"/>
              <a:t>max</a:t>
            </a:r>
            <a:r>
              <a:rPr lang="en-US" dirty="0" err="1"/>
              <a:t>_</a:t>
            </a:r>
            <a:r>
              <a:rPr lang="en-US" i="1" dirty="0" err="1"/>
              <a:t>duration</a:t>
            </a:r>
            <a:r>
              <a:rPr lang="en-US" dirty="0"/>
              <a:t>)))</a:t>
            </a:r>
          </a:p>
          <a:p>
            <a:pPr lvl="1"/>
            <a:r>
              <a:rPr lang="en-US" i="1" dirty="0"/>
              <a:t>Interpretation:</a:t>
            </a:r>
            <a:r>
              <a:rPr lang="en-US" dirty="0"/>
              <a:t> If the door is unlocked, in the next state, the door should remain unlocked, and eventually, the access duration should be less than the maximum allowed duration.</a:t>
            </a:r>
          </a:p>
          <a:p>
            <a:r>
              <a:rPr lang="en-US" b="1" dirty="0"/>
              <a:t>Fault Tolerance - Emergency Lockdown:</a:t>
            </a:r>
            <a:endParaRPr lang="en-US" dirty="0"/>
          </a:p>
          <a:p>
            <a:pPr lvl="1"/>
            <a:r>
              <a:rPr lang="en-US" i="1" dirty="0"/>
              <a:t>Scenario:</a:t>
            </a:r>
            <a:r>
              <a:rPr lang="en-US" dirty="0"/>
              <a:t> In case of an emergency or security threat, the system should immediately initiate a lockdown.</a:t>
            </a:r>
          </a:p>
          <a:p>
            <a:pPr lvl="1"/>
            <a:r>
              <a:rPr lang="en-US" i="1" dirty="0"/>
              <a:t>Temporal Logic Specification:</a:t>
            </a:r>
            <a:r>
              <a:rPr lang="en-US" dirty="0"/>
              <a:t> </a:t>
            </a:r>
            <a:r>
              <a:rPr lang="en-US" i="1" dirty="0" smtClean="0"/>
              <a:t>G</a:t>
            </a:r>
            <a:r>
              <a:rPr lang="en-US" dirty="0" smtClean="0"/>
              <a:t>(</a:t>
            </a:r>
            <a:r>
              <a:rPr lang="en-US" i="1" dirty="0" err="1" smtClean="0"/>
              <a:t>emergency</a:t>
            </a:r>
            <a:r>
              <a:rPr lang="en-US" dirty="0" err="1" smtClean="0"/>
              <a:t>_</a:t>
            </a:r>
            <a:r>
              <a:rPr lang="en-US" i="1" dirty="0" err="1" smtClean="0"/>
              <a:t>triggered</a:t>
            </a:r>
            <a:r>
              <a:rPr lang="en-US" dirty="0" err="1"/>
              <a:t>→</a:t>
            </a:r>
            <a:r>
              <a:rPr lang="en-US" i="1" dirty="0" err="1"/>
              <a:t>Xdoor</a:t>
            </a:r>
            <a:r>
              <a:rPr lang="en-US" dirty="0" err="1"/>
              <a:t>_</a:t>
            </a:r>
            <a:r>
              <a:rPr lang="en-US" i="1" dirty="0" err="1"/>
              <a:t>locked</a:t>
            </a:r>
            <a:r>
              <a:rPr lang="en-US" dirty="0"/>
              <a:t>)</a:t>
            </a:r>
          </a:p>
          <a:p>
            <a:pPr lvl="1"/>
            <a:r>
              <a:rPr lang="en-US" i="1" dirty="0"/>
              <a:t>Interpretation:</a:t>
            </a:r>
            <a:r>
              <a:rPr lang="en-US" dirty="0"/>
              <a:t> If there is an emergency triggered, in the next state, the door should be locked.</a:t>
            </a:r>
          </a:p>
        </p:txBody>
      </p:sp>
    </p:spTree>
    <p:extLst>
      <p:ext uri="{BB962C8B-B14F-4D97-AF65-F5344CB8AC3E}">
        <p14:creationId xmlns:p14="http://schemas.microsoft.com/office/powerpoint/2010/main" val="375154673"/>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2800" b="1" spc="-1" dirty="0">
                <a:solidFill>
                  <a:srgbClr val="FF0000"/>
                </a:solidFill>
                <a:latin typeface="Gill Sans"/>
                <a:ea typeface="Gill Sans"/>
              </a:rPr>
              <a:t>C</a:t>
            </a:r>
            <a:r>
              <a:rPr lang="en-US" sz="2800" b="1" spc="-1" dirty="0" smtClean="0">
                <a:solidFill>
                  <a:srgbClr val="FF0000"/>
                </a:solidFill>
                <a:latin typeface="Gill Sans"/>
                <a:ea typeface="Gill Sans"/>
              </a:rPr>
              <a:t>onsider </a:t>
            </a:r>
            <a:r>
              <a:rPr lang="en-US" sz="2800" b="1" spc="-1" dirty="0">
                <a:solidFill>
                  <a:srgbClr val="FF0000"/>
                </a:solidFill>
                <a:latin typeface="Gill Sans"/>
                <a:ea typeface="Gill Sans"/>
              </a:rPr>
              <a:t>a scenario and formulate temporal logic specifications to capture certain properties related to that scenario.</a:t>
            </a:r>
            <a:endParaRPr lang="en-US" sz="2800" b="1" strike="noStrike"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1440">
              <a:lnSpc>
                <a:spcPct val="100000"/>
              </a:lnSpc>
              <a:spcAft>
                <a:spcPts val="600"/>
              </a:spcAft>
              <a:buClr>
                <a:srgbClr val="4590B8"/>
              </a:buClr>
            </a:pP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5</a:t>
            </a:r>
            <a:r>
              <a:rPr lang="en-US" sz="2000" b="1" spc="-1" dirty="0">
                <a:solidFill>
                  <a:srgbClr val="3D3D3D"/>
                </a:solidFill>
                <a:latin typeface="Times New Roman" panose="02020603050405020304" pitchFamily="18" charset="0"/>
                <a:ea typeface="Gill Sans"/>
                <a:cs typeface="Times New Roman" panose="02020603050405020304" pitchFamily="18" charset="0"/>
              </a:rPr>
              <a:t>) In a smart home, there is an automated temperature control system that regulates the heating and cooling devices based on user preferences. The system maintains a comfortable temperature inside the home</a:t>
            </a:r>
            <a:r>
              <a:rPr lang="en-US" sz="2000" b="1" spc="-1" dirty="0" smtClean="0">
                <a:solidFill>
                  <a:srgbClr val="3D3D3D"/>
                </a:solidFill>
                <a:latin typeface="Times New Roman" panose="02020603050405020304" pitchFamily="18" charset="0"/>
                <a:ea typeface="Gill Sans"/>
                <a:cs typeface="Times New Roman" panose="02020603050405020304" pitchFamily="18" charset="0"/>
              </a:rPr>
              <a:t>.</a:t>
            </a:r>
          </a:p>
          <a:p>
            <a:pPr marL="1440">
              <a:lnSpc>
                <a:spcPct val="100000"/>
              </a:lnSpc>
              <a:spcAft>
                <a:spcPts val="600"/>
              </a:spcAft>
              <a:buClr>
                <a:srgbClr val="4590B8"/>
              </a:buClr>
            </a:pPr>
            <a:r>
              <a:rPr lang="en-US" sz="2000" b="1" spc="-1" dirty="0" smtClean="0">
                <a:solidFill>
                  <a:srgbClr val="FF0000"/>
                </a:solidFill>
                <a:latin typeface="Times New Roman" panose="02020603050405020304" pitchFamily="18" charset="0"/>
                <a:ea typeface="Gill Sans"/>
                <a:cs typeface="Times New Roman" panose="02020603050405020304" pitchFamily="18" charset="0"/>
              </a:rPr>
              <a:t>Temporal logic Specification</a:t>
            </a:r>
          </a:p>
          <a:p>
            <a:r>
              <a:rPr lang="en-US" sz="2000" spc="-1" dirty="0" smtClean="0">
                <a:solidFill>
                  <a:srgbClr val="3D3D3D"/>
                </a:solidFill>
                <a:latin typeface="Times New Roman" panose="02020603050405020304" pitchFamily="18" charset="0"/>
                <a:cs typeface="Times New Roman" panose="02020603050405020304" pitchFamily="18" charset="0"/>
              </a:rPr>
              <a:t>1) </a:t>
            </a:r>
            <a:r>
              <a:rPr lang="en-US" b="1" dirty="0"/>
              <a:t>Safety Property - Temperature Range:</a:t>
            </a:r>
            <a:endParaRPr lang="en-US" dirty="0"/>
          </a:p>
          <a:p>
            <a:pPr lvl="1"/>
            <a:r>
              <a:rPr lang="en-US" i="1" dirty="0"/>
              <a:t>Scenario:</a:t>
            </a:r>
            <a:r>
              <a:rPr lang="en-US" dirty="0"/>
              <a:t> The temperature inside the home should always be within a safe and comfortable range.</a:t>
            </a:r>
          </a:p>
          <a:p>
            <a:pPr lvl="1"/>
            <a:r>
              <a:rPr lang="en-US" i="1" dirty="0"/>
              <a:t>Temporal Logic Specification:</a:t>
            </a:r>
            <a:r>
              <a:rPr lang="en-US" dirty="0"/>
              <a:t> </a:t>
            </a:r>
            <a:r>
              <a:rPr lang="en-US" i="1" dirty="0" smtClean="0"/>
              <a:t>G</a:t>
            </a:r>
            <a:r>
              <a:rPr lang="en-US" dirty="0" smtClean="0"/>
              <a:t>(</a:t>
            </a:r>
            <a:r>
              <a:rPr lang="en-US" i="1" dirty="0" err="1" smtClean="0"/>
              <a:t>temperature</a:t>
            </a:r>
            <a:r>
              <a:rPr lang="en-US" dirty="0" err="1"/>
              <a:t>≥</a:t>
            </a:r>
            <a:r>
              <a:rPr lang="en-US" i="1" dirty="0" err="1"/>
              <a:t>min</a:t>
            </a:r>
            <a:r>
              <a:rPr lang="en-US" dirty="0" err="1"/>
              <a:t>_</a:t>
            </a:r>
            <a:r>
              <a:rPr lang="en-US" i="1" dirty="0" err="1"/>
              <a:t>temperature</a:t>
            </a:r>
            <a:r>
              <a:rPr lang="en-US" dirty="0" err="1"/>
              <a:t>∧</a:t>
            </a:r>
            <a:r>
              <a:rPr lang="en-US" i="1" dirty="0" err="1"/>
              <a:t>temperature</a:t>
            </a:r>
            <a:r>
              <a:rPr lang="en-US" dirty="0" err="1"/>
              <a:t>≤</a:t>
            </a:r>
            <a:r>
              <a:rPr lang="en-US" i="1" dirty="0" err="1"/>
              <a:t>max</a:t>
            </a:r>
            <a:r>
              <a:rPr lang="en-US" dirty="0" err="1"/>
              <a:t>_</a:t>
            </a:r>
            <a:r>
              <a:rPr lang="en-US" i="1" dirty="0" err="1"/>
              <a:t>temperature</a:t>
            </a:r>
            <a:r>
              <a:rPr lang="en-US" dirty="0"/>
              <a:t>)</a:t>
            </a:r>
          </a:p>
          <a:p>
            <a:pPr lvl="1"/>
            <a:r>
              <a:rPr lang="en-US" i="1" dirty="0"/>
              <a:t>Interpretation:</a:t>
            </a:r>
            <a:r>
              <a:rPr lang="en-US" dirty="0"/>
              <a:t> It is always the case that the temperature is greater than or equal to the minimum temperature and less than or equal to the maximum temperature.</a:t>
            </a:r>
          </a:p>
          <a:p>
            <a:r>
              <a:rPr lang="en-US" b="1" dirty="0"/>
              <a:t>Liveness Property - User-Set Temperature Achieved:</a:t>
            </a:r>
            <a:endParaRPr lang="en-US" dirty="0"/>
          </a:p>
          <a:p>
            <a:pPr lvl="1"/>
            <a:r>
              <a:rPr lang="en-US" i="1" dirty="0"/>
              <a:t>Scenario:</a:t>
            </a:r>
            <a:r>
              <a:rPr lang="en-US" dirty="0"/>
              <a:t> If a user sets a specific temperature, the system should eventually achieve and maintain that temperature.</a:t>
            </a:r>
          </a:p>
          <a:p>
            <a:pPr lvl="1"/>
            <a:r>
              <a:rPr lang="en-US" i="1" dirty="0"/>
              <a:t>Temporal Logic Specification:</a:t>
            </a:r>
            <a:r>
              <a:rPr lang="en-US" dirty="0"/>
              <a:t> </a:t>
            </a:r>
            <a:r>
              <a:rPr lang="en-US" i="1" dirty="0" smtClean="0"/>
              <a:t>G</a:t>
            </a:r>
            <a:r>
              <a:rPr lang="en-US" dirty="0" smtClean="0"/>
              <a:t>(</a:t>
            </a:r>
            <a:r>
              <a:rPr lang="en-US" i="1" dirty="0" err="1" smtClean="0"/>
              <a:t>user</a:t>
            </a:r>
            <a:r>
              <a:rPr lang="en-US" dirty="0" err="1" smtClean="0"/>
              <a:t>_</a:t>
            </a:r>
            <a:r>
              <a:rPr lang="en-US" i="1" dirty="0" err="1" smtClean="0"/>
              <a:t>set</a:t>
            </a:r>
            <a:r>
              <a:rPr lang="en-US" dirty="0" err="1" smtClean="0"/>
              <a:t>_</a:t>
            </a:r>
            <a:r>
              <a:rPr lang="en-US" i="1" dirty="0" err="1" smtClean="0"/>
              <a:t>temperature</a:t>
            </a:r>
            <a:r>
              <a:rPr lang="en-US" dirty="0"/>
              <a:t>→(</a:t>
            </a:r>
            <a:r>
              <a:rPr lang="en-US" i="1" dirty="0" err="1"/>
              <a:t>Xsystem</a:t>
            </a:r>
            <a:r>
              <a:rPr lang="en-US" dirty="0" err="1"/>
              <a:t>_</a:t>
            </a:r>
            <a:r>
              <a:rPr lang="en-US" i="1" dirty="0" err="1"/>
              <a:t>achieved</a:t>
            </a:r>
            <a:r>
              <a:rPr lang="en-US" dirty="0" err="1"/>
              <a:t>_</a:t>
            </a:r>
            <a:r>
              <a:rPr lang="en-US" i="1" dirty="0" err="1"/>
              <a:t>temperature</a:t>
            </a:r>
            <a:r>
              <a:rPr lang="en-US" dirty="0" err="1"/>
              <a:t>∧</a:t>
            </a:r>
            <a:r>
              <a:rPr lang="en-US" i="1" dirty="0" err="1"/>
              <a:t>F</a:t>
            </a:r>
            <a:r>
              <a:rPr lang="en-US" dirty="0"/>
              <a:t>(</a:t>
            </a:r>
            <a:r>
              <a:rPr lang="en-US" i="1" dirty="0" err="1"/>
              <a:t>system</a:t>
            </a:r>
            <a:r>
              <a:rPr lang="en-US" dirty="0" err="1"/>
              <a:t>_</a:t>
            </a:r>
            <a:r>
              <a:rPr lang="en-US" i="1" dirty="0" err="1"/>
              <a:t>temperature</a:t>
            </a:r>
            <a:r>
              <a:rPr lang="en-US" dirty="0"/>
              <a:t>=</a:t>
            </a:r>
            <a:r>
              <a:rPr lang="en-US" i="1" dirty="0" err="1"/>
              <a:t>user</a:t>
            </a:r>
            <a:r>
              <a:rPr lang="en-US" dirty="0" err="1"/>
              <a:t>_</a:t>
            </a:r>
            <a:r>
              <a:rPr lang="en-US" i="1" dirty="0" err="1"/>
              <a:t>set</a:t>
            </a:r>
            <a:r>
              <a:rPr lang="en-US" dirty="0" err="1"/>
              <a:t>_</a:t>
            </a:r>
            <a:r>
              <a:rPr lang="en-US" i="1" dirty="0" err="1"/>
              <a:t>temperature</a:t>
            </a:r>
            <a:r>
              <a:rPr lang="en-US" dirty="0"/>
              <a:t>)))</a:t>
            </a:r>
          </a:p>
          <a:p>
            <a:pPr lvl="1"/>
            <a:r>
              <a:rPr lang="en-US" i="1" dirty="0"/>
              <a:t>Interpretation:</a:t>
            </a:r>
            <a:r>
              <a:rPr lang="en-US" dirty="0"/>
              <a:t> It is always the case that if a user sets a temperature, in the next state, the system should achieve that temperature, and eventually, the system's temperature should be equal to the user-set temperature.</a:t>
            </a:r>
          </a:p>
        </p:txBody>
      </p:sp>
    </p:spTree>
    <p:extLst>
      <p:ext uri="{BB962C8B-B14F-4D97-AF65-F5344CB8AC3E}">
        <p14:creationId xmlns:p14="http://schemas.microsoft.com/office/powerpoint/2010/main" val="3580985487"/>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a:solidFill>
                  <a:srgbClr val="FF0000"/>
                </a:solidFill>
                <a:latin typeface="Gill Sans"/>
                <a:ea typeface="Gill Sans"/>
              </a:rPr>
              <a:t>C</a:t>
            </a:r>
            <a:r>
              <a:rPr lang="en-US" sz="2800" b="1" spc="-1" dirty="0" smtClean="0">
                <a:solidFill>
                  <a:srgbClr val="FF0000"/>
                </a:solidFill>
                <a:latin typeface="Gill Sans"/>
                <a:ea typeface="Gill Sans"/>
              </a:rPr>
              <a:t>onsider </a:t>
            </a:r>
            <a:r>
              <a:rPr lang="en-US" sz="2800" b="1" spc="-1" dirty="0">
                <a:solidFill>
                  <a:srgbClr val="FF0000"/>
                </a:solidFill>
                <a:latin typeface="Gill Sans"/>
                <a:ea typeface="Gill Sans"/>
              </a:rPr>
              <a:t>a scenario and formulate temporal logic specifications to capture certain properties related to that scenario.</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b="1" dirty="0" smtClean="0">
                <a:solidFill>
                  <a:srgbClr val="374151"/>
                </a:solidFill>
                <a:latin typeface="Söhne"/>
              </a:rPr>
              <a:t>3) </a:t>
            </a:r>
            <a:r>
              <a:rPr lang="en-US" b="1" dirty="0"/>
              <a:t>Concurrency Control - Exclusive Heating and Cooling:</a:t>
            </a:r>
            <a:endParaRPr lang="en-US" dirty="0"/>
          </a:p>
          <a:p>
            <a:pPr lvl="1"/>
            <a:r>
              <a:rPr lang="en-US" i="1" dirty="0"/>
              <a:t>Scenario:</a:t>
            </a:r>
            <a:r>
              <a:rPr lang="en-US" dirty="0"/>
              <a:t> The heating and cooling systems should not operate simultaneously.</a:t>
            </a:r>
          </a:p>
          <a:p>
            <a:pPr lvl="1"/>
            <a:r>
              <a:rPr lang="en-US" i="1" dirty="0"/>
              <a:t>Temporal Logic Specification:</a:t>
            </a:r>
            <a:r>
              <a:rPr lang="en-US" dirty="0"/>
              <a:t> </a:t>
            </a:r>
            <a:r>
              <a:rPr lang="en-US" i="1" dirty="0" smtClean="0"/>
              <a:t>G</a:t>
            </a:r>
            <a:r>
              <a:rPr lang="en-US" dirty="0"/>
              <a:t>(¬(</a:t>
            </a:r>
            <a:r>
              <a:rPr lang="en-US" i="1" dirty="0" err="1"/>
              <a:t>heating</a:t>
            </a:r>
            <a:r>
              <a:rPr lang="en-US" dirty="0" err="1"/>
              <a:t>∧</a:t>
            </a:r>
            <a:r>
              <a:rPr lang="en-US" i="1" dirty="0" err="1"/>
              <a:t>cooling</a:t>
            </a:r>
            <a:r>
              <a:rPr lang="en-US" dirty="0"/>
              <a:t>))</a:t>
            </a:r>
          </a:p>
          <a:p>
            <a:pPr lvl="1"/>
            <a:r>
              <a:rPr lang="en-US" i="1" dirty="0"/>
              <a:t>Interpretation:</a:t>
            </a:r>
            <a:r>
              <a:rPr lang="en-US" dirty="0"/>
              <a:t> It is always the case that the heating and cooling systems are not operating simultaneously, ensuring exclusive use of these systems.</a:t>
            </a:r>
          </a:p>
          <a:p>
            <a:r>
              <a:rPr lang="en-US" b="1" dirty="0"/>
              <a:t>Real-Time Constraint - Temperature Change Rate:</a:t>
            </a:r>
            <a:endParaRPr lang="en-US" dirty="0"/>
          </a:p>
          <a:p>
            <a:pPr lvl="1"/>
            <a:r>
              <a:rPr lang="en-US" i="1" dirty="0"/>
              <a:t>Scenario:</a:t>
            </a:r>
            <a:r>
              <a:rPr lang="en-US" dirty="0"/>
              <a:t> The rate of temperature change should not exceed a specified maximum.</a:t>
            </a:r>
          </a:p>
          <a:p>
            <a:pPr lvl="1"/>
            <a:r>
              <a:rPr lang="en-US" i="1" dirty="0"/>
              <a:t>Temporal Logic Specification:</a:t>
            </a:r>
            <a:r>
              <a:rPr lang="en-US" dirty="0"/>
              <a:t> </a:t>
            </a:r>
            <a:r>
              <a:rPr lang="en-US" i="1" dirty="0" smtClean="0"/>
              <a:t>G</a:t>
            </a:r>
            <a:r>
              <a:rPr lang="en-US" dirty="0"/>
              <a:t>(¬(</a:t>
            </a:r>
            <a:r>
              <a:rPr lang="en-US" i="1" dirty="0" err="1"/>
              <a:t>Xtemperature</a:t>
            </a:r>
            <a:r>
              <a:rPr lang="en-US" dirty="0" err="1"/>
              <a:t>_</a:t>
            </a:r>
            <a:r>
              <a:rPr lang="en-US" i="1" dirty="0" err="1"/>
              <a:t>change</a:t>
            </a:r>
            <a:r>
              <a:rPr lang="en-US" dirty="0"/>
              <a:t>∧¬(</a:t>
            </a:r>
            <a:r>
              <a:rPr lang="en-US" i="1" dirty="0" err="1"/>
              <a:t>temperature</a:t>
            </a:r>
            <a:r>
              <a:rPr lang="en-US" dirty="0" err="1"/>
              <a:t>_</a:t>
            </a:r>
            <a:r>
              <a:rPr lang="en-US" i="1" dirty="0" err="1"/>
              <a:t>change</a:t>
            </a:r>
            <a:r>
              <a:rPr lang="en-US" dirty="0" err="1"/>
              <a:t>_</a:t>
            </a:r>
            <a:r>
              <a:rPr lang="en-US" i="1" dirty="0" err="1"/>
              <a:t>rate</a:t>
            </a:r>
            <a:r>
              <a:rPr lang="en-US" dirty="0" err="1"/>
              <a:t>≤</a:t>
            </a:r>
            <a:r>
              <a:rPr lang="en-US" i="1" dirty="0" err="1"/>
              <a:t>max</a:t>
            </a:r>
            <a:r>
              <a:rPr lang="en-US" dirty="0" err="1"/>
              <a:t>_</a:t>
            </a:r>
            <a:r>
              <a:rPr lang="en-US" i="1" dirty="0" err="1"/>
              <a:t>change</a:t>
            </a:r>
            <a:r>
              <a:rPr lang="en-US" dirty="0" err="1"/>
              <a:t>_</a:t>
            </a:r>
            <a:r>
              <a:rPr lang="en-US" i="1" dirty="0" err="1"/>
              <a:t>rate</a:t>
            </a:r>
            <a:r>
              <a:rPr lang="en-US" dirty="0"/>
              <a:t>)))</a:t>
            </a:r>
          </a:p>
          <a:p>
            <a:pPr lvl="1"/>
            <a:r>
              <a:rPr lang="en-US" i="1" dirty="0"/>
              <a:t>Interpretation:</a:t>
            </a:r>
            <a:r>
              <a:rPr lang="en-US" dirty="0"/>
              <a:t> It is always the case that if there is a temperature change, in the next state, the temperature change rate should be less than or equal to the maximum allowed change rate.</a:t>
            </a:r>
          </a:p>
          <a:p>
            <a:r>
              <a:rPr lang="en-US" b="1" dirty="0"/>
              <a:t>Fault Tolerance - Emergency Shutdown:</a:t>
            </a:r>
            <a:endParaRPr lang="en-US" dirty="0"/>
          </a:p>
          <a:p>
            <a:pPr lvl="1"/>
            <a:r>
              <a:rPr lang="en-US" i="1" dirty="0"/>
              <a:t>Scenario:</a:t>
            </a:r>
            <a:r>
              <a:rPr lang="en-US" dirty="0"/>
              <a:t> In case of a malfunction or emergency, the temperature control system should immediately shut down.</a:t>
            </a:r>
          </a:p>
          <a:p>
            <a:pPr lvl="1"/>
            <a:r>
              <a:rPr lang="en-US" i="1" dirty="0"/>
              <a:t>Temporal Logic Specification:</a:t>
            </a:r>
            <a:r>
              <a:rPr lang="en-US" dirty="0"/>
              <a:t> </a:t>
            </a:r>
            <a:r>
              <a:rPr lang="en-US" i="1" dirty="0" smtClean="0"/>
              <a:t>G</a:t>
            </a:r>
            <a:r>
              <a:rPr lang="en-US" dirty="0" smtClean="0"/>
              <a:t>(</a:t>
            </a:r>
            <a:r>
              <a:rPr lang="en-US" i="1" dirty="0" err="1" smtClean="0"/>
              <a:t>emergency</a:t>
            </a:r>
            <a:r>
              <a:rPr lang="en-US" dirty="0" err="1" smtClean="0"/>
              <a:t>_</a:t>
            </a:r>
            <a:r>
              <a:rPr lang="en-US" i="1" dirty="0" err="1" smtClean="0"/>
              <a:t>shutdown</a:t>
            </a:r>
            <a:r>
              <a:rPr lang="en-US" dirty="0" err="1"/>
              <a:t>→</a:t>
            </a:r>
            <a:r>
              <a:rPr lang="en-US" i="1" dirty="0" err="1"/>
              <a:t>Xsystem</a:t>
            </a:r>
            <a:r>
              <a:rPr lang="en-US" dirty="0" err="1"/>
              <a:t>_</a:t>
            </a:r>
            <a:r>
              <a:rPr lang="en-US" i="1" dirty="0" err="1"/>
              <a:t>shutdown</a:t>
            </a:r>
            <a:r>
              <a:rPr lang="en-US" dirty="0"/>
              <a:t>)</a:t>
            </a:r>
          </a:p>
          <a:p>
            <a:pPr lvl="1"/>
            <a:r>
              <a:rPr lang="en-US" i="1" dirty="0"/>
              <a:t>Interpretation:</a:t>
            </a:r>
            <a:r>
              <a:rPr lang="en-US" dirty="0"/>
              <a:t> If there is an emergency shutdown, in the next state, the system should be shut down.</a:t>
            </a:r>
          </a:p>
        </p:txBody>
      </p:sp>
    </p:spTree>
    <p:extLst>
      <p:ext uri="{BB962C8B-B14F-4D97-AF65-F5344CB8AC3E}">
        <p14:creationId xmlns:p14="http://schemas.microsoft.com/office/powerpoint/2010/main" val="315705905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Temporal Logic (Model Checking)</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lvl="1"/>
            <a:r>
              <a:rPr lang="en-US" i="1" dirty="0" smtClean="0"/>
              <a:t>Explain </a:t>
            </a:r>
            <a:r>
              <a:rPr lang="en-US" i="1" dirty="0"/>
              <a:t>the concept of model checking in the context of temporal logic. Provide an overview of how model checking can be used to verify system properties expressed in temporal logic. Discuss the advantages and limitations of model checking in the </a:t>
            </a:r>
            <a:r>
              <a:rPr lang="en-US" i="1" dirty="0" smtClean="0"/>
              <a:t>verification</a:t>
            </a:r>
            <a:endParaRPr lang="en-US" dirty="0"/>
          </a:p>
        </p:txBody>
      </p:sp>
    </p:spTree>
    <p:extLst>
      <p:ext uri="{BB962C8B-B14F-4D97-AF65-F5344CB8AC3E}">
        <p14:creationId xmlns:p14="http://schemas.microsoft.com/office/powerpoint/2010/main" val="3315562107"/>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lvl="1"/>
            <a:r>
              <a:rPr lang="en-US" sz="2200" b="1" i="1" dirty="0" smtClean="0"/>
              <a:t>Model checking? </a:t>
            </a:r>
          </a:p>
          <a:p>
            <a:pPr marL="742950" lvl="1" indent="-285750">
              <a:buFont typeface="Wingdings" panose="05000000000000000000" pitchFamily="2" charset="2"/>
              <a:buChar char="v"/>
            </a:pPr>
            <a:r>
              <a:rPr lang="en-US" sz="2200" dirty="0"/>
              <a:t>Model checking is a formal verification technique used in computer science and software engineering to ensure that a system or a model meets specified properties or requirements</a:t>
            </a:r>
            <a:r>
              <a:rPr lang="en-US" sz="2200" dirty="0" smtClean="0"/>
              <a:t>.</a:t>
            </a:r>
          </a:p>
          <a:p>
            <a:pPr marL="742950" lvl="1" indent="-285750">
              <a:buFont typeface="Wingdings" panose="05000000000000000000" pitchFamily="2" charset="2"/>
              <a:buChar char="v"/>
            </a:pPr>
            <a:r>
              <a:rPr lang="en-US" sz="2200" dirty="0" smtClean="0"/>
              <a:t> In </a:t>
            </a:r>
            <a:r>
              <a:rPr lang="en-US" sz="2200" dirty="0"/>
              <a:t>the field of formal methods, </a:t>
            </a:r>
            <a:r>
              <a:rPr lang="en-US" sz="2200" dirty="0" smtClean="0"/>
              <a:t>it </a:t>
            </a:r>
            <a:r>
              <a:rPr lang="en-US" sz="2200" dirty="0"/>
              <a:t>involves mathematically rigorous techniques for the specification, design, and verification of software and hardware systems</a:t>
            </a:r>
            <a:r>
              <a:rPr lang="en-US" sz="2200" dirty="0" smtClean="0"/>
              <a:t>.</a:t>
            </a:r>
          </a:p>
          <a:p>
            <a:pPr marL="742950" lvl="1" indent="-285750">
              <a:buFont typeface="Wingdings" panose="05000000000000000000" pitchFamily="2" charset="2"/>
              <a:buChar char="v"/>
            </a:pPr>
            <a:r>
              <a:rPr lang="en-US" sz="2200" dirty="0" smtClean="0"/>
              <a:t>In </a:t>
            </a:r>
            <a:r>
              <a:rPr lang="en-US" sz="2200" dirty="0"/>
              <a:t>the context of temporal logic, model checking involves systematically exploring all possible states of a system to verify whether a given temporal logic formula holds in each state or along each path</a:t>
            </a:r>
            <a:r>
              <a:rPr lang="en-US" sz="2200" dirty="0" smtClean="0"/>
              <a:t>.</a:t>
            </a:r>
          </a:p>
          <a:p>
            <a:pPr marL="742950" lvl="1" indent="-285750">
              <a:buFont typeface="Wingdings" panose="05000000000000000000" pitchFamily="2" charset="2"/>
              <a:buChar char="v"/>
            </a:pPr>
            <a:r>
              <a:rPr lang="en-US" sz="2200" dirty="0"/>
              <a:t>In model </a:t>
            </a:r>
            <a:r>
              <a:rPr lang="en-US" sz="2200" dirty="0" smtClean="0"/>
              <a:t>checking:</a:t>
            </a:r>
          </a:p>
          <a:p>
            <a:pPr marL="1200150" lvl="2" indent="-285750">
              <a:buFont typeface="Wingdings" panose="05000000000000000000" pitchFamily="2" charset="2"/>
              <a:buChar char="v"/>
            </a:pPr>
            <a:r>
              <a:rPr lang="en-US" sz="2200" dirty="0" smtClean="0"/>
              <a:t>, </a:t>
            </a:r>
            <a:r>
              <a:rPr lang="en-US" sz="2200" dirty="0"/>
              <a:t>a system is represented as a formal model, often in the form of a finite-state model, such as a state transition system or a labeled transition system. </a:t>
            </a:r>
            <a:endParaRPr lang="en-US" sz="2200" dirty="0" smtClean="0"/>
          </a:p>
          <a:p>
            <a:pPr marL="1200150" lvl="2" indent="-285750">
              <a:buFont typeface="Wingdings" panose="05000000000000000000" pitchFamily="2" charset="2"/>
              <a:buChar char="v"/>
            </a:pPr>
            <a:r>
              <a:rPr lang="en-US" sz="2200" dirty="0" smtClean="0"/>
              <a:t>Additionally</a:t>
            </a:r>
            <a:r>
              <a:rPr lang="en-US" sz="2200" dirty="0"/>
              <a:t>, temporal logic is often employed to express properties or requirements that the system should satisfy over time.</a:t>
            </a:r>
            <a:endParaRPr lang="en-US" sz="2200" dirty="0" smtClean="0"/>
          </a:p>
        </p:txBody>
      </p:sp>
    </p:spTree>
    <p:extLst>
      <p:ext uri="{BB962C8B-B14F-4D97-AF65-F5344CB8AC3E}">
        <p14:creationId xmlns:p14="http://schemas.microsoft.com/office/powerpoint/2010/main" val="551621069"/>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lvl="1"/>
            <a:r>
              <a:rPr lang="en-US" sz="2200" b="1" i="1" dirty="0" smtClean="0"/>
              <a:t>Model checking? </a:t>
            </a:r>
          </a:p>
          <a:p>
            <a:pPr marL="742950" lvl="1" indent="-285750">
              <a:buFont typeface="Wingdings" panose="05000000000000000000" pitchFamily="2" charset="2"/>
              <a:buChar char="v"/>
            </a:pPr>
            <a:r>
              <a:rPr lang="en-US" sz="2200" i="1" dirty="0" smtClean="0"/>
              <a:t>model </a:t>
            </a:r>
            <a:r>
              <a:rPr lang="en-US" sz="2200" i="1" dirty="0"/>
              <a:t>checking, when used in conjunction with temporal logic, is a powerful technique for systematically verifying the correctness of a system with respect to specified temporal properties</a:t>
            </a:r>
            <a:r>
              <a:rPr lang="en-US" sz="2200" i="1" dirty="0" smtClean="0"/>
              <a:t>.</a:t>
            </a:r>
          </a:p>
          <a:p>
            <a:pPr marL="742950" lvl="1" indent="-285750">
              <a:buFont typeface="Wingdings" panose="05000000000000000000" pitchFamily="2" charset="2"/>
              <a:buChar char="v"/>
            </a:pPr>
            <a:r>
              <a:rPr lang="en-US" sz="2200" i="1" dirty="0"/>
              <a:t>The basic idea of model checking </a:t>
            </a:r>
            <a:r>
              <a:rPr lang="en-US" sz="2200" i="1" dirty="0" smtClean="0"/>
              <a:t>is:</a:t>
            </a:r>
          </a:p>
          <a:p>
            <a:pPr marL="1200150" lvl="2" indent="-285750">
              <a:buFont typeface="Wingdings" panose="05000000000000000000" pitchFamily="2" charset="2"/>
              <a:buChar char="v"/>
            </a:pPr>
            <a:r>
              <a:rPr lang="en-US" sz="2200" i="1" dirty="0" smtClean="0"/>
              <a:t> </a:t>
            </a:r>
            <a:r>
              <a:rPr lang="en-US" sz="2200" i="1" dirty="0"/>
              <a:t>to systematically explore all possible states of the system and verify whether the specified properties hold in each state. </a:t>
            </a:r>
            <a:endParaRPr lang="en-US" sz="2200" i="1" dirty="0" smtClean="0"/>
          </a:p>
          <a:p>
            <a:pPr marL="1200150" lvl="2" indent="-285750">
              <a:buFont typeface="Wingdings" panose="05000000000000000000" pitchFamily="2" charset="2"/>
              <a:buChar char="v"/>
            </a:pPr>
            <a:r>
              <a:rPr lang="en-US" sz="2200" i="1" dirty="0" smtClean="0"/>
              <a:t>This </a:t>
            </a:r>
            <a:r>
              <a:rPr lang="en-US" sz="2200" i="1" dirty="0"/>
              <a:t>exploration is typically done algorithmically, with the help of efficient data structures and algorithms that traverse the state space of the system</a:t>
            </a:r>
            <a:r>
              <a:rPr lang="en-US" sz="2200" i="1" dirty="0" smtClean="0"/>
              <a:t>.</a:t>
            </a:r>
          </a:p>
          <a:p>
            <a:pPr marL="1200150" lvl="2" indent="-285750">
              <a:buFont typeface="Wingdings" panose="05000000000000000000" pitchFamily="2" charset="2"/>
              <a:buChar char="v"/>
            </a:pPr>
            <a:r>
              <a:rPr lang="en-US" sz="2200" i="1" dirty="0" smtClean="0"/>
              <a:t> If </a:t>
            </a:r>
            <a:r>
              <a:rPr lang="en-US" sz="2200" i="1" dirty="0"/>
              <a:t>the model checking algorithm finds a counterexample where the system violates the </a:t>
            </a:r>
            <a:r>
              <a:rPr lang="en-US" sz="2200" i="1" dirty="0" smtClean="0"/>
              <a:t>	specified </a:t>
            </a:r>
            <a:r>
              <a:rPr lang="en-US" sz="2200" i="1" dirty="0"/>
              <a:t>properties, it provides valuable information about the nature of the problem. </a:t>
            </a:r>
            <a:endParaRPr lang="en-US" sz="2200" dirty="0"/>
          </a:p>
        </p:txBody>
      </p:sp>
    </p:spTree>
    <p:extLst>
      <p:ext uri="{BB962C8B-B14F-4D97-AF65-F5344CB8AC3E}">
        <p14:creationId xmlns:p14="http://schemas.microsoft.com/office/powerpoint/2010/main" val="2587479770"/>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lvl="1"/>
            <a:r>
              <a:rPr lang="en-US" sz="2400" b="1" dirty="0" smtClean="0"/>
              <a:t>Key </a:t>
            </a:r>
            <a:r>
              <a:rPr lang="en-US" sz="2400" b="1" dirty="0"/>
              <a:t>Components:</a:t>
            </a:r>
          </a:p>
          <a:p>
            <a:pPr lvl="1"/>
            <a:endParaRPr lang="en-US" sz="2400" dirty="0"/>
          </a:p>
          <a:p>
            <a:pPr lvl="1"/>
            <a:r>
              <a:rPr lang="en-US" sz="2400" dirty="0" smtClean="0"/>
              <a:t>1) Formal </a:t>
            </a:r>
            <a:r>
              <a:rPr lang="en-US" sz="2400" dirty="0"/>
              <a:t>Model: Model checking relies on a formal representation of the system. Common formalisms include finite-state machines, transition systems, or Petri nets.</a:t>
            </a:r>
          </a:p>
          <a:p>
            <a:pPr marL="742950" lvl="1" indent="-285750">
              <a:buFont typeface="Wingdings" panose="05000000000000000000" pitchFamily="2" charset="2"/>
              <a:buChar char="v"/>
            </a:pPr>
            <a:endParaRPr lang="en-US" sz="2400" dirty="0"/>
          </a:p>
          <a:p>
            <a:pPr lvl="1"/>
            <a:r>
              <a:rPr lang="en-US" sz="2400" dirty="0" smtClean="0"/>
              <a:t>2) Temporal </a:t>
            </a:r>
            <a:r>
              <a:rPr lang="en-US" sz="2400" dirty="0"/>
              <a:t>Logic Properties: The properties to be checked are expressed using temporal logic, such as Linear Temporal Logic (LTL) or Branching Temporal Logic (CTL).</a:t>
            </a:r>
            <a:r>
              <a:rPr lang="en-US" sz="2400" i="1" dirty="0" smtClean="0"/>
              <a:t> </a:t>
            </a:r>
            <a:endParaRPr lang="en-US" sz="2400" dirty="0"/>
          </a:p>
        </p:txBody>
      </p:sp>
    </p:spTree>
    <p:extLst>
      <p:ext uri="{BB962C8B-B14F-4D97-AF65-F5344CB8AC3E}">
        <p14:creationId xmlns:p14="http://schemas.microsoft.com/office/powerpoint/2010/main" val="26033059"/>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21204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a:t>
            </a:r>
            <a:endParaRPr lang="en-US" sz="2800" b="1" spc="-1" dirty="0">
              <a:solidFill>
                <a:srgbClr val="FF0000"/>
              </a:solidFill>
              <a:latin typeface="Arial"/>
            </a:endParaRPr>
          </a:p>
        </p:txBody>
      </p:sp>
      <p:sp>
        <p:nvSpPr>
          <p:cNvPr id="105" name="CustomShape 2"/>
          <p:cNvSpPr/>
          <p:nvPr/>
        </p:nvSpPr>
        <p:spPr>
          <a:xfrm>
            <a:off x="581043" y="1478280"/>
            <a:ext cx="11028240" cy="5029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lvl="1"/>
            <a:r>
              <a:rPr lang="en-US" sz="2400" b="1" dirty="0" smtClean="0"/>
              <a:t>Model </a:t>
            </a:r>
            <a:r>
              <a:rPr lang="en-US" sz="2400" b="1" dirty="0"/>
              <a:t>Checking Process/Key steps in model </a:t>
            </a:r>
            <a:r>
              <a:rPr lang="en-US" sz="2400" b="1" dirty="0" smtClean="0"/>
              <a:t>checking</a:t>
            </a:r>
            <a:endParaRPr lang="en-US" sz="2400" b="1" dirty="0"/>
          </a:p>
          <a:p>
            <a:pPr marL="742950" lvl="1" indent="-285750">
              <a:buFont typeface="Wingdings" panose="05000000000000000000" pitchFamily="2" charset="2"/>
              <a:buChar char="v"/>
            </a:pPr>
            <a:endParaRPr lang="en-US" sz="2400" dirty="0"/>
          </a:p>
          <a:p>
            <a:pPr lvl="1"/>
            <a:r>
              <a:rPr lang="en-US" sz="2400" b="1" dirty="0" smtClean="0"/>
              <a:t>1) Model </a:t>
            </a:r>
            <a:r>
              <a:rPr lang="en-US" sz="2400" b="1" dirty="0"/>
              <a:t>Representation: </a:t>
            </a:r>
            <a:r>
              <a:rPr lang="en-US" sz="2400" dirty="0"/>
              <a:t>Formally define the system or software as a mathematical model, often using a formalism like state machines, transition systems, or Petri nets.</a:t>
            </a:r>
          </a:p>
          <a:p>
            <a:pPr lvl="1"/>
            <a:r>
              <a:rPr lang="en-US" sz="2400" b="1" dirty="0" smtClean="0"/>
              <a:t>2) Property </a:t>
            </a:r>
            <a:r>
              <a:rPr lang="en-US" sz="2400" b="1" dirty="0"/>
              <a:t>Specification: </a:t>
            </a:r>
            <a:r>
              <a:rPr lang="en-US" sz="2400" dirty="0"/>
              <a:t>Clearly express the desired properties or requirements using formal languages, commonly temporal logics such as Linear Temporal Logic (LTL) or Computational Tree Logic (CTL).</a:t>
            </a:r>
          </a:p>
          <a:p>
            <a:pPr lvl="1"/>
            <a:r>
              <a:rPr lang="en-US" sz="2400" b="1" dirty="0" smtClean="0"/>
              <a:t>3) State </a:t>
            </a:r>
            <a:r>
              <a:rPr lang="en-US" sz="2400" b="1" dirty="0"/>
              <a:t>Space Exploration: </a:t>
            </a:r>
            <a:r>
              <a:rPr lang="en-US" sz="2400" dirty="0"/>
              <a:t>Employ algorithms to systematically explore all possible states of the system. This can involve techniques like breadth-first or depth-first search, symbolic model checking, or other specialized algorithms.</a:t>
            </a:r>
          </a:p>
          <a:p>
            <a:pPr lvl="1"/>
            <a:r>
              <a:rPr lang="en-US" sz="2400" b="1" dirty="0" smtClean="0"/>
              <a:t>4) Property </a:t>
            </a:r>
            <a:r>
              <a:rPr lang="en-US" sz="2400" b="1" dirty="0"/>
              <a:t>Verification: </a:t>
            </a:r>
            <a:r>
              <a:rPr lang="en-US" sz="2400" dirty="0"/>
              <a:t>Check whether the specified properties hold in each explored state. If a violation is found, the model checker typically provides a counterexample to illustrate the problematic behavior.</a:t>
            </a:r>
          </a:p>
        </p:txBody>
      </p:sp>
    </p:spTree>
    <p:extLst>
      <p:ext uri="{BB962C8B-B14F-4D97-AF65-F5344CB8AC3E}">
        <p14:creationId xmlns:p14="http://schemas.microsoft.com/office/powerpoint/2010/main" val="2803054105"/>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lvl="1"/>
            <a:r>
              <a:rPr lang="en-US" sz="2400" b="1" dirty="0" smtClean="0"/>
              <a:t>Types </a:t>
            </a:r>
            <a:r>
              <a:rPr lang="en-US" sz="2400" b="1" dirty="0"/>
              <a:t>of Model Checking:</a:t>
            </a:r>
          </a:p>
          <a:p>
            <a:pPr marL="742950" lvl="1" indent="-285750">
              <a:buFont typeface="Wingdings" panose="05000000000000000000" pitchFamily="2" charset="2"/>
              <a:buChar char="v"/>
            </a:pPr>
            <a:endParaRPr lang="en-US" sz="2400" dirty="0"/>
          </a:p>
          <a:p>
            <a:pPr marL="742950" lvl="1" indent="-285750">
              <a:buFont typeface="Wingdings" panose="05000000000000000000" pitchFamily="2" charset="2"/>
              <a:buChar char="v"/>
            </a:pPr>
            <a:r>
              <a:rPr lang="en-US" sz="2400" b="1" dirty="0"/>
              <a:t>Symbolic Model Checking: </a:t>
            </a:r>
            <a:r>
              <a:rPr lang="en-US" sz="2400" dirty="0"/>
              <a:t>Utilizes symbolic representations to handle large state spaces more efficiently. Binary decision diagrams (BDDs) are commonly used in symbolic model checking.</a:t>
            </a:r>
          </a:p>
          <a:p>
            <a:pPr marL="742950" lvl="1" indent="-285750">
              <a:buFont typeface="Wingdings" panose="05000000000000000000" pitchFamily="2" charset="2"/>
              <a:buChar char="v"/>
            </a:pPr>
            <a:endParaRPr lang="en-US" sz="2400" dirty="0"/>
          </a:p>
          <a:p>
            <a:pPr marL="742950" lvl="1" indent="-285750">
              <a:buFont typeface="Wingdings" panose="05000000000000000000" pitchFamily="2" charset="2"/>
              <a:buChar char="v"/>
            </a:pPr>
            <a:r>
              <a:rPr lang="en-US" sz="2400" b="1" dirty="0"/>
              <a:t>Explicit Model Checking:</a:t>
            </a:r>
            <a:r>
              <a:rPr lang="en-US" sz="2400" dirty="0"/>
              <a:t> Explores the state space explicitly without symbolic representations. Suitable for smaller systems but may face scalability issues for larger ones.</a:t>
            </a:r>
          </a:p>
        </p:txBody>
      </p:sp>
    </p:spTree>
    <p:extLst>
      <p:ext uri="{BB962C8B-B14F-4D97-AF65-F5344CB8AC3E}">
        <p14:creationId xmlns:p14="http://schemas.microsoft.com/office/powerpoint/2010/main" val="2506462131"/>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lvl="1"/>
            <a:r>
              <a:rPr lang="en-US" sz="2400" b="1" dirty="0" smtClean="0"/>
              <a:t>Temporal </a:t>
            </a:r>
            <a:r>
              <a:rPr lang="en-US" sz="2400" b="1" dirty="0"/>
              <a:t>Logic in Model Checking:</a:t>
            </a:r>
          </a:p>
          <a:p>
            <a:pPr marL="742950" lvl="1" indent="-285750">
              <a:buFont typeface="Wingdings" panose="05000000000000000000" pitchFamily="2" charset="2"/>
              <a:buChar char="v"/>
            </a:pPr>
            <a:endParaRPr lang="en-US" sz="2400" dirty="0"/>
          </a:p>
          <a:p>
            <a:pPr marL="742950" lvl="1" indent="-285750">
              <a:buFont typeface="Wingdings" panose="05000000000000000000" pitchFamily="2" charset="2"/>
              <a:buChar char="v"/>
            </a:pPr>
            <a:r>
              <a:rPr lang="en-US" sz="2400" b="1" dirty="0"/>
              <a:t>LTL (Linear Temporal Logic): </a:t>
            </a:r>
            <a:r>
              <a:rPr lang="en-US" sz="2400" dirty="0"/>
              <a:t>LTL is used to express properties that evolve over time in a linear sequence. Model checking with LTL involves verifying whether the system satisfies the specified temporal logic formula.</a:t>
            </a:r>
          </a:p>
          <a:p>
            <a:pPr marL="742950" lvl="1" indent="-285750">
              <a:buFont typeface="Wingdings" panose="05000000000000000000" pitchFamily="2" charset="2"/>
              <a:buChar char="v"/>
            </a:pPr>
            <a:endParaRPr lang="en-US" sz="2400" dirty="0"/>
          </a:p>
          <a:p>
            <a:pPr marL="742950" lvl="1" indent="-285750">
              <a:buFont typeface="Wingdings" panose="05000000000000000000" pitchFamily="2" charset="2"/>
              <a:buChar char="v"/>
            </a:pPr>
            <a:r>
              <a:rPr lang="en-US" sz="2400" b="1" dirty="0"/>
              <a:t>CTL (Computational Tree Logic): </a:t>
            </a:r>
            <a:r>
              <a:rPr lang="en-US" sz="2400" dirty="0"/>
              <a:t>CTL is suitable for systems with multiple concurrent processes. It allows the specification of properties along different paths in the system's execution tree.</a:t>
            </a:r>
          </a:p>
        </p:txBody>
      </p:sp>
    </p:spTree>
    <p:extLst>
      <p:ext uri="{BB962C8B-B14F-4D97-AF65-F5344CB8AC3E}">
        <p14:creationId xmlns:p14="http://schemas.microsoft.com/office/powerpoint/2010/main" val="120258067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Model Checking</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lvl="1"/>
            <a:r>
              <a:rPr lang="en-US" sz="2400" b="1" dirty="0" smtClean="0"/>
              <a:t>Model </a:t>
            </a:r>
            <a:r>
              <a:rPr lang="en-US" sz="2400" b="1" dirty="0"/>
              <a:t>Checking Tools:</a:t>
            </a:r>
          </a:p>
          <a:p>
            <a:pPr marL="742950" lvl="1" indent="-285750">
              <a:buFont typeface="Wingdings" panose="05000000000000000000" pitchFamily="2" charset="2"/>
              <a:buChar char="v"/>
            </a:pPr>
            <a:endParaRPr lang="en-US" sz="2400" dirty="0"/>
          </a:p>
          <a:p>
            <a:pPr marL="742950" lvl="1" indent="-285750">
              <a:buFont typeface="Wingdings" panose="05000000000000000000" pitchFamily="2" charset="2"/>
              <a:buChar char="v"/>
            </a:pPr>
            <a:r>
              <a:rPr lang="en-US" sz="2400" b="1" dirty="0"/>
              <a:t>SPIN: </a:t>
            </a:r>
            <a:r>
              <a:rPr lang="en-US" sz="2400" dirty="0"/>
              <a:t>A widely used model checker for verifying distributed software systems. It supports both LTL and </a:t>
            </a:r>
            <a:r>
              <a:rPr lang="en-US" sz="2400" dirty="0" err="1"/>
              <a:t>Promela</a:t>
            </a:r>
            <a:r>
              <a:rPr lang="en-US" sz="2400" dirty="0"/>
              <a:t> (Process Meta Language).</a:t>
            </a:r>
          </a:p>
          <a:p>
            <a:pPr marL="742950" lvl="1" indent="-285750">
              <a:buFont typeface="Wingdings" panose="05000000000000000000" pitchFamily="2" charset="2"/>
              <a:buChar char="v"/>
            </a:pPr>
            <a:endParaRPr lang="en-US" sz="2400" dirty="0"/>
          </a:p>
          <a:p>
            <a:pPr marL="742950" lvl="1" indent="-285750">
              <a:buFont typeface="Wingdings" panose="05000000000000000000" pitchFamily="2" charset="2"/>
              <a:buChar char="v"/>
            </a:pPr>
            <a:r>
              <a:rPr lang="en-US" sz="2400" b="1" dirty="0" err="1"/>
              <a:t>NuSMV</a:t>
            </a:r>
            <a:r>
              <a:rPr lang="en-US" sz="2400" b="1" dirty="0"/>
              <a:t>: </a:t>
            </a:r>
            <a:r>
              <a:rPr lang="en-US" sz="2400" dirty="0"/>
              <a:t>An open-source model checker supporting both symbolic and explicit model checking. Particularly suitable for hardware and software systems.</a:t>
            </a:r>
          </a:p>
          <a:p>
            <a:pPr marL="742950" lvl="1" indent="-285750">
              <a:buFont typeface="Wingdings" panose="05000000000000000000" pitchFamily="2" charset="2"/>
              <a:buChar char="v"/>
            </a:pPr>
            <a:endParaRPr lang="en-US" sz="2400" dirty="0"/>
          </a:p>
          <a:p>
            <a:pPr marL="742950" lvl="1" indent="-285750">
              <a:buFont typeface="Wingdings" panose="05000000000000000000" pitchFamily="2" charset="2"/>
              <a:buChar char="v"/>
            </a:pPr>
            <a:r>
              <a:rPr lang="en-US" sz="2400" b="1" dirty="0"/>
              <a:t>PRISM: </a:t>
            </a:r>
            <a:r>
              <a:rPr lang="en-US" sz="2400" dirty="0"/>
              <a:t>Primarily used for probabilistic model checking, PRISM is a tool for verifying systems with probabilistic and nondeterministic behavior.</a:t>
            </a:r>
          </a:p>
        </p:txBody>
      </p:sp>
    </p:spTree>
    <p:extLst>
      <p:ext uri="{BB962C8B-B14F-4D97-AF65-F5344CB8AC3E}">
        <p14:creationId xmlns:p14="http://schemas.microsoft.com/office/powerpoint/2010/main" val="2240911091"/>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Temporal Logic (Model Checking)</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000" b="1" dirty="0"/>
              <a:t>H</a:t>
            </a:r>
            <a:r>
              <a:rPr lang="en-US" sz="2000" b="1" dirty="0" smtClean="0"/>
              <a:t>ow </a:t>
            </a:r>
            <a:r>
              <a:rPr lang="en-US" sz="2000" b="1" dirty="0"/>
              <a:t>model checking can be used to verify </a:t>
            </a:r>
            <a:r>
              <a:rPr lang="en-US" sz="2000" b="1" dirty="0" smtClean="0"/>
              <a:t>system?</a:t>
            </a:r>
          </a:p>
          <a:p>
            <a:r>
              <a:rPr lang="en-US" sz="2000" b="1" dirty="0" smtClean="0"/>
              <a:t>1) Model Representation</a:t>
            </a:r>
            <a:endParaRPr lang="en-US" sz="2000" dirty="0"/>
          </a:p>
          <a:p>
            <a:pPr lvl="1"/>
            <a:r>
              <a:rPr lang="en-US" sz="2000" dirty="0"/>
              <a:t>A system is represented as a formal model, typically a finite state model or a transition system.</a:t>
            </a:r>
          </a:p>
          <a:p>
            <a:r>
              <a:rPr lang="en-US" sz="2000" b="1" dirty="0" smtClean="0"/>
              <a:t>2)Temporal </a:t>
            </a:r>
            <a:r>
              <a:rPr lang="en-US" sz="2000" b="1" dirty="0"/>
              <a:t>Logic Formulas:</a:t>
            </a:r>
            <a:endParaRPr lang="en-US" sz="2000" dirty="0"/>
          </a:p>
          <a:p>
            <a:pPr lvl="1"/>
            <a:r>
              <a:rPr lang="en-US" sz="2000" dirty="0"/>
              <a:t>Properties of interest are expressed using temporal logic formulas, such as Linear Temporal Logic (LTL) or Branching Temporal Logic (CTL).</a:t>
            </a:r>
          </a:p>
          <a:p>
            <a:r>
              <a:rPr lang="en-US" sz="2000" b="1" dirty="0" smtClean="0"/>
              <a:t>3)Traversal </a:t>
            </a:r>
            <a:r>
              <a:rPr lang="en-US" sz="2000" b="1" dirty="0"/>
              <a:t>and Verification:</a:t>
            </a:r>
            <a:endParaRPr lang="en-US" sz="2000" dirty="0"/>
          </a:p>
          <a:p>
            <a:pPr lvl="1"/>
            <a:r>
              <a:rPr lang="en-US" sz="2000" dirty="0"/>
              <a:t>The model checker systematically explores the state space of the system, traversing the possible states and transitions.</a:t>
            </a:r>
          </a:p>
          <a:p>
            <a:r>
              <a:rPr lang="en-US" sz="2000" b="1" dirty="0" smtClean="0"/>
              <a:t>4) Verification </a:t>
            </a:r>
            <a:r>
              <a:rPr lang="en-US" sz="2000" b="1" dirty="0"/>
              <a:t>Against Formulas:</a:t>
            </a:r>
            <a:endParaRPr lang="en-US" sz="2000" dirty="0"/>
          </a:p>
          <a:p>
            <a:pPr lvl="1"/>
            <a:r>
              <a:rPr lang="en-US" sz="2000" dirty="0"/>
              <a:t>At each state or along each path, the model checker evaluates the specified temporal logic formulas to check whether the desired properties hold.</a:t>
            </a:r>
          </a:p>
          <a:p>
            <a:r>
              <a:rPr lang="en-US" sz="2000" b="1" dirty="0" smtClean="0"/>
              <a:t>5) Counterexample </a:t>
            </a:r>
            <a:r>
              <a:rPr lang="en-US" sz="2000" b="1" dirty="0"/>
              <a:t>Generation:</a:t>
            </a:r>
            <a:endParaRPr lang="en-US" sz="2000" dirty="0"/>
          </a:p>
          <a:p>
            <a:pPr lvl="1"/>
            <a:r>
              <a:rPr lang="en-US" sz="2000" dirty="0"/>
              <a:t>If a violation is found, the model checker can provide a counterexample—a specific sequence of states or transitions that demonstrates the failure of the specified property.</a:t>
            </a:r>
          </a:p>
          <a:p>
            <a:pPr lvl="1"/>
            <a:r>
              <a:rPr lang="en-US" i="1" dirty="0" smtClean="0"/>
              <a:t> </a:t>
            </a:r>
            <a:endParaRPr lang="en-US" dirty="0"/>
          </a:p>
        </p:txBody>
      </p:sp>
    </p:spTree>
    <p:extLst>
      <p:ext uri="{BB962C8B-B14F-4D97-AF65-F5344CB8AC3E}">
        <p14:creationId xmlns:p14="http://schemas.microsoft.com/office/powerpoint/2010/main" val="446765037"/>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Temporal Logic (Model Checking)</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400" b="1" dirty="0" smtClean="0"/>
              <a:t>Advantages of Model Checking</a:t>
            </a:r>
          </a:p>
          <a:p>
            <a:r>
              <a:rPr lang="en-US" sz="2400" b="1" dirty="0" smtClean="0"/>
              <a:t>1) </a:t>
            </a:r>
            <a:r>
              <a:rPr lang="en-US" sz="2400" b="1" dirty="0"/>
              <a:t>Automation:</a:t>
            </a:r>
            <a:endParaRPr lang="en-US" sz="2400" dirty="0"/>
          </a:p>
          <a:p>
            <a:pPr lvl="1"/>
            <a:r>
              <a:rPr lang="en-US" sz="2400" dirty="0"/>
              <a:t>Model checking is an automated process, reducing the need for manual inspection and providing a systematic approach to verification.</a:t>
            </a:r>
          </a:p>
          <a:p>
            <a:r>
              <a:rPr lang="en-US" sz="2400" b="1" dirty="0" smtClean="0"/>
              <a:t>2)Completeness</a:t>
            </a:r>
            <a:r>
              <a:rPr lang="en-US" sz="2400" b="1" dirty="0"/>
              <a:t>:</a:t>
            </a:r>
            <a:endParaRPr lang="en-US" sz="2400" dirty="0"/>
          </a:p>
          <a:p>
            <a:pPr lvl="1"/>
            <a:r>
              <a:rPr lang="en-US" sz="2400" dirty="0"/>
              <a:t>Model checking explores the entire state space, providing completeness in checking all possible scenarios.</a:t>
            </a:r>
          </a:p>
          <a:p>
            <a:r>
              <a:rPr lang="en-US" sz="2400" b="1" dirty="0" smtClean="0"/>
              <a:t>3) Early </a:t>
            </a:r>
            <a:r>
              <a:rPr lang="en-US" sz="2400" b="1" dirty="0"/>
              <a:t>Detection of Issues:</a:t>
            </a:r>
            <a:endParaRPr lang="en-US" sz="2400" dirty="0"/>
          </a:p>
          <a:p>
            <a:pPr lvl="1"/>
            <a:r>
              <a:rPr lang="en-US" sz="2400" dirty="0"/>
              <a:t>Model checking can detect issues early in the development process, allowing for timely corrections and improvements.</a:t>
            </a:r>
          </a:p>
          <a:p>
            <a:r>
              <a:rPr lang="en-US" sz="2400" b="1" dirty="0" smtClean="0"/>
              <a:t>4) Formal </a:t>
            </a:r>
            <a:r>
              <a:rPr lang="en-US" sz="2400" b="1" dirty="0"/>
              <a:t>Specification:</a:t>
            </a:r>
            <a:endParaRPr lang="en-US" sz="2400" dirty="0"/>
          </a:p>
          <a:p>
            <a:pPr lvl="1"/>
            <a:r>
              <a:rPr lang="en-US" sz="2400" dirty="0"/>
              <a:t>Temporal logic formulas provide a formal and expressive way to specify properties, making them suitable for model checking.</a:t>
            </a:r>
          </a:p>
          <a:p>
            <a:pPr lvl="1"/>
            <a:r>
              <a:rPr lang="en-US" sz="2400" i="1" dirty="0" smtClean="0"/>
              <a:t> </a:t>
            </a:r>
            <a:endParaRPr lang="en-US" sz="2400" dirty="0"/>
          </a:p>
        </p:txBody>
      </p:sp>
    </p:spTree>
    <p:extLst>
      <p:ext uri="{BB962C8B-B14F-4D97-AF65-F5344CB8AC3E}">
        <p14:creationId xmlns:p14="http://schemas.microsoft.com/office/powerpoint/2010/main" val="269732298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581043" y="702000"/>
            <a:ext cx="11028240" cy="1012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r>
              <a:rPr lang="en-US" sz="2800" b="1" spc="-1" dirty="0" smtClean="0">
                <a:solidFill>
                  <a:srgbClr val="FF0000"/>
                </a:solidFill>
                <a:latin typeface="Gill Sans"/>
                <a:ea typeface="Gill Sans"/>
              </a:rPr>
              <a:t>Temporal Logic (Model Checking)</a:t>
            </a:r>
            <a:endParaRPr lang="en-US" sz="2800" b="1" spc="-1" dirty="0">
              <a:solidFill>
                <a:srgbClr val="FF0000"/>
              </a:solidFill>
              <a:latin typeface="Arial"/>
            </a:endParaRPr>
          </a:p>
        </p:txBody>
      </p:sp>
      <p:sp>
        <p:nvSpPr>
          <p:cNvPr id="105" name="CustomShape 2"/>
          <p:cNvSpPr/>
          <p:nvPr/>
        </p:nvSpPr>
        <p:spPr>
          <a:xfrm>
            <a:off x="581043" y="1714320"/>
            <a:ext cx="11028240" cy="4793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2400" b="1" dirty="0" smtClean="0"/>
              <a:t>Limitations of Model Checking</a:t>
            </a:r>
          </a:p>
          <a:p>
            <a:r>
              <a:rPr lang="en-US" sz="2400" b="1" dirty="0" smtClean="0"/>
              <a:t>1) </a:t>
            </a:r>
            <a:r>
              <a:rPr lang="en-US" sz="2400" b="1" dirty="0"/>
              <a:t>State Explosion Problem:</a:t>
            </a:r>
            <a:endParaRPr lang="en-US" sz="2400" dirty="0"/>
          </a:p>
          <a:p>
            <a:pPr lvl="1"/>
            <a:r>
              <a:rPr lang="en-US" sz="2400" dirty="0"/>
              <a:t>For large and complex systems, the state space can become exponentially large, leading to the "state explosion" problem.</a:t>
            </a:r>
          </a:p>
          <a:p>
            <a:r>
              <a:rPr lang="en-US" sz="2400" b="1" dirty="0" smtClean="0"/>
              <a:t>2) Precision </a:t>
            </a:r>
            <a:r>
              <a:rPr lang="en-US" sz="2400" b="1" dirty="0"/>
              <a:t>vs. Expressiveness:</a:t>
            </a:r>
            <a:endParaRPr lang="en-US" sz="2400" dirty="0"/>
          </a:p>
          <a:p>
            <a:pPr lvl="1"/>
            <a:r>
              <a:rPr lang="en-US" sz="2400" dirty="0"/>
              <a:t>Balancing precision and expressiveness in temporal logic formulas can be challenging.</a:t>
            </a:r>
          </a:p>
          <a:p>
            <a:r>
              <a:rPr lang="en-US" sz="2400" b="1" dirty="0" smtClean="0"/>
              <a:t>3) Property </a:t>
            </a:r>
            <a:r>
              <a:rPr lang="en-US" sz="2400" b="1" dirty="0"/>
              <a:t>Specification:</a:t>
            </a:r>
            <a:endParaRPr lang="en-US" sz="2400" dirty="0"/>
          </a:p>
          <a:p>
            <a:pPr lvl="1"/>
            <a:r>
              <a:rPr lang="en-US" sz="2400" dirty="0"/>
              <a:t>The effectiveness of model checking relies on the accuracy of the specified properties. Incorrect or incomplete specifications may lead to false results.</a:t>
            </a:r>
          </a:p>
          <a:p>
            <a:pPr lvl="1"/>
            <a:r>
              <a:rPr lang="en-US" sz="2400" i="1" dirty="0" smtClean="0"/>
              <a:t> </a:t>
            </a:r>
            <a:endParaRPr lang="en-US" sz="2400" dirty="0"/>
          </a:p>
        </p:txBody>
      </p:sp>
    </p:spTree>
    <p:extLst>
      <p:ext uri="{BB962C8B-B14F-4D97-AF65-F5344CB8AC3E}">
        <p14:creationId xmlns:p14="http://schemas.microsoft.com/office/powerpoint/2010/main" val="422644817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84C809AD19F7E4D9CE8D686D62A7F25" ma:contentTypeVersion="2" ma:contentTypeDescription="Create a new document." ma:contentTypeScope="" ma:versionID="892bf44ddc1b14daecb87b8e9b6f2f21">
  <xsd:schema xmlns:xsd="http://www.w3.org/2001/XMLSchema" xmlns:xs="http://www.w3.org/2001/XMLSchema" xmlns:p="http://schemas.microsoft.com/office/2006/metadata/properties" xmlns:ns2="8dae1f0d-6849-4bb1-b2e3-71de3eaa5682" targetNamespace="http://schemas.microsoft.com/office/2006/metadata/properties" ma:root="true" ma:fieldsID="13e074c1d8f3a4c682c6070ca9a6aa30" ns2:_="">
    <xsd:import namespace="8dae1f0d-6849-4bb1-b2e3-71de3eaa5682"/>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ae1f0d-6849-4bb1-b2e3-71de3eaa56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88405FF-CA5F-41D5-9BC4-861E6A1F5FEB}">
  <ds:schemaRefs>
    <ds:schemaRef ds:uri="http://www.w3.org/XML/1998/namespace"/>
    <ds:schemaRef ds:uri="http://purl.org/dc/elements/1.1/"/>
    <ds:schemaRef ds:uri="http://schemas.openxmlformats.org/package/2006/metadata/core-properties"/>
    <ds:schemaRef ds:uri="http://schemas.microsoft.com/office/2006/documentManagement/types"/>
    <ds:schemaRef ds:uri="http://schemas.microsoft.com/office/2006/metadata/properties"/>
    <ds:schemaRef ds:uri="http://purl.org/dc/dcmitype/"/>
    <ds:schemaRef ds:uri="8dae1f0d-6849-4bb1-b2e3-71de3eaa5682"/>
    <ds:schemaRef ds:uri="http://purl.org/dc/terms/"/>
    <ds:schemaRef ds:uri="http://schemas.microsoft.com/office/infopath/2007/PartnerControls"/>
  </ds:schemaRefs>
</ds:datastoreItem>
</file>

<file path=customXml/itemProps2.xml><?xml version="1.0" encoding="utf-8"?>
<ds:datastoreItem xmlns:ds="http://schemas.openxmlformats.org/officeDocument/2006/customXml" ds:itemID="{F717FF2B-504A-4957-AD6B-0978B3826508}">
  <ds:schemaRefs>
    <ds:schemaRef ds:uri="http://schemas.microsoft.com/sharepoint/v3/contenttype/forms"/>
  </ds:schemaRefs>
</ds:datastoreItem>
</file>

<file path=customXml/itemProps3.xml><?xml version="1.0" encoding="utf-8"?>
<ds:datastoreItem xmlns:ds="http://schemas.openxmlformats.org/officeDocument/2006/customXml" ds:itemID="{E1439D15-3892-40D8-8ACA-77C1B41C200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dae1f0d-6849-4bb1-b2e3-71de3eaa56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Waveform</Template>
  <TotalTime>7398556</TotalTime>
  <Words>4776</Words>
  <Application>Microsoft Office PowerPoint</Application>
  <PresentationFormat>Custom</PresentationFormat>
  <Paragraphs>356</Paragraphs>
  <Slides>41</Slides>
  <Notes>1</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Waveform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Ayesha</dc:creator>
  <cp:lastModifiedBy>farida memon</cp:lastModifiedBy>
  <cp:revision>43</cp:revision>
  <dcterms:modified xsi:type="dcterms:W3CDTF">2024-01-29T04:34:40Z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0x010100384C809AD19F7E4D9CE8D686D62A7F25</vt:lpwstr>
  </property>
</Properties>
</file>