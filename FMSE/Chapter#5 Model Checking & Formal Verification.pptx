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1" r:id="rId4"/>
    <p:sldMasterId id="2147483733" r:id="rId5"/>
  </p:sldMasterIdLst>
  <p:notesMasterIdLst>
    <p:notesMasterId r:id="rId48"/>
  </p:notesMasterIdLst>
  <p:sldIdLst>
    <p:sldId id="337" r:id="rId6"/>
    <p:sldId id="318" r:id="rId7"/>
    <p:sldId id="322" r:id="rId8"/>
    <p:sldId id="323" r:id="rId9"/>
    <p:sldId id="324" r:id="rId10"/>
    <p:sldId id="325" r:id="rId11"/>
    <p:sldId id="326" r:id="rId12"/>
    <p:sldId id="319" r:id="rId13"/>
    <p:sldId id="320" r:id="rId14"/>
    <p:sldId id="321" r:id="rId15"/>
    <p:sldId id="327" r:id="rId16"/>
    <p:sldId id="328" r:id="rId17"/>
    <p:sldId id="329" r:id="rId18"/>
    <p:sldId id="369" r:id="rId19"/>
    <p:sldId id="330" r:id="rId20"/>
    <p:sldId id="331" r:id="rId21"/>
    <p:sldId id="338" r:id="rId22"/>
    <p:sldId id="339" r:id="rId23"/>
    <p:sldId id="340" r:id="rId24"/>
    <p:sldId id="341" r:id="rId25"/>
    <p:sldId id="342" r:id="rId26"/>
    <p:sldId id="367" r:id="rId27"/>
    <p:sldId id="343" r:id="rId28"/>
    <p:sldId id="344" r:id="rId29"/>
    <p:sldId id="345" r:id="rId30"/>
    <p:sldId id="346" r:id="rId31"/>
    <p:sldId id="347" r:id="rId32"/>
    <p:sldId id="348" r:id="rId33"/>
    <p:sldId id="349" r:id="rId34"/>
    <p:sldId id="350" r:id="rId35"/>
    <p:sldId id="368" r:id="rId36"/>
    <p:sldId id="366" r:id="rId37"/>
    <p:sldId id="365" r:id="rId38"/>
    <p:sldId id="361" r:id="rId39"/>
    <p:sldId id="362" r:id="rId40"/>
    <p:sldId id="363" r:id="rId41"/>
    <p:sldId id="364" r:id="rId42"/>
    <p:sldId id="352" r:id="rId43"/>
    <p:sldId id="353" r:id="rId44"/>
    <p:sldId id="351" r:id="rId45"/>
    <p:sldId id="354" r:id="rId46"/>
    <p:sldId id="35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3" d="100"/>
          <a:sy n="63" d="100"/>
        </p:scale>
        <p:origin x="-120" y="-15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4" name="PlaceHolder 1"/>
          <p:cNvSpPr>
            <a:spLocks noGrp="1" noRot="1" noChangeAspect="1"/>
          </p:cNvSpPr>
          <p:nvPr>
            <p:ph type="sldImg"/>
          </p:nvPr>
        </p:nvSpPr>
        <p:spPr>
          <a:xfrm>
            <a:off x="217488" y="812800"/>
            <a:ext cx="7124700" cy="4008438"/>
          </a:xfrm>
          <a:prstGeom prst="rect">
            <a:avLst/>
          </a:prstGeom>
        </p:spPr>
        <p:txBody>
          <a:bodyPr lIns="0" tIns="0" rIns="0" bIns="0" anchor="ctr"/>
          <a:lstStyle/>
          <a:p>
            <a:pPr algn="ctr"/>
            <a:r>
              <a:rPr lang="en-US" sz="4400" b="0" strike="noStrike" spc="-1" dirty="0">
                <a:latin typeface="Arial"/>
              </a:rPr>
              <a:t>Click to move the slide</a:t>
            </a:r>
          </a:p>
        </p:txBody>
      </p:sp>
      <p:sp>
        <p:nvSpPr>
          <p:cNvPr id="85" name="PlaceHolder 2"/>
          <p:cNvSpPr>
            <a:spLocks noGrp="1"/>
          </p:cNvSpPr>
          <p:nvPr>
            <p:ph type="body"/>
          </p:nvPr>
        </p:nvSpPr>
        <p:spPr>
          <a:xfrm>
            <a:off x="756000" y="5078520"/>
            <a:ext cx="6047640" cy="4811040"/>
          </a:xfrm>
          <a:prstGeom prst="rect">
            <a:avLst/>
          </a:prstGeom>
        </p:spPr>
        <p:txBody>
          <a:bodyPr lIns="0" tIns="0" rIns="0" bIns="0"/>
          <a:lstStyle/>
          <a:p>
            <a:r>
              <a:rPr lang="en-US" sz="2000" b="0" strike="noStrike" spc="-1">
                <a:latin typeface="Arial"/>
              </a:rPr>
              <a:t>Click to edit the notes format</a:t>
            </a:r>
          </a:p>
        </p:txBody>
      </p:sp>
      <p:sp>
        <p:nvSpPr>
          <p:cNvPr id="86" name="PlaceHolder 3"/>
          <p:cNvSpPr>
            <a:spLocks noGrp="1"/>
          </p:cNvSpPr>
          <p:nvPr>
            <p:ph type="hdr"/>
          </p:nvPr>
        </p:nvSpPr>
        <p:spPr>
          <a:xfrm>
            <a:off x="0" y="0"/>
            <a:ext cx="3280680" cy="534240"/>
          </a:xfrm>
          <a:prstGeom prst="rect">
            <a:avLst/>
          </a:prstGeom>
        </p:spPr>
        <p:txBody>
          <a:bodyPr lIns="0" tIns="0" rIns="0" bIns="0"/>
          <a:lstStyle/>
          <a:p>
            <a:r>
              <a:rPr lang="en-US" sz="1400" b="0" strike="noStrike" spc="-1" dirty="0">
                <a:latin typeface="Times New Roman"/>
              </a:rPr>
              <a:t> </a:t>
            </a:r>
          </a:p>
        </p:txBody>
      </p:sp>
      <p:sp>
        <p:nvSpPr>
          <p:cNvPr id="87" name="PlaceHolder 4"/>
          <p:cNvSpPr>
            <a:spLocks noGrp="1"/>
          </p:cNvSpPr>
          <p:nvPr>
            <p:ph type="dt"/>
          </p:nvPr>
        </p:nvSpPr>
        <p:spPr>
          <a:xfrm>
            <a:off x="4278960" y="0"/>
            <a:ext cx="3280680" cy="534240"/>
          </a:xfrm>
          <a:prstGeom prst="rect">
            <a:avLst/>
          </a:prstGeom>
        </p:spPr>
        <p:txBody>
          <a:bodyPr lIns="0" tIns="0" rIns="0" bIns="0"/>
          <a:lstStyle/>
          <a:p>
            <a:pPr algn="r"/>
            <a:r>
              <a:rPr lang="en-US" sz="1400" b="0" strike="noStrike" spc="-1" dirty="0">
                <a:latin typeface="Times New Roman"/>
              </a:rPr>
              <a:t> </a:t>
            </a:r>
          </a:p>
        </p:txBody>
      </p:sp>
      <p:sp>
        <p:nvSpPr>
          <p:cNvPr id="88" name="PlaceHolder 5"/>
          <p:cNvSpPr>
            <a:spLocks noGrp="1"/>
          </p:cNvSpPr>
          <p:nvPr>
            <p:ph type="ftr"/>
          </p:nvPr>
        </p:nvSpPr>
        <p:spPr>
          <a:xfrm>
            <a:off x="0" y="10157400"/>
            <a:ext cx="3280680" cy="534240"/>
          </a:xfrm>
          <a:prstGeom prst="rect">
            <a:avLst/>
          </a:prstGeom>
        </p:spPr>
        <p:txBody>
          <a:bodyPr lIns="0" tIns="0" rIns="0" bIns="0" anchor="b"/>
          <a:lstStyle/>
          <a:p>
            <a:r>
              <a:rPr lang="en-US" sz="1400" b="0" strike="noStrike" spc="-1" dirty="0">
                <a:latin typeface="Times New Roman"/>
              </a:rPr>
              <a:t> </a:t>
            </a:r>
          </a:p>
        </p:txBody>
      </p:sp>
      <p:sp>
        <p:nvSpPr>
          <p:cNvPr id="89" name="PlaceHolder 6"/>
          <p:cNvSpPr>
            <a:spLocks noGrp="1"/>
          </p:cNvSpPr>
          <p:nvPr>
            <p:ph type="sldNum"/>
          </p:nvPr>
        </p:nvSpPr>
        <p:spPr>
          <a:xfrm>
            <a:off x="4278960" y="10157400"/>
            <a:ext cx="3280680" cy="534240"/>
          </a:xfrm>
          <a:prstGeom prst="rect">
            <a:avLst/>
          </a:prstGeom>
        </p:spPr>
        <p:txBody>
          <a:bodyPr lIns="0" tIns="0" rIns="0" bIns="0" anchor="b"/>
          <a:lstStyle/>
          <a:p>
            <a:pPr algn="r"/>
            <a:fld id="{4EE713C5-4F38-4B67-8FCD-638F4DC104C3}" type="slidenum">
              <a:rPr lang="en-US" sz="1400" b="0" strike="noStrike" spc="-1">
                <a:latin typeface="Times New Roman"/>
              </a:rPr>
              <a:t>‹#›</a:t>
            </a:fld>
            <a:endParaRPr lang="en-US" sz="1400" b="0" strike="noStrike" spc="-1" dirty="0">
              <a:latin typeface="Times New Roman"/>
            </a:endParaRPr>
          </a:p>
        </p:txBody>
      </p:sp>
    </p:spTree>
    <p:extLst>
      <p:ext uri="{BB962C8B-B14F-4D97-AF65-F5344CB8AC3E}">
        <p14:creationId xmlns:p14="http://schemas.microsoft.com/office/powerpoint/2010/main" val="308859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fld id="{8F08CAC1-2AAA-49B7-8B9D-2B1CB20E4F1E}" type="slidenum">
              <a:rPr lang="en-US" altLang="en-US" sz="1200">
                <a:solidFill>
                  <a:prstClr val="black"/>
                </a:solidFill>
                <a:latin typeface="Times New Roman" pitchFamily="18" charset="0"/>
              </a:rPr>
              <a:pPr/>
              <a:t>20</a:t>
            </a:fld>
            <a:endParaRPr lang="en-US" altLang="en-US" sz="1200">
              <a:solidFill>
                <a:prstClr val="black"/>
              </a:solidFill>
              <a:latin typeface="Times New Roman" pitchFamily="18" charset="0"/>
            </a:endParaRPr>
          </a:p>
        </p:txBody>
      </p:sp>
      <p:sp>
        <p:nvSpPr>
          <p:cNvPr id="5123" name="Rectangle 2"/>
          <p:cNvSpPr>
            <a:spLocks noGrp="1" noRot="1" noChangeAspect="1" noChangeArrowheads="1" noTextEdit="1"/>
          </p:cNvSpPr>
          <p:nvPr>
            <p:ph type="sldImg"/>
          </p:nvPr>
        </p:nvSpPr>
        <p:spPr>
          <a:xfrm>
            <a:off x="1143000" y="685800"/>
            <a:ext cx="4572000" cy="3429000"/>
          </a:xfrm>
          <a:ln/>
        </p:spPr>
      </p:sp>
      <p:sp>
        <p:nvSpPr>
          <p:cNvPr id="512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4AF466F-BDA4-4F18-9C7B-FF0A9A1B0E80}" type="datetime1">
              <a:rPr lang="en-US" smtClean="0"/>
              <a:pPr/>
              <a:t>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EF607B-A47E-422C-9BEF-122CCDB7C526}" type="datetime1">
              <a:rPr lang="en-US" smtClean="0"/>
              <a:pPr/>
              <a:t>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14"/>
          <p:cNvSpPr>
            <a:spLocks/>
          </p:cNvSpPr>
          <p:nvPr/>
        </p:nvSpPr>
        <p:spPr bwMode="hidden">
          <a:xfrm>
            <a:off x="8063251"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8"/>
          <p:cNvSpPr>
            <a:spLocks/>
          </p:cNvSpPr>
          <p:nvPr/>
        </p:nvSpPr>
        <p:spPr bwMode="hidden">
          <a:xfrm>
            <a:off x="3492427"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22"/>
          <p:cNvSpPr>
            <a:spLocks/>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26"/>
          <p:cNvSpPr>
            <a:spLocks/>
          </p:cNvSpPr>
          <p:nvPr/>
        </p:nvSpPr>
        <p:spPr bwMode="hidden">
          <a:xfrm>
            <a:off x="7479319" y="4074175"/>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3" name="Freeform 10"/>
          <p:cNvSpPr>
            <a:spLocks/>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9A7CB-BEE6-4F99-898E-913F06E8E125}" type="datetime1">
              <a:rPr lang="en-US" smtClean="0"/>
              <a:pPr/>
              <a:t>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B6EE300C-6FC5-4FC3-AF1A-075E4F50620D}" type="datetime1">
              <a:rPr lang="en-US" smtClean="0"/>
              <a:pPr/>
              <a:t>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dirty="0"/>
          </a:p>
        </p:txBody>
      </p:sp>
      <p:sp>
        <p:nvSpPr>
          <p:cNvPr id="9" name="Content Placeholder 8"/>
          <p:cNvSpPr>
            <a:spLocks noGrp="1"/>
          </p:cNvSpPr>
          <p:nvPr>
            <p:ph sz="quarter" idx="13"/>
          </p:nvPr>
        </p:nvSpPr>
        <p:spPr>
          <a:xfrm>
            <a:off x="902207" y="2679192"/>
            <a:ext cx="5096256"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6193536" y="2679192"/>
            <a:ext cx="5096256"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03110" y="3429001"/>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7" y="3429001"/>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50D295D-4A77-4DEB-B04C-9F4282A8BC04}" type="datetime1">
              <a:rPr lang="en-US" smtClean="0"/>
              <a:pPr/>
              <a:t>2/15/2024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B28685-4D0C-42D5-8013-B5904CD1FCBC}" type="datetime1">
              <a:rPr lang="en-US" smtClean="0"/>
              <a:pPr/>
              <a:t>2/15/2024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Date Placeholder 1"/>
          <p:cNvSpPr>
            <a:spLocks noGrp="1"/>
          </p:cNvSpPr>
          <p:nvPr>
            <p:ph type="dt" sz="half" idx="10"/>
          </p:nvPr>
        </p:nvSpPr>
        <p:spPr/>
        <p:txBody>
          <a:bodyPr/>
          <a:lstStyle/>
          <a:p>
            <a:fld id="{FDF226C0-9885-4BA9-BBFA-A52CBFEBB775}" type="datetime1">
              <a:rPr lang="en-US" smtClean="0"/>
              <a:pPr/>
              <a:t>2/15/2024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p:cNvSpPr>
            <a:spLocks noGrp="1"/>
          </p:cNvSpPr>
          <p:nvPr>
            <p:ph type="dt" sz="half" idx="10"/>
          </p:nvPr>
        </p:nvSpPr>
        <p:spPr/>
        <p:txBody>
          <a:bodyPr/>
          <a:lstStyle/>
          <a:p>
            <a:fld id="{EBEE1B38-C5EB-4D66-9137-0AFE9CDEDE8F}" type="datetime1">
              <a:rPr lang="en-US" smtClean="0"/>
              <a:pPr/>
              <a:t>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dirty="0"/>
          </a:p>
        </p:txBody>
      </p:sp>
      <p:sp>
        <p:nvSpPr>
          <p:cNvPr id="4" name="Text Placeholder 3"/>
          <p:cNvSpPr>
            <a:spLocks noGrp="1"/>
          </p:cNvSpPr>
          <p:nvPr>
            <p:ph type="body" sz="half" idx="2"/>
          </p:nvPr>
        </p:nvSpPr>
        <p:spPr>
          <a:xfrm>
            <a:off x="1219200" y="3581401"/>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02616"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title"/>
          </p:nvPr>
        </p:nvSpPr>
        <p:spPr>
          <a:xfrm>
            <a:off x="6498874" y="338667"/>
            <a:ext cx="5083527"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6491112"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7B613C-1AD7-49D3-885D-F654C5CDBAA6}" type="datetime1">
              <a:rPr lang="en-US" smtClean="0"/>
              <a:pPr/>
              <a:t>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dirty="0"/>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FB4290-6522-4139-852E-05BD9E7F0D2E}" type="datetime1">
              <a:rPr lang="en-US" smtClean="0"/>
              <a:pPr/>
              <a:t>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10"/>
          </p:nvPr>
        </p:nvSpPr>
        <p:spPr/>
        <p:txBody>
          <a:bodyPr/>
          <a:lstStyle/>
          <a:p>
            <a:fld id="{AAB955F9-81EA-47C5-8059-9E5C2B437C70}" type="datetime1">
              <a:rPr lang="en-US" smtClean="0"/>
              <a:pPr/>
              <a:t>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Vertical Title 1"/>
          <p:cNvSpPr>
            <a:spLocks noGrp="1"/>
          </p:cNvSpPr>
          <p:nvPr>
            <p:ph type="title" orient="vert"/>
          </p:nvPr>
        </p:nvSpPr>
        <p:spPr>
          <a:xfrm>
            <a:off x="8839200" y="1447801"/>
            <a:ext cx="27432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 y="2438401"/>
            <a:ext cx="12012084"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fontAlgn="base">
                  <a:spcBef>
                    <a:spcPct val="0"/>
                  </a:spcBef>
                  <a:spcAft>
                    <a:spcPct val="0"/>
                  </a:spcAft>
                  <a:defRPr/>
                </a:pPr>
                <a:endParaRPr lang="en-US" altLang="en-US" dirty="0">
                  <a:solidFill>
                    <a:srgbClr val="000000"/>
                  </a:solidFill>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fontAlgn="base">
                  <a:spcBef>
                    <a:spcPct val="0"/>
                  </a:spcBef>
                  <a:spcAft>
                    <a:spcPct val="0"/>
                  </a:spcAft>
                  <a:defRPr/>
                </a:pPr>
                <a:endParaRPr lang="en-US" altLang="en-US" dirty="0">
                  <a:solidFill>
                    <a:srgbClr val="000000"/>
                  </a:solidFill>
                </a:endParaRPr>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fontAlgn="base">
                  <a:spcBef>
                    <a:spcPct val="0"/>
                  </a:spcBef>
                  <a:spcAft>
                    <a:spcPct val="0"/>
                  </a:spcAft>
                  <a:defRPr/>
                </a:pPr>
                <a:endParaRPr lang="en-US" altLang="en-US" dirty="0">
                  <a:solidFill>
                    <a:srgbClr val="000000"/>
                  </a:solidFill>
                </a:endParaRPr>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fontAlgn="base">
                  <a:spcBef>
                    <a:spcPct val="0"/>
                  </a:spcBef>
                  <a:spcAft>
                    <a:spcPct val="0"/>
                  </a:spcAft>
                  <a:defRPr/>
                </a:pPr>
                <a:endParaRPr lang="en-US" altLang="en-US" dirty="0">
                  <a:solidFill>
                    <a:srgbClr val="000000"/>
                  </a:solidFill>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fontAlgn="base">
                <a:spcBef>
                  <a:spcPct val="0"/>
                </a:spcBef>
                <a:spcAft>
                  <a:spcPct val="0"/>
                </a:spcAft>
                <a:defRPr/>
              </a:pPr>
              <a:endParaRPr lang="en-US" altLang="en-US" dirty="0">
                <a:solidFill>
                  <a:srgbClr val="000000"/>
                </a:solidFill>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fontAlgn="base">
                <a:spcBef>
                  <a:spcPct val="0"/>
                </a:spcBef>
                <a:spcAft>
                  <a:spcPct val="0"/>
                </a:spcAft>
                <a:defRPr/>
              </a:pPr>
              <a:endParaRPr lang="en-US" altLang="en-US" dirty="0">
                <a:solidFill>
                  <a:srgbClr val="000000"/>
                </a:solidFill>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fontAlgn="base">
                <a:spcBef>
                  <a:spcPct val="0"/>
                </a:spcBef>
                <a:spcAft>
                  <a:spcPct val="0"/>
                </a:spcAft>
                <a:defRPr/>
              </a:pPr>
              <a:endParaRPr lang="en-US" altLang="en-US" dirty="0">
                <a:solidFill>
                  <a:srgbClr val="000000"/>
                </a:solidFill>
              </a:endParaRPr>
            </a:p>
          </p:txBody>
        </p:sp>
      </p:grpSp>
      <p:sp>
        <p:nvSpPr>
          <p:cNvPr id="133132" name="Rectangle 12"/>
          <p:cNvSpPr>
            <a:spLocks noGrp="1" noChangeArrowheads="1"/>
          </p:cNvSpPr>
          <p:nvPr>
            <p:ph type="ctrTitle"/>
          </p:nvPr>
        </p:nvSpPr>
        <p:spPr>
          <a:xfrm>
            <a:off x="1320800" y="1828800"/>
            <a:ext cx="10363200" cy="1143000"/>
          </a:xfrm>
        </p:spPr>
        <p:txBody>
          <a:bodyPr/>
          <a:lstStyle>
            <a:lvl1pPr>
              <a:defRPr/>
            </a:lvl1pPr>
          </a:lstStyle>
          <a:p>
            <a:pPr lvl="0"/>
            <a:r>
              <a:rPr lang="en-US" noProof="0"/>
              <a:t>Click to edit Master title style</a:t>
            </a:r>
          </a:p>
        </p:txBody>
      </p:sp>
      <p:sp>
        <p:nvSpPr>
          <p:cNvPr id="133133" name="Rectangle 1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pPr lvl="0"/>
            <a:r>
              <a:rPr lang="en-US" noProof="0"/>
              <a:t>Click to edit Master subtitle style</a:t>
            </a:r>
          </a:p>
        </p:txBody>
      </p:sp>
      <p:sp>
        <p:nvSpPr>
          <p:cNvPr id="14" name="Rectangle 14"/>
          <p:cNvSpPr>
            <a:spLocks noGrp="1" noChangeArrowheads="1"/>
          </p:cNvSpPr>
          <p:nvPr>
            <p:ph type="dt" sz="half" idx="10"/>
          </p:nvPr>
        </p:nvSpPr>
        <p:spPr>
          <a:xfrm>
            <a:off x="1320800" y="6248400"/>
            <a:ext cx="2540000" cy="457200"/>
          </a:xfrm>
        </p:spPr>
        <p:txBody>
          <a:bodyPr/>
          <a:lstStyle>
            <a:lvl1pPr>
              <a:defRPr>
                <a:solidFill>
                  <a:schemeClr val="bg2"/>
                </a:solidFill>
              </a:defRPr>
            </a:lvl1pPr>
          </a:lstStyle>
          <a:p>
            <a:pPr>
              <a:defRPr/>
            </a:pPr>
            <a:endParaRPr lang="en-US" dirty="0">
              <a:solidFill>
                <a:srgbClr val="1C1C1C"/>
              </a:solidFill>
            </a:endParaRPr>
          </a:p>
        </p:txBody>
      </p:sp>
      <p:sp>
        <p:nvSpPr>
          <p:cNvPr id="15" name="Rectangle 15"/>
          <p:cNvSpPr>
            <a:spLocks noGrp="1" noChangeArrowheads="1"/>
          </p:cNvSpPr>
          <p:nvPr>
            <p:ph type="ftr" sz="quarter" idx="11"/>
          </p:nvPr>
        </p:nvSpPr>
        <p:spPr>
          <a:xfrm>
            <a:off x="4572000" y="6248400"/>
            <a:ext cx="3860800" cy="457200"/>
          </a:xfrm>
        </p:spPr>
        <p:txBody>
          <a:bodyPr/>
          <a:lstStyle>
            <a:lvl1pPr>
              <a:defRPr>
                <a:solidFill>
                  <a:schemeClr val="bg2"/>
                </a:solidFill>
              </a:defRPr>
            </a:lvl1pPr>
          </a:lstStyle>
          <a:p>
            <a:pPr>
              <a:defRPr/>
            </a:pPr>
            <a:endParaRPr lang="en-US" dirty="0">
              <a:solidFill>
                <a:srgbClr val="1C1C1C"/>
              </a:solidFill>
            </a:endParaRPr>
          </a:p>
        </p:txBody>
      </p:sp>
      <p:sp>
        <p:nvSpPr>
          <p:cNvPr id="16" name="Rectangle 16"/>
          <p:cNvSpPr>
            <a:spLocks noGrp="1" noChangeArrowheads="1"/>
          </p:cNvSpPr>
          <p:nvPr>
            <p:ph type="sldNum" sz="quarter" idx="12"/>
          </p:nvPr>
        </p:nvSpPr>
        <p:spPr>
          <a:xfrm>
            <a:off x="9144000" y="6248400"/>
            <a:ext cx="2540000" cy="457200"/>
          </a:xfrm>
        </p:spPr>
        <p:txBody>
          <a:bodyPr/>
          <a:lstStyle>
            <a:lvl1pPr>
              <a:defRPr>
                <a:solidFill>
                  <a:schemeClr val="bg2"/>
                </a:solidFill>
              </a:defRPr>
            </a:lvl1pPr>
          </a:lstStyle>
          <a:p>
            <a:fld id="{043DA145-BA71-4C80-806E-C56B0D770903}" type="slidenum">
              <a:rPr lang="en-US" altLang="en-US">
                <a:solidFill>
                  <a:srgbClr val="1C1C1C"/>
                </a:solidFill>
              </a:rPr>
              <a:pPr/>
              <a:t>‹#›</a:t>
            </a:fld>
            <a:endParaRPr lang="en-US" altLang="en-US" dirty="0">
              <a:solidFill>
                <a:srgbClr val="1C1C1C"/>
              </a:solidFill>
            </a:endParaRPr>
          </a:p>
        </p:txBody>
      </p:sp>
    </p:spTree>
    <p:extLst>
      <p:ext uri="{BB962C8B-B14F-4D97-AF65-F5344CB8AC3E}">
        <p14:creationId xmlns:p14="http://schemas.microsoft.com/office/powerpoint/2010/main" val="24387249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fld id="{CE4EAB1D-0B87-42B6-AD56-BD1E18BEA5F3}" type="slidenum">
              <a:rPr lang="en-US" altLang="en-US">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154932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fld id="{0A0A6726-FA59-44C1-9C72-008128FCEA8D}" type="slidenum">
              <a:rPr lang="en-US" altLang="en-US">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4038950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fld id="{CFFAEEAF-0900-4F74-AD66-064AA6B78C41}" type="slidenum">
              <a:rPr lang="en-US" altLang="en-US">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33238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8" name="Rectangle 12"/>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9" name="Rectangle 13"/>
          <p:cNvSpPr>
            <a:spLocks noGrp="1" noChangeArrowheads="1"/>
          </p:cNvSpPr>
          <p:nvPr>
            <p:ph type="sldNum" sz="quarter" idx="12"/>
          </p:nvPr>
        </p:nvSpPr>
        <p:spPr>
          <a:ln/>
        </p:spPr>
        <p:txBody>
          <a:bodyPr/>
          <a:lstStyle>
            <a:lvl1pPr>
              <a:defRPr/>
            </a:lvl1pPr>
          </a:lstStyle>
          <a:p>
            <a:fld id="{3DA4F46E-C820-4E5B-AB4E-CD90544DFFAC}" type="slidenum">
              <a:rPr lang="en-US" altLang="en-US">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4141254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4" name="Rectangle 12"/>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5" name="Rectangle 13"/>
          <p:cNvSpPr>
            <a:spLocks noGrp="1" noChangeArrowheads="1"/>
          </p:cNvSpPr>
          <p:nvPr>
            <p:ph type="sldNum" sz="quarter" idx="12"/>
          </p:nvPr>
        </p:nvSpPr>
        <p:spPr>
          <a:ln/>
        </p:spPr>
        <p:txBody>
          <a:bodyPr/>
          <a:lstStyle>
            <a:lvl1pPr>
              <a:defRPr/>
            </a:lvl1pPr>
          </a:lstStyle>
          <a:p>
            <a:fld id="{AAF3EDEE-5432-46F8-85F3-B7EC9EABC42A}" type="slidenum">
              <a:rPr lang="en-US" altLang="en-US">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39458328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3" name="Rectangle 12"/>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4" name="Rectangle 13"/>
          <p:cNvSpPr>
            <a:spLocks noGrp="1" noChangeArrowheads="1"/>
          </p:cNvSpPr>
          <p:nvPr>
            <p:ph type="sldNum" sz="quarter" idx="12"/>
          </p:nvPr>
        </p:nvSpPr>
        <p:spPr>
          <a:ln/>
        </p:spPr>
        <p:txBody>
          <a:bodyPr/>
          <a:lstStyle>
            <a:lvl1pPr>
              <a:defRPr/>
            </a:lvl1pPr>
          </a:lstStyle>
          <a:p>
            <a:fld id="{EDD6F0D3-C6FE-437F-BCD7-C85E9A6FB36C}" type="slidenum">
              <a:rPr lang="en-US" altLang="en-US">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0241121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fld id="{AE72BE71-43BC-4E89-B05E-CC0E5681D197}" type="slidenum">
              <a:rPr lang="en-US" altLang="en-US">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34304923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fld id="{14D0F2A8-E256-432F-8B00-2B61A272F36E}" type="slidenum">
              <a:rPr lang="en-US" altLang="en-US">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9327992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fld id="{E200F88A-8A1A-45D0-8E44-742862A37B55}" type="slidenum">
              <a:rPr lang="en-US" altLang="en-US">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548722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38733" y="617539"/>
            <a:ext cx="2601384" cy="55149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34584" y="617539"/>
            <a:ext cx="7600949" cy="5514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fld id="{83DE9941-3CA5-4A78-80BF-A6AE87D347B8}" type="slidenum">
              <a:rPr lang="en-US" altLang="en-US">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4222763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6884896" y="6250165"/>
            <a:ext cx="5048920" cy="365125"/>
          </a:xfrm>
          <a:prstGeom prst="rect">
            <a:avLst/>
          </a:prstGeom>
        </p:spPr>
        <p:txBody>
          <a:bodyPr vert="horz" lIns="91440" tIns="45720" rIns="91440" bIns="45720" rtlCol="0" anchor="ctr"/>
          <a:lstStyle>
            <a:lvl1pPr algn="r">
              <a:defRPr sz="1000">
                <a:solidFill>
                  <a:schemeClr val="tx2"/>
                </a:solidFill>
              </a:defRPr>
            </a:lvl1pPr>
          </a:lstStyle>
          <a:p>
            <a:fld id="{327B613C-1AD7-49D3-885D-F654C5CDBAA6}" type="datetime1">
              <a:rPr lang="en-US" smtClean="0"/>
              <a:pPr/>
              <a:t>2/15/2024</a:t>
            </a:fld>
            <a:endParaRPr lang="en-US" dirty="0"/>
          </a:p>
        </p:txBody>
      </p:sp>
      <p:sp>
        <p:nvSpPr>
          <p:cNvPr id="5" name="Footer Placeholder 4"/>
          <p:cNvSpPr>
            <a:spLocks noGrp="1"/>
          </p:cNvSpPr>
          <p:nvPr>
            <p:ph type="ftr" sz="quarter" idx="3"/>
          </p:nvPr>
        </p:nvSpPr>
        <p:spPr>
          <a:xfrm>
            <a:off x="258185" y="6250165"/>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dirty="0"/>
          </a:p>
        </p:txBody>
      </p:sp>
      <p:sp>
        <p:nvSpPr>
          <p:cNvPr id="6" name="Slide Number Placeholder 5"/>
          <p:cNvSpPr>
            <a:spLocks noGrp="1"/>
          </p:cNvSpPr>
          <p:nvPr>
            <p:ph type="sldNum" sz="quarter" idx="4"/>
          </p:nvPr>
        </p:nvSpPr>
        <p:spPr>
          <a:xfrm>
            <a:off x="5321451" y="6250164"/>
            <a:ext cx="1549101" cy="365125"/>
          </a:xfrm>
          <a:prstGeom prst="rect">
            <a:avLst/>
          </a:prstGeom>
        </p:spPr>
        <p:txBody>
          <a:bodyPr vert="horz" lIns="91440" tIns="45720" rIns="91440" bIns="45720" rtlCol="0" anchor="ctr"/>
          <a:lstStyle>
            <a:lvl1pPr algn="ctr">
              <a:defRPr sz="1000">
                <a:solidFill>
                  <a:schemeClr val="tx2"/>
                </a:solidFill>
              </a:defRPr>
            </a:lvl1pPr>
          </a:lstStyle>
          <a:p>
            <a:fld id="{6E2D2B3B-882E-40F3-A32F-6DD516915044}" type="slidenum">
              <a:rPr lang="en-US" smtClean="0"/>
              <a:pPr/>
              <a:t>‹#›</a:t>
            </a:fld>
            <a:endParaRPr lang="en-US" dirty="0"/>
          </a:p>
        </p:txBody>
      </p:sp>
      <p:sp>
        <p:nvSpPr>
          <p:cNvPr id="3" name="Text Placeholder 2"/>
          <p:cNvSpPr>
            <a:spLocks noGrp="1"/>
          </p:cNvSpPr>
          <p:nvPr>
            <p:ph type="body" idx="1"/>
          </p:nvPr>
        </p:nvSpPr>
        <p:spPr>
          <a:xfrm>
            <a:off x="1162757" y="2675467"/>
            <a:ext cx="9877777"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556684" y="1098551"/>
            <a:ext cx="584200" cy="474663"/>
          </a:xfrm>
          <a:prstGeom prst="rect">
            <a:avLst/>
          </a:prstGeom>
          <a:solidFill>
            <a:schemeClr val="accent2"/>
          </a:soli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fontAlgn="base">
              <a:spcBef>
                <a:spcPct val="0"/>
              </a:spcBef>
              <a:spcAft>
                <a:spcPct val="0"/>
              </a:spcAft>
              <a:defRPr/>
            </a:pPr>
            <a:endParaRPr kumimoji="1" lang="en-US" altLang="en-US" dirty="0">
              <a:solidFill>
                <a:srgbClr val="000000"/>
              </a:solidFill>
            </a:endParaRPr>
          </a:p>
        </p:txBody>
      </p:sp>
      <p:sp>
        <p:nvSpPr>
          <p:cNvPr id="1027" name="Rectangle 3"/>
          <p:cNvSpPr>
            <a:spLocks noChangeArrowheads="1"/>
          </p:cNvSpPr>
          <p:nvPr/>
        </p:nvSpPr>
        <p:spPr bwMode="ltGray">
          <a:xfrm>
            <a:off x="1066801" y="1098551"/>
            <a:ext cx="438151" cy="474663"/>
          </a:xfrm>
          <a:prstGeom prst="rect">
            <a:avLst/>
          </a:prstGeom>
          <a:gradFill rotWithShape="0">
            <a:gsLst>
              <a:gs pos="0">
                <a:schemeClr val="accent2"/>
              </a:gs>
              <a:gs pos="100000">
                <a:schemeClr val="bg1"/>
              </a:gs>
            </a:gsLst>
            <a:lin ang="0" scaled="1"/>
          </a:gra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fontAlgn="base">
              <a:spcBef>
                <a:spcPct val="0"/>
              </a:spcBef>
              <a:spcAft>
                <a:spcPct val="0"/>
              </a:spcAft>
              <a:defRPr/>
            </a:pPr>
            <a:endParaRPr kumimoji="1" lang="en-US" altLang="en-US" dirty="0">
              <a:solidFill>
                <a:srgbClr val="000000"/>
              </a:solidFill>
            </a:endParaRPr>
          </a:p>
        </p:txBody>
      </p:sp>
      <p:sp>
        <p:nvSpPr>
          <p:cNvPr id="1028" name="Rectangle 4"/>
          <p:cNvSpPr>
            <a:spLocks noChangeArrowheads="1"/>
          </p:cNvSpPr>
          <p:nvPr/>
        </p:nvSpPr>
        <p:spPr bwMode="ltGray">
          <a:xfrm>
            <a:off x="721785" y="1520826"/>
            <a:ext cx="563033" cy="474663"/>
          </a:xfrm>
          <a:prstGeom prst="rect">
            <a:avLst/>
          </a:prstGeom>
          <a:solidFill>
            <a:schemeClr val="folHlink"/>
          </a:soli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fontAlgn="base">
              <a:spcBef>
                <a:spcPct val="0"/>
              </a:spcBef>
              <a:spcAft>
                <a:spcPct val="0"/>
              </a:spcAft>
              <a:defRPr/>
            </a:pPr>
            <a:endParaRPr kumimoji="1" lang="en-US" altLang="en-US" dirty="0">
              <a:solidFill>
                <a:srgbClr val="000000"/>
              </a:solidFill>
            </a:endParaRPr>
          </a:p>
        </p:txBody>
      </p:sp>
      <p:sp>
        <p:nvSpPr>
          <p:cNvPr id="1029" name="Rectangle 5"/>
          <p:cNvSpPr>
            <a:spLocks noChangeArrowheads="1"/>
          </p:cNvSpPr>
          <p:nvPr/>
        </p:nvSpPr>
        <p:spPr bwMode="ltGray">
          <a:xfrm>
            <a:off x="1214967" y="1520826"/>
            <a:ext cx="491067" cy="474663"/>
          </a:xfrm>
          <a:prstGeom prst="rect">
            <a:avLst/>
          </a:prstGeom>
          <a:gradFill rotWithShape="0">
            <a:gsLst>
              <a:gs pos="0">
                <a:schemeClr val="folHlink"/>
              </a:gs>
              <a:gs pos="100000">
                <a:schemeClr val="bg1"/>
              </a:gs>
            </a:gsLst>
            <a:lin ang="0" scaled="1"/>
          </a:gra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fontAlgn="base">
              <a:spcBef>
                <a:spcPct val="0"/>
              </a:spcBef>
              <a:spcAft>
                <a:spcPct val="0"/>
              </a:spcAft>
              <a:defRPr/>
            </a:pPr>
            <a:endParaRPr kumimoji="1" lang="en-US" altLang="en-US" dirty="0">
              <a:solidFill>
                <a:srgbClr val="000000"/>
              </a:solidFill>
            </a:endParaRPr>
          </a:p>
        </p:txBody>
      </p:sp>
      <p:sp>
        <p:nvSpPr>
          <p:cNvPr id="1030" name="Rectangle 6"/>
          <p:cNvSpPr>
            <a:spLocks noChangeArrowheads="1"/>
          </p:cNvSpPr>
          <p:nvPr/>
        </p:nvSpPr>
        <p:spPr bwMode="ltGray">
          <a:xfrm>
            <a:off x="169333" y="1447801"/>
            <a:ext cx="747184"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fontAlgn="base">
              <a:spcBef>
                <a:spcPct val="0"/>
              </a:spcBef>
              <a:spcAft>
                <a:spcPct val="0"/>
              </a:spcAft>
              <a:defRPr/>
            </a:pPr>
            <a:endParaRPr kumimoji="1" lang="en-US" altLang="en-US" dirty="0">
              <a:solidFill>
                <a:srgbClr val="000000"/>
              </a:solidFill>
            </a:endParaRPr>
          </a:p>
        </p:txBody>
      </p:sp>
      <p:sp>
        <p:nvSpPr>
          <p:cNvPr id="1031" name="Rectangle 7"/>
          <p:cNvSpPr>
            <a:spLocks noChangeArrowheads="1"/>
          </p:cNvSpPr>
          <p:nvPr/>
        </p:nvSpPr>
        <p:spPr bwMode="gray">
          <a:xfrm>
            <a:off x="1016000" y="990601"/>
            <a:ext cx="42333" cy="1052513"/>
          </a:xfrm>
          <a:prstGeom prst="rect">
            <a:avLst/>
          </a:prstGeom>
          <a:solidFill>
            <a:schemeClr val="bg2"/>
          </a:soli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fontAlgn="base">
              <a:spcBef>
                <a:spcPct val="0"/>
              </a:spcBef>
              <a:spcAft>
                <a:spcPct val="0"/>
              </a:spcAft>
              <a:defRPr/>
            </a:pPr>
            <a:endParaRPr kumimoji="1" lang="en-US" altLang="en-US" dirty="0">
              <a:solidFill>
                <a:srgbClr val="000000"/>
              </a:solidFill>
            </a:endParaRPr>
          </a:p>
        </p:txBody>
      </p:sp>
      <p:sp>
        <p:nvSpPr>
          <p:cNvPr id="1032" name="Rectangle 8"/>
          <p:cNvSpPr>
            <a:spLocks noChangeArrowheads="1"/>
          </p:cNvSpPr>
          <p:nvPr/>
        </p:nvSpPr>
        <p:spPr bwMode="gray">
          <a:xfrm>
            <a:off x="590551" y="1781175"/>
            <a:ext cx="10968567" cy="31750"/>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fontAlgn="base">
              <a:spcBef>
                <a:spcPct val="0"/>
              </a:spcBef>
              <a:spcAft>
                <a:spcPct val="0"/>
              </a:spcAft>
              <a:defRPr/>
            </a:pPr>
            <a:endParaRPr kumimoji="1" lang="en-US" altLang="en-US" dirty="0">
              <a:solidFill>
                <a:srgbClr val="000000"/>
              </a:solidFill>
            </a:endParaRPr>
          </a:p>
        </p:txBody>
      </p:sp>
      <p:sp>
        <p:nvSpPr>
          <p:cNvPr id="1033" name="Rectangle 9"/>
          <p:cNvSpPr>
            <a:spLocks noGrp="1" noChangeArrowheads="1"/>
          </p:cNvSpPr>
          <p:nvPr>
            <p:ph type="title"/>
          </p:nvPr>
        </p:nvSpPr>
        <p:spPr bwMode="auto">
          <a:xfrm>
            <a:off x="1534585" y="617538"/>
            <a:ext cx="1039071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34" name="Rectangle 10"/>
          <p:cNvSpPr>
            <a:spLocks noGrp="1" noChangeArrowheads="1"/>
          </p:cNvSpPr>
          <p:nvPr>
            <p:ph type="body" idx="1"/>
          </p:nvPr>
        </p:nvSpPr>
        <p:spPr bwMode="auto">
          <a:xfrm>
            <a:off x="1576917" y="2017713"/>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32107" name="Rectangle 11"/>
          <p:cNvSpPr>
            <a:spLocks noGrp="1" noChangeArrowheads="1"/>
          </p:cNvSpPr>
          <p:nvPr>
            <p:ph type="dt" sz="half" idx="2"/>
          </p:nvPr>
        </p:nvSpPr>
        <p:spPr bwMode="auto">
          <a:xfrm>
            <a:off x="1219200" y="6324600"/>
            <a:ext cx="2540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lvl1pPr>
          </a:lstStyle>
          <a:p>
            <a:pPr fontAlgn="base">
              <a:spcBef>
                <a:spcPct val="0"/>
              </a:spcBef>
              <a:spcAft>
                <a:spcPct val="0"/>
              </a:spcAft>
              <a:defRPr/>
            </a:pPr>
            <a:endParaRPr lang="en-US" dirty="0">
              <a:solidFill>
                <a:srgbClr val="000000"/>
              </a:solidFill>
            </a:endParaRPr>
          </a:p>
        </p:txBody>
      </p:sp>
      <p:sp>
        <p:nvSpPr>
          <p:cNvPr id="132108" name="Rectangle 12"/>
          <p:cNvSpPr>
            <a:spLocks noGrp="1" noChangeArrowheads="1"/>
          </p:cNvSpPr>
          <p:nvPr>
            <p:ph type="ftr" sz="quarter" idx="3"/>
          </p:nvPr>
        </p:nvSpPr>
        <p:spPr bwMode="auto">
          <a:xfrm>
            <a:off x="4470400" y="63246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fontAlgn="base">
              <a:spcBef>
                <a:spcPct val="0"/>
              </a:spcBef>
              <a:spcAft>
                <a:spcPct val="0"/>
              </a:spcAft>
              <a:defRPr/>
            </a:pPr>
            <a:endParaRPr lang="en-US" dirty="0">
              <a:solidFill>
                <a:srgbClr val="000000"/>
              </a:solidFill>
            </a:endParaRPr>
          </a:p>
        </p:txBody>
      </p:sp>
      <p:sp>
        <p:nvSpPr>
          <p:cNvPr id="132109" name="Rectangle 13"/>
          <p:cNvSpPr>
            <a:spLocks noGrp="1" noChangeArrowheads="1"/>
          </p:cNvSpPr>
          <p:nvPr>
            <p:ph type="sldNum" sz="quarter" idx="4"/>
          </p:nvPr>
        </p:nvSpPr>
        <p:spPr bwMode="auto">
          <a:xfrm>
            <a:off x="9042400" y="6324600"/>
            <a:ext cx="2540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lvl1pPr>
          </a:lstStyle>
          <a:p>
            <a:pPr fontAlgn="base">
              <a:spcBef>
                <a:spcPct val="0"/>
              </a:spcBef>
              <a:spcAft>
                <a:spcPct val="0"/>
              </a:spcAft>
            </a:pPr>
            <a:fld id="{FA5CC158-2B10-41EE-9C2F-4A8BFA3C245B}" type="slidenum">
              <a:rPr lang="en-US" altLang="en-US">
                <a:solidFill>
                  <a:srgbClr val="000000"/>
                </a:solidFill>
              </a:rPr>
              <a:pPr fontAlgn="base">
                <a:spcBef>
                  <a:spcPct val="0"/>
                </a:spcBef>
                <a:spcAft>
                  <a:spcPct val="0"/>
                </a:spcAft>
              </a:pPr>
              <a:t>‹#›</a:t>
            </a:fld>
            <a:endParaRPr lang="en-US" altLang="en-US" dirty="0">
              <a:solidFill>
                <a:srgbClr val="000000"/>
              </a:solidFill>
            </a:endParaRPr>
          </a:p>
        </p:txBody>
      </p:sp>
    </p:spTree>
    <p:extLst>
      <p:ext uri="{BB962C8B-B14F-4D97-AF65-F5344CB8AC3E}">
        <p14:creationId xmlns:p14="http://schemas.microsoft.com/office/powerpoint/2010/main" val="2074006492"/>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200" b="1" i="1" dirty="0" smtClean="0"/>
              <a:t>Model checking? </a:t>
            </a:r>
          </a:p>
          <a:p>
            <a:pPr marL="742950" lvl="1" indent="-285750">
              <a:buFont typeface="Wingdings" panose="05000000000000000000" pitchFamily="2" charset="2"/>
              <a:buChar char="v"/>
            </a:pPr>
            <a:r>
              <a:rPr lang="en-US" sz="2200" dirty="0"/>
              <a:t>Model checking is a formal verification technique used in computer science and software engineering to ensure that a system or a model meets specified properties or requirements</a:t>
            </a:r>
            <a:r>
              <a:rPr lang="en-US" sz="2200" dirty="0" smtClean="0"/>
              <a:t>.</a:t>
            </a:r>
          </a:p>
          <a:p>
            <a:pPr marL="742950" lvl="1" indent="-285750">
              <a:buFont typeface="Wingdings" panose="05000000000000000000" pitchFamily="2" charset="2"/>
              <a:buChar char="v"/>
            </a:pPr>
            <a:r>
              <a:rPr lang="en-US" sz="2200" dirty="0" smtClean="0"/>
              <a:t> In </a:t>
            </a:r>
            <a:r>
              <a:rPr lang="en-US" sz="2200" dirty="0"/>
              <a:t>the field of formal methods, </a:t>
            </a:r>
            <a:r>
              <a:rPr lang="en-US" sz="2200" dirty="0" smtClean="0"/>
              <a:t>it </a:t>
            </a:r>
            <a:r>
              <a:rPr lang="en-US" sz="2200" dirty="0"/>
              <a:t>involves mathematically rigorous techniques for the specification, design, and verification of software and hardware systems</a:t>
            </a:r>
            <a:r>
              <a:rPr lang="en-US" sz="2200" dirty="0" smtClean="0"/>
              <a:t>.</a:t>
            </a:r>
          </a:p>
          <a:p>
            <a:pPr marL="742950" lvl="1" indent="-285750">
              <a:buFont typeface="Wingdings" panose="05000000000000000000" pitchFamily="2" charset="2"/>
              <a:buChar char="v"/>
            </a:pPr>
            <a:r>
              <a:rPr lang="en-US" sz="2200" dirty="0" smtClean="0"/>
              <a:t>In </a:t>
            </a:r>
            <a:r>
              <a:rPr lang="en-US" sz="2200" dirty="0"/>
              <a:t>the context of temporal logic, model checking involves systematically exploring all possible states of a system to verify whether a given temporal logic formula holds in each state or along each path</a:t>
            </a:r>
            <a:r>
              <a:rPr lang="en-US" sz="2200" dirty="0" smtClean="0"/>
              <a:t>.</a:t>
            </a:r>
          </a:p>
          <a:p>
            <a:pPr marL="742950" lvl="1" indent="-285750">
              <a:buFont typeface="Wingdings" panose="05000000000000000000" pitchFamily="2" charset="2"/>
              <a:buChar char="v"/>
            </a:pPr>
            <a:r>
              <a:rPr lang="en-US" sz="2200" dirty="0"/>
              <a:t>In model </a:t>
            </a:r>
            <a:r>
              <a:rPr lang="en-US" sz="2200" dirty="0" smtClean="0"/>
              <a:t>checking:</a:t>
            </a:r>
          </a:p>
          <a:p>
            <a:pPr marL="1200150" lvl="2" indent="-285750">
              <a:buFont typeface="Wingdings" panose="05000000000000000000" pitchFamily="2" charset="2"/>
              <a:buChar char="v"/>
            </a:pPr>
            <a:r>
              <a:rPr lang="en-US" sz="2200" dirty="0" smtClean="0"/>
              <a:t>, </a:t>
            </a:r>
            <a:r>
              <a:rPr lang="en-US" sz="2200" dirty="0"/>
              <a:t>a system is represented as a formal model, often in the form of a finite-state model, such as a state transition system or a labeled transition system. </a:t>
            </a:r>
            <a:endParaRPr lang="en-US" sz="2200" dirty="0" smtClean="0"/>
          </a:p>
          <a:p>
            <a:pPr marL="1200150" lvl="2" indent="-285750">
              <a:buFont typeface="Wingdings" panose="05000000000000000000" pitchFamily="2" charset="2"/>
              <a:buChar char="v"/>
            </a:pPr>
            <a:r>
              <a:rPr lang="en-US" sz="2200" dirty="0" smtClean="0"/>
              <a:t>Additionally</a:t>
            </a:r>
            <a:r>
              <a:rPr lang="en-US" sz="2200" dirty="0"/>
              <a:t>, temporal logic is often employed to express properties or requirements that the system should satisfy over time.</a:t>
            </a:r>
            <a:endParaRPr lang="en-US" sz="2200" dirty="0" smtClean="0"/>
          </a:p>
        </p:txBody>
      </p:sp>
    </p:spTree>
    <p:extLst>
      <p:ext uri="{BB962C8B-B14F-4D97-AF65-F5344CB8AC3E}">
        <p14:creationId xmlns:p14="http://schemas.microsoft.com/office/powerpoint/2010/main" val="55162106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200" b="1" i="1" dirty="0" smtClean="0"/>
              <a:t>Model checking? </a:t>
            </a:r>
          </a:p>
          <a:p>
            <a:pPr marL="742950" lvl="1" indent="-285750">
              <a:buFont typeface="Wingdings" panose="05000000000000000000" pitchFamily="2" charset="2"/>
              <a:buChar char="v"/>
            </a:pPr>
            <a:r>
              <a:rPr lang="en-US" sz="2200" i="1" dirty="0" smtClean="0"/>
              <a:t>model </a:t>
            </a:r>
            <a:r>
              <a:rPr lang="en-US" sz="2200" i="1" dirty="0"/>
              <a:t>checking, when used in conjunction with temporal logic, is a powerful technique for systematically verifying the correctness of a system with respect to specified temporal properties</a:t>
            </a:r>
            <a:r>
              <a:rPr lang="en-US" sz="2200" i="1" dirty="0" smtClean="0"/>
              <a:t>.</a:t>
            </a:r>
          </a:p>
          <a:p>
            <a:pPr marL="742950" lvl="1" indent="-285750">
              <a:buFont typeface="Wingdings" panose="05000000000000000000" pitchFamily="2" charset="2"/>
              <a:buChar char="v"/>
            </a:pPr>
            <a:r>
              <a:rPr lang="en-US" sz="2200" i="1" dirty="0"/>
              <a:t>The basic idea of model checking </a:t>
            </a:r>
            <a:r>
              <a:rPr lang="en-US" sz="2200" i="1" dirty="0" smtClean="0"/>
              <a:t>is:</a:t>
            </a:r>
          </a:p>
          <a:p>
            <a:pPr marL="1200150" lvl="2" indent="-285750">
              <a:buFont typeface="Wingdings" panose="05000000000000000000" pitchFamily="2" charset="2"/>
              <a:buChar char="v"/>
            </a:pPr>
            <a:r>
              <a:rPr lang="en-US" sz="2200" i="1" dirty="0" smtClean="0"/>
              <a:t> </a:t>
            </a:r>
            <a:r>
              <a:rPr lang="en-US" sz="2200" i="1" dirty="0"/>
              <a:t>to systematically explore all possible states of the system and verify whether the specified properties hold in each state. </a:t>
            </a:r>
            <a:endParaRPr lang="en-US" sz="2200" i="1" dirty="0" smtClean="0"/>
          </a:p>
          <a:p>
            <a:pPr marL="1200150" lvl="2" indent="-285750">
              <a:buFont typeface="Wingdings" panose="05000000000000000000" pitchFamily="2" charset="2"/>
              <a:buChar char="v"/>
            </a:pPr>
            <a:r>
              <a:rPr lang="en-US" sz="2200" i="1" dirty="0" smtClean="0"/>
              <a:t>This </a:t>
            </a:r>
            <a:r>
              <a:rPr lang="en-US" sz="2200" i="1" dirty="0"/>
              <a:t>exploration is typically done algorithmically, with the help of efficient data structures and algorithms that traverse the state space of the system</a:t>
            </a:r>
            <a:r>
              <a:rPr lang="en-US" sz="2200" i="1" dirty="0" smtClean="0"/>
              <a:t>.</a:t>
            </a:r>
          </a:p>
          <a:p>
            <a:pPr marL="1200150" lvl="2" indent="-285750">
              <a:buFont typeface="Wingdings" panose="05000000000000000000" pitchFamily="2" charset="2"/>
              <a:buChar char="v"/>
            </a:pPr>
            <a:r>
              <a:rPr lang="en-US" sz="2200" i="1" dirty="0" smtClean="0"/>
              <a:t> If </a:t>
            </a:r>
            <a:r>
              <a:rPr lang="en-US" sz="2200" i="1" dirty="0"/>
              <a:t>the model checking algorithm finds a counterexample where the system violates the </a:t>
            </a:r>
            <a:r>
              <a:rPr lang="en-US" sz="2200" i="1" dirty="0" smtClean="0"/>
              <a:t>	specified </a:t>
            </a:r>
            <a:r>
              <a:rPr lang="en-US" sz="2200" i="1" dirty="0"/>
              <a:t>properties, it provides valuable information about the nature of the problem. </a:t>
            </a:r>
            <a:endParaRPr lang="en-US" sz="2200" dirty="0"/>
          </a:p>
        </p:txBody>
      </p:sp>
    </p:spTree>
    <p:extLst>
      <p:ext uri="{BB962C8B-B14F-4D97-AF65-F5344CB8AC3E}">
        <p14:creationId xmlns:p14="http://schemas.microsoft.com/office/powerpoint/2010/main" val="258747977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Key </a:t>
            </a:r>
            <a:r>
              <a:rPr lang="en-US" sz="2400" b="1" dirty="0"/>
              <a:t>Components:</a:t>
            </a:r>
          </a:p>
          <a:p>
            <a:pPr lvl="1"/>
            <a:endParaRPr lang="en-US" sz="2400" dirty="0"/>
          </a:p>
          <a:p>
            <a:pPr lvl="1"/>
            <a:r>
              <a:rPr lang="en-US" sz="2400" dirty="0" smtClean="0"/>
              <a:t>1) Formal </a:t>
            </a:r>
            <a:r>
              <a:rPr lang="en-US" sz="2400" dirty="0"/>
              <a:t>Model: Model checking relies on a formal representation of the system. Common formalisms include finite-state machines, transition systems, or Petri nets.</a:t>
            </a:r>
          </a:p>
          <a:p>
            <a:pPr marL="742950" lvl="1" indent="-285750">
              <a:buFont typeface="Wingdings" panose="05000000000000000000" pitchFamily="2" charset="2"/>
              <a:buChar char="v"/>
            </a:pPr>
            <a:endParaRPr lang="en-US" sz="2400" dirty="0"/>
          </a:p>
          <a:p>
            <a:pPr lvl="1"/>
            <a:r>
              <a:rPr lang="en-US" sz="2400" dirty="0" smtClean="0"/>
              <a:t>2) Temporal </a:t>
            </a:r>
            <a:r>
              <a:rPr lang="en-US" sz="2400" dirty="0"/>
              <a:t>Logic Properties: The properties to be checked are expressed using temporal logic, such as Linear Temporal Logic (LTL) or Branching Temporal Logic (CTL).</a:t>
            </a:r>
            <a:r>
              <a:rPr lang="en-US" sz="2400" i="1" dirty="0" smtClean="0"/>
              <a:t> </a:t>
            </a:r>
            <a:endParaRPr lang="en-US" sz="2400" dirty="0"/>
          </a:p>
        </p:txBody>
      </p:sp>
    </p:spTree>
    <p:extLst>
      <p:ext uri="{BB962C8B-B14F-4D97-AF65-F5344CB8AC3E}">
        <p14:creationId xmlns:p14="http://schemas.microsoft.com/office/powerpoint/2010/main" val="2603305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1204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478280"/>
            <a:ext cx="11028240" cy="5029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Model </a:t>
            </a:r>
            <a:r>
              <a:rPr lang="en-US" sz="2400" b="1" dirty="0"/>
              <a:t>Checking Process/Key steps in model </a:t>
            </a:r>
            <a:r>
              <a:rPr lang="en-US" sz="2400" b="1" dirty="0" smtClean="0"/>
              <a:t>checking</a:t>
            </a:r>
            <a:endParaRPr lang="en-US" sz="2400" b="1" dirty="0"/>
          </a:p>
          <a:p>
            <a:pPr marL="742950" lvl="1" indent="-285750">
              <a:buFont typeface="Wingdings" panose="05000000000000000000" pitchFamily="2" charset="2"/>
              <a:buChar char="v"/>
            </a:pPr>
            <a:endParaRPr lang="en-US" sz="2400" dirty="0"/>
          </a:p>
          <a:p>
            <a:pPr lvl="1"/>
            <a:r>
              <a:rPr lang="en-US" sz="2400" b="1" dirty="0" smtClean="0"/>
              <a:t>1) Model </a:t>
            </a:r>
            <a:r>
              <a:rPr lang="en-US" sz="2400" b="1" dirty="0"/>
              <a:t>Representation: </a:t>
            </a:r>
            <a:r>
              <a:rPr lang="en-US" sz="2400" dirty="0"/>
              <a:t>Formally define the system or software as a mathematical model, often using a formalism like state machines, transition systems, or Petri nets.</a:t>
            </a:r>
          </a:p>
          <a:p>
            <a:pPr lvl="1"/>
            <a:r>
              <a:rPr lang="en-US" sz="2400" b="1" dirty="0" smtClean="0"/>
              <a:t>2) Property </a:t>
            </a:r>
            <a:r>
              <a:rPr lang="en-US" sz="2400" b="1" dirty="0"/>
              <a:t>Specification: </a:t>
            </a:r>
            <a:r>
              <a:rPr lang="en-US" sz="2400" dirty="0"/>
              <a:t>Clearly express the desired properties or requirements using formal languages, commonly temporal logics such as Linear Temporal Logic (LTL) or Computational Tree Logic (CTL).</a:t>
            </a:r>
          </a:p>
          <a:p>
            <a:pPr lvl="1"/>
            <a:r>
              <a:rPr lang="en-US" sz="2400" b="1" dirty="0" smtClean="0"/>
              <a:t>3) State </a:t>
            </a:r>
            <a:r>
              <a:rPr lang="en-US" sz="2400" b="1" dirty="0"/>
              <a:t>Space Exploration: </a:t>
            </a:r>
            <a:r>
              <a:rPr lang="en-US" sz="2400" dirty="0"/>
              <a:t>Employ algorithms to systematically explore all possible states of the system. This can involve techniques like breadth-first or depth-first search, symbolic model checking, or other specialized algorithms.</a:t>
            </a:r>
          </a:p>
          <a:p>
            <a:pPr lvl="1"/>
            <a:r>
              <a:rPr lang="en-US" sz="2400" b="1" dirty="0" smtClean="0"/>
              <a:t>4) Property </a:t>
            </a:r>
            <a:r>
              <a:rPr lang="en-US" sz="2400" b="1" dirty="0"/>
              <a:t>Verification: </a:t>
            </a:r>
            <a:r>
              <a:rPr lang="en-US" sz="2400" dirty="0"/>
              <a:t>Check whether the specified properties hold in each explored state. If a violation is found, the model checker typically provides a counterexample to illustrate the problematic behavior.</a:t>
            </a:r>
          </a:p>
        </p:txBody>
      </p:sp>
    </p:spTree>
    <p:extLst>
      <p:ext uri="{BB962C8B-B14F-4D97-AF65-F5344CB8AC3E}">
        <p14:creationId xmlns:p14="http://schemas.microsoft.com/office/powerpoint/2010/main" val="280305410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Types </a:t>
            </a:r>
            <a:r>
              <a:rPr lang="en-US" sz="2400" b="1" dirty="0"/>
              <a:t>of Model Checking:</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Symbolic Model Checking: </a:t>
            </a:r>
            <a:r>
              <a:rPr lang="en-US" sz="2400" dirty="0"/>
              <a:t>Utilizes symbolic representations to handle large state spaces more efficiently. Binary decision diagrams (BDDs) are commonly used in symbolic model checking.</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Explicit Model Checking:</a:t>
            </a:r>
            <a:r>
              <a:rPr lang="en-US" sz="2400" dirty="0"/>
              <a:t> Explores the state space explicitly without symbolic representations. Suitable for smaller systems but may face scalability issues for larger ones.</a:t>
            </a:r>
          </a:p>
        </p:txBody>
      </p:sp>
    </p:spTree>
    <p:extLst>
      <p:ext uri="{BB962C8B-B14F-4D97-AF65-F5344CB8AC3E}">
        <p14:creationId xmlns:p14="http://schemas.microsoft.com/office/powerpoint/2010/main" val="250646213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Temporal </a:t>
            </a:r>
            <a:r>
              <a:rPr lang="en-US" sz="2400" b="1" dirty="0"/>
              <a:t>Logic in Model Checking:</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LTL (Linear Temporal Logic): </a:t>
            </a:r>
            <a:r>
              <a:rPr lang="en-US" sz="2400" dirty="0"/>
              <a:t>LTL is used to express properties that evolve over time in a linear sequence. Model checking with LTL involves verifying whether the system satisfies the specified temporal logic formula.</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CTL (Computational Tree Logic): </a:t>
            </a:r>
            <a:r>
              <a:rPr lang="en-US" sz="2400" dirty="0"/>
              <a:t>CTL is suitable for systems with multiple concurrent processes. It allows the specification of properties along different paths in the system's execution tree.</a:t>
            </a:r>
          </a:p>
        </p:txBody>
      </p:sp>
    </p:spTree>
    <p:extLst>
      <p:ext uri="{BB962C8B-B14F-4D97-AF65-F5344CB8AC3E}">
        <p14:creationId xmlns:p14="http://schemas.microsoft.com/office/powerpoint/2010/main" val="120258067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Model </a:t>
            </a:r>
            <a:r>
              <a:rPr lang="en-US" sz="2400" b="1" dirty="0"/>
              <a:t>Checking Tools:</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SPIN: </a:t>
            </a:r>
            <a:r>
              <a:rPr lang="en-US" sz="2400" dirty="0"/>
              <a:t>A widely used model checker for verifying distributed software systems. It supports both LTL and </a:t>
            </a:r>
            <a:r>
              <a:rPr lang="en-US" sz="2400" dirty="0" err="1"/>
              <a:t>Promela</a:t>
            </a:r>
            <a:r>
              <a:rPr lang="en-US" sz="2400" dirty="0"/>
              <a:t> (Process Meta Language).</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err="1"/>
              <a:t>NuSMV</a:t>
            </a:r>
            <a:r>
              <a:rPr lang="en-US" sz="2400" b="1" dirty="0"/>
              <a:t>: </a:t>
            </a:r>
            <a:r>
              <a:rPr lang="en-US" sz="2400" dirty="0"/>
              <a:t>An open-source model checker supporting both symbolic and explicit model checking. Particularly suitable for hardware and software systems.</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PRISM: </a:t>
            </a:r>
            <a:r>
              <a:rPr lang="en-US" sz="2400" dirty="0"/>
              <a:t>Primarily used for probabilistic model checking, PRISM is a tool for verifying systems with probabilistic and nondeterministic behavior.</a:t>
            </a:r>
          </a:p>
        </p:txBody>
      </p:sp>
    </p:spTree>
    <p:extLst>
      <p:ext uri="{BB962C8B-B14F-4D97-AF65-F5344CB8AC3E}">
        <p14:creationId xmlns:p14="http://schemas.microsoft.com/office/powerpoint/2010/main" val="224091109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Temporal Logic (Model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a:t>H</a:t>
            </a:r>
            <a:r>
              <a:rPr lang="en-US" sz="2000" b="1" dirty="0" smtClean="0"/>
              <a:t>ow </a:t>
            </a:r>
            <a:r>
              <a:rPr lang="en-US" sz="2000" b="1" dirty="0"/>
              <a:t>model checking can be used to verify </a:t>
            </a:r>
            <a:r>
              <a:rPr lang="en-US" sz="2000" b="1" dirty="0" smtClean="0"/>
              <a:t>system?</a:t>
            </a:r>
          </a:p>
          <a:p>
            <a:r>
              <a:rPr lang="en-US" sz="2000" b="1" dirty="0" smtClean="0"/>
              <a:t>1) Model Representation</a:t>
            </a:r>
            <a:endParaRPr lang="en-US" sz="2000" dirty="0"/>
          </a:p>
          <a:p>
            <a:pPr lvl="1"/>
            <a:r>
              <a:rPr lang="en-US" sz="2000" dirty="0"/>
              <a:t>A system is represented as a formal model, typically a finite state model or a transition system.</a:t>
            </a:r>
          </a:p>
          <a:p>
            <a:r>
              <a:rPr lang="en-US" sz="2000" b="1" dirty="0" smtClean="0"/>
              <a:t>2)Temporal </a:t>
            </a:r>
            <a:r>
              <a:rPr lang="en-US" sz="2000" b="1" dirty="0"/>
              <a:t>Logic Formulas:</a:t>
            </a:r>
            <a:endParaRPr lang="en-US" sz="2000" dirty="0"/>
          </a:p>
          <a:p>
            <a:pPr lvl="1"/>
            <a:r>
              <a:rPr lang="en-US" sz="2000" dirty="0"/>
              <a:t>Properties of interest are expressed using temporal logic formulas, such as Linear Temporal Logic (LTL) or Branching Temporal Logic (CTL).</a:t>
            </a:r>
          </a:p>
          <a:p>
            <a:r>
              <a:rPr lang="en-US" sz="2000" b="1" dirty="0" smtClean="0"/>
              <a:t>3)Traversal </a:t>
            </a:r>
            <a:r>
              <a:rPr lang="en-US" sz="2000" b="1" dirty="0"/>
              <a:t>and Verification:</a:t>
            </a:r>
            <a:endParaRPr lang="en-US" sz="2000" dirty="0"/>
          </a:p>
          <a:p>
            <a:pPr lvl="1"/>
            <a:r>
              <a:rPr lang="en-US" sz="2000" dirty="0"/>
              <a:t>The model checker systematically explores the state space of the system, traversing the possible states and transitions.</a:t>
            </a:r>
          </a:p>
          <a:p>
            <a:r>
              <a:rPr lang="en-US" sz="2000" b="1" dirty="0" smtClean="0"/>
              <a:t>4) Verification </a:t>
            </a:r>
            <a:r>
              <a:rPr lang="en-US" sz="2000" b="1" dirty="0"/>
              <a:t>Against Formulas:</a:t>
            </a:r>
            <a:endParaRPr lang="en-US" sz="2000" dirty="0"/>
          </a:p>
          <a:p>
            <a:pPr lvl="1"/>
            <a:r>
              <a:rPr lang="en-US" sz="2000" dirty="0"/>
              <a:t>At each state or along each path, the model checker evaluates the specified temporal logic formulas to check whether the desired properties hold.</a:t>
            </a:r>
          </a:p>
          <a:p>
            <a:r>
              <a:rPr lang="en-US" sz="2000" b="1" dirty="0" smtClean="0"/>
              <a:t>5) Counterexample </a:t>
            </a:r>
            <a:r>
              <a:rPr lang="en-US" sz="2000" b="1" dirty="0"/>
              <a:t>Generation:</a:t>
            </a:r>
            <a:endParaRPr lang="en-US" sz="2000" dirty="0"/>
          </a:p>
          <a:p>
            <a:pPr lvl="1"/>
            <a:r>
              <a:rPr lang="en-US" sz="2000" dirty="0"/>
              <a:t>If a violation is found, the model checker can provide a counterexample—a specific sequence of states or transitions that demonstrates the failure of the specified property.</a:t>
            </a:r>
          </a:p>
          <a:p>
            <a:pPr lvl="1"/>
            <a:r>
              <a:rPr lang="en-US" i="1" dirty="0" smtClean="0"/>
              <a:t> </a:t>
            </a:r>
            <a:endParaRPr lang="en-US" dirty="0"/>
          </a:p>
        </p:txBody>
      </p:sp>
    </p:spTree>
    <p:extLst>
      <p:ext uri="{BB962C8B-B14F-4D97-AF65-F5344CB8AC3E}">
        <p14:creationId xmlns:p14="http://schemas.microsoft.com/office/powerpoint/2010/main" val="44676503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Temporal Logic (Model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400" b="1" dirty="0" smtClean="0"/>
              <a:t>Advantages of Model Checking</a:t>
            </a:r>
          </a:p>
          <a:p>
            <a:r>
              <a:rPr lang="en-US" sz="2400" b="1" dirty="0" smtClean="0"/>
              <a:t>1) </a:t>
            </a:r>
            <a:r>
              <a:rPr lang="en-US" sz="2400" b="1" dirty="0"/>
              <a:t>Automation:</a:t>
            </a:r>
            <a:endParaRPr lang="en-US" sz="2400" dirty="0"/>
          </a:p>
          <a:p>
            <a:pPr lvl="1"/>
            <a:r>
              <a:rPr lang="en-US" sz="2400" dirty="0"/>
              <a:t>Model checking is an automated process, reducing the need for manual inspection and providing a systematic approach to verification.</a:t>
            </a:r>
          </a:p>
          <a:p>
            <a:r>
              <a:rPr lang="en-US" sz="2400" b="1" dirty="0" smtClean="0"/>
              <a:t>2)Completeness</a:t>
            </a:r>
            <a:r>
              <a:rPr lang="en-US" sz="2400" b="1" dirty="0"/>
              <a:t>:</a:t>
            </a:r>
            <a:endParaRPr lang="en-US" sz="2400" dirty="0"/>
          </a:p>
          <a:p>
            <a:pPr lvl="1"/>
            <a:r>
              <a:rPr lang="en-US" sz="2400" dirty="0"/>
              <a:t>Model checking explores the entire state space, providing completeness in checking all possible scenarios.</a:t>
            </a:r>
          </a:p>
          <a:p>
            <a:r>
              <a:rPr lang="en-US" sz="2400" b="1" dirty="0" smtClean="0"/>
              <a:t>3) Early </a:t>
            </a:r>
            <a:r>
              <a:rPr lang="en-US" sz="2400" b="1" dirty="0"/>
              <a:t>Detection of Issues:</a:t>
            </a:r>
            <a:endParaRPr lang="en-US" sz="2400" dirty="0"/>
          </a:p>
          <a:p>
            <a:pPr lvl="1"/>
            <a:r>
              <a:rPr lang="en-US" sz="2400" dirty="0"/>
              <a:t>Model checking can detect issues early in the development process, allowing for timely corrections and improvements.</a:t>
            </a:r>
          </a:p>
          <a:p>
            <a:r>
              <a:rPr lang="en-US" sz="2400" b="1" dirty="0" smtClean="0"/>
              <a:t>4) Formal </a:t>
            </a:r>
            <a:r>
              <a:rPr lang="en-US" sz="2400" b="1" dirty="0"/>
              <a:t>Specification:</a:t>
            </a:r>
            <a:endParaRPr lang="en-US" sz="2400" dirty="0"/>
          </a:p>
          <a:p>
            <a:pPr lvl="1"/>
            <a:r>
              <a:rPr lang="en-US" sz="2400" dirty="0"/>
              <a:t>Temporal logic formulas provide a formal and expressive way to specify properties, making them suitable for model checking.</a:t>
            </a:r>
          </a:p>
          <a:p>
            <a:pPr lvl="1"/>
            <a:r>
              <a:rPr lang="en-US" sz="2400" i="1" dirty="0" smtClean="0"/>
              <a:t> </a:t>
            </a:r>
            <a:endParaRPr lang="en-US" sz="2400" dirty="0"/>
          </a:p>
        </p:txBody>
      </p:sp>
    </p:spTree>
    <p:extLst>
      <p:ext uri="{BB962C8B-B14F-4D97-AF65-F5344CB8AC3E}">
        <p14:creationId xmlns:p14="http://schemas.microsoft.com/office/powerpoint/2010/main" val="269732298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Temporal Logic (Model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400" b="1" dirty="0" smtClean="0"/>
              <a:t>Limitations of Model Checking</a:t>
            </a:r>
          </a:p>
          <a:p>
            <a:r>
              <a:rPr lang="en-US" sz="2400" b="1" dirty="0" smtClean="0"/>
              <a:t>1) </a:t>
            </a:r>
            <a:r>
              <a:rPr lang="en-US" sz="2400" b="1" dirty="0"/>
              <a:t>State Explosion Problem:</a:t>
            </a:r>
            <a:endParaRPr lang="en-US" sz="2400" dirty="0"/>
          </a:p>
          <a:p>
            <a:pPr lvl="1"/>
            <a:r>
              <a:rPr lang="en-US" sz="2400" dirty="0"/>
              <a:t>For large and complex systems, the state space can become exponentially large, leading to the "state explosion" problem.</a:t>
            </a:r>
          </a:p>
          <a:p>
            <a:r>
              <a:rPr lang="en-US" sz="2400" b="1" dirty="0" smtClean="0"/>
              <a:t>2) Precision </a:t>
            </a:r>
            <a:r>
              <a:rPr lang="en-US" sz="2400" b="1" dirty="0"/>
              <a:t>vs. Expressiveness:</a:t>
            </a:r>
            <a:endParaRPr lang="en-US" sz="2400" dirty="0"/>
          </a:p>
          <a:p>
            <a:pPr lvl="1"/>
            <a:r>
              <a:rPr lang="en-US" sz="2400" dirty="0"/>
              <a:t>Balancing precision and expressiveness in temporal logic formulas can be challenging.</a:t>
            </a:r>
          </a:p>
          <a:p>
            <a:r>
              <a:rPr lang="en-US" sz="2400" b="1" dirty="0" smtClean="0"/>
              <a:t>3) Property </a:t>
            </a:r>
            <a:r>
              <a:rPr lang="en-US" sz="2400" b="1" dirty="0"/>
              <a:t>Specification:</a:t>
            </a:r>
            <a:endParaRPr lang="en-US" sz="2400" dirty="0"/>
          </a:p>
          <a:p>
            <a:pPr lvl="1"/>
            <a:r>
              <a:rPr lang="en-US" sz="2400" dirty="0"/>
              <a:t>The effectiveness of model checking relies on the accuracy of the specified properties. Incorrect or incomplete specifications may lead to false results.</a:t>
            </a:r>
          </a:p>
          <a:p>
            <a:pPr lvl="1"/>
            <a:r>
              <a:rPr lang="en-US" sz="2400" i="1" dirty="0" smtClean="0"/>
              <a:t> </a:t>
            </a:r>
            <a:endParaRPr lang="en-US" sz="2400" dirty="0"/>
          </a:p>
        </p:txBody>
      </p:sp>
    </p:spTree>
    <p:extLst>
      <p:ext uri="{BB962C8B-B14F-4D97-AF65-F5344CB8AC3E}">
        <p14:creationId xmlns:p14="http://schemas.microsoft.com/office/powerpoint/2010/main" val="422644817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Challenges</a:t>
            </a:r>
            <a:r>
              <a:rPr lang="en-US" sz="2400" b="1" dirty="0"/>
              <a:t>:</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State Explosion:</a:t>
            </a:r>
            <a:r>
              <a:rPr lang="en-US" sz="2400" dirty="0"/>
              <a:t> Large state spaces can lead to a combinatorial explosion of possible states</a:t>
            </a:r>
            <a:r>
              <a:rPr lang="en-US" sz="2400" dirty="0" smtClean="0"/>
              <a:t>.</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Precision vs. Complexity</a:t>
            </a:r>
            <a:r>
              <a:rPr lang="en-US" sz="2400" dirty="0"/>
              <a:t>: Achieving precision in model checking may come at the cost of increased computational complexity</a:t>
            </a:r>
            <a:r>
              <a:rPr lang="en-US" sz="2400" dirty="0" smtClean="0"/>
              <a:t>.</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Property Specification</a:t>
            </a:r>
            <a:r>
              <a:rPr lang="en-US" sz="2400" dirty="0"/>
              <a:t>: The effectiveness of model checking depends on the accuracy of the specified properties.</a:t>
            </a:r>
          </a:p>
        </p:txBody>
      </p:sp>
    </p:spTree>
    <p:extLst>
      <p:ext uri="{BB962C8B-B14F-4D97-AF65-F5344CB8AC3E}">
        <p14:creationId xmlns:p14="http://schemas.microsoft.com/office/powerpoint/2010/main" val="428210127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Real-world </a:t>
            </a:r>
            <a:r>
              <a:rPr lang="en-US" sz="2400" b="1" dirty="0"/>
              <a:t>Applications:</a:t>
            </a:r>
          </a:p>
          <a:p>
            <a:pPr lvl="1"/>
            <a:r>
              <a:rPr lang="en-US" sz="2400" dirty="0" smtClean="0"/>
              <a:t>Model </a:t>
            </a:r>
            <a:r>
              <a:rPr lang="en-US" sz="2400" dirty="0"/>
              <a:t>checking is a powerful formal verification technique that provides automated and systematic verification of system properties using formal models and temporal logic</a:t>
            </a:r>
            <a:r>
              <a:rPr lang="en-US" sz="2400" dirty="0" smtClean="0"/>
              <a:t>.</a:t>
            </a:r>
          </a:p>
          <a:p>
            <a:pPr marL="742950" lvl="1" indent="-285750">
              <a:buFont typeface="Wingdings" panose="05000000000000000000" pitchFamily="2" charset="2"/>
              <a:buChar char="v"/>
            </a:pPr>
            <a:endParaRPr lang="en-US" sz="2400" dirty="0" smtClean="0"/>
          </a:p>
          <a:p>
            <a:pPr marL="742950" lvl="1" indent="-285750">
              <a:buFont typeface="Wingdings" panose="05000000000000000000" pitchFamily="2" charset="2"/>
              <a:buChar char="v"/>
            </a:pPr>
            <a:r>
              <a:rPr lang="en-US" sz="2400" b="1" dirty="0" smtClean="0"/>
              <a:t>Hardware </a:t>
            </a:r>
            <a:r>
              <a:rPr lang="en-US" sz="2400" b="1" dirty="0"/>
              <a:t>Design: </a:t>
            </a:r>
            <a:r>
              <a:rPr lang="en-US" sz="2400" dirty="0"/>
              <a:t>Model checking is extensively used to verify the correctness of hardware designs, ensuring that circuits meet specified requirements.</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Software Systems: </a:t>
            </a:r>
            <a:r>
              <a:rPr lang="en-US" sz="2400" dirty="0"/>
              <a:t>Model checking is applied to software systems to verify properties such as deadlock freedom, absence of race conditions, and adherence to safety and liveness requirements.</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Communication Protocols: </a:t>
            </a:r>
            <a:r>
              <a:rPr lang="en-US" sz="2400" dirty="0"/>
              <a:t>Verification of communication protocols to ensure reliable and secure data transfer.</a:t>
            </a:r>
          </a:p>
        </p:txBody>
      </p:sp>
    </p:spTree>
    <p:extLst>
      <p:ext uri="{BB962C8B-B14F-4D97-AF65-F5344CB8AC3E}">
        <p14:creationId xmlns:p14="http://schemas.microsoft.com/office/powerpoint/2010/main" val="324149669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 Example</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000" b="1" dirty="0" smtClean="0"/>
              <a:t>Consider </a:t>
            </a:r>
            <a:r>
              <a:rPr lang="en-US" sz="2000" b="1" dirty="0"/>
              <a:t>a system with two concurrent processes, P1 and P2, that share a critical section. The goal is to ensure mutual exclusion, meaning that both processes cannot be in the critical section simultaneously.</a:t>
            </a:r>
            <a:endParaRPr lang="en-US" sz="2000" b="1" dirty="0" smtClean="0"/>
          </a:p>
          <a:p>
            <a:r>
              <a:rPr lang="en-US" sz="2000" b="1" dirty="0">
                <a:solidFill>
                  <a:srgbClr val="FF0000"/>
                </a:solidFill>
              </a:rPr>
              <a:t>Formal Model:</a:t>
            </a:r>
            <a:endParaRPr lang="en-US" sz="2000" dirty="0">
              <a:solidFill>
                <a:srgbClr val="FF0000"/>
              </a:solidFill>
            </a:endParaRPr>
          </a:p>
          <a:p>
            <a:r>
              <a:rPr lang="en-US" sz="2000" b="1" dirty="0"/>
              <a:t>States:</a:t>
            </a:r>
            <a:endParaRPr lang="en-US" sz="2000" dirty="0"/>
          </a:p>
          <a:p>
            <a:pPr>
              <a:buFont typeface="+mj-lt"/>
              <a:buAutoNum type="arabicPeriod"/>
            </a:pPr>
            <a:r>
              <a:rPr lang="en-US" b="1" dirty="0">
                <a:solidFill>
                  <a:srgbClr val="0D0D0D"/>
                </a:solidFill>
                <a:latin typeface="Söhne"/>
              </a:rPr>
              <a:t>Initial State (Start)</a:t>
            </a:r>
            <a:r>
              <a:rPr lang="en-US" dirty="0">
                <a:solidFill>
                  <a:srgbClr val="0D0D0D"/>
                </a:solidFill>
                <a:latin typeface="Söhne"/>
              </a:rPr>
              <a:t>: Both processes are outside the critical section.</a:t>
            </a:r>
          </a:p>
          <a:p>
            <a:pPr>
              <a:buFont typeface="+mj-lt"/>
              <a:buAutoNum type="arabicPeriod"/>
            </a:pPr>
            <a:r>
              <a:rPr lang="en-US" b="1" dirty="0">
                <a:solidFill>
                  <a:srgbClr val="0D0D0D"/>
                </a:solidFill>
                <a:latin typeface="Söhne"/>
              </a:rPr>
              <a:t>P1 in Critical Section</a:t>
            </a:r>
            <a:r>
              <a:rPr lang="en-US" dirty="0">
                <a:solidFill>
                  <a:srgbClr val="0D0D0D"/>
                </a:solidFill>
                <a:latin typeface="Söhne"/>
              </a:rPr>
              <a:t>: Process P1 is in the critical section, while P2 is outside.</a:t>
            </a:r>
          </a:p>
          <a:p>
            <a:pPr>
              <a:buFont typeface="+mj-lt"/>
              <a:buAutoNum type="arabicPeriod"/>
            </a:pPr>
            <a:r>
              <a:rPr lang="en-US" b="1" dirty="0">
                <a:solidFill>
                  <a:srgbClr val="0D0D0D"/>
                </a:solidFill>
                <a:latin typeface="Söhne"/>
              </a:rPr>
              <a:t>P2 in Critical Section</a:t>
            </a:r>
            <a:r>
              <a:rPr lang="en-US" dirty="0">
                <a:solidFill>
                  <a:srgbClr val="0D0D0D"/>
                </a:solidFill>
                <a:latin typeface="Söhne"/>
              </a:rPr>
              <a:t>: Process P2 is in the critical section, while P1 is outside.</a:t>
            </a:r>
          </a:p>
          <a:p>
            <a:pPr>
              <a:buFont typeface="+mj-lt"/>
              <a:buAutoNum type="arabicPeriod"/>
            </a:pPr>
            <a:r>
              <a:rPr lang="en-US" b="1" dirty="0">
                <a:solidFill>
                  <a:srgbClr val="0D0D0D"/>
                </a:solidFill>
                <a:latin typeface="Söhne"/>
              </a:rPr>
              <a:t>Both Processes Waiting</a:t>
            </a:r>
            <a:r>
              <a:rPr lang="en-US" dirty="0">
                <a:solidFill>
                  <a:srgbClr val="0D0D0D"/>
                </a:solidFill>
                <a:latin typeface="Söhne"/>
              </a:rPr>
              <a:t>: Both processes are waiting to enter the critical section.</a:t>
            </a:r>
            <a:endParaRPr lang="en-US" b="0" i="0" dirty="0">
              <a:solidFill>
                <a:srgbClr val="0D0D0D"/>
              </a:solidFill>
              <a:effectLst/>
              <a:latin typeface="Söhne"/>
            </a:endParaRPr>
          </a:p>
        </p:txBody>
      </p:sp>
    </p:spTree>
    <p:extLst>
      <p:ext uri="{BB962C8B-B14F-4D97-AF65-F5344CB8AC3E}">
        <p14:creationId xmlns:p14="http://schemas.microsoft.com/office/powerpoint/2010/main" val="206021550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 Example</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Formal </a:t>
            </a:r>
            <a:r>
              <a:rPr lang="en-US" sz="2000" b="1" dirty="0">
                <a:solidFill>
                  <a:srgbClr val="FF0000"/>
                </a:solidFill>
              </a:rPr>
              <a:t>Model:</a:t>
            </a:r>
            <a:endParaRPr lang="en-US" sz="2000" dirty="0">
              <a:solidFill>
                <a:srgbClr val="FF0000"/>
              </a:solidFill>
            </a:endParaRPr>
          </a:p>
          <a:p>
            <a:r>
              <a:rPr lang="en-US" sz="2000" b="1" dirty="0" smtClean="0"/>
              <a:t>Transitions</a:t>
            </a:r>
            <a:endParaRPr lang="en-US" sz="2000" dirty="0"/>
          </a:p>
          <a:p>
            <a:pPr>
              <a:buFont typeface="+mj-lt"/>
              <a:buAutoNum type="arabicPeriod"/>
            </a:pPr>
            <a:r>
              <a:rPr lang="en-US" b="1" dirty="0">
                <a:solidFill>
                  <a:srgbClr val="0D0D0D"/>
                </a:solidFill>
                <a:latin typeface="Söhne"/>
              </a:rPr>
              <a:t>Initial State (Start)</a:t>
            </a:r>
            <a:r>
              <a:rPr lang="en-US" dirty="0">
                <a:solidFill>
                  <a:srgbClr val="0D0D0D"/>
                </a:solidFill>
                <a:latin typeface="Söhne"/>
              </a:rPr>
              <a:t>:</a:t>
            </a:r>
          </a:p>
          <a:p>
            <a:pPr marL="742950" lvl="1" indent="-285750">
              <a:buFont typeface="+mj-lt"/>
              <a:buAutoNum type="arabicPeriod"/>
            </a:pPr>
            <a:r>
              <a:rPr lang="en-US" dirty="0">
                <a:solidFill>
                  <a:srgbClr val="0D0D0D"/>
                </a:solidFill>
                <a:latin typeface="Söhne"/>
              </a:rPr>
              <a:t>Transition from Initial State to P1 in Critical Section: P1 requests access to the critical section and P2 is not in it.</a:t>
            </a:r>
          </a:p>
          <a:p>
            <a:pPr marL="742950" lvl="1" indent="-285750">
              <a:buFont typeface="+mj-lt"/>
              <a:buAutoNum type="arabicPeriod"/>
            </a:pPr>
            <a:r>
              <a:rPr lang="en-US" dirty="0">
                <a:solidFill>
                  <a:srgbClr val="0D0D0D"/>
                </a:solidFill>
                <a:latin typeface="Söhne"/>
              </a:rPr>
              <a:t>Transition from Initial State to P2 in Critical Section: P2 requests access to the critical section and P1 is not in it.</a:t>
            </a:r>
          </a:p>
          <a:p>
            <a:pPr>
              <a:buFont typeface="+mj-lt"/>
              <a:buAutoNum type="arabicPeriod"/>
            </a:pPr>
            <a:r>
              <a:rPr lang="en-US" b="1" dirty="0">
                <a:solidFill>
                  <a:srgbClr val="0D0D0D"/>
                </a:solidFill>
                <a:latin typeface="Söhne"/>
              </a:rPr>
              <a:t>P1 in Critical Section</a:t>
            </a:r>
            <a:r>
              <a:rPr lang="en-US" dirty="0">
                <a:solidFill>
                  <a:srgbClr val="0D0D0D"/>
                </a:solidFill>
                <a:latin typeface="Söhne"/>
              </a:rPr>
              <a:t>:</a:t>
            </a:r>
          </a:p>
          <a:p>
            <a:pPr marL="742950" lvl="1" indent="-285750">
              <a:buFont typeface="+mj-lt"/>
              <a:buAutoNum type="arabicPeriod"/>
            </a:pPr>
            <a:r>
              <a:rPr lang="en-US" dirty="0">
                <a:solidFill>
                  <a:srgbClr val="0D0D0D"/>
                </a:solidFill>
                <a:latin typeface="Söhne"/>
              </a:rPr>
              <a:t>Transition back to Initial State: P1 finishes its critical section and exits.</a:t>
            </a:r>
          </a:p>
          <a:p>
            <a:pPr>
              <a:buFont typeface="+mj-lt"/>
              <a:buAutoNum type="arabicPeriod"/>
            </a:pPr>
            <a:r>
              <a:rPr lang="en-US" b="1" dirty="0">
                <a:solidFill>
                  <a:srgbClr val="0D0D0D"/>
                </a:solidFill>
                <a:latin typeface="Söhne"/>
              </a:rPr>
              <a:t>P2 in Critical Section</a:t>
            </a:r>
            <a:r>
              <a:rPr lang="en-US" dirty="0">
                <a:solidFill>
                  <a:srgbClr val="0D0D0D"/>
                </a:solidFill>
                <a:latin typeface="Söhne"/>
              </a:rPr>
              <a:t>:</a:t>
            </a:r>
          </a:p>
          <a:p>
            <a:pPr marL="742950" lvl="1" indent="-285750">
              <a:buFont typeface="+mj-lt"/>
              <a:buAutoNum type="arabicPeriod"/>
            </a:pPr>
            <a:r>
              <a:rPr lang="en-US" dirty="0">
                <a:solidFill>
                  <a:srgbClr val="0D0D0D"/>
                </a:solidFill>
                <a:latin typeface="Söhne"/>
              </a:rPr>
              <a:t>Transition back to Initial State: P2 finishes its critical section and exits.</a:t>
            </a:r>
          </a:p>
          <a:p>
            <a:pPr>
              <a:buFont typeface="+mj-lt"/>
              <a:buAutoNum type="arabicPeriod"/>
            </a:pPr>
            <a:r>
              <a:rPr lang="en-US" b="1" dirty="0">
                <a:solidFill>
                  <a:srgbClr val="0D0D0D"/>
                </a:solidFill>
                <a:latin typeface="Söhne"/>
              </a:rPr>
              <a:t>Both Processes Waiting</a:t>
            </a:r>
            <a:r>
              <a:rPr lang="en-US" dirty="0">
                <a:solidFill>
                  <a:srgbClr val="0D0D0D"/>
                </a:solidFill>
                <a:latin typeface="Söhne"/>
              </a:rPr>
              <a:t>:</a:t>
            </a:r>
          </a:p>
          <a:p>
            <a:pPr marL="742950" lvl="1" indent="-285750">
              <a:buFont typeface="+mj-lt"/>
              <a:buAutoNum type="arabicPeriod"/>
            </a:pPr>
            <a:r>
              <a:rPr lang="en-US" dirty="0">
                <a:solidFill>
                  <a:srgbClr val="0D0D0D"/>
                </a:solidFill>
                <a:latin typeface="Söhne"/>
              </a:rPr>
              <a:t>Transition from P1 in Critical Section to P2 in Critical Section: P1 finishes its critical section and exits, and P2 is waiting.</a:t>
            </a:r>
          </a:p>
          <a:p>
            <a:pPr marL="742950" lvl="1" indent="-285750">
              <a:buFont typeface="+mj-lt"/>
              <a:buAutoNum type="arabicPeriod"/>
            </a:pPr>
            <a:r>
              <a:rPr lang="en-US" dirty="0">
                <a:solidFill>
                  <a:srgbClr val="0D0D0D"/>
                </a:solidFill>
                <a:latin typeface="Söhne"/>
              </a:rPr>
              <a:t>Transition from P2 in Critical Section to P1 in Critical Section: P2 finishes its critical section and exits, and P1 is waiting.</a:t>
            </a:r>
            <a:endParaRPr lang="en-US" b="0" i="0" dirty="0">
              <a:solidFill>
                <a:srgbClr val="0D0D0D"/>
              </a:solidFill>
              <a:effectLst/>
              <a:latin typeface="Söhne"/>
            </a:endParaRPr>
          </a:p>
        </p:txBody>
      </p:sp>
    </p:spTree>
    <p:extLst>
      <p:ext uri="{BB962C8B-B14F-4D97-AF65-F5344CB8AC3E}">
        <p14:creationId xmlns:p14="http://schemas.microsoft.com/office/powerpoint/2010/main" val="27898826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 Example</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000" b="1" dirty="0" smtClean="0"/>
              <a:t>Consider </a:t>
            </a:r>
            <a:r>
              <a:rPr lang="en-US" sz="2000" b="1" dirty="0"/>
              <a:t>a system with two concurrent processes, P1 and P2, that share a critical section. The goal is to ensure mutual exclusion, meaning that both processes cannot be in the critical section simultaneously.</a:t>
            </a:r>
            <a:endParaRPr lang="en-US" sz="2000" b="1" dirty="0" smtClean="0"/>
          </a:p>
          <a:p>
            <a:r>
              <a:rPr lang="en-US" sz="2000" b="1" dirty="0">
                <a:solidFill>
                  <a:srgbClr val="FF0000"/>
                </a:solidFill>
              </a:rPr>
              <a:t>Formal Model</a:t>
            </a:r>
            <a:r>
              <a:rPr lang="en-US" sz="2000" b="1" dirty="0" smtClean="0">
                <a:solidFill>
                  <a:srgbClr val="FF0000"/>
                </a:solidFill>
              </a:rPr>
              <a:t>: State transition diagram</a:t>
            </a:r>
          </a:p>
          <a:p>
            <a:endParaRPr lang="en-US" sz="2000" dirty="0">
              <a:solidFill>
                <a:srgbClr val="FF0000"/>
              </a:solidFill>
            </a:endParaRPr>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03843" y="4617720"/>
            <a:ext cx="8054965" cy="1632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84732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 Example</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b="1" dirty="0" smtClean="0"/>
              <a:t>Temporal </a:t>
            </a:r>
            <a:r>
              <a:rPr lang="en-US" b="1" dirty="0"/>
              <a:t>Logic Property:</a:t>
            </a:r>
            <a:r>
              <a:rPr lang="en-US" dirty="0"/>
              <a:t> </a:t>
            </a:r>
            <a:endParaRPr lang="en-US" dirty="0" smtClean="0"/>
          </a:p>
          <a:p>
            <a:r>
              <a:rPr lang="en-US" dirty="0" smtClean="0"/>
              <a:t>Express </a:t>
            </a:r>
            <a:r>
              <a:rPr lang="en-US" dirty="0"/>
              <a:t>the property of mutual exclusion using CTL:</a:t>
            </a:r>
          </a:p>
          <a:p>
            <a:r>
              <a:rPr lang="en-US" i="1" dirty="0" smtClean="0"/>
              <a:t>AG</a:t>
            </a:r>
            <a:r>
              <a:rPr lang="en-US" dirty="0"/>
              <a:t>(¬(</a:t>
            </a:r>
            <a:r>
              <a:rPr lang="en-US" i="1" dirty="0"/>
              <a:t>P</a:t>
            </a:r>
            <a:r>
              <a:rPr lang="en-US" dirty="0"/>
              <a:t>1_</a:t>
            </a:r>
            <a:r>
              <a:rPr lang="en-US" i="1" dirty="0"/>
              <a:t>inside</a:t>
            </a:r>
            <a:r>
              <a:rPr lang="en-US" dirty="0"/>
              <a:t>_</a:t>
            </a:r>
            <a:r>
              <a:rPr lang="en-US" i="1" dirty="0"/>
              <a:t>critical</a:t>
            </a:r>
            <a:r>
              <a:rPr lang="en-US" dirty="0"/>
              <a:t>∧</a:t>
            </a:r>
            <a:r>
              <a:rPr lang="en-US" i="1" dirty="0"/>
              <a:t>P</a:t>
            </a:r>
            <a:r>
              <a:rPr lang="en-US" dirty="0"/>
              <a:t>2_</a:t>
            </a:r>
            <a:r>
              <a:rPr lang="en-US" i="1" dirty="0"/>
              <a:t>inside</a:t>
            </a:r>
            <a:r>
              <a:rPr lang="en-US" dirty="0"/>
              <a:t>_</a:t>
            </a:r>
            <a:r>
              <a:rPr lang="en-US" i="1" dirty="0"/>
              <a:t>critical</a:t>
            </a:r>
            <a:r>
              <a:rPr lang="en-US" dirty="0"/>
              <a:t>))</a:t>
            </a:r>
          </a:p>
          <a:p>
            <a:r>
              <a:rPr lang="en-US" b="1" dirty="0"/>
              <a:t>Interpretation:</a:t>
            </a:r>
            <a:r>
              <a:rPr lang="en-US" dirty="0"/>
              <a:t> For all paths in the system, it is always the case that both P1 and P2 are not inside the critical section simultaneously</a:t>
            </a:r>
            <a:r>
              <a:rPr lang="en-US" dirty="0" smtClean="0"/>
              <a:t>.</a:t>
            </a:r>
          </a:p>
          <a:p>
            <a:endParaRPr lang="en-US" b="1" dirty="0" smtClean="0"/>
          </a:p>
          <a:p>
            <a:r>
              <a:rPr lang="en-US" b="1" dirty="0" smtClean="0"/>
              <a:t>Model </a:t>
            </a:r>
            <a:r>
              <a:rPr lang="en-US" b="1" dirty="0"/>
              <a:t>Checking Process:</a:t>
            </a:r>
            <a:endParaRPr lang="en-US" dirty="0"/>
          </a:p>
          <a:p>
            <a:r>
              <a:rPr lang="en-US" b="1" dirty="0" smtClean="0"/>
              <a:t>1)State </a:t>
            </a:r>
            <a:r>
              <a:rPr lang="en-US" b="1" dirty="0"/>
              <a:t>Space Exploration:</a:t>
            </a:r>
            <a:endParaRPr lang="en-US" dirty="0"/>
          </a:p>
          <a:p>
            <a:pPr lvl="1"/>
            <a:r>
              <a:rPr lang="en-US" dirty="0"/>
              <a:t>The model checker systematically explores all possible states and transitions in the state-transition diagram.</a:t>
            </a:r>
          </a:p>
          <a:p>
            <a:r>
              <a:rPr lang="en-US" b="1" dirty="0" smtClean="0"/>
              <a:t>2)Property </a:t>
            </a:r>
            <a:r>
              <a:rPr lang="en-US" b="1" dirty="0"/>
              <a:t>Verification:</a:t>
            </a:r>
            <a:endParaRPr lang="en-US" dirty="0"/>
          </a:p>
          <a:p>
            <a:pPr lvl="1"/>
            <a:r>
              <a:rPr lang="en-US" dirty="0"/>
              <a:t>At each state or along each path, the model checker evaluates the specified temporal logic formula.</a:t>
            </a:r>
          </a:p>
          <a:p>
            <a:r>
              <a:rPr lang="en-US" b="1" dirty="0" smtClean="0"/>
              <a:t>3) Counterexample </a:t>
            </a:r>
            <a:r>
              <a:rPr lang="en-US" b="1" dirty="0"/>
              <a:t>Generation:</a:t>
            </a:r>
            <a:endParaRPr lang="en-US" dirty="0"/>
          </a:p>
          <a:p>
            <a:pPr lvl="1"/>
            <a:r>
              <a:rPr lang="en-US" dirty="0"/>
              <a:t>If the property is violated, the model checker provides a counterexample—a specific sequence of states or transitions demonstrating the failure.</a:t>
            </a:r>
          </a:p>
          <a:p>
            <a:endParaRPr lang="en-US" dirty="0"/>
          </a:p>
        </p:txBody>
      </p:sp>
    </p:spTree>
    <p:extLst>
      <p:ext uri="{BB962C8B-B14F-4D97-AF65-F5344CB8AC3E}">
        <p14:creationId xmlns:p14="http://schemas.microsoft.com/office/powerpoint/2010/main" val="299449529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 Example</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000" b="1" dirty="0"/>
              <a:t>Consider a distributed system with three nodes, A, B, and C, each running a process that needs to access a shared resource, such as a database. The goal is to ensure mutual exclusion among the processes running on different nodes, meaning that only one process can access the shared resource at any given time</a:t>
            </a:r>
            <a:r>
              <a:rPr lang="en-US" sz="2000" b="1" dirty="0" smtClean="0"/>
              <a:t>.</a:t>
            </a:r>
          </a:p>
          <a:p>
            <a:r>
              <a:rPr lang="en-US" b="1" dirty="0" smtClean="0"/>
              <a:t>1) System </a:t>
            </a:r>
            <a:r>
              <a:rPr lang="en-US" b="1" dirty="0"/>
              <a:t>Description:</a:t>
            </a:r>
            <a:endParaRPr lang="en-US" dirty="0"/>
          </a:p>
          <a:p>
            <a:pPr marL="742950" lvl="1" indent="-285750">
              <a:buFont typeface="Wingdings" panose="05000000000000000000" pitchFamily="2" charset="2"/>
              <a:buChar char="v"/>
            </a:pPr>
            <a:r>
              <a:rPr lang="en-US" dirty="0"/>
              <a:t>Nodes: A, B, C</a:t>
            </a:r>
          </a:p>
          <a:p>
            <a:pPr marL="742950" lvl="1" indent="-285750">
              <a:buFont typeface="Wingdings" panose="05000000000000000000" pitchFamily="2" charset="2"/>
              <a:buChar char="v"/>
            </a:pPr>
            <a:r>
              <a:rPr lang="en-US" dirty="0"/>
              <a:t>Processes: </a:t>
            </a:r>
            <a:r>
              <a:rPr lang="en-US" dirty="0" err="1"/>
              <a:t>Process_A</a:t>
            </a:r>
            <a:r>
              <a:rPr lang="en-US" dirty="0"/>
              <a:t>, </a:t>
            </a:r>
            <a:r>
              <a:rPr lang="en-US" dirty="0" err="1"/>
              <a:t>Process_B</a:t>
            </a:r>
            <a:r>
              <a:rPr lang="en-US" dirty="0"/>
              <a:t>, </a:t>
            </a:r>
            <a:r>
              <a:rPr lang="en-US" dirty="0" err="1"/>
              <a:t>Process_C</a:t>
            </a:r>
            <a:endParaRPr lang="en-US" dirty="0"/>
          </a:p>
          <a:p>
            <a:pPr marL="742950" lvl="1" indent="-285750">
              <a:buFont typeface="Wingdings" panose="05000000000000000000" pitchFamily="2" charset="2"/>
              <a:buChar char="v"/>
            </a:pPr>
            <a:r>
              <a:rPr lang="en-US" dirty="0"/>
              <a:t>Shared Resource: Database</a:t>
            </a:r>
          </a:p>
          <a:p>
            <a:r>
              <a:rPr lang="en-US" b="1" dirty="0" smtClean="0"/>
              <a:t>2) Requirements</a:t>
            </a:r>
            <a:r>
              <a:rPr lang="en-US" b="1" dirty="0"/>
              <a:t>:</a:t>
            </a:r>
            <a:endParaRPr lang="en-US" dirty="0"/>
          </a:p>
          <a:p>
            <a:pPr lvl="1"/>
            <a:r>
              <a:rPr lang="en-US" b="1" dirty="0"/>
              <a:t>Mutual Exclusion: </a:t>
            </a:r>
            <a:r>
              <a:rPr lang="en-US" dirty="0"/>
              <a:t>Only one process should be able to access the database at a time.</a:t>
            </a:r>
          </a:p>
          <a:p>
            <a:pPr lvl="1"/>
            <a:r>
              <a:rPr lang="en-US" b="1" dirty="0" smtClean="0"/>
              <a:t>No Deadlock: </a:t>
            </a:r>
            <a:r>
              <a:rPr lang="en-US" dirty="0"/>
              <a:t>The system should not deadlock, meaning that processes should eventually be able to access the database.</a:t>
            </a:r>
          </a:p>
          <a:p>
            <a:r>
              <a:rPr lang="en-US" dirty="0"/>
              <a:t/>
            </a:r>
            <a:br>
              <a:rPr lang="en-US" dirty="0"/>
            </a:br>
            <a:endParaRPr lang="en-US" sz="2000" dirty="0"/>
          </a:p>
        </p:txBody>
      </p:sp>
    </p:spTree>
    <p:extLst>
      <p:ext uri="{BB962C8B-B14F-4D97-AF65-F5344CB8AC3E}">
        <p14:creationId xmlns:p14="http://schemas.microsoft.com/office/powerpoint/2010/main" val="281646065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 Example</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b="1" dirty="0"/>
              <a:t>3</a:t>
            </a:r>
            <a:r>
              <a:rPr lang="en-US" b="1" dirty="0" smtClean="0"/>
              <a:t>) </a:t>
            </a:r>
            <a:r>
              <a:rPr lang="en-US" dirty="0"/>
              <a:t>Model Representation</a:t>
            </a:r>
            <a:r>
              <a:rPr lang="en-US" dirty="0" smtClean="0"/>
              <a:t>:</a:t>
            </a:r>
            <a:endParaRPr lang="en-US" dirty="0"/>
          </a:p>
          <a:p>
            <a:r>
              <a:rPr lang="en-US" dirty="0"/>
              <a:t>Formalize the system as a distributed state machine, where each node and process transition between different states based on their interactions with the shared resource</a:t>
            </a:r>
            <a:r>
              <a:rPr lang="en-US" dirty="0" smtClean="0"/>
              <a:t>.</a:t>
            </a:r>
          </a:p>
          <a:p>
            <a:r>
              <a:rPr lang="en-US" b="1" dirty="0" smtClean="0"/>
              <a:t>States:</a:t>
            </a:r>
            <a:r>
              <a:rPr lang="en-US" dirty="0"/>
              <a:t> </a:t>
            </a:r>
            <a:endParaRPr lang="en-US" dirty="0" smtClean="0"/>
          </a:p>
          <a:p>
            <a:pPr marL="285750" indent="-285750">
              <a:buFont typeface="Wingdings" panose="05000000000000000000" pitchFamily="2" charset="2"/>
              <a:buChar char="v"/>
            </a:pPr>
            <a:r>
              <a:rPr lang="en-US" i="1" dirty="0" err="1" smtClean="0"/>
              <a:t>Node</a:t>
            </a:r>
            <a:r>
              <a:rPr lang="en-US" dirty="0" err="1" smtClean="0"/>
              <a:t>_</a:t>
            </a:r>
            <a:r>
              <a:rPr lang="en-US" i="1" dirty="0" err="1" smtClean="0"/>
              <a:t>A</a:t>
            </a:r>
            <a:r>
              <a:rPr lang="en-US" dirty="0" err="1" smtClean="0"/>
              <a:t>,</a:t>
            </a:r>
            <a:r>
              <a:rPr lang="en-US" i="1" dirty="0" err="1" smtClean="0"/>
              <a:t>Node</a:t>
            </a:r>
            <a:r>
              <a:rPr lang="en-US" dirty="0" err="1" smtClean="0"/>
              <a:t>_</a:t>
            </a:r>
            <a:r>
              <a:rPr lang="en-US" i="1" dirty="0" err="1" smtClean="0"/>
              <a:t>B</a:t>
            </a:r>
            <a:r>
              <a:rPr lang="en-US" dirty="0" err="1" smtClean="0"/>
              <a:t>,</a:t>
            </a:r>
            <a:r>
              <a:rPr lang="en-US" i="1" dirty="0" err="1" smtClean="0"/>
              <a:t>Node</a:t>
            </a:r>
            <a:r>
              <a:rPr lang="en-US" dirty="0" err="1" smtClean="0"/>
              <a:t>_</a:t>
            </a:r>
            <a:r>
              <a:rPr lang="en-US" i="1" dirty="0" err="1" smtClean="0"/>
              <a:t>C</a:t>
            </a:r>
            <a:r>
              <a:rPr lang="en-US" dirty="0"/>
              <a:t>: Represent the states of nodes A, B, and C, respectively.</a:t>
            </a:r>
          </a:p>
          <a:p>
            <a:pPr marL="285750" indent="-285750">
              <a:buFont typeface="Wingdings" panose="05000000000000000000" pitchFamily="2" charset="2"/>
              <a:buChar char="v"/>
            </a:pPr>
            <a:r>
              <a:rPr lang="en-US" i="1" dirty="0" err="1" smtClean="0"/>
              <a:t>Idle</a:t>
            </a:r>
            <a:r>
              <a:rPr lang="en-US" dirty="0" err="1" smtClean="0"/>
              <a:t>,</a:t>
            </a:r>
            <a:r>
              <a:rPr lang="en-US" i="1" dirty="0" err="1" smtClean="0"/>
              <a:t>Accessing</a:t>
            </a:r>
            <a:r>
              <a:rPr lang="en-US" dirty="0"/>
              <a:t>: Represent the states of a process being idle or accessing the shared resource (database).</a:t>
            </a:r>
          </a:p>
          <a:p>
            <a:r>
              <a:rPr lang="en-US" b="1" dirty="0"/>
              <a:t>Initial State:</a:t>
            </a:r>
            <a:endParaRPr lang="en-US" dirty="0"/>
          </a:p>
          <a:p>
            <a:pPr marL="285750" indent="-285750">
              <a:buFont typeface="Wingdings" panose="05000000000000000000" pitchFamily="2" charset="2"/>
              <a:buChar char="v"/>
            </a:pPr>
            <a:r>
              <a:rPr lang="en-US" dirty="0"/>
              <a:t>All nodes are initially in an idle state.</a:t>
            </a:r>
          </a:p>
          <a:p>
            <a:r>
              <a:rPr lang="en-US" b="1" dirty="0"/>
              <a:t>Transitions:</a:t>
            </a:r>
            <a:endParaRPr lang="en-US" dirty="0"/>
          </a:p>
          <a:p>
            <a:r>
              <a:rPr lang="en-US" b="1" dirty="0" smtClean="0"/>
              <a:t>1) Request</a:t>
            </a:r>
            <a:r>
              <a:rPr lang="en-US" b="1" dirty="0"/>
              <a:t>:</a:t>
            </a:r>
            <a:endParaRPr lang="en-US" dirty="0"/>
          </a:p>
          <a:p>
            <a:pPr lvl="1"/>
            <a:r>
              <a:rPr lang="en-US" dirty="0"/>
              <a:t>From </a:t>
            </a:r>
            <a:r>
              <a:rPr lang="en-US" i="1" dirty="0" err="1" smtClean="0"/>
              <a:t>Node</a:t>
            </a:r>
            <a:r>
              <a:rPr lang="en-US" dirty="0" err="1" smtClean="0"/>
              <a:t>_</a:t>
            </a:r>
            <a:r>
              <a:rPr lang="en-US" i="1" dirty="0" err="1" smtClean="0"/>
              <a:t>X</a:t>
            </a:r>
            <a:r>
              <a:rPr lang="en-US" dirty="0" smtClean="0"/>
              <a:t> in </a:t>
            </a:r>
            <a:r>
              <a:rPr lang="en-US" i="1" dirty="0" smtClean="0"/>
              <a:t>Idle</a:t>
            </a:r>
            <a:r>
              <a:rPr lang="en-US" dirty="0" smtClean="0"/>
              <a:t> </a:t>
            </a:r>
            <a:r>
              <a:rPr lang="en-US" dirty="0"/>
              <a:t>state, a process can transition to </a:t>
            </a:r>
            <a:r>
              <a:rPr lang="en-US" i="1" dirty="0" err="1" smtClean="0"/>
              <a:t>Node</a:t>
            </a:r>
            <a:r>
              <a:rPr lang="en-US" dirty="0" err="1" smtClean="0"/>
              <a:t>_</a:t>
            </a:r>
            <a:r>
              <a:rPr lang="en-US" i="1" dirty="0" err="1" smtClean="0"/>
              <a:t>X</a:t>
            </a:r>
            <a:r>
              <a:rPr lang="en-US" dirty="0" smtClean="0"/>
              <a:t> </a:t>
            </a:r>
            <a:r>
              <a:rPr lang="en-US" dirty="0"/>
              <a:t>in </a:t>
            </a:r>
            <a:r>
              <a:rPr lang="en-US" i="1" dirty="0" smtClean="0"/>
              <a:t>Accessing</a:t>
            </a:r>
            <a:r>
              <a:rPr lang="en-US" dirty="0" smtClean="0"/>
              <a:t> </a:t>
            </a:r>
            <a:r>
              <a:rPr lang="en-US" dirty="0"/>
              <a:t>state, indicating that it has requested and obtained access to the database.</a:t>
            </a:r>
          </a:p>
          <a:p>
            <a:r>
              <a:rPr lang="en-US" b="1" dirty="0" smtClean="0"/>
              <a:t>2) Release</a:t>
            </a:r>
            <a:r>
              <a:rPr lang="en-US" b="1" dirty="0"/>
              <a:t>:</a:t>
            </a:r>
            <a:endParaRPr lang="en-US" dirty="0"/>
          </a:p>
          <a:p>
            <a:pPr lvl="1"/>
            <a:r>
              <a:rPr lang="en-US" dirty="0"/>
              <a:t>From </a:t>
            </a:r>
            <a:r>
              <a:rPr lang="en-US" i="1" dirty="0" err="1" smtClean="0"/>
              <a:t>Node</a:t>
            </a:r>
            <a:r>
              <a:rPr lang="en-US" dirty="0" err="1" smtClean="0"/>
              <a:t>_</a:t>
            </a:r>
            <a:r>
              <a:rPr lang="en-US" i="1" dirty="0" err="1" smtClean="0"/>
              <a:t>X</a:t>
            </a:r>
            <a:r>
              <a:rPr lang="en-US" dirty="0" smtClean="0"/>
              <a:t> </a:t>
            </a:r>
            <a:r>
              <a:rPr lang="en-US" dirty="0"/>
              <a:t>in </a:t>
            </a:r>
            <a:r>
              <a:rPr lang="en-US" i="1" dirty="0" smtClean="0"/>
              <a:t>Accessing</a:t>
            </a:r>
            <a:r>
              <a:rPr lang="en-US" dirty="0" smtClean="0"/>
              <a:t> </a:t>
            </a:r>
            <a:r>
              <a:rPr lang="en-US" dirty="0"/>
              <a:t>state, a process can transition back to </a:t>
            </a:r>
            <a:r>
              <a:rPr lang="en-US" i="1" dirty="0" err="1" smtClean="0"/>
              <a:t>Node</a:t>
            </a:r>
            <a:r>
              <a:rPr lang="en-US" dirty="0" err="1" smtClean="0"/>
              <a:t>_</a:t>
            </a:r>
            <a:r>
              <a:rPr lang="en-US" i="1" dirty="0" err="1" smtClean="0"/>
              <a:t>X</a:t>
            </a:r>
            <a:r>
              <a:rPr lang="en-US" dirty="0" smtClean="0"/>
              <a:t> </a:t>
            </a:r>
            <a:r>
              <a:rPr lang="en-US" dirty="0"/>
              <a:t>in </a:t>
            </a:r>
            <a:r>
              <a:rPr lang="en-US" i="1" dirty="0" smtClean="0"/>
              <a:t>Idle</a:t>
            </a:r>
            <a:r>
              <a:rPr lang="en-US" dirty="0" smtClean="0"/>
              <a:t> </a:t>
            </a:r>
            <a:r>
              <a:rPr lang="en-US" dirty="0"/>
              <a:t>state, indicating that it has released the database.</a:t>
            </a:r>
          </a:p>
          <a:p>
            <a:r>
              <a:rPr lang="en-US" dirty="0"/>
              <a:t/>
            </a:r>
            <a:br>
              <a:rPr lang="en-US" dirty="0"/>
            </a:br>
            <a:endParaRPr lang="en-US" sz="2000" dirty="0"/>
          </a:p>
        </p:txBody>
      </p:sp>
    </p:spTree>
    <p:extLst>
      <p:ext uri="{BB962C8B-B14F-4D97-AF65-F5344CB8AC3E}">
        <p14:creationId xmlns:p14="http://schemas.microsoft.com/office/powerpoint/2010/main" val="317546248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 Example</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b="1" dirty="0" smtClean="0"/>
              <a:t>4) </a:t>
            </a:r>
            <a:r>
              <a:rPr lang="en-US" b="1" dirty="0"/>
              <a:t>Property Specification:</a:t>
            </a:r>
            <a:endParaRPr lang="en-US" dirty="0"/>
          </a:p>
          <a:p>
            <a:pPr marL="742950" lvl="1" indent="-285750">
              <a:buFont typeface="Wingdings" panose="05000000000000000000" pitchFamily="2" charset="2"/>
              <a:buChar char="v"/>
            </a:pPr>
            <a:r>
              <a:rPr lang="en-US" dirty="0"/>
              <a:t>Express properties using temporal logic. For example:</a:t>
            </a:r>
          </a:p>
          <a:p>
            <a:pPr marL="1200150" lvl="2" indent="-285750">
              <a:buFont typeface="Wingdings" panose="05000000000000000000" pitchFamily="2" charset="2"/>
              <a:buChar char="Ø"/>
            </a:pPr>
            <a:r>
              <a:rPr lang="en-US" dirty="0" err="1"/>
              <a:t>Mutex</a:t>
            </a:r>
            <a:r>
              <a:rPr lang="en-US" dirty="0"/>
              <a:t>: G(</a:t>
            </a:r>
            <a:r>
              <a:rPr lang="en-US" dirty="0" err="1"/>
              <a:t>Process_A_accessing</a:t>
            </a:r>
            <a:r>
              <a:rPr lang="en-US" dirty="0"/>
              <a:t>⇒¬</a:t>
            </a:r>
            <a:r>
              <a:rPr lang="en-US" dirty="0" err="1"/>
              <a:t>Process_B_accessing</a:t>
            </a:r>
            <a:r>
              <a:rPr lang="en-US" dirty="0"/>
              <a:t>∧¬</a:t>
            </a:r>
            <a:r>
              <a:rPr lang="en-US" dirty="0" err="1"/>
              <a:t>Process_C_accessing</a:t>
            </a:r>
            <a:r>
              <a:rPr lang="en-US" dirty="0"/>
              <a:t>)</a:t>
            </a:r>
            <a:r>
              <a:rPr lang="en-US" dirty="0" err="1"/>
              <a:t>Mutex:G</a:t>
            </a:r>
            <a:r>
              <a:rPr lang="en-US" dirty="0"/>
              <a:t>(</a:t>
            </a:r>
            <a:r>
              <a:rPr lang="en-US" dirty="0" err="1"/>
              <a:t>Process_A_accessing</a:t>
            </a:r>
            <a:r>
              <a:rPr lang="en-US" dirty="0"/>
              <a:t>⇒¬</a:t>
            </a:r>
            <a:r>
              <a:rPr lang="en-US" dirty="0" err="1"/>
              <a:t>Process_B_accessing</a:t>
            </a:r>
            <a:r>
              <a:rPr lang="en-US" dirty="0"/>
              <a:t>∧¬</a:t>
            </a:r>
            <a:r>
              <a:rPr lang="en-US" dirty="0" err="1"/>
              <a:t>Process_C_accessing</a:t>
            </a:r>
            <a:r>
              <a:rPr lang="en-US" dirty="0"/>
              <a:t>)</a:t>
            </a:r>
          </a:p>
          <a:p>
            <a:pPr marL="1200150" lvl="2" indent="-285750">
              <a:buFont typeface="Wingdings" panose="05000000000000000000" pitchFamily="2" charset="2"/>
              <a:buChar char="Ø"/>
            </a:pPr>
            <a:r>
              <a:rPr lang="en-US" dirty="0" err="1"/>
              <a:t>No_Deadlock</a:t>
            </a:r>
            <a:r>
              <a:rPr lang="en-US" dirty="0"/>
              <a:t>: G(¬(</a:t>
            </a:r>
            <a:r>
              <a:rPr lang="en-US" dirty="0" err="1"/>
              <a:t>Process_A_waiting∧Process_B_waiting∧Process_C_waiting</a:t>
            </a:r>
            <a:r>
              <a:rPr lang="en-US" dirty="0"/>
              <a:t>))</a:t>
            </a:r>
            <a:r>
              <a:rPr lang="en-US" dirty="0" err="1"/>
              <a:t>No_Deadlock:G</a:t>
            </a:r>
            <a:r>
              <a:rPr lang="en-US" dirty="0"/>
              <a:t>(¬(</a:t>
            </a:r>
            <a:r>
              <a:rPr lang="en-US" dirty="0" err="1"/>
              <a:t>Process_A_waiting∧Process_B_waiting∧Process_C_waiting</a:t>
            </a:r>
            <a:r>
              <a:rPr lang="en-US" dirty="0"/>
              <a:t>))</a:t>
            </a:r>
          </a:p>
          <a:p>
            <a:r>
              <a:rPr lang="en-US" b="1" dirty="0" smtClean="0"/>
              <a:t>5) State </a:t>
            </a:r>
            <a:r>
              <a:rPr lang="en-US" b="1" dirty="0"/>
              <a:t>Space Exploration:</a:t>
            </a:r>
            <a:endParaRPr lang="en-US" dirty="0"/>
          </a:p>
          <a:p>
            <a:pPr lvl="1"/>
            <a:r>
              <a:rPr lang="en-US" dirty="0"/>
              <a:t>Use model checking algorithms to explore the possible states of the distributed system.</a:t>
            </a:r>
          </a:p>
          <a:p>
            <a:r>
              <a:rPr lang="en-US" b="1" dirty="0" smtClean="0"/>
              <a:t>6) Property </a:t>
            </a:r>
            <a:r>
              <a:rPr lang="en-US" b="1" dirty="0"/>
              <a:t>Verification:</a:t>
            </a:r>
            <a:endParaRPr lang="en-US" dirty="0"/>
          </a:p>
          <a:p>
            <a:pPr lvl="1"/>
            <a:r>
              <a:rPr lang="en-US" dirty="0"/>
              <a:t>Check if the specified properties (mutual exclusion, no deadlock) hold in each explored state.</a:t>
            </a:r>
          </a:p>
          <a:p>
            <a:r>
              <a:rPr lang="en-US" b="1" dirty="0" smtClean="0"/>
              <a:t>7) Counterexample </a:t>
            </a:r>
            <a:r>
              <a:rPr lang="en-US" b="1" dirty="0"/>
              <a:t>Generation:</a:t>
            </a:r>
          </a:p>
          <a:p>
            <a:pPr marL="742950" lvl="1" indent="-285750">
              <a:buFont typeface="Wingdings" panose="05000000000000000000" pitchFamily="2" charset="2"/>
              <a:buChar char="v"/>
            </a:pPr>
            <a:r>
              <a:rPr lang="en-US" dirty="0" smtClean="0"/>
              <a:t>If </a:t>
            </a:r>
            <a:r>
              <a:rPr lang="en-US" dirty="0"/>
              <a:t>the model checking process finds a counterexample, it could indicate scenarios where mutual exclusion is violated or potential deadlock situations. </a:t>
            </a:r>
            <a:endParaRPr lang="en-US" dirty="0" smtClean="0"/>
          </a:p>
          <a:p>
            <a:pPr marL="742950" lvl="1" indent="-285750">
              <a:buFont typeface="Wingdings" panose="05000000000000000000" pitchFamily="2" charset="2"/>
              <a:buChar char="v"/>
            </a:pPr>
            <a:r>
              <a:rPr lang="en-US" dirty="0" smtClean="0"/>
              <a:t>This </a:t>
            </a:r>
            <a:r>
              <a:rPr lang="en-US" dirty="0"/>
              <a:t>allows designers to analyze and correct the system to meet the specified requirements.</a:t>
            </a:r>
            <a:endParaRPr lang="en-US" sz="2000" dirty="0"/>
          </a:p>
        </p:txBody>
      </p:sp>
    </p:spTree>
    <p:extLst>
      <p:ext uri="{BB962C8B-B14F-4D97-AF65-F5344CB8AC3E}">
        <p14:creationId xmlns:p14="http://schemas.microsoft.com/office/powerpoint/2010/main" val="413212026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828800" y="914400"/>
            <a:ext cx="10363200" cy="1143000"/>
          </a:xfrm>
        </p:spPr>
        <p:txBody>
          <a:bodyPr/>
          <a:lstStyle/>
          <a:p>
            <a:pPr algn="ctr" eaLnBrk="1" hangingPunct="1"/>
            <a:r>
              <a:rPr lang="en-US" altLang="en-US" smtClean="0">
                <a:solidFill>
                  <a:srgbClr val="FF0000"/>
                </a:solidFill>
              </a:rPr>
              <a:t>Formal Verification</a:t>
            </a:r>
          </a:p>
        </p:txBody>
      </p:sp>
    </p:spTree>
    <p:extLst>
      <p:ext uri="{BB962C8B-B14F-4D97-AF65-F5344CB8AC3E}">
        <p14:creationId xmlns:p14="http://schemas.microsoft.com/office/powerpoint/2010/main" val="113118150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z="4000" b="1" dirty="0" smtClean="0"/>
              <a:t>What is Formal Verification?</a:t>
            </a:r>
          </a:p>
        </p:txBody>
      </p:sp>
      <p:sp>
        <p:nvSpPr>
          <p:cNvPr id="6147" name="Rectangle 3"/>
          <p:cNvSpPr>
            <a:spLocks noGrp="1" noChangeArrowheads="1"/>
          </p:cNvSpPr>
          <p:nvPr>
            <p:ph type="body" idx="1"/>
          </p:nvPr>
        </p:nvSpPr>
        <p:spPr/>
        <p:txBody>
          <a:bodyPr/>
          <a:lstStyle/>
          <a:p>
            <a:pPr eaLnBrk="1" hangingPunct="1"/>
            <a:r>
              <a:rPr lang="en-US" altLang="en-US" sz="2400" dirty="0" smtClean="0"/>
              <a:t>Process of ensuring system behaves as intended </a:t>
            </a:r>
          </a:p>
          <a:p>
            <a:pPr eaLnBrk="1" hangingPunct="1"/>
            <a:r>
              <a:rPr lang="en-US" altLang="en-US" sz="2400" dirty="0" smtClean="0"/>
              <a:t>System is bug-free</a:t>
            </a:r>
          </a:p>
          <a:p>
            <a:pPr eaLnBrk="1" hangingPunct="1"/>
            <a:r>
              <a:rPr lang="en-US" altLang="en-US" sz="2400" dirty="0"/>
              <a:t>Formal verification is the process of using mathematical techniques to prove or disprove the correctness of a system with respect to its specifications</a:t>
            </a:r>
            <a:r>
              <a:rPr lang="en-US" altLang="en-US" sz="2400" dirty="0" smtClean="0"/>
              <a:t>.</a:t>
            </a:r>
          </a:p>
          <a:p>
            <a:pPr eaLnBrk="1" hangingPunct="1"/>
            <a:r>
              <a:rPr lang="en-US" altLang="en-US" sz="2400" dirty="0"/>
              <a:t>Formal verification is a powerful tool for ensuring the correctness of systems, particularly in safety-critical and mission-critical applications.</a:t>
            </a:r>
          </a:p>
          <a:p>
            <a:pPr eaLnBrk="1" hangingPunct="1"/>
            <a:r>
              <a:rPr lang="en-US" altLang="en-US" sz="2400" dirty="0" smtClean="0"/>
              <a:t>Objective</a:t>
            </a:r>
            <a:r>
              <a:rPr lang="en-US" altLang="en-US" sz="2400" dirty="0"/>
              <a:t>: Ensure that a system meets its intended behavior and does not exhibit undesirable properties</a:t>
            </a:r>
            <a:r>
              <a:rPr lang="en-US" altLang="en-US" sz="2400" dirty="0" smtClean="0"/>
              <a:t>.</a:t>
            </a:r>
          </a:p>
          <a:p>
            <a:pPr eaLnBrk="1" hangingPunct="1"/>
            <a:r>
              <a:rPr lang="en-US" altLang="en-US" sz="2400" dirty="0" smtClean="0"/>
              <a:t>Important Step</a:t>
            </a:r>
          </a:p>
          <a:p>
            <a:pPr eaLnBrk="1" hangingPunct="1"/>
            <a:r>
              <a:rPr lang="en-US" altLang="en-US" sz="2400" dirty="0" smtClean="0"/>
              <a:t>Nearly 70% of development time</a:t>
            </a:r>
          </a:p>
          <a:p>
            <a:pPr eaLnBrk="1" hangingPunct="1"/>
            <a:endParaRPr lang="en-US" altLang="en-US" sz="2400" dirty="0" smtClean="0"/>
          </a:p>
        </p:txBody>
      </p:sp>
    </p:spTree>
    <p:extLst>
      <p:ext uri="{BB962C8B-B14F-4D97-AF65-F5344CB8AC3E}">
        <p14:creationId xmlns:p14="http://schemas.microsoft.com/office/powerpoint/2010/main" val="15152856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z="4000" b="1" dirty="0" smtClean="0"/>
              <a:t>Formal Verification</a:t>
            </a:r>
          </a:p>
        </p:txBody>
      </p:sp>
      <p:sp>
        <p:nvSpPr>
          <p:cNvPr id="6147" name="Rectangle 3"/>
          <p:cNvSpPr>
            <a:spLocks noGrp="1" noChangeArrowheads="1"/>
          </p:cNvSpPr>
          <p:nvPr>
            <p:ph type="body" idx="1"/>
          </p:nvPr>
        </p:nvSpPr>
        <p:spPr/>
        <p:txBody>
          <a:bodyPr/>
          <a:lstStyle/>
          <a:p>
            <a:pPr marL="0" indent="0" eaLnBrk="1" hangingPunct="1">
              <a:buNone/>
            </a:pPr>
            <a:r>
              <a:rPr lang="en-US" altLang="en-US" sz="2400" dirty="0" smtClean="0">
                <a:solidFill>
                  <a:srgbClr val="FF0000"/>
                </a:solidFill>
              </a:rPr>
              <a:t>Key </a:t>
            </a:r>
            <a:r>
              <a:rPr lang="en-US" altLang="en-US" sz="2400" dirty="0">
                <a:solidFill>
                  <a:srgbClr val="FF0000"/>
                </a:solidFill>
              </a:rPr>
              <a:t>Concepts:</a:t>
            </a:r>
          </a:p>
          <a:p>
            <a:pPr eaLnBrk="1" hangingPunct="1"/>
            <a:r>
              <a:rPr lang="en-US" altLang="en-US" sz="2400" dirty="0">
                <a:solidFill>
                  <a:srgbClr val="FF0000"/>
                </a:solidFill>
              </a:rPr>
              <a:t>Formal Methods:</a:t>
            </a:r>
            <a:r>
              <a:rPr lang="en-US" altLang="en-US" sz="2400" dirty="0"/>
              <a:t> Mathematical techniques used to specify, design, and verify systems. Examples include model checking, theorem proving, and abstract interpretation.</a:t>
            </a:r>
          </a:p>
          <a:p>
            <a:pPr eaLnBrk="1" hangingPunct="1"/>
            <a:r>
              <a:rPr lang="en-US" altLang="en-US" sz="2400" dirty="0">
                <a:solidFill>
                  <a:srgbClr val="FF0000"/>
                </a:solidFill>
              </a:rPr>
              <a:t>Specifications:</a:t>
            </a:r>
            <a:r>
              <a:rPr lang="en-US" altLang="en-US" sz="2400" dirty="0"/>
              <a:t> Precise and unambiguous descriptions of the desired behavior of a system.</a:t>
            </a:r>
          </a:p>
          <a:p>
            <a:pPr eaLnBrk="1" hangingPunct="1"/>
            <a:r>
              <a:rPr lang="en-US" altLang="en-US" sz="2400" dirty="0">
                <a:solidFill>
                  <a:srgbClr val="FF0000"/>
                </a:solidFill>
              </a:rPr>
              <a:t>Assertions:</a:t>
            </a:r>
            <a:r>
              <a:rPr lang="en-US" altLang="en-US" sz="2400" dirty="0"/>
              <a:t> Statements about properties that should hold at certain points in the system.</a:t>
            </a:r>
          </a:p>
          <a:p>
            <a:pPr eaLnBrk="1" hangingPunct="1"/>
            <a:r>
              <a:rPr lang="en-US" altLang="en-US" sz="2400" dirty="0">
                <a:solidFill>
                  <a:srgbClr val="FF0000"/>
                </a:solidFill>
              </a:rPr>
              <a:t>Model Checking:</a:t>
            </a:r>
            <a:r>
              <a:rPr lang="en-US" altLang="en-US" sz="2400" dirty="0"/>
              <a:t> An automated technique for checking whether a model of a system satisfies a given set of properties.</a:t>
            </a:r>
          </a:p>
          <a:p>
            <a:pPr marL="0" indent="0" eaLnBrk="1" hangingPunct="1">
              <a:buNone/>
            </a:pPr>
            <a:endParaRPr lang="en-US" altLang="en-US" sz="2400" dirty="0" smtClean="0"/>
          </a:p>
        </p:txBody>
      </p:sp>
    </p:spTree>
    <p:extLst>
      <p:ext uri="{BB962C8B-B14F-4D97-AF65-F5344CB8AC3E}">
        <p14:creationId xmlns:p14="http://schemas.microsoft.com/office/powerpoint/2010/main" val="23674159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smtClean="0"/>
              <a:t>Formal Verification</a:t>
            </a:r>
          </a:p>
        </p:txBody>
      </p:sp>
      <p:sp>
        <p:nvSpPr>
          <p:cNvPr id="7171" name="Rectangle 3"/>
          <p:cNvSpPr>
            <a:spLocks noGrp="1" noChangeArrowheads="1"/>
          </p:cNvSpPr>
          <p:nvPr>
            <p:ph type="body" idx="1"/>
          </p:nvPr>
        </p:nvSpPr>
        <p:spPr>
          <a:xfrm>
            <a:off x="609600" y="2057400"/>
            <a:ext cx="11582400" cy="4800600"/>
          </a:xfrm>
        </p:spPr>
        <p:txBody>
          <a:bodyPr/>
          <a:lstStyle/>
          <a:p>
            <a:pPr eaLnBrk="1" hangingPunct="1"/>
            <a:r>
              <a:rPr lang="en-US" altLang="en-US" sz="2800" smtClean="0">
                <a:solidFill>
                  <a:srgbClr val="FF6600"/>
                </a:solidFill>
              </a:rPr>
              <a:t>Formally check a formal model of the system against a formal specification</a:t>
            </a:r>
          </a:p>
          <a:p>
            <a:pPr eaLnBrk="1" hangingPunct="1"/>
            <a:r>
              <a:rPr lang="en-US" altLang="en-US" sz="2800" smtClean="0"/>
              <a:t>Formal : Mathematical, Precise, unambiguous</a:t>
            </a:r>
          </a:p>
          <a:p>
            <a:pPr eaLnBrk="1" hangingPunct="1"/>
            <a:r>
              <a:rPr lang="en-US" altLang="en-US" sz="2800" smtClean="0"/>
              <a:t>Static analysis</a:t>
            </a:r>
          </a:p>
          <a:p>
            <a:pPr eaLnBrk="1" hangingPunct="1"/>
            <a:r>
              <a:rPr lang="en-US" altLang="en-US" sz="2800" smtClean="0"/>
              <a:t>Exhaustive Verification</a:t>
            </a:r>
          </a:p>
          <a:p>
            <a:pPr eaLnBrk="1" hangingPunct="1"/>
            <a:r>
              <a:rPr lang="en-US" altLang="en-US" sz="2800" smtClean="0"/>
              <a:t>Proves absence of bugs</a:t>
            </a:r>
          </a:p>
          <a:p>
            <a:pPr eaLnBrk="1" hangingPunct="1"/>
            <a:r>
              <a:rPr lang="en-US" altLang="en-US" sz="2800" smtClean="0"/>
              <a:t>Complex and subtle bugs caught</a:t>
            </a:r>
          </a:p>
          <a:p>
            <a:pPr eaLnBrk="1" hangingPunct="1"/>
            <a:r>
              <a:rPr lang="en-US" altLang="en-US" sz="2800" smtClean="0"/>
              <a:t>Early Detection</a:t>
            </a:r>
          </a:p>
        </p:txBody>
      </p:sp>
    </p:spTree>
    <p:extLst>
      <p:ext uri="{BB962C8B-B14F-4D97-AF65-F5344CB8AC3E}">
        <p14:creationId xmlns:p14="http://schemas.microsoft.com/office/powerpoint/2010/main" val="35205543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801286" y="457200"/>
            <a:ext cx="10390716" cy="769938"/>
          </a:xfrm>
        </p:spPr>
        <p:txBody>
          <a:bodyPr/>
          <a:lstStyle/>
          <a:p>
            <a:pPr eaLnBrk="1" hangingPunct="1">
              <a:lnSpc>
                <a:spcPct val="70000"/>
              </a:lnSpc>
            </a:pPr>
            <a:r>
              <a:rPr lang="en-US" altLang="en-US" smtClean="0"/>
              <a:t>Three-step process</a:t>
            </a:r>
          </a:p>
        </p:txBody>
      </p:sp>
      <p:sp>
        <p:nvSpPr>
          <p:cNvPr id="8195" name="Rectangle 3"/>
          <p:cNvSpPr>
            <a:spLocks noGrp="1" noChangeArrowheads="1"/>
          </p:cNvSpPr>
          <p:nvPr>
            <p:ph type="body" idx="1"/>
          </p:nvPr>
        </p:nvSpPr>
        <p:spPr>
          <a:xfrm>
            <a:off x="914400" y="1676400"/>
            <a:ext cx="10972800" cy="5181600"/>
          </a:xfrm>
        </p:spPr>
        <p:txBody>
          <a:bodyPr/>
          <a:lstStyle/>
          <a:p>
            <a:pPr eaLnBrk="1" hangingPunct="1">
              <a:lnSpc>
                <a:spcPct val="0"/>
              </a:lnSpc>
            </a:pPr>
            <a:endParaRPr lang="en-US" altLang="en-US" sz="2800" smtClean="0"/>
          </a:p>
          <a:p>
            <a:pPr eaLnBrk="1" hangingPunct="1"/>
            <a:r>
              <a:rPr lang="en-US" altLang="en-US" sz="2800" smtClean="0">
                <a:solidFill>
                  <a:srgbClr val="990000"/>
                </a:solidFill>
              </a:rPr>
              <a:t>Formal methods three steps are</a:t>
            </a:r>
          </a:p>
          <a:p>
            <a:pPr lvl="1" eaLnBrk="1" hangingPunct="1"/>
            <a:r>
              <a:rPr lang="en-US" altLang="en-US" sz="2400" smtClean="0"/>
              <a:t>Formal Specification</a:t>
            </a:r>
          </a:p>
          <a:p>
            <a:pPr lvl="1" eaLnBrk="1" hangingPunct="1"/>
            <a:r>
              <a:rPr lang="en-US" altLang="en-US" sz="2400" smtClean="0"/>
              <a:t>Formal Models</a:t>
            </a:r>
          </a:p>
          <a:p>
            <a:pPr lvl="1" eaLnBrk="1" hangingPunct="1"/>
            <a:r>
              <a:rPr lang="en-US" altLang="en-US" sz="2400" smtClean="0"/>
              <a:t>Verification</a:t>
            </a:r>
          </a:p>
          <a:p>
            <a:pPr lvl="1" eaLnBrk="1" hangingPunct="1">
              <a:buFont typeface="Wingdings" pitchFamily="2" charset="2"/>
              <a:buNone/>
            </a:pPr>
            <a:r>
              <a:rPr lang="en-US" altLang="en-US" sz="2400" smtClean="0"/>
              <a:t> </a:t>
            </a:r>
          </a:p>
          <a:p>
            <a:pPr eaLnBrk="1" hangingPunct="1"/>
            <a:r>
              <a:rPr lang="en-US" altLang="en-US" sz="2500" smtClean="0">
                <a:solidFill>
                  <a:srgbClr val="990000"/>
                </a:solidFill>
              </a:rPr>
              <a:t>Formal specification</a:t>
            </a:r>
          </a:p>
          <a:p>
            <a:pPr lvl="1" eaLnBrk="1" hangingPunct="1">
              <a:lnSpc>
                <a:spcPct val="70000"/>
              </a:lnSpc>
            </a:pPr>
            <a:r>
              <a:rPr lang="en-US" altLang="en-US" sz="2600" smtClean="0"/>
              <a:t> </a:t>
            </a:r>
            <a:r>
              <a:rPr lang="en-US" altLang="en-US" sz="2400" smtClean="0"/>
              <a:t>Precise statement of properties</a:t>
            </a:r>
          </a:p>
          <a:p>
            <a:pPr lvl="1" eaLnBrk="1" hangingPunct="1"/>
            <a:r>
              <a:rPr lang="en-US" altLang="en-US" sz="2400" smtClean="0"/>
              <a:t> System requirements and environmental constraints</a:t>
            </a:r>
          </a:p>
          <a:p>
            <a:pPr lvl="1" eaLnBrk="1" hangingPunct="1"/>
            <a:r>
              <a:rPr lang="en-US" altLang="en-US" sz="2400" smtClean="0"/>
              <a:t> Logic - PL, FOL, temporal logic</a:t>
            </a:r>
          </a:p>
          <a:p>
            <a:pPr lvl="1" eaLnBrk="1" hangingPunct="1"/>
            <a:r>
              <a:rPr lang="en-US" altLang="en-US" sz="2400" smtClean="0"/>
              <a:t> Automata, labeled transition systems</a:t>
            </a:r>
          </a:p>
          <a:p>
            <a:pPr eaLnBrk="1" hangingPunct="1">
              <a:buFont typeface="Wingdings" pitchFamily="2" charset="2"/>
              <a:buNone/>
            </a:pPr>
            <a:r>
              <a:rPr lang="en-US" altLang="en-US" sz="2600" smtClean="0"/>
              <a:t> </a:t>
            </a:r>
            <a:endParaRPr lang="en-US" altLang="en-US" sz="2800" smtClean="0"/>
          </a:p>
        </p:txBody>
      </p:sp>
    </p:spTree>
    <p:extLst>
      <p:ext uri="{BB962C8B-B14F-4D97-AF65-F5344CB8AC3E}">
        <p14:creationId xmlns:p14="http://schemas.microsoft.com/office/powerpoint/2010/main" val="107416777"/>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mtClean="0"/>
              <a:t>Other steps</a:t>
            </a:r>
          </a:p>
        </p:txBody>
      </p:sp>
      <p:sp>
        <p:nvSpPr>
          <p:cNvPr id="9219" name="Rectangle 3"/>
          <p:cNvSpPr>
            <a:spLocks noGrp="1" noChangeArrowheads="1"/>
          </p:cNvSpPr>
          <p:nvPr>
            <p:ph type="body" idx="1"/>
          </p:nvPr>
        </p:nvSpPr>
        <p:spPr/>
        <p:txBody>
          <a:bodyPr/>
          <a:lstStyle/>
          <a:p>
            <a:pPr eaLnBrk="1" hangingPunct="1">
              <a:lnSpc>
                <a:spcPct val="90000"/>
              </a:lnSpc>
            </a:pPr>
            <a:r>
              <a:rPr lang="en-US" altLang="en-US" sz="2900" smtClean="0">
                <a:solidFill>
                  <a:srgbClr val="990000"/>
                </a:solidFill>
              </a:rPr>
              <a:t>Models</a:t>
            </a:r>
          </a:p>
          <a:p>
            <a:pPr lvl="1" eaLnBrk="1" hangingPunct="1">
              <a:lnSpc>
                <a:spcPct val="80000"/>
              </a:lnSpc>
            </a:pPr>
            <a:r>
              <a:rPr lang="en-US" altLang="en-US" sz="3000" smtClean="0"/>
              <a:t> </a:t>
            </a:r>
            <a:r>
              <a:rPr lang="en-US" altLang="en-US" smtClean="0"/>
              <a:t>Flexible to model general to specific designs</a:t>
            </a:r>
          </a:p>
          <a:p>
            <a:pPr lvl="1" eaLnBrk="1" hangingPunct="1">
              <a:lnSpc>
                <a:spcPct val="90000"/>
              </a:lnSpc>
            </a:pPr>
            <a:r>
              <a:rPr lang="en-US" altLang="en-US" smtClean="0"/>
              <a:t> Non-determinism, concurrency, fairness,</a:t>
            </a:r>
          </a:p>
          <a:p>
            <a:pPr lvl="1" eaLnBrk="1" hangingPunct="1">
              <a:lnSpc>
                <a:spcPct val="90000"/>
              </a:lnSpc>
            </a:pPr>
            <a:r>
              <a:rPr lang="en-US" altLang="en-US" smtClean="0"/>
              <a:t> HLL, Transition systems, automata</a:t>
            </a:r>
          </a:p>
          <a:p>
            <a:pPr eaLnBrk="1" hangingPunct="1">
              <a:lnSpc>
                <a:spcPct val="90000"/>
              </a:lnSpc>
            </a:pPr>
            <a:r>
              <a:rPr lang="en-US" altLang="en-US" sz="2900" smtClean="0">
                <a:solidFill>
                  <a:srgbClr val="990000"/>
                </a:solidFill>
              </a:rPr>
              <a:t>Verification</a:t>
            </a:r>
          </a:p>
          <a:p>
            <a:pPr lvl="1" eaLnBrk="1" hangingPunct="1">
              <a:lnSpc>
                <a:spcPct val="70000"/>
              </a:lnSpc>
            </a:pPr>
            <a:r>
              <a:rPr lang="en-US" altLang="en-US" sz="3000" smtClean="0"/>
              <a:t> </a:t>
            </a:r>
            <a:r>
              <a:rPr lang="en-US" altLang="en-US" smtClean="0"/>
              <a:t>Checking that model satisfies specification</a:t>
            </a:r>
          </a:p>
          <a:p>
            <a:pPr lvl="1" eaLnBrk="1" hangingPunct="1">
              <a:lnSpc>
                <a:spcPct val="90000"/>
              </a:lnSpc>
            </a:pPr>
            <a:r>
              <a:rPr lang="en-US" altLang="en-US" smtClean="0"/>
              <a:t> Static and exhaustive checking</a:t>
            </a:r>
          </a:p>
          <a:p>
            <a:pPr lvl="1" eaLnBrk="1" hangingPunct="1">
              <a:lnSpc>
                <a:spcPct val="90000"/>
              </a:lnSpc>
            </a:pPr>
            <a:r>
              <a:rPr lang="en-US" altLang="en-US" smtClean="0"/>
              <a:t> Automatic or semi-automatic</a:t>
            </a:r>
          </a:p>
          <a:p>
            <a:pPr eaLnBrk="1" hangingPunct="1">
              <a:lnSpc>
                <a:spcPct val="90000"/>
              </a:lnSpc>
            </a:pPr>
            <a:endParaRPr lang="en-US" altLang="en-US" smtClean="0"/>
          </a:p>
        </p:txBody>
      </p:sp>
    </p:spTree>
    <p:extLst>
      <p:ext uri="{BB962C8B-B14F-4D97-AF65-F5344CB8AC3E}">
        <p14:creationId xmlns:p14="http://schemas.microsoft.com/office/powerpoint/2010/main" val="22998249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Grp="1" noChangeArrowheads="1"/>
          </p:cNvSpPr>
          <p:nvPr>
            <p:ph type="title"/>
          </p:nvPr>
        </p:nvSpPr>
        <p:spPr/>
        <p:txBody>
          <a:bodyPr/>
          <a:lstStyle/>
          <a:p>
            <a:pPr eaLnBrk="1" hangingPunct="1"/>
            <a:r>
              <a:rPr lang="en-US" altLang="en-US" smtClean="0"/>
              <a:t>Formal Verification Techniques</a:t>
            </a:r>
          </a:p>
        </p:txBody>
      </p:sp>
      <p:sp>
        <p:nvSpPr>
          <p:cNvPr id="10243" name="Rectangle 1027"/>
          <p:cNvSpPr>
            <a:spLocks noGrp="1" noChangeArrowheads="1"/>
          </p:cNvSpPr>
          <p:nvPr>
            <p:ph type="body" idx="1"/>
          </p:nvPr>
        </p:nvSpPr>
        <p:spPr>
          <a:xfrm>
            <a:off x="1524000" y="1828800"/>
            <a:ext cx="10160000" cy="3581400"/>
          </a:xfrm>
        </p:spPr>
        <p:txBody>
          <a:bodyPr/>
          <a:lstStyle/>
          <a:p>
            <a:pPr eaLnBrk="1" hangingPunct="1"/>
            <a:r>
              <a:rPr lang="en-US" altLang="en-US" smtClean="0"/>
              <a:t>Three major techniques</a:t>
            </a:r>
          </a:p>
          <a:p>
            <a:pPr lvl="1" eaLnBrk="1" hangingPunct="1"/>
            <a:r>
              <a:rPr lang="en-US" altLang="en-US" smtClean="0"/>
              <a:t>Equivalence checking (HW)</a:t>
            </a:r>
          </a:p>
          <a:p>
            <a:pPr lvl="1" eaLnBrk="1" hangingPunct="1"/>
            <a:r>
              <a:rPr lang="en-US" altLang="en-US" smtClean="0"/>
              <a:t>Model checking(HW &amp; SW)</a:t>
            </a:r>
          </a:p>
          <a:p>
            <a:pPr lvl="1" eaLnBrk="1" hangingPunct="1"/>
            <a:r>
              <a:rPr lang="en-US" altLang="en-US" smtClean="0"/>
              <a:t>Theorem proving(HW &amp; SW)</a:t>
            </a:r>
          </a:p>
        </p:txBody>
      </p:sp>
    </p:spTree>
    <p:extLst>
      <p:ext uri="{BB962C8B-B14F-4D97-AF65-F5344CB8AC3E}">
        <p14:creationId xmlns:p14="http://schemas.microsoft.com/office/powerpoint/2010/main" val="205676025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smtClean="0"/>
              <a:t>Equivalence Checking</a:t>
            </a:r>
          </a:p>
        </p:txBody>
      </p:sp>
      <p:sp>
        <p:nvSpPr>
          <p:cNvPr id="11267" name="Rectangle 3"/>
          <p:cNvSpPr>
            <a:spLocks noGrp="1" noChangeArrowheads="1"/>
          </p:cNvSpPr>
          <p:nvPr>
            <p:ph type="body" idx="1"/>
          </p:nvPr>
        </p:nvSpPr>
        <p:spPr>
          <a:xfrm>
            <a:off x="609600" y="1828800"/>
            <a:ext cx="11277600" cy="4876800"/>
          </a:xfrm>
        </p:spPr>
        <p:txBody>
          <a:bodyPr/>
          <a:lstStyle/>
          <a:p>
            <a:pPr eaLnBrk="1" hangingPunct="1">
              <a:lnSpc>
                <a:spcPct val="90000"/>
              </a:lnSpc>
            </a:pPr>
            <a:r>
              <a:rPr lang="en-US" altLang="en-US" sz="2800" smtClean="0"/>
              <a:t>Checking equivalence of two similar circuits</a:t>
            </a:r>
          </a:p>
          <a:p>
            <a:pPr eaLnBrk="1" hangingPunct="1">
              <a:lnSpc>
                <a:spcPct val="90000"/>
              </a:lnSpc>
            </a:pPr>
            <a:r>
              <a:rPr lang="en-US" altLang="en-US" sz="2800" smtClean="0"/>
              <a:t>Useful for validating optimizations, scan chain insertions</a:t>
            </a:r>
          </a:p>
          <a:p>
            <a:pPr eaLnBrk="1" hangingPunct="1">
              <a:lnSpc>
                <a:spcPct val="90000"/>
              </a:lnSpc>
            </a:pPr>
            <a:r>
              <a:rPr lang="en-US" altLang="en-US" sz="2800" smtClean="0"/>
              <a:t>Comparison for two boolean expressions – use of BDDs (binary decision diagrams)</a:t>
            </a:r>
          </a:p>
          <a:p>
            <a:pPr eaLnBrk="1" hangingPunct="1">
              <a:lnSpc>
                <a:spcPct val="90000"/>
              </a:lnSpc>
            </a:pPr>
            <a:r>
              <a:rPr lang="en-US" altLang="en-US" sz="2800" smtClean="0"/>
              <a:t>Highly automatic and efficient</a:t>
            </a:r>
          </a:p>
          <a:p>
            <a:pPr eaLnBrk="1" hangingPunct="1">
              <a:lnSpc>
                <a:spcPct val="90000"/>
              </a:lnSpc>
            </a:pPr>
            <a:r>
              <a:rPr lang="en-US" altLang="en-US" sz="2800" smtClean="0"/>
              <a:t>Most used formal Verification technique</a:t>
            </a:r>
          </a:p>
          <a:p>
            <a:pPr eaLnBrk="1" hangingPunct="1">
              <a:lnSpc>
                <a:spcPct val="90000"/>
              </a:lnSpc>
            </a:pPr>
            <a:r>
              <a:rPr lang="en-US" altLang="en-US" sz="2800" smtClean="0"/>
              <a:t>Commercial tools :</a:t>
            </a:r>
          </a:p>
          <a:p>
            <a:pPr lvl="1" eaLnBrk="1" hangingPunct="1">
              <a:lnSpc>
                <a:spcPct val="90000"/>
              </a:lnSpc>
            </a:pPr>
            <a:r>
              <a:rPr lang="en-US" altLang="en-US" sz="2400" smtClean="0"/>
              <a:t>Design VERIFYer (Chrysalis Inc.)</a:t>
            </a:r>
          </a:p>
          <a:p>
            <a:pPr lvl="1" eaLnBrk="1" hangingPunct="1">
              <a:lnSpc>
                <a:spcPct val="90000"/>
              </a:lnSpc>
            </a:pPr>
            <a:r>
              <a:rPr lang="en-US" altLang="en-US" sz="2400" smtClean="0"/>
              <a:t>Formality (Synopsis, million gates in less than an hour)</a:t>
            </a:r>
          </a:p>
          <a:p>
            <a:pPr lvl="1" eaLnBrk="1" hangingPunct="1">
              <a:lnSpc>
                <a:spcPct val="90000"/>
              </a:lnSpc>
            </a:pPr>
            <a:r>
              <a:rPr lang="en-US" altLang="en-US" sz="2400" smtClean="0"/>
              <a:t>V-Formal </a:t>
            </a:r>
          </a:p>
        </p:txBody>
      </p:sp>
    </p:spTree>
    <p:extLst>
      <p:ext uri="{BB962C8B-B14F-4D97-AF65-F5344CB8AC3E}">
        <p14:creationId xmlns:p14="http://schemas.microsoft.com/office/powerpoint/2010/main" val="24979446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noChangeArrowheads="1"/>
          </p:cNvSpPr>
          <p:nvPr>
            <p:ph type="title"/>
          </p:nvPr>
        </p:nvSpPr>
        <p:spPr>
          <a:xfrm>
            <a:off x="1534586" y="533400"/>
            <a:ext cx="10390716" cy="990600"/>
          </a:xfrm>
        </p:spPr>
        <p:txBody>
          <a:bodyPr/>
          <a:lstStyle/>
          <a:p>
            <a:pPr eaLnBrk="1" hangingPunct="1"/>
            <a:r>
              <a:rPr lang="en-US" altLang="en-US" smtClean="0"/>
              <a:t>Model Checking</a:t>
            </a:r>
          </a:p>
        </p:txBody>
      </p:sp>
      <p:sp>
        <p:nvSpPr>
          <p:cNvPr id="12291" name="Rectangle 1027"/>
          <p:cNvSpPr>
            <a:spLocks noGrp="1" noChangeArrowheads="1"/>
          </p:cNvSpPr>
          <p:nvPr>
            <p:ph type="body" idx="1"/>
          </p:nvPr>
        </p:nvSpPr>
        <p:spPr>
          <a:xfrm>
            <a:off x="1422400" y="1752600"/>
            <a:ext cx="10363200" cy="5105400"/>
          </a:xfrm>
        </p:spPr>
        <p:txBody>
          <a:bodyPr/>
          <a:lstStyle/>
          <a:p>
            <a:pPr eaLnBrk="1" hangingPunct="1">
              <a:lnSpc>
                <a:spcPct val="90000"/>
              </a:lnSpc>
            </a:pPr>
            <a:r>
              <a:rPr lang="en-US" altLang="en-US" sz="2400" smtClean="0"/>
              <a:t>Another promising automatic technique</a:t>
            </a:r>
          </a:p>
          <a:p>
            <a:pPr eaLnBrk="1" hangingPunct="1">
              <a:lnSpc>
                <a:spcPct val="90000"/>
              </a:lnSpc>
            </a:pPr>
            <a:r>
              <a:rPr lang="en-US" altLang="en-US" sz="2400" smtClean="0"/>
              <a:t>Checking design models against specification</a:t>
            </a:r>
          </a:p>
          <a:p>
            <a:pPr eaLnBrk="1" hangingPunct="1">
              <a:lnSpc>
                <a:spcPct val="90000"/>
              </a:lnSpc>
            </a:pPr>
            <a:r>
              <a:rPr lang="en-US" altLang="en-US" sz="2400" smtClean="0"/>
              <a:t>Specifications temporal properties and environment constraints; use of temporal logic or automata</a:t>
            </a:r>
          </a:p>
          <a:p>
            <a:pPr eaLnBrk="1" hangingPunct="1">
              <a:lnSpc>
                <a:spcPct val="90000"/>
              </a:lnSpc>
            </a:pPr>
            <a:r>
              <a:rPr lang="en-US" altLang="en-US" sz="2400" smtClean="0"/>
              <a:t>Checking is automatic and bug traces</a:t>
            </a:r>
          </a:p>
          <a:p>
            <a:pPr eaLnBrk="1" hangingPunct="1">
              <a:lnSpc>
                <a:spcPct val="90000"/>
              </a:lnSpc>
            </a:pPr>
            <a:r>
              <a:rPr lang="en-US" altLang="en-US" sz="2400" smtClean="0"/>
              <a:t>Very effective for control-intensive designs and Protocols </a:t>
            </a:r>
          </a:p>
          <a:p>
            <a:pPr eaLnBrk="1" hangingPunct="1">
              <a:lnSpc>
                <a:spcPct val="90000"/>
              </a:lnSpc>
            </a:pPr>
            <a:r>
              <a:rPr lang="en-US" altLang="en-US" sz="2400" smtClean="0"/>
              <a:t>Many Commercial and academic tools: </a:t>
            </a:r>
          </a:p>
          <a:p>
            <a:pPr eaLnBrk="1" hangingPunct="1">
              <a:lnSpc>
                <a:spcPct val="90000"/>
              </a:lnSpc>
            </a:pPr>
            <a:r>
              <a:rPr lang="en-US" altLang="en-US" sz="2400" smtClean="0"/>
              <a:t>Spin (Bell Labs.), Formal-Check (Cadence), VIS (UCB), SMV (CMU, Cadence)</a:t>
            </a:r>
          </a:p>
          <a:p>
            <a:pPr eaLnBrk="1" hangingPunct="1">
              <a:lnSpc>
                <a:spcPct val="90000"/>
              </a:lnSpc>
            </a:pPr>
            <a:r>
              <a:rPr lang="en-US" altLang="en-US" sz="2400" smtClean="0"/>
              <a:t>In-house tools: Rule Base (IBM), Intel, SUN, Bingo (Fujitsu), etc</a:t>
            </a:r>
          </a:p>
        </p:txBody>
      </p:sp>
    </p:spTree>
    <p:extLst>
      <p:ext uri="{BB962C8B-B14F-4D97-AF65-F5344CB8AC3E}">
        <p14:creationId xmlns:p14="http://schemas.microsoft.com/office/powerpoint/2010/main" val="12226263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smtClean="0"/>
              <a:t>Theorem Proving</a:t>
            </a:r>
          </a:p>
        </p:txBody>
      </p:sp>
      <p:sp>
        <p:nvSpPr>
          <p:cNvPr id="13315" name="Rectangle 3"/>
          <p:cNvSpPr>
            <a:spLocks noGrp="1" noChangeArrowheads="1"/>
          </p:cNvSpPr>
          <p:nvPr>
            <p:ph type="body" idx="1"/>
          </p:nvPr>
        </p:nvSpPr>
        <p:spPr>
          <a:xfrm>
            <a:off x="1524000" y="1752600"/>
            <a:ext cx="10363200" cy="4724400"/>
          </a:xfrm>
        </p:spPr>
        <p:txBody>
          <a:bodyPr/>
          <a:lstStyle/>
          <a:p>
            <a:pPr eaLnBrk="1" hangingPunct="1"/>
            <a:r>
              <a:rPr lang="en-US" altLang="en-US" sz="2800" smtClean="0"/>
              <a:t>Most Powerful technique</a:t>
            </a:r>
          </a:p>
          <a:p>
            <a:pPr eaLnBrk="1" hangingPunct="1"/>
            <a:r>
              <a:rPr lang="en-US" altLang="en-US" sz="2800" smtClean="0"/>
              <a:t>Specification and design are logical formulae</a:t>
            </a:r>
          </a:p>
          <a:p>
            <a:pPr eaLnBrk="1" hangingPunct="1"/>
            <a:r>
              <a:rPr lang="en-US" altLang="en-US" sz="2800" smtClean="0"/>
              <a:t>Checking involves proving a theorem</a:t>
            </a:r>
          </a:p>
          <a:p>
            <a:pPr eaLnBrk="1" hangingPunct="1"/>
            <a:r>
              <a:rPr lang="en-US" altLang="en-US" sz="2800" smtClean="0"/>
              <a:t>Semi-automatic</a:t>
            </a:r>
          </a:p>
          <a:p>
            <a:pPr eaLnBrk="1" hangingPunct="1"/>
            <a:r>
              <a:rPr lang="en-US" altLang="en-US" sz="2800" smtClean="0"/>
              <a:t>High degree of human expertise required</a:t>
            </a:r>
          </a:p>
          <a:p>
            <a:pPr eaLnBrk="1" hangingPunct="1"/>
            <a:r>
              <a:rPr lang="en-US" altLang="en-US" sz="2800" smtClean="0"/>
              <a:t>Mainly confined to academic</a:t>
            </a:r>
          </a:p>
          <a:p>
            <a:pPr eaLnBrk="1" hangingPunct="1"/>
            <a:r>
              <a:rPr lang="en-US" altLang="en-US" sz="2800" smtClean="0"/>
              <a:t>Number of public domain tools </a:t>
            </a:r>
          </a:p>
          <a:p>
            <a:pPr lvl="1" eaLnBrk="1" hangingPunct="1"/>
            <a:r>
              <a:rPr lang="en-US" altLang="en-US" sz="2400" smtClean="0"/>
              <a:t>Nqthm, STeP, PVS, HOL</a:t>
            </a:r>
          </a:p>
        </p:txBody>
      </p:sp>
    </p:spTree>
    <p:extLst>
      <p:ext uri="{BB962C8B-B14F-4D97-AF65-F5344CB8AC3E}">
        <p14:creationId xmlns:p14="http://schemas.microsoft.com/office/powerpoint/2010/main" val="20813716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z="4300" smtClean="0"/>
              <a:t>Challenges of formal verification</a:t>
            </a:r>
          </a:p>
        </p:txBody>
      </p:sp>
      <p:sp>
        <p:nvSpPr>
          <p:cNvPr id="14339" name="Rectangle 3"/>
          <p:cNvSpPr>
            <a:spLocks noGrp="1" noChangeArrowheads="1"/>
          </p:cNvSpPr>
          <p:nvPr>
            <p:ph type="body" idx="1"/>
          </p:nvPr>
        </p:nvSpPr>
        <p:spPr>
          <a:xfrm>
            <a:off x="1524000" y="1905000"/>
            <a:ext cx="10363200" cy="4953000"/>
          </a:xfrm>
        </p:spPr>
        <p:txBody>
          <a:bodyPr/>
          <a:lstStyle/>
          <a:p>
            <a:pPr eaLnBrk="1" hangingPunct="1">
              <a:lnSpc>
                <a:spcPct val="90000"/>
              </a:lnSpc>
            </a:pPr>
            <a:r>
              <a:rPr lang="en-US" altLang="en-US" smtClean="0"/>
              <a:t>Complex in nature</a:t>
            </a:r>
          </a:p>
          <a:p>
            <a:pPr marL="457200" lvl="1" indent="0" eaLnBrk="1" hangingPunct="1">
              <a:lnSpc>
                <a:spcPct val="90000"/>
              </a:lnSpc>
              <a:buFont typeface="Wingdings" pitchFamily="2" charset="2"/>
              <a:buNone/>
            </a:pPr>
            <a:endParaRPr lang="en-US" altLang="en-US" smtClean="0"/>
          </a:p>
          <a:p>
            <a:pPr eaLnBrk="1" hangingPunct="1">
              <a:lnSpc>
                <a:spcPct val="90000"/>
              </a:lnSpc>
            </a:pPr>
            <a:r>
              <a:rPr lang="en-US" altLang="en-US" smtClean="0"/>
              <a:t>State explosion problem</a:t>
            </a:r>
          </a:p>
        </p:txBody>
      </p:sp>
    </p:spTree>
    <p:extLst>
      <p:ext uri="{BB962C8B-B14F-4D97-AF65-F5344CB8AC3E}">
        <p14:creationId xmlns:p14="http://schemas.microsoft.com/office/powerpoint/2010/main" val="35099149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Grp="1" noChangeArrowheads="1"/>
          </p:cNvSpPr>
          <p:nvPr>
            <p:ph type="title"/>
          </p:nvPr>
        </p:nvSpPr>
        <p:spPr/>
        <p:txBody>
          <a:bodyPr/>
          <a:lstStyle/>
          <a:p>
            <a:pPr eaLnBrk="1" hangingPunct="1"/>
            <a:r>
              <a:rPr lang="en-US" altLang="en-US" smtClean="0"/>
              <a:t>Formal Verification Techniques</a:t>
            </a:r>
          </a:p>
        </p:txBody>
      </p:sp>
      <p:sp>
        <p:nvSpPr>
          <p:cNvPr id="10243" name="Rectangle 1027"/>
          <p:cNvSpPr>
            <a:spLocks noGrp="1" noChangeArrowheads="1"/>
          </p:cNvSpPr>
          <p:nvPr>
            <p:ph type="body" idx="1"/>
          </p:nvPr>
        </p:nvSpPr>
        <p:spPr>
          <a:xfrm>
            <a:off x="1524000" y="1828800"/>
            <a:ext cx="10160000" cy="3581400"/>
          </a:xfrm>
        </p:spPr>
        <p:txBody>
          <a:bodyPr/>
          <a:lstStyle/>
          <a:p>
            <a:pPr marL="0" indent="0" eaLnBrk="1" hangingPunct="1">
              <a:buNone/>
            </a:pPr>
            <a:r>
              <a:rPr lang="en-US" altLang="en-US" sz="2000" b="1" dirty="0">
                <a:solidFill>
                  <a:srgbClr val="FF0000"/>
                </a:solidFill>
              </a:rPr>
              <a:t>Model Checking:</a:t>
            </a:r>
          </a:p>
          <a:p>
            <a:pPr eaLnBrk="1" hangingPunct="1"/>
            <a:r>
              <a:rPr lang="en-US" altLang="en-US" sz="2000" dirty="0" smtClean="0">
                <a:solidFill>
                  <a:srgbClr val="FF0000"/>
                </a:solidFill>
              </a:rPr>
              <a:t>Process</a:t>
            </a:r>
            <a:r>
              <a:rPr lang="en-US" altLang="en-US" sz="2000" dirty="0">
                <a:solidFill>
                  <a:srgbClr val="FF0000"/>
                </a:solidFill>
              </a:rPr>
              <a:t>:</a:t>
            </a:r>
            <a:r>
              <a:rPr lang="en-US" altLang="en-US" sz="2000" dirty="0"/>
              <a:t> Generates a state-space model of the system and exhaustively checks all possible states against specified properties.</a:t>
            </a:r>
          </a:p>
          <a:p>
            <a:pPr eaLnBrk="1" hangingPunct="1"/>
            <a:r>
              <a:rPr lang="en-US" altLang="en-US" sz="2000" dirty="0">
                <a:solidFill>
                  <a:srgbClr val="FF0000"/>
                </a:solidFill>
              </a:rPr>
              <a:t>Strengths:</a:t>
            </a:r>
            <a:r>
              <a:rPr lang="en-US" altLang="en-US" sz="2000" dirty="0"/>
              <a:t> Suitable for concurrent and parallel systems; exhaustive exploration of state space.</a:t>
            </a:r>
          </a:p>
          <a:p>
            <a:pPr eaLnBrk="1" hangingPunct="1"/>
            <a:r>
              <a:rPr lang="en-US" altLang="en-US" sz="2000" dirty="0">
                <a:solidFill>
                  <a:srgbClr val="FF0000"/>
                </a:solidFill>
              </a:rPr>
              <a:t>Limitations:</a:t>
            </a:r>
            <a:r>
              <a:rPr lang="en-US" altLang="en-US" sz="2000" dirty="0"/>
              <a:t> State explosion problem for large systems; may not scale well.</a:t>
            </a:r>
          </a:p>
          <a:p>
            <a:pPr marL="0" indent="0" eaLnBrk="1" hangingPunct="1">
              <a:buNone/>
            </a:pPr>
            <a:r>
              <a:rPr lang="en-US" altLang="en-US" sz="2000" b="1" dirty="0">
                <a:solidFill>
                  <a:srgbClr val="FF0000"/>
                </a:solidFill>
              </a:rPr>
              <a:t>Theorem Proving:</a:t>
            </a:r>
          </a:p>
          <a:p>
            <a:pPr eaLnBrk="1" hangingPunct="1"/>
            <a:r>
              <a:rPr lang="en-US" altLang="en-US" sz="2000" dirty="0" smtClean="0">
                <a:solidFill>
                  <a:srgbClr val="FF0000"/>
                </a:solidFill>
              </a:rPr>
              <a:t>Process</a:t>
            </a:r>
            <a:r>
              <a:rPr lang="en-US" altLang="en-US" sz="2000" dirty="0"/>
              <a:t>: Uses formal logic to mathematically prove that a system satisfies its specifications.</a:t>
            </a:r>
          </a:p>
          <a:p>
            <a:pPr eaLnBrk="1" hangingPunct="1"/>
            <a:r>
              <a:rPr lang="en-US" altLang="en-US" sz="2000" dirty="0">
                <a:solidFill>
                  <a:srgbClr val="FF0000"/>
                </a:solidFill>
              </a:rPr>
              <a:t>Strengths</a:t>
            </a:r>
            <a:r>
              <a:rPr lang="en-US" altLang="en-US" sz="2000" dirty="0"/>
              <a:t>: Well-suited for small-scale critical systems; guarantees correctness.</a:t>
            </a:r>
          </a:p>
          <a:p>
            <a:pPr eaLnBrk="1" hangingPunct="1"/>
            <a:r>
              <a:rPr lang="en-US" altLang="en-US" sz="2000" dirty="0">
                <a:solidFill>
                  <a:srgbClr val="FF0000"/>
                </a:solidFill>
              </a:rPr>
              <a:t>Limitations</a:t>
            </a:r>
            <a:r>
              <a:rPr lang="en-US" altLang="en-US" sz="2000" dirty="0"/>
              <a:t>: Manual effort may be extensive; scalability challenges.</a:t>
            </a:r>
            <a:endParaRPr lang="en-US" altLang="en-US" sz="2000" dirty="0" smtClean="0"/>
          </a:p>
        </p:txBody>
      </p:sp>
    </p:spTree>
    <p:extLst>
      <p:ext uri="{BB962C8B-B14F-4D97-AF65-F5344CB8AC3E}">
        <p14:creationId xmlns:p14="http://schemas.microsoft.com/office/powerpoint/2010/main" val="37770303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dirty="0" smtClean="0"/>
              <a:t>Formal Verification</a:t>
            </a:r>
          </a:p>
        </p:txBody>
      </p:sp>
      <p:sp>
        <p:nvSpPr>
          <p:cNvPr id="7171" name="Rectangle 3"/>
          <p:cNvSpPr>
            <a:spLocks noGrp="1" noChangeArrowheads="1"/>
          </p:cNvSpPr>
          <p:nvPr>
            <p:ph type="body" idx="1"/>
          </p:nvPr>
        </p:nvSpPr>
        <p:spPr>
          <a:xfrm>
            <a:off x="609600" y="1950720"/>
            <a:ext cx="11582400" cy="4800600"/>
          </a:xfrm>
        </p:spPr>
        <p:txBody>
          <a:bodyPr/>
          <a:lstStyle/>
          <a:p>
            <a:pPr marL="0" indent="0" eaLnBrk="1" hangingPunct="1">
              <a:buNone/>
            </a:pPr>
            <a:r>
              <a:rPr lang="en-US" altLang="en-US" sz="1600" dirty="0" smtClean="0">
                <a:solidFill>
                  <a:srgbClr val="FF6600"/>
                </a:solidFill>
              </a:rPr>
              <a:t>Assertions and their the </a:t>
            </a:r>
            <a:r>
              <a:rPr lang="en-US" altLang="en-US" sz="1600" dirty="0">
                <a:solidFill>
                  <a:srgbClr val="FF6600"/>
                </a:solidFill>
              </a:rPr>
              <a:t>role of </a:t>
            </a:r>
            <a:r>
              <a:rPr lang="en-US" altLang="en-US" sz="1600" dirty="0" smtClean="0">
                <a:solidFill>
                  <a:srgbClr val="FF6600"/>
                </a:solidFill>
              </a:rPr>
              <a:t>in </a:t>
            </a:r>
            <a:r>
              <a:rPr lang="en-US" altLang="en-US" sz="1600" dirty="0">
                <a:solidFill>
                  <a:srgbClr val="FF6600"/>
                </a:solidFill>
              </a:rPr>
              <a:t>the context of formal verification</a:t>
            </a:r>
            <a:r>
              <a:rPr lang="en-US" altLang="en-US" sz="1600" dirty="0" smtClean="0">
                <a:solidFill>
                  <a:srgbClr val="FF6600"/>
                </a:solidFill>
              </a:rPr>
              <a:t>:</a:t>
            </a:r>
          </a:p>
          <a:p>
            <a:pPr marL="0" indent="0" eaLnBrk="1" hangingPunct="1">
              <a:buNone/>
            </a:pPr>
            <a:r>
              <a:rPr lang="en-US" sz="1600" dirty="0" smtClean="0">
                <a:solidFill>
                  <a:srgbClr val="FF0000"/>
                </a:solidFill>
              </a:rPr>
              <a:t>Assertions </a:t>
            </a:r>
            <a:endParaRPr lang="en-US" sz="1600" dirty="0">
              <a:solidFill>
                <a:srgbClr val="FF0000"/>
              </a:solidFill>
            </a:endParaRPr>
          </a:p>
          <a:p>
            <a:pPr>
              <a:buFont typeface="Wingdings" panose="05000000000000000000" pitchFamily="2" charset="2"/>
              <a:buChar char="v"/>
            </a:pPr>
            <a:r>
              <a:rPr lang="en-US" sz="1600" dirty="0"/>
              <a:t>Assertions play a crucial role in formal verification by providing a means to express and check properties or conditions that should hold at specific points within a system. </a:t>
            </a:r>
            <a:endParaRPr lang="en-US" sz="1600" dirty="0" smtClean="0"/>
          </a:p>
          <a:p>
            <a:pPr>
              <a:buFont typeface="Wingdings" panose="05000000000000000000" pitchFamily="2" charset="2"/>
              <a:buChar char="v"/>
            </a:pPr>
            <a:r>
              <a:rPr lang="en-US" sz="1600" dirty="0" smtClean="0"/>
              <a:t>These </a:t>
            </a:r>
            <a:r>
              <a:rPr lang="en-US" sz="1600" dirty="0"/>
              <a:t>are statements about the expected behavior of the system, and their role can be outlined as follows</a:t>
            </a:r>
            <a:r>
              <a:rPr lang="en-US" sz="1600" dirty="0" smtClean="0"/>
              <a:t>:</a:t>
            </a:r>
          </a:p>
          <a:p>
            <a:pPr lvl="1">
              <a:buFont typeface="Wingdings" panose="05000000000000000000" pitchFamily="2" charset="2"/>
              <a:buChar char="v"/>
            </a:pPr>
            <a:r>
              <a:rPr lang="en-US" sz="1600" dirty="0" smtClean="0"/>
              <a:t>Specification </a:t>
            </a:r>
            <a:r>
              <a:rPr lang="en-US" sz="1600" dirty="0"/>
              <a:t>of Properties: Assertions are used to specify desired properties, invariants, or conditions that the system should maintain at different stages or during various operations.</a:t>
            </a:r>
          </a:p>
          <a:p>
            <a:pPr lvl="1">
              <a:buFont typeface="Wingdings" panose="05000000000000000000" pitchFamily="2" charset="2"/>
              <a:buChar char="v"/>
            </a:pPr>
            <a:r>
              <a:rPr lang="en-US" sz="1600" dirty="0" smtClean="0"/>
              <a:t>Verification </a:t>
            </a:r>
            <a:r>
              <a:rPr lang="en-US" sz="1600" dirty="0"/>
              <a:t>Targets: They serve as targets for formal verification tools, indicating points in the system where correctness needs to be ensured. Assertions act as the criteria against which the system's behavior is compared during the verification process</a:t>
            </a:r>
            <a:r>
              <a:rPr lang="en-US" sz="1600" dirty="0" smtClean="0"/>
              <a:t>.</a:t>
            </a:r>
            <a:endParaRPr lang="en-US" sz="1600" dirty="0"/>
          </a:p>
          <a:p>
            <a:pPr lvl="1">
              <a:buFont typeface="Wingdings" panose="05000000000000000000" pitchFamily="2" charset="2"/>
              <a:buChar char="v"/>
            </a:pPr>
            <a:r>
              <a:rPr lang="en-US" sz="1600" dirty="0"/>
              <a:t>Error Detection: Assertions aid in the early detection of errors or discrepancies in the system. If an assertion fails to hold, it indicates a violation of the specified property, helping identify potential issues in the design or implementation.</a:t>
            </a:r>
          </a:p>
          <a:p>
            <a:pPr lvl="1">
              <a:buFont typeface="Wingdings" panose="05000000000000000000" pitchFamily="2" charset="2"/>
              <a:buChar char="v"/>
            </a:pPr>
            <a:r>
              <a:rPr lang="en-US" sz="1600" dirty="0" smtClean="0"/>
              <a:t>Documentation</a:t>
            </a:r>
            <a:r>
              <a:rPr lang="en-US" sz="1600" dirty="0"/>
              <a:t>: Assertions also serve a documentation purpose, making explicit the assumptions and requirements that are crucial for the correct functioning of the system.</a:t>
            </a:r>
          </a:p>
          <a:p>
            <a:pPr lvl="1">
              <a:buFont typeface="Wingdings" panose="05000000000000000000" pitchFamily="2" charset="2"/>
              <a:buChar char="v"/>
            </a:pPr>
            <a:r>
              <a:rPr lang="en-US" sz="1600" dirty="0" smtClean="0"/>
              <a:t>Debugging</a:t>
            </a:r>
            <a:r>
              <a:rPr lang="en-US" sz="1600" dirty="0"/>
              <a:t>: When verification fails, assertions act as valuable aids in debugging by pointing to specific locations or conditions where the expected behavior diverges from the actual behavior.</a:t>
            </a:r>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p:txBody>
      </p:sp>
    </p:spTree>
    <p:extLst>
      <p:ext uri="{BB962C8B-B14F-4D97-AF65-F5344CB8AC3E}">
        <p14:creationId xmlns:p14="http://schemas.microsoft.com/office/powerpoint/2010/main" val="23407317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dirty="0" smtClean="0"/>
              <a:t>Formal Verification</a:t>
            </a:r>
          </a:p>
        </p:txBody>
      </p:sp>
      <p:sp>
        <p:nvSpPr>
          <p:cNvPr id="7171" name="Rectangle 3"/>
          <p:cNvSpPr>
            <a:spLocks noGrp="1" noChangeArrowheads="1"/>
          </p:cNvSpPr>
          <p:nvPr>
            <p:ph type="body" idx="1"/>
          </p:nvPr>
        </p:nvSpPr>
        <p:spPr>
          <a:xfrm>
            <a:off x="609600" y="1859280"/>
            <a:ext cx="11582400" cy="4800600"/>
          </a:xfrm>
        </p:spPr>
        <p:txBody>
          <a:bodyPr/>
          <a:lstStyle/>
          <a:p>
            <a:pPr marL="0" indent="0" eaLnBrk="1" hangingPunct="1">
              <a:buNone/>
            </a:pPr>
            <a:r>
              <a:rPr lang="en-US" altLang="en-US" sz="1600" dirty="0">
                <a:solidFill>
                  <a:srgbClr val="FF6600"/>
                </a:solidFill>
              </a:rPr>
              <a:t>S</a:t>
            </a:r>
            <a:r>
              <a:rPr lang="en-US" altLang="en-US" sz="1600" dirty="0" smtClean="0">
                <a:solidFill>
                  <a:srgbClr val="FF6600"/>
                </a:solidFill>
              </a:rPr>
              <a:t>tate </a:t>
            </a:r>
            <a:r>
              <a:rPr lang="en-US" altLang="en-US" sz="1600" dirty="0">
                <a:solidFill>
                  <a:srgbClr val="FF6600"/>
                </a:solidFill>
              </a:rPr>
              <a:t>explosion problem in model </a:t>
            </a:r>
            <a:r>
              <a:rPr lang="en-US" altLang="en-US" sz="1600" dirty="0" smtClean="0">
                <a:solidFill>
                  <a:srgbClr val="FF6600"/>
                </a:solidFill>
              </a:rPr>
              <a:t>checking</a:t>
            </a:r>
            <a:r>
              <a:rPr lang="en-US" altLang="en-US" sz="1600" dirty="0">
                <a:solidFill>
                  <a:srgbClr val="FF6600"/>
                </a:solidFill>
              </a:rPr>
              <a:t> </a:t>
            </a:r>
            <a:r>
              <a:rPr lang="en-US" altLang="en-US" sz="1600" dirty="0" smtClean="0">
                <a:solidFill>
                  <a:srgbClr val="FF6600"/>
                </a:solidFill>
              </a:rPr>
              <a:t>and how we address it?</a:t>
            </a:r>
          </a:p>
          <a:p>
            <a:pPr marL="0" indent="0">
              <a:buNone/>
            </a:pPr>
            <a:r>
              <a:rPr lang="en-US" sz="1600" dirty="0">
                <a:solidFill>
                  <a:srgbClr val="FF0000"/>
                </a:solidFill>
              </a:rPr>
              <a:t>State Explosion Problem:</a:t>
            </a:r>
          </a:p>
          <a:p>
            <a:pPr>
              <a:buFont typeface="Wingdings" panose="05000000000000000000" pitchFamily="2" charset="2"/>
              <a:buChar char="v"/>
            </a:pPr>
            <a:r>
              <a:rPr lang="en-US" sz="1600" dirty="0"/>
              <a:t>The state explosion problem in model checking arises when the number of possible states a system can reach becomes exceedingly large, making it impractical or impossible to exhaustively explore the entire state space. </a:t>
            </a:r>
            <a:endParaRPr lang="en-US" sz="1600" dirty="0" smtClean="0"/>
          </a:p>
          <a:p>
            <a:pPr>
              <a:buFont typeface="Wingdings" panose="05000000000000000000" pitchFamily="2" charset="2"/>
              <a:buChar char="v"/>
            </a:pPr>
            <a:r>
              <a:rPr lang="en-US" sz="1600" dirty="0" smtClean="0"/>
              <a:t>This </a:t>
            </a:r>
            <a:r>
              <a:rPr lang="en-US" sz="1600" dirty="0"/>
              <a:t>problem is especially </a:t>
            </a:r>
            <a:r>
              <a:rPr lang="en-US" sz="1600" dirty="0" smtClean="0"/>
              <a:t>occurring in </a:t>
            </a:r>
            <a:r>
              <a:rPr lang="en-US" sz="1600" dirty="0"/>
              <a:t>systems with a high degree of concurrency or complex interactions</a:t>
            </a:r>
            <a:r>
              <a:rPr lang="en-US" sz="1600" dirty="0" smtClean="0"/>
              <a:t>.</a:t>
            </a:r>
          </a:p>
          <a:p>
            <a:pPr marL="0" indent="0">
              <a:buNone/>
            </a:pPr>
            <a:r>
              <a:rPr lang="en-US" sz="1600" dirty="0" smtClean="0">
                <a:solidFill>
                  <a:srgbClr val="FF0000"/>
                </a:solidFill>
              </a:rPr>
              <a:t>How to Address?</a:t>
            </a:r>
          </a:p>
          <a:p>
            <a:pPr>
              <a:buFont typeface="Wingdings" panose="05000000000000000000" pitchFamily="2" charset="2"/>
              <a:buChar char="v"/>
            </a:pPr>
            <a:r>
              <a:rPr lang="en-US" sz="1600" dirty="0" smtClean="0"/>
              <a:t>Addressing </a:t>
            </a:r>
            <a:r>
              <a:rPr lang="en-US" sz="1600" dirty="0"/>
              <a:t>the state explosion problem often involves a combination of these </a:t>
            </a:r>
            <a:r>
              <a:rPr lang="en-US" sz="1600" dirty="0" smtClean="0"/>
              <a:t>techniques such as:</a:t>
            </a:r>
          </a:p>
          <a:p>
            <a:pPr lvl="1">
              <a:buFont typeface="Wingdings" panose="05000000000000000000" pitchFamily="2" charset="2"/>
              <a:buChar char="v"/>
            </a:pPr>
            <a:r>
              <a:rPr lang="en-US" sz="1600" dirty="0" smtClean="0"/>
              <a:t>Abstraction </a:t>
            </a:r>
            <a:r>
              <a:rPr lang="en-US" sz="1600" dirty="0"/>
              <a:t>and </a:t>
            </a:r>
            <a:r>
              <a:rPr lang="en-US" sz="1600" dirty="0" smtClean="0"/>
              <a:t>Approximation</a:t>
            </a:r>
          </a:p>
          <a:p>
            <a:pPr lvl="1">
              <a:buFont typeface="Wingdings" panose="05000000000000000000" pitchFamily="2" charset="2"/>
              <a:buChar char="v"/>
            </a:pPr>
            <a:r>
              <a:rPr lang="en-US" sz="1600" dirty="0"/>
              <a:t>Partial Order </a:t>
            </a:r>
            <a:r>
              <a:rPr lang="en-US" sz="1600" dirty="0" smtClean="0"/>
              <a:t>Reduction</a:t>
            </a:r>
          </a:p>
          <a:p>
            <a:pPr lvl="1">
              <a:buFont typeface="Wingdings" panose="05000000000000000000" pitchFamily="2" charset="2"/>
              <a:buChar char="v"/>
            </a:pPr>
            <a:r>
              <a:rPr lang="en-US" sz="1600" dirty="0"/>
              <a:t>Symmetry </a:t>
            </a:r>
            <a:r>
              <a:rPr lang="en-US" sz="1600" dirty="0" smtClean="0"/>
              <a:t>Reduction</a:t>
            </a:r>
          </a:p>
          <a:p>
            <a:pPr lvl="1">
              <a:buFont typeface="Wingdings" panose="05000000000000000000" pitchFamily="2" charset="2"/>
              <a:buChar char="v"/>
            </a:pPr>
            <a:r>
              <a:rPr lang="en-US" sz="1600" dirty="0"/>
              <a:t>Property-Directed </a:t>
            </a:r>
            <a:r>
              <a:rPr lang="en-US" sz="1600" dirty="0" smtClean="0"/>
              <a:t>Techniques</a:t>
            </a:r>
          </a:p>
          <a:p>
            <a:pPr lvl="1">
              <a:buFont typeface="Wingdings" panose="05000000000000000000" pitchFamily="2" charset="2"/>
              <a:buChar char="v"/>
            </a:pPr>
            <a:r>
              <a:rPr lang="en-US" sz="1600" dirty="0"/>
              <a:t>Parallel and Distributed Model </a:t>
            </a:r>
            <a:r>
              <a:rPr lang="en-US" sz="1600" dirty="0" smtClean="0"/>
              <a:t>Checking</a:t>
            </a:r>
          </a:p>
          <a:p>
            <a:pPr lvl="1">
              <a:buFont typeface="Wingdings" panose="05000000000000000000" pitchFamily="2" charset="2"/>
              <a:buChar char="v"/>
            </a:pPr>
            <a:r>
              <a:rPr lang="en-US" sz="1600" dirty="0"/>
              <a:t>State Space Compression</a:t>
            </a:r>
            <a:r>
              <a:rPr lang="en-US" sz="1600" dirty="0" smtClean="0"/>
              <a:t>:</a:t>
            </a:r>
          </a:p>
          <a:p>
            <a:pPr lvl="1">
              <a:buFont typeface="Wingdings" panose="05000000000000000000" pitchFamily="2" charset="2"/>
              <a:buChar char="v"/>
            </a:pPr>
            <a:r>
              <a:rPr lang="en-US" sz="1600" dirty="0"/>
              <a:t>Heuristic Search</a:t>
            </a:r>
            <a:r>
              <a:rPr lang="en-US" sz="1600" dirty="0" smtClean="0"/>
              <a:t>:</a:t>
            </a:r>
          </a:p>
          <a:p>
            <a:pPr>
              <a:buFont typeface="Wingdings" panose="05000000000000000000" pitchFamily="2" charset="2"/>
              <a:buChar char="v"/>
            </a:pPr>
            <a:r>
              <a:rPr lang="en-US" sz="1600" dirty="0"/>
              <a:t>t</a:t>
            </a:r>
            <a:r>
              <a:rPr lang="en-US" sz="1600" dirty="0" smtClean="0"/>
              <a:t>he </a:t>
            </a:r>
            <a:r>
              <a:rPr lang="en-US" sz="1600" dirty="0"/>
              <a:t>choice depends on the characteristics of the system being verified and the specific verification goals. It's important to strike a balance between accuracy and efficiency in state space exploration.</a:t>
            </a:r>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a:p>
            <a:pPr>
              <a:buFont typeface="Wingdings" panose="05000000000000000000" pitchFamily="2" charset="2"/>
              <a:buChar char="v"/>
            </a:pPr>
            <a:endParaRPr lang="en-US" sz="1600" dirty="0"/>
          </a:p>
        </p:txBody>
      </p:sp>
    </p:spTree>
    <p:extLst>
      <p:ext uri="{BB962C8B-B14F-4D97-AF65-F5344CB8AC3E}">
        <p14:creationId xmlns:p14="http://schemas.microsoft.com/office/powerpoint/2010/main" val="5438548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dirty="0" smtClean="0"/>
              <a:t>Formal Verification</a:t>
            </a:r>
          </a:p>
        </p:txBody>
      </p:sp>
      <p:sp>
        <p:nvSpPr>
          <p:cNvPr id="7171" name="Rectangle 3"/>
          <p:cNvSpPr>
            <a:spLocks noGrp="1" noChangeArrowheads="1"/>
          </p:cNvSpPr>
          <p:nvPr>
            <p:ph type="body" idx="1"/>
          </p:nvPr>
        </p:nvSpPr>
        <p:spPr>
          <a:xfrm>
            <a:off x="609600" y="1859280"/>
            <a:ext cx="11582400" cy="4800600"/>
          </a:xfrm>
        </p:spPr>
        <p:txBody>
          <a:bodyPr/>
          <a:lstStyle/>
          <a:p>
            <a:pPr marL="0" indent="0" eaLnBrk="1" hangingPunct="1">
              <a:buNone/>
            </a:pPr>
            <a:r>
              <a:rPr lang="en-US" altLang="en-US" sz="2000" dirty="0" smtClean="0">
                <a:solidFill>
                  <a:srgbClr val="FF6600"/>
                </a:solidFill>
              </a:rPr>
              <a:t>Strengths </a:t>
            </a:r>
            <a:r>
              <a:rPr lang="en-US" altLang="en-US" sz="2000" dirty="0">
                <a:solidFill>
                  <a:srgbClr val="FF6600"/>
                </a:solidFill>
              </a:rPr>
              <a:t>and limitations of model checking and theorem proving in formal </a:t>
            </a:r>
            <a:r>
              <a:rPr lang="en-US" altLang="en-US" sz="2000" dirty="0" smtClean="0">
                <a:solidFill>
                  <a:srgbClr val="FF6600"/>
                </a:solidFill>
              </a:rPr>
              <a:t>verification</a:t>
            </a:r>
            <a:endParaRPr lang="en-US" sz="2000" dirty="0" smtClean="0"/>
          </a:p>
          <a:p>
            <a:pPr marL="0" indent="0">
              <a:buNone/>
            </a:pPr>
            <a:r>
              <a:rPr lang="en-US" sz="2000" dirty="0">
                <a:solidFill>
                  <a:srgbClr val="FF0000"/>
                </a:solidFill>
              </a:rPr>
              <a:t>Model Checking:</a:t>
            </a:r>
          </a:p>
          <a:p>
            <a:pPr marL="0" indent="0">
              <a:buNone/>
            </a:pPr>
            <a:r>
              <a:rPr lang="en-US" sz="2000" b="1" dirty="0" smtClean="0"/>
              <a:t>Strengths</a:t>
            </a:r>
            <a:r>
              <a:rPr lang="en-US" sz="2000" b="1" dirty="0"/>
              <a:t>:</a:t>
            </a:r>
          </a:p>
          <a:p>
            <a:pPr marL="0" indent="0">
              <a:buNone/>
            </a:pPr>
            <a:r>
              <a:rPr lang="en-US" sz="2000" dirty="0" smtClean="0"/>
              <a:t>1) Automation</a:t>
            </a:r>
            <a:r>
              <a:rPr lang="en-US" sz="2000" dirty="0"/>
              <a:t>: </a:t>
            </a:r>
            <a:endParaRPr lang="en-US" sz="2000" dirty="0" smtClean="0"/>
          </a:p>
          <a:p>
            <a:pPr>
              <a:buFont typeface="Wingdings" panose="05000000000000000000" pitchFamily="2" charset="2"/>
              <a:buChar char="v"/>
            </a:pPr>
            <a:r>
              <a:rPr lang="en-US" sz="2000" dirty="0" smtClean="0"/>
              <a:t>Model </a:t>
            </a:r>
            <a:r>
              <a:rPr lang="en-US" sz="2000" dirty="0"/>
              <a:t>checking is highly automated, allowing for exhaustive exploration of the state space without manual intervention.</a:t>
            </a:r>
          </a:p>
          <a:p>
            <a:pPr marL="0" indent="0">
              <a:buNone/>
            </a:pPr>
            <a:r>
              <a:rPr lang="en-US" sz="2000" dirty="0" smtClean="0"/>
              <a:t>2) Concurrency</a:t>
            </a:r>
            <a:r>
              <a:rPr lang="en-US" sz="2000" dirty="0"/>
              <a:t>: </a:t>
            </a:r>
            <a:endParaRPr lang="en-US" sz="2000" dirty="0" smtClean="0"/>
          </a:p>
          <a:p>
            <a:pPr>
              <a:buFont typeface="Wingdings" panose="05000000000000000000" pitchFamily="2" charset="2"/>
              <a:buChar char="v"/>
            </a:pPr>
            <a:r>
              <a:rPr lang="en-US" sz="2000" dirty="0" smtClean="0"/>
              <a:t>Well-suited </a:t>
            </a:r>
            <a:r>
              <a:rPr lang="en-US" sz="2000" dirty="0"/>
              <a:t>for verifying concurrent and parallel systems, where state explosion can be a challenge for other methods.</a:t>
            </a:r>
          </a:p>
          <a:p>
            <a:pPr marL="0" indent="0">
              <a:buNone/>
            </a:pPr>
            <a:r>
              <a:rPr lang="en-US" sz="2000" dirty="0" smtClean="0"/>
              <a:t>3) Counterexample </a:t>
            </a:r>
            <a:r>
              <a:rPr lang="en-US" sz="2000" dirty="0"/>
              <a:t>Generation: </a:t>
            </a:r>
            <a:endParaRPr lang="en-US" sz="2000" dirty="0" smtClean="0"/>
          </a:p>
          <a:p>
            <a:pPr>
              <a:buFont typeface="Wingdings" panose="05000000000000000000" pitchFamily="2" charset="2"/>
              <a:buChar char="v"/>
            </a:pPr>
            <a:r>
              <a:rPr lang="en-US" sz="2000" dirty="0" smtClean="0"/>
              <a:t>Can </a:t>
            </a:r>
            <a:r>
              <a:rPr lang="en-US" sz="2000" dirty="0"/>
              <a:t>provide counterexamples to demonstrate the violation of properties, aiding in debugging</a:t>
            </a:r>
            <a:r>
              <a:rPr lang="en-US" sz="2000" dirty="0" smtClean="0"/>
              <a:t>.</a:t>
            </a:r>
            <a:endParaRPr lang="en-US" sz="2000" dirty="0"/>
          </a:p>
        </p:txBody>
      </p:sp>
    </p:spTree>
    <p:extLst>
      <p:ext uri="{BB962C8B-B14F-4D97-AF65-F5344CB8AC3E}">
        <p14:creationId xmlns:p14="http://schemas.microsoft.com/office/powerpoint/2010/main" val="13364058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dirty="0" smtClean="0"/>
              <a:t>Formal Verification</a:t>
            </a:r>
          </a:p>
        </p:txBody>
      </p:sp>
      <p:sp>
        <p:nvSpPr>
          <p:cNvPr id="7171" name="Rectangle 3"/>
          <p:cNvSpPr>
            <a:spLocks noGrp="1" noChangeArrowheads="1"/>
          </p:cNvSpPr>
          <p:nvPr>
            <p:ph type="body" idx="1"/>
          </p:nvPr>
        </p:nvSpPr>
        <p:spPr>
          <a:xfrm>
            <a:off x="609600" y="1859280"/>
            <a:ext cx="11582400" cy="4800600"/>
          </a:xfrm>
        </p:spPr>
        <p:txBody>
          <a:bodyPr/>
          <a:lstStyle/>
          <a:p>
            <a:pPr marL="0" indent="0" eaLnBrk="1" hangingPunct="1">
              <a:buNone/>
            </a:pPr>
            <a:r>
              <a:rPr lang="en-US" altLang="en-US" sz="1800" dirty="0" smtClean="0">
                <a:solidFill>
                  <a:srgbClr val="FF6600"/>
                </a:solidFill>
              </a:rPr>
              <a:t>Strengths </a:t>
            </a:r>
            <a:r>
              <a:rPr lang="en-US" altLang="en-US" sz="1800" dirty="0">
                <a:solidFill>
                  <a:srgbClr val="FF6600"/>
                </a:solidFill>
              </a:rPr>
              <a:t>and limitations of model checking and theorem proving in formal </a:t>
            </a:r>
            <a:r>
              <a:rPr lang="en-US" altLang="en-US" sz="1800" dirty="0" smtClean="0">
                <a:solidFill>
                  <a:srgbClr val="FF6600"/>
                </a:solidFill>
              </a:rPr>
              <a:t>verification</a:t>
            </a:r>
            <a:endParaRPr lang="en-US" sz="1800" dirty="0" smtClean="0"/>
          </a:p>
          <a:p>
            <a:pPr marL="0" indent="0">
              <a:buNone/>
            </a:pPr>
            <a:r>
              <a:rPr lang="en-US" sz="1800" dirty="0">
                <a:solidFill>
                  <a:srgbClr val="FF0000"/>
                </a:solidFill>
              </a:rPr>
              <a:t>Model Checking:</a:t>
            </a:r>
          </a:p>
          <a:p>
            <a:pPr marL="0" indent="0">
              <a:buNone/>
            </a:pPr>
            <a:r>
              <a:rPr lang="en-US" sz="1800" b="1" dirty="0" smtClean="0"/>
              <a:t>Limitations</a:t>
            </a:r>
            <a:r>
              <a:rPr lang="en-US" sz="1800" dirty="0"/>
              <a:t>:</a:t>
            </a:r>
          </a:p>
          <a:p>
            <a:pPr marL="0" indent="0">
              <a:buNone/>
            </a:pPr>
            <a:r>
              <a:rPr lang="en-US" sz="1800" dirty="0" smtClean="0"/>
              <a:t>1) State </a:t>
            </a:r>
            <a:r>
              <a:rPr lang="en-US" sz="1800" dirty="0"/>
              <a:t>Explosion: </a:t>
            </a:r>
            <a:endParaRPr lang="en-US" sz="1800" dirty="0" smtClean="0"/>
          </a:p>
          <a:p>
            <a:pPr>
              <a:buFont typeface="Wingdings" panose="05000000000000000000" pitchFamily="2" charset="2"/>
              <a:buChar char="v"/>
            </a:pPr>
            <a:r>
              <a:rPr lang="en-US" sz="1800" dirty="0" smtClean="0"/>
              <a:t>Model </a:t>
            </a:r>
            <a:r>
              <a:rPr lang="en-US" sz="1800" dirty="0"/>
              <a:t>checking can suffer from the state explosion problem, where the number of possible states becomes prohibitively large for complex systems.</a:t>
            </a:r>
          </a:p>
          <a:p>
            <a:pPr marL="0" indent="0">
              <a:buNone/>
            </a:pPr>
            <a:r>
              <a:rPr lang="en-US" sz="1800" dirty="0" smtClean="0"/>
              <a:t>2) Completeness</a:t>
            </a:r>
            <a:r>
              <a:rPr lang="en-US" sz="1800" dirty="0"/>
              <a:t>: </a:t>
            </a:r>
            <a:endParaRPr lang="en-US" sz="1800" dirty="0" smtClean="0"/>
          </a:p>
          <a:p>
            <a:pPr>
              <a:buFont typeface="Wingdings" panose="05000000000000000000" pitchFamily="2" charset="2"/>
              <a:buChar char="v"/>
            </a:pPr>
            <a:r>
              <a:rPr lang="en-US" sz="1800" dirty="0" smtClean="0"/>
              <a:t>While </a:t>
            </a:r>
            <a:r>
              <a:rPr lang="en-US" sz="1800" dirty="0"/>
              <a:t>exhaustive, model checking is not complete for all types of systems, and it may not find subtle errors in certain cases.</a:t>
            </a:r>
          </a:p>
          <a:p>
            <a:pPr marL="0" indent="0">
              <a:buNone/>
            </a:pPr>
            <a:r>
              <a:rPr lang="en-US" sz="1800" dirty="0" smtClean="0"/>
              <a:t>3) Property </a:t>
            </a:r>
            <a:r>
              <a:rPr lang="en-US" sz="1800" dirty="0"/>
              <a:t>Specification</a:t>
            </a:r>
            <a:r>
              <a:rPr lang="en-US" sz="1800" dirty="0" smtClean="0"/>
              <a:t>:</a:t>
            </a:r>
          </a:p>
          <a:p>
            <a:pPr>
              <a:buFont typeface="Wingdings" panose="05000000000000000000" pitchFamily="2" charset="2"/>
              <a:buChar char="v"/>
            </a:pPr>
            <a:r>
              <a:rPr lang="en-US" sz="1800" dirty="0" smtClean="0"/>
              <a:t>The </a:t>
            </a:r>
            <a:r>
              <a:rPr lang="en-US" sz="1800" dirty="0"/>
              <a:t>effectiveness of model checking is influenced by the quality of property specifications.</a:t>
            </a:r>
          </a:p>
          <a:p>
            <a:pPr marL="0" indent="0">
              <a:buNone/>
            </a:pPr>
            <a:r>
              <a:rPr lang="en-US" sz="1800" dirty="0"/>
              <a:t/>
            </a:r>
            <a:br>
              <a:rPr lang="en-US" sz="1800" dirty="0"/>
            </a:br>
            <a:r>
              <a:rPr lang="en-US" sz="1800" dirty="0"/>
              <a:t/>
            </a:r>
            <a:br>
              <a:rPr lang="en-US" sz="1800" dirty="0"/>
            </a:br>
            <a:endParaRPr lang="en-US" altLang="en-US" sz="1800" dirty="0"/>
          </a:p>
        </p:txBody>
      </p:sp>
    </p:spTree>
    <p:extLst>
      <p:ext uri="{BB962C8B-B14F-4D97-AF65-F5344CB8AC3E}">
        <p14:creationId xmlns:p14="http://schemas.microsoft.com/office/powerpoint/2010/main" val="31457183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dirty="0" smtClean="0"/>
              <a:t>Formal Verification</a:t>
            </a:r>
          </a:p>
        </p:txBody>
      </p:sp>
      <p:sp>
        <p:nvSpPr>
          <p:cNvPr id="7171" name="Rectangle 3"/>
          <p:cNvSpPr>
            <a:spLocks noGrp="1" noChangeArrowheads="1"/>
          </p:cNvSpPr>
          <p:nvPr>
            <p:ph type="body" idx="1"/>
          </p:nvPr>
        </p:nvSpPr>
        <p:spPr>
          <a:xfrm>
            <a:off x="609600" y="1859280"/>
            <a:ext cx="11582400" cy="4800600"/>
          </a:xfrm>
        </p:spPr>
        <p:txBody>
          <a:bodyPr/>
          <a:lstStyle/>
          <a:p>
            <a:pPr marL="0" indent="0" eaLnBrk="1" hangingPunct="1">
              <a:buNone/>
            </a:pPr>
            <a:r>
              <a:rPr lang="en-US" altLang="en-US" sz="2000" dirty="0" smtClean="0">
                <a:solidFill>
                  <a:srgbClr val="FF6600"/>
                </a:solidFill>
              </a:rPr>
              <a:t>Strengths </a:t>
            </a:r>
            <a:r>
              <a:rPr lang="en-US" altLang="en-US" sz="2000" dirty="0">
                <a:solidFill>
                  <a:srgbClr val="FF6600"/>
                </a:solidFill>
              </a:rPr>
              <a:t>and limitations of model checking and theorem proving in formal </a:t>
            </a:r>
            <a:r>
              <a:rPr lang="en-US" altLang="en-US" sz="2000" dirty="0" smtClean="0">
                <a:solidFill>
                  <a:srgbClr val="FF6600"/>
                </a:solidFill>
              </a:rPr>
              <a:t>verification</a:t>
            </a:r>
            <a:endParaRPr lang="en-US" sz="2000" dirty="0" smtClean="0"/>
          </a:p>
          <a:p>
            <a:pPr marL="0" indent="0">
              <a:buNone/>
            </a:pPr>
            <a:r>
              <a:rPr lang="en-US" sz="2000" dirty="0" smtClean="0">
                <a:solidFill>
                  <a:srgbClr val="FF0000"/>
                </a:solidFill>
              </a:rPr>
              <a:t>Theorem Proving:</a:t>
            </a:r>
            <a:endParaRPr lang="en-US" sz="2000" dirty="0">
              <a:solidFill>
                <a:srgbClr val="FF0000"/>
              </a:solidFill>
            </a:endParaRPr>
          </a:p>
          <a:p>
            <a:pPr marL="0" indent="0">
              <a:buNone/>
            </a:pPr>
            <a:r>
              <a:rPr lang="en-US" sz="2000" b="1" dirty="0" smtClean="0"/>
              <a:t>Strengths:</a:t>
            </a:r>
            <a:endParaRPr lang="en-US" sz="2000" dirty="0" smtClean="0"/>
          </a:p>
          <a:p>
            <a:pPr marL="0" indent="0">
              <a:buNone/>
            </a:pPr>
            <a:r>
              <a:rPr lang="en-US" sz="2000" dirty="0" smtClean="0"/>
              <a:t>1) Expressiveness</a:t>
            </a:r>
            <a:r>
              <a:rPr lang="en-US" sz="2000" dirty="0"/>
              <a:t>: </a:t>
            </a:r>
            <a:endParaRPr lang="en-US" sz="2000" dirty="0" smtClean="0"/>
          </a:p>
          <a:p>
            <a:pPr>
              <a:buFont typeface="Wingdings" panose="05000000000000000000" pitchFamily="2" charset="2"/>
              <a:buChar char="v"/>
            </a:pPr>
            <a:r>
              <a:rPr lang="en-US" sz="2000" dirty="0" smtClean="0"/>
              <a:t>Theorem </a:t>
            </a:r>
            <a:r>
              <a:rPr lang="en-US" sz="2000" dirty="0"/>
              <a:t>proving is highly expressive, allowing for the formalization of complex properties and reasoning about them.</a:t>
            </a:r>
          </a:p>
          <a:p>
            <a:pPr marL="0" indent="0">
              <a:buNone/>
            </a:pPr>
            <a:r>
              <a:rPr lang="en-US" sz="2000" dirty="0" smtClean="0"/>
              <a:t>2) Completeness</a:t>
            </a:r>
            <a:r>
              <a:rPr lang="en-US" sz="2000" dirty="0"/>
              <a:t>: </a:t>
            </a:r>
            <a:endParaRPr lang="en-US" sz="2000" dirty="0" smtClean="0"/>
          </a:p>
          <a:p>
            <a:pPr>
              <a:buFont typeface="Wingdings" panose="05000000000000000000" pitchFamily="2" charset="2"/>
              <a:buChar char="v"/>
            </a:pPr>
            <a:r>
              <a:rPr lang="en-US" sz="2000" dirty="0" smtClean="0"/>
              <a:t>Theorem </a:t>
            </a:r>
            <a:r>
              <a:rPr lang="en-US" sz="2000" dirty="0"/>
              <a:t>proving, when successful, provides a formal proof of correctness, ensuring the absence of errors under specified conditions.</a:t>
            </a:r>
          </a:p>
          <a:p>
            <a:pPr marL="0" indent="0">
              <a:buNone/>
            </a:pPr>
            <a:r>
              <a:rPr lang="en-US" sz="2000" dirty="0" smtClean="0"/>
              <a:t>3) Applicability</a:t>
            </a:r>
            <a:r>
              <a:rPr lang="en-US" sz="2000" dirty="0"/>
              <a:t>: </a:t>
            </a:r>
            <a:endParaRPr lang="en-US" sz="2000" dirty="0" smtClean="0"/>
          </a:p>
          <a:p>
            <a:pPr>
              <a:buFont typeface="Wingdings" panose="05000000000000000000" pitchFamily="2" charset="2"/>
              <a:buChar char="v"/>
            </a:pPr>
            <a:r>
              <a:rPr lang="en-US" sz="2000" dirty="0" smtClean="0"/>
              <a:t>Well-suited </a:t>
            </a:r>
            <a:r>
              <a:rPr lang="en-US" sz="2000" dirty="0"/>
              <a:t>for critical systems and small-scale verification tasks where a high level of confidence is required.</a:t>
            </a:r>
          </a:p>
        </p:txBody>
      </p:sp>
    </p:spTree>
    <p:extLst>
      <p:ext uri="{BB962C8B-B14F-4D97-AF65-F5344CB8AC3E}">
        <p14:creationId xmlns:p14="http://schemas.microsoft.com/office/powerpoint/2010/main" val="1652509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dirty="0" smtClean="0"/>
              <a:t>Formal Verification</a:t>
            </a:r>
          </a:p>
        </p:txBody>
      </p:sp>
      <p:sp>
        <p:nvSpPr>
          <p:cNvPr id="7171" name="Rectangle 3"/>
          <p:cNvSpPr>
            <a:spLocks noGrp="1" noChangeArrowheads="1"/>
          </p:cNvSpPr>
          <p:nvPr>
            <p:ph type="body" idx="1"/>
          </p:nvPr>
        </p:nvSpPr>
        <p:spPr>
          <a:xfrm>
            <a:off x="609600" y="1859280"/>
            <a:ext cx="11582400" cy="4800600"/>
          </a:xfrm>
        </p:spPr>
        <p:txBody>
          <a:bodyPr/>
          <a:lstStyle/>
          <a:p>
            <a:pPr marL="0" indent="0" eaLnBrk="1" hangingPunct="1">
              <a:buNone/>
            </a:pPr>
            <a:r>
              <a:rPr lang="en-US" altLang="en-US" sz="2000" dirty="0" smtClean="0">
                <a:solidFill>
                  <a:srgbClr val="FF6600"/>
                </a:solidFill>
              </a:rPr>
              <a:t>Strengths </a:t>
            </a:r>
            <a:r>
              <a:rPr lang="en-US" altLang="en-US" sz="2000" dirty="0">
                <a:solidFill>
                  <a:srgbClr val="FF6600"/>
                </a:solidFill>
              </a:rPr>
              <a:t>and limitations of model checking and theorem proving in formal </a:t>
            </a:r>
            <a:r>
              <a:rPr lang="en-US" altLang="en-US" sz="2000" dirty="0" smtClean="0">
                <a:solidFill>
                  <a:srgbClr val="FF6600"/>
                </a:solidFill>
              </a:rPr>
              <a:t>verification</a:t>
            </a:r>
            <a:endParaRPr lang="en-US" sz="2000" dirty="0" smtClean="0"/>
          </a:p>
          <a:p>
            <a:pPr marL="0" indent="0">
              <a:buNone/>
            </a:pPr>
            <a:r>
              <a:rPr lang="en-US" sz="2000" dirty="0" smtClean="0">
                <a:solidFill>
                  <a:srgbClr val="FF0000"/>
                </a:solidFill>
              </a:rPr>
              <a:t>Theorem Proving:</a:t>
            </a:r>
            <a:endParaRPr lang="en-US" sz="2000" dirty="0">
              <a:solidFill>
                <a:srgbClr val="FF0000"/>
              </a:solidFill>
            </a:endParaRPr>
          </a:p>
          <a:p>
            <a:pPr marL="0" indent="0">
              <a:buNone/>
            </a:pPr>
            <a:r>
              <a:rPr lang="en-US" sz="2000" b="1" dirty="0" smtClean="0"/>
              <a:t>Limitations</a:t>
            </a:r>
            <a:endParaRPr lang="en-US" sz="2000" dirty="0" smtClean="0"/>
          </a:p>
          <a:p>
            <a:pPr marL="0" indent="0">
              <a:buNone/>
            </a:pPr>
            <a:r>
              <a:rPr lang="en-US" sz="2000" dirty="0" smtClean="0"/>
              <a:t>1) Manual </a:t>
            </a:r>
            <a:r>
              <a:rPr lang="en-US" sz="2000" dirty="0"/>
              <a:t>Effort: </a:t>
            </a:r>
            <a:endParaRPr lang="en-US" sz="2000" dirty="0" smtClean="0"/>
          </a:p>
          <a:p>
            <a:pPr>
              <a:buFont typeface="Wingdings" panose="05000000000000000000" pitchFamily="2" charset="2"/>
              <a:buChar char="v"/>
            </a:pPr>
            <a:r>
              <a:rPr lang="en-US" sz="2000" dirty="0" smtClean="0"/>
              <a:t>Theorem </a:t>
            </a:r>
            <a:r>
              <a:rPr lang="en-US" sz="2000" dirty="0"/>
              <a:t>proving often requires significant manual effort in constructing formal proofs, making it resource-intensive.</a:t>
            </a:r>
          </a:p>
          <a:p>
            <a:pPr marL="0" indent="0">
              <a:buNone/>
            </a:pPr>
            <a:r>
              <a:rPr lang="en-US" sz="2000" dirty="0" smtClean="0"/>
              <a:t>2) Scalability</a:t>
            </a:r>
            <a:r>
              <a:rPr lang="en-US" sz="2000" dirty="0"/>
              <a:t>: </a:t>
            </a:r>
            <a:endParaRPr lang="en-US" sz="2000" dirty="0" smtClean="0"/>
          </a:p>
          <a:p>
            <a:pPr>
              <a:buFont typeface="Wingdings" panose="05000000000000000000" pitchFamily="2" charset="2"/>
              <a:buChar char="v"/>
            </a:pPr>
            <a:r>
              <a:rPr lang="en-US" sz="2000" dirty="0" smtClean="0"/>
              <a:t>May </a:t>
            </a:r>
            <a:r>
              <a:rPr lang="en-US" sz="2000" dirty="0"/>
              <a:t>face scalability challenges for large and complex systems, as the proof effort increases with system size.</a:t>
            </a:r>
          </a:p>
          <a:p>
            <a:pPr marL="0" indent="0">
              <a:buNone/>
            </a:pPr>
            <a:r>
              <a:rPr lang="en-US" sz="2000" dirty="0" smtClean="0"/>
              <a:t>3) Tool </a:t>
            </a:r>
            <a:r>
              <a:rPr lang="en-US" sz="2000" dirty="0"/>
              <a:t>Dependence: </a:t>
            </a:r>
            <a:endParaRPr lang="en-US" sz="2000" dirty="0" smtClean="0"/>
          </a:p>
          <a:p>
            <a:pPr>
              <a:buFont typeface="Wingdings" panose="05000000000000000000" pitchFamily="2" charset="2"/>
              <a:buChar char="v"/>
            </a:pPr>
            <a:r>
              <a:rPr lang="en-US" sz="2000" dirty="0" smtClean="0"/>
              <a:t>The </a:t>
            </a:r>
            <a:r>
              <a:rPr lang="en-US" sz="2000" dirty="0"/>
              <a:t>effectiveness of theorem proving is influenced by the availability and capabilities of theorem proving tools.</a:t>
            </a:r>
          </a:p>
        </p:txBody>
      </p:sp>
    </p:spTree>
    <p:extLst>
      <p:ext uri="{BB962C8B-B14F-4D97-AF65-F5344CB8AC3E}">
        <p14:creationId xmlns:p14="http://schemas.microsoft.com/office/powerpoint/2010/main" val="5411696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smtClean="0"/>
              <a:t>Formal Verification</a:t>
            </a:r>
          </a:p>
        </p:txBody>
      </p:sp>
      <p:sp>
        <p:nvSpPr>
          <p:cNvPr id="7171" name="Rectangle 3"/>
          <p:cNvSpPr>
            <a:spLocks noGrp="1" noChangeArrowheads="1"/>
          </p:cNvSpPr>
          <p:nvPr>
            <p:ph type="body" idx="1"/>
          </p:nvPr>
        </p:nvSpPr>
        <p:spPr>
          <a:xfrm>
            <a:off x="609600" y="2057400"/>
            <a:ext cx="11582400" cy="4800600"/>
          </a:xfrm>
        </p:spPr>
        <p:txBody>
          <a:bodyPr/>
          <a:lstStyle/>
          <a:p>
            <a:pPr marL="0" indent="0" eaLnBrk="1" hangingPunct="1">
              <a:buNone/>
            </a:pPr>
            <a:r>
              <a:rPr lang="en-US" altLang="en-US" sz="2000" dirty="0">
                <a:solidFill>
                  <a:srgbClr val="FF6600"/>
                </a:solidFill>
              </a:rPr>
              <a:t>R</a:t>
            </a:r>
            <a:r>
              <a:rPr lang="en-US" altLang="en-US" sz="2000" dirty="0" smtClean="0">
                <a:solidFill>
                  <a:srgbClr val="FF6600"/>
                </a:solidFill>
              </a:rPr>
              <a:t>ole </a:t>
            </a:r>
            <a:r>
              <a:rPr lang="en-US" altLang="en-US" sz="2000" dirty="0">
                <a:solidFill>
                  <a:srgbClr val="FF6600"/>
                </a:solidFill>
              </a:rPr>
              <a:t>of formal verification in the development lifecycle of safety-critical systems. </a:t>
            </a:r>
            <a:endParaRPr lang="en-US" altLang="en-US" sz="2000" dirty="0" smtClean="0">
              <a:solidFill>
                <a:srgbClr val="FF6600"/>
              </a:solidFill>
            </a:endParaRPr>
          </a:p>
          <a:p>
            <a:pPr eaLnBrk="1" hangingPunct="1"/>
            <a:r>
              <a:rPr lang="en-US" altLang="en-US" sz="2000" dirty="0"/>
              <a:t>Safety-critical systems, such as those used in aviation, healthcare, and nuclear power, require a high level of assurance in their correctness and reliability. </a:t>
            </a:r>
            <a:endParaRPr lang="en-US" altLang="en-US" sz="2000" dirty="0" smtClean="0"/>
          </a:p>
          <a:p>
            <a:pPr eaLnBrk="1" hangingPunct="1"/>
            <a:r>
              <a:rPr lang="en-US" altLang="en-US" sz="2000" dirty="0" smtClean="0"/>
              <a:t>Formal </a:t>
            </a:r>
            <a:r>
              <a:rPr lang="en-US" altLang="en-US" sz="2000" dirty="0"/>
              <a:t>verification contributes significantly to different stages of the development lifecycle:</a:t>
            </a:r>
          </a:p>
          <a:p>
            <a:pPr marL="0" indent="0" eaLnBrk="1" hangingPunct="1">
              <a:buNone/>
            </a:pPr>
            <a:r>
              <a:rPr lang="en-US" altLang="en-US" sz="2000" dirty="0" smtClean="0">
                <a:solidFill>
                  <a:srgbClr val="FF0000"/>
                </a:solidFill>
              </a:rPr>
              <a:t>1) Requirements </a:t>
            </a:r>
            <a:r>
              <a:rPr lang="en-US" altLang="en-US" sz="2000" dirty="0">
                <a:solidFill>
                  <a:srgbClr val="FF0000"/>
                </a:solidFill>
              </a:rPr>
              <a:t>Specification:</a:t>
            </a:r>
          </a:p>
          <a:p>
            <a:pPr eaLnBrk="1" hangingPunct="1"/>
            <a:r>
              <a:rPr lang="en-US" altLang="en-US" sz="2000" dirty="0" smtClean="0"/>
              <a:t>Formal </a:t>
            </a:r>
            <a:r>
              <a:rPr lang="en-US" altLang="en-US" sz="2000" dirty="0"/>
              <a:t>methods help in specifying precise and unambiguous requirements, reducing the likelihood of misunderstandings and ambiguities that can lead to design and implementation errors.</a:t>
            </a:r>
          </a:p>
          <a:p>
            <a:pPr marL="0" indent="0" eaLnBrk="1" hangingPunct="1">
              <a:buNone/>
            </a:pPr>
            <a:r>
              <a:rPr lang="en-US" altLang="en-US" sz="2000" dirty="0" smtClean="0">
                <a:solidFill>
                  <a:srgbClr val="FF0000"/>
                </a:solidFill>
              </a:rPr>
              <a:t>2) Design </a:t>
            </a:r>
            <a:r>
              <a:rPr lang="en-US" altLang="en-US" sz="2000" dirty="0">
                <a:solidFill>
                  <a:srgbClr val="FF0000"/>
                </a:solidFill>
              </a:rPr>
              <a:t>Phase:</a:t>
            </a:r>
          </a:p>
          <a:p>
            <a:pPr eaLnBrk="1" hangingPunct="1"/>
            <a:r>
              <a:rPr lang="en-US" altLang="en-US" sz="2000" dirty="0" smtClean="0"/>
              <a:t>Formal </a:t>
            </a:r>
            <a:r>
              <a:rPr lang="en-US" altLang="en-US" sz="2000" dirty="0"/>
              <a:t>verification techniques, such as model checking and theorem proving, are used to ensure that the system design adheres to safety and performance requirements. This involves checking that the design model satisfies specified properties and constraints.</a:t>
            </a:r>
            <a:endParaRPr lang="en-US" altLang="en-US" sz="2000" dirty="0" smtClean="0"/>
          </a:p>
        </p:txBody>
      </p:sp>
    </p:spTree>
    <p:extLst>
      <p:ext uri="{BB962C8B-B14F-4D97-AF65-F5344CB8AC3E}">
        <p14:creationId xmlns:p14="http://schemas.microsoft.com/office/powerpoint/2010/main" val="32403101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smtClean="0"/>
              <a:t>Formal Verification</a:t>
            </a:r>
          </a:p>
        </p:txBody>
      </p:sp>
      <p:sp>
        <p:nvSpPr>
          <p:cNvPr id="7171" name="Rectangle 3"/>
          <p:cNvSpPr>
            <a:spLocks noGrp="1" noChangeArrowheads="1"/>
          </p:cNvSpPr>
          <p:nvPr>
            <p:ph type="body" idx="1"/>
          </p:nvPr>
        </p:nvSpPr>
        <p:spPr>
          <a:xfrm>
            <a:off x="609600" y="2057400"/>
            <a:ext cx="11582400" cy="4800600"/>
          </a:xfrm>
        </p:spPr>
        <p:txBody>
          <a:bodyPr/>
          <a:lstStyle/>
          <a:p>
            <a:pPr marL="0" indent="0" eaLnBrk="1" hangingPunct="1">
              <a:buNone/>
            </a:pPr>
            <a:r>
              <a:rPr lang="en-US" altLang="en-US" sz="2000" dirty="0">
                <a:solidFill>
                  <a:srgbClr val="FF6600"/>
                </a:solidFill>
              </a:rPr>
              <a:t>R</a:t>
            </a:r>
            <a:r>
              <a:rPr lang="en-US" altLang="en-US" sz="2000" dirty="0" smtClean="0">
                <a:solidFill>
                  <a:srgbClr val="FF6600"/>
                </a:solidFill>
              </a:rPr>
              <a:t>ole </a:t>
            </a:r>
            <a:r>
              <a:rPr lang="en-US" altLang="en-US" sz="2000" dirty="0">
                <a:solidFill>
                  <a:srgbClr val="FF6600"/>
                </a:solidFill>
              </a:rPr>
              <a:t>of formal verification in the development lifecycle of safety-critical systems. </a:t>
            </a:r>
            <a:endParaRPr lang="en-US" altLang="en-US" sz="2000" dirty="0" smtClean="0">
              <a:solidFill>
                <a:srgbClr val="FF6600"/>
              </a:solidFill>
            </a:endParaRPr>
          </a:p>
          <a:p>
            <a:pPr marL="0" indent="0" eaLnBrk="1" hangingPunct="1">
              <a:buNone/>
            </a:pPr>
            <a:r>
              <a:rPr lang="en-US" altLang="en-US" sz="2000" dirty="0" smtClean="0">
                <a:solidFill>
                  <a:srgbClr val="FF0000"/>
                </a:solidFill>
              </a:rPr>
              <a:t>3) Implementation:</a:t>
            </a:r>
            <a:endParaRPr lang="en-US" altLang="en-US" sz="2000" dirty="0">
              <a:solidFill>
                <a:srgbClr val="FF0000"/>
              </a:solidFill>
            </a:endParaRPr>
          </a:p>
          <a:p>
            <a:pPr eaLnBrk="1" hangingPunct="1"/>
            <a:r>
              <a:rPr lang="en-US" altLang="en-US" sz="2000" dirty="0"/>
              <a:t>Formal methods can be applied to verify the correctness of software implementations. </a:t>
            </a:r>
            <a:endParaRPr lang="en-US" altLang="en-US" sz="2000" dirty="0" smtClean="0"/>
          </a:p>
          <a:p>
            <a:pPr eaLnBrk="1" hangingPunct="1"/>
            <a:r>
              <a:rPr lang="en-US" altLang="en-US" sz="2000" dirty="0" smtClean="0"/>
              <a:t>This </a:t>
            </a:r>
            <a:r>
              <a:rPr lang="en-US" altLang="en-US" sz="2000" dirty="0"/>
              <a:t>includes ensuring that the code adheres to the specified design and that it is free from common programming errors that could lead to system failures.</a:t>
            </a:r>
          </a:p>
          <a:p>
            <a:pPr marL="0" indent="0" eaLnBrk="1" hangingPunct="1">
              <a:buNone/>
            </a:pPr>
            <a:r>
              <a:rPr lang="en-US" altLang="en-US" sz="2000" dirty="0" smtClean="0">
                <a:solidFill>
                  <a:srgbClr val="FF0000"/>
                </a:solidFill>
              </a:rPr>
              <a:t>4) Testing </a:t>
            </a:r>
            <a:r>
              <a:rPr lang="en-US" altLang="en-US" sz="2000" dirty="0">
                <a:solidFill>
                  <a:srgbClr val="FF0000"/>
                </a:solidFill>
              </a:rPr>
              <a:t>and Validation:</a:t>
            </a:r>
          </a:p>
          <a:p>
            <a:pPr eaLnBrk="1" hangingPunct="1"/>
            <a:r>
              <a:rPr lang="en-US" altLang="en-US" sz="2000" dirty="0" smtClean="0"/>
              <a:t>Formal </a:t>
            </a:r>
            <a:r>
              <a:rPr lang="en-US" altLang="en-US" sz="2000" dirty="0"/>
              <a:t>methods complement traditional testing approaches by providing exhaustive analysis of system behavior. </a:t>
            </a:r>
            <a:endParaRPr lang="en-US" altLang="en-US" sz="2000" dirty="0" smtClean="0"/>
          </a:p>
          <a:p>
            <a:pPr eaLnBrk="1" hangingPunct="1"/>
            <a:r>
              <a:rPr lang="en-US" altLang="en-US" sz="2000" dirty="0" smtClean="0"/>
              <a:t>While </a:t>
            </a:r>
            <a:r>
              <a:rPr lang="en-US" altLang="en-US" sz="2000" dirty="0"/>
              <a:t>testing is essential for exploring some aspects of system behavior, formal verification can help identify corner cases and potential issues that may not be covered by testing alone.</a:t>
            </a:r>
          </a:p>
          <a:p>
            <a:pPr marL="0" indent="0" eaLnBrk="1" hangingPunct="1">
              <a:buNone/>
            </a:pPr>
            <a:r>
              <a:rPr lang="en-US" altLang="en-US" sz="2000" dirty="0" smtClean="0">
                <a:solidFill>
                  <a:srgbClr val="FF0000"/>
                </a:solidFill>
              </a:rPr>
              <a:t>5) Post-Deployment </a:t>
            </a:r>
            <a:r>
              <a:rPr lang="en-US" altLang="en-US" sz="2000" dirty="0">
                <a:solidFill>
                  <a:srgbClr val="FF0000"/>
                </a:solidFill>
              </a:rPr>
              <a:t>Maintenance:</a:t>
            </a:r>
          </a:p>
          <a:p>
            <a:pPr eaLnBrk="1" hangingPunct="1"/>
            <a:r>
              <a:rPr lang="en-US" altLang="en-US" sz="2000" dirty="0" smtClean="0"/>
              <a:t>As </a:t>
            </a:r>
            <a:r>
              <a:rPr lang="en-US" altLang="en-US" sz="2000" dirty="0"/>
              <a:t>safety-critical systems evolve, formal verification is useful for ensuring that modifications or updates to the system do not introduce new vulnerabilities or compromise safety requirements.</a:t>
            </a:r>
            <a:endParaRPr lang="en-US" altLang="en-US" sz="2000" dirty="0" smtClean="0"/>
          </a:p>
        </p:txBody>
      </p:sp>
    </p:spTree>
    <p:extLst>
      <p:ext uri="{BB962C8B-B14F-4D97-AF65-F5344CB8AC3E}">
        <p14:creationId xmlns:p14="http://schemas.microsoft.com/office/powerpoint/2010/main" val="21720993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dirty="0" smtClean="0"/>
              <a:t>Formal Verification</a:t>
            </a:r>
          </a:p>
        </p:txBody>
      </p:sp>
      <p:sp>
        <p:nvSpPr>
          <p:cNvPr id="7171" name="Rectangle 3"/>
          <p:cNvSpPr>
            <a:spLocks noGrp="1" noChangeArrowheads="1"/>
          </p:cNvSpPr>
          <p:nvPr>
            <p:ph type="body" idx="1"/>
          </p:nvPr>
        </p:nvSpPr>
        <p:spPr>
          <a:xfrm>
            <a:off x="609600" y="2057400"/>
            <a:ext cx="11582400" cy="4800600"/>
          </a:xfrm>
        </p:spPr>
        <p:txBody>
          <a:bodyPr/>
          <a:lstStyle/>
          <a:p>
            <a:pPr marL="0" indent="0" eaLnBrk="1" hangingPunct="1">
              <a:buNone/>
            </a:pPr>
            <a:r>
              <a:rPr lang="en-US" altLang="en-US" sz="1800" dirty="0" smtClean="0">
                <a:solidFill>
                  <a:srgbClr val="FF6600"/>
                </a:solidFill>
              </a:rPr>
              <a:t>How </a:t>
            </a:r>
            <a:r>
              <a:rPr lang="en-US" altLang="en-US" sz="1800" dirty="0">
                <a:solidFill>
                  <a:srgbClr val="FF6600"/>
                </a:solidFill>
              </a:rPr>
              <a:t>it contributes to ensuring the reliability and correctness of such </a:t>
            </a:r>
            <a:r>
              <a:rPr lang="en-US" altLang="en-US" sz="1800" dirty="0" smtClean="0">
                <a:solidFill>
                  <a:srgbClr val="FF6600"/>
                </a:solidFill>
              </a:rPr>
              <a:t>systems</a:t>
            </a:r>
            <a:r>
              <a:rPr lang="en-US" altLang="en-US" sz="1800" dirty="0">
                <a:solidFill>
                  <a:srgbClr val="FF6600"/>
                </a:solidFill>
              </a:rPr>
              <a:t>?</a:t>
            </a:r>
            <a:endParaRPr lang="en-US" altLang="en-US" sz="1800" dirty="0" smtClean="0">
              <a:solidFill>
                <a:srgbClr val="FF6600"/>
              </a:solidFill>
            </a:endParaRPr>
          </a:p>
          <a:p>
            <a:pPr marL="0" indent="0" eaLnBrk="1" hangingPunct="1">
              <a:buNone/>
            </a:pPr>
            <a:r>
              <a:rPr lang="en-US" altLang="en-US" sz="1800" dirty="0">
                <a:solidFill>
                  <a:srgbClr val="FF0000"/>
                </a:solidFill>
              </a:rPr>
              <a:t>Mathematical Rigor: </a:t>
            </a:r>
            <a:endParaRPr lang="en-US" altLang="en-US" sz="1800" dirty="0" smtClean="0">
              <a:solidFill>
                <a:srgbClr val="FF0000"/>
              </a:solidFill>
            </a:endParaRPr>
          </a:p>
          <a:p>
            <a:pPr eaLnBrk="1" hangingPunct="1"/>
            <a:r>
              <a:rPr lang="en-US" altLang="en-US" sz="1800" dirty="0" smtClean="0"/>
              <a:t>Formal </a:t>
            </a:r>
            <a:r>
              <a:rPr lang="en-US" altLang="en-US" sz="1800" dirty="0"/>
              <a:t>verification employs mathematical techniques to establish the correctness of a system. This rigorous approach provides a high level of confidence in the reliability of safety-critical systems.</a:t>
            </a:r>
          </a:p>
          <a:p>
            <a:pPr marL="0" indent="0" eaLnBrk="1" hangingPunct="1">
              <a:buNone/>
            </a:pPr>
            <a:r>
              <a:rPr lang="en-US" altLang="en-US" sz="1800" dirty="0" smtClean="0">
                <a:solidFill>
                  <a:srgbClr val="FF0000"/>
                </a:solidFill>
              </a:rPr>
              <a:t>Error </a:t>
            </a:r>
            <a:r>
              <a:rPr lang="en-US" altLang="en-US" sz="1800" dirty="0">
                <a:solidFill>
                  <a:srgbClr val="FF0000"/>
                </a:solidFill>
              </a:rPr>
              <a:t>Detection: </a:t>
            </a:r>
            <a:endParaRPr lang="en-US" altLang="en-US" sz="1800" dirty="0" smtClean="0">
              <a:solidFill>
                <a:srgbClr val="FF0000"/>
              </a:solidFill>
            </a:endParaRPr>
          </a:p>
          <a:p>
            <a:pPr eaLnBrk="1" hangingPunct="1"/>
            <a:r>
              <a:rPr lang="en-US" altLang="en-US" sz="1800" dirty="0" smtClean="0"/>
              <a:t>By </a:t>
            </a:r>
            <a:r>
              <a:rPr lang="en-US" altLang="en-US" sz="1800" dirty="0"/>
              <a:t>using formal methods, errors in specifications, designs, or implementations can be detected early in the development process, preventing the propagation of these errors into later stages where they are more expensive to fix.</a:t>
            </a:r>
          </a:p>
          <a:p>
            <a:pPr marL="0" indent="0" eaLnBrk="1" hangingPunct="1">
              <a:buNone/>
            </a:pPr>
            <a:r>
              <a:rPr lang="en-US" altLang="en-US" sz="1800" dirty="0">
                <a:solidFill>
                  <a:srgbClr val="FF0000"/>
                </a:solidFill>
              </a:rPr>
              <a:t>Compliance with Standards: </a:t>
            </a:r>
            <a:endParaRPr lang="en-US" altLang="en-US" sz="1800" dirty="0" smtClean="0">
              <a:solidFill>
                <a:srgbClr val="FF0000"/>
              </a:solidFill>
            </a:endParaRPr>
          </a:p>
          <a:p>
            <a:pPr marL="0" indent="0" eaLnBrk="1" hangingPunct="1">
              <a:buNone/>
            </a:pPr>
            <a:r>
              <a:rPr lang="en-US" altLang="en-US" sz="1800" dirty="0" smtClean="0"/>
              <a:t>Safety-critical </a:t>
            </a:r>
            <a:r>
              <a:rPr lang="en-US" altLang="en-US" sz="1800" dirty="0"/>
              <a:t>systems often need to adhere to industry-specific safety standards. Formal verification helps in demonstrating compliance with these standards, providing assurance that the system meets the required safety integrity levels.</a:t>
            </a:r>
          </a:p>
          <a:p>
            <a:pPr marL="0" indent="0" eaLnBrk="1" hangingPunct="1">
              <a:buNone/>
            </a:pPr>
            <a:r>
              <a:rPr lang="en-US" altLang="en-US" sz="1800" dirty="0" smtClean="0">
                <a:solidFill>
                  <a:srgbClr val="FF0000"/>
                </a:solidFill>
              </a:rPr>
              <a:t>Reducing </a:t>
            </a:r>
            <a:r>
              <a:rPr lang="en-US" altLang="en-US" sz="1800" dirty="0">
                <a:solidFill>
                  <a:srgbClr val="FF0000"/>
                </a:solidFill>
              </a:rPr>
              <a:t>Dependence on Testing Alone: </a:t>
            </a:r>
            <a:endParaRPr lang="en-US" altLang="en-US" sz="1800" dirty="0" smtClean="0">
              <a:solidFill>
                <a:srgbClr val="FF0000"/>
              </a:solidFill>
            </a:endParaRPr>
          </a:p>
          <a:p>
            <a:pPr eaLnBrk="1" hangingPunct="1"/>
            <a:r>
              <a:rPr lang="en-US" altLang="en-US" sz="1800" dirty="0" smtClean="0"/>
              <a:t>Traditional </a:t>
            </a:r>
            <a:r>
              <a:rPr lang="en-US" altLang="en-US" sz="1800" dirty="0"/>
              <a:t>testing methods may not cover all possible scenarios, especially in complex systems. Formal verification complements testing by providing a systematic and exhaustive analysis of the entire state space of the system.</a:t>
            </a:r>
          </a:p>
        </p:txBody>
      </p:sp>
    </p:spTree>
    <p:extLst>
      <p:ext uri="{BB962C8B-B14F-4D97-AF65-F5344CB8AC3E}">
        <p14:creationId xmlns:p14="http://schemas.microsoft.com/office/powerpoint/2010/main" val="189264201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dirty="0" smtClean="0"/>
              <a:t>Formal Verification</a:t>
            </a:r>
          </a:p>
        </p:txBody>
      </p:sp>
      <p:sp>
        <p:nvSpPr>
          <p:cNvPr id="7171" name="Rectangle 3"/>
          <p:cNvSpPr>
            <a:spLocks noGrp="1" noChangeArrowheads="1"/>
          </p:cNvSpPr>
          <p:nvPr>
            <p:ph type="body" idx="1"/>
          </p:nvPr>
        </p:nvSpPr>
        <p:spPr>
          <a:xfrm>
            <a:off x="609600" y="1996440"/>
            <a:ext cx="11582400" cy="4800600"/>
          </a:xfrm>
        </p:spPr>
        <p:txBody>
          <a:bodyPr/>
          <a:lstStyle/>
          <a:p>
            <a:pPr marL="0" indent="0" eaLnBrk="1" hangingPunct="1">
              <a:buNone/>
            </a:pPr>
            <a:r>
              <a:rPr lang="en-US" altLang="en-US" sz="1800" dirty="0" smtClean="0">
                <a:solidFill>
                  <a:srgbClr val="FF6600"/>
                </a:solidFill>
              </a:rPr>
              <a:t>Application </a:t>
            </a:r>
            <a:r>
              <a:rPr lang="en-US" altLang="en-US" sz="1800" dirty="0">
                <a:solidFill>
                  <a:srgbClr val="FF6600"/>
                </a:solidFill>
              </a:rPr>
              <a:t>of formal verification in a specific industry of your choice</a:t>
            </a:r>
            <a:r>
              <a:rPr lang="en-US" altLang="en-US" sz="1800" dirty="0" smtClean="0">
                <a:solidFill>
                  <a:srgbClr val="FF6600"/>
                </a:solidFill>
              </a:rPr>
              <a:t>.</a:t>
            </a:r>
          </a:p>
          <a:p>
            <a:pPr marL="0" indent="0" eaLnBrk="1" hangingPunct="1">
              <a:buNone/>
            </a:pPr>
            <a:r>
              <a:rPr lang="en-US" altLang="en-US" sz="1800" dirty="0">
                <a:solidFill>
                  <a:srgbClr val="FF0000"/>
                </a:solidFill>
              </a:rPr>
              <a:t>Application in Automotive Industry:</a:t>
            </a:r>
          </a:p>
          <a:p>
            <a:pPr eaLnBrk="1" hangingPunct="1"/>
            <a:r>
              <a:rPr lang="en-US" altLang="en-US" sz="1800" dirty="0" smtClean="0"/>
              <a:t>Example</a:t>
            </a:r>
            <a:r>
              <a:rPr lang="en-US" altLang="en-US" sz="1800" dirty="0"/>
              <a:t>: Autonomous Vehicles</a:t>
            </a:r>
          </a:p>
          <a:p>
            <a:pPr marL="0" indent="0" eaLnBrk="1" hangingPunct="1">
              <a:buNone/>
            </a:pPr>
            <a:r>
              <a:rPr lang="en-US" altLang="en-US" sz="1800" dirty="0" smtClean="0">
                <a:solidFill>
                  <a:srgbClr val="FF6600"/>
                </a:solidFill>
              </a:rPr>
              <a:t>Provide </a:t>
            </a:r>
            <a:r>
              <a:rPr lang="en-US" altLang="en-US" sz="1800" dirty="0">
                <a:solidFill>
                  <a:srgbClr val="FF6600"/>
                </a:solidFill>
              </a:rPr>
              <a:t>examples and highlight the benefits and challenges</a:t>
            </a:r>
            <a:r>
              <a:rPr lang="en-US" altLang="en-US" sz="1800" dirty="0" smtClean="0">
                <a:solidFill>
                  <a:srgbClr val="FF6600"/>
                </a:solidFill>
              </a:rPr>
              <a:t>.</a:t>
            </a:r>
          </a:p>
          <a:p>
            <a:pPr marL="0" indent="0">
              <a:buNone/>
            </a:pPr>
            <a:r>
              <a:rPr lang="en-US" sz="1800" b="1" dirty="0">
                <a:solidFill>
                  <a:srgbClr val="FF0000"/>
                </a:solidFill>
              </a:rPr>
              <a:t>Benefits</a:t>
            </a:r>
            <a:r>
              <a:rPr lang="en-US" sz="1800" b="1" dirty="0"/>
              <a:t>:</a:t>
            </a:r>
            <a:r>
              <a:rPr lang="en-US" sz="1800" dirty="0"/>
              <a:t> </a:t>
            </a:r>
            <a:endParaRPr lang="en-US" sz="1800" dirty="0" smtClean="0"/>
          </a:p>
          <a:p>
            <a:pPr marL="0" indent="0">
              <a:buNone/>
            </a:pPr>
            <a:r>
              <a:rPr lang="en-US" sz="1800" dirty="0" smtClean="0"/>
              <a:t>Formal </a:t>
            </a:r>
            <a:r>
              <a:rPr lang="en-US" sz="1800" dirty="0"/>
              <a:t>verification plays a crucial role in ensuring the safety and reliability of autonomous vehicles, where any software or hardware error can have severe consequences. Here are the benefits:</a:t>
            </a:r>
          </a:p>
          <a:p>
            <a:r>
              <a:rPr lang="en-US" sz="1800" b="1" dirty="0"/>
              <a:t>Safety Assurance:</a:t>
            </a:r>
            <a:r>
              <a:rPr lang="en-US" sz="1800" dirty="0"/>
              <a:t> Formal verification can be used to mathematically prove the correctness of control algorithms and decision-making systems in autonomous vehicles, reducing the likelihood of software-related accidents.</a:t>
            </a:r>
          </a:p>
          <a:p>
            <a:r>
              <a:rPr lang="en-US" sz="1800" b="1" dirty="0"/>
              <a:t>Compliance with Standards:</a:t>
            </a:r>
            <a:r>
              <a:rPr lang="en-US" sz="1800" dirty="0"/>
              <a:t> The automotive industry is subject to strict safety standards. Formal verification helps in demonstrating compliance with these standards, such as ISO 26262, ensuring that the autonomous system meets the required safety integrity levels.</a:t>
            </a:r>
          </a:p>
          <a:p>
            <a:r>
              <a:rPr lang="en-US" sz="1800" b="1" dirty="0"/>
              <a:t>Early Detection of Design Flaws:</a:t>
            </a:r>
            <a:r>
              <a:rPr lang="en-US" sz="1800" dirty="0"/>
              <a:t> Formal methods enable the early detection of design flaws and potential system vulnerabilities. This is critical for addressing issues in the design phase before they become costly to fix in later stages of development</a:t>
            </a:r>
            <a:r>
              <a:rPr lang="en-US" sz="1800" dirty="0" smtClean="0"/>
              <a:t>.</a:t>
            </a:r>
            <a:r>
              <a:rPr lang="en-US" sz="1800" dirty="0"/>
              <a:t/>
            </a:r>
            <a:br>
              <a:rPr lang="en-US" sz="1800" dirty="0"/>
            </a:br>
            <a:endParaRPr lang="en-US" altLang="en-US" sz="1800" dirty="0"/>
          </a:p>
        </p:txBody>
      </p:sp>
    </p:spTree>
    <p:extLst>
      <p:ext uri="{BB962C8B-B14F-4D97-AF65-F5344CB8AC3E}">
        <p14:creationId xmlns:p14="http://schemas.microsoft.com/office/powerpoint/2010/main" val="154734061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457200"/>
            <a:ext cx="10363200" cy="1143000"/>
          </a:xfrm>
        </p:spPr>
        <p:txBody>
          <a:bodyPr/>
          <a:lstStyle/>
          <a:p>
            <a:pPr eaLnBrk="1" hangingPunct="1"/>
            <a:r>
              <a:rPr lang="en-US" altLang="en-US" dirty="0" smtClean="0"/>
              <a:t>Formal Verification</a:t>
            </a:r>
          </a:p>
        </p:txBody>
      </p:sp>
      <p:sp>
        <p:nvSpPr>
          <p:cNvPr id="7171" name="Rectangle 3"/>
          <p:cNvSpPr>
            <a:spLocks noGrp="1" noChangeArrowheads="1"/>
          </p:cNvSpPr>
          <p:nvPr>
            <p:ph type="body" idx="1"/>
          </p:nvPr>
        </p:nvSpPr>
        <p:spPr>
          <a:xfrm>
            <a:off x="609600" y="1859280"/>
            <a:ext cx="11582400" cy="4800600"/>
          </a:xfrm>
        </p:spPr>
        <p:txBody>
          <a:bodyPr/>
          <a:lstStyle/>
          <a:p>
            <a:pPr marL="0" indent="0" eaLnBrk="1" hangingPunct="1">
              <a:buNone/>
            </a:pPr>
            <a:r>
              <a:rPr lang="en-US" altLang="en-US" sz="1800" dirty="0" smtClean="0">
                <a:solidFill>
                  <a:srgbClr val="FF6600"/>
                </a:solidFill>
              </a:rPr>
              <a:t>examples </a:t>
            </a:r>
            <a:r>
              <a:rPr lang="en-US" altLang="en-US" sz="1800" dirty="0">
                <a:solidFill>
                  <a:srgbClr val="FF6600"/>
                </a:solidFill>
              </a:rPr>
              <a:t>and highlight the benefits and challenges</a:t>
            </a:r>
            <a:r>
              <a:rPr lang="en-US" altLang="en-US" sz="1800" dirty="0" smtClean="0">
                <a:solidFill>
                  <a:srgbClr val="FF6600"/>
                </a:solidFill>
              </a:rPr>
              <a:t>.</a:t>
            </a:r>
          </a:p>
          <a:p>
            <a:pPr marL="0" indent="0">
              <a:buNone/>
            </a:pPr>
            <a:r>
              <a:rPr lang="en-US" sz="1800" b="1" dirty="0">
                <a:solidFill>
                  <a:srgbClr val="FF0000"/>
                </a:solidFill>
              </a:rPr>
              <a:t>Challenges</a:t>
            </a:r>
            <a:r>
              <a:rPr lang="en-US" sz="1800" b="1" dirty="0"/>
              <a:t>:</a:t>
            </a:r>
            <a:r>
              <a:rPr lang="en-US" sz="1800" dirty="0"/>
              <a:t> </a:t>
            </a:r>
            <a:endParaRPr lang="en-US" sz="1800" dirty="0" smtClean="0"/>
          </a:p>
          <a:p>
            <a:pPr marL="0" indent="0">
              <a:buNone/>
            </a:pPr>
            <a:r>
              <a:rPr lang="en-US" sz="1800" dirty="0" smtClean="0"/>
              <a:t>However</a:t>
            </a:r>
            <a:r>
              <a:rPr lang="en-US" sz="1800" dirty="0"/>
              <a:t>, there are challenges associated with applying formal verification in the automotive industry:</a:t>
            </a:r>
          </a:p>
          <a:p>
            <a:r>
              <a:rPr lang="en-US" sz="1800" b="1" dirty="0"/>
              <a:t>Scalability:</a:t>
            </a:r>
            <a:r>
              <a:rPr lang="en-US" sz="1800" dirty="0"/>
              <a:t> Autonomous vehicles have complex systems with a multitude of components. Formal verification may face challenges in scaling to handle the complexity and size of the entire system.</a:t>
            </a:r>
          </a:p>
          <a:p>
            <a:r>
              <a:rPr lang="en-US" sz="1800" b="1" dirty="0"/>
              <a:t>Resource Intensiveness:</a:t>
            </a:r>
            <a:r>
              <a:rPr lang="en-US" sz="1800" dirty="0"/>
              <a:t> Formal verification processes can be computationally expensive and time-consuming. This may pose challenges in meeting tight development schedules in the automotive industry.</a:t>
            </a:r>
          </a:p>
          <a:p>
            <a:r>
              <a:rPr lang="en-US" sz="1800" b="1" dirty="0"/>
              <a:t>Interactions with the Physical World:</a:t>
            </a:r>
            <a:r>
              <a:rPr lang="en-US" sz="1800" dirty="0"/>
              <a:t> </a:t>
            </a:r>
            <a:endParaRPr lang="en-US" sz="1800" dirty="0" smtClean="0"/>
          </a:p>
          <a:p>
            <a:r>
              <a:rPr lang="en-US" sz="1800" dirty="0" smtClean="0"/>
              <a:t>Formal </a:t>
            </a:r>
            <a:r>
              <a:rPr lang="en-US" sz="1800" dirty="0"/>
              <a:t>methods primarily focus on the digital aspects of a system. Ensuring the correct interaction of autonomous vehicles with the physical environment poses challenges that may require a combination of formal and simulation-based methods.</a:t>
            </a:r>
          </a:p>
          <a:p>
            <a:pPr marL="0" indent="0">
              <a:buNone/>
            </a:pPr>
            <a:r>
              <a:rPr lang="en-US" sz="1800" dirty="0"/>
              <a:t/>
            </a:r>
            <a:br>
              <a:rPr lang="en-US" sz="1800" dirty="0"/>
            </a:br>
            <a:r>
              <a:rPr lang="en-US" sz="1800" dirty="0"/>
              <a:t/>
            </a:r>
            <a:br>
              <a:rPr lang="en-US" sz="1800" dirty="0"/>
            </a:br>
            <a:endParaRPr lang="en-US" altLang="en-US" sz="1800" dirty="0"/>
          </a:p>
        </p:txBody>
      </p:sp>
    </p:spTree>
    <p:extLst>
      <p:ext uri="{BB962C8B-B14F-4D97-AF65-F5344CB8AC3E}">
        <p14:creationId xmlns:p14="http://schemas.microsoft.com/office/powerpoint/2010/main" val="214066302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84C809AD19F7E4D9CE8D686D62A7F25" ma:contentTypeVersion="2" ma:contentTypeDescription="Create a new document." ma:contentTypeScope="" ma:versionID="892bf44ddc1b14daecb87b8e9b6f2f21">
  <xsd:schema xmlns:xsd="http://www.w3.org/2001/XMLSchema" xmlns:xs="http://www.w3.org/2001/XMLSchema" xmlns:p="http://schemas.microsoft.com/office/2006/metadata/properties" xmlns:ns2="8dae1f0d-6849-4bb1-b2e3-71de3eaa5682" targetNamespace="http://schemas.microsoft.com/office/2006/metadata/properties" ma:root="true" ma:fieldsID="13e074c1d8f3a4c682c6070ca9a6aa30" ns2:_="">
    <xsd:import namespace="8dae1f0d-6849-4bb1-b2e3-71de3eaa568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ae1f0d-6849-4bb1-b2e3-71de3eaa56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8405FF-CA5F-41D5-9BC4-861E6A1F5FEB}">
  <ds:schemaRefs>
    <ds:schemaRef ds:uri="8dae1f0d-6849-4bb1-b2e3-71de3eaa5682"/>
    <ds:schemaRef ds:uri="http://purl.org/dc/dcmitype/"/>
    <ds:schemaRef ds:uri="http://schemas.openxmlformats.org/package/2006/metadata/core-properties"/>
    <ds:schemaRef ds:uri="http://schemas.microsoft.com/office/2006/documentManagement/types"/>
    <ds:schemaRef ds:uri="http://purl.org/dc/elements/1.1/"/>
    <ds:schemaRef ds:uri="http://purl.org/dc/terms/"/>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E1439D15-3892-40D8-8ACA-77C1B41C20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ae1f0d-6849-4bb1-b2e3-71de3eaa56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717FF2B-504A-4957-AD6B-0978B382650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Waveform</Template>
  <TotalTime>7398685</TotalTime>
  <Words>3967</Words>
  <Application>Microsoft Office PowerPoint</Application>
  <PresentationFormat>Custom</PresentationFormat>
  <Paragraphs>387</Paragraphs>
  <Slides>42</Slides>
  <Notes>1</Notes>
  <HiddenSlides>0</HiddenSlides>
  <MMClips>0</MMClips>
  <ScaleCrop>false</ScaleCrop>
  <HeadingPairs>
    <vt:vector size="4" baseType="variant">
      <vt:variant>
        <vt:lpstr>Theme</vt:lpstr>
      </vt:variant>
      <vt:variant>
        <vt:i4>2</vt:i4>
      </vt:variant>
      <vt:variant>
        <vt:lpstr>Slide Titles</vt:lpstr>
      </vt:variant>
      <vt:variant>
        <vt:i4>42</vt:i4>
      </vt:variant>
    </vt:vector>
  </HeadingPairs>
  <TitlesOfParts>
    <vt:vector size="44" baseType="lpstr">
      <vt:lpstr>Waveform</vt:lpstr>
      <vt:lpstr>Blends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Formal Verification</vt:lpstr>
      <vt:lpstr>What is Formal Verification?</vt:lpstr>
      <vt:lpstr>Formal Verification</vt:lpstr>
      <vt:lpstr>Formal Verification</vt:lpstr>
      <vt:lpstr>Three-step process</vt:lpstr>
      <vt:lpstr>Other steps</vt:lpstr>
      <vt:lpstr>Formal Verification Techniques</vt:lpstr>
      <vt:lpstr>Equivalence Checking</vt:lpstr>
      <vt:lpstr>Model Checking</vt:lpstr>
      <vt:lpstr>Theorem Proving</vt:lpstr>
      <vt:lpstr>Challenges of formal verification</vt:lpstr>
      <vt:lpstr>Formal Verification Techniques</vt:lpstr>
      <vt:lpstr>Formal Verification</vt:lpstr>
      <vt:lpstr>Formal Verification</vt:lpstr>
      <vt:lpstr>Formal Verification</vt:lpstr>
      <vt:lpstr>Formal Verification</vt:lpstr>
      <vt:lpstr>Formal Verification</vt:lpstr>
      <vt:lpstr>Formal Verification</vt:lpstr>
      <vt:lpstr>Formal Verification</vt:lpstr>
      <vt:lpstr>Formal Verification</vt:lpstr>
      <vt:lpstr>Formal Verification</vt:lpstr>
      <vt:lpstr>Formal Verification</vt:lpstr>
      <vt:lpstr>Formal Verification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Ayesha</dc:creator>
  <cp:lastModifiedBy>farida memon</cp:lastModifiedBy>
  <cp:revision>55</cp:revision>
  <dcterms:modified xsi:type="dcterms:W3CDTF">2024-02-15T05:19:49Z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0x010100384C809AD19F7E4D9CE8D686D62A7F25</vt:lpwstr>
  </property>
</Properties>
</file>