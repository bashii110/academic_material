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2"/>
  </p:notesMasterIdLst>
  <p:sldIdLst>
    <p:sldId id="256" r:id="rId5"/>
    <p:sldId id="257" r:id="rId6"/>
    <p:sldId id="482" r:id="rId7"/>
    <p:sldId id="353" r:id="rId8"/>
    <p:sldId id="354" r:id="rId9"/>
    <p:sldId id="358" r:id="rId10"/>
    <p:sldId id="359" r:id="rId11"/>
    <p:sldId id="361" r:id="rId12"/>
    <p:sldId id="347" r:id="rId13"/>
    <p:sldId id="362" r:id="rId14"/>
    <p:sldId id="351" r:id="rId15"/>
    <p:sldId id="363" r:id="rId16"/>
    <p:sldId id="349" r:id="rId17"/>
    <p:sldId id="352" r:id="rId18"/>
    <p:sldId id="328" r:id="rId19"/>
    <p:sldId id="364" r:id="rId20"/>
    <p:sldId id="346" r:id="rId21"/>
    <p:sldId id="329" r:id="rId22"/>
    <p:sldId id="407" r:id="rId23"/>
    <p:sldId id="408" r:id="rId24"/>
    <p:sldId id="492" r:id="rId25"/>
    <p:sldId id="411" r:id="rId26"/>
    <p:sldId id="301" r:id="rId27"/>
    <p:sldId id="493" r:id="rId28"/>
    <p:sldId id="302" r:id="rId29"/>
    <p:sldId id="368" r:id="rId30"/>
    <p:sldId id="404" r:id="rId31"/>
    <p:sldId id="502" r:id="rId32"/>
    <p:sldId id="369" r:id="rId33"/>
    <p:sldId id="370" r:id="rId34"/>
    <p:sldId id="491" r:id="rId35"/>
    <p:sldId id="380" r:id="rId36"/>
    <p:sldId id="494" r:id="rId37"/>
    <p:sldId id="405" r:id="rId38"/>
    <p:sldId id="503" r:id="rId39"/>
    <p:sldId id="377" r:id="rId40"/>
    <p:sldId id="378" r:id="rId41"/>
    <p:sldId id="383" r:id="rId42"/>
    <p:sldId id="367" r:id="rId43"/>
    <p:sldId id="504" r:id="rId44"/>
    <p:sldId id="384" r:id="rId45"/>
    <p:sldId id="381" r:id="rId46"/>
    <p:sldId id="387" r:id="rId47"/>
    <p:sldId id="413" r:id="rId48"/>
    <p:sldId id="260" r:id="rId49"/>
    <p:sldId id="500" r:id="rId50"/>
    <p:sldId id="389" r:id="rId51"/>
    <p:sldId id="495" r:id="rId52"/>
    <p:sldId id="390" r:id="rId53"/>
    <p:sldId id="496" r:id="rId54"/>
    <p:sldId id="499" r:id="rId55"/>
    <p:sldId id="392" r:id="rId56"/>
    <p:sldId id="497" r:id="rId57"/>
    <p:sldId id="391" r:id="rId58"/>
    <p:sldId id="498" r:id="rId59"/>
    <p:sldId id="501" r:id="rId60"/>
    <p:sldId id="406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1469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commentAuthors" Target="commentAuthors.xml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kind of services where in many users can make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of the software hosted by the service provider and pay only for time its being used. It will be better than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buying the hardware and software as keeps off the burden of updating the software to the latest version, licensing and is of course more economical. Some example service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providers are Salesforce, Customer Relationships Management(CRM) system and Google Apps.</a:t>
            </a:r>
          </a:p>
          <a:p>
            <a:endParaRPr lang="en-US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 high-level integrated environment to design, build, test, deploy and update online custom applications. Some example service providers are Google’s App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 , Microsoft Azure ,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RightScale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SalesForce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refers to the services provided to the users to use processing power, storage, network and other computing resources, to run any software including operating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and applications. Some of the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providers 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AWS, Eucalyptus, Open Stack,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GoGrid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Flexiscale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2DA6EA-5702-4017-B557-57159449F5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04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kind of services where in many users can make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of the software hosted by the service provider and pay only for time its being used. It will be better than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buying the hardware and software as keeps off the burden of updating the software to the latest version, licensing and is of course more economical. Some example service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providers are Salesforce, Customer Relationships Management(CRM) system and Google Apps.</a:t>
            </a:r>
          </a:p>
          <a:p>
            <a:endParaRPr lang="en-US" sz="120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 high-level integrated environment to design, build, test, deploy and update online custom applications. Some example service providers are Google’s App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 , Microsoft Azure ,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RightScale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SalesForce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refers to the services provided to the users to use processing power, storage, network and other computing resources, to run any software including operating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and applications. Some of the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IaaS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providers </a:t>
            </a:r>
            <a:r>
              <a:rPr lang="en-US" sz="120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AWS, Eucalyptus, Open Stack,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GoGrid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Flexiscale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2DA6EA-5702-4017-B557-57159449F5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25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3E61B-9923-41E8-A048-1B57D195D0C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5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23E61B-9923-41E8-A048-1B57D195D0C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defRPr sz="2400">
                <a:solidFill>
                  <a:schemeClr val="bg1"/>
                </a:solidFill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>
                <a:solidFill>
                  <a:schemeClr val="bg1"/>
                </a:solidFill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>
                <a:solidFill>
                  <a:schemeClr val="bg1"/>
                </a:solidFill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1pPr>
            <a:lvl2pPr marL="800100" indent="-3429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2pPr>
            <a:lvl3pPr marL="1257300" indent="-34290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3pPr>
            <a:lvl4pPr marL="1657350" indent="-28575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4pPr>
            <a:lvl5pPr marL="2114550" indent="-285750"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 b="1"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 b="1"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4pPr>
            <a:lvl5pPr marL="21145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800100" indent="-342900">
              <a:buFont typeface="Wingdings" panose="05000000000000000000" pitchFamily="2" charset="2"/>
              <a:buChar char="v"/>
              <a:defRPr sz="2000" b="1"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v"/>
              <a:defRPr sz="1800" b="1"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4pPr>
            <a:lvl5pPr marL="2114550" indent="-285750">
              <a:buFont typeface="Wingdings" panose="05000000000000000000" pitchFamily="2" charset="2"/>
              <a:buChar char="v"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D5F35EC-2FDF-1A25-E8D0-26AE9F247E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49E8-10BC-D4E8-E860-B8FB8F5A53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fld id="{F62D3E32-E601-489E-B064-D93C6883CF3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AD4E040D-9A79-307E-E790-A7ABE070445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7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4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85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127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34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398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14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689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93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69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3950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71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28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57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541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66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49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92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97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43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5163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295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9591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547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2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1859376"/>
          </a:xfrm>
        </p:spPr>
        <p:txBody>
          <a:bodyPr>
            <a:normAutofit/>
          </a:bodyPr>
          <a:lstStyle/>
          <a:p>
            <a:r>
              <a:rPr lang="en-US" sz="4000" b="0" dirty="0"/>
              <a:t>Cloud Computing</a:t>
            </a:r>
            <a:r>
              <a:rPr lang="en-US" sz="4000" dirty="0"/>
              <a:t> Characteristics, Service Models &amp; Deployment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/>
          <a:lstStyle/>
          <a:p>
            <a:r>
              <a:rPr lang="en-US" dirty="0"/>
              <a:t>Prof. Dr. Pardeep Kumar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Characteristics</a:t>
            </a:r>
          </a:p>
          <a:p>
            <a:endParaRPr lang="en-US" dirty="0"/>
          </a:p>
          <a:p>
            <a:r>
              <a:rPr lang="en-US" dirty="0"/>
              <a:t>Service Models</a:t>
            </a:r>
          </a:p>
          <a:p>
            <a:endParaRPr lang="en-US" dirty="0"/>
          </a:p>
          <a:p>
            <a:r>
              <a:rPr lang="en-US" dirty="0"/>
              <a:t>Deployment Models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D324C-DC28-AEA5-A3AB-9FC72F346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6EF8-493E-40AC-8205-6EE6B520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06891D-E7EC-4C63-88C8-8E6B7C5E5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5700" y="2603500"/>
            <a:ext cx="5712239" cy="3416300"/>
          </a:xfrm>
        </p:spPr>
        <p:txBody>
          <a:bodyPr>
            <a:normAutofit/>
          </a:bodyPr>
          <a:lstStyle/>
          <a:p>
            <a:r>
              <a:rPr lang="en-US" dirty="0"/>
              <a:t>Scalability and elasticity</a:t>
            </a:r>
          </a:p>
          <a:p>
            <a:r>
              <a:rPr lang="en-US" dirty="0"/>
              <a:t>Availability and reliability</a:t>
            </a:r>
          </a:p>
          <a:p>
            <a:r>
              <a:rPr lang="en-US" dirty="0"/>
              <a:t>Manageability &amp; interoperability</a:t>
            </a:r>
          </a:p>
          <a:p>
            <a:r>
              <a:rPr lang="en-US" dirty="0"/>
              <a:t>Accessibility and portability</a:t>
            </a:r>
          </a:p>
          <a:p>
            <a:r>
              <a:rPr lang="en-US" dirty="0"/>
              <a:t>Performance and optimization</a:t>
            </a:r>
          </a:p>
          <a:p>
            <a:endParaRPr lang="en-US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499EF802-0907-48A4-8A6E-94BF3FDCA18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215808" y="2335144"/>
            <a:ext cx="3820491" cy="2962324"/>
          </a:xfr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BCB2AC-80CD-E380-28FD-97F3FC66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4834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Scalability &amp; Elasticity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Scalability is the ability to handle growing workload gracefully.</a:t>
            </a:r>
          </a:p>
          <a:p>
            <a:pPr lvl="1"/>
            <a:r>
              <a:rPr lang="en-US" dirty="0"/>
              <a:t>Just by adding resources either making hardware stronger (scale up) or adding additional nodes (scale out).</a:t>
            </a:r>
          </a:p>
          <a:p>
            <a:r>
              <a:rPr lang="en-US" dirty="0"/>
              <a:t>Elasticity is the ability to grow or shrink resources dynamically to adapt to workload changes in an autonomic manner</a:t>
            </a:r>
          </a:p>
          <a:p>
            <a:pPr lvl="1"/>
            <a:r>
              <a:rPr lang="en-US" dirty="0"/>
              <a:t>Maximizing the use of resources, usually in relation to scale out.</a:t>
            </a:r>
          </a:p>
          <a:p>
            <a:r>
              <a:rPr lang="en-US" dirty="0"/>
              <a:t>But how to achieve these properties?</a:t>
            </a:r>
          </a:p>
          <a:p>
            <a:pPr lvl="1"/>
            <a:r>
              <a:rPr lang="en-US" dirty="0"/>
              <a:t>Dynamic provisioning</a:t>
            </a:r>
          </a:p>
          <a:p>
            <a:pPr lvl="1"/>
            <a:r>
              <a:rPr lang="en-US" dirty="0"/>
              <a:t>Multi-tenant design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0D0C7E-2411-9329-C3C2-8515FAA4C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Dynamic Provisioning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 client can quickly acquire required resources 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as per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their dynamic requirements without making manual adjustments.</a:t>
            </a:r>
          </a:p>
          <a:p>
            <a:r>
              <a:rPr lang="en-US" dirty="0"/>
              <a:t>Meet seasonal demand variations</a:t>
            </a:r>
          </a:p>
          <a:p>
            <a:r>
              <a:rPr lang="en-US" dirty="0"/>
              <a:t>Meet demand variations between different industries</a:t>
            </a:r>
          </a:p>
          <a:p>
            <a:r>
              <a:rPr lang="en-US" dirty="0"/>
              <a:t>Meet burst demand for some extraordinary events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68083-1565-FDDC-95AB-E623058C0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Multi-tenant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Multiple customers are using the same computing resources. Though they share resources, cloud customers are not aware of each other, and their data is kept totally separate. </a:t>
            </a:r>
          </a:p>
          <a:p>
            <a:r>
              <a:rPr lang="en-US" dirty="0"/>
              <a:t>Each client organization works with a customized virtual application instance.</a:t>
            </a:r>
          </a:p>
          <a:p>
            <a:r>
              <a:rPr lang="en-US" dirty="0"/>
              <a:t>It provides a high degree of customization to support each organization's needs.</a:t>
            </a:r>
          </a:p>
          <a:p>
            <a:r>
              <a:rPr lang="en-US" dirty="0"/>
              <a:t>And offers QoS by providing adequate levels of security and robustness.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92D232-BFB4-445F-355F-2151C3E70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Availability &amp; Reliability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Availability is a degree to which a system or equipment is in a specified operable and committable state </a:t>
            </a:r>
          </a:p>
          <a:p>
            <a:r>
              <a:rPr lang="en-US" dirty="0"/>
              <a:t>Reliability is the ability of a system to perform its required functions under stated conditions for a specified period. </a:t>
            </a:r>
          </a:p>
          <a:p>
            <a:r>
              <a:rPr lang="en-US" dirty="0"/>
              <a:t>But how to achieve these properties? </a:t>
            </a:r>
          </a:p>
          <a:p>
            <a:pPr lvl="1"/>
            <a:r>
              <a:rPr lang="en-US" dirty="0"/>
              <a:t>Fault tolerance system</a:t>
            </a:r>
          </a:p>
          <a:p>
            <a:pPr lvl="1"/>
            <a:r>
              <a:rPr lang="en-US" dirty="0"/>
              <a:t>Resilient system</a:t>
            </a:r>
          </a:p>
          <a:p>
            <a:pPr lvl="1"/>
            <a:r>
              <a:rPr lang="en-US" dirty="0"/>
              <a:t>Reliable system security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1C0FF6-ED69-720C-C162-55D5E30DC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>
            <a:normAutofit/>
          </a:bodyPr>
          <a:lstStyle/>
          <a:p>
            <a:r>
              <a:rPr lang="en-US"/>
              <a:t>Manageability &amp; Interoperability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/>
          <a:p>
            <a:r>
              <a:rPr lang="en-US" dirty="0"/>
              <a:t>Manageability is the enterprise-wide administration of cloud computing systems. </a:t>
            </a:r>
          </a:p>
          <a:p>
            <a:r>
              <a:rPr lang="en-US" dirty="0"/>
              <a:t>Interoperability is a property of a product or system to work across different products or systems, present or future, without any restricted access or implementation. </a:t>
            </a:r>
          </a:p>
          <a:p>
            <a:r>
              <a:rPr lang="en-US" dirty="0"/>
              <a:t>But how to achieve these properties?</a:t>
            </a:r>
          </a:p>
          <a:p>
            <a:pPr lvl="1"/>
            <a:r>
              <a:rPr lang="en-US" dirty="0"/>
              <a:t>System control automation</a:t>
            </a:r>
          </a:p>
          <a:p>
            <a:pPr lvl="1"/>
            <a:r>
              <a:rPr lang="en-US" dirty="0"/>
              <a:t>System state monitoring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6A0E6B-DB43-7436-EE9A-0B9D268F9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>
            <a:normAutofit/>
          </a:bodyPr>
          <a:lstStyle/>
          <a:p>
            <a:r>
              <a:rPr lang="en-US"/>
              <a:t>Billing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Users pay as many as they used.</a:t>
            </a:r>
          </a:p>
          <a:p>
            <a:r>
              <a:rPr lang="en-US" dirty="0"/>
              <a:t>Cloud provider must first determine the list of service usage price and then record the resource or service usage of each user, and then charge users by these records.</a:t>
            </a:r>
          </a:p>
          <a:p>
            <a:r>
              <a:rPr lang="en-US" dirty="0"/>
              <a:t>How can cloud provider know users’ usage?</a:t>
            </a:r>
          </a:p>
          <a:p>
            <a:pPr lvl="1"/>
            <a:r>
              <a:rPr lang="en-US" dirty="0"/>
              <a:t>Get those information by means of monitoring system.</a:t>
            </a:r>
          </a:p>
          <a:p>
            <a:pPr lvl="1"/>
            <a:r>
              <a:rPr lang="en-US" dirty="0"/>
              <a:t>Automatically calculate the total cost which user should pay. </a:t>
            </a:r>
          </a:p>
          <a:p>
            <a:pPr lvl="1"/>
            <a:r>
              <a:rPr lang="en-US" dirty="0"/>
              <a:t>And automatically request money from use’s banking account.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DD9A64-07FA-A9E4-B1C1-139259A5A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Performance &amp;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dirty="0"/>
              <a:t>Cloud providers make use of powerful infrastructure or other underlining resources to build up a highly performed and highly optimized environment</a:t>
            </a:r>
          </a:p>
          <a:p>
            <a:r>
              <a:rPr lang="en-US" dirty="0"/>
              <a:t>But how to achieve this property?</a:t>
            </a:r>
          </a:p>
          <a:p>
            <a:pPr lvl="1"/>
            <a:r>
              <a:rPr lang="en-US" dirty="0"/>
              <a:t>Parallel computing</a:t>
            </a:r>
          </a:p>
          <a:p>
            <a:pPr lvl="1"/>
            <a:r>
              <a:rPr lang="en-US" dirty="0"/>
              <a:t>Load balancing</a:t>
            </a:r>
          </a:p>
          <a:p>
            <a:pPr lvl="1"/>
            <a:r>
              <a:rPr lang="en-US" dirty="0"/>
              <a:t>Job scheduling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667A28-CE63-46F7-2C60-7C3D1A982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Parallel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form of computation in which many calculations are carried out simultaneously</a:t>
            </a:r>
          </a:p>
          <a:p>
            <a:pPr lvl="1"/>
            <a:r>
              <a:rPr lang="en-US" dirty="0"/>
              <a:t>large problems can often be divided into smaller ones, which are then solved concurrently.</a:t>
            </a:r>
          </a:p>
          <a:p>
            <a:r>
              <a:rPr lang="en-US" dirty="0"/>
              <a:t>Parallelism in different levels:</a:t>
            </a:r>
          </a:p>
          <a:p>
            <a:pPr lvl="1"/>
            <a:r>
              <a:rPr lang="en-US" dirty="0"/>
              <a:t>Bit level parallelism</a:t>
            </a:r>
          </a:p>
          <a:p>
            <a:pPr lvl="1"/>
            <a:r>
              <a:rPr lang="en-US" dirty="0"/>
              <a:t>Instruction level parallelism</a:t>
            </a:r>
          </a:p>
          <a:p>
            <a:pPr lvl="1"/>
            <a:r>
              <a:rPr lang="en-US" dirty="0"/>
              <a:t>Data level parallelism</a:t>
            </a:r>
          </a:p>
          <a:p>
            <a:pPr lvl="1"/>
            <a:r>
              <a:rPr lang="en-US" dirty="0"/>
              <a:t>Task level parallelism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47AB5C-890B-4B46-7C27-B893BCC48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Parallel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Hardware approaches</a:t>
            </a:r>
          </a:p>
          <a:p>
            <a:pPr lvl="1"/>
            <a:r>
              <a:rPr lang="en-US" dirty="0"/>
              <a:t>Multi-core computer</a:t>
            </a:r>
          </a:p>
          <a:p>
            <a:pPr lvl="1"/>
            <a:r>
              <a:rPr lang="en-US" dirty="0"/>
              <a:t>Symmetric multi-processor</a:t>
            </a:r>
          </a:p>
          <a:p>
            <a:pPr lvl="1"/>
            <a:r>
              <a:rPr lang="en-US" dirty="0"/>
              <a:t>General purpose GPUs</a:t>
            </a:r>
          </a:p>
          <a:p>
            <a:pPr lvl="1"/>
            <a:r>
              <a:rPr lang="en-US" dirty="0"/>
              <a:t>Vector processor</a:t>
            </a:r>
          </a:p>
          <a:p>
            <a:pPr lvl="1"/>
            <a:r>
              <a:rPr lang="en-US" dirty="0"/>
              <a:t>Distributed computing</a:t>
            </a:r>
          </a:p>
          <a:p>
            <a:pPr lvl="2"/>
            <a:r>
              <a:rPr lang="en-US" dirty="0"/>
              <a:t>Cluster, Grid, Edge, Fog</a:t>
            </a:r>
          </a:p>
          <a:p>
            <a:r>
              <a:rPr lang="en-US" dirty="0"/>
              <a:t>Software approaches</a:t>
            </a:r>
          </a:p>
          <a:p>
            <a:pPr lvl="1"/>
            <a:r>
              <a:rPr lang="en-US" dirty="0"/>
              <a:t>Parallel programming language</a:t>
            </a:r>
          </a:p>
          <a:p>
            <a:pPr lvl="1"/>
            <a:r>
              <a:rPr lang="en-US" dirty="0"/>
              <a:t>Automatic parallelization</a:t>
            </a:r>
          </a:p>
        </p:txBody>
      </p:sp>
      <p:pic>
        <p:nvPicPr>
          <p:cNvPr id="104450" name="Picture 2" descr="http://www.engadget.com/media/2007/08/8-11-07-warhawk-servers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34877" y="1790700"/>
            <a:ext cx="3209925" cy="327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2602A0-C68F-F8DF-61D0-E3FB77249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technique to distribute workload evenly across two or more systems</a:t>
            </a:r>
          </a:p>
          <a:p>
            <a:pPr lvl="1"/>
            <a:r>
              <a:rPr lang="en-US" dirty="0"/>
              <a:t>For optimal resource utilization</a:t>
            </a:r>
          </a:p>
          <a:p>
            <a:pPr lvl="1"/>
            <a:r>
              <a:rPr lang="en-US" dirty="0"/>
              <a:t>maximize throughput</a:t>
            </a:r>
          </a:p>
          <a:p>
            <a:pPr lvl="1"/>
            <a:r>
              <a:rPr lang="en-US" dirty="0"/>
              <a:t>minimize response time</a:t>
            </a:r>
          </a:p>
          <a:p>
            <a:pPr lvl="1"/>
            <a:r>
              <a:rPr lang="en-US" dirty="0"/>
              <a:t>avoid overloading</a:t>
            </a:r>
          </a:p>
          <a:p>
            <a:r>
              <a:rPr lang="en-US" dirty="0"/>
              <a:t>Why should be load balanced?</a:t>
            </a:r>
          </a:p>
          <a:p>
            <a:pPr lvl="1"/>
            <a:r>
              <a:rPr lang="en-US" dirty="0"/>
              <a:t>Improve resource utilization</a:t>
            </a:r>
          </a:p>
          <a:p>
            <a:pPr lvl="1"/>
            <a:r>
              <a:rPr lang="en-US" dirty="0"/>
              <a:t>Improve system performance</a:t>
            </a:r>
          </a:p>
          <a:p>
            <a:pPr lvl="1"/>
            <a:r>
              <a:rPr lang="en-US" dirty="0"/>
              <a:t>Improve energy efficiency</a:t>
            </a:r>
          </a:p>
        </p:txBody>
      </p:sp>
      <p:pic>
        <p:nvPicPr>
          <p:cNvPr id="6" name="Picture 2" descr="http://www.newsbiscuit.com/wp-content/uploads/2010/04/fat-guy-on-sinking-boat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46573" y="2550319"/>
            <a:ext cx="4035798" cy="2962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7B0CC1-E6BC-6E3F-F1CB-119D3435F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Job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software application that supports unattended background executions, commonly known as batch processing.</a:t>
            </a:r>
          </a:p>
          <a:p>
            <a:r>
              <a:rPr lang="en-US" dirty="0"/>
              <a:t>What should be scheduled in Cloud?</a:t>
            </a:r>
          </a:p>
          <a:p>
            <a:pPr lvl="1"/>
            <a:r>
              <a:rPr lang="en-US" dirty="0"/>
              <a:t>Computation intensive tasks</a:t>
            </a:r>
          </a:p>
          <a:p>
            <a:pPr lvl="1"/>
            <a:r>
              <a:rPr lang="en-US" dirty="0"/>
              <a:t>Dynamic growing and shrinking tasks</a:t>
            </a:r>
          </a:p>
          <a:p>
            <a:pPr lvl="1"/>
            <a:r>
              <a:rPr lang="en-US" dirty="0"/>
              <a:t>Tasks with complex processing dependency</a:t>
            </a:r>
          </a:p>
          <a:p>
            <a:r>
              <a:rPr lang="en-US" dirty="0"/>
              <a:t>How to approach?</a:t>
            </a:r>
          </a:p>
          <a:p>
            <a:pPr lvl="1"/>
            <a:r>
              <a:rPr lang="en-US" dirty="0"/>
              <a:t>Use pre-defined workflow</a:t>
            </a:r>
          </a:p>
          <a:p>
            <a:pPr lvl="1"/>
            <a:r>
              <a:rPr lang="en-US" dirty="0"/>
              <a:t>System automatic configuration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37A565-61B0-1775-B887-B29371DB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Accessibility &amp; Portability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/>
          </a:bodyPr>
          <a:lstStyle/>
          <a:p>
            <a:r>
              <a:rPr lang="en-US" dirty="0"/>
              <a:t>Accessibility is the degree to which a product, device, service, or environment is accessible by as many people as possible.</a:t>
            </a:r>
          </a:p>
          <a:p>
            <a:r>
              <a:rPr lang="en-US" dirty="0"/>
              <a:t>Service portability is the ability to access services using any devices, anywhere, continuously with mobility support and dynamic resource adaptation.</a:t>
            </a:r>
          </a:p>
          <a:p>
            <a:r>
              <a:rPr lang="en-US" dirty="0"/>
              <a:t>But how to achieve these properties?</a:t>
            </a:r>
          </a:p>
          <a:p>
            <a:pPr lvl="1"/>
            <a:r>
              <a:rPr lang="en-US" dirty="0"/>
              <a:t>Uniform access</a:t>
            </a:r>
          </a:p>
          <a:p>
            <a:pPr lvl="1"/>
            <a:r>
              <a:rPr lang="en-US" dirty="0"/>
              <a:t>Thin client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0E4D95-8A99-761E-8A4A-0D9241E59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Uniform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8"/>
            <a:ext cx="9779182" cy="2296116"/>
          </a:xfrm>
        </p:spPr>
        <p:txBody>
          <a:bodyPr>
            <a:normAutofit/>
          </a:bodyPr>
          <a:lstStyle/>
          <a:p>
            <a:r>
              <a:rPr lang="en-US" dirty="0"/>
              <a:t>How do users access cloud services?</a:t>
            </a:r>
          </a:p>
          <a:p>
            <a:pPr lvl="1"/>
            <a:r>
              <a:rPr lang="en-US" dirty="0"/>
              <a:t>Users from different operating systems or platforms should be able to directly be served.</a:t>
            </a:r>
          </a:p>
          <a:p>
            <a:pPr lvl="1"/>
            <a:r>
              <a:rPr lang="en-US" dirty="0"/>
              <a:t>Nowadays, web browser technique is one of the most widespread platform in almost any intelligent electronic devices. </a:t>
            </a:r>
          </a:p>
        </p:txBody>
      </p:sp>
      <p:pic>
        <p:nvPicPr>
          <p:cNvPr id="111618" name="Picture 2" descr="http://www.solidblogger.com/wp-content/uploads/2009/03/firefox-ie-chrome-safari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94783" y="4189594"/>
            <a:ext cx="6324600" cy="1217294"/>
          </a:xfrm>
          <a:prstGeom prst="rect">
            <a:avLst/>
          </a:prstGeom>
          <a:noFill/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FC488B-9CAF-7398-5656-0BA6AC266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Thin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US" dirty="0"/>
              <a:t>A computer or a program which depends heavily on some other computer to fulfill its traditional computational roles. </a:t>
            </a:r>
          </a:p>
          <a:p>
            <a:r>
              <a:rPr lang="en-US" dirty="0"/>
              <a:t>Characteristics :</a:t>
            </a:r>
          </a:p>
          <a:p>
            <a:pPr lvl="1"/>
            <a:r>
              <a:rPr lang="en-US" dirty="0"/>
              <a:t>Cheap client hardware</a:t>
            </a:r>
          </a:p>
          <a:p>
            <a:pPr lvl="1"/>
            <a:r>
              <a:rPr lang="en-US" dirty="0"/>
              <a:t>Diversity of end devices</a:t>
            </a:r>
          </a:p>
          <a:p>
            <a:pPr lvl="2"/>
            <a:r>
              <a:rPr lang="en-US" dirty="0"/>
              <a:t>Including cell phones, gadgets and smart TV. </a:t>
            </a:r>
          </a:p>
          <a:p>
            <a:pPr lvl="1"/>
            <a:r>
              <a:rPr lang="en-US" dirty="0"/>
              <a:t>Client simplicity</a:t>
            </a:r>
          </a:p>
          <a:p>
            <a:pPr lvl="2"/>
            <a:r>
              <a:rPr lang="en-US" dirty="0"/>
              <a:t>Client local systems do not need complete operational functionalities.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195D0A-8FF2-D696-EE5D-7E6309395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/>
              <a:t>Service Models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/>
          <a:lstStyle/>
          <a:p>
            <a:r>
              <a:rPr lang="en-US"/>
              <a:t>Choose the service you need.</a:t>
            </a:r>
            <a:endParaRPr lang="en-US" dirty="0"/>
          </a:p>
        </p:txBody>
      </p:sp>
      <p:pic>
        <p:nvPicPr>
          <p:cNvPr id="84996" name="Picture 4" descr="http://www.wexla.com/images/service_concierge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013877" y="3414712"/>
            <a:ext cx="6164246" cy="3124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72FB23-E3C0-2F7E-601F-AB12A428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652D10-E3B0-4045-9773-D286FFA5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A Simple Analogy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6ECC26-B188-49D6-95D5-44F902A37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Say, you just moved to a city, and you are looking for a place to live.</a:t>
            </a:r>
          </a:p>
          <a:p>
            <a:r>
              <a:rPr lang="en-US" dirty="0"/>
              <a:t>What options do you have</a:t>
            </a:r>
          </a:p>
          <a:p>
            <a:pPr lvl="1"/>
            <a:r>
              <a:rPr lang="en-US" dirty="0"/>
              <a:t>Built a new house</a:t>
            </a:r>
          </a:p>
          <a:p>
            <a:pPr lvl="1"/>
            <a:r>
              <a:rPr lang="en-US" dirty="0"/>
              <a:t>Buy an empty house</a:t>
            </a:r>
          </a:p>
          <a:p>
            <a:pPr lvl="1"/>
            <a:r>
              <a:rPr lang="en-US" dirty="0"/>
              <a:t>Live in a hotel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1F6D1A-DCFC-E3A6-6446-69E251CEC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994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5396DA-2288-443C-AA52-312EC667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Options to chose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DFFBF-1A1D-482F-A0CD-B3581863D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built a new house</a:t>
            </a:r>
          </a:p>
          <a:p>
            <a:pPr lvl="1"/>
            <a:r>
              <a:rPr lang="en-US" dirty="0"/>
              <a:t>You can fully control everything you like your new house to have. But that is a hard work</a:t>
            </a:r>
          </a:p>
          <a:p>
            <a:r>
              <a:rPr lang="en-US" dirty="0"/>
              <a:t>If you buy an empty house</a:t>
            </a:r>
          </a:p>
          <a:p>
            <a:pPr lvl="1"/>
            <a:r>
              <a:rPr lang="en-US" dirty="0"/>
              <a:t>You can customize some part of your house. But never change the original architecture.</a:t>
            </a:r>
          </a:p>
          <a:p>
            <a:r>
              <a:rPr lang="en-US" dirty="0"/>
              <a:t>How about live in a hotel?</a:t>
            </a:r>
          </a:p>
          <a:p>
            <a:pPr lvl="1"/>
            <a:r>
              <a:rPr lang="en-US" dirty="0"/>
              <a:t>You can enjoy your life, but there is nothing you can do with the house except living in it.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B15512-6C58-18E6-C026-67D17A08F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65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008D3-B686-69DC-591F-644948DD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Computing Stack</a:t>
            </a:r>
          </a:p>
        </p:txBody>
      </p:sp>
      <p:pic>
        <p:nvPicPr>
          <p:cNvPr id="5" name="Content Placeholder 3" descr="424px-Cloud_Computing_Stack.svg.png">
            <a:extLst>
              <a:ext uri="{FF2B5EF4-FFF2-40B4-BE49-F238E27FC236}">
                <a16:creationId xmlns:a16="http://schemas.microsoft.com/office/drawing/2014/main" id="{B5AADBD0-5C06-AF0F-8B5E-7AF5FBDE6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019834" y="467208"/>
            <a:ext cx="4190935" cy="5923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24509-B831-8050-EC7B-04155A2F1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004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A67A-53B0-4AB9-8C97-F9C1968B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Service Models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4101-719E-4C4B-87FD-0578F455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Infrastructure as a service (IaaS)</a:t>
            </a:r>
          </a:p>
          <a:p>
            <a:pPr lvl="1"/>
            <a:r>
              <a:rPr lang="en-US" altLang="en-US" dirty="0"/>
              <a:t>You rent a virtual server</a:t>
            </a:r>
          </a:p>
          <a:p>
            <a:pPr lvl="1"/>
            <a:r>
              <a:rPr lang="en-US" altLang="en-US" dirty="0"/>
              <a:t>Amazon, Rackspace, </a:t>
            </a:r>
            <a:r>
              <a:rPr lang="en-US" altLang="en-US" dirty="0" err="1"/>
              <a:t>GoGrid</a:t>
            </a:r>
            <a:r>
              <a:rPr lang="en-US" altLang="en-US" dirty="0"/>
              <a:t>, etc.</a:t>
            </a:r>
          </a:p>
          <a:p>
            <a:r>
              <a:rPr lang="en-US" altLang="en-US" dirty="0"/>
              <a:t>Platform as a service (PaaS)</a:t>
            </a:r>
          </a:p>
          <a:p>
            <a:pPr lvl="1"/>
            <a:r>
              <a:rPr lang="en-US" altLang="en-US" dirty="0"/>
              <a:t>You rent an abstract machine</a:t>
            </a:r>
          </a:p>
          <a:p>
            <a:pPr lvl="1"/>
            <a:r>
              <a:rPr lang="en-US" altLang="en-US" dirty="0"/>
              <a:t>Google app engine, Salesforce, etc.</a:t>
            </a:r>
          </a:p>
          <a:p>
            <a:r>
              <a:rPr lang="en-US" altLang="en-US" dirty="0"/>
              <a:t>Software as a service (SaaS)</a:t>
            </a:r>
          </a:p>
          <a:p>
            <a:pPr lvl="1"/>
            <a:r>
              <a:rPr lang="en-US" altLang="en-US" dirty="0"/>
              <a:t>You rent a capability</a:t>
            </a:r>
          </a:p>
          <a:p>
            <a:pPr lvl="1"/>
            <a:r>
              <a:rPr lang="en-US" altLang="en-US" dirty="0"/>
              <a:t>Exchange hosting, </a:t>
            </a:r>
            <a:r>
              <a:rPr lang="en-US" altLang="en-US" dirty="0" err="1"/>
              <a:t>Wordpress</a:t>
            </a:r>
            <a:r>
              <a:rPr lang="en-US" altLang="en-US" dirty="0"/>
              <a:t> hosting,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A12BE-6063-2FD0-5469-1B9885DF6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55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Services of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0C100-3D74-3C7E-6874-9C75410C9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359" y="467208"/>
            <a:ext cx="6401885" cy="59235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56EA3-3F3C-FC8B-A480-310C9F247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654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Services of Cloud</a:t>
            </a:r>
          </a:p>
        </p:txBody>
      </p:sp>
      <p:pic>
        <p:nvPicPr>
          <p:cNvPr id="2050" name="Picture 2" descr="IaaS vs PaaS vs SaaS: Cloud Service Models | eG Innovations">
            <a:extLst>
              <a:ext uri="{FF2B5EF4-FFF2-40B4-BE49-F238E27FC236}">
                <a16:creationId xmlns:a16="http://schemas.microsoft.com/office/drawing/2014/main" id="{BE522668-A655-6A83-1A3A-C06E162DDC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6526" y="957966"/>
            <a:ext cx="7210025" cy="432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56EA3-3F3C-FC8B-A480-310C9F247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057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Services of Cloud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277A70-7268-E5E3-F807-2E87593C28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0"/>
          <a:stretch/>
        </p:blipFill>
        <p:spPr bwMode="auto">
          <a:xfrm>
            <a:off x="4034538" y="1446835"/>
            <a:ext cx="7523478" cy="360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5196D7-C26B-44EB-2424-256F36BEE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102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863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Model Overview</a:t>
            </a:r>
          </a:p>
        </p:txBody>
      </p:sp>
      <p:pic>
        <p:nvPicPr>
          <p:cNvPr id="6" name="Picture 3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9E064670-2F5A-4377-99EF-5059EE3177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038600" y="1163023"/>
            <a:ext cx="7188199" cy="452856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1EA10-8B70-C818-C010-173552FB6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laaS</a:t>
            </a:r>
            <a:r>
              <a:rPr lang="en-US" dirty="0"/>
              <a:t> is the delivery of technology infrastructure as an on demand scalable service. </a:t>
            </a:r>
          </a:p>
          <a:p>
            <a:r>
              <a:rPr lang="en-US" dirty="0" err="1"/>
              <a:t>laaS</a:t>
            </a:r>
            <a:r>
              <a:rPr lang="en-US" dirty="0"/>
              <a:t> provides access to fundamental resources such as physical machines, virtual machines, virtual storage, etc.</a:t>
            </a:r>
          </a:p>
          <a:p>
            <a:pPr lvl="1"/>
            <a:r>
              <a:rPr lang="en-US" dirty="0"/>
              <a:t>The capability provided to the consumer is to provision processing, storage, networks, and other fundamental computing resources</a:t>
            </a:r>
          </a:p>
          <a:p>
            <a:r>
              <a:rPr lang="en-US" dirty="0"/>
              <a:t>The consumer does not control the underlying infrastructure but has control over OS, storage, deployed applications, and possibly limited control of select networking components.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3D42E-4E9F-4372-4B8D-C0273EA5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B719-7A71-07C3-7751-3ABB3010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AB0F-C7D4-39EA-83E8-2B74321A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FA59-FF95-9F94-4524-0AF9FF586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Usually, billed based on usage</a:t>
            </a:r>
          </a:p>
          <a:p>
            <a:r>
              <a:rPr lang="en-US" dirty="0"/>
              <a:t>Usually, multi tenant virtualized environment</a:t>
            </a:r>
          </a:p>
          <a:p>
            <a:r>
              <a:rPr lang="en-US" dirty="0"/>
              <a:t>Can be coupled with Managed Services for OS and application support</a:t>
            </a:r>
          </a:p>
          <a:p>
            <a:r>
              <a:rPr lang="en-US" dirty="0"/>
              <a:t>Examples :</a:t>
            </a:r>
          </a:p>
          <a:p>
            <a:pPr lvl="1"/>
            <a:r>
              <a:rPr lang="en-US" dirty="0"/>
              <a:t>Amazon EC2</a:t>
            </a:r>
          </a:p>
          <a:p>
            <a:pPr lvl="1"/>
            <a:r>
              <a:rPr lang="en-US" dirty="0" err="1"/>
              <a:t>Eucalyputs</a:t>
            </a:r>
            <a:endParaRPr lang="en-US" dirty="0"/>
          </a:p>
          <a:p>
            <a:pPr lvl="1"/>
            <a:r>
              <a:rPr lang="en-US" dirty="0" err="1"/>
              <a:t>OpenNebula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44770-BA5F-C3B3-9257-E12F6C999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7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5AF70CF-E81E-4F37-9DDD-B50FAEFF07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71868" y="2017713"/>
            <a:ext cx="6665740" cy="4186553"/>
          </a:xfr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4160F-0374-7D82-24C5-F8B429A7A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Enabling technique - Virtualization</a:t>
            </a:r>
          </a:p>
          <a:p>
            <a:pPr lvl="1"/>
            <a:r>
              <a:rPr lang="en-US" dirty="0"/>
              <a:t>Virtualization is an abstraction of logical resources away from underlying physical resources.</a:t>
            </a:r>
          </a:p>
          <a:p>
            <a:pPr lvl="2"/>
            <a:r>
              <a:rPr lang="en-US" dirty="0"/>
              <a:t>Virtualization technique shift OS onto hypervisor.</a:t>
            </a:r>
          </a:p>
          <a:p>
            <a:pPr lvl="2"/>
            <a:r>
              <a:rPr lang="en-US" dirty="0"/>
              <a:t>Multiple OS share the physical hardware and provide different services.</a:t>
            </a:r>
          </a:p>
          <a:p>
            <a:pPr lvl="2"/>
            <a:r>
              <a:rPr lang="en-US" dirty="0"/>
              <a:t>Improve utilization, availability, security and convenience.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95A78-5137-8FA8-DEFD-EA668D505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95A78-5137-8FA8-DEFD-EA668D505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A7EBFA9A-BEB6-C304-78F9-28CE913F79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0610" y="2709721"/>
            <a:ext cx="3318934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1C9A251-4A39-7E44-6EAE-CFD332B13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1301" y="2709721"/>
            <a:ext cx="3276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EA85772C-6D50-AA23-5309-CE77CEFBA752}"/>
              </a:ext>
            </a:extLst>
          </p:cNvPr>
          <p:cNvSpPr/>
          <p:nvPr/>
        </p:nvSpPr>
        <p:spPr bwMode="auto">
          <a:xfrm>
            <a:off x="6040631" y="2322248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C00000"/>
                </a:solidFill>
                <a:latin typeface="Cambria" pitchFamily="18" charset="0"/>
              </a:rPr>
              <a:t>VM1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7389301-931B-3095-A1BA-BD2DC2D6AD85}"/>
              </a:ext>
            </a:extLst>
          </p:cNvPr>
          <p:cNvSpPr/>
          <p:nvPr/>
        </p:nvSpPr>
        <p:spPr bwMode="auto">
          <a:xfrm>
            <a:off x="7151851" y="2312916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C00000"/>
                </a:solidFill>
                <a:latin typeface="Cambria" pitchFamily="18" charset="0"/>
              </a:rPr>
              <a:t>VM2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F3CD24A-377C-ED00-8841-FC960AA6EB9A}"/>
              </a:ext>
            </a:extLst>
          </p:cNvPr>
          <p:cNvSpPr/>
          <p:nvPr/>
        </p:nvSpPr>
        <p:spPr bwMode="auto">
          <a:xfrm>
            <a:off x="8256214" y="2312917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C00000"/>
                </a:solidFill>
                <a:latin typeface="Cambria" pitchFamily="18" charset="0"/>
              </a:rPr>
              <a:t>VM3</a:t>
            </a:r>
          </a:p>
        </p:txBody>
      </p:sp>
    </p:spTree>
    <p:extLst>
      <p:ext uri="{BB962C8B-B14F-4D97-AF65-F5344CB8AC3E}">
        <p14:creationId xmlns:p14="http://schemas.microsoft.com/office/powerpoint/2010/main" val="3483246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Infrastructure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Properties supported by virtualization technique :</a:t>
            </a:r>
          </a:p>
          <a:p>
            <a:pPr lvl="1"/>
            <a:r>
              <a:rPr lang="en-US" dirty="0"/>
              <a:t>Manageability and Interoperability</a:t>
            </a:r>
          </a:p>
          <a:p>
            <a:pPr lvl="1"/>
            <a:r>
              <a:rPr lang="en-US" dirty="0"/>
              <a:t>Availability and Reliability</a:t>
            </a:r>
          </a:p>
          <a:p>
            <a:pPr lvl="1"/>
            <a:r>
              <a:rPr lang="en-US" dirty="0"/>
              <a:t>Scalability and Elasticity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1D1D6-5D81-9B58-DECB-EE9ACE2A3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558F-592F-C6AD-AB62-1C44FC89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 - Summary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B0B1-8F5D-0BBE-8976-0B5399225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On demand computing resources</a:t>
            </a:r>
          </a:p>
          <a:p>
            <a:pPr lvl="1"/>
            <a:r>
              <a:rPr lang="en-US" sz="2000" dirty="0"/>
              <a:t>Eliminate the need of far ahead planning</a:t>
            </a:r>
          </a:p>
          <a:p>
            <a:r>
              <a:rPr lang="en-US" sz="2400" dirty="0"/>
              <a:t>No up-front commitment</a:t>
            </a:r>
          </a:p>
          <a:p>
            <a:pPr lvl="1"/>
            <a:r>
              <a:rPr lang="en-US" sz="2000" dirty="0"/>
              <a:t>Start small and grow as required</a:t>
            </a:r>
          </a:p>
          <a:p>
            <a:pPr lvl="1"/>
            <a:r>
              <a:rPr lang="en-US" sz="2000" dirty="0"/>
              <a:t>No physical contract, Only credit card!</a:t>
            </a:r>
          </a:p>
          <a:p>
            <a:r>
              <a:rPr lang="en-US" sz="2400" dirty="0"/>
              <a:t>Pay for what you use</a:t>
            </a:r>
          </a:p>
          <a:p>
            <a:r>
              <a:rPr lang="en-US" sz="2400" dirty="0"/>
              <a:t>No maintenance </a:t>
            </a:r>
          </a:p>
          <a:p>
            <a:r>
              <a:rPr lang="en-US" sz="2400" dirty="0"/>
              <a:t>Measured service</a:t>
            </a:r>
          </a:p>
          <a:p>
            <a:r>
              <a:rPr lang="en-US" sz="2400" dirty="0"/>
              <a:t>Scalability</a:t>
            </a:r>
          </a:p>
          <a:p>
            <a:r>
              <a:rPr lang="en-US" sz="2400" dirty="0"/>
              <a:t>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AD2CA-E85E-ABC5-D0FE-36C3BC6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898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Platform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PaaS provides development &amp; deployment tools, etc.</a:t>
            </a:r>
          </a:p>
          <a:p>
            <a:r>
              <a:rPr lang="en-US" dirty="0"/>
              <a:t>PaaS provides all of the facilities required to support the complete life cycle of building and delivering web applications and services entirely from the Internet.</a:t>
            </a:r>
          </a:p>
          <a:p>
            <a:r>
              <a:rPr lang="en-US" dirty="0"/>
              <a:t>Typically applications must be developed with a particular platform in mind. </a:t>
            </a:r>
          </a:p>
          <a:p>
            <a:r>
              <a:rPr lang="en-US" dirty="0"/>
              <a:t>Multi tenant environments</a:t>
            </a:r>
          </a:p>
          <a:p>
            <a:r>
              <a:rPr lang="en-US" dirty="0"/>
              <a:t>Highly scalable multi tier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EE55-92F7-6140-9008-812E1C22D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CA68C-16A7-5770-1DBC-1AF5163A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A98D-A02C-5ABE-0B31-A78DD79B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Platform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5253-EAD4-C8E3-8F9D-C554BA021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the consumer is to deploy consumer-created applications and tools supported by the provider on the cloud.</a:t>
            </a:r>
          </a:p>
          <a:p>
            <a:r>
              <a:rPr lang="en-US" dirty="0"/>
              <a:t>The consumer does not manage or control the underlying cloud infrastructure including network, servers, OS, or storage</a:t>
            </a:r>
          </a:p>
          <a:p>
            <a:pPr lvl="1"/>
            <a:r>
              <a:rPr lang="en-US" dirty="0"/>
              <a:t>Only has control over the deployed applications</a:t>
            </a:r>
          </a:p>
          <a:p>
            <a:r>
              <a:rPr lang="en-US" dirty="0"/>
              <a:t>Examples :</a:t>
            </a:r>
          </a:p>
          <a:p>
            <a:pPr lvl="1"/>
            <a:r>
              <a:rPr lang="en-US" dirty="0"/>
              <a:t>Microsoft Windows Azure</a:t>
            </a:r>
          </a:p>
          <a:p>
            <a:pPr lvl="1"/>
            <a:r>
              <a:rPr lang="en-US" dirty="0"/>
              <a:t>Google App Engine</a:t>
            </a:r>
          </a:p>
          <a:p>
            <a:pPr lvl="1"/>
            <a:r>
              <a:rPr lang="en-US" dirty="0"/>
              <a:t>Hadoop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35C42-FE3C-94F3-047E-931DDA069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05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Platform as a Service</a:t>
            </a:r>
          </a:p>
        </p:txBody>
      </p:sp>
      <p:pic>
        <p:nvPicPr>
          <p:cNvPr id="7" name="Picture 3" descr="A diagram of software development&#10;&#10;Description automatically generated">
            <a:extLst>
              <a:ext uri="{FF2B5EF4-FFF2-40B4-BE49-F238E27FC236}">
                <a16:creationId xmlns:a16="http://schemas.microsoft.com/office/drawing/2014/main" id="{D107A2B5-70A6-41D3-988C-0EE402505C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777316" y="1368198"/>
            <a:ext cx="6780700" cy="4119274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40ECE4-4B53-B23B-2F5A-E2630968C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36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Platform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/>
          <a:p>
            <a:r>
              <a:rPr lang="en-US" dirty="0"/>
              <a:t>Enabling technique – Runtime Environment Design</a:t>
            </a:r>
          </a:p>
          <a:p>
            <a:pPr lvl="1"/>
            <a:r>
              <a:rPr lang="en-US" dirty="0"/>
              <a:t>It refers to collection of software services available. Usually implemented by a collection of program libraries.</a:t>
            </a:r>
          </a:p>
          <a:p>
            <a:r>
              <a:rPr lang="en-US" dirty="0"/>
              <a:t>Common properties in Runtime Environment :</a:t>
            </a:r>
          </a:p>
          <a:p>
            <a:pPr lvl="1"/>
            <a:r>
              <a:rPr lang="en-US" dirty="0"/>
              <a:t>Manageability and Interoperability</a:t>
            </a:r>
          </a:p>
          <a:p>
            <a:pPr lvl="1"/>
            <a:r>
              <a:rPr lang="en-US" dirty="0"/>
              <a:t>Performance and Optimization</a:t>
            </a:r>
          </a:p>
          <a:p>
            <a:pPr lvl="1"/>
            <a:r>
              <a:rPr lang="en-US" dirty="0"/>
              <a:t>Availability and Reliability</a:t>
            </a:r>
          </a:p>
          <a:p>
            <a:pPr lvl="1"/>
            <a:r>
              <a:rPr lang="en-US" dirty="0"/>
              <a:t>Scalability and Elasticity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A4855-9DC5-7771-18F2-5C266FD5C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 err="1"/>
              <a:t>PaaS</a:t>
            </a:r>
            <a:r>
              <a:rPr lang="en-US" dirty="0"/>
              <a:t>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PaaS is the development platform that abstract the infrastructure, OS, and middleware to drive developer productivity.</a:t>
            </a:r>
          </a:p>
          <a:p>
            <a:r>
              <a:rPr lang="en-US" dirty="0" err="1"/>
              <a:t>PaaS</a:t>
            </a:r>
            <a:r>
              <a:rPr lang="en-US" dirty="0"/>
              <a:t> enabling technique</a:t>
            </a:r>
          </a:p>
          <a:p>
            <a:pPr lvl="1"/>
            <a:r>
              <a:rPr lang="en-US" dirty="0"/>
              <a:t>Runtime Environment</a:t>
            </a:r>
          </a:p>
          <a:p>
            <a:r>
              <a:rPr lang="en-US" dirty="0" err="1"/>
              <a:t>PaaS</a:t>
            </a:r>
            <a:r>
              <a:rPr lang="en-US" dirty="0"/>
              <a:t> provide services</a:t>
            </a:r>
          </a:p>
          <a:p>
            <a:pPr lvl="1"/>
            <a:r>
              <a:rPr lang="en-US" dirty="0"/>
              <a:t>Programming IDE</a:t>
            </a:r>
          </a:p>
          <a:p>
            <a:pPr lvl="2"/>
            <a:r>
              <a:rPr lang="en-US" dirty="0"/>
              <a:t>Programming APIs</a:t>
            </a:r>
          </a:p>
          <a:p>
            <a:pPr lvl="2"/>
            <a:r>
              <a:rPr lang="en-US" dirty="0"/>
              <a:t>Development tools</a:t>
            </a:r>
          </a:p>
          <a:p>
            <a:pPr lvl="1"/>
            <a:r>
              <a:rPr lang="en-US" dirty="0"/>
              <a:t>System Control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4B47C-898A-F931-2B72-3E7F5223A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Software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SaaS model allows to use software applications as a service to end users. </a:t>
            </a:r>
          </a:p>
          <a:p>
            <a:r>
              <a:rPr lang="en-US" dirty="0"/>
              <a:t>SaaS is a software delivery methodology that provides licensed multi-tenant access to software and its functions remotely as a Web-based service. </a:t>
            </a:r>
          </a:p>
          <a:p>
            <a:r>
              <a:rPr lang="en-US" dirty="0"/>
              <a:t>Usually, billed based on usage </a:t>
            </a:r>
          </a:p>
          <a:p>
            <a:r>
              <a:rPr lang="en-US" dirty="0"/>
              <a:t>Usually, multi tenant environment </a:t>
            </a:r>
          </a:p>
          <a:p>
            <a:r>
              <a:rPr lang="en-US" dirty="0"/>
              <a:t>Highly scalable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5C8E8-C44E-8AD7-0DCE-2B9741943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0813-F8A4-7AAD-50A8-581DC0D4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B1671-D5B2-4A73-0D72-77F11469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Software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5441-CF32-7917-78E1-3979B1493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Allows use of provider’s applications on a cloud infrastructure. </a:t>
            </a:r>
          </a:p>
          <a:p>
            <a:pPr lvl="1"/>
            <a:r>
              <a:rPr lang="en-US" dirty="0"/>
              <a:t>The applications are accessible from various client devices through a thin client interface such as a web browser.</a:t>
            </a:r>
          </a:p>
          <a:p>
            <a:r>
              <a:rPr lang="en-US" dirty="0"/>
              <a:t>The consumer does not manage or control the underlying cloud infrastructure including network, servers, OS, storage, or even individual application capabilities</a:t>
            </a:r>
          </a:p>
          <a:p>
            <a:pPr lvl="1"/>
            <a:r>
              <a:rPr lang="en-US" dirty="0"/>
              <a:t>with the possible exception of limited user-specific application configuration settings.</a:t>
            </a:r>
          </a:p>
          <a:p>
            <a:r>
              <a:rPr lang="en-US" dirty="0"/>
              <a:t>Examples :</a:t>
            </a:r>
          </a:p>
          <a:p>
            <a:pPr lvl="1"/>
            <a:r>
              <a:rPr lang="en-US" dirty="0"/>
              <a:t>Google Apps (e.g., Gmail, Google Docs, Google sites, …etc)</a:t>
            </a:r>
          </a:p>
          <a:p>
            <a:pPr lvl="1"/>
            <a:r>
              <a:rPr lang="en-US" dirty="0"/>
              <a:t>SalesForce.com</a:t>
            </a:r>
          </a:p>
          <a:p>
            <a:pPr lvl="1"/>
            <a:r>
              <a:rPr lang="en-US" dirty="0" err="1"/>
              <a:t>EyeOS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F34BA-F47C-E4DB-8736-1AE6DFC6F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02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Software as a Service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0D74ED6-E236-49D7-B5A0-37705859DB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71800" y="1706563"/>
            <a:ext cx="5560429" cy="4421274"/>
          </a:xfr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97DC9-A09C-B635-FFF4-E18560D47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Software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Enabling Technique – Web Service</a:t>
            </a:r>
          </a:p>
          <a:p>
            <a:pPr lvl="1"/>
            <a:r>
              <a:rPr lang="en-US" dirty="0"/>
              <a:t>Viewing the Internet as a computing platform</a:t>
            </a:r>
          </a:p>
          <a:p>
            <a:pPr lvl="1"/>
            <a:r>
              <a:rPr lang="en-US" dirty="0"/>
              <a:t>Running interactive applications through a web browser</a:t>
            </a:r>
          </a:p>
          <a:p>
            <a:pPr lvl="1"/>
            <a:r>
              <a:rPr lang="en-US" dirty="0"/>
              <a:t>Leveraging interconnectivity and mobility of devices</a:t>
            </a:r>
          </a:p>
          <a:p>
            <a:pPr lvl="1"/>
            <a:r>
              <a:rPr lang="en-US" dirty="0"/>
              <a:t>Enhanced effectiveness with greater human participation</a:t>
            </a:r>
          </a:p>
          <a:p>
            <a:r>
              <a:rPr lang="en-US" dirty="0"/>
              <a:t>Properties provided by Internet :</a:t>
            </a:r>
          </a:p>
          <a:p>
            <a:pPr lvl="1"/>
            <a:r>
              <a:rPr lang="en-US" dirty="0"/>
              <a:t>Accessibility and Portability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25CC-FFA6-4791-A637-5AC6A703C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 err="1"/>
              <a:t>SaaS</a:t>
            </a:r>
            <a:r>
              <a:rPr lang="en-US" dirty="0"/>
              <a:t>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SaaS is the finished applications that you rent and customize.</a:t>
            </a:r>
          </a:p>
          <a:p>
            <a:r>
              <a:rPr lang="en-US" dirty="0"/>
              <a:t>SaaS enabling technique</a:t>
            </a:r>
          </a:p>
          <a:p>
            <a:pPr lvl="1"/>
            <a:r>
              <a:rPr lang="en-US" dirty="0"/>
              <a:t>Web Service</a:t>
            </a:r>
          </a:p>
          <a:p>
            <a:r>
              <a:rPr lang="en-US" dirty="0" err="1"/>
              <a:t>SaaS</a:t>
            </a:r>
            <a:r>
              <a:rPr lang="en-US" dirty="0"/>
              <a:t> provide services</a:t>
            </a:r>
          </a:p>
          <a:p>
            <a:pPr lvl="1"/>
            <a:r>
              <a:rPr lang="en-US" dirty="0"/>
              <a:t>Web-based Applications</a:t>
            </a:r>
          </a:p>
          <a:p>
            <a:pPr lvl="2"/>
            <a:r>
              <a:rPr lang="en-US" dirty="0"/>
              <a:t>General applications</a:t>
            </a:r>
          </a:p>
          <a:p>
            <a:pPr lvl="2"/>
            <a:r>
              <a:rPr lang="en-US" dirty="0"/>
              <a:t>Business applications</a:t>
            </a:r>
          </a:p>
          <a:p>
            <a:pPr lvl="2"/>
            <a:r>
              <a:rPr lang="en-US" dirty="0"/>
              <a:t>Scientific applications</a:t>
            </a:r>
          </a:p>
          <a:p>
            <a:pPr lvl="2"/>
            <a:r>
              <a:rPr lang="en-US" dirty="0"/>
              <a:t>Government applications</a:t>
            </a:r>
          </a:p>
          <a:p>
            <a:pPr lvl="1"/>
            <a:r>
              <a:rPr lang="en-US" dirty="0"/>
              <a:t>Web Portal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949D0-0951-713F-BDE1-E3AC28526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1F29B-4A65-46F6-AA2F-9771A6DE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Market</a:t>
            </a:r>
          </a:p>
        </p:txBody>
      </p:sp>
      <p:pic>
        <p:nvPicPr>
          <p:cNvPr id="1026" name="Picture 2" descr="Cloud Computing Market Size, Share | CAGR of 16.8%">
            <a:extLst>
              <a:ext uri="{FF2B5EF4-FFF2-40B4-BE49-F238E27FC236}">
                <a16:creationId xmlns:a16="http://schemas.microsoft.com/office/drawing/2014/main" id="{2F4E4F51-4F9C-6085-8D93-E20E1C7CF5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7393" y="1461432"/>
            <a:ext cx="6780700" cy="39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05EF3-E12C-541B-AC89-A2A5622BA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44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43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Cloud 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Public Cloud</a:t>
            </a:r>
          </a:p>
          <a:p>
            <a:r>
              <a:rPr lang="en-US" dirty="0"/>
              <a:t>Private Cloud</a:t>
            </a:r>
          </a:p>
          <a:p>
            <a:r>
              <a:rPr lang="en-US" dirty="0"/>
              <a:t>Community Cloud</a:t>
            </a:r>
          </a:p>
          <a:p>
            <a:r>
              <a:rPr lang="en-US" dirty="0"/>
              <a:t>Hybrid Cloud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can exhibit the all the discussed characteristics</a:t>
            </a:r>
          </a:p>
          <a:p>
            <a:r>
              <a:rPr lang="en-US" dirty="0"/>
              <a:t>Differences is basically in the scope and access of published cloud services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13985-D732-CFF8-0201-96790FC56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33E4E-9F29-0349-DBD5-259497DF55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9662" y="1656867"/>
            <a:ext cx="4994112" cy="23243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Deployment Models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11B74A-7DF7-0F2B-7E22-5FE14C45D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3687" y="2017713"/>
            <a:ext cx="6536631" cy="350110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13985-D732-CFF8-0201-96790FC56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076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Public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Available to the public or a large industry group and is owned by an organization selling cloud services.</a:t>
            </a:r>
          </a:p>
          <a:p>
            <a:r>
              <a:rPr lang="en-US" dirty="0"/>
              <a:t>Also known as external cloud or multi-tenant cloud, this model essentially represents a cloud environment that is openly accessible.</a:t>
            </a:r>
          </a:p>
          <a:p>
            <a:r>
              <a:rPr lang="en-US" dirty="0"/>
              <a:t>Basic characteristics :</a:t>
            </a:r>
          </a:p>
          <a:p>
            <a:pPr lvl="1"/>
            <a:r>
              <a:rPr lang="en-US" dirty="0"/>
              <a:t>Homogeneous infrastructure</a:t>
            </a:r>
          </a:p>
          <a:p>
            <a:pPr lvl="1"/>
            <a:r>
              <a:rPr lang="en-US" dirty="0"/>
              <a:t>Common policies</a:t>
            </a:r>
          </a:p>
          <a:p>
            <a:pPr lvl="1"/>
            <a:r>
              <a:rPr lang="en-US" dirty="0"/>
              <a:t>Shared resources and multi-tenant</a:t>
            </a:r>
          </a:p>
          <a:p>
            <a:pPr lvl="1"/>
            <a:r>
              <a:rPr lang="en-US" dirty="0"/>
              <a:t>Leased or rented infrastructure</a:t>
            </a:r>
          </a:p>
          <a:p>
            <a:pPr lvl="1"/>
            <a:r>
              <a:rPr lang="en-US" dirty="0"/>
              <a:t>Economies of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C9052-F326-41F0-7BD6-833B88415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5431-2D41-F632-6ED0-98BAE9EA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Cloud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0E9B5-22FF-4794-B90F-3E2A79CF1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17AE91-55F3-8D57-0C6C-C42664F1F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4397" y="2192365"/>
            <a:ext cx="7605419" cy="3017782"/>
          </a:xfrm>
        </p:spPr>
      </p:pic>
    </p:spTree>
    <p:extLst>
      <p:ext uri="{BB962C8B-B14F-4D97-AF65-F5344CB8AC3E}">
        <p14:creationId xmlns:p14="http://schemas.microsoft.com/office/powerpoint/2010/main" val="38805215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Private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Operated solely for an organization. It may be managed by the organization or a third party and may exist on premise or off premise.</a:t>
            </a:r>
          </a:p>
          <a:p>
            <a:r>
              <a:rPr lang="en-US" dirty="0"/>
              <a:t>Also referred to as internal cloud or on-premise cloud, it intentionally limits access to its resources to service consumers that belong to the same organization that owns the cloud.</a:t>
            </a:r>
          </a:p>
          <a:p>
            <a:r>
              <a:rPr lang="en-US" dirty="0"/>
              <a:t>Basic characteristics :</a:t>
            </a:r>
          </a:p>
          <a:p>
            <a:pPr lvl="1"/>
            <a:r>
              <a:rPr lang="en-US" dirty="0"/>
              <a:t>Heterogeneous infrastructure</a:t>
            </a:r>
          </a:p>
          <a:p>
            <a:pPr lvl="1"/>
            <a:r>
              <a:rPr lang="en-US" dirty="0"/>
              <a:t>Customized and tailored policies</a:t>
            </a:r>
          </a:p>
          <a:p>
            <a:pPr lvl="1"/>
            <a:r>
              <a:rPr lang="en-US" dirty="0"/>
              <a:t>Dedicated resources</a:t>
            </a:r>
          </a:p>
          <a:p>
            <a:pPr lvl="1"/>
            <a:r>
              <a:rPr lang="en-US" dirty="0"/>
              <a:t>In-house infrastructure</a:t>
            </a:r>
          </a:p>
          <a:p>
            <a:pPr lvl="1"/>
            <a:r>
              <a:rPr lang="en-US" dirty="0"/>
              <a:t>End-to-end control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3CAC3-5785-13A1-9847-C424E7CBA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23F1-9516-CC95-062F-FF794D88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Cloud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D1EE4-0D7F-0C42-2062-F84520680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4985A9A-EB3F-03A1-29F0-1F0DC7B74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1552" y="2283813"/>
            <a:ext cx="7491109" cy="2834886"/>
          </a:xfrm>
        </p:spPr>
      </p:pic>
    </p:spTree>
    <p:extLst>
      <p:ext uri="{BB962C8B-B14F-4D97-AF65-F5344CB8AC3E}">
        <p14:creationId xmlns:p14="http://schemas.microsoft.com/office/powerpoint/2010/main" val="2699089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76F3-3FC9-C177-0233-5E640C00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vs. Private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9FDA9-1F85-D462-5563-D2F3D1B8D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1026" name="Picture 2" descr="Step-By-Step Guide to Building a Private Cloud">
            <a:extLst>
              <a:ext uri="{FF2B5EF4-FFF2-40B4-BE49-F238E27FC236}">
                <a16:creationId xmlns:a16="http://schemas.microsoft.com/office/drawing/2014/main" id="{A391A2E5-4405-D5D5-DD29-9CAE6C4D13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0061" y="2017713"/>
            <a:ext cx="6168666" cy="374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8514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>
            <a:normAutofit/>
          </a:bodyPr>
          <a:lstStyle/>
          <a:p>
            <a:r>
              <a:rPr lang="en-US" dirty="0"/>
              <a:t>Community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rmAutofit fontScale="92500"/>
          </a:bodyPr>
          <a:lstStyle/>
          <a:p>
            <a:r>
              <a:rPr lang="en-US" dirty="0"/>
              <a:t>The cloud infrastructure is shared by several organizations and supports a specific community that has shared concerns </a:t>
            </a:r>
          </a:p>
          <a:p>
            <a:r>
              <a:rPr lang="en-US" dirty="0"/>
              <a:t>These community, or multi-tenant, cloud models work best if each participating organization has similar security, privacy, storage, and other performance requirements. </a:t>
            </a:r>
          </a:p>
          <a:p>
            <a:r>
              <a:rPr lang="en-US" dirty="0"/>
              <a:t>In addition, partners can participate in joint projects and share the costs and tasks of implementation and maintenance.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F869E-82D5-E3EA-4853-00025B19D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F4FA-31E6-020E-06A8-93222A7D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Cloud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37A3-BE53-35E9-6608-58F24F943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8166B3A-F5D3-81FD-4865-84B27DD3C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2466" y="2211417"/>
            <a:ext cx="7849280" cy="2979678"/>
          </a:xfrm>
        </p:spPr>
      </p:pic>
    </p:spTree>
    <p:extLst>
      <p:ext uri="{BB962C8B-B14F-4D97-AF65-F5344CB8AC3E}">
        <p14:creationId xmlns:p14="http://schemas.microsoft.com/office/powerpoint/2010/main" val="13764431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Hybrid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/>
          <a:lstStyle/>
          <a:p>
            <a:r>
              <a:rPr lang="en-US" dirty="0"/>
              <a:t>The cloud infrastructure is a composition of two or more clouds (private, community, or public) that remain unique entities but are bound together by standardized or proprietary technology that enables data and application</a:t>
            </a:r>
            <a:br>
              <a:rPr lang="en-US" dirty="0"/>
            </a:br>
            <a:r>
              <a:rPr lang="en-US" dirty="0"/>
              <a:t>portability </a:t>
            </a:r>
          </a:p>
          <a:p>
            <a:pPr lvl="1"/>
            <a:r>
              <a:rPr lang="en-US" dirty="0"/>
              <a:t>For example, cloud bursting for load-balancing between</a:t>
            </a:r>
            <a:br>
              <a:rPr lang="en-US" dirty="0"/>
            </a:br>
            <a:r>
              <a:rPr lang="en-US" dirty="0"/>
              <a:t>clouds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8E259-8F03-8E9D-1F69-BD7B1276C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C38D-7160-B12B-3AB2-A7F72A94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E1C0A-E65B-EFBA-AB38-313B2725B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6AD0E9C-78EE-EB18-E82D-18A9F85CB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8673" y="2203796"/>
            <a:ext cx="7696867" cy="2994920"/>
          </a:xfrm>
        </p:spPr>
      </p:pic>
    </p:spTree>
    <p:extLst>
      <p:ext uri="{BB962C8B-B14F-4D97-AF65-F5344CB8AC3E}">
        <p14:creationId xmlns:p14="http://schemas.microsoft.com/office/powerpoint/2010/main" val="4043090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C646-A7FC-C091-EC0D-580F6A6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7EBBC0-E8E1-0718-3CDF-DEFB856B4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6122" y="1918322"/>
            <a:ext cx="7066722" cy="38702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D46C5-AFAE-178D-3AE8-D442DBEBC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71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altLang="zh-TW" dirty="0"/>
              <a:t>Cloud Ecosystem</a:t>
            </a:r>
            <a:endParaRPr lang="zh-TW" alt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FFB1D7A-8566-475B-8D2A-76A7039EE1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0582" y="2017713"/>
            <a:ext cx="4735888" cy="3930974"/>
          </a:xfr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55C65-AE72-0601-0008-6FE1660A1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C465B7-820B-4DEA-AB4B-5167C1BE9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1113</TotalTime>
  <Words>2340</Words>
  <Application>Microsoft Office PowerPoint</Application>
  <PresentationFormat>Widescreen</PresentationFormat>
  <Paragraphs>362</Paragraphs>
  <Slides>57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-apple-system</vt:lpstr>
      <vt:lpstr>Arial</vt:lpstr>
      <vt:lpstr>Calibri</vt:lpstr>
      <vt:lpstr>Cambria</vt:lpstr>
      <vt:lpstr>Google Sans</vt:lpstr>
      <vt:lpstr>Tahoma</vt:lpstr>
      <vt:lpstr>Tenorite</vt:lpstr>
      <vt:lpstr>Wingdings</vt:lpstr>
      <vt:lpstr>Office Theme</vt:lpstr>
      <vt:lpstr>Cloud Computing Characteristics, Service Models &amp; Deployment Models</vt:lpstr>
      <vt:lpstr>Agenda</vt:lpstr>
      <vt:lpstr>Characteristics</vt:lpstr>
      <vt:lpstr>Scalability &amp; Elasticity</vt:lpstr>
      <vt:lpstr>Dynamic Provisioning</vt:lpstr>
      <vt:lpstr>Multi-tenant Design</vt:lpstr>
      <vt:lpstr>Availability &amp; Reliability</vt:lpstr>
      <vt:lpstr>Manageability &amp; Interoperability</vt:lpstr>
      <vt:lpstr>Billing System</vt:lpstr>
      <vt:lpstr>Performance &amp; Optimization</vt:lpstr>
      <vt:lpstr>Parallel Processing</vt:lpstr>
      <vt:lpstr>Parallel Processing</vt:lpstr>
      <vt:lpstr>Load Balancing</vt:lpstr>
      <vt:lpstr>Job Scheduling</vt:lpstr>
      <vt:lpstr>Accessibility &amp; Portability</vt:lpstr>
      <vt:lpstr>Uniform Access</vt:lpstr>
      <vt:lpstr>Thin Client</vt:lpstr>
      <vt:lpstr>Service Models</vt:lpstr>
      <vt:lpstr>A Simple Analogy</vt:lpstr>
      <vt:lpstr>Options to chose from</vt:lpstr>
      <vt:lpstr>Cloud Computing Stack</vt:lpstr>
      <vt:lpstr>Service Models Overview</vt:lpstr>
      <vt:lpstr>Services of Cloud</vt:lpstr>
      <vt:lpstr>Services of Cloud</vt:lpstr>
      <vt:lpstr>Services of Cloud</vt:lpstr>
      <vt:lpstr>Service Model Overview</vt:lpstr>
      <vt:lpstr>Infrastructure as a Service</vt:lpstr>
      <vt:lpstr>Infrastructure as a Service</vt:lpstr>
      <vt:lpstr>Infrastructure as a Service</vt:lpstr>
      <vt:lpstr>Infrastructure as a Service</vt:lpstr>
      <vt:lpstr>Infrastructure as a Service</vt:lpstr>
      <vt:lpstr>Infrastructure as a Service</vt:lpstr>
      <vt:lpstr>IaaS - Summary</vt:lpstr>
      <vt:lpstr>Platform as a Service</vt:lpstr>
      <vt:lpstr>Platform as a Service</vt:lpstr>
      <vt:lpstr>Platform as a Service</vt:lpstr>
      <vt:lpstr>Platform as a Service</vt:lpstr>
      <vt:lpstr>PaaS - Summary</vt:lpstr>
      <vt:lpstr>Software as a Service</vt:lpstr>
      <vt:lpstr>Software as a Service</vt:lpstr>
      <vt:lpstr>Software as a Service</vt:lpstr>
      <vt:lpstr>Software as a Service</vt:lpstr>
      <vt:lpstr>SaaS - Summary</vt:lpstr>
      <vt:lpstr>Cloud Market</vt:lpstr>
      <vt:lpstr>Cloud Deployment Models</vt:lpstr>
      <vt:lpstr>Deployment Models</vt:lpstr>
      <vt:lpstr>Public Cloud</vt:lpstr>
      <vt:lpstr>Public Cloud</vt:lpstr>
      <vt:lpstr>Private Cloud</vt:lpstr>
      <vt:lpstr>Private Cloud</vt:lpstr>
      <vt:lpstr>Public vs. Private</vt:lpstr>
      <vt:lpstr>Community Cloud</vt:lpstr>
      <vt:lpstr>Community Cloud</vt:lpstr>
      <vt:lpstr>Hybrid Cloud</vt:lpstr>
      <vt:lpstr>Hybrid Cloud</vt:lpstr>
      <vt:lpstr>Comparison</vt:lpstr>
      <vt:lpstr>Cloud Ecosystem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Normal</dc:creator>
  <cp:lastModifiedBy>Pardeep Kumar</cp:lastModifiedBy>
  <cp:revision>59</cp:revision>
  <dcterms:created xsi:type="dcterms:W3CDTF">2023-11-23T05:04:00Z</dcterms:created>
  <dcterms:modified xsi:type="dcterms:W3CDTF">2024-11-05T17:58:49Z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