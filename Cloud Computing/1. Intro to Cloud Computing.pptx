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3"/>
  </p:notesMasterIdLst>
  <p:sldIdLst>
    <p:sldId id="256" r:id="rId5"/>
    <p:sldId id="257" r:id="rId6"/>
    <p:sldId id="316" r:id="rId7"/>
    <p:sldId id="317" r:id="rId8"/>
    <p:sldId id="277" r:id="rId9"/>
    <p:sldId id="319" r:id="rId10"/>
    <p:sldId id="320" r:id="rId11"/>
    <p:sldId id="312" r:id="rId12"/>
    <p:sldId id="263" r:id="rId13"/>
    <p:sldId id="322" r:id="rId14"/>
    <p:sldId id="323" r:id="rId15"/>
    <p:sldId id="324" r:id="rId16"/>
    <p:sldId id="412" r:id="rId17"/>
    <p:sldId id="409" r:id="rId18"/>
    <p:sldId id="310" r:id="rId19"/>
    <p:sldId id="485" r:id="rId20"/>
    <p:sldId id="311" r:id="rId21"/>
    <p:sldId id="486" r:id="rId22"/>
    <p:sldId id="313" r:id="rId23"/>
    <p:sldId id="414" r:id="rId24"/>
    <p:sldId id="474" r:id="rId25"/>
    <p:sldId id="475" r:id="rId26"/>
    <p:sldId id="304" r:id="rId27"/>
    <p:sldId id="483" r:id="rId28"/>
    <p:sldId id="487" r:id="rId29"/>
    <p:sldId id="488" r:id="rId30"/>
    <p:sldId id="489" r:id="rId31"/>
    <p:sldId id="490" r:id="rId32"/>
    <p:sldId id="478" r:id="rId33"/>
    <p:sldId id="479" r:id="rId34"/>
    <p:sldId id="480" r:id="rId35"/>
    <p:sldId id="314" r:id="rId36"/>
    <p:sldId id="326" r:id="rId37"/>
    <p:sldId id="481" r:id="rId38"/>
    <p:sldId id="303" r:id="rId39"/>
    <p:sldId id="294" r:id="rId40"/>
    <p:sldId id="491" r:id="rId41"/>
    <p:sldId id="27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3969" autoAdjust="0"/>
  </p:normalViewPr>
  <p:slideViewPr>
    <p:cSldViewPr snapToGrid="0">
      <p:cViewPr varScale="1">
        <p:scale>
          <a:sx n="73" d="100"/>
          <a:sy n="73" d="100"/>
        </p:scale>
        <p:origin x="104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B7FDCB-D9CA-4596-9210-55E21F6C9C29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3DC6DDA1-15E4-4CDF-98D6-B45C7F8C3EF5}">
      <dgm:prSet phldrT="[Text]"/>
      <dgm:spPr/>
      <dgm:t>
        <a:bodyPr/>
        <a:lstStyle/>
        <a:p>
          <a:r>
            <a:rPr lang="en-US" b="1" dirty="0"/>
            <a:t>Utility Computing (1960s)</a:t>
          </a:r>
        </a:p>
      </dgm:t>
    </dgm:pt>
    <dgm:pt modelId="{CF865321-71AB-490C-A8B9-5AB8359448A9}" type="parTrans" cxnId="{4E3C42EE-5A65-4A98-A1C5-C7CA5765C69B}">
      <dgm:prSet/>
      <dgm:spPr/>
      <dgm:t>
        <a:bodyPr/>
        <a:lstStyle/>
        <a:p>
          <a:endParaRPr lang="en-US" b="1"/>
        </a:p>
      </dgm:t>
    </dgm:pt>
    <dgm:pt modelId="{58973D86-7CB8-4130-B21D-724FA3EA8413}" type="sibTrans" cxnId="{4E3C42EE-5A65-4A98-A1C5-C7CA5765C69B}">
      <dgm:prSet/>
      <dgm:spPr/>
      <dgm:t>
        <a:bodyPr/>
        <a:lstStyle/>
        <a:p>
          <a:endParaRPr lang="en-US" b="1"/>
        </a:p>
      </dgm:t>
    </dgm:pt>
    <dgm:pt modelId="{29AA73A3-40CF-47EC-B3C9-54E5BD521172}">
      <dgm:prSet phldrT="[Text]"/>
      <dgm:spPr/>
      <dgm:t>
        <a:bodyPr/>
        <a:lstStyle/>
        <a:p>
          <a:r>
            <a:rPr lang="en-US" b="1" dirty="0"/>
            <a:t>Cluster Computing (1960s)</a:t>
          </a:r>
        </a:p>
      </dgm:t>
    </dgm:pt>
    <dgm:pt modelId="{E76E1530-9FB8-4EB3-80CC-EED50E8C3749}" type="parTrans" cxnId="{D072D7BF-B37D-48A2-B64A-4DDF189161A9}">
      <dgm:prSet/>
      <dgm:spPr/>
      <dgm:t>
        <a:bodyPr/>
        <a:lstStyle/>
        <a:p>
          <a:endParaRPr lang="en-US" b="1"/>
        </a:p>
      </dgm:t>
    </dgm:pt>
    <dgm:pt modelId="{F8113294-BDAC-4404-9872-BE470E6CE079}" type="sibTrans" cxnId="{D072D7BF-B37D-48A2-B64A-4DDF189161A9}">
      <dgm:prSet/>
      <dgm:spPr/>
      <dgm:t>
        <a:bodyPr/>
        <a:lstStyle/>
        <a:p>
          <a:endParaRPr lang="en-US" b="1"/>
        </a:p>
      </dgm:t>
    </dgm:pt>
    <dgm:pt modelId="{683498A0-467D-4B7E-8077-15399D11E0B7}">
      <dgm:prSet phldrT="[Text]"/>
      <dgm:spPr/>
      <dgm:t>
        <a:bodyPr/>
        <a:lstStyle/>
        <a:p>
          <a:r>
            <a:rPr lang="en-US" b="1" dirty="0"/>
            <a:t>Grid Computing (1990s)</a:t>
          </a:r>
        </a:p>
      </dgm:t>
    </dgm:pt>
    <dgm:pt modelId="{F9C1C7B2-0863-4266-BE62-BD3F52C88581}" type="parTrans" cxnId="{EAE28E15-ED53-4D98-B747-5E27E428BF6A}">
      <dgm:prSet/>
      <dgm:spPr/>
      <dgm:t>
        <a:bodyPr/>
        <a:lstStyle/>
        <a:p>
          <a:endParaRPr lang="en-US" b="1"/>
        </a:p>
      </dgm:t>
    </dgm:pt>
    <dgm:pt modelId="{6139C487-F781-4AA0-B0AE-9D7B531AB102}" type="sibTrans" cxnId="{EAE28E15-ED53-4D98-B747-5E27E428BF6A}">
      <dgm:prSet/>
      <dgm:spPr/>
      <dgm:t>
        <a:bodyPr/>
        <a:lstStyle/>
        <a:p>
          <a:endParaRPr lang="en-US" b="1"/>
        </a:p>
      </dgm:t>
    </dgm:pt>
    <dgm:pt modelId="{CCC47447-A739-44DA-BAFD-912636594F57}">
      <dgm:prSet phldrT="[Text]"/>
      <dgm:spPr/>
      <dgm:t>
        <a:bodyPr/>
        <a:lstStyle/>
        <a:p>
          <a:r>
            <a:rPr lang="en-US" b="1" dirty="0"/>
            <a:t>Cloud Computing (2000s)</a:t>
          </a:r>
        </a:p>
      </dgm:t>
    </dgm:pt>
    <dgm:pt modelId="{05D1B5EB-FB4D-42E3-8E97-42201CF88C87}" type="parTrans" cxnId="{10828CBF-C864-4D5D-8629-7EE269973FF5}">
      <dgm:prSet/>
      <dgm:spPr/>
      <dgm:t>
        <a:bodyPr/>
        <a:lstStyle/>
        <a:p>
          <a:endParaRPr lang="en-US" b="1"/>
        </a:p>
      </dgm:t>
    </dgm:pt>
    <dgm:pt modelId="{32A0D729-BED1-4A79-8EAD-7705EF37D080}" type="sibTrans" cxnId="{10828CBF-C864-4D5D-8629-7EE269973FF5}">
      <dgm:prSet/>
      <dgm:spPr/>
      <dgm:t>
        <a:bodyPr/>
        <a:lstStyle/>
        <a:p>
          <a:endParaRPr lang="en-US" b="1"/>
        </a:p>
      </dgm:t>
    </dgm:pt>
    <dgm:pt modelId="{80C64D1A-FAA9-422A-8C09-41DE3CFF3026}">
      <dgm:prSet phldrT="[Text]"/>
      <dgm:spPr/>
      <dgm:t>
        <a:bodyPr/>
        <a:lstStyle/>
        <a:p>
          <a:r>
            <a:rPr lang="en-US" b="1" dirty="0"/>
            <a:t>Fog Computing (2012)</a:t>
          </a:r>
        </a:p>
      </dgm:t>
    </dgm:pt>
    <dgm:pt modelId="{941B8AC2-A44E-4CFA-84AA-406764C4551B}" type="parTrans" cxnId="{3BDD9D14-22F2-473E-8B34-C52AB63D3031}">
      <dgm:prSet/>
      <dgm:spPr/>
      <dgm:t>
        <a:bodyPr/>
        <a:lstStyle/>
        <a:p>
          <a:endParaRPr lang="en-US" b="1"/>
        </a:p>
      </dgm:t>
    </dgm:pt>
    <dgm:pt modelId="{49468CD1-63AE-445A-825C-39D229A045FF}" type="sibTrans" cxnId="{3BDD9D14-22F2-473E-8B34-C52AB63D3031}">
      <dgm:prSet/>
      <dgm:spPr/>
      <dgm:t>
        <a:bodyPr/>
        <a:lstStyle/>
        <a:p>
          <a:endParaRPr lang="en-US" b="1"/>
        </a:p>
      </dgm:t>
    </dgm:pt>
    <dgm:pt modelId="{D31F696A-0FB5-4650-9FBA-962412AC6240}">
      <dgm:prSet phldrT="[Text]"/>
      <dgm:spPr/>
      <dgm:t>
        <a:bodyPr/>
        <a:lstStyle/>
        <a:p>
          <a:r>
            <a:rPr lang="en-US" b="1" dirty="0"/>
            <a:t>Edge Computing (2020)</a:t>
          </a:r>
        </a:p>
      </dgm:t>
    </dgm:pt>
    <dgm:pt modelId="{4FD76FCC-4BA8-4419-9DDF-A5097EB5FA2E}" type="parTrans" cxnId="{092249A7-2504-4F79-AB5C-16ACD3816C09}">
      <dgm:prSet/>
      <dgm:spPr/>
      <dgm:t>
        <a:bodyPr/>
        <a:lstStyle/>
        <a:p>
          <a:endParaRPr lang="en-US" b="1"/>
        </a:p>
      </dgm:t>
    </dgm:pt>
    <dgm:pt modelId="{FC3DB5C3-0D3F-45A1-9943-DC3FFD9A81A9}" type="sibTrans" cxnId="{092249A7-2504-4F79-AB5C-16ACD3816C09}">
      <dgm:prSet/>
      <dgm:spPr/>
      <dgm:t>
        <a:bodyPr/>
        <a:lstStyle/>
        <a:p>
          <a:endParaRPr lang="en-US" b="1"/>
        </a:p>
      </dgm:t>
    </dgm:pt>
    <dgm:pt modelId="{D35FA264-0D5D-4BA7-8B03-7CA87FDDD3BA}" type="pres">
      <dgm:prSet presAssocID="{59B7FDCB-D9CA-4596-9210-55E21F6C9C29}" presName="Name0" presStyleCnt="0">
        <dgm:presLayoutVars>
          <dgm:dir/>
          <dgm:animLvl val="lvl"/>
          <dgm:resizeHandles val="exact"/>
        </dgm:presLayoutVars>
      </dgm:prSet>
      <dgm:spPr/>
    </dgm:pt>
    <dgm:pt modelId="{AB188C5A-549A-4D78-B4D4-4EF3BD539424}" type="pres">
      <dgm:prSet presAssocID="{3DC6DDA1-15E4-4CDF-98D6-B45C7F8C3EF5}" presName="parTxOnly" presStyleLbl="node1" presStyleIdx="0" presStyleCnt="6" custScaleY="124189">
        <dgm:presLayoutVars>
          <dgm:chMax val="0"/>
          <dgm:chPref val="0"/>
          <dgm:bulletEnabled val="1"/>
        </dgm:presLayoutVars>
      </dgm:prSet>
      <dgm:spPr/>
    </dgm:pt>
    <dgm:pt modelId="{346695F5-CB4D-4111-A447-BF944B7DCC50}" type="pres">
      <dgm:prSet presAssocID="{58973D86-7CB8-4130-B21D-724FA3EA8413}" presName="parTxOnlySpace" presStyleCnt="0"/>
      <dgm:spPr/>
    </dgm:pt>
    <dgm:pt modelId="{31D2B721-50D5-4B58-852C-81AC05A8D7C7}" type="pres">
      <dgm:prSet presAssocID="{29AA73A3-40CF-47EC-B3C9-54E5BD521172}" presName="parTxOnly" presStyleLbl="node1" presStyleIdx="1" presStyleCnt="6" custScaleY="124189">
        <dgm:presLayoutVars>
          <dgm:chMax val="0"/>
          <dgm:chPref val="0"/>
          <dgm:bulletEnabled val="1"/>
        </dgm:presLayoutVars>
      </dgm:prSet>
      <dgm:spPr/>
    </dgm:pt>
    <dgm:pt modelId="{060671E2-24CE-46FD-8D41-10D370D4E1A7}" type="pres">
      <dgm:prSet presAssocID="{F8113294-BDAC-4404-9872-BE470E6CE079}" presName="parTxOnlySpace" presStyleCnt="0"/>
      <dgm:spPr/>
    </dgm:pt>
    <dgm:pt modelId="{486D8DB8-1EC7-430C-B533-6A0A7576B23E}" type="pres">
      <dgm:prSet presAssocID="{683498A0-467D-4B7E-8077-15399D11E0B7}" presName="parTxOnly" presStyleLbl="node1" presStyleIdx="2" presStyleCnt="6" custScaleY="124189">
        <dgm:presLayoutVars>
          <dgm:chMax val="0"/>
          <dgm:chPref val="0"/>
          <dgm:bulletEnabled val="1"/>
        </dgm:presLayoutVars>
      </dgm:prSet>
      <dgm:spPr/>
    </dgm:pt>
    <dgm:pt modelId="{6B6CEB3E-B5FD-4883-9331-2006D1BEB036}" type="pres">
      <dgm:prSet presAssocID="{6139C487-F781-4AA0-B0AE-9D7B531AB102}" presName="parTxOnlySpace" presStyleCnt="0"/>
      <dgm:spPr/>
    </dgm:pt>
    <dgm:pt modelId="{BD718AE8-0F36-43F5-9391-ED847E57FF64}" type="pres">
      <dgm:prSet presAssocID="{CCC47447-A739-44DA-BAFD-912636594F57}" presName="parTxOnly" presStyleLbl="node1" presStyleIdx="3" presStyleCnt="6" custScaleY="124189">
        <dgm:presLayoutVars>
          <dgm:chMax val="0"/>
          <dgm:chPref val="0"/>
          <dgm:bulletEnabled val="1"/>
        </dgm:presLayoutVars>
      </dgm:prSet>
      <dgm:spPr/>
    </dgm:pt>
    <dgm:pt modelId="{68397AF3-18EF-40DE-8F8F-C1F5306760EF}" type="pres">
      <dgm:prSet presAssocID="{32A0D729-BED1-4A79-8EAD-7705EF37D080}" presName="parTxOnlySpace" presStyleCnt="0"/>
      <dgm:spPr/>
    </dgm:pt>
    <dgm:pt modelId="{060D9DBE-F26C-4B32-AF9D-913D19C68AEC}" type="pres">
      <dgm:prSet presAssocID="{80C64D1A-FAA9-422A-8C09-41DE3CFF3026}" presName="parTxOnly" presStyleLbl="node1" presStyleIdx="4" presStyleCnt="6" custScaleY="124189">
        <dgm:presLayoutVars>
          <dgm:chMax val="0"/>
          <dgm:chPref val="0"/>
          <dgm:bulletEnabled val="1"/>
        </dgm:presLayoutVars>
      </dgm:prSet>
      <dgm:spPr/>
    </dgm:pt>
    <dgm:pt modelId="{9B9FC340-ACF0-4DAA-ABBC-0B9C54F51BDE}" type="pres">
      <dgm:prSet presAssocID="{49468CD1-63AE-445A-825C-39D229A045FF}" presName="parTxOnlySpace" presStyleCnt="0"/>
      <dgm:spPr/>
    </dgm:pt>
    <dgm:pt modelId="{54FCB455-FDA5-4958-8504-916BEC6570DB}" type="pres">
      <dgm:prSet presAssocID="{D31F696A-0FB5-4650-9FBA-962412AC6240}" presName="parTxOnly" presStyleLbl="node1" presStyleIdx="5" presStyleCnt="6" custScaleY="124189">
        <dgm:presLayoutVars>
          <dgm:chMax val="0"/>
          <dgm:chPref val="0"/>
          <dgm:bulletEnabled val="1"/>
        </dgm:presLayoutVars>
      </dgm:prSet>
      <dgm:spPr/>
    </dgm:pt>
  </dgm:ptLst>
  <dgm:cxnLst>
    <dgm:cxn modelId="{3BDD9D14-22F2-473E-8B34-C52AB63D3031}" srcId="{59B7FDCB-D9CA-4596-9210-55E21F6C9C29}" destId="{80C64D1A-FAA9-422A-8C09-41DE3CFF3026}" srcOrd="4" destOrd="0" parTransId="{941B8AC2-A44E-4CFA-84AA-406764C4551B}" sibTransId="{49468CD1-63AE-445A-825C-39D229A045FF}"/>
    <dgm:cxn modelId="{EAE28E15-ED53-4D98-B747-5E27E428BF6A}" srcId="{59B7FDCB-D9CA-4596-9210-55E21F6C9C29}" destId="{683498A0-467D-4B7E-8077-15399D11E0B7}" srcOrd="2" destOrd="0" parTransId="{F9C1C7B2-0863-4266-BE62-BD3F52C88581}" sibTransId="{6139C487-F781-4AA0-B0AE-9D7B531AB102}"/>
    <dgm:cxn modelId="{1925C018-3249-4511-AEB4-2C43A3F6E835}" type="presOf" srcId="{683498A0-467D-4B7E-8077-15399D11E0B7}" destId="{486D8DB8-1EC7-430C-B533-6A0A7576B23E}" srcOrd="0" destOrd="0" presId="urn:microsoft.com/office/officeart/2005/8/layout/chevron1"/>
    <dgm:cxn modelId="{44F8941E-13CE-4620-9BDB-78CA79008785}" type="presOf" srcId="{D31F696A-0FB5-4650-9FBA-962412AC6240}" destId="{54FCB455-FDA5-4958-8504-916BEC6570DB}" srcOrd="0" destOrd="0" presId="urn:microsoft.com/office/officeart/2005/8/layout/chevron1"/>
    <dgm:cxn modelId="{FF73B32A-38BE-4DF5-8E36-3EE6CED09A0B}" type="presOf" srcId="{CCC47447-A739-44DA-BAFD-912636594F57}" destId="{BD718AE8-0F36-43F5-9391-ED847E57FF64}" srcOrd="0" destOrd="0" presId="urn:microsoft.com/office/officeart/2005/8/layout/chevron1"/>
    <dgm:cxn modelId="{6AC5116E-D8F0-4BB0-AD95-603CB613A147}" type="presOf" srcId="{80C64D1A-FAA9-422A-8C09-41DE3CFF3026}" destId="{060D9DBE-F26C-4B32-AF9D-913D19C68AEC}" srcOrd="0" destOrd="0" presId="urn:microsoft.com/office/officeart/2005/8/layout/chevron1"/>
    <dgm:cxn modelId="{7E24DA78-DDA2-4168-A093-EFACA47111D5}" type="presOf" srcId="{29AA73A3-40CF-47EC-B3C9-54E5BD521172}" destId="{31D2B721-50D5-4B58-852C-81AC05A8D7C7}" srcOrd="0" destOrd="0" presId="urn:microsoft.com/office/officeart/2005/8/layout/chevron1"/>
    <dgm:cxn modelId="{092249A7-2504-4F79-AB5C-16ACD3816C09}" srcId="{59B7FDCB-D9CA-4596-9210-55E21F6C9C29}" destId="{D31F696A-0FB5-4650-9FBA-962412AC6240}" srcOrd="5" destOrd="0" parTransId="{4FD76FCC-4BA8-4419-9DDF-A5097EB5FA2E}" sibTransId="{FC3DB5C3-0D3F-45A1-9943-DC3FFD9A81A9}"/>
    <dgm:cxn modelId="{411AA3B6-589E-4449-A93E-AAF2DF3BCFA0}" type="presOf" srcId="{3DC6DDA1-15E4-4CDF-98D6-B45C7F8C3EF5}" destId="{AB188C5A-549A-4D78-B4D4-4EF3BD539424}" srcOrd="0" destOrd="0" presId="urn:microsoft.com/office/officeart/2005/8/layout/chevron1"/>
    <dgm:cxn modelId="{10828CBF-C864-4D5D-8629-7EE269973FF5}" srcId="{59B7FDCB-D9CA-4596-9210-55E21F6C9C29}" destId="{CCC47447-A739-44DA-BAFD-912636594F57}" srcOrd="3" destOrd="0" parTransId="{05D1B5EB-FB4D-42E3-8E97-42201CF88C87}" sibTransId="{32A0D729-BED1-4A79-8EAD-7705EF37D080}"/>
    <dgm:cxn modelId="{D072D7BF-B37D-48A2-B64A-4DDF189161A9}" srcId="{59B7FDCB-D9CA-4596-9210-55E21F6C9C29}" destId="{29AA73A3-40CF-47EC-B3C9-54E5BD521172}" srcOrd="1" destOrd="0" parTransId="{E76E1530-9FB8-4EB3-80CC-EED50E8C3749}" sibTransId="{F8113294-BDAC-4404-9872-BE470E6CE079}"/>
    <dgm:cxn modelId="{E00067D6-CC59-431E-8475-8306486D6C76}" type="presOf" srcId="{59B7FDCB-D9CA-4596-9210-55E21F6C9C29}" destId="{D35FA264-0D5D-4BA7-8B03-7CA87FDDD3BA}" srcOrd="0" destOrd="0" presId="urn:microsoft.com/office/officeart/2005/8/layout/chevron1"/>
    <dgm:cxn modelId="{4E3C42EE-5A65-4A98-A1C5-C7CA5765C69B}" srcId="{59B7FDCB-D9CA-4596-9210-55E21F6C9C29}" destId="{3DC6DDA1-15E4-4CDF-98D6-B45C7F8C3EF5}" srcOrd="0" destOrd="0" parTransId="{CF865321-71AB-490C-A8B9-5AB8359448A9}" sibTransId="{58973D86-7CB8-4130-B21D-724FA3EA8413}"/>
    <dgm:cxn modelId="{4D2C061F-1EF6-4900-B436-346DA8A6A62A}" type="presParOf" srcId="{D35FA264-0D5D-4BA7-8B03-7CA87FDDD3BA}" destId="{AB188C5A-549A-4D78-B4D4-4EF3BD539424}" srcOrd="0" destOrd="0" presId="urn:microsoft.com/office/officeart/2005/8/layout/chevron1"/>
    <dgm:cxn modelId="{F521ED48-569F-4AC8-BC6A-516CFDF1265C}" type="presParOf" srcId="{D35FA264-0D5D-4BA7-8B03-7CA87FDDD3BA}" destId="{346695F5-CB4D-4111-A447-BF944B7DCC50}" srcOrd="1" destOrd="0" presId="urn:microsoft.com/office/officeart/2005/8/layout/chevron1"/>
    <dgm:cxn modelId="{085AEEE4-1AF2-4068-BD4B-34A3C50D28FA}" type="presParOf" srcId="{D35FA264-0D5D-4BA7-8B03-7CA87FDDD3BA}" destId="{31D2B721-50D5-4B58-852C-81AC05A8D7C7}" srcOrd="2" destOrd="0" presId="urn:microsoft.com/office/officeart/2005/8/layout/chevron1"/>
    <dgm:cxn modelId="{3C27B75C-0D1C-426D-B404-F006C5250F9C}" type="presParOf" srcId="{D35FA264-0D5D-4BA7-8B03-7CA87FDDD3BA}" destId="{060671E2-24CE-46FD-8D41-10D370D4E1A7}" srcOrd="3" destOrd="0" presId="urn:microsoft.com/office/officeart/2005/8/layout/chevron1"/>
    <dgm:cxn modelId="{86021BFA-19A6-4358-8367-F48CED6784C0}" type="presParOf" srcId="{D35FA264-0D5D-4BA7-8B03-7CA87FDDD3BA}" destId="{486D8DB8-1EC7-430C-B533-6A0A7576B23E}" srcOrd="4" destOrd="0" presId="urn:microsoft.com/office/officeart/2005/8/layout/chevron1"/>
    <dgm:cxn modelId="{ABDA2606-BD05-4087-BC07-B671FD085F45}" type="presParOf" srcId="{D35FA264-0D5D-4BA7-8B03-7CA87FDDD3BA}" destId="{6B6CEB3E-B5FD-4883-9331-2006D1BEB036}" srcOrd="5" destOrd="0" presId="urn:microsoft.com/office/officeart/2005/8/layout/chevron1"/>
    <dgm:cxn modelId="{840EB89E-8970-40BE-A27A-21743B6DC8A7}" type="presParOf" srcId="{D35FA264-0D5D-4BA7-8B03-7CA87FDDD3BA}" destId="{BD718AE8-0F36-43F5-9391-ED847E57FF64}" srcOrd="6" destOrd="0" presId="urn:microsoft.com/office/officeart/2005/8/layout/chevron1"/>
    <dgm:cxn modelId="{80830CBD-0FCC-4F6C-A8F8-BB46B486C696}" type="presParOf" srcId="{D35FA264-0D5D-4BA7-8B03-7CA87FDDD3BA}" destId="{68397AF3-18EF-40DE-8F8F-C1F5306760EF}" srcOrd="7" destOrd="0" presId="urn:microsoft.com/office/officeart/2005/8/layout/chevron1"/>
    <dgm:cxn modelId="{033DB300-F96E-4BBD-A1BF-B14F3A5BB7EC}" type="presParOf" srcId="{D35FA264-0D5D-4BA7-8B03-7CA87FDDD3BA}" destId="{060D9DBE-F26C-4B32-AF9D-913D19C68AEC}" srcOrd="8" destOrd="0" presId="urn:microsoft.com/office/officeart/2005/8/layout/chevron1"/>
    <dgm:cxn modelId="{DCF3E6B0-D479-4086-91A3-25D1C8735054}" type="presParOf" srcId="{D35FA264-0D5D-4BA7-8B03-7CA87FDDD3BA}" destId="{9B9FC340-ACF0-4DAA-ABBC-0B9C54F51BDE}" srcOrd="9" destOrd="0" presId="urn:microsoft.com/office/officeart/2005/8/layout/chevron1"/>
    <dgm:cxn modelId="{F8835083-AECC-4DC8-997D-F68023AD4352}" type="presParOf" srcId="{D35FA264-0D5D-4BA7-8B03-7CA87FDDD3BA}" destId="{54FCB455-FDA5-4958-8504-916BEC6570D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188C5A-549A-4D78-B4D4-4EF3BD539424}">
      <dsp:nvSpPr>
        <dsp:cNvPr id="0" name=""/>
        <dsp:cNvSpPr/>
      </dsp:nvSpPr>
      <dsp:spPr>
        <a:xfrm>
          <a:off x="5142" y="1363982"/>
          <a:ext cx="1912956" cy="9502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Utility Computing (1960s)</a:t>
          </a:r>
        </a:p>
      </dsp:txBody>
      <dsp:txXfrm>
        <a:off x="480278" y="1363982"/>
        <a:ext cx="962684" cy="950272"/>
      </dsp:txXfrm>
    </dsp:sp>
    <dsp:sp modelId="{31D2B721-50D5-4B58-852C-81AC05A8D7C7}">
      <dsp:nvSpPr>
        <dsp:cNvPr id="0" name=""/>
        <dsp:cNvSpPr/>
      </dsp:nvSpPr>
      <dsp:spPr>
        <a:xfrm>
          <a:off x="1726802" y="1363982"/>
          <a:ext cx="1912956" cy="9502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Cluster Computing (1960s)</a:t>
          </a:r>
        </a:p>
      </dsp:txBody>
      <dsp:txXfrm>
        <a:off x="2201938" y="1363982"/>
        <a:ext cx="962684" cy="950272"/>
      </dsp:txXfrm>
    </dsp:sp>
    <dsp:sp modelId="{486D8DB8-1EC7-430C-B533-6A0A7576B23E}">
      <dsp:nvSpPr>
        <dsp:cNvPr id="0" name=""/>
        <dsp:cNvSpPr/>
      </dsp:nvSpPr>
      <dsp:spPr>
        <a:xfrm>
          <a:off x="3448463" y="1363982"/>
          <a:ext cx="1912956" cy="9502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Grid Computing (1990s)</a:t>
          </a:r>
        </a:p>
      </dsp:txBody>
      <dsp:txXfrm>
        <a:off x="3923599" y="1363982"/>
        <a:ext cx="962684" cy="950272"/>
      </dsp:txXfrm>
    </dsp:sp>
    <dsp:sp modelId="{BD718AE8-0F36-43F5-9391-ED847E57FF64}">
      <dsp:nvSpPr>
        <dsp:cNvPr id="0" name=""/>
        <dsp:cNvSpPr/>
      </dsp:nvSpPr>
      <dsp:spPr>
        <a:xfrm>
          <a:off x="5170124" y="1363982"/>
          <a:ext cx="1912956" cy="9502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Cloud Computing (2000s)</a:t>
          </a:r>
        </a:p>
      </dsp:txBody>
      <dsp:txXfrm>
        <a:off x="5645260" y="1363982"/>
        <a:ext cx="962684" cy="950272"/>
      </dsp:txXfrm>
    </dsp:sp>
    <dsp:sp modelId="{060D9DBE-F26C-4B32-AF9D-913D19C68AEC}">
      <dsp:nvSpPr>
        <dsp:cNvPr id="0" name=""/>
        <dsp:cNvSpPr/>
      </dsp:nvSpPr>
      <dsp:spPr>
        <a:xfrm>
          <a:off x="6891784" y="1363982"/>
          <a:ext cx="1912956" cy="9502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Fog Computing (2012)</a:t>
          </a:r>
        </a:p>
      </dsp:txBody>
      <dsp:txXfrm>
        <a:off x="7366920" y="1363982"/>
        <a:ext cx="962684" cy="950272"/>
      </dsp:txXfrm>
    </dsp:sp>
    <dsp:sp modelId="{54FCB455-FDA5-4958-8504-916BEC6570DB}">
      <dsp:nvSpPr>
        <dsp:cNvPr id="0" name=""/>
        <dsp:cNvSpPr/>
      </dsp:nvSpPr>
      <dsp:spPr>
        <a:xfrm>
          <a:off x="8613445" y="1363982"/>
          <a:ext cx="1912956" cy="9502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Edge Computing (2020)</a:t>
          </a:r>
        </a:p>
      </dsp:txBody>
      <dsp:txXfrm>
        <a:off x="9088581" y="1363982"/>
        <a:ext cx="962684" cy="9502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33E2CF0A-60F3-25C8-29E5-2C2409DB73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718F78A6-E93A-698B-0321-AB2BAFF91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4D8701DC-4704-927B-4B31-CAE71EF0E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82D756C-1EC9-4DD4-B111-2DB2CC3D3222}" type="slidenum">
              <a:rPr lang="en-US" altLang="en-US" sz="1300"/>
              <a:pPr>
                <a:spcBef>
                  <a:spcPct val="0"/>
                </a:spcBef>
              </a:pPr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179F2D8A-A46C-14C4-A043-41289A601F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5682D6AB-B150-B807-91BF-6C9CD06B4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7E15A5FA-9D02-276B-D4BB-EFF832709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2555A3C-94CD-4837-8553-FE787B22DD70}" type="slidenum">
              <a:rPr lang="en-US" altLang="en-US" sz="130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521daa4f79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521daa4f79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9146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521daa4f79_0_2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521daa4f79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521daa4f79_0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521daa4f79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521daa4f79_0_2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521daa4f79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2DA6EA-5702-4017-B557-57159449F5F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28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2DA6EA-5702-4017-B557-57159449F5F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65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Autofit/>
          </a:bodyPr>
          <a:lstStyle>
            <a:lvl1pPr marL="457200" indent="-457200">
              <a:buFont typeface="Wingdings" panose="05000000000000000000" pitchFamily="2" charset="2"/>
              <a:buChar char="v"/>
              <a:defRPr>
                <a:latin typeface="+mn-lt"/>
              </a:defRPr>
            </a:lvl1pPr>
            <a:lvl2pPr marL="800100" indent="-342900">
              <a:buFont typeface="Wingdings" panose="05000000000000000000" pitchFamily="2" charset="2"/>
              <a:buChar char="v"/>
              <a:defRPr>
                <a:latin typeface="+mn-lt"/>
              </a:defRPr>
            </a:lvl2pPr>
            <a:lvl3pPr marL="1257300" indent="-342900">
              <a:buFont typeface="Wingdings" panose="05000000000000000000" pitchFamily="2" charset="2"/>
              <a:buChar char="v"/>
              <a:defRPr>
                <a:latin typeface="+mn-lt"/>
              </a:defRPr>
            </a:lvl3pPr>
            <a:lvl4pPr marL="1657350" indent="-285750">
              <a:buFont typeface="Wingdings" panose="05000000000000000000" pitchFamily="2" charset="2"/>
              <a:buChar char="v"/>
              <a:defRPr>
                <a:latin typeface="+mn-lt"/>
              </a:defRPr>
            </a:lvl4pPr>
            <a:lvl5pPr marL="2114550" indent="-285750">
              <a:buFont typeface="Wingdings" panose="05000000000000000000" pitchFamily="2" charset="2"/>
              <a:buChar char="v"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>
            <a:noAutofit/>
          </a:bodyPr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v"/>
              <a:defRPr sz="2400">
                <a:solidFill>
                  <a:schemeClr val="bg1"/>
                </a:solidFill>
                <a:latin typeface="+mn-lt"/>
              </a:defRPr>
            </a:lvl1pPr>
            <a:lvl2pPr marL="800100" indent="-342900">
              <a:buFont typeface="Wingdings" panose="05000000000000000000" pitchFamily="2" charset="2"/>
              <a:buChar char="v"/>
              <a:defRPr sz="2000">
                <a:solidFill>
                  <a:schemeClr val="bg1"/>
                </a:solidFill>
              </a:defRPr>
            </a:lvl2pPr>
            <a:lvl3pPr marL="1200150" indent="-285750">
              <a:buFont typeface="Wingdings" panose="05000000000000000000" pitchFamily="2" charset="2"/>
              <a:buChar char="v"/>
              <a:defRPr sz="1800">
                <a:solidFill>
                  <a:schemeClr val="bg1"/>
                </a:solidFill>
              </a:defRPr>
            </a:lvl3pPr>
            <a:lvl4pPr marL="1657350" indent="-285750">
              <a:buFont typeface="Wingdings" panose="05000000000000000000" pitchFamily="2" charset="2"/>
              <a:buChar char="v"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</a:t>
            </a:r>
          </a:p>
          <a:p>
            <a:pPr lvl="2"/>
            <a:r>
              <a:rPr lang="en-US" dirty="0"/>
              <a:t>Third</a:t>
            </a:r>
          </a:p>
          <a:p>
            <a:pPr lvl="3"/>
            <a:r>
              <a:rPr lang="en-US" dirty="0"/>
              <a:t>fourth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457200" indent="-457200">
              <a:buFont typeface="Wingdings" panose="05000000000000000000" pitchFamily="2" charset="2"/>
              <a:buChar char="v"/>
              <a:defRPr>
                <a:latin typeface="+mn-lt"/>
              </a:defRPr>
            </a:lvl1pPr>
            <a:lvl2pPr marL="800100" indent="-342900">
              <a:buFont typeface="Wingdings" panose="05000000000000000000" pitchFamily="2" charset="2"/>
              <a:buChar char="v"/>
              <a:defRPr>
                <a:latin typeface="+mn-lt"/>
              </a:defRPr>
            </a:lvl2pPr>
            <a:lvl3pPr marL="1257300" indent="-342900">
              <a:buFont typeface="Wingdings" panose="05000000000000000000" pitchFamily="2" charset="2"/>
              <a:buChar char="v"/>
              <a:defRPr>
                <a:latin typeface="+mn-lt"/>
              </a:defRPr>
            </a:lvl3pPr>
            <a:lvl4pPr marL="1657350" indent="-285750">
              <a:buFont typeface="Wingdings" panose="05000000000000000000" pitchFamily="2" charset="2"/>
              <a:buChar char="v"/>
              <a:defRPr>
                <a:latin typeface="+mn-lt"/>
              </a:defRPr>
            </a:lvl4pPr>
            <a:lvl5pPr marL="2114550" indent="-285750">
              <a:buFont typeface="Wingdings" panose="05000000000000000000" pitchFamily="2" charset="2"/>
              <a:buChar char="v"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>
            <a:noAutofit/>
          </a:bodyPr>
          <a:lstStyle>
            <a:lvl1pPr marL="457200" indent="-457200">
              <a:buFont typeface="Wingdings" panose="05000000000000000000" pitchFamily="2" charset="2"/>
              <a:buChar char="v"/>
              <a:defRPr>
                <a:latin typeface="+mn-lt"/>
              </a:defRPr>
            </a:lvl1pPr>
            <a:lvl2pPr marL="800100" indent="-342900">
              <a:buFont typeface="Wingdings" panose="05000000000000000000" pitchFamily="2" charset="2"/>
              <a:buChar char="v"/>
              <a:defRPr>
                <a:latin typeface="+mn-lt"/>
              </a:defRPr>
            </a:lvl2pPr>
            <a:lvl3pPr marL="1257300" indent="-342900">
              <a:buFont typeface="Wingdings" panose="05000000000000000000" pitchFamily="2" charset="2"/>
              <a:buChar char="v"/>
              <a:defRPr>
                <a:latin typeface="+mn-lt"/>
              </a:defRPr>
            </a:lvl3pPr>
            <a:lvl4pPr marL="1657350" indent="-285750">
              <a:buFont typeface="Wingdings" panose="05000000000000000000" pitchFamily="2" charset="2"/>
              <a:buChar char="v"/>
              <a:defRPr>
                <a:latin typeface="+mn-lt"/>
              </a:defRPr>
            </a:lvl4pPr>
            <a:lvl5pPr marL="2114550" indent="-285750">
              <a:buFont typeface="Wingdings" panose="05000000000000000000" pitchFamily="2" charset="2"/>
              <a:buChar char="v"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457200" indent="-457200"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  <a:latin typeface="+mn-lt"/>
              </a:defRPr>
            </a:lvl1pPr>
            <a:lvl2pPr marL="800100" indent="-342900"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  <a:latin typeface="+mn-lt"/>
              </a:defRPr>
            </a:lvl2pPr>
            <a:lvl3pPr marL="1257300" indent="-342900"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  <a:latin typeface="+mn-lt"/>
              </a:defRPr>
            </a:lvl3pPr>
            <a:lvl4pPr marL="1657350" indent="-285750"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  <a:latin typeface="+mn-lt"/>
              </a:defRPr>
            </a:lvl4pPr>
            <a:lvl5pPr marL="2114550" indent="-285750"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800100" indent="-342900">
              <a:buFont typeface="Wingdings" panose="05000000000000000000" pitchFamily="2" charset="2"/>
              <a:buChar char="v"/>
              <a:defRPr sz="2000" b="1">
                <a:latin typeface="+mj-lt"/>
              </a:defRPr>
            </a:lvl2pPr>
            <a:lvl3pPr marL="1200150" indent="-285750">
              <a:buFont typeface="Wingdings" panose="05000000000000000000" pitchFamily="2" charset="2"/>
              <a:buChar char="v"/>
              <a:defRPr sz="1800" b="1">
                <a:latin typeface="+mj-lt"/>
              </a:defRPr>
            </a:lvl3pPr>
            <a:lvl4pPr marL="1657350" indent="-285750">
              <a:buFont typeface="Wingdings" panose="05000000000000000000" pitchFamily="2" charset="2"/>
              <a:buChar char="v"/>
              <a:defRPr sz="1600" b="1">
                <a:latin typeface="+mj-lt"/>
              </a:defRPr>
            </a:lvl4pPr>
            <a:lvl5pPr marL="2114550" indent="-285750">
              <a:buFont typeface="Wingdings" panose="05000000000000000000" pitchFamily="2" charset="2"/>
              <a:buChar char="v"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800100" indent="-342900">
              <a:buFont typeface="Wingdings" panose="05000000000000000000" pitchFamily="2" charset="2"/>
              <a:buChar char="v"/>
              <a:defRPr sz="2000" b="1">
                <a:latin typeface="+mj-lt"/>
              </a:defRPr>
            </a:lvl2pPr>
            <a:lvl3pPr marL="1200150" indent="-285750">
              <a:buFont typeface="Wingdings" panose="05000000000000000000" pitchFamily="2" charset="2"/>
              <a:buChar char="v"/>
              <a:defRPr sz="1800" b="1">
                <a:latin typeface="+mj-lt"/>
              </a:defRPr>
            </a:lvl3pPr>
            <a:lvl4pPr marL="1657350" indent="-285750">
              <a:buFont typeface="Wingdings" panose="05000000000000000000" pitchFamily="2" charset="2"/>
              <a:buChar char="v"/>
              <a:defRPr sz="1600" b="1">
                <a:latin typeface="+mj-lt"/>
              </a:defRPr>
            </a:lvl4pPr>
            <a:lvl5pPr marL="2114550" indent="-285750">
              <a:buFont typeface="Wingdings" panose="05000000000000000000" pitchFamily="2" charset="2"/>
              <a:buChar char="v"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D5F35EC-2FDF-1A25-E8D0-26AE9F247E7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4E49E8-10BC-D4E8-E860-B8FB8F5A53B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fld id="{F62D3E32-E601-489E-B064-D93C6883CF3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AD4E040D-9A79-307E-E790-A7ABE070445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471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14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185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0127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4340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398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1144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2689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934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691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3950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971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286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578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6541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6667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497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8928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2971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9431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5163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7295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959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  <p:sldLayoutId id="2147483687" r:id="rId33"/>
    <p:sldLayoutId id="2147483688" r:id="rId34"/>
    <p:sldLayoutId id="2147483689" r:id="rId35"/>
    <p:sldLayoutId id="2147483690" r:id="rId3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v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/>
          <a:lstStyle/>
          <a:p>
            <a:r>
              <a:rPr lang="en-US" dirty="0"/>
              <a:t>Introduction to Cloud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602038"/>
            <a:ext cx="5730264" cy="806675"/>
          </a:xfrm>
        </p:spPr>
        <p:txBody>
          <a:bodyPr/>
          <a:lstStyle/>
          <a:p>
            <a:r>
              <a:rPr lang="en-US" dirty="0"/>
              <a:t>Prof. Dr. Pardeep Kumar</a:t>
            </a:r>
          </a:p>
        </p:txBody>
      </p:sp>
      <p:pic>
        <p:nvPicPr>
          <p:cNvPr id="1026" name="Picture 2" descr="9 Benefits of Cloud Computing | Alliance IT -Services &amp; Consulting">
            <a:extLst>
              <a:ext uri="{FF2B5EF4-FFF2-40B4-BE49-F238E27FC236}">
                <a16:creationId xmlns:a16="http://schemas.microsoft.com/office/drawing/2014/main" id="{4A3DEEA6-D4B4-D113-31AC-54C8006C2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913" y="4591878"/>
            <a:ext cx="10055087" cy="2266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Essential Characteristics</a:t>
            </a:r>
          </a:p>
          <a:p>
            <a:r>
              <a:rPr lang="en-US" dirty="0"/>
              <a:t>Cloud Components</a:t>
            </a:r>
          </a:p>
          <a:p>
            <a:r>
              <a:rPr lang="en-US" dirty="0"/>
              <a:t>Related Terms</a:t>
            </a:r>
          </a:p>
          <a:p>
            <a:r>
              <a:rPr lang="en-US" dirty="0"/>
              <a:t>Service Models</a:t>
            </a:r>
          </a:p>
          <a:p>
            <a:r>
              <a:rPr lang="en-US" dirty="0"/>
              <a:t>Deployment Models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D324C-DC28-AEA5-A3AB-9FC72F346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Title 1">
            <a:extLst>
              <a:ext uri="{FF2B5EF4-FFF2-40B4-BE49-F238E27FC236}">
                <a16:creationId xmlns:a16="http://schemas.microsoft.com/office/drawing/2014/main" id="{FAE1481E-A964-CCF2-659B-04A929C4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alt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10F57-4378-045D-864F-FF6C6D6A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/>
          </a:bodyPr>
          <a:lstStyle/>
          <a:p>
            <a:r>
              <a:rPr lang="en-US" b="1" dirty="0"/>
              <a:t>Cloud</a:t>
            </a:r>
            <a:r>
              <a:rPr lang="en-US" dirty="0"/>
              <a:t> is often used to refer to any remote server or group of servers that are accessed over the internet, as opposed to being stored on a local device. </a:t>
            </a:r>
          </a:p>
          <a:p>
            <a:endParaRPr lang="en-US" dirty="0"/>
          </a:p>
          <a:p>
            <a:r>
              <a:rPr lang="en-US" b="1" dirty="0"/>
              <a:t>Cloud computing</a:t>
            </a:r>
            <a:r>
              <a:rPr lang="en-US" dirty="0"/>
              <a:t> is a broader term that refers to the use of these remote servers to perform various tasks, such as data storage, software processing, and analytics.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199B20-0A3A-A950-7B05-BE4D6C0EF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2C4D4A08-8AF6-7C4C-7DD1-81B4E53C7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altLang="en-US" dirty="0"/>
              <a:t>Introduction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50615641-6939-CECD-5484-04AD8DB61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A single-site cloud (aka “Datacenter”) consists of</a:t>
            </a:r>
          </a:p>
          <a:p>
            <a:pPr lvl="1"/>
            <a:r>
              <a:rPr lang="en-US" altLang="en-US" dirty="0"/>
              <a:t>Compute nodes (grouped into racks)</a:t>
            </a:r>
          </a:p>
          <a:p>
            <a:pPr lvl="1"/>
            <a:r>
              <a:rPr lang="en-US" altLang="en-US" dirty="0"/>
              <a:t>Switches, connecting the racks</a:t>
            </a:r>
          </a:p>
          <a:p>
            <a:pPr lvl="1"/>
            <a:r>
              <a:rPr lang="en-US" altLang="en-US" dirty="0"/>
              <a:t>A network topology, e.g., hierarchical</a:t>
            </a:r>
          </a:p>
          <a:p>
            <a:pPr lvl="1"/>
            <a:r>
              <a:rPr lang="en-US" altLang="en-US" dirty="0"/>
              <a:t>Storage (backend) nodes connected to the network</a:t>
            </a:r>
          </a:p>
          <a:p>
            <a:pPr lvl="1"/>
            <a:r>
              <a:rPr lang="en-US" altLang="en-US" dirty="0"/>
              <a:t>Front-end for submitting jobs and receiving client requests</a:t>
            </a:r>
          </a:p>
          <a:p>
            <a:pPr lvl="1"/>
            <a:r>
              <a:rPr lang="en-US" altLang="en-US" dirty="0"/>
              <a:t>Software Services</a:t>
            </a:r>
          </a:p>
          <a:p>
            <a:r>
              <a:rPr lang="en-US" altLang="en-US" dirty="0"/>
              <a:t>A geographically distributed cloud consists of</a:t>
            </a:r>
          </a:p>
          <a:p>
            <a:pPr lvl="1"/>
            <a:r>
              <a:rPr lang="en-US" altLang="en-US" dirty="0"/>
              <a:t>Multiple such sites</a:t>
            </a:r>
          </a:p>
          <a:p>
            <a:pPr lvl="1"/>
            <a:r>
              <a:rPr lang="en-US" altLang="en-US" dirty="0"/>
              <a:t>Each site perhaps with a different structure and services</a:t>
            </a:r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A2059D-EAAF-F92B-80F9-356D1F9C0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Cloud computing is a model for enabling convenient, on-demand network access to a shared pool of configurable computing resources and services.</a:t>
            </a:r>
          </a:p>
          <a:p>
            <a:r>
              <a:rPr lang="en-US" dirty="0"/>
              <a:t>It can be rapidly provisioned and released with minimal management effort.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A36BB-8570-4D0D-E8E6-6F6E57F68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788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It provides high level abstraction of computation and storage model.</a:t>
            </a:r>
          </a:p>
          <a:p>
            <a:pPr lvl="1"/>
            <a:r>
              <a:rPr lang="en-US" dirty="0">
                <a:sym typeface="Calibri"/>
              </a:rPr>
              <a:t>Hides the complexity and details of the underlying infrastructure from users and applications by providing very simple graphical interface or API (Applications Programming Interface).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8D22E-0702-A520-8B56-BE72860AD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45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>
                <a:sym typeface="Calibri"/>
              </a:rPr>
              <a:t>The platform provides on demand services, that are always on, anywhere, anytime and any place. </a:t>
            </a:r>
            <a:endParaRPr lang="en-US" dirty="0"/>
          </a:p>
          <a:p>
            <a:pPr lvl="0"/>
            <a:r>
              <a:rPr lang="en-US" dirty="0">
                <a:sym typeface="Calibri"/>
              </a:rPr>
              <a:t>Pay for use and as needed, elastic</a:t>
            </a:r>
            <a:endParaRPr lang="en-US" dirty="0"/>
          </a:p>
          <a:p>
            <a:pPr lvl="1"/>
            <a:r>
              <a:rPr lang="en-US" dirty="0">
                <a:sym typeface="Calibri"/>
              </a:rPr>
              <a:t>scale up and down in capacity and functionalities</a:t>
            </a:r>
            <a:endParaRPr lang="en-US" dirty="0"/>
          </a:p>
          <a:p>
            <a:pPr lvl="0"/>
            <a:r>
              <a:rPr lang="en-US" dirty="0">
                <a:sym typeface="Calibri"/>
              </a:rPr>
              <a:t>The hardware and software services are available to</a:t>
            </a:r>
            <a:endParaRPr lang="en-US" dirty="0"/>
          </a:p>
          <a:p>
            <a:pPr lvl="1"/>
            <a:r>
              <a:rPr lang="en-US" dirty="0">
                <a:sym typeface="Calibri"/>
              </a:rPr>
              <a:t>public, enterprises, corporations and businesses markets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8371E-E195-6459-95F0-8C8936B6C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281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computing refers to both </a:t>
            </a:r>
          </a:p>
          <a:p>
            <a:pPr lvl="1"/>
            <a:r>
              <a:rPr lang="en-US" dirty="0"/>
              <a:t>the applications delivered as services over the Internet and </a:t>
            </a:r>
          </a:p>
          <a:p>
            <a:pPr lvl="1"/>
            <a:r>
              <a:rPr lang="en-US" dirty="0"/>
              <a:t>the hardware and system software in the data centers that provide those services.</a:t>
            </a:r>
          </a:p>
          <a:p>
            <a:r>
              <a:rPr lang="en-US" dirty="0"/>
              <a:t>Extend of Utility/Grid Computing</a:t>
            </a:r>
          </a:p>
          <a:p>
            <a:r>
              <a:rPr lang="en-US" dirty="0"/>
              <a:t>It has some essential characteristics, service models, and deployment models.</a:t>
            </a:r>
          </a:p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2BE1436-A044-1A1C-E778-C194C210C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196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"/>
          <p:cNvSpPr txBox="1"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-US" dirty="0"/>
              <a:t>Cloud Components</a:t>
            </a:r>
          </a:p>
        </p:txBody>
      </p:sp>
      <p:sp>
        <p:nvSpPr>
          <p:cNvPr id="328" name="Google Shape;328;p30"/>
          <p:cNvSpPr txBox="1"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r>
              <a:rPr lang="en-US" dirty="0"/>
              <a:t>Clients</a:t>
            </a:r>
          </a:p>
          <a:p>
            <a:endParaRPr lang="en-US" dirty="0"/>
          </a:p>
          <a:p>
            <a:r>
              <a:rPr lang="en-US" dirty="0"/>
              <a:t>Datacenter</a:t>
            </a:r>
          </a:p>
          <a:p>
            <a:endParaRPr lang="en-US" dirty="0"/>
          </a:p>
          <a:p>
            <a:r>
              <a:rPr lang="en-US" dirty="0"/>
              <a:t>Distributed servers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1137FA-1543-BAE5-1FBC-DDDCC4EAD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270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1"/>
          <p:cNvSpPr txBox="1"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-US" dirty="0"/>
              <a:t>Clients</a:t>
            </a:r>
          </a:p>
        </p:txBody>
      </p:sp>
      <p:sp>
        <p:nvSpPr>
          <p:cNvPr id="335" name="Google Shape;335;p31"/>
          <p:cNvSpPr txBox="1"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85000" lnSpcReduction="10000"/>
          </a:bodyPr>
          <a:lstStyle/>
          <a:p>
            <a:r>
              <a:rPr lang="en-US" dirty="0"/>
              <a:t>Mobile</a:t>
            </a:r>
          </a:p>
          <a:p>
            <a:pPr lvl="1"/>
            <a:r>
              <a:rPr lang="en-US" dirty="0"/>
              <a:t>Smart Phones, Tablets, Service Hubs</a:t>
            </a:r>
          </a:p>
          <a:p>
            <a:r>
              <a:rPr lang="en-US" dirty="0"/>
              <a:t>Thin </a:t>
            </a:r>
          </a:p>
          <a:p>
            <a:pPr lvl="1"/>
            <a:r>
              <a:rPr lang="en-US" dirty="0"/>
              <a:t>No internal hard drives, lets servers do all work, displays info</a:t>
            </a:r>
          </a:p>
          <a:p>
            <a:r>
              <a:rPr lang="en-US" dirty="0"/>
              <a:t>Thick</a:t>
            </a:r>
          </a:p>
          <a:p>
            <a:pPr lvl="1"/>
            <a:r>
              <a:rPr lang="en-US" dirty="0"/>
              <a:t>Laptops, desktop computers</a:t>
            </a:r>
          </a:p>
          <a:p>
            <a:pPr lvl="1"/>
            <a:endParaRPr lang="en-US" dirty="0"/>
          </a:p>
          <a:p>
            <a:r>
              <a:rPr lang="en-US" dirty="0"/>
              <a:t>Which is the best?</a:t>
            </a:r>
          </a:p>
          <a:p>
            <a:pPr lvl="1"/>
            <a:r>
              <a:rPr lang="en-US" dirty="0"/>
              <a:t>Thin - lower costs, security, power consumption, easy to replace, less noise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2034FA-5313-39B7-1508-99164A34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"/>
          <p:cNvSpPr txBox="1"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spcFirstLastPara="1" vert="horz" lIns="91425" tIns="45700" rIns="91425" bIns="45700" rtlCol="0" anchor="b" anchorCtr="0">
            <a:normAutofit/>
          </a:bodyPr>
          <a:lstStyle/>
          <a:p>
            <a:r>
              <a:rPr lang="en-US" sz="3200"/>
              <a:t>Data Center</a:t>
            </a:r>
          </a:p>
        </p:txBody>
      </p:sp>
      <p:pic>
        <p:nvPicPr>
          <p:cNvPr id="344" name="Google Shape;344;p32" descr="lhc25.jpg"/>
          <p:cNvPicPr preferRelativeResize="0"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1" r="10777" b="-1"/>
          <a:stretch/>
        </p:blipFill>
        <p:spPr>
          <a:xfrm>
            <a:off x="787114" y="1106568"/>
            <a:ext cx="6449549" cy="4574221"/>
          </a:xfrm>
          <a:prstGeom prst="rect">
            <a:avLst/>
          </a:prstGeom>
          <a:noFill/>
        </p:spPr>
      </p:pic>
      <p:sp>
        <p:nvSpPr>
          <p:cNvPr id="342" name="Google Shape;342;p32"/>
          <p:cNvSpPr txBox="1">
            <a:spLocks noGrp="1"/>
          </p:cNvSpPr>
          <p:nvPr>
            <p:ph idx="1"/>
          </p:nvPr>
        </p:nvSpPr>
        <p:spPr>
          <a:xfrm>
            <a:off x="7910285" y="2533476"/>
            <a:ext cx="3443514" cy="3447832"/>
          </a:xfrm>
        </p:spPr>
        <p:txBody>
          <a:bodyPr spcFirstLastPara="1" vert="horz" lIns="91425" tIns="45700" rIns="91425" bIns="45700" rtlCol="0" anchor="t" anchorCtr="0">
            <a:normAutofit/>
          </a:bodyPr>
          <a:lstStyle/>
          <a:p>
            <a:r>
              <a:rPr lang="en-US" sz="2000" dirty="0"/>
              <a:t>A facility used to house computer systems and associated components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5F1895-E582-2FD2-6054-B50FA594C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3"/>
          <p:cNvSpPr txBox="1"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-US" dirty="0"/>
              <a:t>Distributed Servers</a:t>
            </a:r>
          </a:p>
        </p:txBody>
      </p:sp>
      <p:sp>
        <p:nvSpPr>
          <p:cNvPr id="351" name="Google Shape;351;p33"/>
          <p:cNvSpPr txBox="1"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92500" lnSpcReduction="20000"/>
          </a:bodyPr>
          <a:lstStyle/>
          <a:p>
            <a:r>
              <a:rPr lang="en-US" dirty="0"/>
              <a:t>Servers host the resources needed by cloud users</a:t>
            </a:r>
          </a:p>
          <a:p>
            <a:pPr lvl="1"/>
            <a:r>
              <a:rPr lang="en-US" dirty="0"/>
              <a:t>Compute nodes</a:t>
            </a:r>
          </a:p>
          <a:p>
            <a:pPr lvl="2"/>
            <a:r>
              <a:rPr lang="en-US" dirty="0"/>
              <a:t>Provides CPU, Memory, Storage, Networking resources through virtualized interfaces.</a:t>
            </a:r>
          </a:p>
          <a:p>
            <a:pPr lvl="2"/>
            <a:r>
              <a:rPr lang="en-US" dirty="0"/>
              <a:t>Hosts guest operating systems (Virtual Machines)</a:t>
            </a:r>
          </a:p>
          <a:p>
            <a:pPr lvl="1"/>
            <a:r>
              <a:rPr lang="en-US" dirty="0"/>
              <a:t>Storage nodes</a:t>
            </a:r>
          </a:p>
          <a:p>
            <a:pPr lvl="2"/>
            <a:r>
              <a:rPr lang="en-US" dirty="0"/>
              <a:t>Compute nodes only provide temporary storage space for users/applications</a:t>
            </a:r>
          </a:p>
          <a:p>
            <a:pPr lvl="2"/>
            <a:r>
              <a:rPr lang="en-US" dirty="0"/>
              <a:t>Storage nodes provide long term data storage solutions</a:t>
            </a:r>
          </a:p>
          <a:p>
            <a:pPr lvl="1"/>
            <a:r>
              <a:rPr lang="en-US" dirty="0"/>
              <a:t>Administrative nodes</a:t>
            </a:r>
          </a:p>
          <a:p>
            <a:pPr lvl="2"/>
            <a:r>
              <a:rPr lang="en-US" dirty="0"/>
              <a:t>Provides “hidden” back-end services such as resource load balancing, databases, security/firewalls, cloud macro-management 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67F224-D3AA-0C6F-452C-DADB972EA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9EC87-3238-474F-B0F8-2C1490B4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Common 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8896E-3EAF-4AB3-96F8-7C62FC4C8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/>
          </a:bodyPr>
          <a:lstStyle/>
          <a:p>
            <a:r>
              <a:rPr lang="en-US" altLang="en-US" dirty="0"/>
              <a:t>In all clouds, someone else is providing the physical machines</a:t>
            </a:r>
          </a:p>
          <a:p>
            <a:r>
              <a:rPr lang="en-US" altLang="en-US" dirty="0"/>
              <a:t>You aren’t concerned about </a:t>
            </a:r>
          </a:p>
          <a:p>
            <a:pPr lvl="1"/>
            <a:r>
              <a:rPr lang="en-US" altLang="en-US" dirty="0"/>
              <a:t>Power</a:t>
            </a:r>
          </a:p>
          <a:p>
            <a:pPr lvl="1"/>
            <a:r>
              <a:rPr lang="en-US" altLang="en-US" dirty="0"/>
              <a:t>Bandwidth</a:t>
            </a:r>
          </a:p>
          <a:p>
            <a:pPr lvl="1"/>
            <a:r>
              <a:rPr lang="en-US" altLang="en-US" dirty="0"/>
              <a:t>Maintenance</a:t>
            </a:r>
          </a:p>
          <a:p>
            <a:pPr lvl="1"/>
            <a:r>
              <a:rPr lang="en-US" altLang="en-US" dirty="0"/>
              <a:t>physical security</a:t>
            </a:r>
          </a:p>
          <a:p>
            <a:pPr lvl="1"/>
            <a:r>
              <a:rPr lang="en-US" altLang="en-US" dirty="0"/>
              <a:t>scaling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36AF7-9D86-DF1C-9633-AFAA59E71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170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6AC1-8418-43A4-91DC-9AFF8BA61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Related terms &amp; timeline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F27BB01-386D-3049-1966-B142BC23DC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1504760"/>
              </p:ext>
            </p:extLst>
          </p:nvPr>
        </p:nvGraphicFramePr>
        <p:xfrm>
          <a:off x="669857" y="1706563"/>
          <a:ext cx="10531544" cy="3678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887A7F-EB6E-2694-B8C4-423A4E756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227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collection of parallel or distributed computers which are interconnected among themselves using high-speed networks. </a:t>
            </a:r>
          </a:p>
          <a:p>
            <a:r>
              <a:rPr lang="en-US" dirty="0"/>
              <a:t>Clusters are used mainly for high availability, </a:t>
            </a:r>
            <a:br>
              <a:rPr lang="en-US" dirty="0"/>
            </a:br>
            <a:r>
              <a:rPr lang="en-US" dirty="0"/>
              <a:t>load-balancing and for compute purpose.</a:t>
            </a:r>
          </a:p>
          <a:p>
            <a:r>
              <a:rPr lang="en-US" dirty="0"/>
              <a:t>Computers in a cluster share computational workload as a single virtual computer.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0F82224-4C15-72FA-B48D-76E616E99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95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 Computing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0F82224-4C15-72FA-B48D-76E616E99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CCDF549A-0906-50CC-BF8F-85180DC2A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072" y="2024615"/>
            <a:ext cx="6403905" cy="3829533"/>
          </a:xfrm>
        </p:spPr>
      </p:pic>
    </p:spTree>
    <p:extLst>
      <p:ext uri="{BB962C8B-B14F-4D97-AF65-F5344CB8AC3E}">
        <p14:creationId xmlns:p14="http://schemas.microsoft.com/office/powerpoint/2010/main" val="1999999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Grid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Grid computing combines computer resources from multiple administrative domains/locations to reach a common goal, to solve a single task, and may then disappear just as quickly.</a:t>
            </a:r>
          </a:p>
          <a:p>
            <a:r>
              <a:rPr lang="en-US" dirty="0"/>
              <a:t>It enables the sharing, selection, and aggregation of geographically distributed autonomous resources dynamically at runtime depending on their availability, capability, performance, cost, and QoS requirements.</a:t>
            </a:r>
          </a:p>
          <a:p>
            <a:r>
              <a:rPr lang="en-US" dirty="0"/>
              <a:t>Grid computing is extended of cluster computing.</a:t>
            </a:r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F3B9E9C-31A4-6F89-6C7A-2C204BA48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Grid Computing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F3B9E9C-31A4-6F89-6C7A-2C204BA48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026" name="Picture 2" descr="What is an Grid Computing? How it Works to Increase Resource Allocation? |  by Webude | Medium">
            <a:extLst>
              <a:ext uri="{FF2B5EF4-FFF2-40B4-BE49-F238E27FC236}">
                <a16:creationId xmlns:a16="http://schemas.microsoft.com/office/drawing/2014/main" id="{E5CD604A-6D0B-E04D-C536-3CD4604F7E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939" y="2017713"/>
            <a:ext cx="4638334" cy="336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050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altLang="en-US"/>
              <a:t>Cluster, Grid &amp; Cloud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/>
          </a:bodyPr>
          <a:lstStyle/>
          <a:p>
            <a:r>
              <a:rPr lang="en-US" dirty="0"/>
              <a:t>Cluster computing is the base of all distributed computing paradigm, it aggregates resources locally and shares the load. </a:t>
            </a:r>
          </a:p>
          <a:p>
            <a:r>
              <a:rPr lang="en-US" dirty="0"/>
              <a:t>Grid computing is the extended version of cluster, in which resources are provisioned through internet. </a:t>
            </a:r>
          </a:p>
          <a:p>
            <a:r>
              <a:rPr lang="en-US" dirty="0"/>
              <a:t>Cloud is on top of all, it provides (more or less) the same functionalities as the above two but provides in the form of services and bills the same (utility). </a:t>
            </a:r>
          </a:p>
          <a:p>
            <a:r>
              <a:rPr lang="en-US" dirty="0"/>
              <a:t>Cloud is a marketing term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DBEA9-BDC2-B394-4A55-637AD3A42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170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altLang="en-US"/>
              <a:t>Cluster, Grid &amp; Cloud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/>
          </a:bodyPr>
          <a:lstStyle/>
          <a:p>
            <a:r>
              <a:rPr lang="en-US" dirty="0"/>
              <a:t>Scale</a:t>
            </a:r>
          </a:p>
          <a:p>
            <a:pPr lvl="1"/>
            <a:r>
              <a:rPr lang="en-US" dirty="0"/>
              <a:t>Cluster is a group of computers connected by a LAN, cloud and grid are more wide scale and can be geographically distributed</a:t>
            </a:r>
          </a:p>
          <a:p>
            <a:r>
              <a:rPr lang="en-US" dirty="0"/>
              <a:t>Coupling</a:t>
            </a:r>
          </a:p>
          <a:p>
            <a:pPr lvl="1"/>
            <a:r>
              <a:rPr lang="en-US" dirty="0"/>
              <a:t>Cluster is tightly coupled, grid or a cloud is loosely coupled</a:t>
            </a:r>
          </a:p>
          <a:p>
            <a:r>
              <a:rPr lang="en-US" dirty="0"/>
              <a:t>Hardware</a:t>
            </a:r>
          </a:p>
          <a:p>
            <a:pPr lvl="1"/>
            <a:r>
              <a:rPr lang="en-US" dirty="0"/>
              <a:t>Clusters are made up of machines with similar hardware, clouds and grids are made up of different hardware configurations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8DCEB-FBB4-F046-2AE8-B0DBC19A6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16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altLang="en-US"/>
              <a:t>Cluster, Grid &amp; Cloud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Resource distribution</a:t>
            </a:r>
          </a:p>
          <a:p>
            <a:pPr lvl="1"/>
            <a:r>
              <a:rPr lang="en-US" dirty="0"/>
              <a:t>Cloud computing is a centralized model , grid computing is a decentralized model where the computation could occur over many administrative domains.</a:t>
            </a:r>
          </a:p>
          <a:p>
            <a:r>
              <a:rPr lang="en-US" dirty="0"/>
              <a:t>Ownership</a:t>
            </a:r>
          </a:p>
          <a:p>
            <a:pPr lvl="1"/>
            <a:r>
              <a:rPr lang="en-US" dirty="0"/>
              <a:t>Cloud is a collection of computers usually owned by a single party; grid is a collection of computers which is owned by multiple parties in multiple locations</a:t>
            </a:r>
          </a:p>
          <a:p>
            <a:r>
              <a:rPr lang="en-US" dirty="0"/>
              <a:t>Examples </a:t>
            </a:r>
          </a:p>
          <a:p>
            <a:pPr lvl="1"/>
            <a:r>
              <a:rPr lang="en-US" dirty="0"/>
              <a:t>Clouds: Amazon Web Services (AWS), Google App Engine, Microsoft Azure, Dropbox, Gmail, Facebook, </a:t>
            </a:r>
            <a:r>
              <a:rPr lang="en-US" dirty="0" err="1"/>
              <a:t>Youtube</a:t>
            </a:r>
            <a:r>
              <a:rPr lang="en-US" dirty="0"/>
              <a:t>, </a:t>
            </a:r>
            <a:r>
              <a:rPr lang="en-US" dirty="0" err="1"/>
              <a:t>Rapidshare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Grid: </a:t>
            </a:r>
            <a:r>
              <a:rPr lang="en-US" dirty="0" err="1"/>
              <a:t>FutureGrid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943C7-3399-FADA-86BA-C240FF849C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340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altLang="en-US" dirty="0"/>
              <a:t>Cluster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Active-Active</a:t>
            </a:r>
          </a:p>
          <a:p>
            <a:pPr lvl="1"/>
            <a:r>
              <a:rPr lang="en-US" dirty="0"/>
              <a:t>Made up of at least two nodes, both actively running same service simultaneously. </a:t>
            </a:r>
          </a:p>
          <a:p>
            <a:pPr lvl="1"/>
            <a:r>
              <a:rPr lang="en-US" dirty="0"/>
              <a:t>The main purpose is to achieve load balancing. </a:t>
            </a:r>
          </a:p>
          <a:p>
            <a:pPr lvl="1"/>
            <a:r>
              <a:rPr lang="en-US" dirty="0"/>
              <a:t>improvement in throughput and response times.</a:t>
            </a:r>
          </a:p>
          <a:p>
            <a:r>
              <a:rPr lang="en-US" dirty="0"/>
              <a:t>Active-Passive </a:t>
            </a:r>
          </a:p>
          <a:p>
            <a:pPr lvl="1"/>
            <a:r>
              <a:rPr lang="en-US" dirty="0"/>
              <a:t>Consists of at least two nodes, but not all nodes are going to be active.</a:t>
            </a:r>
          </a:p>
          <a:p>
            <a:pPr lvl="1"/>
            <a:r>
              <a:rPr lang="en-US" dirty="0"/>
              <a:t>If the first is active, the second node must be passive or on standby.</a:t>
            </a:r>
          </a:p>
          <a:p>
            <a:pPr lvl="1"/>
            <a:r>
              <a:rPr lang="en-US" dirty="0"/>
              <a:t>Takes over when the active server gets disconnected or is unable to serve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F932C-361D-BB47-A2E8-99BF3110C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056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Cluster, Grid &amp; Cloud Computing</a:t>
            </a:r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051971"/>
              </p:ext>
            </p:extLst>
          </p:nvPr>
        </p:nvGraphicFramePr>
        <p:xfrm>
          <a:off x="1167492" y="1868627"/>
          <a:ext cx="8986463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7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5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16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Cloud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168">
                <a:tc>
                  <a:txBody>
                    <a:bodyPr/>
                    <a:lstStyle/>
                    <a:p>
                      <a:r>
                        <a:rPr lang="en-US" sz="15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Handling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Centralized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Distributed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Both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168">
                <a:tc>
                  <a:txBody>
                    <a:bodyPr/>
                    <a:lstStyle/>
                    <a:p>
                      <a:r>
                        <a:rPr lang="en-US" sz="15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Loose coupling / Scalable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168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Reliability / User friendliness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Half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168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Network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Private</a:t>
                      </a:r>
                      <a:r>
                        <a:rPr lang="en-US" sz="1500" baseline="0" dirty="0"/>
                        <a:t> 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Public Internet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168">
                <a:tc>
                  <a:txBody>
                    <a:bodyPr/>
                    <a:lstStyle/>
                    <a:p>
                      <a:r>
                        <a:rPr lang="en-US" sz="15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Virtualization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Half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Half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168">
                <a:tc>
                  <a:txBody>
                    <a:bodyPr/>
                    <a:lstStyle/>
                    <a:p>
                      <a:r>
                        <a:rPr lang="en-US" sz="15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Business Model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168">
                <a:tc>
                  <a:txBody>
                    <a:bodyPr/>
                    <a:lstStyle/>
                    <a:p>
                      <a:r>
                        <a:rPr lang="en-US" sz="15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 Size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 large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 large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Small, medium</a:t>
                      </a:r>
                      <a:r>
                        <a:rPr lang="en-US" sz="150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lang="en-US" sz="15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</a:t>
                      </a:r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168">
                <a:tc>
                  <a:txBody>
                    <a:bodyPr/>
                    <a:lstStyle/>
                    <a:p>
                      <a:r>
                        <a:rPr lang="en-US" sz="15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Heterogeneity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168">
                <a:tc>
                  <a:txBody>
                    <a:bodyPr/>
                    <a:lstStyle/>
                    <a:p>
                      <a:r>
                        <a:rPr lang="en-US" sz="15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Medium</a:t>
                      </a:r>
                      <a:r>
                        <a:rPr lang="en-US" sz="1500" baseline="0" dirty="0"/>
                        <a:t> / High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Low / 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168">
                <a:tc>
                  <a:txBody>
                    <a:bodyPr/>
                    <a:lstStyle/>
                    <a:p>
                      <a:r>
                        <a:rPr lang="en-US" sz="15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 Added Service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168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95D2E1-23EA-D2D7-355B-93045B632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73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Cloud, Fog &amp; Edge</a:t>
            </a:r>
          </a:p>
        </p:txBody>
      </p:sp>
      <p:pic>
        <p:nvPicPr>
          <p:cNvPr id="5" name="Picture 2" descr="Image result for cloud fog edge computing">
            <a:extLst>
              <a:ext uri="{FF2B5EF4-FFF2-40B4-BE49-F238E27FC236}">
                <a16:creationId xmlns:a16="http://schemas.microsoft.com/office/drawing/2014/main" id="{E297F4D5-D6CA-32F1-31B7-7FED501069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529" y="1864358"/>
            <a:ext cx="7019108" cy="3509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186FD-E80E-C71C-A610-913B78FD6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064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22DA3-72E9-2B9B-D0B6-566D22D1E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Cloud, Fog &amp; Edge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61067-687A-6F9B-28BB-397B028FF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main difference is where, when and how data from endpoint devices are processed and stored.</a:t>
            </a:r>
          </a:p>
          <a:p>
            <a:r>
              <a:rPr lang="en-US" dirty="0"/>
              <a:t>Cloud is the centralized storage situated further from the endpoints. </a:t>
            </a:r>
          </a:p>
          <a:p>
            <a:pPr lvl="1"/>
            <a:r>
              <a:rPr lang="en-US" dirty="0"/>
              <a:t>Highest latency, bandwidth cost, and network requirements. </a:t>
            </a:r>
          </a:p>
          <a:p>
            <a:r>
              <a:rPr lang="en-US" dirty="0"/>
              <a:t>But it is a powerful global solution that can handle huge amounts of data and scale effectively. </a:t>
            </a:r>
          </a:p>
          <a:p>
            <a:r>
              <a:rPr lang="en-US" dirty="0"/>
              <a:t>It works great for big data analytics, long-term data storage and historical data analysis.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0FB88-9B21-49B1-12C7-5345FB88D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070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22DA3-72E9-2B9B-D0B6-566D22D1E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Cloud, Fog &amp; Edge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61067-687A-6F9B-28BB-397B028FF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/>
          </a:bodyPr>
          <a:lstStyle/>
          <a:p>
            <a:r>
              <a:rPr lang="en-US" dirty="0"/>
              <a:t>Fog acts as a middle layer between cloud and edge and provides the benefits of both. </a:t>
            </a:r>
          </a:p>
          <a:p>
            <a:r>
              <a:rPr lang="en-US" dirty="0"/>
              <a:t>It engages local computing and storage resources for real-time analytics and quick response to events.</a:t>
            </a:r>
          </a:p>
          <a:p>
            <a:r>
              <a:rPr lang="en-US" dirty="0"/>
              <a:t>Fog is decentralized meaning that it consists of many nodes.</a:t>
            </a:r>
          </a:p>
          <a:p>
            <a:r>
              <a:rPr lang="en-US" dirty="0"/>
              <a:t>But it has a network architecture. Fog nodes are connected with each other and can redistribute computing and storage to better solve given tasks.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0FB88-9B21-49B1-12C7-5345FB88D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1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22DA3-72E9-2B9B-D0B6-566D22D1E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Cloud, Fog &amp; Edge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61067-687A-6F9B-28BB-397B028FF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/>
          <a:lstStyle/>
          <a:p>
            <a:r>
              <a:rPr lang="en-US" dirty="0"/>
              <a:t>Edge is the closest you can get to end devices, hence the lowest latency and immediate response to data. </a:t>
            </a:r>
          </a:p>
          <a:p>
            <a:r>
              <a:rPr lang="en-US" dirty="0"/>
              <a:t>This approach allows to perform computing and store some (only limited) volume of data directly on devices, applications and edge gateways. </a:t>
            </a:r>
          </a:p>
          <a:p>
            <a:r>
              <a:rPr lang="en-US" dirty="0"/>
              <a:t>It usually has a loosely connected structure where edge nodes work with data independently. 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0FB88-9B21-49B1-12C7-5345FB88D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358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22DA3-72E9-2B9B-D0B6-566D22D1E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Cloud, Fog &amp; Edge</a:t>
            </a:r>
            <a:endParaRPr lang="en-PK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77E622-AD4B-9664-DE82-1B583063CE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821" y="1706563"/>
            <a:ext cx="7126357" cy="395570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0FB88-9B21-49B1-12C7-5345FB88D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4395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CDA2886-1A33-451F-A78F-B7BB77379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Cloud Computing - Detail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614DA-B6D2-45EC-B801-B9FA68D29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/>
          </a:bodyPr>
          <a:lstStyle/>
          <a:p>
            <a:r>
              <a:rPr lang="en-US" dirty="0"/>
              <a:t>Central ideas</a:t>
            </a:r>
          </a:p>
          <a:p>
            <a:pPr lvl="1"/>
            <a:r>
              <a:rPr lang="en-US" dirty="0"/>
              <a:t>Utility Computing</a:t>
            </a:r>
          </a:p>
          <a:p>
            <a:pPr lvl="1"/>
            <a:r>
              <a:rPr lang="en-US" dirty="0"/>
              <a:t>SOA - Service Oriented Architecture</a:t>
            </a:r>
          </a:p>
          <a:p>
            <a:pPr lvl="1"/>
            <a:r>
              <a:rPr lang="en-US" dirty="0"/>
              <a:t>SLA - Service Level Agreement</a:t>
            </a:r>
          </a:p>
          <a:p>
            <a:r>
              <a:rPr lang="en-US" dirty="0"/>
              <a:t>Enabling techniques</a:t>
            </a:r>
          </a:p>
          <a:p>
            <a:pPr lvl="1"/>
            <a:r>
              <a:rPr lang="en-US" dirty="0"/>
              <a:t>Hardware virtualization</a:t>
            </a:r>
          </a:p>
          <a:p>
            <a:pPr lvl="1"/>
            <a:r>
              <a:rPr lang="en-US" dirty="0"/>
              <a:t>Parallelized and distributed computing</a:t>
            </a:r>
          </a:p>
          <a:p>
            <a:pPr lvl="1"/>
            <a:r>
              <a:rPr lang="en-US" dirty="0"/>
              <a:t>Web service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6D3059-B870-FC06-8E8D-F3552744E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0062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269FB93-3564-4716-A0B3-B399651C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User perspective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C1DCAB-8405-4508-BA96-FEDC79D56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lnSpcReduction="10000"/>
          </a:bodyPr>
          <a:lstStyle/>
          <a:p>
            <a:r>
              <a:rPr lang="en-US"/>
              <a:t>Users do not care about how the works are done</a:t>
            </a:r>
          </a:p>
          <a:p>
            <a:pPr lvl="1"/>
            <a:r>
              <a:rPr lang="en-US"/>
              <a:t>Instead, they only concern about what they </a:t>
            </a:r>
            <a:r>
              <a:rPr lang="en-US" altLang="zh-TW"/>
              <a:t>can </a:t>
            </a:r>
            <a:r>
              <a:rPr lang="en-US"/>
              <a:t>get</a:t>
            </a:r>
          </a:p>
          <a:p>
            <a:r>
              <a:rPr lang="en-US"/>
              <a:t>Users do not care about what the provider actually did</a:t>
            </a:r>
          </a:p>
          <a:p>
            <a:pPr lvl="1"/>
            <a:r>
              <a:rPr lang="en-US"/>
              <a:t>Instead, they only concern about their quality of service</a:t>
            </a:r>
          </a:p>
          <a:p>
            <a:r>
              <a:rPr lang="en-US"/>
              <a:t>Users do not want to own the physical infrastructure</a:t>
            </a:r>
          </a:p>
          <a:p>
            <a:pPr lvl="1"/>
            <a:r>
              <a:rPr lang="en-US"/>
              <a:t>Instead, they only want to pay as many as they used</a:t>
            </a:r>
          </a:p>
          <a:p>
            <a:r>
              <a:rPr lang="en-US"/>
              <a:t>What dose user really care?</a:t>
            </a:r>
          </a:p>
          <a:p>
            <a:pPr lvl="1"/>
            <a:r>
              <a:rPr lang="en-US"/>
              <a:t>They only care about their “Service”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809FB7-8B90-D215-6374-CC97ACEF5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946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A23B4-59E7-406D-ACE5-BA56EB4A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Utility 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4C19D-37D1-44AC-96E9-929752BEE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/>
          <a:lstStyle/>
          <a:p>
            <a:r>
              <a:rPr lang="en-US" dirty="0"/>
              <a:t>Service provisioning model</a:t>
            </a:r>
          </a:p>
          <a:p>
            <a:pPr lvl="1"/>
            <a:r>
              <a:rPr lang="en-US" dirty="0"/>
              <a:t>Service provider makes computing resources and infrastructure management available to the customer as needed</a:t>
            </a:r>
          </a:p>
          <a:p>
            <a:pPr lvl="1"/>
            <a:r>
              <a:rPr lang="en-US" dirty="0"/>
              <a:t>And charges them for specific usage rather than a flat rate</a:t>
            </a:r>
          </a:p>
          <a:p>
            <a:pPr lvl="1"/>
            <a:r>
              <a:rPr lang="en-US" dirty="0"/>
              <a:t>It seeks to maximize the efficient use of resources </a:t>
            </a:r>
          </a:p>
          <a:p>
            <a:pPr lvl="1"/>
            <a:r>
              <a:rPr lang="en-US" dirty="0"/>
              <a:t>And/or minimize associated costs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02466F-33BA-5E03-BDE6-1A54069B3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4081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>
            <a:normAutofit/>
          </a:bodyPr>
          <a:lstStyle/>
          <a:p>
            <a:r>
              <a:rPr lang="en-US"/>
              <a:t>Service Oriented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/>
          <a:lstStyle/>
          <a:p>
            <a:r>
              <a:rPr lang="en-US" dirty="0"/>
              <a:t>SOA is a collection of services which communicate with each other</a:t>
            </a:r>
          </a:p>
          <a:p>
            <a:r>
              <a:rPr lang="en-US" dirty="0"/>
              <a:t>Contain a flexible set of design principles</a:t>
            </a:r>
          </a:p>
          <a:p>
            <a:r>
              <a:rPr lang="en-US" dirty="0"/>
              <a:t>Provide a loosely-integrated suite of services that can be used within multiple business domains</a:t>
            </a:r>
          </a:p>
          <a:p>
            <a:r>
              <a:rPr lang="en-US" dirty="0"/>
              <a:t>Usually implemented by Web Service model</a:t>
            </a:r>
          </a:p>
        </p:txBody>
      </p:sp>
      <p:pic>
        <p:nvPicPr>
          <p:cNvPr id="10" name="Picture 9" descr="service-oriented_architecture_basics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964" y="4839651"/>
            <a:ext cx="5425752" cy="108926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FDF7C-16C3-6467-ECF6-6F95F7A11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Service Level Agreement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/>
          </a:bodyPr>
          <a:lstStyle/>
          <a:p>
            <a:r>
              <a:rPr lang="en-US" dirty="0"/>
              <a:t>SLA is a contract between a service provider and a customer</a:t>
            </a:r>
          </a:p>
          <a:p>
            <a:r>
              <a:rPr lang="en-US" dirty="0"/>
              <a:t>It specifies what services the service provider will furnish</a:t>
            </a:r>
          </a:p>
          <a:p>
            <a:pPr lvl="1"/>
            <a:r>
              <a:rPr lang="en-US" dirty="0"/>
              <a:t>Performance guarantee metrics (QoS)</a:t>
            </a:r>
          </a:p>
          <a:p>
            <a:pPr lvl="2"/>
            <a:r>
              <a:rPr lang="en-US" dirty="0"/>
              <a:t>Up-time and down-time ratio</a:t>
            </a:r>
          </a:p>
          <a:p>
            <a:pPr lvl="2"/>
            <a:r>
              <a:rPr lang="en-US" dirty="0"/>
              <a:t>System throughput</a:t>
            </a:r>
          </a:p>
          <a:p>
            <a:pPr lvl="2"/>
            <a:r>
              <a:rPr lang="en-US" dirty="0"/>
              <a:t>Response time</a:t>
            </a:r>
          </a:p>
          <a:p>
            <a:pPr lvl="1"/>
            <a:r>
              <a:rPr lang="en-US" dirty="0"/>
              <a:t>Problem management detail</a:t>
            </a:r>
          </a:p>
          <a:p>
            <a:pPr lvl="1"/>
            <a:r>
              <a:rPr lang="en-US" dirty="0"/>
              <a:t>Penalties for non-performance</a:t>
            </a:r>
          </a:p>
          <a:p>
            <a:pPr lvl="1"/>
            <a:r>
              <a:rPr lang="en-US" dirty="0"/>
              <a:t>Documented security capabilities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FF624-3352-108C-9330-1D5511EDC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92CB6-FA77-433A-8B87-16DFBD303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Benefits of Cloud 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EF5F7-E353-43E8-BF48-D187AFD86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/>
          <a:lstStyle/>
          <a:p>
            <a:r>
              <a:rPr lang="en-US"/>
              <a:t>For the market and enterprises</a:t>
            </a:r>
          </a:p>
          <a:p>
            <a:pPr lvl="1"/>
            <a:r>
              <a:rPr lang="en-US"/>
              <a:t>Reduce initial investment</a:t>
            </a:r>
          </a:p>
          <a:p>
            <a:pPr lvl="1"/>
            <a:r>
              <a:rPr lang="en-US"/>
              <a:t>Reduce capital expenditure</a:t>
            </a:r>
          </a:p>
          <a:p>
            <a:pPr lvl="1"/>
            <a:r>
              <a:rPr lang="en-US"/>
              <a:t>Improve industrial specialization</a:t>
            </a:r>
          </a:p>
          <a:p>
            <a:pPr lvl="1"/>
            <a:r>
              <a:rPr lang="en-US"/>
              <a:t>Improve resource utilization</a:t>
            </a:r>
          </a:p>
          <a:p>
            <a:r>
              <a:rPr lang="en-US"/>
              <a:t>For the end user and individuals</a:t>
            </a:r>
          </a:p>
          <a:p>
            <a:pPr lvl="1"/>
            <a:r>
              <a:rPr lang="en-US"/>
              <a:t>Reduce local computing power</a:t>
            </a:r>
          </a:p>
          <a:p>
            <a:pPr lvl="1"/>
            <a:r>
              <a:rPr lang="en-US"/>
              <a:t>Reduce local storage power</a:t>
            </a:r>
          </a:p>
          <a:p>
            <a:pPr lvl="1"/>
            <a:r>
              <a:rPr lang="en-US"/>
              <a:t>Variety of thin client devices in daily life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AEF5BC-EF2F-AAB8-37C3-708FB5367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482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Challenges in the cloud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Autofit/>
          </a:bodyPr>
          <a:lstStyle/>
          <a:p>
            <a:r>
              <a:rPr lang="en-US"/>
              <a:t>Dynamic scalability</a:t>
            </a:r>
          </a:p>
          <a:p>
            <a:r>
              <a:rPr lang="en-US"/>
              <a:t>Multi-tenancy</a:t>
            </a:r>
          </a:p>
          <a:p>
            <a:r>
              <a:rPr lang="en-US"/>
              <a:t>Querying and access</a:t>
            </a:r>
          </a:p>
          <a:p>
            <a:r>
              <a:rPr lang="en-US"/>
              <a:t>Standardization</a:t>
            </a:r>
          </a:p>
          <a:p>
            <a:r>
              <a:rPr lang="en-US"/>
              <a:t>Reliability and fault-tolerance</a:t>
            </a:r>
          </a:p>
          <a:p>
            <a:r>
              <a:rPr lang="en-US"/>
              <a:t>Debugging and profiling</a:t>
            </a:r>
          </a:p>
          <a:p>
            <a:r>
              <a:rPr lang="en-US"/>
              <a:t>Security and privacy</a:t>
            </a:r>
          </a:p>
          <a:p>
            <a:r>
              <a:rPr lang="en-US"/>
              <a:t>Power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DF4C3-7180-A7D1-820F-07E48B840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5385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1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-US" dirty="0">
                <a:sym typeface="Calibri"/>
              </a:rPr>
              <a:t>General Concerns</a:t>
            </a:r>
            <a:endParaRPr lang="en-US" dirty="0"/>
          </a:p>
        </p:txBody>
      </p:sp>
      <p:sp>
        <p:nvSpPr>
          <p:cNvPr id="614" name="Google Shape;614;p61"/>
          <p:cNvSpPr txBox="1"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r>
              <a:rPr lang="en-US" dirty="0">
                <a:sym typeface="Calibri"/>
              </a:rPr>
              <a:t>Each cloud systems uses different protocols and different APIs</a:t>
            </a:r>
            <a:endParaRPr lang="en-US" dirty="0"/>
          </a:p>
          <a:p>
            <a:pPr lvl="1"/>
            <a:r>
              <a:rPr lang="en-US" dirty="0">
                <a:sym typeface="Calibri"/>
              </a:rPr>
              <a:t>Interoperability issue</a:t>
            </a:r>
            <a:endParaRPr lang="en-US" dirty="0"/>
          </a:p>
          <a:p>
            <a:r>
              <a:rPr lang="en-US" dirty="0">
                <a:sym typeface="Calibri"/>
              </a:rPr>
              <a:t>Amazon has created its own DB system (not SQL 92), and workflow system</a:t>
            </a:r>
            <a:endParaRPr lang="en-US" dirty="0"/>
          </a:p>
          <a:p>
            <a:pPr lvl="1"/>
            <a:r>
              <a:rPr lang="en-US" dirty="0">
                <a:sym typeface="Calibri"/>
              </a:rPr>
              <a:t>your normal applications will have to be adapted to execute on these platforms.</a:t>
            </a:r>
            <a:endParaRPr lang="en-US" dirty="0"/>
          </a:p>
          <a:p>
            <a:endParaRPr lang="en-US" dirty="0">
              <a:sym typeface="Calibri"/>
            </a:endParaRPr>
          </a:p>
        </p:txBody>
      </p:sp>
      <p:sp>
        <p:nvSpPr>
          <p:cNvPr id="615" name="Google Shape;615;p61"/>
          <p:cNvSpPr txBox="1"/>
          <p:nvPr/>
        </p:nvSpPr>
        <p:spPr>
          <a:xfrm>
            <a:off x="8077200" y="634047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chemeClr val="lt1"/>
              </a:buClr>
              <a:buSzPts val="1200"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pPr algn="r">
                <a:buClr>
                  <a:schemeClr val="lt1"/>
                </a:buClr>
                <a:buSzPts val="1200"/>
              </a:pPr>
              <a:t>36</a:t>
            </a:fld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6C2AB2-301D-30F0-0306-0E2394ED54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A5209-666D-EE6F-2AF4-E0D4E279E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Cloud Computing – Pros &amp; Cons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D65E6-46C3-EDD8-114C-68B12BA9E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  <p:pic>
        <p:nvPicPr>
          <p:cNvPr id="7" name="Picture 4" descr="Enterprise Cloud Computing: Unlocking Business Potential">
            <a:extLst>
              <a:ext uri="{FF2B5EF4-FFF2-40B4-BE49-F238E27FC236}">
                <a16:creationId xmlns:a16="http://schemas.microsoft.com/office/drawing/2014/main" id="{34A15B6D-9B2B-45E3-37EB-6E3EE40058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76443" y="1799212"/>
            <a:ext cx="6361280" cy="455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5513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26184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C465B7-820B-4DEA-AB4B-5167C1BE90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42FAFE-88B4-49B4-9588-86CB0E564E5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2076B5C-85B0-4D30-852D-5E5312EEA93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TM45331398</Template>
  <TotalTime>932</TotalTime>
  <Words>1666</Words>
  <Application>Microsoft Office PowerPoint</Application>
  <PresentationFormat>Widescreen</PresentationFormat>
  <Paragraphs>299</Paragraphs>
  <Slides>38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Comic Sans MS</vt:lpstr>
      <vt:lpstr>Tahoma</vt:lpstr>
      <vt:lpstr>Tenorite</vt:lpstr>
      <vt:lpstr>Times New Roman</vt:lpstr>
      <vt:lpstr>Wingdings</vt:lpstr>
      <vt:lpstr>Office Theme</vt:lpstr>
      <vt:lpstr>Introduction to Cloud Computing</vt:lpstr>
      <vt:lpstr>Agenda</vt:lpstr>
      <vt:lpstr>Introduction</vt:lpstr>
      <vt:lpstr>Introduction</vt:lpstr>
      <vt:lpstr>Introduction</vt:lpstr>
      <vt:lpstr>Introduction</vt:lpstr>
      <vt:lpstr>Introduction</vt:lpstr>
      <vt:lpstr>Introduction</vt:lpstr>
      <vt:lpstr>Cloud Components</vt:lpstr>
      <vt:lpstr>Clients</vt:lpstr>
      <vt:lpstr>Data Center</vt:lpstr>
      <vt:lpstr>Distributed Servers</vt:lpstr>
      <vt:lpstr>Common Themes</vt:lpstr>
      <vt:lpstr>Related terms &amp; timeline</vt:lpstr>
      <vt:lpstr>Cluster Computing</vt:lpstr>
      <vt:lpstr>Cluster Computing</vt:lpstr>
      <vt:lpstr>Grid Computing</vt:lpstr>
      <vt:lpstr>Grid Computing</vt:lpstr>
      <vt:lpstr>Cluster, Grid &amp; Cloud</vt:lpstr>
      <vt:lpstr>Cluster, Grid &amp; Cloud</vt:lpstr>
      <vt:lpstr>Cluster, Grid &amp; Cloud</vt:lpstr>
      <vt:lpstr>Cluster Configuration</vt:lpstr>
      <vt:lpstr>Cluster, Grid &amp; Cloud Computing</vt:lpstr>
      <vt:lpstr>Cloud, Fog &amp; Edge</vt:lpstr>
      <vt:lpstr>Cloud, Fog &amp; Edge</vt:lpstr>
      <vt:lpstr>Cloud, Fog &amp; Edge</vt:lpstr>
      <vt:lpstr>Cloud, Fog &amp; Edge</vt:lpstr>
      <vt:lpstr>Cloud, Fog &amp; Edge</vt:lpstr>
      <vt:lpstr>Cloud Computing - Detail</vt:lpstr>
      <vt:lpstr>User perspective</vt:lpstr>
      <vt:lpstr>Utility Computing</vt:lpstr>
      <vt:lpstr>Service Oriented Architecture</vt:lpstr>
      <vt:lpstr>Service Level Agreement</vt:lpstr>
      <vt:lpstr>Benefits of Cloud Computing</vt:lpstr>
      <vt:lpstr>Challenges in the cloud computing</vt:lpstr>
      <vt:lpstr>General Concerns</vt:lpstr>
      <vt:lpstr>Cloud Computing – Pros &amp; Cons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Normal</dc:creator>
  <cp:lastModifiedBy>Pardeep Kumar</cp:lastModifiedBy>
  <cp:revision>55</cp:revision>
  <dcterms:created xsi:type="dcterms:W3CDTF">2023-11-23T05:04:00Z</dcterms:created>
  <dcterms:modified xsi:type="dcterms:W3CDTF">2025-09-29T18:08:39Z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