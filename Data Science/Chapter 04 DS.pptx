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35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25448" y="467360"/>
            <a:ext cx="5583555" cy="1183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8E8E93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8E8E93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8E8E93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8E8E93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8E8E93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18194" y="0"/>
            <a:ext cx="725805" cy="6858000"/>
          </a:xfrm>
          <a:custGeom>
            <a:avLst/>
            <a:gdLst/>
            <a:ahLst/>
            <a:cxnLst/>
            <a:rect l="l" t="t" r="r" b="b"/>
            <a:pathLst>
              <a:path w="725804" h="6858000">
                <a:moveTo>
                  <a:pt x="725804" y="6857998"/>
                </a:moveTo>
                <a:lnTo>
                  <a:pt x="725804" y="0"/>
                </a:lnTo>
                <a:lnTo>
                  <a:pt x="0" y="0"/>
                </a:lnTo>
                <a:lnTo>
                  <a:pt x="0" y="6857998"/>
                </a:lnTo>
                <a:lnTo>
                  <a:pt x="725804" y="6857998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25448" y="467360"/>
            <a:ext cx="5970905" cy="1183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5448" y="1843785"/>
            <a:ext cx="515937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1954" y="6213119"/>
            <a:ext cx="540384" cy="514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8E8E93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342900" y="0"/>
              <a:ext cx="8801100" cy="6858000"/>
            </a:xfrm>
            <a:custGeom>
              <a:avLst/>
              <a:gdLst/>
              <a:ahLst/>
              <a:cxnLst/>
              <a:rect l="l" t="t" r="r" b="b"/>
              <a:pathLst>
                <a:path w="8801100" h="6858000">
                  <a:moveTo>
                    <a:pt x="0" y="6858000"/>
                  </a:moveTo>
                  <a:lnTo>
                    <a:pt x="8801100" y="6858000"/>
                  </a:lnTo>
                  <a:lnTo>
                    <a:pt x="88011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53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342900" cy="6858000"/>
            </a:xfrm>
            <a:custGeom>
              <a:avLst/>
              <a:gdLst/>
              <a:ahLst/>
              <a:cxnLst/>
              <a:rect l="l" t="t" r="r" b="b"/>
              <a:pathLst>
                <a:path w="342900" h="6858000">
                  <a:moveTo>
                    <a:pt x="3429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42900" y="68580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25448" y="2013330"/>
            <a:ext cx="6148705" cy="3132455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 marR="5080">
              <a:lnSpc>
                <a:spcPts val="6730"/>
              </a:lnSpc>
              <a:spcBef>
                <a:spcPts val="1315"/>
              </a:spcBef>
            </a:pPr>
            <a:r>
              <a:rPr sz="6600" spc="445" dirty="0">
                <a:solidFill>
                  <a:srgbClr val="FFFFFF"/>
                </a:solidFill>
              </a:rPr>
              <a:t>An</a:t>
            </a:r>
            <a:r>
              <a:rPr sz="6600" spc="295" dirty="0">
                <a:solidFill>
                  <a:srgbClr val="FFFFFF"/>
                </a:solidFill>
              </a:rPr>
              <a:t> </a:t>
            </a:r>
            <a:r>
              <a:rPr sz="6600" spc="135" dirty="0">
                <a:solidFill>
                  <a:srgbClr val="FFFFFF"/>
                </a:solidFill>
              </a:rPr>
              <a:t>Introduction </a:t>
            </a:r>
            <a:r>
              <a:rPr sz="6600" dirty="0">
                <a:solidFill>
                  <a:srgbClr val="FFFFFF"/>
                </a:solidFill>
              </a:rPr>
              <a:t>to</a:t>
            </a:r>
            <a:r>
              <a:rPr sz="6600" spc="345" dirty="0">
                <a:solidFill>
                  <a:srgbClr val="FFFFFF"/>
                </a:solidFill>
              </a:rPr>
              <a:t> </a:t>
            </a:r>
            <a:r>
              <a:rPr sz="6600" spc="260" dirty="0">
                <a:solidFill>
                  <a:srgbClr val="FFFFFF"/>
                </a:solidFill>
              </a:rPr>
              <a:t>Machine </a:t>
            </a:r>
            <a:r>
              <a:rPr sz="6600" spc="275" dirty="0">
                <a:solidFill>
                  <a:srgbClr val="FFFFFF"/>
                </a:solidFill>
              </a:rPr>
              <a:t>Learning</a:t>
            </a:r>
            <a:endParaRPr sz="6600" dirty="0"/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lang="en-US" sz="2000" spc="145" dirty="0" smtClean="0">
                <a:solidFill>
                  <a:srgbClr val="D9D9D9"/>
                </a:solidFill>
              </a:rPr>
              <a:t>Mr</a:t>
            </a:r>
            <a:r>
              <a:rPr lang="en-US" sz="2000" spc="145" dirty="0" smtClean="0">
                <a:solidFill>
                  <a:srgbClr val="D9D9D9"/>
                </a:solidFill>
              </a:rPr>
              <a:t>. Zohaib Ahmed</a:t>
            </a:r>
            <a:endParaRPr sz="20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7" name="Rectangle 6"/>
          <p:cNvSpPr/>
          <p:nvPr/>
        </p:nvSpPr>
        <p:spPr>
          <a:xfrm>
            <a:off x="2469109" y="22412"/>
            <a:ext cx="4548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45" dirty="0" smtClean="0">
                <a:solidFill>
                  <a:srgbClr val="D9D9D9"/>
                </a:solidFill>
              </a:rPr>
              <a:t>Department of Software Engineering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25448" y="1843785"/>
            <a:ext cx="6148070" cy="271716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95580" marR="395605" indent="-182880" algn="just">
              <a:lnSpc>
                <a:spcPct val="95100"/>
              </a:lnSpc>
              <a:spcBef>
                <a:spcPts val="204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5580" algn="l"/>
              </a:tabLst>
            </a:pPr>
            <a:r>
              <a:rPr sz="1800" spc="100" dirty="0">
                <a:latin typeface="Cambria"/>
                <a:cs typeface="Cambria"/>
              </a:rPr>
              <a:t>Arthur</a:t>
            </a:r>
            <a:r>
              <a:rPr sz="1800" spc="110" dirty="0">
                <a:latin typeface="Cambria"/>
                <a:cs typeface="Cambria"/>
              </a:rPr>
              <a:t> Samuel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(1959).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Machine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Learning: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b="1" spc="140" dirty="0">
                <a:latin typeface="Cambria"/>
                <a:cs typeface="Cambria"/>
              </a:rPr>
              <a:t>Field</a:t>
            </a:r>
            <a:r>
              <a:rPr sz="1800" b="1" spc="130" dirty="0">
                <a:latin typeface="Cambria"/>
                <a:cs typeface="Cambria"/>
              </a:rPr>
              <a:t> </a:t>
            </a:r>
            <a:r>
              <a:rPr sz="1800" b="1" spc="70" dirty="0">
                <a:latin typeface="Cambria"/>
                <a:cs typeface="Cambria"/>
              </a:rPr>
              <a:t>of </a:t>
            </a:r>
            <a:r>
              <a:rPr sz="1800" b="1" spc="120" dirty="0">
                <a:latin typeface="Cambria"/>
                <a:cs typeface="Cambria"/>
              </a:rPr>
              <a:t>study</a:t>
            </a:r>
            <a:r>
              <a:rPr sz="1800" b="1" spc="135" dirty="0">
                <a:latin typeface="Cambria"/>
                <a:cs typeface="Cambria"/>
              </a:rPr>
              <a:t> </a:t>
            </a:r>
            <a:r>
              <a:rPr sz="1800" b="1" spc="130" dirty="0">
                <a:latin typeface="Cambria"/>
                <a:cs typeface="Cambria"/>
              </a:rPr>
              <a:t>that </a:t>
            </a:r>
            <a:r>
              <a:rPr sz="1800" b="1" spc="114" dirty="0">
                <a:latin typeface="Cambria"/>
                <a:cs typeface="Cambria"/>
              </a:rPr>
              <a:t>gives</a:t>
            </a:r>
            <a:r>
              <a:rPr sz="1800" b="1" spc="130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computers</a:t>
            </a:r>
            <a:r>
              <a:rPr sz="1800" b="1" spc="145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the</a:t>
            </a:r>
            <a:r>
              <a:rPr sz="1800" b="1" spc="140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ability</a:t>
            </a:r>
            <a:r>
              <a:rPr sz="1800" b="1" spc="114" dirty="0">
                <a:latin typeface="Cambria"/>
                <a:cs typeface="Cambria"/>
              </a:rPr>
              <a:t> </a:t>
            </a:r>
            <a:r>
              <a:rPr sz="1800" b="1" spc="90" dirty="0">
                <a:latin typeface="Cambria"/>
                <a:cs typeface="Cambria"/>
              </a:rPr>
              <a:t>to</a:t>
            </a:r>
            <a:r>
              <a:rPr sz="1800" b="1" spc="145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learn </a:t>
            </a:r>
            <a:r>
              <a:rPr sz="1800" b="1" spc="125" dirty="0">
                <a:latin typeface="Cambria"/>
                <a:cs typeface="Cambria"/>
              </a:rPr>
              <a:t>without</a:t>
            </a:r>
            <a:r>
              <a:rPr sz="1800" b="1" spc="120" dirty="0">
                <a:latin typeface="Cambria"/>
                <a:cs typeface="Cambria"/>
              </a:rPr>
              <a:t> being</a:t>
            </a:r>
            <a:r>
              <a:rPr sz="1800" b="1" spc="140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explicitly </a:t>
            </a:r>
            <a:r>
              <a:rPr sz="1800" b="1" spc="105" dirty="0">
                <a:latin typeface="Cambria"/>
                <a:cs typeface="Cambria"/>
              </a:rPr>
              <a:t>programmed.</a:t>
            </a:r>
            <a:endParaRPr sz="1800">
              <a:latin typeface="Cambria"/>
              <a:cs typeface="Cambria"/>
            </a:endParaRPr>
          </a:p>
          <a:p>
            <a:pPr marL="195580" marR="5080" indent="-182880">
              <a:lnSpc>
                <a:spcPts val="2050"/>
              </a:lnSpc>
              <a:spcBef>
                <a:spcPts val="166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5580" algn="l"/>
              </a:tabLst>
            </a:pPr>
            <a:r>
              <a:rPr sz="1800" spc="75" dirty="0">
                <a:latin typeface="Cambria"/>
                <a:cs typeface="Cambria"/>
              </a:rPr>
              <a:t>Definition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Tom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Mitchell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(1998):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Machine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Learning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is </a:t>
            </a:r>
            <a:r>
              <a:rPr sz="1800" spc="70" dirty="0">
                <a:latin typeface="Cambria"/>
                <a:cs typeface="Cambria"/>
              </a:rPr>
              <a:t>the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study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algorithms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that</a:t>
            </a:r>
            <a:endParaRPr sz="18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260"/>
              </a:spcBef>
            </a:pPr>
            <a:r>
              <a:rPr sz="1600" spc="-62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1600" spc="80" dirty="0">
                <a:solidFill>
                  <a:srgbClr val="6E6E74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improve</a:t>
            </a:r>
            <a:r>
              <a:rPr sz="1600" spc="2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their</a:t>
            </a:r>
            <a:r>
              <a:rPr sz="1600" spc="1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performance</a:t>
            </a:r>
            <a:r>
              <a:rPr sz="1600" spc="25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100" dirty="0">
                <a:solidFill>
                  <a:srgbClr val="252525"/>
                </a:solidFill>
                <a:latin typeface="Cambria"/>
                <a:cs typeface="Cambria"/>
              </a:rPr>
              <a:t>P</a:t>
            </a:r>
            <a:endParaRPr sz="16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409"/>
              </a:spcBef>
            </a:pPr>
            <a:r>
              <a:rPr sz="1600" spc="-62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1600" spc="440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1600" spc="90" dirty="0">
                <a:solidFill>
                  <a:srgbClr val="252525"/>
                </a:solidFill>
                <a:latin typeface="Cambria"/>
                <a:cs typeface="Cambria"/>
              </a:rPr>
              <a:t>at</a:t>
            </a:r>
            <a:r>
              <a:rPr sz="16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some</a:t>
            </a:r>
            <a:r>
              <a:rPr sz="16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252525"/>
                </a:solidFill>
                <a:latin typeface="Cambria"/>
                <a:cs typeface="Cambria"/>
              </a:rPr>
              <a:t>task</a:t>
            </a:r>
            <a:r>
              <a:rPr sz="16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60" dirty="0">
                <a:solidFill>
                  <a:srgbClr val="252525"/>
                </a:solidFill>
                <a:latin typeface="Cambria"/>
                <a:cs typeface="Cambria"/>
              </a:rPr>
              <a:t>T</a:t>
            </a:r>
            <a:endParaRPr sz="16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405"/>
              </a:spcBef>
            </a:pPr>
            <a:r>
              <a:rPr sz="1600" spc="-62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1600" spc="65" dirty="0">
                <a:solidFill>
                  <a:srgbClr val="6E6E74"/>
                </a:solidFill>
                <a:latin typeface="Arial MT"/>
                <a:cs typeface="Arial MT"/>
              </a:rPr>
              <a:t>  </a:t>
            </a:r>
            <a:r>
              <a:rPr sz="1600" spc="50" dirty="0">
                <a:solidFill>
                  <a:srgbClr val="252525"/>
                </a:solidFill>
                <a:latin typeface="Cambria"/>
                <a:cs typeface="Cambria"/>
              </a:rPr>
              <a:t>with</a:t>
            </a:r>
            <a:r>
              <a:rPr sz="1600" spc="20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experience</a:t>
            </a:r>
            <a:r>
              <a:rPr sz="1600" spc="19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140" dirty="0">
                <a:solidFill>
                  <a:srgbClr val="252525"/>
                </a:solidFill>
                <a:latin typeface="Cambria"/>
                <a:cs typeface="Cambria"/>
              </a:rPr>
              <a:t>E.</a:t>
            </a:r>
            <a:endParaRPr sz="16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409"/>
              </a:spcBef>
            </a:pPr>
            <a:r>
              <a:rPr sz="1600" spc="-62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1600" spc="40" dirty="0">
                <a:solidFill>
                  <a:srgbClr val="6E6E74"/>
                </a:solidFill>
                <a:latin typeface="Arial MT"/>
                <a:cs typeface="Arial MT"/>
              </a:rPr>
              <a:t>  </a:t>
            </a:r>
            <a:r>
              <a:rPr sz="1600" spc="145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16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well-defined</a:t>
            </a:r>
            <a:r>
              <a:rPr sz="1600" spc="20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60" dirty="0">
                <a:solidFill>
                  <a:srgbClr val="252525"/>
                </a:solidFill>
                <a:latin typeface="Cambria"/>
                <a:cs typeface="Cambria"/>
              </a:rPr>
              <a:t>learning</a:t>
            </a:r>
            <a:r>
              <a:rPr sz="16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252525"/>
                </a:solidFill>
                <a:latin typeface="Cambria"/>
                <a:cs typeface="Cambria"/>
              </a:rPr>
              <a:t>task</a:t>
            </a:r>
            <a:r>
              <a:rPr sz="1600" spc="1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0" dirty="0">
                <a:solidFill>
                  <a:srgbClr val="252525"/>
                </a:solidFill>
                <a:latin typeface="Cambria"/>
                <a:cs typeface="Cambria"/>
              </a:rPr>
              <a:t>is</a:t>
            </a:r>
            <a:r>
              <a:rPr sz="16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given</a:t>
            </a:r>
            <a:r>
              <a:rPr sz="1600" spc="17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by</a:t>
            </a:r>
            <a:r>
              <a:rPr sz="16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110" dirty="0">
                <a:solidFill>
                  <a:srgbClr val="252525"/>
                </a:solidFill>
                <a:latin typeface="Cambria"/>
                <a:cs typeface="Cambria"/>
              </a:rPr>
              <a:t>&lt;P,</a:t>
            </a:r>
            <a:r>
              <a:rPr sz="1600" spc="1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110" dirty="0">
                <a:solidFill>
                  <a:srgbClr val="252525"/>
                </a:solidFill>
                <a:latin typeface="Cambria"/>
                <a:cs typeface="Cambria"/>
              </a:rPr>
              <a:t>T,</a:t>
            </a:r>
            <a:r>
              <a:rPr sz="1600" spc="1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114" dirty="0">
                <a:solidFill>
                  <a:srgbClr val="252525"/>
                </a:solidFill>
                <a:latin typeface="Cambria"/>
                <a:cs typeface="Cambria"/>
              </a:rPr>
              <a:t>E&gt;.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7924800" cy="2667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74698"/>
            <a:ext cx="8458199" cy="47269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2149980"/>
            <a:ext cx="8364855" cy="463181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8" y="1600184"/>
            <a:ext cx="8305800" cy="51513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44"/>
            <a:ext cx="7467600" cy="52412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448" y="467360"/>
            <a:ext cx="5740400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85" dirty="0"/>
              <a:t>Applications</a:t>
            </a:r>
            <a:r>
              <a:rPr spc="155" dirty="0"/>
              <a:t> </a:t>
            </a:r>
            <a:r>
              <a:rPr dirty="0"/>
              <a:t>for</a:t>
            </a:r>
            <a:r>
              <a:rPr spc="140" dirty="0"/>
              <a:t> </a:t>
            </a:r>
            <a:r>
              <a:rPr spc="95" dirty="0"/>
              <a:t>machine </a:t>
            </a:r>
            <a:r>
              <a:rPr spc="114" dirty="0"/>
              <a:t>learning</a:t>
            </a:r>
            <a:r>
              <a:rPr spc="130" dirty="0"/>
              <a:t> </a:t>
            </a:r>
            <a:r>
              <a:rPr spc="145" dirty="0"/>
              <a:t>in</a:t>
            </a:r>
            <a:r>
              <a:rPr spc="140" dirty="0"/>
              <a:t> </a:t>
            </a:r>
            <a:r>
              <a:rPr spc="150" dirty="0"/>
              <a:t>data</a:t>
            </a:r>
            <a:r>
              <a:rPr spc="145" dirty="0"/>
              <a:t> </a:t>
            </a:r>
            <a:r>
              <a:rPr spc="-10" dirty="0"/>
              <a:t>science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1615185"/>
            <a:ext cx="8143875" cy="174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ts val="2110"/>
              </a:lnSpc>
              <a:spcBef>
                <a:spcPts val="10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945" algn="l"/>
                <a:tab pos="1656714" algn="l"/>
                <a:tab pos="2190115" algn="l"/>
                <a:tab pos="3919220" algn="l"/>
                <a:tab pos="4397375" algn="l"/>
                <a:tab pos="4720590" algn="l"/>
                <a:tab pos="5720715" algn="l"/>
                <a:tab pos="7059295" algn="l"/>
                <a:tab pos="7395845" algn="l"/>
                <a:tab pos="7654925" algn="l"/>
              </a:tabLst>
            </a:pPr>
            <a:r>
              <a:rPr sz="1800" b="1" spc="105" dirty="0">
                <a:latin typeface="Cambria"/>
                <a:cs typeface="Cambria"/>
              </a:rPr>
              <a:t>Regression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spc="55" dirty="0">
                <a:latin typeface="Cambria"/>
                <a:cs typeface="Cambria"/>
              </a:rPr>
              <a:t>and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b="1" spc="100" dirty="0">
                <a:latin typeface="Cambria"/>
                <a:cs typeface="Cambria"/>
              </a:rPr>
              <a:t>classification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spc="40" dirty="0">
                <a:latin typeface="Cambria"/>
                <a:cs typeface="Cambria"/>
              </a:rPr>
              <a:t>are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-25" dirty="0">
                <a:latin typeface="Cambria"/>
                <a:cs typeface="Cambria"/>
              </a:rPr>
              <a:t>of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55" dirty="0">
                <a:latin typeface="Cambria"/>
                <a:cs typeface="Cambria"/>
              </a:rPr>
              <a:t>primary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40" dirty="0">
                <a:latin typeface="Cambria"/>
                <a:cs typeface="Cambria"/>
              </a:rPr>
              <a:t>importance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-25" dirty="0">
                <a:latin typeface="Cambria"/>
                <a:cs typeface="Cambria"/>
              </a:rPr>
              <a:t>to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60" dirty="0">
                <a:latin typeface="Cambria"/>
                <a:cs typeface="Cambria"/>
              </a:rPr>
              <a:t>a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65" dirty="0">
                <a:latin typeface="Cambria"/>
                <a:cs typeface="Cambria"/>
              </a:rPr>
              <a:t>data</a:t>
            </a:r>
            <a:endParaRPr sz="1800">
              <a:latin typeface="Cambria"/>
              <a:cs typeface="Cambria"/>
            </a:endParaRPr>
          </a:p>
          <a:p>
            <a:pPr marL="195580">
              <a:lnSpc>
                <a:spcPts val="2110"/>
              </a:lnSpc>
            </a:pPr>
            <a:r>
              <a:rPr sz="1800" spc="50" dirty="0">
                <a:latin typeface="Cambria"/>
                <a:cs typeface="Cambria"/>
              </a:rPr>
              <a:t>scientist</a:t>
            </a:r>
            <a:endParaRPr sz="1800">
              <a:latin typeface="Cambria"/>
              <a:cs typeface="Cambria"/>
            </a:endParaRPr>
          </a:p>
          <a:p>
            <a:pPr marL="195580" marR="5080" indent="-182880">
              <a:lnSpc>
                <a:spcPts val="2050"/>
              </a:lnSpc>
              <a:spcBef>
                <a:spcPts val="165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5580" algn="l"/>
              </a:tabLst>
            </a:pPr>
            <a:r>
              <a:rPr sz="1800" spc="95" dirty="0">
                <a:latin typeface="Cambria"/>
                <a:cs typeface="Cambria"/>
              </a:rPr>
              <a:t>Finding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oil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fields,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gold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mines,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archeological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sites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based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existing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sites (classification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regression)</a:t>
            </a:r>
            <a:endParaRPr sz="18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144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945" algn="l"/>
              </a:tabLst>
            </a:pPr>
            <a:r>
              <a:rPr sz="1800" spc="95" dirty="0">
                <a:latin typeface="Cambria"/>
                <a:cs typeface="Cambria"/>
              </a:rPr>
              <a:t>Finding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place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names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persons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in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text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(classification)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361" y="4305317"/>
            <a:ext cx="3456051" cy="24334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4800" y="4114837"/>
            <a:ext cx="4713986" cy="26155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85" dirty="0"/>
              <a:t>Applications</a:t>
            </a:r>
            <a:r>
              <a:rPr spc="155" dirty="0"/>
              <a:t> </a:t>
            </a:r>
            <a:r>
              <a:rPr dirty="0"/>
              <a:t>for</a:t>
            </a:r>
            <a:r>
              <a:rPr spc="140" dirty="0"/>
              <a:t> </a:t>
            </a:r>
            <a:r>
              <a:rPr spc="95" dirty="0"/>
              <a:t>machine </a:t>
            </a:r>
            <a:r>
              <a:rPr spc="114" dirty="0"/>
              <a:t>learning</a:t>
            </a:r>
            <a:r>
              <a:rPr spc="130" dirty="0"/>
              <a:t> </a:t>
            </a:r>
            <a:r>
              <a:rPr spc="145" dirty="0"/>
              <a:t>in</a:t>
            </a:r>
            <a:r>
              <a:rPr spc="140" dirty="0"/>
              <a:t> </a:t>
            </a:r>
            <a:r>
              <a:rPr spc="150" dirty="0"/>
              <a:t>data</a:t>
            </a:r>
            <a:r>
              <a:rPr spc="145" dirty="0"/>
              <a:t> </a:t>
            </a:r>
            <a:r>
              <a:rPr spc="-10" dirty="0"/>
              <a:t>science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448" y="1845005"/>
            <a:ext cx="6134735" cy="1024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ts val="2110"/>
              </a:lnSpc>
              <a:spcBef>
                <a:spcPts val="10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945" algn="l"/>
              </a:tabLst>
            </a:pPr>
            <a:r>
              <a:rPr sz="1800" spc="75" dirty="0">
                <a:latin typeface="Cambria"/>
                <a:cs typeface="Cambria"/>
              </a:rPr>
              <a:t>Identifying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people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based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pictures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voice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recordings</a:t>
            </a:r>
            <a:endParaRPr sz="1800">
              <a:latin typeface="Cambria"/>
              <a:cs typeface="Cambria"/>
            </a:endParaRPr>
          </a:p>
          <a:p>
            <a:pPr marL="195580">
              <a:lnSpc>
                <a:spcPts val="2110"/>
              </a:lnSpc>
            </a:pPr>
            <a:r>
              <a:rPr sz="1800" spc="-10" dirty="0">
                <a:latin typeface="Cambria"/>
                <a:cs typeface="Cambria"/>
              </a:rPr>
              <a:t>(classification)</a:t>
            </a:r>
            <a:endParaRPr sz="18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149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945" algn="l"/>
              </a:tabLst>
            </a:pPr>
            <a:r>
              <a:rPr sz="1800" spc="60" dirty="0">
                <a:latin typeface="Cambria"/>
                <a:cs typeface="Cambria"/>
              </a:rPr>
              <a:t>Recognizing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birds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based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their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whistle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(classification)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9000" y="3744973"/>
            <a:ext cx="3588638" cy="31130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592576"/>
            <a:ext cx="4570856" cy="31130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85" dirty="0"/>
              <a:t>Applications</a:t>
            </a:r>
            <a:r>
              <a:rPr spc="155" dirty="0"/>
              <a:t> </a:t>
            </a:r>
            <a:r>
              <a:rPr dirty="0"/>
              <a:t>for</a:t>
            </a:r>
            <a:r>
              <a:rPr spc="140" dirty="0"/>
              <a:t> </a:t>
            </a:r>
            <a:r>
              <a:rPr spc="95" dirty="0"/>
              <a:t>machine </a:t>
            </a:r>
            <a:r>
              <a:rPr spc="114" dirty="0"/>
              <a:t>learning</a:t>
            </a:r>
            <a:r>
              <a:rPr spc="130" dirty="0"/>
              <a:t> </a:t>
            </a:r>
            <a:r>
              <a:rPr spc="145" dirty="0"/>
              <a:t>in</a:t>
            </a:r>
            <a:r>
              <a:rPr spc="140" dirty="0"/>
              <a:t> </a:t>
            </a:r>
            <a:r>
              <a:rPr spc="150" dirty="0"/>
              <a:t>data</a:t>
            </a:r>
            <a:r>
              <a:rPr spc="145" dirty="0"/>
              <a:t> </a:t>
            </a:r>
            <a:r>
              <a:rPr spc="-10" dirty="0"/>
              <a:t>science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448" y="1845005"/>
            <a:ext cx="6288405" cy="1748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ts val="2110"/>
              </a:lnSpc>
              <a:spcBef>
                <a:spcPts val="10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945" algn="l"/>
                <a:tab pos="1676400" algn="l"/>
                <a:tab pos="3010535" algn="l"/>
                <a:tab pos="4394200" algn="l"/>
                <a:tab pos="5874385" algn="l"/>
              </a:tabLst>
            </a:pPr>
            <a:r>
              <a:rPr sz="1800" spc="65" dirty="0">
                <a:latin typeface="Cambria"/>
                <a:cs typeface="Cambria"/>
              </a:rPr>
              <a:t>Identifying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40" dirty="0">
                <a:latin typeface="Cambria"/>
                <a:cs typeface="Cambria"/>
              </a:rPr>
              <a:t>profitable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40" dirty="0">
                <a:latin typeface="Cambria"/>
                <a:cs typeface="Cambria"/>
              </a:rPr>
              <a:t>customers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-10" dirty="0">
                <a:latin typeface="Cambria"/>
                <a:cs typeface="Cambria"/>
              </a:rPr>
              <a:t>(regression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55" dirty="0">
                <a:latin typeface="Cambria"/>
                <a:cs typeface="Cambria"/>
              </a:rPr>
              <a:t>and</a:t>
            </a:r>
            <a:endParaRPr sz="1800">
              <a:latin typeface="Cambria"/>
              <a:cs typeface="Cambria"/>
            </a:endParaRPr>
          </a:p>
          <a:p>
            <a:pPr marL="195580">
              <a:lnSpc>
                <a:spcPts val="2110"/>
              </a:lnSpc>
            </a:pPr>
            <a:r>
              <a:rPr sz="1800" spc="40" dirty="0">
                <a:latin typeface="Cambria"/>
                <a:cs typeface="Cambria"/>
              </a:rPr>
              <a:t>classification)</a:t>
            </a:r>
            <a:endParaRPr sz="1800">
              <a:latin typeface="Cambria"/>
              <a:cs typeface="Cambria"/>
            </a:endParaRPr>
          </a:p>
          <a:p>
            <a:pPr marL="195580" marR="5080" indent="-182880">
              <a:lnSpc>
                <a:spcPts val="2050"/>
              </a:lnSpc>
              <a:spcBef>
                <a:spcPts val="165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5580" algn="l"/>
              </a:tabLst>
            </a:pPr>
            <a:r>
              <a:rPr sz="1800" spc="60" dirty="0">
                <a:latin typeface="Cambria"/>
                <a:cs typeface="Cambria"/>
              </a:rPr>
              <a:t>Proactively</a:t>
            </a:r>
            <a:r>
              <a:rPr sz="1800" spc="55" dirty="0">
                <a:latin typeface="Cambria"/>
                <a:cs typeface="Cambria"/>
              </a:rPr>
              <a:t>  </a:t>
            </a:r>
            <a:r>
              <a:rPr sz="1800" spc="65" dirty="0">
                <a:latin typeface="Cambria"/>
                <a:cs typeface="Cambria"/>
              </a:rPr>
              <a:t>identifying</a:t>
            </a:r>
            <a:r>
              <a:rPr sz="1800" spc="50" dirty="0">
                <a:latin typeface="Cambria"/>
                <a:cs typeface="Cambria"/>
              </a:rPr>
              <a:t>  </a:t>
            </a:r>
            <a:r>
              <a:rPr sz="1800" spc="60" dirty="0">
                <a:latin typeface="Cambria"/>
                <a:cs typeface="Cambria"/>
              </a:rPr>
              <a:t>car</a:t>
            </a:r>
            <a:r>
              <a:rPr sz="1800" spc="49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parts</a:t>
            </a:r>
            <a:r>
              <a:rPr sz="1800" spc="49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that</a:t>
            </a:r>
            <a:r>
              <a:rPr sz="1800" spc="4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are</a:t>
            </a:r>
            <a:r>
              <a:rPr sz="1800" spc="4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likely</a:t>
            </a:r>
            <a:r>
              <a:rPr sz="1800" spc="4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49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fail </a:t>
            </a:r>
            <a:r>
              <a:rPr sz="1800" spc="-10" dirty="0">
                <a:latin typeface="Cambria"/>
                <a:cs typeface="Cambria"/>
              </a:rPr>
              <a:t>(regression)</a:t>
            </a:r>
            <a:endParaRPr sz="18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144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945" algn="l"/>
              </a:tabLst>
            </a:pPr>
            <a:r>
              <a:rPr sz="1800" spc="75" dirty="0">
                <a:latin typeface="Cambria"/>
                <a:cs typeface="Cambria"/>
              </a:rPr>
              <a:t>Identifying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tumors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diseases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(classification)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762" y="4138674"/>
            <a:ext cx="3771391" cy="27069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5400" y="3983989"/>
            <a:ext cx="2762250" cy="286027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85" dirty="0"/>
              <a:t>Applications</a:t>
            </a:r>
            <a:r>
              <a:rPr spc="155" dirty="0"/>
              <a:t> </a:t>
            </a:r>
            <a:r>
              <a:rPr dirty="0"/>
              <a:t>for</a:t>
            </a:r>
            <a:r>
              <a:rPr spc="140" dirty="0"/>
              <a:t> </a:t>
            </a:r>
            <a:r>
              <a:rPr spc="95" dirty="0"/>
              <a:t>machine </a:t>
            </a:r>
            <a:r>
              <a:rPr spc="114" dirty="0"/>
              <a:t>learning</a:t>
            </a:r>
            <a:r>
              <a:rPr spc="130" dirty="0"/>
              <a:t> </a:t>
            </a:r>
            <a:r>
              <a:rPr spc="145" dirty="0"/>
              <a:t>in</a:t>
            </a:r>
            <a:r>
              <a:rPr spc="140" dirty="0"/>
              <a:t> </a:t>
            </a:r>
            <a:r>
              <a:rPr spc="150" dirty="0"/>
              <a:t>data</a:t>
            </a:r>
            <a:r>
              <a:rPr spc="145" dirty="0"/>
              <a:t> </a:t>
            </a:r>
            <a:r>
              <a:rPr spc="-10" dirty="0"/>
              <a:t>science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06398" y="1798111"/>
          <a:ext cx="6403340" cy="4106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5044">
                <a:tc gridSpan="2">
                  <a:txBody>
                    <a:bodyPr/>
                    <a:lstStyle/>
                    <a:p>
                      <a:pPr marL="214629" marR="86360" indent="-182880">
                        <a:lnSpc>
                          <a:spcPts val="3379"/>
                        </a:lnSpc>
                        <a:spcBef>
                          <a:spcPts val="550"/>
                        </a:spcBef>
                        <a:buClr>
                          <a:srgbClr val="6E6E74"/>
                        </a:buClr>
                        <a:buSzPct val="80303"/>
                        <a:buFont typeface="Arial MT"/>
                        <a:buChar char="•"/>
                        <a:tabLst>
                          <a:tab pos="214629" algn="l"/>
                          <a:tab pos="1677035" algn="l"/>
                          <a:tab pos="2096770" algn="l"/>
                          <a:tab pos="2764155" algn="l"/>
                        </a:tabLst>
                      </a:pPr>
                      <a:r>
                        <a:rPr sz="3300" spc="114" dirty="0">
                          <a:latin typeface="Cambria"/>
                          <a:cs typeface="Cambria"/>
                        </a:rPr>
                        <a:t>Predicting</a:t>
                      </a:r>
                      <a:r>
                        <a:rPr sz="33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3300" spc="9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3300" spc="70" dirty="0">
                          <a:latin typeface="Cambria"/>
                          <a:cs typeface="Cambria"/>
                        </a:rPr>
                        <a:t>money</a:t>
                      </a:r>
                      <a:r>
                        <a:rPr sz="33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3300" spc="14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33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3300" spc="45" dirty="0">
                          <a:latin typeface="Cambria"/>
                          <a:cs typeface="Cambria"/>
                        </a:rPr>
                        <a:t>person</a:t>
                      </a:r>
                      <a:endParaRPr sz="3300">
                        <a:latin typeface="Cambria"/>
                        <a:cs typeface="Cambria"/>
                      </a:endParaRPr>
                    </a:p>
                  </a:txBody>
                  <a:tcPr marL="0" marR="0" marT="698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710" marR="24130" indent="336550">
                        <a:lnSpc>
                          <a:spcPts val="3379"/>
                        </a:lnSpc>
                        <a:spcBef>
                          <a:spcPts val="550"/>
                        </a:spcBef>
                        <a:tabLst>
                          <a:tab pos="1004569" algn="l"/>
                          <a:tab pos="2334895" algn="l"/>
                          <a:tab pos="2452370" algn="l"/>
                        </a:tabLst>
                      </a:pPr>
                      <a:r>
                        <a:rPr sz="3300" spc="125" dirty="0">
                          <a:latin typeface="Cambria"/>
                          <a:cs typeface="Cambria"/>
                        </a:rPr>
                        <a:t>amount</a:t>
                      </a:r>
                      <a:r>
                        <a:rPr sz="3300" dirty="0">
                          <a:latin typeface="Cambria"/>
                          <a:cs typeface="Cambria"/>
                        </a:rPr>
                        <a:t>		</a:t>
                      </a:r>
                      <a:r>
                        <a:rPr sz="3300" spc="-25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3300" spc="85" dirty="0">
                          <a:latin typeface="Cambria"/>
                          <a:cs typeface="Cambria"/>
                        </a:rPr>
                        <a:t>will</a:t>
                      </a:r>
                      <a:r>
                        <a:rPr sz="33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3300" spc="65" dirty="0">
                          <a:latin typeface="Cambria"/>
                          <a:cs typeface="Cambria"/>
                        </a:rPr>
                        <a:t>spend</a:t>
                      </a:r>
                      <a:r>
                        <a:rPr sz="33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3300" spc="-25" dirty="0">
                          <a:latin typeface="Cambria"/>
                          <a:cs typeface="Cambria"/>
                        </a:rPr>
                        <a:t>on</a:t>
                      </a:r>
                      <a:endParaRPr sz="3300">
                        <a:latin typeface="Cambria"/>
                        <a:cs typeface="Cambria"/>
                      </a:endParaRPr>
                    </a:p>
                  </a:txBody>
                  <a:tcPr marL="0" marR="0" marT="698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8545">
                <a:tc>
                  <a:txBody>
                    <a:bodyPr/>
                    <a:lstStyle/>
                    <a:p>
                      <a:pPr marL="214629">
                        <a:lnSpc>
                          <a:spcPts val="2815"/>
                        </a:lnSpc>
                      </a:pPr>
                      <a:r>
                        <a:rPr sz="3300" spc="70" dirty="0">
                          <a:latin typeface="Cambria"/>
                          <a:cs typeface="Cambria"/>
                        </a:rPr>
                        <a:t>product</a:t>
                      </a:r>
                      <a:r>
                        <a:rPr sz="3300" spc="2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3300" spc="380" dirty="0">
                          <a:latin typeface="Cambria"/>
                          <a:cs typeface="Cambria"/>
                        </a:rPr>
                        <a:t>X</a:t>
                      </a:r>
                      <a:endParaRPr sz="3300">
                        <a:latin typeface="Cambria"/>
                        <a:cs typeface="Cambria"/>
                      </a:endParaRPr>
                    </a:p>
                    <a:p>
                      <a:pPr marL="213995" indent="-182245">
                        <a:lnSpc>
                          <a:spcPct val="100000"/>
                        </a:lnSpc>
                        <a:spcBef>
                          <a:spcPts val="1005"/>
                        </a:spcBef>
                        <a:buClr>
                          <a:srgbClr val="6E6E74"/>
                        </a:buClr>
                        <a:buSzPct val="80303"/>
                        <a:buFont typeface="Arial MT"/>
                        <a:buChar char="•"/>
                        <a:tabLst>
                          <a:tab pos="213995" algn="l"/>
                        </a:tabLst>
                      </a:pPr>
                      <a:r>
                        <a:rPr sz="3300" spc="-10" dirty="0">
                          <a:latin typeface="Cambria"/>
                          <a:cs typeface="Cambria"/>
                        </a:rPr>
                        <a:t>(regression)</a:t>
                      </a:r>
                      <a:endParaRPr sz="3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1905">
                <a:tc gridSpan="2">
                  <a:txBody>
                    <a:bodyPr/>
                    <a:lstStyle/>
                    <a:p>
                      <a:pPr marL="214629" marR="96520" indent="-182880">
                        <a:lnSpc>
                          <a:spcPts val="3360"/>
                        </a:lnSpc>
                        <a:spcBef>
                          <a:spcPts val="1065"/>
                        </a:spcBef>
                        <a:buClr>
                          <a:srgbClr val="6E6E74"/>
                        </a:buClr>
                        <a:buSzPct val="80303"/>
                        <a:buFont typeface="Arial MT"/>
                        <a:buChar char="•"/>
                        <a:tabLst>
                          <a:tab pos="214629" algn="l"/>
                          <a:tab pos="2381885" algn="l"/>
                          <a:tab pos="2756535" algn="l"/>
                          <a:tab pos="3042920" algn="l"/>
                        </a:tabLst>
                      </a:pPr>
                      <a:r>
                        <a:rPr sz="3300" spc="114" dirty="0">
                          <a:latin typeface="Cambria"/>
                          <a:cs typeface="Cambria"/>
                        </a:rPr>
                        <a:t>Predicting</a:t>
                      </a:r>
                      <a:r>
                        <a:rPr sz="3300" dirty="0">
                          <a:latin typeface="Cambria"/>
                          <a:cs typeface="Cambria"/>
                        </a:rPr>
                        <a:t>		</a:t>
                      </a:r>
                      <a:r>
                        <a:rPr sz="3300" spc="100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3300" spc="80" dirty="0">
                          <a:latin typeface="Cambria"/>
                          <a:cs typeface="Cambria"/>
                        </a:rPr>
                        <a:t>eruptions</a:t>
                      </a:r>
                      <a:r>
                        <a:rPr sz="33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3300" spc="-2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3300" dirty="0">
                          <a:latin typeface="Cambria"/>
                          <a:cs typeface="Cambria"/>
                        </a:rPr>
                        <a:t>		</a:t>
                      </a:r>
                      <a:r>
                        <a:rPr sz="3300" spc="155" dirty="0">
                          <a:latin typeface="Cambria"/>
                          <a:cs typeface="Cambria"/>
                        </a:rPr>
                        <a:t>a</a:t>
                      </a:r>
                      <a:endParaRPr sz="3300">
                        <a:latin typeface="Cambria"/>
                        <a:cs typeface="Cambria"/>
                      </a:endParaRPr>
                    </a:p>
                    <a:p>
                      <a:pPr marL="214629">
                        <a:lnSpc>
                          <a:spcPts val="2130"/>
                        </a:lnSpc>
                      </a:pPr>
                      <a:r>
                        <a:rPr sz="3300" spc="-10" dirty="0">
                          <a:latin typeface="Cambria"/>
                          <a:cs typeface="Cambria"/>
                        </a:rPr>
                        <a:t>period</a:t>
                      </a:r>
                      <a:endParaRPr sz="3300">
                        <a:latin typeface="Cambria"/>
                        <a:cs typeface="Cambria"/>
                      </a:endParaRPr>
                    </a:p>
                  </a:txBody>
                  <a:tcPr marL="0" marR="0" marT="13525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 marR="89535" indent="316865">
                        <a:lnSpc>
                          <a:spcPts val="3360"/>
                        </a:lnSpc>
                        <a:spcBef>
                          <a:spcPts val="1065"/>
                        </a:spcBef>
                        <a:tabLst>
                          <a:tab pos="1868170" algn="l"/>
                        </a:tabLst>
                      </a:pPr>
                      <a:r>
                        <a:rPr sz="3300" spc="110" dirty="0">
                          <a:latin typeface="Cambria"/>
                          <a:cs typeface="Cambria"/>
                        </a:rPr>
                        <a:t>number </a:t>
                      </a:r>
                      <a:r>
                        <a:rPr sz="3300" spc="50" dirty="0">
                          <a:latin typeface="Cambria"/>
                          <a:cs typeface="Cambria"/>
                        </a:rPr>
                        <a:t>volcano</a:t>
                      </a:r>
                      <a:r>
                        <a:rPr sz="33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3300" spc="114" dirty="0">
                          <a:latin typeface="Cambria"/>
                          <a:cs typeface="Cambria"/>
                        </a:rPr>
                        <a:t>in</a:t>
                      </a:r>
                      <a:endParaRPr sz="3300">
                        <a:latin typeface="Cambria"/>
                        <a:cs typeface="Cambria"/>
                      </a:endParaRPr>
                    </a:p>
                  </a:txBody>
                  <a:tcPr marL="0" marR="0" marT="135255" marB="0"/>
                </a:tc>
                <a:tc>
                  <a:txBody>
                    <a:bodyPr/>
                    <a:lstStyle/>
                    <a:p>
                      <a:pPr marL="212725" marR="24130" indent="-116205">
                        <a:lnSpc>
                          <a:spcPts val="3360"/>
                        </a:lnSpc>
                        <a:spcBef>
                          <a:spcPts val="1065"/>
                        </a:spcBef>
                      </a:pPr>
                      <a:r>
                        <a:rPr sz="3300" spc="-25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3300" spc="155" dirty="0">
                          <a:latin typeface="Cambria"/>
                          <a:cs typeface="Cambria"/>
                        </a:rPr>
                        <a:t>a</a:t>
                      </a:r>
                      <a:endParaRPr sz="3300">
                        <a:latin typeface="Cambria"/>
                        <a:cs typeface="Cambria"/>
                      </a:endParaRPr>
                    </a:p>
                  </a:txBody>
                  <a:tcPr marL="0" marR="0" marT="1352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213995" indent="-182245">
                        <a:lnSpc>
                          <a:spcPts val="3915"/>
                        </a:lnSpc>
                        <a:spcBef>
                          <a:spcPts val="2140"/>
                        </a:spcBef>
                        <a:buClr>
                          <a:srgbClr val="6E6E74"/>
                        </a:buClr>
                        <a:buSzPct val="80303"/>
                        <a:buFont typeface="Arial MT"/>
                        <a:buChar char="•"/>
                        <a:tabLst>
                          <a:tab pos="213995" algn="l"/>
                        </a:tabLst>
                      </a:pPr>
                      <a:r>
                        <a:rPr sz="3300" spc="-10" dirty="0">
                          <a:latin typeface="Cambria"/>
                          <a:cs typeface="Cambria"/>
                        </a:rPr>
                        <a:t>(regression)</a:t>
                      </a:r>
                      <a:endParaRPr sz="3300">
                        <a:latin typeface="Cambria"/>
                        <a:cs typeface="Cambria"/>
                      </a:endParaRPr>
                    </a:p>
                  </a:txBody>
                  <a:tcPr marL="0" marR="0" marT="271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85" dirty="0"/>
              <a:t>Applications</a:t>
            </a:r>
            <a:r>
              <a:rPr spc="155" dirty="0"/>
              <a:t> </a:t>
            </a:r>
            <a:r>
              <a:rPr dirty="0"/>
              <a:t>for</a:t>
            </a:r>
            <a:r>
              <a:rPr spc="140" dirty="0"/>
              <a:t> </a:t>
            </a:r>
            <a:r>
              <a:rPr spc="95" dirty="0"/>
              <a:t>machine </a:t>
            </a:r>
            <a:r>
              <a:rPr spc="114" dirty="0"/>
              <a:t>learning</a:t>
            </a:r>
            <a:r>
              <a:rPr spc="130" dirty="0"/>
              <a:t> </a:t>
            </a:r>
            <a:r>
              <a:rPr spc="145" dirty="0"/>
              <a:t>in</a:t>
            </a:r>
            <a:r>
              <a:rPr spc="140" dirty="0"/>
              <a:t> </a:t>
            </a:r>
            <a:r>
              <a:rPr spc="150" dirty="0"/>
              <a:t>data</a:t>
            </a:r>
            <a:r>
              <a:rPr spc="145" dirty="0"/>
              <a:t> </a:t>
            </a:r>
            <a:r>
              <a:rPr spc="-10" dirty="0"/>
              <a:t>science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25448" y="1770329"/>
            <a:ext cx="6287135" cy="4075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945" indent="-182245" algn="just">
              <a:lnSpc>
                <a:spcPts val="4110"/>
              </a:lnSpc>
              <a:spcBef>
                <a:spcPts val="95"/>
              </a:spcBef>
              <a:buClr>
                <a:srgbClr val="6E6E74"/>
              </a:buClr>
              <a:buSzPct val="79729"/>
              <a:buFont typeface="Arial MT"/>
              <a:buChar char="•"/>
              <a:tabLst>
                <a:tab pos="194945" algn="l"/>
              </a:tabLst>
            </a:pPr>
            <a:r>
              <a:rPr sz="3700" spc="135" dirty="0">
                <a:latin typeface="Cambria"/>
                <a:cs typeface="Cambria"/>
              </a:rPr>
              <a:t>Predicting</a:t>
            </a:r>
            <a:r>
              <a:rPr sz="3700" spc="335" dirty="0">
                <a:latin typeface="Cambria"/>
                <a:cs typeface="Cambria"/>
              </a:rPr>
              <a:t>  </a:t>
            </a:r>
            <a:r>
              <a:rPr sz="3700" spc="80" dirty="0">
                <a:latin typeface="Cambria"/>
                <a:cs typeface="Cambria"/>
              </a:rPr>
              <a:t>your</a:t>
            </a:r>
            <a:r>
              <a:rPr sz="3700" spc="335" dirty="0">
                <a:latin typeface="Cambria"/>
                <a:cs typeface="Cambria"/>
              </a:rPr>
              <a:t>  </a:t>
            </a:r>
            <a:r>
              <a:rPr sz="3700" spc="70" dirty="0">
                <a:latin typeface="Cambria"/>
                <a:cs typeface="Cambria"/>
              </a:rPr>
              <a:t>company’s</a:t>
            </a:r>
            <a:endParaRPr sz="3700">
              <a:latin typeface="Cambria"/>
              <a:cs typeface="Cambria"/>
            </a:endParaRPr>
          </a:p>
          <a:p>
            <a:pPr marL="195580" algn="just">
              <a:lnSpc>
                <a:spcPts val="4110"/>
              </a:lnSpc>
            </a:pPr>
            <a:r>
              <a:rPr sz="3700" spc="125" dirty="0">
                <a:latin typeface="Cambria"/>
                <a:cs typeface="Cambria"/>
              </a:rPr>
              <a:t>yearly</a:t>
            </a:r>
            <a:r>
              <a:rPr sz="3700" spc="265" dirty="0">
                <a:latin typeface="Cambria"/>
                <a:cs typeface="Cambria"/>
              </a:rPr>
              <a:t> </a:t>
            </a:r>
            <a:r>
              <a:rPr sz="3700" spc="95" dirty="0">
                <a:latin typeface="Cambria"/>
                <a:cs typeface="Cambria"/>
              </a:rPr>
              <a:t>revenue</a:t>
            </a:r>
            <a:endParaRPr sz="3700">
              <a:latin typeface="Cambria"/>
              <a:cs typeface="Cambria"/>
            </a:endParaRPr>
          </a:p>
          <a:p>
            <a:pPr marL="194945" indent="-182245" algn="just">
              <a:lnSpc>
                <a:spcPct val="100000"/>
              </a:lnSpc>
              <a:spcBef>
                <a:spcPts val="925"/>
              </a:spcBef>
              <a:buClr>
                <a:srgbClr val="6E6E74"/>
              </a:buClr>
              <a:buSzPct val="79729"/>
              <a:buFont typeface="Arial MT"/>
              <a:buChar char="•"/>
              <a:tabLst>
                <a:tab pos="194945" algn="l"/>
              </a:tabLst>
            </a:pPr>
            <a:r>
              <a:rPr sz="3700" spc="-10" dirty="0">
                <a:latin typeface="Cambria"/>
                <a:cs typeface="Cambria"/>
              </a:rPr>
              <a:t>(regression)</a:t>
            </a:r>
            <a:endParaRPr sz="3700">
              <a:latin typeface="Cambria"/>
              <a:cs typeface="Cambria"/>
            </a:endParaRPr>
          </a:p>
          <a:p>
            <a:pPr marL="195580" marR="5715" indent="-182880" algn="just">
              <a:lnSpc>
                <a:spcPct val="85000"/>
              </a:lnSpc>
              <a:spcBef>
                <a:spcPts val="1605"/>
              </a:spcBef>
              <a:buClr>
                <a:srgbClr val="6E6E74"/>
              </a:buClr>
              <a:buSzPct val="79729"/>
              <a:buFont typeface="Arial MT"/>
              <a:buChar char="•"/>
              <a:tabLst>
                <a:tab pos="195580" algn="l"/>
              </a:tabLst>
            </a:pPr>
            <a:r>
              <a:rPr sz="3700" spc="135" dirty="0">
                <a:latin typeface="Cambria"/>
                <a:cs typeface="Cambria"/>
              </a:rPr>
              <a:t>Predicting</a:t>
            </a:r>
            <a:r>
              <a:rPr sz="3700" spc="805" dirty="0">
                <a:latin typeface="Cambria"/>
                <a:cs typeface="Cambria"/>
              </a:rPr>
              <a:t> </a:t>
            </a:r>
            <a:r>
              <a:rPr sz="3700" spc="110" dirty="0">
                <a:latin typeface="Cambria"/>
                <a:cs typeface="Cambria"/>
              </a:rPr>
              <a:t>which</a:t>
            </a:r>
            <a:r>
              <a:rPr sz="3700" spc="780" dirty="0">
                <a:latin typeface="Cambria"/>
                <a:cs typeface="Cambria"/>
              </a:rPr>
              <a:t> </a:t>
            </a:r>
            <a:r>
              <a:rPr sz="3700" spc="160" dirty="0">
                <a:latin typeface="Cambria"/>
                <a:cs typeface="Cambria"/>
              </a:rPr>
              <a:t>team</a:t>
            </a:r>
            <a:r>
              <a:rPr sz="3700" spc="800" dirty="0">
                <a:latin typeface="Cambria"/>
                <a:cs typeface="Cambria"/>
              </a:rPr>
              <a:t> </a:t>
            </a:r>
            <a:r>
              <a:rPr sz="3700" spc="85" dirty="0">
                <a:latin typeface="Cambria"/>
                <a:cs typeface="Cambria"/>
              </a:rPr>
              <a:t>will </a:t>
            </a:r>
            <a:r>
              <a:rPr sz="3700" spc="110" dirty="0">
                <a:latin typeface="Cambria"/>
                <a:cs typeface="Cambria"/>
              </a:rPr>
              <a:t>win</a:t>
            </a:r>
            <a:r>
              <a:rPr sz="3700" spc="509" dirty="0">
                <a:latin typeface="Cambria"/>
                <a:cs typeface="Cambria"/>
              </a:rPr>
              <a:t> </a:t>
            </a:r>
            <a:r>
              <a:rPr sz="3700" spc="135" dirty="0">
                <a:latin typeface="Cambria"/>
                <a:cs typeface="Cambria"/>
              </a:rPr>
              <a:t>the</a:t>
            </a:r>
            <a:r>
              <a:rPr sz="3700" spc="535" dirty="0">
                <a:latin typeface="Cambria"/>
                <a:cs typeface="Cambria"/>
              </a:rPr>
              <a:t> </a:t>
            </a:r>
            <a:r>
              <a:rPr sz="3700" spc="180" dirty="0">
                <a:latin typeface="Cambria"/>
                <a:cs typeface="Cambria"/>
              </a:rPr>
              <a:t>Champions</a:t>
            </a:r>
            <a:r>
              <a:rPr sz="3700" spc="555" dirty="0">
                <a:latin typeface="Cambria"/>
                <a:cs typeface="Cambria"/>
              </a:rPr>
              <a:t> </a:t>
            </a:r>
            <a:r>
              <a:rPr sz="3700" spc="175" dirty="0">
                <a:latin typeface="Cambria"/>
                <a:cs typeface="Cambria"/>
              </a:rPr>
              <a:t>League </a:t>
            </a:r>
            <a:r>
              <a:rPr sz="3700" spc="155" dirty="0">
                <a:latin typeface="Cambria"/>
                <a:cs typeface="Cambria"/>
              </a:rPr>
              <a:t>in</a:t>
            </a:r>
            <a:r>
              <a:rPr sz="3700" spc="229" dirty="0">
                <a:latin typeface="Cambria"/>
                <a:cs typeface="Cambria"/>
              </a:rPr>
              <a:t> </a:t>
            </a:r>
            <a:r>
              <a:rPr sz="3700" spc="-10" dirty="0">
                <a:latin typeface="Cambria"/>
                <a:cs typeface="Cambria"/>
              </a:rPr>
              <a:t>soccer</a:t>
            </a:r>
            <a:endParaRPr sz="3700">
              <a:latin typeface="Cambria"/>
              <a:cs typeface="Cambria"/>
            </a:endParaRPr>
          </a:p>
          <a:p>
            <a:pPr marL="194945" indent="-182245" algn="just">
              <a:lnSpc>
                <a:spcPct val="100000"/>
              </a:lnSpc>
              <a:spcBef>
                <a:spcPts val="940"/>
              </a:spcBef>
              <a:buClr>
                <a:srgbClr val="6E6E74"/>
              </a:buClr>
              <a:buSzPct val="79729"/>
              <a:buFont typeface="Arial MT"/>
              <a:buChar char="•"/>
              <a:tabLst>
                <a:tab pos="194945" algn="l"/>
              </a:tabLst>
            </a:pPr>
            <a:r>
              <a:rPr sz="3700" spc="70" dirty="0">
                <a:latin typeface="Cambria"/>
                <a:cs typeface="Cambria"/>
              </a:rPr>
              <a:t>(classification)</a:t>
            </a:r>
            <a:endParaRPr sz="3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694" y="908873"/>
            <a:ext cx="7880848" cy="51616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143" y="271603"/>
            <a:ext cx="6377116" cy="65524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0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45" dirty="0"/>
              <a:t>The</a:t>
            </a:r>
            <a:r>
              <a:rPr spc="140" dirty="0"/>
              <a:t> </a:t>
            </a:r>
            <a:r>
              <a:rPr spc="60" dirty="0"/>
              <a:t>modeling</a:t>
            </a:r>
            <a:r>
              <a:rPr spc="15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25448" y="1729181"/>
            <a:ext cx="6236335" cy="436118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95580" marR="5080" indent="-182880">
              <a:lnSpc>
                <a:spcPct val="75200"/>
              </a:lnSpc>
              <a:spcBef>
                <a:spcPts val="1085"/>
              </a:spcBef>
              <a:buClr>
                <a:srgbClr val="6E6E74"/>
              </a:buClr>
              <a:buSzPct val="80303"/>
              <a:buFont typeface="Arial MT"/>
              <a:buChar char="•"/>
              <a:tabLst>
                <a:tab pos="195580" algn="l"/>
              </a:tabLst>
            </a:pPr>
            <a:r>
              <a:rPr sz="3300" spc="150" dirty="0">
                <a:latin typeface="Cambria"/>
                <a:cs typeface="Cambria"/>
              </a:rPr>
              <a:t>The</a:t>
            </a:r>
            <a:r>
              <a:rPr sz="3300" spc="204" dirty="0">
                <a:latin typeface="Cambria"/>
                <a:cs typeface="Cambria"/>
              </a:rPr>
              <a:t> </a:t>
            </a:r>
            <a:r>
              <a:rPr sz="3300" spc="95" dirty="0">
                <a:latin typeface="Cambria"/>
                <a:cs typeface="Cambria"/>
              </a:rPr>
              <a:t>modeling</a:t>
            </a:r>
            <a:r>
              <a:rPr sz="3300" spc="170" dirty="0">
                <a:latin typeface="Cambria"/>
                <a:cs typeface="Cambria"/>
              </a:rPr>
              <a:t> </a:t>
            </a:r>
            <a:r>
              <a:rPr sz="3300" spc="120" dirty="0">
                <a:latin typeface="Cambria"/>
                <a:cs typeface="Cambria"/>
              </a:rPr>
              <a:t>phase</a:t>
            </a:r>
            <a:r>
              <a:rPr sz="3300" spc="215" dirty="0">
                <a:latin typeface="Cambria"/>
                <a:cs typeface="Cambria"/>
              </a:rPr>
              <a:t> </a:t>
            </a:r>
            <a:r>
              <a:rPr sz="3300" spc="90" dirty="0">
                <a:latin typeface="Cambria"/>
                <a:cs typeface="Cambria"/>
              </a:rPr>
              <a:t>consists</a:t>
            </a:r>
            <a:r>
              <a:rPr sz="3300" spc="190" dirty="0">
                <a:latin typeface="Cambria"/>
                <a:cs typeface="Cambria"/>
              </a:rPr>
              <a:t> </a:t>
            </a:r>
            <a:r>
              <a:rPr sz="3300" spc="-25" dirty="0">
                <a:latin typeface="Cambria"/>
                <a:cs typeface="Cambria"/>
              </a:rPr>
              <a:t>of </a:t>
            </a:r>
            <a:r>
              <a:rPr sz="3300" spc="75" dirty="0">
                <a:latin typeface="Cambria"/>
                <a:cs typeface="Cambria"/>
              </a:rPr>
              <a:t>four</a:t>
            </a:r>
            <a:r>
              <a:rPr sz="3300" spc="180" dirty="0">
                <a:latin typeface="Cambria"/>
                <a:cs typeface="Cambria"/>
              </a:rPr>
              <a:t> </a:t>
            </a:r>
            <a:r>
              <a:rPr sz="3300" spc="70" dirty="0">
                <a:latin typeface="Cambria"/>
                <a:cs typeface="Cambria"/>
              </a:rPr>
              <a:t>steps:</a:t>
            </a:r>
            <a:endParaRPr sz="3300">
              <a:latin typeface="Cambria"/>
              <a:cs typeface="Cambria"/>
            </a:endParaRPr>
          </a:p>
          <a:p>
            <a:pPr marL="527685" marR="884555" indent="-515620">
              <a:lnSpc>
                <a:spcPct val="74800"/>
              </a:lnSpc>
              <a:spcBef>
                <a:spcPts val="1610"/>
              </a:spcBef>
              <a:buClr>
                <a:srgbClr val="6E6E74"/>
              </a:buClr>
              <a:buSzPct val="80303"/>
              <a:buAutoNum type="arabicPeriod"/>
              <a:tabLst>
                <a:tab pos="527685" algn="l"/>
              </a:tabLst>
            </a:pPr>
            <a:r>
              <a:rPr sz="3300" spc="165" dirty="0">
                <a:latin typeface="Cambria"/>
                <a:cs typeface="Cambria"/>
              </a:rPr>
              <a:t>Feature</a:t>
            </a:r>
            <a:r>
              <a:rPr sz="3300" spc="210" dirty="0">
                <a:latin typeface="Cambria"/>
                <a:cs typeface="Cambria"/>
              </a:rPr>
              <a:t> </a:t>
            </a:r>
            <a:r>
              <a:rPr sz="3300" spc="110" dirty="0">
                <a:latin typeface="Cambria"/>
                <a:cs typeface="Cambria"/>
              </a:rPr>
              <a:t>engineering</a:t>
            </a:r>
            <a:r>
              <a:rPr sz="3300" spc="190" dirty="0">
                <a:latin typeface="Cambria"/>
                <a:cs typeface="Cambria"/>
              </a:rPr>
              <a:t> </a:t>
            </a:r>
            <a:r>
              <a:rPr sz="3300" spc="120" dirty="0">
                <a:latin typeface="Cambria"/>
                <a:cs typeface="Cambria"/>
              </a:rPr>
              <a:t>and </a:t>
            </a:r>
            <a:r>
              <a:rPr sz="3300" spc="65" dirty="0">
                <a:latin typeface="Cambria"/>
                <a:cs typeface="Cambria"/>
              </a:rPr>
              <a:t>model</a:t>
            </a:r>
            <a:r>
              <a:rPr sz="3300" spc="185" dirty="0">
                <a:latin typeface="Cambria"/>
                <a:cs typeface="Cambria"/>
              </a:rPr>
              <a:t> </a:t>
            </a:r>
            <a:r>
              <a:rPr sz="3300" spc="70" dirty="0">
                <a:latin typeface="Cambria"/>
                <a:cs typeface="Cambria"/>
              </a:rPr>
              <a:t>selection</a:t>
            </a:r>
            <a:endParaRPr sz="3300">
              <a:latin typeface="Cambria"/>
              <a:cs typeface="Cambria"/>
            </a:endParaRPr>
          </a:p>
          <a:p>
            <a:pPr marL="527685" indent="-514984">
              <a:lnSpc>
                <a:spcPct val="100000"/>
              </a:lnSpc>
              <a:spcBef>
                <a:spcPts val="610"/>
              </a:spcBef>
              <a:buClr>
                <a:srgbClr val="6E6E74"/>
              </a:buClr>
              <a:buSzPct val="80303"/>
              <a:buAutoNum type="arabicPeriod"/>
              <a:tabLst>
                <a:tab pos="527685" algn="l"/>
              </a:tabLst>
            </a:pPr>
            <a:r>
              <a:rPr sz="3300" spc="160" dirty="0">
                <a:latin typeface="Cambria"/>
                <a:cs typeface="Cambria"/>
              </a:rPr>
              <a:t>Training</a:t>
            </a:r>
            <a:r>
              <a:rPr sz="3300" spc="180" dirty="0">
                <a:latin typeface="Cambria"/>
                <a:cs typeface="Cambria"/>
              </a:rPr>
              <a:t> </a:t>
            </a:r>
            <a:r>
              <a:rPr sz="3300" spc="130" dirty="0">
                <a:latin typeface="Cambria"/>
                <a:cs typeface="Cambria"/>
              </a:rPr>
              <a:t>the</a:t>
            </a:r>
            <a:r>
              <a:rPr sz="3300" spc="210" dirty="0">
                <a:latin typeface="Cambria"/>
                <a:cs typeface="Cambria"/>
              </a:rPr>
              <a:t> </a:t>
            </a:r>
            <a:r>
              <a:rPr sz="3300" spc="50" dirty="0">
                <a:latin typeface="Cambria"/>
                <a:cs typeface="Cambria"/>
              </a:rPr>
              <a:t>model</a:t>
            </a:r>
            <a:endParaRPr sz="3300">
              <a:latin typeface="Cambria"/>
              <a:cs typeface="Cambria"/>
            </a:endParaRPr>
          </a:p>
          <a:p>
            <a:pPr marL="527685" marR="1576070" indent="-515620">
              <a:lnSpc>
                <a:spcPct val="74800"/>
              </a:lnSpc>
              <a:spcBef>
                <a:spcPts val="1610"/>
              </a:spcBef>
              <a:buClr>
                <a:srgbClr val="6E6E74"/>
              </a:buClr>
              <a:buSzPct val="80303"/>
              <a:buAutoNum type="arabicPeriod"/>
              <a:tabLst>
                <a:tab pos="527685" algn="l"/>
              </a:tabLst>
            </a:pPr>
            <a:r>
              <a:rPr sz="3300" spc="110" dirty="0">
                <a:latin typeface="Cambria"/>
                <a:cs typeface="Cambria"/>
              </a:rPr>
              <a:t>Model</a:t>
            </a:r>
            <a:r>
              <a:rPr sz="3300" spc="175" dirty="0">
                <a:latin typeface="Cambria"/>
                <a:cs typeface="Cambria"/>
              </a:rPr>
              <a:t> </a:t>
            </a:r>
            <a:r>
              <a:rPr sz="3300" spc="125" dirty="0">
                <a:latin typeface="Cambria"/>
                <a:cs typeface="Cambria"/>
              </a:rPr>
              <a:t>validation</a:t>
            </a:r>
            <a:r>
              <a:rPr sz="3300" spc="180" dirty="0">
                <a:latin typeface="Cambria"/>
                <a:cs typeface="Cambria"/>
              </a:rPr>
              <a:t> </a:t>
            </a:r>
            <a:r>
              <a:rPr sz="3300" spc="120" dirty="0">
                <a:latin typeface="Cambria"/>
                <a:cs typeface="Cambria"/>
              </a:rPr>
              <a:t>and </a:t>
            </a:r>
            <a:r>
              <a:rPr sz="3300" spc="70" dirty="0">
                <a:latin typeface="Cambria"/>
                <a:cs typeface="Cambria"/>
              </a:rPr>
              <a:t>selection</a:t>
            </a:r>
            <a:endParaRPr sz="3300">
              <a:latin typeface="Cambria"/>
              <a:cs typeface="Cambria"/>
            </a:endParaRPr>
          </a:p>
          <a:p>
            <a:pPr marL="527685" marR="355600" indent="-515620">
              <a:lnSpc>
                <a:spcPct val="75200"/>
              </a:lnSpc>
              <a:spcBef>
                <a:spcPts val="1600"/>
              </a:spcBef>
              <a:buClr>
                <a:srgbClr val="6E6E74"/>
              </a:buClr>
              <a:buSzPct val="80303"/>
              <a:buAutoNum type="arabicPeriod"/>
              <a:tabLst>
                <a:tab pos="527685" algn="l"/>
              </a:tabLst>
            </a:pPr>
            <a:r>
              <a:rPr sz="3300" spc="140" dirty="0">
                <a:latin typeface="Cambria"/>
                <a:cs typeface="Cambria"/>
              </a:rPr>
              <a:t>Applying</a:t>
            </a:r>
            <a:r>
              <a:rPr sz="3300" spc="190" dirty="0">
                <a:latin typeface="Cambria"/>
                <a:cs typeface="Cambria"/>
              </a:rPr>
              <a:t> </a:t>
            </a:r>
            <a:r>
              <a:rPr sz="3300" spc="130" dirty="0">
                <a:latin typeface="Cambria"/>
                <a:cs typeface="Cambria"/>
              </a:rPr>
              <a:t>the</a:t>
            </a:r>
            <a:r>
              <a:rPr sz="3300" spc="210" dirty="0">
                <a:latin typeface="Cambria"/>
                <a:cs typeface="Cambria"/>
              </a:rPr>
              <a:t> </a:t>
            </a:r>
            <a:r>
              <a:rPr sz="3300" spc="125" dirty="0">
                <a:latin typeface="Cambria"/>
                <a:cs typeface="Cambria"/>
              </a:rPr>
              <a:t>trained</a:t>
            </a:r>
            <a:r>
              <a:rPr sz="3300" spc="185" dirty="0">
                <a:latin typeface="Cambria"/>
                <a:cs typeface="Cambria"/>
              </a:rPr>
              <a:t> </a:t>
            </a:r>
            <a:r>
              <a:rPr sz="3300" spc="45" dirty="0">
                <a:latin typeface="Cambria"/>
                <a:cs typeface="Cambria"/>
              </a:rPr>
              <a:t>model </a:t>
            </a:r>
            <a:r>
              <a:rPr sz="3300" dirty="0">
                <a:latin typeface="Cambria"/>
                <a:cs typeface="Cambria"/>
              </a:rPr>
              <a:t>to</a:t>
            </a:r>
            <a:r>
              <a:rPr sz="3300" spc="235" dirty="0">
                <a:latin typeface="Cambria"/>
                <a:cs typeface="Cambria"/>
              </a:rPr>
              <a:t> </a:t>
            </a:r>
            <a:r>
              <a:rPr sz="3300" spc="120" dirty="0">
                <a:latin typeface="Cambria"/>
                <a:cs typeface="Cambria"/>
              </a:rPr>
              <a:t>unseen</a:t>
            </a:r>
            <a:r>
              <a:rPr sz="3300" spc="204" dirty="0">
                <a:latin typeface="Cambria"/>
                <a:cs typeface="Cambria"/>
              </a:rPr>
              <a:t> </a:t>
            </a:r>
            <a:r>
              <a:rPr sz="3300" spc="140" dirty="0">
                <a:latin typeface="Cambria"/>
                <a:cs typeface="Cambria"/>
              </a:rPr>
              <a:t>data</a:t>
            </a:r>
            <a:endParaRPr sz="3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25448" y="1843785"/>
            <a:ext cx="6209665" cy="319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10" dirty="0">
                <a:latin typeface="Cambria"/>
                <a:cs typeface="Cambria"/>
              </a:rPr>
              <a:t>Types</a:t>
            </a:r>
            <a:r>
              <a:rPr sz="1800" b="1" spc="140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of</a:t>
            </a:r>
            <a:r>
              <a:rPr sz="1800" b="1" spc="135" dirty="0">
                <a:latin typeface="Cambria"/>
                <a:cs typeface="Cambria"/>
              </a:rPr>
              <a:t> </a:t>
            </a:r>
            <a:r>
              <a:rPr sz="1800" b="1" spc="140" dirty="0">
                <a:latin typeface="Cambria"/>
                <a:cs typeface="Cambria"/>
              </a:rPr>
              <a:t>Learning</a:t>
            </a:r>
            <a:endParaRPr sz="1800">
              <a:latin typeface="Cambria"/>
              <a:cs typeface="Cambria"/>
            </a:endParaRPr>
          </a:p>
          <a:p>
            <a:pPr marL="195580" marR="5080" indent="-182880">
              <a:lnSpc>
                <a:spcPts val="2050"/>
              </a:lnSpc>
              <a:spcBef>
                <a:spcPts val="166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5580" algn="l"/>
              </a:tabLst>
            </a:pPr>
            <a:r>
              <a:rPr sz="1800" spc="70" dirty="0">
                <a:latin typeface="Cambria"/>
                <a:cs typeface="Cambria"/>
              </a:rPr>
              <a:t>Supervised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(inductive)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learning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–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Given: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training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data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+ </a:t>
            </a:r>
            <a:r>
              <a:rPr sz="1800" dirty="0">
                <a:latin typeface="Cambria"/>
                <a:cs typeface="Cambria"/>
              </a:rPr>
              <a:t>desired</a:t>
            </a:r>
            <a:r>
              <a:rPr sz="1800" spc="3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outputs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(labels)</a:t>
            </a:r>
            <a:endParaRPr sz="1800">
              <a:latin typeface="Cambria"/>
              <a:cs typeface="Cambria"/>
            </a:endParaRPr>
          </a:p>
          <a:p>
            <a:pPr marL="195580" marR="158115" indent="-182880">
              <a:lnSpc>
                <a:spcPts val="2050"/>
              </a:lnSpc>
              <a:spcBef>
                <a:spcPts val="160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5580" algn="l"/>
              </a:tabLst>
            </a:pPr>
            <a:r>
              <a:rPr sz="1800" spc="75" dirty="0">
                <a:latin typeface="Cambria"/>
                <a:cs typeface="Cambria"/>
              </a:rPr>
              <a:t>Unsupervised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learning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–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Given: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training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data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(without </a:t>
            </a:r>
            <a:r>
              <a:rPr sz="1800" dirty="0">
                <a:latin typeface="Cambria"/>
                <a:cs typeface="Cambria"/>
              </a:rPr>
              <a:t>desired</a:t>
            </a:r>
            <a:r>
              <a:rPr sz="1800" spc="434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outputs)</a:t>
            </a:r>
            <a:endParaRPr sz="1800">
              <a:latin typeface="Cambria"/>
              <a:cs typeface="Cambria"/>
            </a:endParaRPr>
          </a:p>
          <a:p>
            <a:pPr marL="195580" marR="10795" indent="-182880">
              <a:lnSpc>
                <a:spcPts val="2050"/>
              </a:lnSpc>
              <a:spcBef>
                <a:spcPts val="1614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5580" algn="l"/>
              </a:tabLst>
            </a:pPr>
            <a:r>
              <a:rPr sz="1800" spc="85" dirty="0">
                <a:latin typeface="Cambria"/>
                <a:cs typeface="Cambria"/>
              </a:rPr>
              <a:t>Semi-</a:t>
            </a:r>
            <a:r>
              <a:rPr sz="1800" spc="50" dirty="0">
                <a:latin typeface="Cambria"/>
                <a:cs typeface="Cambria"/>
              </a:rPr>
              <a:t>supervised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learning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–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Given: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training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data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+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a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few </a:t>
            </a:r>
            <a:r>
              <a:rPr sz="1800" dirty="0">
                <a:latin typeface="Cambria"/>
                <a:cs typeface="Cambria"/>
              </a:rPr>
              <a:t>desired</a:t>
            </a:r>
            <a:r>
              <a:rPr sz="1800" spc="43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outputs</a:t>
            </a:r>
            <a:endParaRPr sz="1800">
              <a:latin typeface="Cambria"/>
              <a:cs typeface="Cambria"/>
            </a:endParaRPr>
          </a:p>
          <a:p>
            <a:pPr marL="195580" marR="440690" indent="-182880">
              <a:lnSpc>
                <a:spcPts val="2050"/>
              </a:lnSpc>
              <a:spcBef>
                <a:spcPts val="160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5580" algn="l"/>
              </a:tabLst>
            </a:pPr>
            <a:r>
              <a:rPr sz="1800" spc="60" dirty="0">
                <a:latin typeface="Cambria"/>
                <a:cs typeface="Cambria"/>
              </a:rPr>
              <a:t>Reinforcement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learning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–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Rewards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sequence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of </a:t>
            </a:r>
            <a:r>
              <a:rPr sz="1800" spc="45" dirty="0">
                <a:latin typeface="Cambria"/>
                <a:cs typeface="Cambria"/>
              </a:rPr>
              <a:t>actions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448" y="1843785"/>
            <a:ext cx="3999865" cy="122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5" dirty="0">
                <a:latin typeface="Cambria"/>
                <a:cs typeface="Cambria"/>
              </a:rPr>
              <a:t>Supervised</a:t>
            </a:r>
            <a:r>
              <a:rPr sz="1800" b="1" spc="135" dirty="0">
                <a:latin typeface="Cambria"/>
                <a:cs typeface="Cambria"/>
              </a:rPr>
              <a:t> Learning:</a:t>
            </a:r>
            <a:r>
              <a:rPr sz="1800" b="1" spc="130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Regression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500"/>
              </a:spcBef>
              <a:buChar char="•"/>
              <a:tabLst>
                <a:tab pos="215265" algn="l"/>
              </a:tabLst>
            </a:pPr>
            <a:r>
              <a:rPr sz="1800" spc="110" dirty="0">
                <a:latin typeface="Cambria"/>
                <a:cs typeface="Cambria"/>
              </a:rPr>
              <a:t>Given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(x1,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y1),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(x2,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y2),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135" dirty="0">
                <a:latin typeface="Cambria"/>
                <a:cs typeface="Cambria"/>
              </a:rPr>
              <a:t>...,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(xn,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yn)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490"/>
              </a:spcBef>
              <a:buChar char="•"/>
              <a:tabLst>
                <a:tab pos="215265" algn="l"/>
              </a:tabLst>
            </a:pPr>
            <a:r>
              <a:rPr sz="1800" spc="105" dirty="0">
                <a:latin typeface="Cambria"/>
                <a:cs typeface="Cambria"/>
              </a:rPr>
              <a:t>Learn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a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function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f(x)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predict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y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7874" y="3406237"/>
            <a:ext cx="5915839" cy="33754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Supervised</a:t>
            </a:r>
            <a:r>
              <a:rPr spc="135" dirty="0"/>
              <a:t> Learning:</a:t>
            </a:r>
            <a:r>
              <a:rPr spc="130" dirty="0"/>
              <a:t> </a:t>
            </a:r>
            <a:r>
              <a:rPr spc="120" dirty="0"/>
              <a:t>Classification</a:t>
            </a:r>
          </a:p>
          <a:p>
            <a:pPr marL="215265" indent="-202565">
              <a:lnSpc>
                <a:spcPct val="100000"/>
              </a:lnSpc>
              <a:spcBef>
                <a:spcPts val="1500"/>
              </a:spcBef>
              <a:buChar char="•"/>
              <a:tabLst>
                <a:tab pos="215265" algn="l"/>
              </a:tabLst>
            </a:pPr>
            <a:r>
              <a:rPr b="0" spc="110" dirty="0">
                <a:latin typeface="Cambria"/>
                <a:cs typeface="Cambria"/>
              </a:rPr>
              <a:t>Given</a:t>
            </a:r>
            <a:r>
              <a:rPr b="0" spc="180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(x1,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y1),</a:t>
            </a:r>
            <a:r>
              <a:rPr b="0" spc="190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(x2,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y2),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b="0" spc="135" dirty="0">
                <a:latin typeface="Cambria"/>
                <a:cs typeface="Cambria"/>
              </a:rPr>
              <a:t>...,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(xn,</a:t>
            </a:r>
            <a:r>
              <a:rPr b="0" spc="180" dirty="0">
                <a:latin typeface="Cambria"/>
                <a:cs typeface="Cambria"/>
              </a:rPr>
              <a:t> </a:t>
            </a:r>
            <a:r>
              <a:rPr b="0" spc="-25" dirty="0">
                <a:latin typeface="Cambria"/>
                <a:cs typeface="Cambria"/>
              </a:rPr>
              <a:t>yn)</a:t>
            </a:r>
          </a:p>
          <a:p>
            <a:pPr marL="12700" marR="5080" indent="202565">
              <a:lnSpc>
                <a:spcPts val="2050"/>
              </a:lnSpc>
              <a:spcBef>
                <a:spcPts val="1650"/>
              </a:spcBef>
              <a:buChar char="•"/>
              <a:tabLst>
                <a:tab pos="215265" algn="l"/>
              </a:tabLst>
            </a:pPr>
            <a:r>
              <a:rPr b="0" spc="105" dirty="0">
                <a:latin typeface="Cambria"/>
                <a:cs typeface="Cambria"/>
              </a:rPr>
              <a:t>Learn</a:t>
            </a:r>
            <a:r>
              <a:rPr b="0" spc="114" dirty="0">
                <a:latin typeface="Cambria"/>
                <a:cs typeface="Cambria"/>
              </a:rPr>
              <a:t> </a:t>
            </a:r>
            <a:r>
              <a:rPr b="0" spc="110" dirty="0">
                <a:latin typeface="Cambria"/>
                <a:cs typeface="Cambria"/>
              </a:rPr>
              <a:t>a</a:t>
            </a:r>
            <a:r>
              <a:rPr b="0" spc="130" dirty="0">
                <a:latin typeface="Cambria"/>
                <a:cs typeface="Cambria"/>
              </a:rPr>
              <a:t> </a:t>
            </a:r>
            <a:r>
              <a:rPr b="0" spc="60" dirty="0">
                <a:latin typeface="Cambria"/>
                <a:cs typeface="Cambria"/>
              </a:rPr>
              <a:t>function</a:t>
            </a:r>
            <a:r>
              <a:rPr b="0" spc="105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f(x)</a:t>
            </a:r>
            <a:r>
              <a:rPr b="0" spc="120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to</a:t>
            </a:r>
            <a:r>
              <a:rPr b="0" spc="135" dirty="0">
                <a:latin typeface="Cambria"/>
                <a:cs typeface="Cambria"/>
              </a:rPr>
              <a:t> </a:t>
            </a:r>
            <a:r>
              <a:rPr b="0" spc="45" dirty="0">
                <a:latin typeface="Cambria"/>
                <a:cs typeface="Cambria"/>
              </a:rPr>
              <a:t>predict</a:t>
            </a:r>
            <a:r>
              <a:rPr b="0" spc="110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y</a:t>
            </a:r>
            <a:r>
              <a:rPr b="0" spc="135" dirty="0">
                <a:latin typeface="Cambria"/>
                <a:cs typeface="Cambria"/>
              </a:rPr>
              <a:t> </a:t>
            </a:r>
            <a:r>
              <a:rPr b="0" spc="65" dirty="0">
                <a:latin typeface="Cambria"/>
                <a:cs typeface="Cambria"/>
              </a:rPr>
              <a:t>given</a:t>
            </a:r>
            <a:r>
              <a:rPr b="0" spc="105" dirty="0">
                <a:latin typeface="Cambria"/>
                <a:cs typeface="Cambria"/>
              </a:rPr>
              <a:t> </a:t>
            </a:r>
            <a:r>
              <a:rPr b="0" spc="95" dirty="0">
                <a:latin typeface="Cambria"/>
                <a:cs typeface="Cambria"/>
              </a:rPr>
              <a:t>x</a:t>
            </a:r>
            <a:r>
              <a:rPr b="0" spc="190" dirty="0">
                <a:latin typeface="Cambria"/>
                <a:cs typeface="Cambria"/>
              </a:rPr>
              <a:t> </a:t>
            </a:r>
            <a:r>
              <a:rPr b="0" spc="95" dirty="0">
                <a:latin typeface="Cambria"/>
                <a:cs typeface="Cambria"/>
              </a:rPr>
              <a:t>–</a:t>
            </a:r>
            <a:r>
              <a:rPr b="0" spc="140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y</a:t>
            </a:r>
            <a:r>
              <a:rPr b="0" spc="120" dirty="0">
                <a:latin typeface="Cambria"/>
                <a:cs typeface="Cambria"/>
              </a:rPr>
              <a:t> </a:t>
            </a:r>
            <a:r>
              <a:rPr b="0" spc="35" dirty="0">
                <a:latin typeface="Cambria"/>
                <a:cs typeface="Cambria"/>
              </a:rPr>
              <a:t>is </a:t>
            </a:r>
            <a:r>
              <a:rPr b="0" spc="55" dirty="0">
                <a:latin typeface="Cambria"/>
                <a:cs typeface="Cambria"/>
              </a:rPr>
              <a:t>categorical</a:t>
            </a:r>
            <a:r>
              <a:rPr b="0" spc="105" dirty="0">
                <a:latin typeface="Cambria"/>
                <a:cs typeface="Cambria"/>
              </a:rPr>
              <a:t> </a:t>
            </a:r>
            <a:r>
              <a:rPr b="0" spc="90" dirty="0">
                <a:latin typeface="Cambria"/>
                <a:cs typeface="Cambria"/>
              </a:rPr>
              <a:t>==</a:t>
            </a:r>
            <a:r>
              <a:rPr b="0" spc="125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classification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666" y="3876675"/>
            <a:ext cx="6358871" cy="22873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Supervised</a:t>
            </a:r>
            <a:r>
              <a:rPr spc="135" dirty="0"/>
              <a:t> Learning:</a:t>
            </a:r>
            <a:r>
              <a:rPr spc="130" dirty="0"/>
              <a:t> </a:t>
            </a:r>
            <a:r>
              <a:rPr spc="120" dirty="0"/>
              <a:t>Classification</a:t>
            </a:r>
          </a:p>
          <a:p>
            <a:pPr marL="215265" indent="-202565">
              <a:lnSpc>
                <a:spcPct val="100000"/>
              </a:lnSpc>
              <a:spcBef>
                <a:spcPts val="1500"/>
              </a:spcBef>
              <a:buChar char="•"/>
              <a:tabLst>
                <a:tab pos="215265" algn="l"/>
              </a:tabLst>
            </a:pPr>
            <a:r>
              <a:rPr b="0" spc="110" dirty="0">
                <a:latin typeface="Cambria"/>
                <a:cs typeface="Cambria"/>
              </a:rPr>
              <a:t>Given</a:t>
            </a:r>
            <a:r>
              <a:rPr b="0" spc="180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(x1,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y1),</a:t>
            </a:r>
            <a:r>
              <a:rPr b="0" spc="190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(x2,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y2),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b="0" spc="135" dirty="0">
                <a:latin typeface="Cambria"/>
                <a:cs typeface="Cambria"/>
              </a:rPr>
              <a:t>...,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b="0" spc="75" dirty="0">
                <a:latin typeface="Cambria"/>
                <a:cs typeface="Cambria"/>
              </a:rPr>
              <a:t>(xn,</a:t>
            </a:r>
            <a:r>
              <a:rPr b="0" spc="180" dirty="0">
                <a:latin typeface="Cambria"/>
                <a:cs typeface="Cambria"/>
              </a:rPr>
              <a:t> </a:t>
            </a:r>
            <a:r>
              <a:rPr b="0" spc="-25" dirty="0">
                <a:latin typeface="Cambria"/>
                <a:cs typeface="Cambria"/>
              </a:rPr>
              <a:t>yn)</a:t>
            </a:r>
          </a:p>
          <a:p>
            <a:pPr marL="12700" marR="5080" indent="202565">
              <a:lnSpc>
                <a:spcPts val="2050"/>
              </a:lnSpc>
              <a:spcBef>
                <a:spcPts val="1650"/>
              </a:spcBef>
              <a:buChar char="•"/>
              <a:tabLst>
                <a:tab pos="215265" algn="l"/>
              </a:tabLst>
            </a:pPr>
            <a:r>
              <a:rPr b="0" spc="105" dirty="0">
                <a:latin typeface="Cambria"/>
                <a:cs typeface="Cambria"/>
              </a:rPr>
              <a:t>Learn</a:t>
            </a:r>
            <a:r>
              <a:rPr b="0" spc="114" dirty="0">
                <a:latin typeface="Cambria"/>
                <a:cs typeface="Cambria"/>
              </a:rPr>
              <a:t> </a:t>
            </a:r>
            <a:r>
              <a:rPr b="0" spc="110" dirty="0">
                <a:latin typeface="Cambria"/>
                <a:cs typeface="Cambria"/>
              </a:rPr>
              <a:t>a</a:t>
            </a:r>
            <a:r>
              <a:rPr b="0" spc="130" dirty="0">
                <a:latin typeface="Cambria"/>
                <a:cs typeface="Cambria"/>
              </a:rPr>
              <a:t> </a:t>
            </a:r>
            <a:r>
              <a:rPr b="0" spc="60" dirty="0">
                <a:latin typeface="Cambria"/>
                <a:cs typeface="Cambria"/>
              </a:rPr>
              <a:t>function</a:t>
            </a:r>
            <a:r>
              <a:rPr b="0" spc="105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f(x)</a:t>
            </a:r>
            <a:r>
              <a:rPr b="0" spc="120" dirty="0">
                <a:latin typeface="Cambria"/>
                <a:cs typeface="Cambria"/>
              </a:rPr>
              <a:t> </a:t>
            </a:r>
            <a:r>
              <a:rPr b="0" dirty="0">
                <a:latin typeface="Cambria"/>
                <a:cs typeface="Cambria"/>
              </a:rPr>
              <a:t>to</a:t>
            </a:r>
            <a:r>
              <a:rPr b="0" spc="135" dirty="0">
                <a:latin typeface="Cambria"/>
                <a:cs typeface="Cambria"/>
              </a:rPr>
              <a:t> </a:t>
            </a:r>
            <a:r>
              <a:rPr b="0" spc="45" dirty="0">
                <a:latin typeface="Cambria"/>
                <a:cs typeface="Cambria"/>
              </a:rPr>
              <a:t>predict</a:t>
            </a:r>
            <a:r>
              <a:rPr b="0" spc="110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y</a:t>
            </a:r>
            <a:r>
              <a:rPr b="0" spc="135" dirty="0">
                <a:latin typeface="Cambria"/>
                <a:cs typeface="Cambria"/>
              </a:rPr>
              <a:t> </a:t>
            </a:r>
            <a:r>
              <a:rPr b="0" spc="65" dirty="0">
                <a:latin typeface="Cambria"/>
                <a:cs typeface="Cambria"/>
              </a:rPr>
              <a:t>given</a:t>
            </a:r>
            <a:r>
              <a:rPr b="0" spc="105" dirty="0">
                <a:latin typeface="Cambria"/>
                <a:cs typeface="Cambria"/>
              </a:rPr>
              <a:t> </a:t>
            </a:r>
            <a:r>
              <a:rPr b="0" spc="95" dirty="0">
                <a:latin typeface="Cambria"/>
                <a:cs typeface="Cambria"/>
              </a:rPr>
              <a:t>x</a:t>
            </a:r>
            <a:r>
              <a:rPr b="0" spc="190" dirty="0">
                <a:latin typeface="Cambria"/>
                <a:cs typeface="Cambria"/>
              </a:rPr>
              <a:t> </a:t>
            </a:r>
            <a:r>
              <a:rPr b="0" spc="95" dirty="0">
                <a:latin typeface="Cambria"/>
                <a:cs typeface="Cambria"/>
              </a:rPr>
              <a:t>–</a:t>
            </a:r>
            <a:r>
              <a:rPr b="0" spc="140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y</a:t>
            </a:r>
            <a:r>
              <a:rPr b="0" spc="120" dirty="0">
                <a:latin typeface="Cambria"/>
                <a:cs typeface="Cambria"/>
              </a:rPr>
              <a:t> </a:t>
            </a:r>
            <a:r>
              <a:rPr b="0" spc="35" dirty="0">
                <a:latin typeface="Cambria"/>
                <a:cs typeface="Cambria"/>
              </a:rPr>
              <a:t>is </a:t>
            </a:r>
            <a:r>
              <a:rPr b="0" spc="55" dirty="0">
                <a:latin typeface="Cambria"/>
                <a:cs typeface="Cambria"/>
              </a:rPr>
              <a:t>categorical</a:t>
            </a:r>
            <a:r>
              <a:rPr b="0" spc="105" dirty="0">
                <a:latin typeface="Cambria"/>
                <a:cs typeface="Cambria"/>
              </a:rPr>
              <a:t> </a:t>
            </a:r>
            <a:r>
              <a:rPr b="0" spc="90" dirty="0">
                <a:latin typeface="Cambria"/>
                <a:cs typeface="Cambria"/>
              </a:rPr>
              <a:t>==</a:t>
            </a:r>
            <a:r>
              <a:rPr b="0" spc="125" dirty="0">
                <a:latin typeface="Cambria"/>
                <a:cs typeface="Cambria"/>
              </a:rPr>
              <a:t> </a:t>
            </a:r>
            <a:r>
              <a:rPr b="0" spc="50" dirty="0">
                <a:latin typeface="Cambria"/>
                <a:cs typeface="Cambria"/>
              </a:rPr>
              <a:t>classification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5142026"/>
            <a:ext cx="6936415" cy="11063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6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448" y="1796948"/>
            <a:ext cx="2825750" cy="18141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465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945" algn="l"/>
              </a:tabLst>
            </a:pPr>
            <a:r>
              <a:rPr sz="1800" b="1" spc="125" dirty="0">
                <a:latin typeface="Cambria"/>
                <a:cs typeface="Cambria"/>
              </a:rPr>
              <a:t>Supervised</a:t>
            </a:r>
            <a:r>
              <a:rPr sz="1800" b="1" spc="150" dirty="0">
                <a:latin typeface="Cambria"/>
                <a:cs typeface="Cambria"/>
              </a:rPr>
              <a:t> </a:t>
            </a:r>
            <a:r>
              <a:rPr sz="1800" b="1" spc="140" dirty="0">
                <a:latin typeface="Cambria"/>
                <a:cs typeface="Cambria"/>
              </a:rPr>
              <a:t>Learning</a:t>
            </a:r>
            <a:endParaRPr sz="18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325"/>
              </a:spcBef>
            </a:pPr>
            <a:r>
              <a:rPr sz="1600" spc="-62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1600" spc="409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Tumor</a:t>
            </a:r>
            <a:r>
              <a:rPr sz="16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Size</a:t>
            </a:r>
            <a:endParaRPr sz="16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409"/>
              </a:spcBef>
            </a:pPr>
            <a:r>
              <a:rPr sz="1600" spc="-62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1600" spc="409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252525"/>
                </a:solidFill>
                <a:latin typeface="Cambria"/>
                <a:cs typeface="Cambria"/>
              </a:rPr>
              <a:t>Age</a:t>
            </a:r>
            <a:endParaRPr sz="16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405"/>
              </a:spcBef>
            </a:pPr>
            <a:r>
              <a:rPr sz="1600" spc="-62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1600" spc="420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1600" spc="95" dirty="0">
                <a:solidFill>
                  <a:srgbClr val="252525"/>
                </a:solidFill>
                <a:latin typeface="Cambria"/>
                <a:cs typeface="Cambria"/>
              </a:rPr>
              <a:t>Clump</a:t>
            </a:r>
            <a:r>
              <a:rPr sz="16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45" dirty="0">
                <a:solidFill>
                  <a:srgbClr val="252525"/>
                </a:solidFill>
                <a:latin typeface="Cambria"/>
                <a:cs typeface="Cambria"/>
              </a:rPr>
              <a:t>Thickness</a:t>
            </a:r>
            <a:endParaRPr sz="16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409"/>
              </a:spcBef>
            </a:pPr>
            <a:r>
              <a:rPr sz="1600" spc="-62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1600" spc="415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52525"/>
                </a:solidFill>
                <a:latin typeface="Cambria"/>
                <a:cs typeface="Cambria"/>
              </a:rPr>
              <a:t>Uniformity</a:t>
            </a:r>
            <a:r>
              <a:rPr sz="16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of</a:t>
            </a:r>
            <a:r>
              <a:rPr sz="1600" spc="1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252525"/>
                </a:solidFill>
                <a:latin typeface="Cambria"/>
                <a:cs typeface="Cambria"/>
              </a:rPr>
              <a:t>Cell</a:t>
            </a:r>
            <a:r>
              <a:rPr sz="1600" spc="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Size</a:t>
            </a:r>
            <a:endParaRPr sz="16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405"/>
              </a:spcBef>
            </a:pPr>
            <a:r>
              <a:rPr sz="1600" spc="-625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1600" spc="415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52525"/>
                </a:solidFill>
                <a:latin typeface="Cambria"/>
                <a:cs typeface="Cambria"/>
              </a:rPr>
              <a:t>Uniformity</a:t>
            </a:r>
            <a:r>
              <a:rPr sz="16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of</a:t>
            </a:r>
            <a:r>
              <a:rPr sz="1600" spc="1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95" dirty="0">
                <a:solidFill>
                  <a:srgbClr val="252525"/>
                </a:solidFill>
                <a:latin typeface="Cambria"/>
                <a:cs typeface="Cambria"/>
              </a:rPr>
              <a:t>Cell</a:t>
            </a:r>
            <a:r>
              <a:rPr sz="1600" spc="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252525"/>
                </a:solidFill>
                <a:latin typeface="Cambria"/>
                <a:cs typeface="Cambria"/>
              </a:rPr>
              <a:t>Shape</a:t>
            </a:r>
            <a:endParaRPr sz="1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2729293"/>
            <a:ext cx="4191000" cy="372303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448" y="1843785"/>
            <a:ext cx="4408805" cy="169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5" dirty="0">
                <a:latin typeface="Cambria"/>
                <a:cs typeface="Cambria"/>
              </a:rPr>
              <a:t>Unsupervised</a:t>
            </a:r>
            <a:r>
              <a:rPr sz="1800" b="1" spc="145" dirty="0">
                <a:latin typeface="Cambria"/>
                <a:cs typeface="Cambria"/>
              </a:rPr>
              <a:t> </a:t>
            </a:r>
            <a:r>
              <a:rPr sz="1800" b="1" spc="140" dirty="0">
                <a:latin typeface="Cambria"/>
                <a:cs typeface="Cambria"/>
              </a:rPr>
              <a:t>Learning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500"/>
              </a:spcBef>
              <a:buChar char="•"/>
              <a:tabLst>
                <a:tab pos="215265" algn="l"/>
              </a:tabLst>
            </a:pPr>
            <a:r>
              <a:rPr sz="1800" spc="110" dirty="0">
                <a:latin typeface="Cambria"/>
                <a:cs typeface="Cambria"/>
              </a:rPr>
              <a:t>Given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x1,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x2,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35" dirty="0">
                <a:latin typeface="Cambria"/>
                <a:cs typeface="Cambria"/>
              </a:rPr>
              <a:t>...,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xn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(without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labels)</a:t>
            </a:r>
            <a:endParaRPr sz="1800">
              <a:latin typeface="Cambria"/>
              <a:cs typeface="Cambria"/>
            </a:endParaRPr>
          </a:p>
          <a:p>
            <a:pPr marL="12700" marR="5080" indent="202565">
              <a:lnSpc>
                <a:spcPts val="3660"/>
              </a:lnSpc>
              <a:spcBef>
                <a:spcPts val="160"/>
              </a:spcBef>
              <a:buChar char="•"/>
              <a:tabLst>
                <a:tab pos="215265" algn="l"/>
              </a:tabLst>
            </a:pPr>
            <a:r>
              <a:rPr sz="1800" spc="110" dirty="0">
                <a:latin typeface="Cambria"/>
                <a:cs typeface="Cambria"/>
              </a:rPr>
              <a:t>Output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hidden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structure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behind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the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x’s </a:t>
            </a:r>
            <a:r>
              <a:rPr sz="1800" spc="95" dirty="0">
                <a:latin typeface="Cambria"/>
                <a:cs typeface="Cambria"/>
              </a:rPr>
              <a:t>–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150" dirty="0">
                <a:latin typeface="Cambria"/>
                <a:cs typeface="Cambria"/>
              </a:rPr>
              <a:t>E.g.,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clustering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3751960"/>
            <a:ext cx="8258683" cy="28012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448" y="1843785"/>
            <a:ext cx="285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5" dirty="0">
                <a:latin typeface="Cambria"/>
                <a:cs typeface="Cambria"/>
              </a:rPr>
              <a:t>Unsupervised</a:t>
            </a:r>
            <a:r>
              <a:rPr sz="1800" b="1" spc="145" dirty="0">
                <a:latin typeface="Cambria"/>
                <a:cs typeface="Cambria"/>
              </a:rPr>
              <a:t> </a:t>
            </a:r>
            <a:r>
              <a:rPr sz="1800" b="1" spc="140" dirty="0">
                <a:latin typeface="Cambria"/>
                <a:cs typeface="Cambria"/>
              </a:rPr>
              <a:t>Learning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2268091"/>
            <a:ext cx="6477000" cy="45137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448" y="1843785"/>
            <a:ext cx="3357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945" algn="l"/>
              </a:tabLst>
            </a:pPr>
            <a:r>
              <a:rPr sz="1800" b="1" spc="120" dirty="0">
                <a:latin typeface="Cambria"/>
                <a:cs typeface="Cambria"/>
              </a:rPr>
              <a:t>Semi-</a:t>
            </a:r>
            <a:r>
              <a:rPr sz="1800" b="1" spc="105" dirty="0">
                <a:latin typeface="Cambria"/>
                <a:cs typeface="Cambria"/>
              </a:rPr>
              <a:t>supervised</a:t>
            </a:r>
            <a:r>
              <a:rPr sz="1800" b="1" spc="155" dirty="0">
                <a:latin typeface="Cambria"/>
                <a:cs typeface="Cambria"/>
              </a:rPr>
              <a:t> </a:t>
            </a:r>
            <a:r>
              <a:rPr sz="1800" b="1" spc="140" dirty="0">
                <a:latin typeface="Cambria"/>
                <a:cs typeface="Cambria"/>
              </a:rPr>
              <a:t>Learning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396" y="2772991"/>
            <a:ext cx="6307321" cy="367930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448" y="1843785"/>
            <a:ext cx="3357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945" algn="l"/>
              </a:tabLst>
            </a:pPr>
            <a:r>
              <a:rPr sz="1800" b="1" spc="120" dirty="0">
                <a:latin typeface="Cambria"/>
                <a:cs typeface="Cambria"/>
              </a:rPr>
              <a:t>Semi-</a:t>
            </a:r>
            <a:r>
              <a:rPr sz="1800" b="1" spc="105" dirty="0">
                <a:latin typeface="Cambria"/>
                <a:cs typeface="Cambria"/>
              </a:rPr>
              <a:t>supervised</a:t>
            </a:r>
            <a:r>
              <a:rPr sz="1800" b="1" spc="155" dirty="0">
                <a:latin typeface="Cambria"/>
                <a:cs typeface="Cambria"/>
              </a:rPr>
              <a:t> </a:t>
            </a:r>
            <a:r>
              <a:rPr sz="1800" b="1" spc="140" dirty="0">
                <a:latin typeface="Cambria"/>
                <a:cs typeface="Cambria"/>
              </a:rPr>
              <a:t>Learning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812" y="2559048"/>
            <a:ext cx="6934126" cy="40556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25448" y="1843785"/>
            <a:ext cx="5911215" cy="4069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5" dirty="0">
                <a:latin typeface="Cambria"/>
                <a:cs typeface="Cambria"/>
              </a:rPr>
              <a:t>Reinforcement</a:t>
            </a:r>
            <a:r>
              <a:rPr sz="1800" b="1" spc="145" dirty="0">
                <a:latin typeface="Cambria"/>
                <a:cs typeface="Cambria"/>
              </a:rPr>
              <a:t> </a:t>
            </a:r>
            <a:r>
              <a:rPr sz="1800" b="1" spc="140" dirty="0">
                <a:latin typeface="Cambria"/>
                <a:cs typeface="Cambria"/>
              </a:rPr>
              <a:t>Learning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ts val="2105"/>
              </a:lnSpc>
              <a:spcBef>
                <a:spcPts val="1500"/>
              </a:spcBef>
              <a:buChar char="•"/>
              <a:tabLst>
                <a:tab pos="215265" algn="l"/>
              </a:tabLst>
            </a:pPr>
            <a:r>
              <a:rPr sz="1800" spc="110" dirty="0">
                <a:latin typeface="Cambria"/>
                <a:cs typeface="Cambria"/>
              </a:rPr>
              <a:t>Given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a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sequence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states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actions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with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rewards,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05"/>
              </a:lnSpc>
            </a:pPr>
            <a:r>
              <a:rPr sz="1800" spc="65" dirty="0">
                <a:latin typeface="Cambria"/>
                <a:cs typeface="Cambria"/>
              </a:rPr>
              <a:t>output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a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policy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05"/>
              </a:lnSpc>
              <a:spcBef>
                <a:spcPts val="1490"/>
              </a:spcBef>
            </a:pPr>
            <a:r>
              <a:rPr sz="1800" spc="95" dirty="0">
                <a:latin typeface="Cambria"/>
                <a:cs typeface="Cambria"/>
              </a:rPr>
              <a:t>–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Policy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a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mapping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states’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actions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that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tells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you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05"/>
              </a:lnSpc>
            </a:pPr>
            <a:r>
              <a:rPr sz="1800" spc="80" dirty="0">
                <a:latin typeface="Cambria"/>
                <a:cs typeface="Cambria"/>
              </a:rPr>
              <a:t>what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a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given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state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500"/>
              </a:spcBef>
              <a:buChar char="•"/>
              <a:tabLst>
                <a:tab pos="215265" algn="l"/>
              </a:tabLst>
            </a:pPr>
            <a:r>
              <a:rPr sz="1800" spc="80" dirty="0">
                <a:latin typeface="Cambria"/>
                <a:cs typeface="Cambria"/>
              </a:rPr>
              <a:t>Examples:</a:t>
            </a:r>
            <a:endParaRPr sz="1800">
              <a:latin typeface="Cambria"/>
              <a:cs typeface="Cambria"/>
            </a:endParaRPr>
          </a:p>
          <a:p>
            <a:pPr marL="205740" indent="-193040">
              <a:lnSpc>
                <a:spcPct val="100000"/>
              </a:lnSpc>
              <a:spcBef>
                <a:spcPts val="1490"/>
              </a:spcBef>
              <a:buChar char="–"/>
              <a:tabLst>
                <a:tab pos="205740" algn="l"/>
              </a:tabLst>
            </a:pPr>
            <a:r>
              <a:rPr sz="1800" spc="95" dirty="0">
                <a:latin typeface="Cambria"/>
                <a:cs typeface="Cambria"/>
              </a:rPr>
              <a:t>Credit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assignment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problem</a:t>
            </a:r>
            <a:endParaRPr sz="1800">
              <a:latin typeface="Cambria"/>
              <a:cs typeface="Cambria"/>
            </a:endParaRPr>
          </a:p>
          <a:p>
            <a:pPr marL="205740" indent="-193040">
              <a:lnSpc>
                <a:spcPct val="100000"/>
              </a:lnSpc>
              <a:spcBef>
                <a:spcPts val="1490"/>
              </a:spcBef>
              <a:buChar char="–"/>
              <a:tabLst>
                <a:tab pos="205740" algn="l"/>
              </a:tabLst>
            </a:pPr>
            <a:r>
              <a:rPr sz="1800" spc="130" dirty="0">
                <a:latin typeface="Cambria"/>
                <a:cs typeface="Cambria"/>
              </a:rPr>
              <a:t>Game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playing</a:t>
            </a:r>
            <a:endParaRPr sz="1800">
              <a:latin typeface="Cambria"/>
              <a:cs typeface="Cambria"/>
            </a:endParaRPr>
          </a:p>
          <a:p>
            <a:pPr marL="205740" indent="-193040">
              <a:lnSpc>
                <a:spcPct val="100000"/>
              </a:lnSpc>
              <a:spcBef>
                <a:spcPts val="1500"/>
              </a:spcBef>
              <a:buChar char="–"/>
              <a:tabLst>
                <a:tab pos="205740" algn="l"/>
              </a:tabLst>
            </a:pPr>
            <a:r>
              <a:rPr sz="1800" dirty="0">
                <a:latin typeface="Cambria"/>
                <a:cs typeface="Cambria"/>
              </a:rPr>
              <a:t>Robot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a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maze</a:t>
            </a:r>
            <a:endParaRPr sz="1800">
              <a:latin typeface="Cambria"/>
              <a:cs typeface="Cambria"/>
            </a:endParaRPr>
          </a:p>
          <a:p>
            <a:pPr marL="205740" indent="-193040">
              <a:lnSpc>
                <a:spcPct val="100000"/>
              </a:lnSpc>
              <a:spcBef>
                <a:spcPts val="1490"/>
              </a:spcBef>
              <a:buChar char="–"/>
              <a:tabLst>
                <a:tab pos="205740" algn="l"/>
              </a:tabLst>
            </a:pPr>
            <a:r>
              <a:rPr sz="1800" spc="90" dirty="0">
                <a:latin typeface="Cambria"/>
                <a:cs typeface="Cambria"/>
              </a:rPr>
              <a:t>Balance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a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pole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your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hand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939" y="467360"/>
            <a:ext cx="7259320" cy="14478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882650" marR="81026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  <a:p>
            <a:pPr marL="12700">
              <a:lnSpc>
                <a:spcPts val="2020"/>
              </a:lnSpc>
            </a:pPr>
            <a:r>
              <a:rPr sz="1800" b="1" spc="125" dirty="0">
                <a:latin typeface="Cambria"/>
                <a:cs typeface="Cambria"/>
              </a:rPr>
              <a:t>Reinforcement</a:t>
            </a:r>
            <a:r>
              <a:rPr sz="1800" b="1" spc="135" dirty="0">
                <a:latin typeface="Cambria"/>
                <a:cs typeface="Cambria"/>
              </a:rPr>
              <a:t> </a:t>
            </a:r>
            <a:r>
              <a:rPr sz="1800" b="1" spc="150" dirty="0">
                <a:latin typeface="Cambria"/>
                <a:cs typeface="Cambria"/>
              </a:rPr>
              <a:t>Learning</a:t>
            </a:r>
            <a:r>
              <a:rPr sz="1800" b="1" spc="17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-</a:t>
            </a:r>
            <a:r>
              <a:rPr sz="1800" b="1" spc="140" dirty="0">
                <a:latin typeface="Cambria"/>
                <a:cs typeface="Cambria"/>
              </a:rPr>
              <a:t> </a:t>
            </a:r>
            <a:r>
              <a:rPr sz="1800" b="1" spc="125" dirty="0">
                <a:latin typeface="Cambria"/>
                <a:cs typeface="Cambria"/>
              </a:rPr>
              <a:t>The</a:t>
            </a:r>
            <a:r>
              <a:rPr sz="1800" b="1" spc="145" dirty="0">
                <a:latin typeface="Cambria"/>
                <a:cs typeface="Cambria"/>
              </a:rPr>
              <a:t> </a:t>
            </a:r>
            <a:r>
              <a:rPr sz="1800" b="1" spc="120" dirty="0">
                <a:latin typeface="Cambria"/>
                <a:cs typeface="Cambria"/>
              </a:rPr>
              <a:t>Agent-</a:t>
            </a:r>
            <a:r>
              <a:rPr sz="1800" b="1" spc="140" dirty="0">
                <a:latin typeface="Cambria"/>
                <a:cs typeface="Cambria"/>
              </a:rPr>
              <a:t>Environment</a:t>
            </a:r>
            <a:r>
              <a:rPr sz="1800" b="1" spc="110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Interface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224" y="2221096"/>
            <a:ext cx="6370125" cy="442886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25448" y="1816353"/>
            <a:ext cx="2433955" cy="4229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35" dirty="0">
                <a:latin typeface="Cambria"/>
                <a:cs typeface="Cambria"/>
              </a:rPr>
              <a:t>Evaluation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285"/>
              </a:spcBef>
              <a:buChar char="•"/>
              <a:tabLst>
                <a:tab pos="215265" algn="l"/>
              </a:tabLst>
            </a:pPr>
            <a:r>
              <a:rPr sz="1800" spc="55" dirty="0">
                <a:latin typeface="Cambria"/>
                <a:cs typeface="Cambria"/>
              </a:rPr>
              <a:t>Accuracy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275"/>
              </a:spcBef>
              <a:buChar char="•"/>
              <a:tabLst>
                <a:tab pos="215265" algn="l"/>
              </a:tabLst>
            </a:pPr>
            <a:r>
              <a:rPr sz="1800" spc="55" dirty="0">
                <a:latin typeface="Cambria"/>
                <a:cs typeface="Cambria"/>
              </a:rPr>
              <a:t>Precision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recall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280"/>
              </a:spcBef>
              <a:buChar char="•"/>
              <a:tabLst>
                <a:tab pos="215265" algn="l"/>
              </a:tabLst>
            </a:pPr>
            <a:r>
              <a:rPr sz="1800" spc="85" dirty="0">
                <a:latin typeface="Cambria"/>
                <a:cs typeface="Cambria"/>
              </a:rPr>
              <a:t>Squared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error</a:t>
            </a:r>
            <a:endParaRPr sz="1800">
              <a:latin typeface="Cambria"/>
              <a:cs typeface="Cambria"/>
            </a:endParaRPr>
          </a:p>
          <a:p>
            <a:pPr marL="215900" indent="-203200">
              <a:lnSpc>
                <a:spcPct val="100000"/>
              </a:lnSpc>
              <a:spcBef>
                <a:spcPts val="1275"/>
              </a:spcBef>
              <a:buChar char="•"/>
              <a:tabLst>
                <a:tab pos="215900" algn="l"/>
              </a:tabLst>
            </a:pPr>
            <a:r>
              <a:rPr sz="1800" spc="55" dirty="0">
                <a:latin typeface="Cambria"/>
                <a:cs typeface="Cambria"/>
              </a:rPr>
              <a:t>Likelihood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275"/>
              </a:spcBef>
              <a:buChar char="•"/>
              <a:tabLst>
                <a:tab pos="215265" algn="l"/>
              </a:tabLst>
            </a:pPr>
            <a:r>
              <a:rPr sz="1800" spc="50" dirty="0">
                <a:latin typeface="Cambria"/>
                <a:cs typeface="Cambria"/>
              </a:rPr>
              <a:t>Posterior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probability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280"/>
              </a:spcBef>
              <a:buChar char="•"/>
              <a:tabLst>
                <a:tab pos="215265" algn="l"/>
              </a:tabLst>
            </a:pPr>
            <a:r>
              <a:rPr sz="1800" spc="95" dirty="0">
                <a:latin typeface="Cambria"/>
                <a:cs typeface="Cambria"/>
              </a:rPr>
              <a:t>Cost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390" dirty="0">
                <a:latin typeface="Cambria"/>
                <a:cs typeface="Cambria"/>
              </a:rPr>
              <a:t>/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Utility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275"/>
              </a:spcBef>
              <a:buChar char="•"/>
              <a:tabLst>
                <a:tab pos="215265" algn="l"/>
              </a:tabLst>
            </a:pPr>
            <a:r>
              <a:rPr sz="1800" spc="100" dirty="0">
                <a:latin typeface="Cambria"/>
                <a:cs typeface="Cambria"/>
              </a:rPr>
              <a:t>Margin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275"/>
              </a:spcBef>
              <a:buChar char="•"/>
              <a:tabLst>
                <a:tab pos="215265" algn="l"/>
              </a:tabLst>
            </a:pPr>
            <a:r>
              <a:rPr sz="1800" spc="70" dirty="0">
                <a:latin typeface="Cambria"/>
                <a:cs typeface="Cambria"/>
              </a:rPr>
              <a:t>Entropy</a:t>
            </a:r>
            <a:endParaRPr sz="1800">
              <a:latin typeface="Cambria"/>
              <a:cs typeface="Cambria"/>
            </a:endParaRPr>
          </a:p>
          <a:p>
            <a:pPr marL="215265" indent="-202565">
              <a:lnSpc>
                <a:spcPct val="100000"/>
              </a:lnSpc>
              <a:spcBef>
                <a:spcPts val="1280"/>
              </a:spcBef>
              <a:buChar char="•"/>
              <a:tabLst>
                <a:tab pos="215265" algn="l"/>
              </a:tabLst>
            </a:pPr>
            <a:r>
              <a:rPr sz="1800" spc="145" dirty="0">
                <a:latin typeface="Cambria"/>
                <a:cs typeface="Cambria"/>
              </a:rPr>
              <a:t>K-</a:t>
            </a:r>
            <a:r>
              <a:rPr sz="1800" spc="229" dirty="0">
                <a:latin typeface="Cambria"/>
                <a:cs typeface="Cambria"/>
              </a:rPr>
              <a:t>L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divergence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etc.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45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150" y="2192172"/>
            <a:ext cx="6446774" cy="36245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40919"/>
            <a:ext cx="7705725" cy="10972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000"/>
              </a:lnSpc>
              <a:spcBef>
                <a:spcPts val="595"/>
              </a:spcBef>
            </a:pPr>
            <a:r>
              <a:rPr sz="3700" spc="100" dirty="0">
                <a:solidFill>
                  <a:srgbClr val="464649"/>
                </a:solidFill>
              </a:rPr>
              <a:t>Introduction</a:t>
            </a:r>
            <a:r>
              <a:rPr sz="3700" spc="235" dirty="0">
                <a:solidFill>
                  <a:srgbClr val="464649"/>
                </a:solidFill>
              </a:rPr>
              <a:t> </a:t>
            </a:r>
            <a:r>
              <a:rPr sz="3700" dirty="0">
                <a:solidFill>
                  <a:srgbClr val="464649"/>
                </a:solidFill>
              </a:rPr>
              <a:t>to</a:t>
            </a:r>
            <a:r>
              <a:rPr sz="3700" spc="235" dirty="0">
                <a:solidFill>
                  <a:srgbClr val="464649"/>
                </a:solidFill>
              </a:rPr>
              <a:t> </a:t>
            </a:r>
            <a:r>
              <a:rPr sz="3700" spc="180" dirty="0">
                <a:solidFill>
                  <a:srgbClr val="464649"/>
                </a:solidFill>
              </a:rPr>
              <a:t>Machine</a:t>
            </a:r>
            <a:r>
              <a:rPr sz="3700" spc="240" dirty="0">
                <a:solidFill>
                  <a:srgbClr val="464649"/>
                </a:solidFill>
              </a:rPr>
              <a:t> </a:t>
            </a:r>
            <a:r>
              <a:rPr sz="3700" spc="185" dirty="0">
                <a:solidFill>
                  <a:srgbClr val="464649"/>
                </a:solidFill>
              </a:rPr>
              <a:t>Learning</a:t>
            </a:r>
            <a:r>
              <a:rPr sz="3700" spc="245" dirty="0">
                <a:solidFill>
                  <a:srgbClr val="464649"/>
                </a:solidFill>
              </a:rPr>
              <a:t> </a:t>
            </a:r>
            <a:r>
              <a:rPr sz="3700" spc="-50" dirty="0">
                <a:solidFill>
                  <a:srgbClr val="464649"/>
                </a:solidFill>
              </a:rPr>
              <a:t>- </a:t>
            </a:r>
            <a:r>
              <a:rPr sz="3700" spc="155" dirty="0">
                <a:solidFill>
                  <a:srgbClr val="464649"/>
                </a:solidFill>
              </a:rPr>
              <a:t>Classifiers:</a:t>
            </a:r>
            <a:r>
              <a:rPr sz="3700" spc="235" dirty="0">
                <a:solidFill>
                  <a:srgbClr val="464649"/>
                </a:solidFill>
              </a:rPr>
              <a:t> </a:t>
            </a:r>
            <a:r>
              <a:rPr sz="3700" spc="170" dirty="0">
                <a:solidFill>
                  <a:srgbClr val="464649"/>
                </a:solidFill>
              </a:rPr>
              <a:t>Nearest</a:t>
            </a:r>
            <a:r>
              <a:rPr sz="3700" spc="250" dirty="0">
                <a:solidFill>
                  <a:srgbClr val="464649"/>
                </a:solidFill>
              </a:rPr>
              <a:t> </a:t>
            </a:r>
            <a:r>
              <a:rPr sz="3700" spc="75" dirty="0">
                <a:solidFill>
                  <a:srgbClr val="464649"/>
                </a:solidFill>
              </a:rPr>
              <a:t>neighbor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323189" y="4793107"/>
            <a:ext cx="6148070" cy="1323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00FF"/>
                </a:solidFill>
                <a:latin typeface="Cambria"/>
                <a:cs typeface="Cambria"/>
              </a:rPr>
              <a:t>f(</a:t>
            </a:r>
            <a:r>
              <a:rPr sz="2200" b="1" dirty="0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sz="2200" dirty="0">
                <a:solidFill>
                  <a:srgbClr val="0000FF"/>
                </a:solidFill>
                <a:latin typeface="Cambria"/>
                <a:cs typeface="Cambria"/>
              </a:rPr>
              <a:t>)</a:t>
            </a:r>
            <a:r>
              <a:rPr sz="2200" spc="16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200" spc="105" dirty="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sz="2200" spc="14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0000FF"/>
                </a:solidFill>
                <a:latin typeface="Cambria"/>
                <a:cs typeface="Cambria"/>
              </a:rPr>
              <a:t>label</a:t>
            </a:r>
            <a:r>
              <a:rPr sz="2200" spc="13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FF"/>
                </a:solidFill>
                <a:latin typeface="Cambria"/>
                <a:cs typeface="Cambria"/>
              </a:rPr>
              <a:t>of</a:t>
            </a:r>
            <a:r>
              <a:rPr sz="2200" spc="14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0000FF"/>
                </a:solidFill>
                <a:latin typeface="Cambria"/>
                <a:cs typeface="Cambria"/>
              </a:rPr>
              <a:t>the</a:t>
            </a:r>
            <a:r>
              <a:rPr sz="2200" spc="15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0000FF"/>
                </a:solidFill>
                <a:latin typeface="Cambria"/>
                <a:cs typeface="Cambria"/>
              </a:rPr>
              <a:t>training</a:t>
            </a:r>
            <a:r>
              <a:rPr sz="2200" spc="15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0000FF"/>
                </a:solidFill>
                <a:latin typeface="Cambria"/>
                <a:cs typeface="Cambria"/>
              </a:rPr>
              <a:t>example</a:t>
            </a:r>
            <a:r>
              <a:rPr sz="2200" spc="13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200" spc="75" dirty="0">
                <a:solidFill>
                  <a:srgbClr val="0000FF"/>
                </a:solidFill>
                <a:latin typeface="Cambria"/>
                <a:cs typeface="Cambria"/>
              </a:rPr>
              <a:t>nearest</a:t>
            </a:r>
            <a:r>
              <a:rPr sz="2200" spc="14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FF"/>
                </a:solidFill>
                <a:latin typeface="Cambria"/>
                <a:cs typeface="Cambria"/>
              </a:rPr>
              <a:t>to</a:t>
            </a:r>
            <a:r>
              <a:rPr sz="2200" spc="8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200" b="1" spc="130" dirty="0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buClr>
                <a:srgbClr val="92A9B8"/>
              </a:buClr>
              <a:buSzPct val="60526"/>
              <a:buFont typeface="Wingdings"/>
              <a:buChar char=""/>
              <a:tabLst>
                <a:tab pos="332105" algn="l"/>
              </a:tabLst>
            </a:pPr>
            <a:r>
              <a:rPr sz="1900" spc="110" dirty="0">
                <a:latin typeface="Cambria"/>
                <a:cs typeface="Cambria"/>
              </a:rPr>
              <a:t>All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we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need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is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120" dirty="0">
                <a:latin typeface="Cambria"/>
                <a:cs typeface="Cambria"/>
              </a:rPr>
              <a:t>a</a:t>
            </a:r>
            <a:r>
              <a:rPr sz="1900" spc="160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distance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function</a:t>
            </a:r>
            <a:r>
              <a:rPr sz="1900" spc="1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for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our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inputs</a:t>
            </a:r>
            <a:endParaRPr sz="190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spcBef>
                <a:spcPts val="240"/>
              </a:spcBef>
              <a:buClr>
                <a:srgbClr val="92A9B8"/>
              </a:buClr>
              <a:buSzPct val="60526"/>
              <a:buFont typeface="Wingdings"/>
              <a:buChar char=""/>
              <a:tabLst>
                <a:tab pos="332105" algn="l"/>
              </a:tabLst>
            </a:pPr>
            <a:r>
              <a:rPr sz="1900" spc="90" dirty="0">
                <a:latin typeface="Cambria"/>
                <a:cs typeface="Cambria"/>
              </a:rPr>
              <a:t>No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training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required!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5675" y="216369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59075" y="284949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92475" y="208749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78075" y="361149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49675" y="330669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7275" y="406869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7075" y="2392298"/>
            <a:ext cx="228600" cy="2286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5075" y="3078098"/>
            <a:ext cx="228600" cy="2286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7075" y="3459098"/>
            <a:ext cx="228600" cy="2286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2675" y="2011298"/>
            <a:ext cx="228600" cy="2286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3675" y="2620898"/>
            <a:ext cx="228600" cy="2286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2675" y="3916298"/>
            <a:ext cx="228600" cy="2286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811270" y="2599181"/>
            <a:ext cx="7918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6215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 MT"/>
                <a:cs typeface="Arial MT"/>
              </a:rPr>
              <a:t>Test </a:t>
            </a:r>
            <a:r>
              <a:rPr sz="1600" spc="-10" dirty="0">
                <a:latin typeface="Arial MT"/>
                <a:cs typeface="Arial MT"/>
              </a:rPr>
              <a:t>example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2200" y="2649981"/>
            <a:ext cx="11220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00FF"/>
                </a:solidFill>
                <a:latin typeface="Arial MT"/>
                <a:cs typeface="Arial MT"/>
              </a:rPr>
              <a:t>Training examples </a:t>
            </a:r>
            <a:r>
              <a:rPr sz="1600" dirty="0">
                <a:solidFill>
                  <a:srgbClr val="0000FF"/>
                </a:solidFill>
                <a:latin typeface="Arial MT"/>
                <a:cs typeface="Arial MT"/>
              </a:rPr>
              <a:t>from</a:t>
            </a:r>
            <a:r>
              <a:rPr sz="16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FF"/>
                </a:solidFill>
                <a:latin typeface="Arial MT"/>
                <a:cs typeface="Arial MT"/>
              </a:rPr>
              <a:t>class</a:t>
            </a:r>
            <a:r>
              <a:rPr sz="1600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0000FF"/>
                </a:solidFill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50634" y="2497581"/>
            <a:ext cx="11220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0000"/>
                </a:solidFill>
                <a:latin typeface="Arial MT"/>
                <a:cs typeface="Arial MT"/>
              </a:rPr>
              <a:t>Training examples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sz="16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class</a:t>
            </a:r>
            <a:r>
              <a:rPr sz="16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44875" y="2316098"/>
            <a:ext cx="387985" cy="540385"/>
            <a:chOff x="3444875" y="2316098"/>
            <a:chExt cx="387985" cy="540385"/>
          </a:xfrm>
        </p:grpSpPr>
        <p:sp>
          <p:nvSpPr>
            <p:cNvPr id="20" name="object 20"/>
            <p:cNvSpPr/>
            <p:nvPr/>
          </p:nvSpPr>
          <p:spPr>
            <a:xfrm>
              <a:off x="3444875" y="2316098"/>
              <a:ext cx="240029" cy="387985"/>
            </a:xfrm>
            <a:custGeom>
              <a:avLst/>
              <a:gdLst/>
              <a:ahLst/>
              <a:cxnLst/>
              <a:rect l="l" t="t" r="r" b="b"/>
              <a:pathLst>
                <a:path w="240029" h="387985">
                  <a:moveTo>
                    <a:pt x="200278" y="309245"/>
                  </a:moveTo>
                  <a:lnTo>
                    <a:pt x="178562" y="322199"/>
                  </a:lnTo>
                  <a:lnTo>
                    <a:pt x="217677" y="387603"/>
                  </a:lnTo>
                  <a:lnTo>
                    <a:pt x="239522" y="374523"/>
                  </a:lnTo>
                  <a:lnTo>
                    <a:pt x="200278" y="309245"/>
                  </a:lnTo>
                  <a:close/>
                </a:path>
                <a:path w="240029" h="387985">
                  <a:moveTo>
                    <a:pt x="147954" y="222123"/>
                  </a:moveTo>
                  <a:lnTo>
                    <a:pt x="126237" y="235076"/>
                  </a:lnTo>
                  <a:lnTo>
                    <a:pt x="165480" y="300481"/>
                  </a:lnTo>
                  <a:lnTo>
                    <a:pt x="187198" y="287400"/>
                  </a:lnTo>
                  <a:lnTo>
                    <a:pt x="147954" y="222123"/>
                  </a:lnTo>
                  <a:close/>
                </a:path>
                <a:path w="240029" h="387985">
                  <a:moveTo>
                    <a:pt x="95758" y="135000"/>
                  </a:moveTo>
                  <a:lnTo>
                    <a:pt x="73913" y="147954"/>
                  </a:lnTo>
                  <a:lnTo>
                    <a:pt x="113157" y="213360"/>
                  </a:lnTo>
                  <a:lnTo>
                    <a:pt x="135000" y="200278"/>
                  </a:lnTo>
                  <a:lnTo>
                    <a:pt x="95758" y="135000"/>
                  </a:lnTo>
                  <a:close/>
                </a:path>
                <a:path w="240029" h="387985">
                  <a:moveTo>
                    <a:pt x="39113" y="50456"/>
                  </a:moveTo>
                  <a:lnTo>
                    <a:pt x="26077" y="58232"/>
                  </a:lnTo>
                  <a:lnTo>
                    <a:pt x="26193" y="68317"/>
                  </a:lnTo>
                  <a:lnTo>
                    <a:pt x="60833" y="126237"/>
                  </a:lnTo>
                  <a:lnTo>
                    <a:pt x="82676" y="113156"/>
                  </a:lnTo>
                  <a:lnTo>
                    <a:pt x="47870" y="55258"/>
                  </a:lnTo>
                  <a:lnTo>
                    <a:pt x="39113" y="50456"/>
                  </a:lnTo>
                  <a:close/>
                </a:path>
                <a:path w="240029" h="387985">
                  <a:moveTo>
                    <a:pt x="0" y="0"/>
                  </a:moveTo>
                  <a:lnTo>
                    <a:pt x="1270" y="109981"/>
                  </a:lnTo>
                  <a:lnTo>
                    <a:pt x="1397" y="116966"/>
                  </a:lnTo>
                  <a:lnTo>
                    <a:pt x="7112" y="122681"/>
                  </a:lnTo>
                  <a:lnTo>
                    <a:pt x="21209" y="122427"/>
                  </a:lnTo>
                  <a:lnTo>
                    <a:pt x="26797" y="116712"/>
                  </a:lnTo>
                  <a:lnTo>
                    <a:pt x="26670" y="109727"/>
                  </a:lnTo>
                  <a:lnTo>
                    <a:pt x="26193" y="68317"/>
                  </a:lnTo>
                  <a:lnTo>
                    <a:pt x="21716" y="60833"/>
                  </a:lnTo>
                  <a:lnTo>
                    <a:pt x="26077" y="58232"/>
                  </a:lnTo>
                  <a:lnTo>
                    <a:pt x="25904" y="43211"/>
                  </a:lnTo>
                  <a:lnTo>
                    <a:pt x="18436" y="39115"/>
                  </a:lnTo>
                  <a:lnTo>
                    <a:pt x="8636" y="39115"/>
                  </a:lnTo>
                  <a:lnTo>
                    <a:pt x="2032" y="28193"/>
                  </a:lnTo>
                  <a:lnTo>
                    <a:pt x="23875" y="15112"/>
                  </a:lnTo>
                  <a:lnTo>
                    <a:pt x="27507" y="15112"/>
                  </a:lnTo>
                  <a:lnTo>
                    <a:pt x="0" y="0"/>
                  </a:lnTo>
                  <a:close/>
                </a:path>
                <a:path w="240029" h="387985">
                  <a:moveTo>
                    <a:pt x="87146" y="47878"/>
                  </a:moveTo>
                  <a:lnTo>
                    <a:pt x="43434" y="47878"/>
                  </a:lnTo>
                  <a:lnTo>
                    <a:pt x="47870" y="55258"/>
                  </a:lnTo>
                  <a:lnTo>
                    <a:pt x="84200" y="75184"/>
                  </a:lnTo>
                  <a:lnTo>
                    <a:pt x="90297" y="78612"/>
                  </a:lnTo>
                  <a:lnTo>
                    <a:pt x="98044" y="76326"/>
                  </a:lnTo>
                  <a:lnTo>
                    <a:pt x="101346" y="70230"/>
                  </a:lnTo>
                  <a:lnTo>
                    <a:pt x="104775" y="64008"/>
                  </a:lnTo>
                  <a:lnTo>
                    <a:pt x="102488" y="56387"/>
                  </a:lnTo>
                  <a:lnTo>
                    <a:pt x="96392" y="52959"/>
                  </a:lnTo>
                  <a:lnTo>
                    <a:pt x="87146" y="47878"/>
                  </a:lnTo>
                  <a:close/>
                </a:path>
                <a:path w="240029" h="387985">
                  <a:moveTo>
                    <a:pt x="26077" y="58232"/>
                  </a:moveTo>
                  <a:lnTo>
                    <a:pt x="21716" y="60833"/>
                  </a:lnTo>
                  <a:lnTo>
                    <a:pt x="26193" y="68317"/>
                  </a:lnTo>
                  <a:lnTo>
                    <a:pt x="26077" y="58232"/>
                  </a:lnTo>
                  <a:close/>
                </a:path>
                <a:path w="240029" h="387985">
                  <a:moveTo>
                    <a:pt x="43434" y="47878"/>
                  </a:moveTo>
                  <a:lnTo>
                    <a:pt x="39113" y="50456"/>
                  </a:lnTo>
                  <a:lnTo>
                    <a:pt x="47870" y="55258"/>
                  </a:lnTo>
                  <a:lnTo>
                    <a:pt x="43434" y="47878"/>
                  </a:lnTo>
                  <a:close/>
                </a:path>
                <a:path w="240029" h="387985">
                  <a:moveTo>
                    <a:pt x="27507" y="15112"/>
                  </a:moveTo>
                  <a:lnTo>
                    <a:pt x="23875" y="15112"/>
                  </a:lnTo>
                  <a:lnTo>
                    <a:pt x="30352" y="26035"/>
                  </a:lnTo>
                  <a:lnTo>
                    <a:pt x="25738" y="28814"/>
                  </a:lnTo>
                  <a:lnTo>
                    <a:pt x="25904" y="43211"/>
                  </a:lnTo>
                  <a:lnTo>
                    <a:pt x="39113" y="50456"/>
                  </a:lnTo>
                  <a:lnTo>
                    <a:pt x="43434" y="47878"/>
                  </a:lnTo>
                  <a:lnTo>
                    <a:pt x="87146" y="47878"/>
                  </a:lnTo>
                  <a:lnTo>
                    <a:pt x="27507" y="15112"/>
                  </a:lnTo>
                  <a:close/>
                </a:path>
                <a:path w="240029" h="387985">
                  <a:moveTo>
                    <a:pt x="25738" y="28814"/>
                  </a:moveTo>
                  <a:lnTo>
                    <a:pt x="13306" y="36302"/>
                  </a:lnTo>
                  <a:lnTo>
                    <a:pt x="25904" y="43211"/>
                  </a:lnTo>
                  <a:lnTo>
                    <a:pt x="25738" y="28814"/>
                  </a:lnTo>
                  <a:close/>
                </a:path>
                <a:path w="240029" h="387985">
                  <a:moveTo>
                    <a:pt x="23875" y="15112"/>
                  </a:moveTo>
                  <a:lnTo>
                    <a:pt x="2032" y="28193"/>
                  </a:lnTo>
                  <a:lnTo>
                    <a:pt x="8636" y="39115"/>
                  </a:lnTo>
                  <a:lnTo>
                    <a:pt x="13306" y="36302"/>
                  </a:lnTo>
                  <a:lnTo>
                    <a:pt x="6858" y="32765"/>
                  </a:lnTo>
                  <a:lnTo>
                    <a:pt x="25653" y="21462"/>
                  </a:lnTo>
                  <a:lnTo>
                    <a:pt x="27641" y="21462"/>
                  </a:lnTo>
                  <a:lnTo>
                    <a:pt x="23875" y="15112"/>
                  </a:lnTo>
                  <a:close/>
                </a:path>
                <a:path w="240029" h="387985">
                  <a:moveTo>
                    <a:pt x="13306" y="36302"/>
                  </a:moveTo>
                  <a:lnTo>
                    <a:pt x="8636" y="39115"/>
                  </a:lnTo>
                  <a:lnTo>
                    <a:pt x="18436" y="39115"/>
                  </a:lnTo>
                  <a:lnTo>
                    <a:pt x="13306" y="36302"/>
                  </a:lnTo>
                  <a:close/>
                </a:path>
                <a:path w="240029" h="387985">
                  <a:moveTo>
                    <a:pt x="25653" y="21462"/>
                  </a:moveTo>
                  <a:lnTo>
                    <a:pt x="6858" y="32765"/>
                  </a:lnTo>
                  <a:lnTo>
                    <a:pt x="13306" y="36302"/>
                  </a:lnTo>
                  <a:lnTo>
                    <a:pt x="25738" y="28814"/>
                  </a:lnTo>
                  <a:lnTo>
                    <a:pt x="25653" y="21462"/>
                  </a:lnTo>
                  <a:close/>
                </a:path>
                <a:path w="240029" h="387985">
                  <a:moveTo>
                    <a:pt x="27641" y="21462"/>
                  </a:moveTo>
                  <a:lnTo>
                    <a:pt x="25653" y="21462"/>
                  </a:lnTo>
                  <a:lnTo>
                    <a:pt x="25738" y="28814"/>
                  </a:lnTo>
                  <a:lnTo>
                    <a:pt x="30352" y="26035"/>
                  </a:lnTo>
                  <a:lnTo>
                    <a:pt x="27641" y="21462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21075" y="254469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0" y="152400"/>
                  </a:lnTo>
                  <a:lnTo>
                    <a:pt x="152400" y="304800"/>
                  </a:lnTo>
                  <a:lnTo>
                    <a:pt x="3048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21075" y="254469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152400" y="0"/>
                  </a:lnTo>
                  <a:lnTo>
                    <a:pt x="304800" y="152400"/>
                  </a:lnTo>
                  <a:lnTo>
                    <a:pt x="152400" y="304800"/>
                  </a:lnTo>
                  <a:lnTo>
                    <a:pt x="0" y="152400"/>
                  </a:lnTo>
                  <a:close/>
                </a:path>
              </a:pathLst>
            </a:custGeom>
            <a:ln w="13970">
              <a:solidFill>
                <a:srgbClr val="5050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53111"/>
            <a:ext cx="7141209" cy="115189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 marR="5080">
              <a:lnSpc>
                <a:spcPts val="3940"/>
              </a:lnSpc>
              <a:spcBef>
                <a:spcPts val="1055"/>
              </a:spcBef>
            </a:pPr>
            <a:r>
              <a:rPr sz="4100" spc="120" dirty="0">
                <a:solidFill>
                  <a:srgbClr val="464649"/>
                </a:solidFill>
              </a:rPr>
              <a:t>Introduction</a:t>
            </a:r>
            <a:r>
              <a:rPr sz="4100" spc="270" dirty="0">
                <a:solidFill>
                  <a:srgbClr val="464649"/>
                </a:solidFill>
              </a:rPr>
              <a:t> </a:t>
            </a:r>
            <a:r>
              <a:rPr sz="4100" dirty="0">
                <a:solidFill>
                  <a:srgbClr val="464649"/>
                </a:solidFill>
              </a:rPr>
              <a:t>to</a:t>
            </a:r>
            <a:r>
              <a:rPr sz="4100" spc="300" dirty="0">
                <a:solidFill>
                  <a:srgbClr val="464649"/>
                </a:solidFill>
              </a:rPr>
              <a:t> </a:t>
            </a:r>
            <a:r>
              <a:rPr sz="4100" spc="200" dirty="0">
                <a:solidFill>
                  <a:srgbClr val="464649"/>
                </a:solidFill>
              </a:rPr>
              <a:t>Machine </a:t>
            </a:r>
            <a:r>
              <a:rPr sz="4100" spc="210" dirty="0">
                <a:solidFill>
                  <a:srgbClr val="464649"/>
                </a:solidFill>
              </a:rPr>
              <a:t>Learning</a:t>
            </a:r>
            <a:r>
              <a:rPr sz="4100" spc="229" dirty="0">
                <a:solidFill>
                  <a:srgbClr val="464649"/>
                </a:solidFill>
              </a:rPr>
              <a:t> </a:t>
            </a:r>
            <a:r>
              <a:rPr sz="4100" dirty="0">
                <a:solidFill>
                  <a:srgbClr val="464649"/>
                </a:solidFill>
              </a:rPr>
              <a:t>-</a:t>
            </a:r>
            <a:r>
              <a:rPr sz="4100" spc="245" dirty="0">
                <a:solidFill>
                  <a:srgbClr val="464649"/>
                </a:solidFill>
              </a:rPr>
              <a:t> </a:t>
            </a:r>
            <a:r>
              <a:rPr sz="4100" spc="170" dirty="0">
                <a:solidFill>
                  <a:srgbClr val="464649"/>
                </a:solidFill>
              </a:rPr>
              <a:t>Classifiers:</a:t>
            </a:r>
            <a:r>
              <a:rPr sz="4100" spc="220" dirty="0">
                <a:solidFill>
                  <a:srgbClr val="464649"/>
                </a:solidFill>
              </a:rPr>
              <a:t> </a:t>
            </a:r>
            <a:r>
              <a:rPr sz="4100" spc="215" dirty="0">
                <a:solidFill>
                  <a:srgbClr val="464649"/>
                </a:solidFill>
              </a:rPr>
              <a:t>Linear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307340" y="4590164"/>
            <a:ext cx="5689600" cy="172656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0"/>
              </a:spcBef>
              <a:buClr>
                <a:srgbClr val="92A9B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110" dirty="0">
                <a:latin typeface="Cambria"/>
                <a:cs typeface="Cambria"/>
              </a:rPr>
              <a:t>Find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i="1" spc="85" dirty="0">
                <a:latin typeface="Cambria"/>
                <a:cs typeface="Cambria"/>
              </a:rPr>
              <a:t>linear</a:t>
            </a:r>
            <a:r>
              <a:rPr sz="2000" i="1" spc="100" dirty="0">
                <a:latin typeface="Cambria"/>
                <a:cs typeface="Cambria"/>
              </a:rPr>
              <a:t> </a:t>
            </a:r>
            <a:r>
              <a:rPr sz="2000" i="1" spc="80" dirty="0">
                <a:latin typeface="Cambria"/>
                <a:cs typeface="Cambria"/>
              </a:rPr>
              <a:t>function</a:t>
            </a:r>
            <a:r>
              <a:rPr sz="2000" i="1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separate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classes:</a:t>
            </a:r>
            <a:endParaRPr sz="2000">
              <a:latin typeface="Cambria"/>
              <a:cs typeface="Cambria"/>
            </a:endParaRPr>
          </a:p>
          <a:p>
            <a:pPr marL="3269615">
              <a:lnSpc>
                <a:spcPct val="100000"/>
              </a:lnSpc>
              <a:spcBef>
                <a:spcPts val="695"/>
              </a:spcBef>
            </a:pPr>
            <a:r>
              <a:rPr sz="2000" dirty="0">
                <a:solidFill>
                  <a:srgbClr val="0000FF"/>
                </a:solidFill>
                <a:latin typeface="Cambria"/>
                <a:cs typeface="Cambria"/>
              </a:rPr>
              <a:t>f(</a:t>
            </a:r>
            <a:r>
              <a:rPr sz="2000" b="1" dirty="0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sz="2000" dirty="0">
                <a:solidFill>
                  <a:srgbClr val="0000FF"/>
                </a:solidFill>
                <a:latin typeface="Cambria"/>
                <a:cs typeface="Cambria"/>
              </a:rPr>
              <a:t>)</a:t>
            </a:r>
            <a:r>
              <a:rPr sz="2000" spc="95" dirty="0">
                <a:solidFill>
                  <a:srgbClr val="0000FF"/>
                </a:solidFill>
                <a:latin typeface="Cambria"/>
                <a:cs typeface="Cambria"/>
              </a:rPr>
              <a:t> =</a:t>
            </a:r>
            <a:r>
              <a:rPr sz="2000" spc="10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0000FF"/>
                </a:solidFill>
                <a:latin typeface="Cambria"/>
                <a:cs typeface="Cambria"/>
              </a:rPr>
              <a:t>sgn(</a:t>
            </a:r>
            <a:r>
              <a:rPr sz="2000" b="1" spc="65" dirty="0">
                <a:solidFill>
                  <a:srgbClr val="0000FF"/>
                </a:solidFill>
                <a:latin typeface="Cambria"/>
                <a:cs typeface="Cambria"/>
              </a:rPr>
              <a:t>w</a:t>
            </a:r>
            <a:r>
              <a:rPr sz="2000" b="1" spc="1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00FF"/>
                </a:solidFill>
                <a:latin typeface="Symbol"/>
                <a:cs typeface="Symbol"/>
              </a:rPr>
              <a:t></a:t>
            </a:r>
            <a:r>
              <a:rPr sz="2000" spc="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165" dirty="0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sz="2000" b="1" spc="14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0000FF"/>
                </a:solidFill>
                <a:latin typeface="Cambria"/>
                <a:cs typeface="Cambria"/>
              </a:rPr>
              <a:t>+</a:t>
            </a:r>
            <a:r>
              <a:rPr sz="2000" spc="1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Cambria"/>
                <a:cs typeface="Cambria"/>
              </a:rPr>
              <a:t>b)</a:t>
            </a:r>
            <a:endParaRPr sz="200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spcBef>
                <a:spcPts val="5"/>
              </a:spcBef>
              <a:buClr>
                <a:srgbClr val="92A9B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dirty="0">
                <a:latin typeface="Cambria"/>
                <a:cs typeface="Cambria"/>
              </a:rPr>
              <a:t>w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weight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vector</a:t>
            </a:r>
            <a:endParaRPr sz="200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buClr>
                <a:srgbClr val="92A9B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spc="105" dirty="0">
                <a:latin typeface="Cambria"/>
                <a:cs typeface="Cambria"/>
              </a:rPr>
              <a:t>x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input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vector</a:t>
            </a:r>
            <a:endParaRPr sz="2000">
              <a:latin typeface="Cambria"/>
              <a:cs typeface="Cambria"/>
            </a:endParaRPr>
          </a:p>
          <a:p>
            <a:pPr marL="332105" indent="-319405">
              <a:lnSpc>
                <a:spcPct val="100000"/>
              </a:lnSpc>
              <a:buClr>
                <a:srgbClr val="92A9B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dirty="0">
                <a:latin typeface="Cambria"/>
                <a:cs typeface="Cambria"/>
              </a:rPr>
              <a:t>b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bias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09800" y="182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43200" y="2514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76600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62200" y="3276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0" y="2971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81400" y="3733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200" y="2057400"/>
            <a:ext cx="228600" cy="2286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2743200"/>
            <a:ext cx="228600" cy="2286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200" y="3124200"/>
            <a:ext cx="228600" cy="2286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1676400"/>
            <a:ext cx="228600" cy="2286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2286000"/>
            <a:ext cx="228600" cy="2286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3581400"/>
            <a:ext cx="228600" cy="22860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4038600" y="1219200"/>
            <a:ext cx="533400" cy="3276600"/>
          </a:xfrm>
          <a:custGeom>
            <a:avLst/>
            <a:gdLst/>
            <a:ahLst/>
            <a:cxnLst/>
            <a:rect l="l" t="t" r="r" b="b"/>
            <a:pathLst>
              <a:path w="533400" h="3276600">
                <a:moveTo>
                  <a:pt x="0" y="0"/>
                </a:moveTo>
                <a:lnTo>
                  <a:pt x="533400" y="3276600"/>
                </a:lnTo>
              </a:path>
            </a:pathLst>
          </a:custGeom>
          <a:ln w="38100">
            <a:solidFill>
              <a:srgbClr val="CC0099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395209" y="6213119"/>
            <a:ext cx="1755139" cy="610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55" dirty="0">
                <a:solidFill>
                  <a:srgbClr val="A6A6A6"/>
                </a:solidFill>
                <a:latin typeface="Cambria"/>
                <a:cs typeface="Cambria"/>
              </a:rPr>
              <a:t>Slide</a:t>
            </a:r>
            <a:r>
              <a:rPr sz="1200" spc="95" dirty="0">
                <a:solidFill>
                  <a:srgbClr val="A6A6A6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A6A6A6"/>
                </a:solidFill>
                <a:latin typeface="Cambria"/>
                <a:cs typeface="Cambria"/>
              </a:rPr>
              <a:t>credit:</a:t>
            </a:r>
            <a:r>
              <a:rPr sz="1200" spc="140" dirty="0">
                <a:solidFill>
                  <a:srgbClr val="A6A6A6"/>
                </a:solidFill>
                <a:latin typeface="Cambria"/>
                <a:cs typeface="Cambria"/>
              </a:rPr>
              <a:t> </a:t>
            </a:r>
            <a:r>
              <a:rPr sz="1200" spc="120" dirty="0">
                <a:solidFill>
                  <a:srgbClr val="A6A6A6"/>
                </a:solidFill>
                <a:latin typeface="Cambria"/>
                <a:cs typeface="Cambria"/>
              </a:rPr>
              <a:t>L.</a:t>
            </a:r>
            <a:r>
              <a:rPr sz="1200" spc="140" dirty="0">
                <a:solidFill>
                  <a:srgbClr val="A6A6A6"/>
                </a:solidFill>
                <a:latin typeface="Cambria"/>
                <a:cs typeface="Cambria"/>
              </a:rPr>
              <a:t> </a:t>
            </a:r>
            <a:r>
              <a:rPr sz="1200" spc="45" dirty="0">
                <a:solidFill>
                  <a:srgbClr val="A6A6A6"/>
                </a:solidFill>
                <a:latin typeface="Cambria"/>
                <a:cs typeface="Cambria"/>
              </a:rPr>
              <a:t>Lazebnik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55" dirty="0"/>
              <a:t>Learning</a:t>
            </a:r>
            <a:r>
              <a:rPr spc="140" dirty="0"/>
              <a:t> </a:t>
            </a:r>
            <a:r>
              <a:rPr dirty="0"/>
              <a:t>-</a:t>
            </a:r>
            <a:r>
              <a:rPr spc="155" dirty="0"/>
              <a:t> </a:t>
            </a:r>
            <a:r>
              <a:rPr spc="110" dirty="0"/>
              <a:t>Generalization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448" y="1845005"/>
            <a:ext cx="6182360" cy="561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ts val="2110"/>
              </a:lnSpc>
              <a:spcBef>
                <a:spcPts val="100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194945" algn="l"/>
              </a:tabLst>
            </a:pPr>
            <a:r>
              <a:rPr sz="1800" spc="70" dirty="0">
                <a:latin typeface="Cambria"/>
                <a:cs typeface="Cambria"/>
              </a:rPr>
              <a:t>How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well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does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learned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model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generalize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the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data</a:t>
            </a:r>
            <a:endParaRPr sz="1800">
              <a:latin typeface="Cambria"/>
              <a:cs typeface="Cambria"/>
            </a:endParaRPr>
          </a:p>
          <a:p>
            <a:pPr marL="195580">
              <a:lnSpc>
                <a:spcPts val="2110"/>
              </a:lnSpc>
            </a:pPr>
            <a:r>
              <a:rPr sz="1800" spc="80" dirty="0">
                <a:latin typeface="Cambria"/>
                <a:cs typeface="Cambria"/>
              </a:rPr>
              <a:t>it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was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trained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a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new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test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set?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2590820"/>
            <a:ext cx="6500879" cy="418287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448" y="467360"/>
            <a:ext cx="597090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55" dirty="0"/>
              <a:t>Learning</a:t>
            </a:r>
            <a:r>
              <a:rPr spc="140" dirty="0"/>
              <a:t> </a:t>
            </a:r>
            <a:r>
              <a:rPr dirty="0"/>
              <a:t>-</a:t>
            </a:r>
            <a:r>
              <a:rPr spc="155" dirty="0"/>
              <a:t> </a:t>
            </a:r>
            <a:r>
              <a:rPr spc="110" dirty="0"/>
              <a:t>Generalization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25448" y="1631578"/>
            <a:ext cx="6288405" cy="395414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35"/>
              </a:spcBef>
              <a:buClr>
                <a:srgbClr val="6E6E74"/>
              </a:buClr>
              <a:buSzPct val="80357"/>
              <a:buFont typeface="Arial MT"/>
              <a:buChar char="•"/>
              <a:tabLst>
                <a:tab pos="194945" algn="l"/>
              </a:tabLst>
            </a:pPr>
            <a:r>
              <a:rPr sz="2800" spc="100" dirty="0">
                <a:latin typeface="Cambria"/>
                <a:cs typeface="Cambria"/>
              </a:rPr>
              <a:t>Components</a:t>
            </a:r>
            <a:r>
              <a:rPr sz="2800" spc="229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generalization</a:t>
            </a:r>
            <a:r>
              <a:rPr sz="2800" spc="254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error</a:t>
            </a:r>
            <a:endParaRPr sz="28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83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500" b="1" dirty="0">
                <a:solidFill>
                  <a:srgbClr val="232323"/>
                </a:solidFill>
                <a:latin typeface="Calibri"/>
                <a:cs typeface="Calibri"/>
              </a:rPr>
              <a:t>What</a:t>
            </a:r>
            <a:r>
              <a:rPr sz="2500" b="1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2500" b="1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232323"/>
                </a:solidFill>
                <a:latin typeface="Calibri"/>
                <a:cs typeface="Calibri"/>
              </a:rPr>
              <a:t>bias?</a:t>
            </a:r>
            <a:endParaRPr sz="2500">
              <a:latin typeface="Calibri"/>
              <a:cs typeface="Calibri"/>
            </a:endParaRPr>
          </a:p>
          <a:p>
            <a:pPr marL="194945" indent="-182245">
              <a:lnSpc>
                <a:spcPts val="2620"/>
              </a:lnSpc>
              <a:spcBef>
                <a:spcPts val="85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  <a:tab pos="888365" algn="l"/>
                <a:tab pos="1254125" algn="l"/>
                <a:tab pos="1856105" algn="l"/>
                <a:tab pos="3342640" algn="l"/>
                <a:tab pos="4656455" algn="l"/>
                <a:tab pos="5258435" algn="l"/>
              </a:tabLst>
            </a:pPr>
            <a:r>
              <a:rPr sz="2500" spc="-20" dirty="0">
                <a:solidFill>
                  <a:srgbClr val="232323"/>
                </a:solidFill>
                <a:latin typeface="Calibri"/>
                <a:cs typeface="Calibri"/>
              </a:rPr>
              <a:t>Bias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5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5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difference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between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5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average</a:t>
            </a:r>
            <a:endParaRPr sz="2500">
              <a:latin typeface="Calibri"/>
              <a:cs typeface="Calibri"/>
            </a:endParaRPr>
          </a:p>
          <a:p>
            <a:pPr marL="195580" marR="5080">
              <a:lnSpc>
                <a:spcPct val="75200"/>
              </a:lnSpc>
              <a:spcBef>
                <a:spcPts val="365"/>
              </a:spcBef>
            </a:pP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prediction</a:t>
            </a:r>
            <a:r>
              <a:rPr sz="2500" spc="1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2500" spc="1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our</a:t>
            </a:r>
            <a:r>
              <a:rPr sz="25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model</a:t>
            </a:r>
            <a:r>
              <a:rPr sz="25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2500" spc="1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500" spc="1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correct</a:t>
            </a:r>
            <a:r>
              <a:rPr sz="2500" spc="1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value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which</a:t>
            </a:r>
            <a:r>
              <a:rPr sz="25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we</a:t>
            </a:r>
            <a:r>
              <a:rPr sz="25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are</a:t>
            </a:r>
            <a:r>
              <a:rPr sz="25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trying</a:t>
            </a:r>
            <a:r>
              <a:rPr sz="25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25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predict.</a:t>
            </a:r>
            <a:endParaRPr sz="2500">
              <a:latin typeface="Calibri"/>
              <a:cs typeface="Calibri"/>
            </a:endParaRPr>
          </a:p>
          <a:p>
            <a:pPr marL="194945" indent="-182245">
              <a:lnSpc>
                <a:spcPts val="2620"/>
              </a:lnSpc>
              <a:spcBef>
                <a:spcPts val="85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Model</a:t>
            </a:r>
            <a:r>
              <a:rPr sz="2500" spc="1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with</a:t>
            </a:r>
            <a:r>
              <a:rPr sz="2500" spc="1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high</a:t>
            </a:r>
            <a:r>
              <a:rPr sz="2500" spc="1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bias</a:t>
            </a:r>
            <a:r>
              <a:rPr sz="2500" spc="1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pays</a:t>
            </a:r>
            <a:r>
              <a:rPr sz="2500" spc="1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very</a:t>
            </a:r>
            <a:r>
              <a:rPr sz="2500" spc="1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little</a:t>
            </a:r>
            <a:r>
              <a:rPr sz="2500" spc="1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attention</a:t>
            </a:r>
            <a:endParaRPr sz="2500">
              <a:latin typeface="Calibri"/>
              <a:cs typeface="Calibri"/>
            </a:endParaRPr>
          </a:p>
          <a:p>
            <a:pPr marL="195580" marR="6350">
              <a:lnSpc>
                <a:spcPct val="75200"/>
              </a:lnSpc>
              <a:spcBef>
                <a:spcPts val="365"/>
              </a:spcBef>
              <a:tabLst>
                <a:tab pos="646430" algn="l"/>
                <a:tab pos="1259205" algn="l"/>
                <a:tab pos="2439035" algn="l"/>
                <a:tab pos="3191510" algn="l"/>
                <a:tab pos="3859529" algn="l"/>
                <a:tab pos="5840730" algn="l"/>
              </a:tabLst>
            </a:pPr>
            <a:r>
              <a:rPr sz="2500" spc="-25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5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training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5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oversimplifies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5" dirty="0">
                <a:solidFill>
                  <a:srgbClr val="232323"/>
                </a:solidFill>
                <a:latin typeface="Calibri"/>
                <a:cs typeface="Calibri"/>
              </a:rPr>
              <a:t>the 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model.</a:t>
            </a:r>
            <a:endParaRPr sz="2500">
              <a:latin typeface="Calibri"/>
              <a:cs typeface="Calibri"/>
            </a:endParaRPr>
          </a:p>
          <a:p>
            <a:pPr marL="195580" marR="5080" indent="-182880">
              <a:lnSpc>
                <a:spcPct val="75300"/>
              </a:lnSpc>
              <a:spcBef>
                <a:spcPts val="158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5580" algn="l"/>
                <a:tab pos="512445" algn="l"/>
                <a:tab pos="1507490" algn="l"/>
                <a:tab pos="2317115" algn="l"/>
                <a:tab pos="2717800" algn="l"/>
                <a:tab pos="3404870" algn="l"/>
                <a:tab pos="4193540" algn="l"/>
                <a:tab pos="4656455" algn="l"/>
                <a:tab pos="5787390" algn="l"/>
              </a:tabLst>
            </a:pPr>
            <a:r>
              <a:rPr sz="2500" spc="-25" dirty="0">
                <a:solidFill>
                  <a:srgbClr val="232323"/>
                </a:solidFill>
                <a:latin typeface="Calibri"/>
                <a:cs typeface="Calibri"/>
              </a:rPr>
              <a:t>It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always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0" dirty="0">
                <a:solidFill>
                  <a:srgbClr val="232323"/>
                </a:solidFill>
                <a:latin typeface="Calibri"/>
                <a:cs typeface="Calibri"/>
              </a:rPr>
              <a:t>leads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5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0" dirty="0">
                <a:solidFill>
                  <a:srgbClr val="232323"/>
                </a:solidFill>
                <a:latin typeface="Calibri"/>
                <a:cs typeface="Calibri"/>
              </a:rPr>
              <a:t>high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error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5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10" dirty="0">
                <a:solidFill>
                  <a:srgbClr val="232323"/>
                </a:solidFill>
                <a:latin typeface="Calibri"/>
                <a:cs typeface="Calibri"/>
              </a:rPr>
              <a:t>training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2500" spc="-25" dirty="0">
                <a:solidFill>
                  <a:srgbClr val="232323"/>
                </a:solidFill>
                <a:latin typeface="Calibri"/>
                <a:cs typeface="Calibri"/>
              </a:rPr>
              <a:t>and </a:t>
            </a:r>
            <a:r>
              <a:rPr sz="25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25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232323"/>
                </a:solidFill>
                <a:latin typeface="Calibri"/>
                <a:cs typeface="Calibri"/>
              </a:rPr>
              <a:t>data.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55" dirty="0"/>
              <a:t>Learning</a:t>
            </a:r>
            <a:r>
              <a:rPr spc="140" dirty="0"/>
              <a:t> </a:t>
            </a:r>
            <a:r>
              <a:rPr dirty="0"/>
              <a:t>-</a:t>
            </a:r>
            <a:r>
              <a:rPr spc="155" dirty="0"/>
              <a:t> </a:t>
            </a:r>
            <a:r>
              <a:rPr spc="110" dirty="0"/>
              <a:t>Generalization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25448" y="1738325"/>
            <a:ext cx="6288405" cy="4318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ts val="3150"/>
              </a:lnSpc>
              <a:spcBef>
                <a:spcPts val="10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  <a:tab pos="1792605" algn="l"/>
                <a:tab pos="2252980" algn="l"/>
                <a:tab pos="2993390" algn="l"/>
                <a:tab pos="4744720" algn="l"/>
                <a:tab pos="5285740" algn="l"/>
              </a:tabLst>
            </a:pPr>
            <a:r>
              <a:rPr sz="3000" b="1" spc="-10" dirty="0">
                <a:solidFill>
                  <a:srgbClr val="232323"/>
                </a:solidFill>
                <a:latin typeface="Calibri"/>
                <a:cs typeface="Calibri"/>
              </a:rPr>
              <a:t>Variance</a:t>
            </a:r>
            <a:r>
              <a:rPr sz="3000" b="1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25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25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10" dirty="0">
                <a:solidFill>
                  <a:srgbClr val="232323"/>
                </a:solidFill>
                <a:latin typeface="Calibri"/>
                <a:cs typeface="Calibri"/>
              </a:rPr>
              <a:t>variability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25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10" dirty="0">
                <a:solidFill>
                  <a:srgbClr val="232323"/>
                </a:solidFill>
                <a:latin typeface="Calibri"/>
                <a:cs typeface="Calibri"/>
              </a:rPr>
              <a:t>model</a:t>
            </a:r>
            <a:endParaRPr sz="3000">
              <a:latin typeface="Calibri"/>
              <a:cs typeface="Calibri"/>
            </a:endParaRPr>
          </a:p>
          <a:p>
            <a:pPr marL="195580">
              <a:lnSpc>
                <a:spcPts val="2700"/>
              </a:lnSpc>
              <a:tabLst>
                <a:tab pos="1932305" algn="l"/>
                <a:tab pos="2522855" algn="l"/>
                <a:tab pos="2848610" algn="l"/>
                <a:tab pos="3821429" algn="l"/>
                <a:tab pos="4652010" algn="l"/>
                <a:tab pos="5615305" algn="l"/>
                <a:tab pos="6092190" algn="l"/>
              </a:tabLst>
            </a:pPr>
            <a:r>
              <a:rPr sz="3000" spc="-10" dirty="0">
                <a:solidFill>
                  <a:srgbClr val="232323"/>
                </a:solidFill>
                <a:latin typeface="Calibri"/>
                <a:cs typeface="Calibri"/>
              </a:rPr>
              <a:t>prediction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25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5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10" dirty="0">
                <a:solidFill>
                  <a:srgbClr val="232323"/>
                </a:solidFill>
                <a:latin typeface="Calibri"/>
                <a:cs typeface="Calibri"/>
              </a:rPr>
              <a:t>given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2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10" dirty="0">
                <a:solidFill>
                  <a:srgbClr val="232323"/>
                </a:solidFill>
                <a:latin typeface="Calibri"/>
                <a:cs typeface="Calibri"/>
              </a:rPr>
              <a:t>point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25" dirty="0">
                <a:solidFill>
                  <a:srgbClr val="232323"/>
                </a:solidFill>
                <a:latin typeface="Calibri"/>
                <a:cs typeface="Calibri"/>
              </a:rPr>
              <a:t>or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5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endParaRPr sz="3000">
              <a:latin typeface="Calibri"/>
              <a:cs typeface="Calibri"/>
            </a:endParaRPr>
          </a:p>
          <a:p>
            <a:pPr marL="195580" marR="6985">
              <a:lnSpc>
                <a:spcPct val="75000"/>
              </a:lnSpc>
              <a:spcBef>
                <a:spcPts val="450"/>
              </a:spcBef>
              <a:tabLst>
                <a:tab pos="1263650" algn="l"/>
                <a:tab pos="2425065" algn="l"/>
                <a:tab pos="3303270" algn="l"/>
                <a:tab pos="3890010" algn="l"/>
                <a:tab pos="5182235" algn="l"/>
                <a:tab pos="5738495" algn="l"/>
              </a:tabLst>
            </a:pPr>
            <a:r>
              <a:rPr sz="3000" spc="-10" dirty="0">
                <a:solidFill>
                  <a:srgbClr val="232323"/>
                </a:solidFill>
                <a:latin typeface="Calibri"/>
                <a:cs typeface="Calibri"/>
              </a:rPr>
              <a:t>value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10" dirty="0">
                <a:solidFill>
                  <a:srgbClr val="232323"/>
                </a:solidFill>
                <a:latin typeface="Calibri"/>
                <a:cs typeface="Calibri"/>
              </a:rPr>
              <a:t>which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20" dirty="0">
                <a:solidFill>
                  <a:srgbClr val="232323"/>
                </a:solidFill>
                <a:latin typeface="Calibri"/>
                <a:cs typeface="Calibri"/>
              </a:rPr>
              <a:t>tells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25" dirty="0">
                <a:solidFill>
                  <a:srgbClr val="232323"/>
                </a:solidFill>
                <a:latin typeface="Calibri"/>
                <a:cs typeface="Calibri"/>
              </a:rPr>
              <a:t>us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10" dirty="0">
                <a:solidFill>
                  <a:srgbClr val="232323"/>
                </a:solidFill>
                <a:latin typeface="Calibri"/>
                <a:cs typeface="Calibri"/>
              </a:rPr>
              <a:t>spread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25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000" spc="-25" dirty="0">
                <a:solidFill>
                  <a:srgbClr val="232323"/>
                </a:solidFill>
                <a:latin typeface="Calibri"/>
                <a:cs typeface="Calibri"/>
              </a:rPr>
              <a:t>our </a:t>
            </a:r>
            <a:r>
              <a:rPr sz="3000" spc="-10" dirty="0">
                <a:solidFill>
                  <a:srgbClr val="232323"/>
                </a:solidFill>
                <a:latin typeface="Calibri"/>
                <a:cs typeface="Calibri"/>
              </a:rPr>
              <a:t>data.</a:t>
            </a:r>
            <a:endParaRPr sz="3000">
              <a:latin typeface="Calibri"/>
              <a:cs typeface="Calibri"/>
            </a:endParaRPr>
          </a:p>
          <a:p>
            <a:pPr marL="194945" indent="-182245">
              <a:lnSpc>
                <a:spcPts val="3150"/>
              </a:lnSpc>
              <a:spcBef>
                <a:spcPts val="720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  <a:tab pos="1450975" algn="l"/>
                <a:tab pos="2423795" algn="l"/>
                <a:tab pos="3388360" algn="l"/>
                <a:tab pos="5078730" algn="l"/>
                <a:tab pos="6062980" algn="l"/>
              </a:tabLst>
            </a:pPr>
            <a:r>
              <a:rPr sz="3000" spc="90" dirty="0">
                <a:latin typeface="Cambria"/>
                <a:cs typeface="Cambria"/>
              </a:rPr>
              <a:t>Model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90" dirty="0">
                <a:latin typeface="Cambria"/>
                <a:cs typeface="Cambria"/>
              </a:rPr>
              <a:t>with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120" dirty="0">
                <a:latin typeface="Cambria"/>
                <a:cs typeface="Cambria"/>
              </a:rPr>
              <a:t>high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100" dirty="0">
                <a:latin typeface="Cambria"/>
                <a:cs typeface="Cambria"/>
              </a:rPr>
              <a:t>variance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90" dirty="0">
                <a:latin typeface="Cambria"/>
                <a:cs typeface="Cambria"/>
              </a:rPr>
              <a:t>pays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140" dirty="0">
                <a:latin typeface="Cambria"/>
                <a:cs typeface="Cambria"/>
              </a:rPr>
              <a:t>a</a:t>
            </a:r>
            <a:endParaRPr sz="3000">
              <a:latin typeface="Cambria"/>
              <a:cs typeface="Cambria"/>
            </a:endParaRPr>
          </a:p>
          <a:p>
            <a:pPr marL="195580">
              <a:lnSpc>
                <a:spcPts val="2700"/>
              </a:lnSpc>
              <a:tabLst>
                <a:tab pos="873125" algn="l"/>
                <a:tab pos="1408430" algn="l"/>
                <a:tab pos="3258820" algn="l"/>
                <a:tab pos="3815079" algn="l"/>
                <a:tab pos="5482590" algn="l"/>
              </a:tabLst>
            </a:pPr>
            <a:r>
              <a:rPr sz="3000" spc="40" dirty="0">
                <a:latin typeface="Cambria"/>
                <a:cs typeface="Cambria"/>
              </a:rPr>
              <a:t>lot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25" dirty="0">
                <a:latin typeface="Cambria"/>
                <a:cs typeface="Cambria"/>
              </a:rPr>
              <a:t>of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105" dirty="0">
                <a:latin typeface="Cambria"/>
                <a:cs typeface="Cambria"/>
              </a:rPr>
              <a:t>attention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25" dirty="0">
                <a:latin typeface="Cambria"/>
                <a:cs typeface="Cambria"/>
              </a:rPr>
              <a:t>to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130" dirty="0">
                <a:latin typeface="Cambria"/>
                <a:cs typeface="Cambria"/>
              </a:rPr>
              <a:t>training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125" dirty="0">
                <a:latin typeface="Cambria"/>
                <a:cs typeface="Cambria"/>
              </a:rPr>
              <a:t>data</a:t>
            </a:r>
            <a:endParaRPr sz="3000">
              <a:latin typeface="Cambria"/>
              <a:cs typeface="Cambria"/>
            </a:endParaRPr>
          </a:p>
          <a:p>
            <a:pPr marL="195580" marR="6985">
              <a:lnSpc>
                <a:spcPct val="74300"/>
              </a:lnSpc>
              <a:spcBef>
                <a:spcPts val="475"/>
              </a:spcBef>
              <a:tabLst>
                <a:tab pos="1108075" algn="l"/>
                <a:tab pos="2134235" algn="l"/>
                <a:tab pos="2954020" algn="l"/>
                <a:tab pos="5026660" algn="l"/>
                <a:tab pos="5699125" algn="l"/>
              </a:tabLst>
            </a:pPr>
            <a:r>
              <a:rPr sz="3000" spc="110" dirty="0">
                <a:latin typeface="Cambria"/>
                <a:cs typeface="Cambria"/>
              </a:rPr>
              <a:t>and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20" dirty="0">
                <a:latin typeface="Cambria"/>
                <a:cs typeface="Cambria"/>
              </a:rPr>
              <a:t>does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45" dirty="0">
                <a:latin typeface="Cambria"/>
                <a:cs typeface="Cambria"/>
              </a:rPr>
              <a:t>not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90" dirty="0">
                <a:latin typeface="Cambria"/>
                <a:cs typeface="Cambria"/>
              </a:rPr>
              <a:t>generalize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25" dirty="0">
                <a:latin typeface="Cambria"/>
                <a:cs typeface="Cambria"/>
              </a:rPr>
              <a:t>on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95" dirty="0">
                <a:latin typeface="Cambria"/>
                <a:cs typeface="Cambria"/>
              </a:rPr>
              <a:t>the </a:t>
            </a:r>
            <a:r>
              <a:rPr sz="3000" spc="145" dirty="0">
                <a:latin typeface="Cambria"/>
                <a:cs typeface="Cambria"/>
              </a:rPr>
              <a:t>data</a:t>
            </a:r>
            <a:r>
              <a:rPr sz="3000" spc="200" dirty="0">
                <a:latin typeface="Cambria"/>
                <a:cs typeface="Cambria"/>
              </a:rPr>
              <a:t> </a:t>
            </a:r>
            <a:r>
              <a:rPr sz="3000" spc="90" dirty="0">
                <a:latin typeface="Cambria"/>
                <a:cs typeface="Cambria"/>
              </a:rPr>
              <a:t>which</a:t>
            </a:r>
            <a:r>
              <a:rPr sz="3000" spc="235" dirty="0">
                <a:latin typeface="Cambria"/>
                <a:cs typeface="Cambria"/>
              </a:rPr>
              <a:t> </a:t>
            </a:r>
            <a:r>
              <a:rPr sz="3000" spc="130" dirty="0">
                <a:latin typeface="Cambria"/>
                <a:cs typeface="Cambria"/>
              </a:rPr>
              <a:t>it</a:t>
            </a:r>
            <a:r>
              <a:rPr sz="3000" spc="195" dirty="0">
                <a:latin typeface="Cambria"/>
                <a:cs typeface="Cambria"/>
              </a:rPr>
              <a:t> </a:t>
            </a:r>
            <a:r>
              <a:rPr sz="3000" spc="120" dirty="0">
                <a:latin typeface="Cambria"/>
                <a:cs typeface="Cambria"/>
              </a:rPr>
              <a:t>hasn’t</a:t>
            </a:r>
            <a:r>
              <a:rPr sz="3000" spc="204" dirty="0">
                <a:latin typeface="Cambria"/>
                <a:cs typeface="Cambria"/>
              </a:rPr>
              <a:t> </a:t>
            </a:r>
            <a:r>
              <a:rPr sz="3000" spc="75" dirty="0">
                <a:latin typeface="Cambria"/>
                <a:cs typeface="Cambria"/>
              </a:rPr>
              <a:t>seen</a:t>
            </a:r>
            <a:r>
              <a:rPr sz="3000" spc="220" dirty="0">
                <a:latin typeface="Cambria"/>
                <a:cs typeface="Cambria"/>
              </a:rPr>
              <a:t> </a:t>
            </a:r>
            <a:r>
              <a:rPr sz="3000" spc="45" dirty="0">
                <a:latin typeface="Cambria"/>
                <a:cs typeface="Cambria"/>
              </a:rPr>
              <a:t>before.</a:t>
            </a:r>
            <a:endParaRPr sz="3000">
              <a:latin typeface="Cambria"/>
              <a:cs typeface="Cambria"/>
            </a:endParaRPr>
          </a:p>
          <a:p>
            <a:pPr marL="194945" indent="-182245">
              <a:lnSpc>
                <a:spcPts val="3150"/>
              </a:lnSpc>
              <a:spcBef>
                <a:spcPts val="695"/>
              </a:spcBef>
              <a:buClr>
                <a:srgbClr val="6E6E74"/>
              </a:buClr>
              <a:buSzPct val="80000"/>
              <a:buFont typeface="Arial MT"/>
              <a:buChar char="•"/>
              <a:tabLst>
                <a:tab pos="194945" algn="l"/>
              </a:tabLst>
            </a:pP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As</a:t>
            </a:r>
            <a:r>
              <a:rPr sz="3000" spc="2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3000" spc="3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result,</a:t>
            </a:r>
            <a:r>
              <a:rPr sz="3000" spc="3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such</a:t>
            </a:r>
            <a:r>
              <a:rPr sz="3000" spc="2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models</a:t>
            </a:r>
            <a:r>
              <a:rPr sz="3000" spc="3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perform</a:t>
            </a:r>
            <a:r>
              <a:rPr sz="3000" spc="3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232323"/>
                </a:solidFill>
                <a:latin typeface="Calibri"/>
                <a:cs typeface="Calibri"/>
              </a:rPr>
              <a:t>very</a:t>
            </a:r>
            <a:endParaRPr sz="3000">
              <a:latin typeface="Calibri"/>
              <a:cs typeface="Calibri"/>
            </a:endParaRPr>
          </a:p>
          <a:p>
            <a:pPr marL="195580" marR="5715">
              <a:lnSpc>
                <a:spcPct val="75000"/>
              </a:lnSpc>
              <a:spcBef>
                <a:spcPts val="455"/>
              </a:spcBef>
            </a:pP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well</a:t>
            </a:r>
            <a:r>
              <a:rPr sz="30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30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training</a:t>
            </a:r>
            <a:r>
              <a:rPr sz="30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3000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but</a:t>
            </a:r>
            <a:r>
              <a:rPr sz="30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has</a:t>
            </a:r>
            <a:r>
              <a:rPr sz="30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high</a:t>
            </a:r>
            <a:r>
              <a:rPr sz="30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232323"/>
                </a:solidFill>
                <a:latin typeface="Calibri"/>
                <a:cs typeface="Calibri"/>
              </a:rPr>
              <a:t>error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rates</a:t>
            </a:r>
            <a:r>
              <a:rPr sz="30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30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232323"/>
                </a:solidFill>
                <a:latin typeface="Calibri"/>
                <a:cs typeface="Calibri"/>
              </a:rPr>
              <a:t>test</a:t>
            </a:r>
            <a:r>
              <a:rPr sz="30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232323"/>
                </a:solidFill>
                <a:latin typeface="Calibri"/>
                <a:cs typeface="Calibri"/>
              </a:rPr>
              <a:t>data.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55" dirty="0"/>
              <a:t>Learning</a:t>
            </a:r>
            <a:r>
              <a:rPr spc="140" dirty="0"/>
              <a:t> </a:t>
            </a:r>
            <a:r>
              <a:rPr dirty="0"/>
              <a:t>-</a:t>
            </a:r>
            <a:r>
              <a:rPr spc="155" dirty="0"/>
              <a:t> </a:t>
            </a:r>
            <a:r>
              <a:rPr spc="110" dirty="0"/>
              <a:t>Generalization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25448" y="1793189"/>
            <a:ext cx="5984875" cy="385508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95580" marR="5080" indent="-182880">
              <a:lnSpc>
                <a:spcPct val="85200"/>
              </a:lnSpc>
              <a:spcBef>
                <a:spcPts val="580"/>
              </a:spcBef>
              <a:buClr>
                <a:srgbClr val="6E6E74"/>
              </a:buClr>
              <a:buSzPct val="79629"/>
              <a:buFont typeface="Arial MT"/>
              <a:buChar char="•"/>
              <a:tabLst>
                <a:tab pos="195580" algn="l"/>
              </a:tabLst>
            </a:pPr>
            <a:r>
              <a:rPr sz="2700" b="1" spc="180" dirty="0">
                <a:latin typeface="Cambria"/>
                <a:cs typeface="Cambria"/>
              </a:rPr>
              <a:t>Underfitting:</a:t>
            </a:r>
            <a:r>
              <a:rPr sz="2700" b="1" spc="204" dirty="0">
                <a:latin typeface="Cambria"/>
                <a:cs typeface="Cambria"/>
              </a:rPr>
              <a:t> </a:t>
            </a:r>
            <a:r>
              <a:rPr sz="2700" spc="50" dirty="0">
                <a:latin typeface="Cambria"/>
                <a:cs typeface="Cambria"/>
              </a:rPr>
              <a:t>model</a:t>
            </a:r>
            <a:r>
              <a:rPr sz="2700" spc="150" dirty="0">
                <a:latin typeface="Cambria"/>
                <a:cs typeface="Cambria"/>
              </a:rPr>
              <a:t> </a:t>
            </a:r>
            <a:r>
              <a:rPr sz="2700" spc="90" dirty="0">
                <a:latin typeface="Cambria"/>
                <a:cs typeface="Cambria"/>
              </a:rPr>
              <a:t>is</a:t>
            </a:r>
            <a:r>
              <a:rPr sz="2700" spc="1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too</a:t>
            </a:r>
            <a:r>
              <a:rPr sz="2700" spc="175" dirty="0">
                <a:latin typeface="Cambria"/>
                <a:cs typeface="Cambria"/>
              </a:rPr>
              <a:t> </a:t>
            </a:r>
            <a:r>
              <a:rPr sz="2700" spc="65" dirty="0">
                <a:latin typeface="Cambria"/>
                <a:cs typeface="Cambria"/>
              </a:rPr>
              <a:t>“simple” </a:t>
            </a:r>
            <a:r>
              <a:rPr sz="2700" dirty="0">
                <a:latin typeface="Cambria"/>
                <a:cs typeface="Cambria"/>
              </a:rPr>
              <a:t>to</a:t>
            </a:r>
            <a:r>
              <a:rPr sz="2700" spc="190" dirty="0">
                <a:latin typeface="Cambria"/>
                <a:cs typeface="Cambria"/>
              </a:rPr>
              <a:t> </a:t>
            </a:r>
            <a:r>
              <a:rPr sz="2700" spc="75" dirty="0">
                <a:latin typeface="Cambria"/>
                <a:cs typeface="Cambria"/>
              </a:rPr>
              <a:t>represent</a:t>
            </a:r>
            <a:r>
              <a:rPr sz="2700" spc="180" dirty="0">
                <a:latin typeface="Cambria"/>
                <a:cs typeface="Cambria"/>
              </a:rPr>
              <a:t> </a:t>
            </a:r>
            <a:r>
              <a:rPr sz="2700" spc="140" dirty="0">
                <a:latin typeface="Cambria"/>
                <a:cs typeface="Cambria"/>
              </a:rPr>
              <a:t>all</a:t>
            </a:r>
            <a:r>
              <a:rPr sz="2700" spc="190" dirty="0">
                <a:latin typeface="Cambria"/>
                <a:cs typeface="Cambria"/>
              </a:rPr>
              <a:t> </a:t>
            </a:r>
            <a:r>
              <a:rPr sz="2700" spc="100" dirty="0">
                <a:latin typeface="Cambria"/>
                <a:cs typeface="Cambria"/>
              </a:rPr>
              <a:t>the</a:t>
            </a:r>
            <a:r>
              <a:rPr sz="2700" spc="200" dirty="0">
                <a:latin typeface="Cambria"/>
                <a:cs typeface="Cambria"/>
              </a:rPr>
              <a:t> </a:t>
            </a:r>
            <a:r>
              <a:rPr sz="2700" spc="100" dirty="0">
                <a:latin typeface="Cambria"/>
                <a:cs typeface="Cambria"/>
              </a:rPr>
              <a:t>relevant</a:t>
            </a:r>
            <a:r>
              <a:rPr sz="2700" spc="170" dirty="0">
                <a:latin typeface="Cambria"/>
                <a:cs typeface="Cambria"/>
              </a:rPr>
              <a:t> </a:t>
            </a:r>
            <a:r>
              <a:rPr sz="2700" spc="75" dirty="0">
                <a:latin typeface="Cambria"/>
                <a:cs typeface="Cambria"/>
              </a:rPr>
              <a:t>class </a:t>
            </a:r>
            <a:r>
              <a:rPr sz="2700" spc="85" dirty="0">
                <a:latin typeface="Cambria"/>
                <a:cs typeface="Cambria"/>
              </a:rPr>
              <a:t>characteristics</a:t>
            </a:r>
            <a:endParaRPr sz="2700">
              <a:latin typeface="Cambria"/>
              <a:cs typeface="Cambria"/>
            </a:endParaRPr>
          </a:p>
          <a:p>
            <a:pPr marL="286385">
              <a:lnSpc>
                <a:spcPts val="2810"/>
              </a:lnSpc>
            </a:pPr>
            <a:r>
              <a:rPr sz="2400" spc="-94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spc="-80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2400" spc="165" dirty="0">
                <a:solidFill>
                  <a:srgbClr val="252525"/>
                </a:solidFill>
                <a:latin typeface="Cambria"/>
                <a:cs typeface="Cambria"/>
              </a:rPr>
              <a:t>High</a:t>
            </a:r>
            <a:r>
              <a:rPr sz="24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252525"/>
                </a:solidFill>
                <a:latin typeface="Cambria"/>
                <a:cs typeface="Cambria"/>
              </a:rPr>
              <a:t>bias</a:t>
            </a:r>
            <a:r>
              <a:rPr sz="24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252525"/>
                </a:solidFill>
                <a:latin typeface="Cambria"/>
                <a:cs typeface="Cambria"/>
              </a:rPr>
              <a:t>and</a:t>
            </a:r>
            <a:r>
              <a:rPr sz="24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252525"/>
                </a:solidFill>
                <a:latin typeface="Cambria"/>
                <a:cs typeface="Cambria"/>
              </a:rPr>
              <a:t>low</a:t>
            </a:r>
            <a:r>
              <a:rPr sz="24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252525"/>
                </a:solidFill>
                <a:latin typeface="Cambria"/>
                <a:cs typeface="Cambria"/>
              </a:rPr>
              <a:t>variance</a:t>
            </a:r>
            <a:endParaRPr sz="24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25"/>
              </a:spcBef>
            </a:pPr>
            <a:r>
              <a:rPr sz="2400" spc="-94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spc="-70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2400" spc="165" dirty="0">
                <a:solidFill>
                  <a:srgbClr val="252525"/>
                </a:solidFill>
                <a:latin typeface="Cambria"/>
                <a:cs typeface="Cambria"/>
              </a:rPr>
              <a:t>High</a:t>
            </a:r>
            <a:r>
              <a:rPr sz="2400" spc="1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252525"/>
                </a:solidFill>
                <a:latin typeface="Cambria"/>
                <a:cs typeface="Cambria"/>
              </a:rPr>
              <a:t>training</a:t>
            </a:r>
            <a:r>
              <a:rPr sz="24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252525"/>
                </a:solidFill>
                <a:latin typeface="Cambria"/>
                <a:cs typeface="Cambria"/>
              </a:rPr>
              <a:t>error</a:t>
            </a:r>
            <a:r>
              <a:rPr sz="2400" spc="1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252525"/>
                </a:solidFill>
                <a:latin typeface="Cambria"/>
                <a:cs typeface="Cambria"/>
              </a:rPr>
              <a:t>and</a:t>
            </a:r>
            <a:r>
              <a:rPr sz="2400" spc="16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252525"/>
                </a:solidFill>
                <a:latin typeface="Cambria"/>
                <a:cs typeface="Cambria"/>
              </a:rPr>
              <a:t>high</a:t>
            </a:r>
            <a:r>
              <a:rPr sz="2400" spc="1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252525"/>
                </a:solidFill>
                <a:latin typeface="Cambria"/>
                <a:cs typeface="Cambria"/>
              </a:rPr>
              <a:t>test</a:t>
            </a:r>
            <a:r>
              <a:rPr sz="2400" spc="16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mbria"/>
                <a:cs typeface="Cambria"/>
              </a:rPr>
              <a:t>error</a:t>
            </a:r>
            <a:endParaRPr sz="2400">
              <a:latin typeface="Cambria"/>
              <a:cs typeface="Cambria"/>
            </a:endParaRPr>
          </a:p>
          <a:p>
            <a:pPr marL="195580" marR="16510" indent="-182880">
              <a:lnSpc>
                <a:spcPts val="2760"/>
              </a:lnSpc>
              <a:spcBef>
                <a:spcPts val="1695"/>
              </a:spcBef>
              <a:buClr>
                <a:srgbClr val="6E6E74"/>
              </a:buClr>
              <a:buSzPct val="79629"/>
              <a:buFont typeface="Arial MT"/>
              <a:buChar char="•"/>
              <a:tabLst>
                <a:tab pos="195580" algn="l"/>
              </a:tabLst>
            </a:pPr>
            <a:r>
              <a:rPr sz="2700" b="1" spc="175" dirty="0">
                <a:latin typeface="Cambria"/>
                <a:cs typeface="Cambria"/>
              </a:rPr>
              <a:t>Overfitting:</a:t>
            </a:r>
            <a:r>
              <a:rPr sz="2700" b="1" spc="204" dirty="0">
                <a:latin typeface="Cambria"/>
                <a:cs typeface="Cambria"/>
              </a:rPr>
              <a:t> </a:t>
            </a:r>
            <a:r>
              <a:rPr sz="2700" spc="55" dirty="0">
                <a:latin typeface="Cambria"/>
                <a:cs typeface="Cambria"/>
              </a:rPr>
              <a:t>model</a:t>
            </a:r>
            <a:r>
              <a:rPr sz="2700" spc="170" dirty="0">
                <a:latin typeface="Cambria"/>
                <a:cs typeface="Cambria"/>
              </a:rPr>
              <a:t> </a:t>
            </a:r>
            <a:r>
              <a:rPr sz="2700" spc="85" dirty="0">
                <a:latin typeface="Cambria"/>
                <a:cs typeface="Cambria"/>
              </a:rPr>
              <a:t>is</a:t>
            </a:r>
            <a:r>
              <a:rPr sz="2700" spc="1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too</a:t>
            </a:r>
            <a:r>
              <a:rPr sz="2700" spc="155" dirty="0">
                <a:latin typeface="Cambria"/>
                <a:cs typeface="Cambria"/>
              </a:rPr>
              <a:t> </a:t>
            </a:r>
            <a:r>
              <a:rPr sz="2700" spc="45" dirty="0">
                <a:latin typeface="Cambria"/>
                <a:cs typeface="Cambria"/>
              </a:rPr>
              <a:t>“complex” </a:t>
            </a:r>
            <a:r>
              <a:rPr sz="2700" spc="114" dirty="0">
                <a:latin typeface="Cambria"/>
                <a:cs typeface="Cambria"/>
              </a:rPr>
              <a:t>and</a:t>
            </a:r>
            <a:r>
              <a:rPr sz="2700" spc="180" dirty="0">
                <a:latin typeface="Cambria"/>
                <a:cs typeface="Cambria"/>
              </a:rPr>
              <a:t> </a:t>
            </a:r>
            <a:r>
              <a:rPr sz="2700" spc="105" dirty="0">
                <a:latin typeface="Cambria"/>
                <a:cs typeface="Cambria"/>
              </a:rPr>
              <a:t>fits</a:t>
            </a:r>
            <a:r>
              <a:rPr sz="2700" spc="180" dirty="0">
                <a:latin typeface="Cambria"/>
                <a:cs typeface="Cambria"/>
              </a:rPr>
              <a:t> </a:t>
            </a:r>
            <a:r>
              <a:rPr sz="2700" spc="100" dirty="0">
                <a:latin typeface="Cambria"/>
                <a:cs typeface="Cambria"/>
              </a:rPr>
              <a:t>irrelevant</a:t>
            </a:r>
            <a:r>
              <a:rPr sz="2700" spc="160" dirty="0">
                <a:latin typeface="Cambria"/>
                <a:cs typeface="Cambria"/>
              </a:rPr>
              <a:t> </a:t>
            </a:r>
            <a:r>
              <a:rPr sz="2700" spc="85" dirty="0">
                <a:latin typeface="Cambria"/>
                <a:cs typeface="Cambria"/>
              </a:rPr>
              <a:t>characteristics (e.g.</a:t>
            </a:r>
            <a:r>
              <a:rPr sz="2700" spc="19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noise)</a:t>
            </a:r>
            <a:r>
              <a:rPr sz="2700" spc="220" dirty="0">
                <a:latin typeface="Cambria"/>
                <a:cs typeface="Cambria"/>
              </a:rPr>
              <a:t> </a:t>
            </a:r>
            <a:r>
              <a:rPr sz="2700" spc="110" dirty="0">
                <a:latin typeface="Cambria"/>
                <a:cs typeface="Cambria"/>
              </a:rPr>
              <a:t>in</a:t>
            </a:r>
            <a:r>
              <a:rPr sz="2700" spc="215" dirty="0">
                <a:latin typeface="Cambria"/>
                <a:cs typeface="Cambria"/>
              </a:rPr>
              <a:t> </a:t>
            </a:r>
            <a:r>
              <a:rPr sz="2700" spc="105" dirty="0">
                <a:latin typeface="Cambria"/>
                <a:cs typeface="Cambria"/>
              </a:rPr>
              <a:t>the</a:t>
            </a:r>
            <a:r>
              <a:rPr sz="2700" spc="225" dirty="0">
                <a:latin typeface="Cambria"/>
                <a:cs typeface="Cambria"/>
              </a:rPr>
              <a:t> </a:t>
            </a:r>
            <a:r>
              <a:rPr sz="2700" spc="114" dirty="0">
                <a:latin typeface="Cambria"/>
                <a:cs typeface="Cambria"/>
              </a:rPr>
              <a:t>data</a:t>
            </a:r>
            <a:endParaRPr sz="2700">
              <a:latin typeface="Cambria"/>
              <a:cs typeface="Cambria"/>
            </a:endParaRPr>
          </a:p>
          <a:p>
            <a:pPr marL="286385">
              <a:lnSpc>
                <a:spcPts val="2795"/>
              </a:lnSpc>
            </a:pPr>
            <a:r>
              <a:rPr sz="2400" spc="-94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spc="-90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252525"/>
                </a:solidFill>
                <a:latin typeface="Cambria"/>
                <a:cs typeface="Cambria"/>
              </a:rPr>
              <a:t>Low</a:t>
            </a:r>
            <a:r>
              <a:rPr sz="24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252525"/>
                </a:solidFill>
                <a:latin typeface="Cambria"/>
                <a:cs typeface="Cambria"/>
              </a:rPr>
              <a:t>bias</a:t>
            </a:r>
            <a:r>
              <a:rPr sz="24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252525"/>
                </a:solidFill>
                <a:latin typeface="Cambria"/>
                <a:cs typeface="Cambria"/>
              </a:rPr>
              <a:t>and</a:t>
            </a:r>
            <a:r>
              <a:rPr sz="24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252525"/>
                </a:solidFill>
                <a:latin typeface="Cambria"/>
                <a:cs typeface="Cambria"/>
              </a:rPr>
              <a:t>high</a:t>
            </a:r>
            <a:r>
              <a:rPr sz="24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252525"/>
                </a:solidFill>
                <a:latin typeface="Cambria"/>
                <a:cs typeface="Cambria"/>
              </a:rPr>
              <a:t>variance</a:t>
            </a:r>
            <a:endParaRPr sz="24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25"/>
              </a:spcBef>
            </a:pPr>
            <a:r>
              <a:rPr sz="2400" spc="-940" dirty="0">
                <a:solidFill>
                  <a:srgbClr val="6E6E74"/>
                </a:solidFill>
                <a:latin typeface="Arial MT"/>
                <a:cs typeface="Arial MT"/>
              </a:rPr>
              <a:t>🞄</a:t>
            </a:r>
            <a:r>
              <a:rPr sz="2400" spc="-65" dirty="0">
                <a:solidFill>
                  <a:srgbClr val="6E6E74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252525"/>
                </a:solidFill>
                <a:latin typeface="Cambria"/>
                <a:cs typeface="Cambria"/>
              </a:rPr>
              <a:t>Low</a:t>
            </a:r>
            <a:r>
              <a:rPr sz="2400" spc="16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252525"/>
                </a:solidFill>
                <a:latin typeface="Cambria"/>
                <a:cs typeface="Cambria"/>
              </a:rPr>
              <a:t>training</a:t>
            </a:r>
            <a:r>
              <a:rPr sz="24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252525"/>
                </a:solidFill>
                <a:latin typeface="Cambria"/>
                <a:cs typeface="Cambria"/>
              </a:rPr>
              <a:t>error</a:t>
            </a:r>
            <a:r>
              <a:rPr sz="24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252525"/>
                </a:solidFill>
                <a:latin typeface="Cambria"/>
                <a:cs typeface="Cambria"/>
              </a:rPr>
              <a:t>and</a:t>
            </a:r>
            <a:r>
              <a:rPr sz="24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252525"/>
                </a:solidFill>
                <a:latin typeface="Cambria"/>
                <a:cs typeface="Cambria"/>
              </a:rPr>
              <a:t>high</a:t>
            </a:r>
            <a:r>
              <a:rPr sz="24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252525"/>
                </a:solidFill>
                <a:latin typeface="Cambria"/>
                <a:cs typeface="Cambria"/>
              </a:rPr>
              <a:t>test</a:t>
            </a:r>
            <a:r>
              <a:rPr sz="2400" spc="1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mbria"/>
                <a:cs typeface="Cambria"/>
              </a:rPr>
              <a:t>error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55" dirty="0"/>
              <a:t>Learning</a:t>
            </a:r>
            <a:r>
              <a:rPr spc="140" dirty="0"/>
              <a:t> </a:t>
            </a:r>
            <a:r>
              <a:rPr dirty="0"/>
              <a:t>-</a:t>
            </a:r>
            <a:r>
              <a:rPr spc="155" dirty="0"/>
              <a:t> </a:t>
            </a:r>
            <a:r>
              <a:rPr spc="110" dirty="0"/>
              <a:t>Generalization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55" y="2165857"/>
            <a:ext cx="8086979" cy="277341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55" dirty="0"/>
              <a:t>Learning</a:t>
            </a:r>
            <a:r>
              <a:rPr spc="140" dirty="0"/>
              <a:t> </a:t>
            </a:r>
            <a:r>
              <a:rPr dirty="0"/>
              <a:t>-</a:t>
            </a:r>
            <a:r>
              <a:rPr spc="155" dirty="0"/>
              <a:t> </a:t>
            </a:r>
            <a:r>
              <a:rPr spc="110" dirty="0"/>
              <a:t>Generalization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75332"/>
            <a:ext cx="8441054" cy="36078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70" dirty="0"/>
              <a:t>Introduction</a:t>
            </a:r>
            <a:r>
              <a:rPr spc="125" dirty="0"/>
              <a:t> </a:t>
            </a:r>
            <a:r>
              <a:rPr dirty="0"/>
              <a:t>to</a:t>
            </a:r>
            <a:r>
              <a:rPr spc="155" dirty="0"/>
              <a:t> </a:t>
            </a:r>
            <a:r>
              <a:rPr spc="135" dirty="0"/>
              <a:t>Machine </a:t>
            </a:r>
            <a:r>
              <a:rPr spc="155" dirty="0"/>
              <a:t>Learning</a:t>
            </a:r>
            <a:r>
              <a:rPr spc="140" dirty="0"/>
              <a:t> </a:t>
            </a:r>
            <a:r>
              <a:rPr dirty="0"/>
              <a:t>-</a:t>
            </a:r>
            <a:r>
              <a:rPr spc="155" dirty="0"/>
              <a:t> </a:t>
            </a:r>
            <a:r>
              <a:rPr spc="110" dirty="0"/>
              <a:t>Generalization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03" y="2006854"/>
            <a:ext cx="8380220" cy="302234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821</Words>
  <Application>Microsoft Office PowerPoint</Application>
  <PresentationFormat>On-screen Show (4:3)</PresentationFormat>
  <Paragraphs>195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 MT</vt:lpstr>
      <vt:lpstr>Calibri</vt:lpstr>
      <vt:lpstr>Cambria</vt:lpstr>
      <vt:lpstr>Symbol</vt:lpstr>
      <vt:lpstr>Times New Roman</vt:lpstr>
      <vt:lpstr>Wingdings</vt:lpstr>
      <vt:lpstr>Office Theme</vt:lpstr>
      <vt:lpstr>An Introduction to Machine Learning Mr. Zohaib Ahmed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Applications for machine learning in data science</vt:lpstr>
      <vt:lpstr>Applications for machine learning in data science</vt:lpstr>
      <vt:lpstr>Applications for machine learning in data science</vt:lpstr>
      <vt:lpstr>Applications for machine learning in data science</vt:lpstr>
      <vt:lpstr>Applications for machine learning in data science</vt:lpstr>
      <vt:lpstr>PowerPoint Presentation</vt:lpstr>
      <vt:lpstr>PowerPoint Presentation</vt:lpstr>
      <vt:lpstr>The modeling process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</vt:lpstr>
      <vt:lpstr>Introduction to Machine Learning Reinforcement Learning - The Agent-Environment Interface</vt:lpstr>
      <vt:lpstr>Introduction to Machine Learning</vt:lpstr>
      <vt:lpstr>Introduction to Machine Learning</vt:lpstr>
      <vt:lpstr>Introduction to Machine Learning - Classifiers: Nearest neighbor</vt:lpstr>
      <vt:lpstr>Introduction to Machine Learning - Classifiers: Linear</vt:lpstr>
      <vt:lpstr>Introduction to Machine Learning - Generalization</vt:lpstr>
      <vt:lpstr>Introduction to Machine Learning - Generalization</vt:lpstr>
      <vt:lpstr>Introduction to Machine Learning - Generalization</vt:lpstr>
      <vt:lpstr>Introduction to Machine Learning - Generalization</vt:lpstr>
      <vt:lpstr>Introduction to Machine Learning - Generalization</vt:lpstr>
      <vt:lpstr>Introduction to Machine Learning - Generalization</vt:lpstr>
      <vt:lpstr>Introduction to Machine Learning - Generalization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sds</dc:creator>
  <cp:lastModifiedBy>AM</cp:lastModifiedBy>
  <cp:revision>1</cp:revision>
  <dcterms:created xsi:type="dcterms:W3CDTF">2024-12-01T09:04:28Z</dcterms:created>
  <dcterms:modified xsi:type="dcterms:W3CDTF">2024-12-01T09:08:45Z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2024-12-01T00:00:00Z</vt:filetime>
  </property>
  <property fmtid="{D5CDD505-2E9C-101B-9397-08002B2CF9AE}" pid="5" name="Producer">
    <vt:lpwstr>Microsoft® PowerPoint® LTSC</vt:lpwstr>
  </property>
</Properties>
</file>