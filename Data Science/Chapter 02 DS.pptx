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9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1356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50495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lang="en-US" spc="10" smtClean="0"/>
              <a:t>‹#›</a:t>
            </a:fld>
            <a:endParaRPr lang="en-US" spc="10" dirty="0"/>
          </a:p>
        </p:txBody>
      </p:sp>
    </p:spTree>
    <p:extLst>
      <p:ext uri="{BB962C8B-B14F-4D97-AF65-F5344CB8AC3E}">
        <p14:creationId xmlns:p14="http://schemas.microsoft.com/office/powerpoint/2010/main" val="3611022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50495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lang="en-US" spc="10" smtClean="0"/>
              <a:t>‹#›</a:t>
            </a:fld>
            <a:endParaRPr lang="en-US" spc="10" dirty="0"/>
          </a:p>
        </p:txBody>
      </p:sp>
    </p:spTree>
    <p:extLst>
      <p:ext uri="{BB962C8B-B14F-4D97-AF65-F5344CB8AC3E}">
        <p14:creationId xmlns:p14="http://schemas.microsoft.com/office/powerpoint/2010/main" val="3085992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50495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lang="en-US" spc="10" smtClean="0"/>
              <a:t>‹#›</a:t>
            </a:fld>
            <a:endParaRPr lang="en-US" spc="10" dirty="0"/>
          </a:p>
        </p:txBody>
      </p:sp>
    </p:spTree>
    <p:extLst>
      <p:ext uri="{BB962C8B-B14F-4D97-AF65-F5344CB8AC3E}">
        <p14:creationId xmlns:p14="http://schemas.microsoft.com/office/powerpoint/2010/main" val="702726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50495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lang="en-US" spc="10" smtClean="0"/>
              <a:t>‹#›</a:t>
            </a:fld>
            <a:endParaRPr lang="en-US" spc="10" dirty="0"/>
          </a:p>
        </p:txBody>
      </p:sp>
    </p:spTree>
    <p:extLst>
      <p:ext uri="{BB962C8B-B14F-4D97-AF65-F5344CB8AC3E}">
        <p14:creationId xmlns:p14="http://schemas.microsoft.com/office/powerpoint/2010/main" val="3805156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50495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lang="en-US" spc="10" smtClean="0"/>
              <a:t>‹#›</a:t>
            </a:fld>
            <a:endParaRPr lang="en-US" spc="10" dirty="0"/>
          </a:p>
        </p:txBody>
      </p:sp>
    </p:spTree>
    <p:extLst>
      <p:ext uri="{BB962C8B-B14F-4D97-AF65-F5344CB8AC3E}">
        <p14:creationId xmlns:p14="http://schemas.microsoft.com/office/powerpoint/2010/main" val="4094435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50495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lang="en-US" spc="10" smtClean="0"/>
              <a:t>‹#›</a:t>
            </a:fld>
            <a:endParaRPr lang="en-US" spc="10" dirty="0"/>
          </a:p>
        </p:txBody>
      </p:sp>
    </p:spTree>
    <p:extLst>
      <p:ext uri="{BB962C8B-B14F-4D97-AF65-F5344CB8AC3E}">
        <p14:creationId xmlns:p14="http://schemas.microsoft.com/office/powerpoint/2010/main" val="2146791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50495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lang="en-US" spc="10" smtClean="0"/>
              <a:t>‹#›</a:t>
            </a:fld>
            <a:endParaRPr lang="en-US" spc="10" dirty="0"/>
          </a:p>
        </p:txBody>
      </p:sp>
    </p:spTree>
    <p:extLst>
      <p:ext uri="{BB962C8B-B14F-4D97-AF65-F5344CB8AC3E}">
        <p14:creationId xmlns:p14="http://schemas.microsoft.com/office/powerpoint/2010/main" val="31271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50495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lang="en-US" spc="10" smtClean="0"/>
              <a:t>‹#›</a:t>
            </a:fld>
            <a:endParaRPr lang="en-US" spc="10" dirty="0"/>
          </a:p>
        </p:txBody>
      </p:sp>
    </p:spTree>
    <p:extLst>
      <p:ext uri="{BB962C8B-B14F-4D97-AF65-F5344CB8AC3E}">
        <p14:creationId xmlns:p14="http://schemas.microsoft.com/office/powerpoint/2010/main" val="1268596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50495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lang="en-US" spc="10" smtClean="0"/>
              <a:t>‹#›</a:t>
            </a:fld>
            <a:endParaRPr lang="en-US" spc="10" dirty="0"/>
          </a:p>
        </p:txBody>
      </p:sp>
    </p:spTree>
    <p:extLst>
      <p:ext uri="{BB962C8B-B14F-4D97-AF65-F5344CB8AC3E}">
        <p14:creationId xmlns:p14="http://schemas.microsoft.com/office/powerpoint/2010/main" val="1075785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50495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lang="en-US" spc="10" smtClean="0"/>
              <a:t>‹#›</a:t>
            </a:fld>
            <a:endParaRPr lang="en-US" spc="10" dirty="0"/>
          </a:p>
        </p:txBody>
      </p:sp>
    </p:spTree>
    <p:extLst>
      <p:ext uri="{BB962C8B-B14F-4D97-AF65-F5344CB8AC3E}">
        <p14:creationId xmlns:p14="http://schemas.microsoft.com/office/powerpoint/2010/main" val="1514725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50495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lang="en-US" spc="10" smtClean="0"/>
              <a:t>‹#›</a:t>
            </a:fld>
            <a:endParaRPr lang="en-US" spc="10" dirty="0"/>
          </a:p>
        </p:txBody>
      </p:sp>
    </p:spTree>
    <p:extLst>
      <p:ext uri="{BB962C8B-B14F-4D97-AF65-F5344CB8AC3E}">
        <p14:creationId xmlns:p14="http://schemas.microsoft.com/office/powerpoint/2010/main" val="2062746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50495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lang="en-US" spc="10" smtClean="0"/>
              <a:t>‹#›</a:t>
            </a:fld>
            <a:endParaRPr lang="en-US" spc="10" dirty="0"/>
          </a:p>
        </p:txBody>
      </p:sp>
    </p:spTree>
    <p:extLst>
      <p:ext uri="{BB962C8B-B14F-4D97-AF65-F5344CB8AC3E}">
        <p14:creationId xmlns:p14="http://schemas.microsoft.com/office/powerpoint/2010/main" val="4230846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791200"/>
            <a:chOff x="0" y="0"/>
            <a:chExt cx="9144000" cy="5791200"/>
          </a:xfrm>
          <a:solidFill>
            <a:schemeClr val="accent1">
              <a:lumMod val="50000"/>
            </a:schemeClr>
          </a:solidFill>
        </p:grpSpPr>
        <p:sp>
          <p:nvSpPr>
            <p:cNvPr id="3" name="object 3"/>
            <p:cNvSpPr/>
            <p:nvPr/>
          </p:nvSpPr>
          <p:spPr>
            <a:xfrm>
              <a:off x="342900" y="2438400"/>
              <a:ext cx="8801100" cy="3352800"/>
            </a:xfrm>
            <a:custGeom>
              <a:avLst/>
              <a:gdLst/>
              <a:ahLst/>
              <a:cxnLst/>
              <a:rect l="l" t="t" r="r" b="b"/>
              <a:pathLst>
                <a:path w="8801100" h="6858000">
                  <a:moveTo>
                    <a:pt x="0" y="6858000"/>
                  </a:moveTo>
                  <a:lnTo>
                    <a:pt x="8801100" y="6858000"/>
                  </a:lnTo>
                  <a:lnTo>
                    <a:pt x="88011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chemeClr val="accent4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342900" cy="5791200"/>
            </a:xfrm>
            <a:custGeom>
              <a:avLst/>
              <a:gdLst/>
              <a:ahLst/>
              <a:cxnLst/>
              <a:rect l="l" t="t" r="r" b="b"/>
              <a:pathLst>
                <a:path w="342900" h="6858000">
                  <a:moveTo>
                    <a:pt x="3429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42900" y="6858000"/>
                  </a:lnTo>
                  <a:lnTo>
                    <a:pt x="342900" y="0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5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chemeClr val="accent4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5" name="object 5"/>
          <p:cNvSpPr txBox="1">
            <a:spLocks/>
          </p:cNvSpPr>
          <p:nvPr/>
        </p:nvSpPr>
        <p:spPr>
          <a:xfrm>
            <a:off x="285749" y="3104169"/>
            <a:ext cx="8534400" cy="1886414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R="5080" algn="ctr">
              <a:lnSpc>
                <a:spcPts val="6740"/>
              </a:lnSpc>
            </a:pPr>
            <a:r>
              <a:rPr lang="en-US" sz="4400" spc="-300" dirty="0" smtClean="0">
                <a:solidFill>
                  <a:schemeClr val="bg1"/>
                </a:solidFill>
              </a:rPr>
              <a:t>Data Science</a:t>
            </a:r>
            <a:r>
              <a:rPr lang="en-US" sz="4400" spc="-25" dirty="0" smtClean="0">
                <a:solidFill>
                  <a:schemeClr val="bg1"/>
                </a:solidFill>
              </a:rPr>
              <a:t/>
            </a:r>
            <a:br>
              <a:rPr lang="en-US" sz="4400" spc="-25" dirty="0" smtClean="0">
                <a:solidFill>
                  <a:schemeClr val="bg1"/>
                </a:solidFill>
              </a:rPr>
            </a:br>
            <a:r>
              <a:rPr lang="en-US" sz="6600" b="1" spc="6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Lifecycle</a:t>
            </a:r>
            <a:endParaRPr lang="en-US" sz="2000" b="1" spc="6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50495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  <p:sp>
        <p:nvSpPr>
          <p:cNvPr id="7" name="object 5"/>
          <p:cNvSpPr txBox="1">
            <a:spLocks/>
          </p:cNvSpPr>
          <p:nvPr/>
        </p:nvSpPr>
        <p:spPr>
          <a:xfrm>
            <a:off x="457200" y="1402080"/>
            <a:ext cx="4970780" cy="956672"/>
          </a:xfrm>
          <a:prstGeom prst="rect">
            <a:avLst/>
          </a:prstGeom>
        </p:spPr>
        <p:txBody>
          <a:bodyPr vert="horz" wrap="square" lIns="0" tIns="166370" rIns="0" bIns="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lnSpc>
                <a:spcPts val="6740"/>
              </a:lnSpc>
              <a:spcBef>
                <a:spcPts val="1310"/>
              </a:spcBef>
            </a:pPr>
            <a:r>
              <a:rPr lang="en-US" sz="4800" b="1" spc="140" dirty="0" smtClean="0">
                <a:solidFill>
                  <a:schemeClr val="accent1">
                    <a:lumMod val="50000"/>
                  </a:schemeClr>
                </a:solidFill>
                <a:latin typeface="Calibri Light (Headings)"/>
                <a:cs typeface="Times New Roman" panose="02020603050405020304" pitchFamily="18" charset="0"/>
              </a:rPr>
              <a:t>Chapter-02</a:t>
            </a:r>
            <a:endParaRPr lang="en-US" sz="1400" b="1" dirty="0">
              <a:solidFill>
                <a:schemeClr val="accent1">
                  <a:lumMod val="50000"/>
                </a:schemeClr>
              </a:solidFill>
              <a:latin typeface="Calibri Light (Headings)"/>
              <a:cs typeface="Times New Roman" panose="02020603050405020304" pitchFamily="18" charset="0"/>
            </a:endParaRPr>
          </a:p>
        </p:txBody>
      </p:sp>
      <p:pic>
        <p:nvPicPr>
          <p:cNvPr id="8" name="Picture 12" descr="QUEST Pre Entry Test 2022 Dates Result.p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99024"/>
            <a:ext cx="2560320" cy="1264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object 3"/>
          <p:cNvSpPr/>
          <p:nvPr/>
        </p:nvSpPr>
        <p:spPr>
          <a:xfrm>
            <a:off x="-25400" y="6096000"/>
            <a:ext cx="9156700" cy="762000"/>
          </a:xfrm>
          <a:custGeom>
            <a:avLst/>
            <a:gdLst/>
            <a:ahLst/>
            <a:cxnLst/>
            <a:rect l="l" t="t" r="r" b="b"/>
            <a:pathLst>
              <a:path w="8801100" h="6858000">
                <a:moveTo>
                  <a:pt x="0" y="6858000"/>
                </a:moveTo>
                <a:lnTo>
                  <a:pt x="8801100" y="6858000"/>
                </a:lnTo>
                <a:lnTo>
                  <a:pt x="88011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8030" y="6281095"/>
            <a:ext cx="2177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bg2"/>
                </a:solidFill>
              </a:rPr>
              <a:t>Data Science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Lifecycle</a:t>
            </a:r>
            <a:endParaRPr lang="en-US" sz="1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880100" y="6314718"/>
            <a:ext cx="3263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 smtClean="0">
                <a:solidFill>
                  <a:schemeClr val="bg2"/>
                </a:solidFill>
              </a:rPr>
              <a:t>Software Engineering Department</a:t>
            </a:r>
          </a:p>
          <a:p>
            <a:pPr algn="r"/>
            <a:r>
              <a:rPr lang="en-US" sz="900" dirty="0" smtClean="0">
                <a:solidFill>
                  <a:schemeClr val="bg2"/>
                </a:solidFill>
              </a:rPr>
              <a:t>QUEST NAWABSHAH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803948" y="6345523"/>
            <a:ext cx="2728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Mr. Zohaib </a:t>
            </a:r>
            <a:r>
              <a:rPr lang="en-US" sz="9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Ahmed </a:t>
            </a:r>
            <a:r>
              <a:rPr lang="en-US" sz="900" dirty="0" smtClean="0">
                <a:solidFill>
                  <a:schemeClr val="bg2"/>
                </a:solidFill>
              </a:rPr>
              <a:t>(</a:t>
            </a:r>
            <a:r>
              <a:rPr lang="en-US" sz="900" dirty="0" err="1" smtClean="0">
                <a:solidFill>
                  <a:schemeClr val="bg2"/>
                </a:solidFill>
              </a:rPr>
              <a:t>Kaggle</a:t>
            </a:r>
            <a:r>
              <a:rPr lang="en-US" sz="900" dirty="0" smtClean="0">
                <a:solidFill>
                  <a:schemeClr val="bg2"/>
                </a:solidFill>
              </a:rPr>
              <a:t> </a:t>
            </a:r>
            <a:r>
              <a:rPr lang="en-US" sz="900" dirty="0">
                <a:solidFill>
                  <a:schemeClr val="bg2"/>
                </a:solidFill>
              </a:rPr>
              <a:t>Master)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22599" y="6496054"/>
            <a:ext cx="30607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 smtClean="0">
                <a:solidFill>
                  <a:schemeClr val="bg2"/>
                </a:solidFill>
              </a:rPr>
              <a:t>MS(Data Science)</a:t>
            </a:r>
            <a:endParaRPr lang="en-US" sz="9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6420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4572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250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Data</a:t>
            </a:r>
            <a:r>
              <a:rPr b="1" spc="140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 </a:t>
            </a:r>
            <a:r>
              <a:rPr b="1" spc="90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Science</a:t>
            </a:r>
            <a:r>
              <a:rPr b="1" spc="140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 </a:t>
            </a:r>
            <a:r>
              <a:rPr b="1" spc="70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Lifecycle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50495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10" dirty="0"/>
              <a:t>2</a:t>
            </a:fld>
            <a:endParaRPr spc="10" dirty="0"/>
          </a:p>
        </p:txBody>
      </p:sp>
      <p:pic>
        <p:nvPicPr>
          <p:cNvPr id="3" name="object 3"/>
          <p:cNvPicPr/>
          <p:nvPr/>
        </p:nvPicPr>
        <p:blipFill rotWithShape="1">
          <a:blip r:embed="rId2" cstate="print"/>
          <a:srcRect l="2454" t="1979" r="1844" b="3054"/>
          <a:stretch/>
        </p:blipFill>
        <p:spPr>
          <a:xfrm>
            <a:off x="1600200" y="1524000"/>
            <a:ext cx="5943600" cy="3657601"/>
          </a:xfrm>
          <a:prstGeom prst="rect">
            <a:avLst/>
          </a:prstGeom>
        </p:spPr>
      </p:pic>
      <p:sp>
        <p:nvSpPr>
          <p:cNvPr id="5" name="object 3"/>
          <p:cNvSpPr/>
          <p:nvPr/>
        </p:nvSpPr>
        <p:spPr>
          <a:xfrm>
            <a:off x="-25400" y="6096000"/>
            <a:ext cx="9156700" cy="762000"/>
          </a:xfrm>
          <a:custGeom>
            <a:avLst/>
            <a:gdLst/>
            <a:ahLst/>
            <a:cxnLst/>
            <a:rect l="l" t="t" r="r" b="b"/>
            <a:pathLst>
              <a:path w="8801100" h="6858000">
                <a:moveTo>
                  <a:pt x="0" y="6858000"/>
                </a:moveTo>
                <a:lnTo>
                  <a:pt x="8801100" y="6858000"/>
                </a:lnTo>
                <a:lnTo>
                  <a:pt x="88011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030" y="6281095"/>
            <a:ext cx="2177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bg2"/>
                </a:solidFill>
              </a:rPr>
              <a:t>Data Science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Lifecycle</a:t>
            </a:r>
            <a:endParaRPr lang="en-US" sz="1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80100" y="6314718"/>
            <a:ext cx="3263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 smtClean="0">
                <a:solidFill>
                  <a:schemeClr val="bg2"/>
                </a:solidFill>
              </a:rPr>
              <a:t>Software Engineering Department</a:t>
            </a:r>
          </a:p>
          <a:p>
            <a:pPr algn="r"/>
            <a:r>
              <a:rPr lang="en-US" sz="900" dirty="0" smtClean="0">
                <a:solidFill>
                  <a:schemeClr val="bg2"/>
                </a:solidFill>
              </a:rPr>
              <a:t>QUEST NAWABSHAH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803948" y="6345523"/>
            <a:ext cx="2728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Mr. Zohaib </a:t>
            </a:r>
            <a:r>
              <a:rPr lang="en-US" sz="9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Ahmed </a:t>
            </a:r>
            <a:r>
              <a:rPr lang="en-US" sz="900" dirty="0" smtClean="0">
                <a:solidFill>
                  <a:schemeClr val="bg2"/>
                </a:solidFill>
              </a:rPr>
              <a:t>(</a:t>
            </a:r>
            <a:r>
              <a:rPr lang="en-US" sz="900" dirty="0" err="1" smtClean="0">
                <a:solidFill>
                  <a:schemeClr val="bg2"/>
                </a:solidFill>
              </a:rPr>
              <a:t>Kaggle</a:t>
            </a:r>
            <a:r>
              <a:rPr lang="en-US" sz="900" dirty="0" smtClean="0">
                <a:solidFill>
                  <a:schemeClr val="bg2"/>
                </a:solidFill>
              </a:rPr>
              <a:t> </a:t>
            </a:r>
            <a:r>
              <a:rPr lang="en-US" sz="900" dirty="0">
                <a:solidFill>
                  <a:schemeClr val="bg2"/>
                </a:solidFill>
              </a:rPr>
              <a:t>Master)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3022599" y="6496054"/>
            <a:ext cx="30607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 smtClean="0">
                <a:solidFill>
                  <a:schemeClr val="bg2"/>
                </a:solidFill>
              </a:rPr>
              <a:t>MS(Data Science)</a:t>
            </a:r>
            <a:endParaRPr lang="en-US" sz="9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6096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250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Data Science Lifecycle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50495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10" dirty="0"/>
              <a:t>3</a:t>
            </a:fld>
            <a:endParaRPr spc="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9886" y="1524000"/>
            <a:ext cx="3889099" cy="4172679"/>
          </a:xfrm>
          <a:prstGeom prst="rect">
            <a:avLst/>
          </a:prstGeom>
        </p:spPr>
      </p:pic>
      <p:sp>
        <p:nvSpPr>
          <p:cNvPr id="5" name="object 3"/>
          <p:cNvSpPr/>
          <p:nvPr/>
        </p:nvSpPr>
        <p:spPr>
          <a:xfrm>
            <a:off x="-25400" y="6096000"/>
            <a:ext cx="9156700" cy="762000"/>
          </a:xfrm>
          <a:custGeom>
            <a:avLst/>
            <a:gdLst/>
            <a:ahLst/>
            <a:cxnLst/>
            <a:rect l="l" t="t" r="r" b="b"/>
            <a:pathLst>
              <a:path w="8801100" h="6858000">
                <a:moveTo>
                  <a:pt x="0" y="6858000"/>
                </a:moveTo>
                <a:lnTo>
                  <a:pt x="8801100" y="6858000"/>
                </a:lnTo>
                <a:lnTo>
                  <a:pt x="88011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030" y="6281095"/>
            <a:ext cx="2177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bg2"/>
                </a:solidFill>
              </a:rPr>
              <a:t>Data Science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Lifecycle</a:t>
            </a:r>
            <a:endParaRPr lang="en-US" sz="1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80100" y="6314718"/>
            <a:ext cx="3263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 smtClean="0">
                <a:solidFill>
                  <a:schemeClr val="bg2"/>
                </a:solidFill>
              </a:rPr>
              <a:t>Software Engineering Department</a:t>
            </a:r>
          </a:p>
          <a:p>
            <a:pPr algn="r"/>
            <a:r>
              <a:rPr lang="en-US" sz="900" dirty="0" smtClean="0">
                <a:solidFill>
                  <a:schemeClr val="bg2"/>
                </a:solidFill>
              </a:rPr>
              <a:t>QUEST NAWABSHAH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803948" y="6345523"/>
            <a:ext cx="2728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Mr. Zohaib </a:t>
            </a:r>
            <a:r>
              <a:rPr lang="en-US" sz="9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Ahmed </a:t>
            </a:r>
            <a:r>
              <a:rPr lang="en-US" sz="900" dirty="0" smtClean="0">
                <a:solidFill>
                  <a:schemeClr val="bg2"/>
                </a:solidFill>
              </a:rPr>
              <a:t>(</a:t>
            </a:r>
            <a:r>
              <a:rPr lang="en-US" sz="900" dirty="0" err="1" smtClean="0">
                <a:solidFill>
                  <a:schemeClr val="bg2"/>
                </a:solidFill>
              </a:rPr>
              <a:t>Kaggle</a:t>
            </a:r>
            <a:r>
              <a:rPr lang="en-US" sz="900" dirty="0" smtClean="0">
                <a:solidFill>
                  <a:schemeClr val="bg2"/>
                </a:solidFill>
              </a:rPr>
              <a:t> </a:t>
            </a:r>
            <a:r>
              <a:rPr lang="en-US" sz="900" dirty="0">
                <a:solidFill>
                  <a:schemeClr val="bg2"/>
                </a:solidFill>
              </a:rPr>
              <a:t>Master)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3022599" y="6496054"/>
            <a:ext cx="30607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 smtClean="0">
                <a:solidFill>
                  <a:schemeClr val="bg2"/>
                </a:solidFill>
              </a:rPr>
              <a:t>MS(Data Science)</a:t>
            </a:r>
            <a:endParaRPr lang="en-US" sz="9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3810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250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1. Problem identification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4694" y="1257430"/>
            <a:ext cx="7925436" cy="4551887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065" marR="474980" algn="ctr">
              <a:lnSpc>
                <a:spcPct val="74800"/>
              </a:lnSpc>
              <a:spcBef>
                <a:spcPts val="915"/>
              </a:spcBef>
              <a:buClr>
                <a:srgbClr val="6E6E74"/>
              </a:buClr>
              <a:buSzPct val="79629"/>
              <a:tabLst>
                <a:tab pos="195580" algn="l"/>
              </a:tabLst>
            </a:pPr>
            <a:r>
              <a:rPr sz="2400" spc="-35" dirty="0">
                <a:latin typeface="Verdana"/>
                <a:cs typeface="Verdana"/>
              </a:rPr>
              <a:t>To</a:t>
            </a:r>
            <a:r>
              <a:rPr sz="2400" spc="-185" dirty="0">
                <a:latin typeface="Verdana"/>
                <a:cs typeface="Verdana"/>
              </a:rPr>
              <a:t> </a:t>
            </a:r>
            <a:r>
              <a:rPr sz="2400" spc="80" dirty="0">
                <a:latin typeface="Verdana"/>
                <a:cs typeface="Verdana"/>
              </a:rPr>
              <a:t>be</a:t>
            </a:r>
            <a:r>
              <a:rPr sz="2400" spc="-204" dirty="0">
                <a:latin typeface="Verdana"/>
                <a:cs typeface="Verdana"/>
              </a:rPr>
              <a:t> </a:t>
            </a:r>
            <a:r>
              <a:rPr sz="2400" spc="-40" dirty="0">
                <a:latin typeface="Verdana"/>
                <a:cs typeface="Verdana"/>
              </a:rPr>
              <a:t>precise,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50" dirty="0">
                <a:latin typeface="Verdana"/>
                <a:cs typeface="Verdana"/>
              </a:rPr>
              <a:t>in</a:t>
            </a:r>
            <a:r>
              <a:rPr sz="2400" spc="-19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this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step</a:t>
            </a:r>
            <a:r>
              <a:rPr sz="2400" spc="-190" dirty="0">
                <a:latin typeface="Verdana"/>
                <a:cs typeface="Verdana"/>
              </a:rPr>
              <a:t> </a:t>
            </a:r>
            <a:r>
              <a:rPr sz="2400" spc="90" dirty="0">
                <a:latin typeface="Verdana"/>
                <a:cs typeface="Verdana"/>
              </a:rPr>
              <a:t>we</a:t>
            </a:r>
            <a:r>
              <a:rPr sz="2400" spc="-19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answer</a:t>
            </a:r>
            <a:r>
              <a:rPr sz="2400" spc="-200" dirty="0">
                <a:latin typeface="Verdana"/>
                <a:cs typeface="Verdana"/>
              </a:rPr>
              <a:t> </a:t>
            </a:r>
            <a:r>
              <a:rPr sz="2400" spc="25" dirty="0">
                <a:latin typeface="Verdana"/>
                <a:cs typeface="Verdana"/>
              </a:rPr>
              <a:t>the </a:t>
            </a:r>
            <a:r>
              <a:rPr sz="2400" spc="55" dirty="0">
                <a:latin typeface="Verdana"/>
                <a:cs typeface="Verdana"/>
              </a:rPr>
              <a:t>following</a:t>
            </a:r>
            <a:r>
              <a:rPr sz="2400" spc="-24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questions</a:t>
            </a:r>
            <a:r>
              <a:rPr sz="2400" spc="-10" dirty="0" smtClean="0">
                <a:latin typeface="Verdana"/>
                <a:cs typeface="Verdana"/>
              </a:rPr>
              <a:t>:</a:t>
            </a:r>
            <a:endParaRPr lang="en-US" sz="2400" spc="-10" dirty="0" smtClean="0">
              <a:latin typeface="Verdana"/>
              <a:cs typeface="Verdana"/>
            </a:endParaRPr>
          </a:p>
          <a:p>
            <a:pPr marL="12065" marR="474980">
              <a:lnSpc>
                <a:spcPct val="74800"/>
              </a:lnSpc>
              <a:spcBef>
                <a:spcPts val="915"/>
              </a:spcBef>
              <a:buClr>
                <a:srgbClr val="6E6E74"/>
              </a:buClr>
              <a:buSzPct val="79629"/>
              <a:tabLst>
                <a:tab pos="195580" algn="l"/>
              </a:tabLst>
            </a:pPr>
            <a:endParaRPr sz="2400" dirty="0">
              <a:latin typeface="Verdana"/>
              <a:cs typeface="Verdana"/>
            </a:endParaRPr>
          </a:p>
          <a:p>
            <a:pPr marL="355600" lvl="2" indent="-342900">
              <a:spcBef>
                <a:spcPts val="790"/>
              </a:spcBef>
              <a:buClr>
                <a:srgbClr val="6E6E74"/>
              </a:buClr>
              <a:buSzPct val="79629"/>
              <a:buFont typeface="Arial" panose="020B0604020202020204" pitchFamily="34" charset="0"/>
              <a:buChar char="•"/>
              <a:tabLst>
                <a:tab pos="195580" algn="l"/>
              </a:tabLst>
            </a:pPr>
            <a:r>
              <a:rPr sz="2000" spc="-30" dirty="0">
                <a:latin typeface="Verdana"/>
                <a:cs typeface="Verdana"/>
              </a:rPr>
              <a:t>Clearly</a:t>
            </a:r>
            <a:r>
              <a:rPr sz="2000" spc="-204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state</a:t>
            </a:r>
            <a:r>
              <a:rPr sz="2000" spc="-220" dirty="0">
                <a:latin typeface="Verdana"/>
                <a:cs typeface="Verdana"/>
              </a:rPr>
              <a:t> </a:t>
            </a:r>
            <a:r>
              <a:rPr sz="2000" spc="50" dirty="0">
                <a:latin typeface="Verdana"/>
                <a:cs typeface="Verdana"/>
              </a:rPr>
              <a:t>the</a:t>
            </a:r>
            <a:r>
              <a:rPr sz="2000" spc="-195" dirty="0">
                <a:latin typeface="Verdana"/>
                <a:cs typeface="Verdana"/>
              </a:rPr>
              <a:t> </a:t>
            </a:r>
            <a:r>
              <a:rPr sz="2000" spc="75" dirty="0">
                <a:latin typeface="Verdana"/>
                <a:cs typeface="Verdana"/>
              </a:rPr>
              <a:t>problem</a:t>
            </a:r>
            <a:r>
              <a:rPr sz="2000" spc="-2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190" dirty="0">
                <a:latin typeface="Verdana"/>
                <a:cs typeface="Verdana"/>
              </a:rPr>
              <a:t> </a:t>
            </a:r>
            <a:r>
              <a:rPr sz="2000" spc="80" dirty="0">
                <a:latin typeface="Verdana"/>
                <a:cs typeface="Verdana"/>
              </a:rPr>
              <a:t>be</a:t>
            </a:r>
            <a:r>
              <a:rPr sz="2000" spc="-2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solved</a:t>
            </a:r>
            <a:endParaRPr sz="2000" dirty="0">
              <a:latin typeface="Verdana"/>
              <a:cs typeface="Verdana"/>
            </a:endParaRPr>
          </a:p>
          <a:p>
            <a:pPr marL="355600" lvl="2" indent="-342900">
              <a:spcBef>
                <a:spcPts val="795"/>
              </a:spcBef>
              <a:buClr>
                <a:srgbClr val="6E6E74"/>
              </a:buClr>
              <a:buSzPct val="79629"/>
              <a:buFont typeface="Arial" panose="020B0604020202020204" pitchFamily="34" charset="0"/>
              <a:buChar char="•"/>
              <a:tabLst>
                <a:tab pos="195580" algn="l"/>
              </a:tabLst>
            </a:pPr>
            <a:r>
              <a:rPr sz="2000" dirty="0">
                <a:latin typeface="Verdana"/>
                <a:cs typeface="Verdana"/>
              </a:rPr>
              <a:t>Reason</a:t>
            </a:r>
            <a:r>
              <a:rPr sz="2000" spc="-1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-40" dirty="0">
                <a:latin typeface="Verdana"/>
                <a:cs typeface="Verdana"/>
              </a:rPr>
              <a:t>solve</a:t>
            </a:r>
            <a:r>
              <a:rPr sz="2000" spc="-180" dirty="0">
                <a:latin typeface="Verdana"/>
                <a:cs typeface="Verdana"/>
              </a:rPr>
              <a:t> </a:t>
            </a:r>
            <a:r>
              <a:rPr sz="2000" spc="50" dirty="0">
                <a:latin typeface="Verdana"/>
                <a:cs typeface="Verdana"/>
              </a:rPr>
              <a:t>the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spc="60" dirty="0">
                <a:latin typeface="Verdana"/>
                <a:cs typeface="Verdana"/>
              </a:rPr>
              <a:t>problem</a:t>
            </a:r>
            <a:endParaRPr sz="2000" dirty="0">
              <a:latin typeface="Verdana"/>
              <a:cs typeface="Verdana"/>
            </a:endParaRPr>
          </a:p>
          <a:p>
            <a:pPr marL="354965" marR="334645" lvl="2" indent="-342900">
              <a:spcBef>
                <a:spcPts val="1610"/>
              </a:spcBef>
              <a:buClr>
                <a:srgbClr val="6E6E74"/>
              </a:buClr>
              <a:buSzPct val="79629"/>
              <a:buFont typeface="Arial" panose="020B0604020202020204" pitchFamily="34" charset="0"/>
              <a:buChar char="•"/>
              <a:tabLst>
                <a:tab pos="195580" algn="l"/>
              </a:tabLst>
            </a:pPr>
            <a:r>
              <a:rPr sz="2000" spc="-30" dirty="0">
                <a:latin typeface="Verdana"/>
                <a:cs typeface="Verdana"/>
              </a:rPr>
              <a:t>State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50" dirty="0">
                <a:latin typeface="Verdana"/>
                <a:cs typeface="Verdana"/>
              </a:rPr>
              <a:t>the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potential</a:t>
            </a:r>
            <a:r>
              <a:rPr sz="2000" spc="-18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value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spc="50" dirty="0">
                <a:latin typeface="Verdana"/>
                <a:cs typeface="Verdana"/>
              </a:rPr>
              <a:t>the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project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to </a:t>
            </a:r>
            <a:r>
              <a:rPr sz="2000" dirty="0">
                <a:latin typeface="Verdana"/>
                <a:cs typeface="Verdana"/>
              </a:rPr>
              <a:t>motivate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everyone</a:t>
            </a:r>
            <a:endParaRPr sz="2000" dirty="0">
              <a:latin typeface="Verdana"/>
              <a:cs typeface="Verdana"/>
            </a:endParaRPr>
          </a:p>
          <a:p>
            <a:pPr marL="354965" marR="1511300" lvl="2" indent="-342900">
              <a:spcBef>
                <a:spcPts val="1595"/>
              </a:spcBef>
              <a:buClr>
                <a:srgbClr val="6E6E74"/>
              </a:buClr>
              <a:buSzPct val="79629"/>
              <a:buFont typeface="Arial" panose="020B0604020202020204" pitchFamily="34" charset="0"/>
              <a:buChar char="•"/>
              <a:tabLst>
                <a:tab pos="195580" algn="l"/>
              </a:tabLst>
            </a:pPr>
            <a:r>
              <a:rPr sz="2000" spc="-30" dirty="0">
                <a:latin typeface="Verdana"/>
                <a:cs typeface="Verdana"/>
              </a:rPr>
              <a:t>Identify</a:t>
            </a:r>
            <a:r>
              <a:rPr sz="2000" spc="-215" dirty="0">
                <a:latin typeface="Verdana"/>
                <a:cs typeface="Verdana"/>
              </a:rPr>
              <a:t> </a:t>
            </a:r>
            <a:r>
              <a:rPr sz="2000" spc="50" dirty="0">
                <a:latin typeface="Verdana"/>
                <a:cs typeface="Verdana"/>
              </a:rPr>
              <a:t>the</a:t>
            </a:r>
            <a:r>
              <a:rPr sz="2000" spc="-1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stakeholders</a:t>
            </a:r>
            <a:r>
              <a:rPr sz="2000" spc="-200" dirty="0">
                <a:latin typeface="Verdana"/>
                <a:cs typeface="Verdana"/>
              </a:rPr>
              <a:t> </a:t>
            </a:r>
            <a:r>
              <a:rPr sz="2000" spc="70" dirty="0">
                <a:latin typeface="Verdana"/>
                <a:cs typeface="Verdana"/>
              </a:rPr>
              <a:t>and</a:t>
            </a:r>
            <a:r>
              <a:rPr sz="2000" spc="-19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risks </a:t>
            </a:r>
            <a:r>
              <a:rPr sz="2000" dirty="0">
                <a:latin typeface="Verdana"/>
                <a:cs typeface="Verdana"/>
              </a:rPr>
              <a:t>associated</a:t>
            </a:r>
            <a:r>
              <a:rPr sz="2000" spc="-215" dirty="0">
                <a:latin typeface="Verdana"/>
                <a:cs typeface="Verdana"/>
              </a:rPr>
              <a:t> </a:t>
            </a:r>
            <a:r>
              <a:rPr sz="2000" spc="75" dirty="0">
                <a:latin typeface="Verdana"/>
                <a:cs typeface="Verdana"/>
              </a:rPr>
              <a:t>with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spc="50" dirty="0">
                <a:latin typeface="Verdana"/>
                <a:cs typeface="Verdana"/>
              </a:rPr>
              <a:t>the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project</a:t>
            </a:r>
            <a:endParaRPr sz="2000" dirty="0">
              <a:latin typeface="Verdana"/>
              <a:cs typeface="Verdana"/>
            </a:endParaRPr>
          </a:p>
          <a:p>
            <a:pPr marL="354965" marR="5080" lvl="2" indent="-342900">
              <a:spcBef>
                <a:spcPts val="1610"/>
              </a:spcBef>
              <a:buClr>
                <a:srgbClr val="6E6E74"/>
              </a:buClr>
              <a:buSzPct val="79629"/>
              <a:buFont typeface="Arial" panose="020B0604020202020204" pitchFamily="34" charset="0"/>
              <a:buChar char="•"/>
              <a:tabLst>
                <a:tab pos="195580" algn="l"/>
              </a:tabLst>
            </a:pPr>
            <a:r>
              <a:rPr sz="2000" spc="60" dirty="0">
                <a:latin typeface="Verdana"/>
                <a:cs typeface="Verdana"/>
              </a:rPr>
              <a:t>Perform</a:t>
            </a:r>
            <a:r>
              <a:rPr sz="2000" spc="-1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high-</a:t>
            </a:r>
            <a:r>
              <a:rPr sz="2000" spc="-25" dirty="0">
                <a:latin typeface="Verdana"/>
                <a:cs typeface="Verdana"/>
              </a:rPr>
              <a:t>level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research</a:t>
            </a:r>
            <a:r>
              <a:rPr sz="2000" spc="-175" dirty="0">
                <a:latin typeface="Verdana"/>
                <a:cs typeface="Verdana"/>
              </a:rPr>
              <a:t> </a:t>
            </a:r>
            <a:r>
              <a:rPr sz="2000" spc="75" dirty="0">
                <a:latin typeface="Verdana"/>
                <a:cs typeface="Verdana"/>
              </a:rPr>
              <a:t>with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your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data </a:t>
            </a:r>
            <a:r>
              <a:rPr sz="2000" dirty="0">
                <a:latin typeface="Verdana"/>
                <a:cs typeface="Verdana"/>
              </a:rPr>
              <a:t>science</a:t>
            </a:r>
            <a:r>
              <a:rPr sz="2000" spc="55" dirty="0">
                <a:latin typeface="Verdana"/>
                <a:cs typeface="Verdana"/>
              </a:rPr>
              <a:t> </a:t>
            </a:r>
            <a:r>
              <a:rPr sz="2000" spc="50" dirty="0">
                <a:latin typeface="Verdana"/>
                <a:cs typeface="Verdana"/>
              </a:rPr>
              <a:t>team</a:t>
            </a:r>
            <a:endParaRPr sz="2000" dirty="0">
              <a:latin typeface="Verdana"/>
              <a:cs typeface="Verdana"/>
            </a:endParaRPr>
          </a:p>
          <a:p>
            <a:pPr marL="354965" marR="273050" lvl="2" indent="-342900">
              <a:spcBef>
                <a:spcPts val="1610"/>
              </a:spcBef>
              <a:buClr>
                <a:srgbClr val="6E6E74"/>
              </a:buClr>
              <a:buSzPct val="79629"/>
              <a:buFont typeface="Arial" panose="020B0604020202020204" pitchFamily="34" charset="0"/>
              <a:buChar char="•"/>
              <a:tabLst>
                <a:tab pos="195580" algn="l"/>
              </a:tabLst>
            </a:pPr>
            <a:r>
              <a:rPr sz="2000" spc="60" dirty="0">
                <a:latin typeface="Verdana"/>
                <a:cs typeface="Verdana"/>
              </a:rPr>
              <a:t>Determine</a:t>
            </a:r>
            <a:r>
              <a:rPr sz="2000" spc="-245" dirty="0">
                <a:latin typeface="Verdana"/>
                <a:cs typeface="Verdana"/>
              </a:rPr>
              <a:t> </a:t>
            </a:r>
            <a:r>
              <a:rPr sz="2000" spc="70" dirty="0">
                <a:latin typeface="Verdana"/>
                <a:cs typeface="Verdana"/>
              </a:rPr>
              <a:t>and</a:t>
            </a:r>
            <a:r>
              <a:rPr sz="2000" spc="-225" dirty="0">
                <a:latin typeface="Verdana"/>
                <a:cs typeface="Verdana"/>
              </a:rPr>
              <a:t> </a:t>
            </a:r>
            <a:r>
              <a:rPr sz="2000" spc="90" dirty="0">
                <a:latin typeface="Verdana"/>
                <a:cs typeface="Verdana"/>
              </a:rPr>
              <a:t>communicate</a:t>
            </a:r>
            <a:r>
              <a:rPr sz="2000" spc="-245" dirty="0">
                <a:latin typeface="Verdana"/>
                <a:cs typeface="Verdana"/>
              </a:rPr>
              <a:t> </a:t>
            </a:r>
            <a:r>
              <a:rPr sz="2000" spc="50" dirty="0">
                <a:latin typeface="Verdana"/>
                <a:cs typeface="Verdana"/>
              </a:rPr>
              <a:t>the</a:t>
            </a:r>
            <a:r>
              <a:rPr sz="2000" spc="-204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project </a:t>
            </a:r>
            <a:r>
              <a:rPr sz="2000" spc="35" dirty="0">
                <a:latin typeface="Verdana"/>
                <a:cs typeface="Verdana"/>
              </a:rPr>
              <a:t>plan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60130" y="6207353"/>
            <a:ext cx="2520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10" dirty="0">
                <a:solidFill>
                  <a:srgbClr val="8E8E93"/>
                </a:solidFill>
                <a:latin typeface="Cambria"/>
                <a:cs typeface="Cambria"/>
              </a:rPr>
              <a:t>4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5" name="object 3"/>
          <p:cNvSpPr/>
          <p:nvPr/>
        </p:nvSpPr>
        <p:spPr>
          <a:xfrm>
            <a:off x="-25400" y="6096000"/>
            <a:ext cx="9156700" cy="762000"/>
          </a:xfrm>
          <a:custGeom>
            <a:avLst/>
            <a:gdLst/>
            <a:ahLst/>
            <a:cxnLst/>
            <a:rect l="l" t="t" r="r" b="b"/>
            <a:pathLst>
              <a:path w="8801100" h="6858000">
                <a:moveTo>
                  <a:pt x="0" y="6858000"/>
                </a:moveTo>
                <a:lnTo>
                  <a:pt x="8801100" y="6858000"/>
                </a:lnTo>
                <a:lnTo>
                  <a:pt x="88011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030" y="6281095"/>
            <a:ext cx="2177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bg2"/>
                </a:solidFill>
              </a:rPr>
              <a:t>Data Science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Lifecycle</a:t>
            </a:r>
            <a:endParaRPr lang="en-US" sz="1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80100" y="6314718"/>
            <a:ext cx="3263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 smtClean="0">
                <a:solidFill>
                  <a:schemeClr val="bg2"/>
                </a:solidFill>
              </a:rPr>
              <a:t>Software Engineering Department</a:t>
            </a:r>
          </a:p>
          <a:p>
            <a:pPr algn="r"/>
            <a:r>
              <a:rPr lang="en-US" sz="900" dirty="0" smtClean="0">
                <a:solidFill>
                  <a:schemeClr val="bg2"/>
                </a:solidFill>
              </a:rPr>
              <a:t>QUEST NAWABSHAH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803948" y="6345523"/>
            <a:ext cx="2728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Mr. Zohaib </a:t>
            </a:r>
            <a:r>
              <a:rPr lang="en-US" sz="9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Ahmed </a:t>
            </a:r>
            <a:r>
              <a:rPr lang="en-US" sz="900" dirty="0" smtClean="0">
                <a:solidFill>
                  <a:schemeClr val="bg2"/>
                </a:solidFill>
              </a:rPr>
              <a:t>(</a:t>
            </a:r>
            <a:r>
              <a:rPr lang="en-US" sz="900" dirty="0" err="1" smtClean="0">
                <a:solidFill>
                  <a:schemeClr val="bg2"/>
                </a:solidFill>
              </a:rPr>
              <a:t>Kaggle</a:t>
            </a:r>
            <a:r>
              <a:rPr lang="en-US" sz="900" dirty="0" smtClean="0">
                <a:solidFill>
                  <a:schemeClr val="bg2"/>
                </a:solidFill>
              </a:rPr>
              <a:t> </a:t>
            </a:r>
            <a:r>
              <a:rPr lang="en-US" sz="900" dirty="0">
                <a:solidFill>
                  <a:schemeClr val="bg2"/>
                </a:solidFill>
              </a:rPr>
              <a:t>Master)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3022599" y="6496054"/>
            <a:ext cx="30607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 smtClean="0">
                <a:solidFill>
                  <a:schemeClr val="bg2"/>
                </a:solidFill>
              </a:rPr>
              <a:t>MS(Data Science)</a:t>
            </a:r>
            <a:endParaRPr lang="en-US" sz="9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250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2. Data investigation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50495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10" dirty="0"/>
              <a:t>5</a:t>
            </a:fld>
            <a:endParaRPr spc="10" dirty="0"/>
          </a:p>
        </p:txBody>
      </p:sp>
      <p:sp>
        <p:nvSpPr>
          <p:cNvPr id="3" name="object 3"/>
          <p:cNvSpPr txBox="1"/>
          <p:nvPr/>
        </p:nvSpPr>
        <p:spPr>
          <a:xfrm>
            <a:off x="729471" y="1606045"/>
            <a:ext cx="6877684" cy="3357245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3200" spc="-125" dirty="0">
                <a:latin typeface="Verdana"/>
                <a:cs typeface="Verdana"/>
              </a:rPr>
              <a:t>In</a:t>
            </a:r>
            <a:r>
              <a:rPr sz="3200" spc="-260" dirty="0">
                <a:latin typeface="Verdana"/>
                <a:cs typeface="Verdana"/>
              </a:rPr>
              <a:t> </a:t>
            </a:r>
            <a:r>
              <a:rPr sz="3200" dirty="0">
                <a:latin typeface="Verdana"/>
                <a:cs typeface="Verdana"/>
              </a:rPr>
              <a:t>this</a:t>
            </a:r>
            <a:r>
              <a:rPr sz="3200" spc="-265" dirty="0">
                <a:latin typeface="Verdana"/>
                <a:cs typeface="Verdana"/>
              </a:rPr>
              <a:t> </a:t>
            </a:r>
            <a:r>
              <a:rPr sz="3200" spc="-80" dirty="0">
                <a:latin typeface="Verdana"/>
                <a:cs typeface="Verdana"/>
              </a:rPr>
              <a:t>step,</a:t>
            </a:r>
            <a:r>
              <a:rPr sz="3200" spc="-240" dirty="0">
                <a:latin typeface="Verdana"/>
                <a:cs typeface="Verdana"/>
              </a:rPr>
              <a:t> </a:t>
            </a:r>
            <a:r>
              <a:rPr sz="3200" spc="-25" dirty="0">
                <a:latin typeface="Verdana"/>
                <a:cs typeface="Verdana"/>
              </a:rPr>
              <a:t>we:</a:t>
            </a:r>
            <a:endParaRPr sz="3200" dirty="0">
              <a:latin typeface="Verdana"/>
              <a:cs typeface="Verdana"/>
            </a:endParaRPr>
          </a:p>
          <a:p>
            <a:pPr marL="195580" indent="-182880">
              <a:lnSpc>
                <a:spcPct val="100000"/>
              </a:lnSpc>
              <a:spcBef>
                <a:spcPts val="1400"/>
              </a:spcBef>
              <a:buClr>
                <a:srgbClr val="6E6E74"/>
              </a:buClr>
              <a:buSzPct val="79687"/>
              <a:buFont typeface="Arial MT"/>
              <a:buChar char="•"/>
              <a:tabLst>
                <a:tab pos="195580" algn="l"/>
              </a:tabLst>
            </a:pPr>
            <a:r>
              <a:rPr sz="3200" dirty="0">
                <a:latin typeface="Verdana"/>
                <a:cs typeface="Verdana"/>
              </a:rPr>
              <a:t>Describe</a:t>
            </a:r>
            <a:r>
              <a:rPr sz="3200" spc="-100" dirty="0">
                <a:latin typeface="Verdana"/>
                <a:cs typeface="Verdana"/>
              </a:rPr>
              <a:t> </a:t>
            </a:r>
            <a:r>
              <a:rPr sz="3200" spc="60" dirty="0">
                <a:latin typeface="Verdana"/>
                <a:cs typeface="Verdana"/>
              </a:rPr>
              <a:t>the</a:t>
            </a:r>
            <a:r>
              <a:rPr sz="3200" spc="-100" dirty="0">
                <a:latin typeface="Verdana"/>
                <a:cs typeface="Verdana"/>
              </a:rPr>
              <a:t> </a:t>
            </a:r>
            <a:r>
              <a:rPr sz="3200" spc="-20" dirty="0">
                <a:latin typeface="Verdana"/>
                <a:cs typeface="Verdana"/>
              </a:rPr>
              <a:t>data</a:t>
            </a:r>
            <a:endParaRPr sz="3200" dirty="0">
              <a:latin typeface="Verdana"/>
              <a:cs typeface="Verdana"/>
            </a:endParaRPr>
          </a:p>
          <a:p>
            <a:pPr marL="195580" indent="-182880">
              <a:lnSpc>
                <a:spcPct val="100000"/>
              </a:lnSpc>
              <a:spcBef>
                <a:spcPts val="1420"/>
              </a:spcBef>
              <a:buClr>
                <a:srgbClr val="6E6E74"/>
              </a:buClr>
              <a:buSzPct val="79687"/>
              <a:buFont typeface="Arial MT"/>
              <a:buChar char="•"/>
              <a:tabLst>
                <a:tab pos="195580" algn="l"/>
              </a:tabLst>
            </a:pPr>
            <a:r>
              <a:rPr sz="3200" spc="55" dirty="0">
                <a:latin typeface="Verdana"/>
                <a:cs typeface="Verdana"/>
              </a:rPr>
              <a:t>Define</a:t>
            </a:r>
            <a:r>
              <a:rPr sz="3200" spc="-305" dirty="0">
                <a:latin typeface="Verdana"/>
                <a:cs typeface="Verdana"/>
              </a:rPr>
              <a:t> </a:t>
            </a:r>
            <a:r>
              <a:rPr sz="3200" spc="-35" dirty="0">
                <a:latin typeface="Verdana"/>
                <a:cs typeface="Verdana"/>
              </a:rPr>
              <a:t>its</a:t>
            </a:r>
            <a:r>
              <a:rPr sz="3200" spc="-260" dirty="0">
                <a:latin typeface="Verdana"/>
                <a:cs typeface="Verdana"/>
              </a:rPr>
              <a:t> </a:t>
            </a:r>
            <a:r>
              <a:rPr sz="3200" spc="-10" dirty="0">
                <a:latin typeface="Verdana"/>
                <a:cs typeface="Verdana"/>
              </a:rPr>
              <a:t>structure</a:t>
            </a:r>
            <a:endParaRPr sz="3200" dirty="0">
              <a:latin typeface="Verdana"/>
              <a:cs typeface="Verdana"/>
            </a:endParaRPr>
          </a:p>
          <a:p>
            <a:pPr marL="195580" indent="-182880">
              <a:lnSpc>
                <a:spcPct val="100000"/>
              </a:lnSpc>
              <a:spcBef>
                <a:spcPts val="1405"/>
              </a:spcBef>
              <a:buClr>
                <a:srgbClr val="6E6E74"/>
              </a:buClr>
              <a:buSzPct val="79687"/>
              <a:buFont typeface="Arial MT"/>
              <a:buChar char="•"/>
              <a:tabLst>
                <a:tab pos="195580" algn="l"/>
              </a:tabLst>
            </a:pPr>
            <a:r>
              <a:rPr sz="3200" spc="75" dirty="0">
                <a:latin typeface="Verdana"/>
                <a:cs typeface="Verdana"/>
              </a:rPr>
              <a:t>Figure</a:t>
            </a:r>
            <a:r>
              <a:rPr sz="3200" spc="-250" dirty="0">
                <a:latin typeface="Verdana"/>
                <a:cs typeface="Verdana"/>
              </a:rPr>
              <a:t> </a:t>
            </a:r>
            <a:r>
              <a:rPr sz="3200" spc="70" dirty="0">
                <a:latin typeface="Verdana"/>
                <a:cs typeface="Verdana"/>
              </a:rPr>
              <a:t>out</a:t>
            </a:r>
            <a:r>
              <a:rPr sz="3200" spc="-225" dirty="0">
                <a:latin typeface="Verdana"/>
                <a:cs typeface="Verdana"/>
              </a:rPr>
              <a:t> </a:t>
            </a:r>
            <a:r>
              <a:rPr sz="3200" dirty="0">
                <a:latin typeface="Verdana"/>
                <a:cs typeface="Verdana"/>
              </a:rPr>
              <a:t>relevance</a:t>
            </a:r>
            <a:r>
              <a:rPr sz="3200" spc="-245" dirty="0">
                <a:latin typeface="Verdana"/>
                <a:cs typeface="Verdana"/>
              </a:rPr>
              <a:t> </a:t>
            </a:r>
            <a:r>
              <a:rPr sz="3200" dirty="0">
                <a:latin typeface="Verdana"/>
                <a:cs typeface="Verdana"/>
              </a:rPr>
              <a:t>of</a:t>
            </a:r>
            <a:r>
              <a:rPr sz="3200" spc="-220" dirty="0">
                <a:latin typeface="Verdana"/>
                <a:cs typeface="Verdana"/>
              </a:rPr>
              <a:t> </a:t>
            </a:r>
            <a:r>
              <a:rPr sz="3200" dirty="0">
                <a:latin typeface="Verdana"/>
                <a:cs typeface="Verdana"/>
              </a:rPr>
              <a:t>data</a:t>
            </a:r>
            <a:r>
              <a:rPr sz="3200" spc="-220" dirty="0">
                <a:latin typeface="Verdana"/>
                <a:cs typeface="Verdana"/>
              </a:rPr>
              <a:t> </a:t>
            </a:r>
            <a:r>
              <a:rPr sz="3200" spc="70" dirty="0">
                <a:latin typeface="Verdana"/>
                <a:cs typeface="Verdana"/>
              </a:rPr>
              <a:t>and</a:t>
            </a:r>
            <a:endParaRPr sz="3200" dirty="0">
              <a:latin typeface="Verdana"/>
              <a:cs typeface="Verdana"/>
            </a:endParaRPr>
          </a:p>
          <a:p>
            <a:pPr marL="195580" indent="-182880">
              <a:lnSpc>
                <a:spcPct val="100000"/>
              </a:lnSpc>
              <a:spcBef>
                <a:spcPts val="1405"/>
              </a:spcBef>
              <a:buClr>
                <a:srgbClr val="6E6E74"/>
              </a:buClr>
              <a:buSzPct val="79687"/>
              <a:buFont typeface="Arial MT"/>
              <a:buChar char="•"/>
              <a:tabLst>
                <a:tab pos="195580" algn="l"/>
              </a:tabLst>
            </a:pPr>
            <a:r>
              <a:rPr sz="3200" spc="-50" dirty="0">
                <a:latin typeface="Verdana"/>
                <a:cs typeface="Verdana"/>
              </a:rPr>
              <a:t>Assess</a:t>
            </a:r>
            <a:r>
              <a:rPr sz="3200" spc="-275" dirty="0">
                <a:latin typeface="Verdana"/>
                <a:cs typeface="Verdana"/>
              </a:rPr>
              <a:t> </a:t>
            </a:r>
            <a:r>
              <a:rPr sz="3200" spc="65" dirty="0">
                <a:latin typeface="Verdana"/>
                <a:cs typeface="Verdana"/>
              </a:rPr>
              <a:t>the</a:t>
            </a:r>
            <a:r>
              <a:rPr sz="3200" spc="-260" dirty="0">
                <a:latin typeface="Verdana"/>
                <a:cs typeface="Verdana"/>
              </a:rPr>
              <a:t> </a:t>
            </a:r>
            <a:r>
              <a:rPr sz="3200" dirty="0">
                <a:latin typeface="Verdana"/>
                <a:cs typeface="Verdana"/>
              </a:rPr>
              <a:t>type</a:t>
            </a:r>
            <a:r>
              <a:rPr sz="3200" spc="-240" dirty="0">
                <a:latin typeface="Verdana"/>
                <a:cs typeface="Verdana"/>
              </a:rPr>
              <a:t> </a:t>
            </a:r>
            <a:r>
              <a:rPr sz="3200" dirty="0">
                <a:latin typeface="Verdana"/>
                <a:cs typeface="Verdana"/>
              </a:rPr>
              <a:t>of</a:t>
            </a:r>
            <a:r>
              <a:rPr sz="3200" spc="-240" dirty="0">
                <a:latin typeface="Verdana"/>
                <a:cs typeface="Verdana"/>
              </a:rPr>
              <a:t> </a:t>
            </a:r>
            <a:r>
              <a:rPr sz="3200" spc="-20" dirty="0">
                <a:latin typeface="Verdana"/>
                <a:cs typeface="Verdana"/>
              </a:rPr>
              <a:t>data</a:t>
            </a:r>
            <a:endParaRPr sz="3200" dirty="0">
              <a:latin typeface="Verdana"/>
              <a:cs typeface="Verdana"/>
            </a:endParaRPr>
          </a:p>
        </p:txBody>
      </p:sp>
      <p:sp>
        <p:nvSpPr>
          <p:cNvPr id="5" name="object 3"/>
          <p:cNvSpPr/>
          <p:nvPr/>
        </p:nvSpPr>
        <p:spPr>
          <a:xfrm>
            <a:off x="-25400" y="6096000"/>
            <a:ext cx="9156700" cy="762000"/>
          </a:xfrm>
          <a:custGeom>
            <a:avLst/>
            <a:gdLst/>
            <a:ahLst/>
            <a:cxnLst/>
            <a:rect l="l" t="t" r="r" b="b"/>
            <a:pathLst>
              <a:path w="8801100" h="6858000">
                <a:moveTo>
                  <a:pt x="0" y="6858000"/>
                </a:moveTo>
                <a:lnTo>
                  <a:pt x="8801100" y="6858000"/>
                </a:lnTo>
                <a:lnTo>
                  <a:pt x="88011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030" y="6281095"/>
            <a:ext cx="2177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bg2"/>
                </a:solidFill>
              </a:rPr>
              <a:t>Data Science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Lifecycle</a:t>
            </a:r>
            <a:endParaRPr lang="en-US" sz="1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80100" y="6314718"/>
            <a:ext cx="3263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 smtClean="0">
                <a:solidFill>
                  <a:schemeClr val="bg2"/>
                </a:solidFill>
              </a:rPr>
              <a:t>Software Engineering Department</a:t>
            </a:r>
          </a:p>
          <a:p>
            <a:pPr algn="r"/>
            <a:r>
              <a:rPr lang="en-US" sz="900" dirty="0" smtClean="0">
                <a:solidFill>
                  <a:schemeClr val="bg2"/>
                </a:solidFill>
              </a:rPr>
              <a:t>QUEST NAWABSHAH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803948" y="6345523"/>
            <a:ext cx="2728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Mr. Zohaib </a:t>
            </a:r>
            <a:r>
              <a:rPr lang="en-US" sz="9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Ahmed </a:t>
            </a:r>
            <a:r>
              <a:rPr lang="en-US" sz="900" dirty="0" smtClean="0">
                <a:solidFill>
                  <a:schemeClr val="bg2"/>
                </a:solidFill>
              </a:rPr>
              <a:t>(</a:t>
            </a:r>
            <a:r>
              <a:rPr lang="en-US" sz="900" dirty="0" err="1" smtClean="0">
                <a:solidFill>
                  <a:schemeClr val="bg2"/>
                </a:solidFill>
              </a:rPr>
              <a:t>Kaggle</a:t>
            </a:r>
            <a:r>
              <a:rPr lang="en-US" sz="900" dirty="0" smtClean="0">
                <a:solidFill>
                  <a:schemeClr val="bg2"/>
                </a:solidFill>
              </a:rPr>
              <a:t> </a:t>
            </a:r>
            <a:r>
              <a:rPr lang="en-US" sz="900" dirty="0">
                <a:solidFill>
                  <a:schemeClr val="bg2"/>
                </a:solidFill>
              </a:rPr>
              <a:t>Master)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3022599" y="6496054"/>
            <a:ext cx="30607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 smtClean="0">
                <a:solidFill>
                  <a:schemeClr val="bg2"/>
                </a:solidFill>
              </a:rPr>
              <a:t>MS(Data Science)</a:t>
            </a:r>
            <a:endParaRPr lang="en-US" sz="9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250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2. Data investigation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50495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10" dirty="0"/>
              <a:t>6</a:t>
            </a:fld>
            <a:endParaRPr spc="10" dirty="0"/>
          </a:p>
        </p:txBody>
      </p:sp>
      <p:sp>
        <p:nvSpPr>
          <p:cNvPr id="3" name="object 3"/>
          <p:cNvSpPr txBox="1"/>
          <p:nvPr/>
        </p:nvSpPr>
        <p:spPr>
          <a:xfrm>
            <a:off x="301853" y="1559813"/>
            <a:ext cx="7715884" cy="2564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5"/>
              </a:spcBef>
              <a:buClr>
                <a:srgbClr val="6E6E74"/>
              </a:buClr>
              <a:buSzPct val="79687"/>
              <a:buFont typeface="Arial MT"/>
              <a:buChar char="•"/>
              <a:tabLst>
                <a:tab pos="195580" algn="l"/>
              </a:tabLst>
            </a:pPr>
            <a:r>
              <a:rPr sz="3200" spc="130" dirty="0">
                <a:latin typeface="Cambria"/>
                <a:cs typeface="Cambria"/>
              </a:rPr>
              <a:t>Retrieving</a:t>
            </a:r>
            <a:r>
              <a:rPr sz="3200" spc="220" dirty="0">
                <a:latin typeface="Cambria"/>
                <a:cs typeface="Cambria"/>
              </a:rPr>
              <a:t> </a:t>
            </a:r>
            <a:r>
              <a:rPr sz="3200" spc="225" dirty="0">
                <a:latin typeface="Cambria"/>
                <a:cs typeface="Cambria"/>
              </a:rPr>
              <a:t>Data</a:t>
            </a:r>
            <a:endParaRPr sz="3200" dirty="0">
              <a:latin typeface="Cambria"/>
              <a:cs typeface="Cambria"/>
            </a:endParaRPr>
          </a:p>
          <a:p>
            <a:pPr marL="469900">
              <a:lnSpc>
                <a:spcPct val="100000"/>
              </a:lnSpc>
              <a:spcBef>
                <a:spcPts val="160"/>
              </a:spcBef>
              <a:tabLst>
                <a:tab pos="927100" algn="l"/>
              </a:tabLst>
            </a:pPr>
            <a:r>
              <a:rPr sz="2800" spc="-1145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2800" dirty="0">
                <a:solidFill>
                  <a:srgbClr val="6E6E74"/>
                </a:solidFill>
                <a:latin typeface="Arial MT"/>
                <a:cs typeface="Arial MT"/>
              </a:rPr>
              <a:t>	</a:t>
            </a:r>
            <a:r>
              <a:rPr sz="2800" spc="125" dirty="0">
                <a:solidFill>
                  <a:srgbClr val="252525"/>
                </a:solidFill>
                <a:latin typeface="Cambria"/>
                <a:cs typeface="Cambria"/>
              </a:rPr>
              <a:t>Internal</a:t>
            </a:r>
            <a:r>
              <a:rPr sz="2800" spc="19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800" spc="75" dirty="0">
                <a:solidFill>
                  <a:srgbClr val="252525"/>
                </a:solidFill>
                <a:latin typeface="Cambria"/>
                <a:cs typeface="Cambria"/>
              </a:rPr>
              <a:t>Sources</a:t>
            </a:r>
            <a:endParaRPr sz="2800" dirty="0">
              <a:latin typeface="Cambria"/>
              <a:cs typeface="Cambria"/>
            </a:endParaRPr>
          </a:p>
          <a:p>
            <a:pPr marL="469900">
              <a:lnSpc>
                <a:spcPct val="100000"/>
              </a:lnSpc>
              <a:spcBef>
                <a:spcPts val="260"/>
              </a:spcBef>
              <a:tabLst>
                <a:tab pos="927100" algn="l"/>
              </a:tabLst>
            </a:pPr>
            <a:r>
              <a:rPr sz="2800" spc="-1145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2800" dirty="0">
                <a:solidFill>
                  <a:srgbClr val="6E6E74"/>
                </a:solidFill>
                <a:latin typeface="Arial MT"/>
                <a:cs typeface="Arial MT"/>
              </a:rPr>
              <a:t>	</a:t>
            </a:r>
            <a:r>
              <a:rPr sz="2800" spc="150" dirty="0">
                <a:solidFill>
                  <a:srgbClr val="252525"/>
                </a:solidFill>
                <a:latin typeface="Cambria"/>
                <a:cs typeface="Cambria"/>
              </a:rPr>
              <a:t>External</a:t>
            </a:r>
            <a:r>
              <a:rPr sz="2800" spc="19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800" spc="70" dirty="0">
                <a:solidFill>
                  <a:srgbClr val="252525"/>
                </a:solidFill>
                <a:latin typeface="Cambria"/>
                <a:cs typeface="Cambria"/>
              </a:rPr>
              <a:t>Sources</a:t>
            </a:r>
            <a:endParaRPr sz="2800" dirty="0">
              <a:latin typeface="Cambria"/>
              <a:cs typeface="Cambria"/>
            </a:endParaRPr>
          </a:p>
          <a:p>
            <a:pPr marL="469265" marR="5080" indent="-456565">
              <a:lnSpc>
                <a:spcPts val="3650"/>
              </a:lnSpc>
              <a:spcBef>
                <a:spcPts val="1789"/>
              </a:spcBef>
              <a:buClr>
                <a:srgbClr val="6E6E74"/>
              </a:buClr>
              <a:buSzPct val="79687"/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3200" spc="135" dirty="0">
                <a:latin typeface="Cambria"/>
                <a:cs typeface="Cambria"/>
              </a:rPr>
              <a:t>Do</a:t>
            </a:r>
            <a:r>
              <a:rPr sz="3200" spc="215" dirty="0">
                <a:latin typeface="Cambria"/>
                <a:cs typeface="Cambria"/>
              </a:rPr>
              <a:t> </a:t>
            </a:r>
            <a:r>
              <a:rPr sz="3200" spc="160" dirty="0">
                <a:latin typeface="Cambria"/>
                <a:cs typeface="Cambria"/>
              </a:rPr>
              <a:t>data</a:t>
            </a:r>
            <a:r>
              <a:rPr sz="3200" spc="215" dirty="0">
                <a:latin typeface="Cambria"/>
                <a:cs typeface="Cambria"/>
              </a:rPr>
              <a:t> </a:t>
            </a:r>
            <a:r>
              <a:rPr sz="3200" spc="135" dirty="0">
                <a:latin typeface="Cambria"/>
                <a:cs typeface="Cambria"/>
              </a:rPr>
              <a:t>quality</a:t>
            </a:r>
            <a:r>
              <a:rPr sz="3200" spc="220" dirty="0">
                <a:latin typeface="Cambria"/>
                <a:cs typeface="Cambria"/>
              </a:rPr>
              <a:t> </a:t>
            </a:r>
            <a:r>
              <a:rPr sz="3200" spc="95" dirty="0">
                <a:latin typeface="Cambria"/>
                <a:cs typeface="Cambria"/>
              </a:rPr>
              <a:t>checks</a:t>
            </a:r>
            <a:r>
              <a:rPr sz="3200" spc="200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now</a:t>
            </a:r>
            <a:r>
              <a:rPr sz="3200" spc="215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to</a:t>
            </a:r>
            <a:r>
              <a:rPr sz="3200" spc="235" dirty="0">
                <a:latin typeface="Cambria"/>
                <a:cs typeface="Cambria"/>
              </a:rPr>
              <a:t> </a:t>
            </a:r>
            <a:r>
              <a:rPr sz="3200" spc="85" dirty="0">
                <a:latin typeface="Cambria"/>
                <a:cs typeface="Cambria"/>
              </a:rPr>
              <a:t>prevent </a:t>
            </a:r>
            <a:r>
              <a:rPr sz="3200" spc="70" dirty="0">
                <a:latin typeface="Cambria"/>
                <a:cs typeface="Cambria"/>
              </a:rPr>
              <a:t>problems</a:t>
            </a:r>
            <a:r>
              <a:rPr sz="3200" spc="195" dirty="0">
                <a:latin typeface="Cambria"/>
                <a:cs typeface="Cambria"/>
              </a:rPr>
              <a:t> </a:t>
            </a:r>
            <a:r>
              <a:rPr sz="3200" spc="120" dirty="0">
                <a:latin typeface="Cambria"/>
                <a:cs typeface="Cambria"/>
              </a:rPr>
              <a:t>later</a:t>
            </a:r>
            <a:endParaRPr sz="3200" dirty="0">
              <a:latin typeface="Cambria"/>
              <a:cs typeface="Cambria"/>
            </a:endParaRPr>
          </a:p>
        </p:txBody>
      </p:sp>
      <p:sp>
        <p:nvSpPr>
          <p:cNvPr id="5" name="object 3"/>
          <p:cNvSpPr/>
          <p:nvPr/>
        </p:nvSpPr>
        <p:spPr>
          <a:xfrm>
            <a:off x="-25400" y="6096000"/>
            <a:ext cx="9156700" cy="762000"/>
          </a:xfrm>
          <a:custGeom>
            <a:avLst/>
            <a:gdLst/>
            <a:ahLst/>
            <a:cxnLst/>
            <a:rect l="l" t="t" r="r" b="b"/>
            <a:pathLst>
              <a:path w="8801100" h="6858000">
                <a:moveTo>
                  <a:pt x="0" y="6858000"/>
                </a:moveTo>
                <a:lnTo>
                  <a:pt x="8801100" y="6858000"/>
                </a:lnTo>
                <a:lnTo>
                  <a:pt x="88011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030" y="6281095"/>
            <a:ext cx="2177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bg2"/>
                </a:solidFill>
              </a:rPr>
              <a:t>Data Science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Lifecycle</a:t>
            </a:r>
            <a:endParaRPr lang="en-US" sz="1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80100" y="6314718"/>
            <a:ext cx="3263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 smtClean="0">
                <a:solidFill>
                  <a:schemeClr val="bg2"/>
                </a:solidFill>
              </a:rPr>
              <a:t>Software Engineering Department</a:t>
            </a:r>
          </a:p>
          <a:p>
            <a:pPr algn="r"/>
            <a:r>
              <a:rPr lang="en-US" sz="900" dirty="0" smtClean="0">
                <a:solidFill>
                  <a:schemeClr val="bg2"/>
                </a:solidFill>
              </a:rPr>
              <a:t>QUEST NAWABSHAH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803948" y="6345523"/>
            <a:ext cx="2728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Mr. Zohaib </a:t>
            </a:r>
            <a:r>
              <a:rPr lang="en-US" sz="9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Ahmed </a:t>
            </a:r>
            <a:r>
              <a:rPr lang="en-US" sz="900" dirty="0" smtClean="0">
                <a:solidFill>
                  <a:schemeClr val="bg2"/>
                </a:solidFill>
              </a:rPr>
              <a:t>(</a:t>
            </a:r>
            <a:r>
              <a:rPr lang="en-US" sz="900" dirty="0" err="1" smtClean="0">
                <a:solidFill>
                  <a:schemeClr val="bg2"/>
                </a:solidFill>
              </a:rPr>
              <a:t>Kaggle</a:t>
            </a:r>
            <a:r>
              <a:rPr lang="en-US" sz="900" dirty="0" smtClean="0">
                <a:solidFill>
                  <a:schemeClr val="bg2"/>
                </a:solidFill>
              </a:rPr>
              <a:t> </a:t>
            </a:r>
            <a:r>
              <a:rPr lang="en-US" sz="900" dirty="0">
                <a:solidFill>
                  <a:schemeClr val="bg2"/>
                </a:solidFill>
              </a:rPr>
              <a:t>Master)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3022599" y="6496054"/>
            <a:ext cx="30607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 smtClean="0">
                <a:solidFill>
                  <a:schemeClr val="bg2"/>
                </a:solidFill>
              </a:rPr>
              <a:t>MS(Data Science)</a:t>
            </a:r>
            <a:endParaRPr lang="en-US" sz="9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2905" y="89434"/>
            <a:ext cx="6396228" cy="639765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50495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10" dirty="0"/>
              <a:t>7</a:t>
            </a:fld>
            <a:endParaRPr spc="10" dirty="0"/>
          </a:p>
        </p:txBody>
      </p:sp>
      <p:sp>
        <p:nvSpPr>
          <p:cNvPr id="4" name="object 3"/>
          <p:cNvSpPr/>
          <p:nvPr/>
        </p:nvSpPr>
        <p:spPr>
          <a:xfrm>
            <a:off x="-25400" y="6096000"/>
            <a:ext cx="9156700" cy="762000"/>
          </a:xfrm>
          <a:custGeom>
            <a:avLst/>
            <a:gdLst/>
            <a:ahLst/>
            <a:cxnLst/>
            <a:rect l="l" t="t" r="r" b="b"/>
            <a:pathLst>
              <a:path w="8801100" h="6858000">
                <a:moveTo>
                  <a:pt x="0" y="6858000"/>
                </a:moveTo>
                <a:lnTo>
                  <a:pt x="8801100" y="6858000"/>
                </a:lnTo>
                <a:lnTo>
                  <a:pt x="88011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8030" y="6281095"/>
            <a:ext cx="2177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bg2"/>
                </a:solidFill>
              </a:rPr>
              <a:t>Data Science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Lifecycle</a:t>
            </a:r>
            <a:endParaRPr lang="en-US" sz="1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80100" y="6314718"/>
            <a:ext cx="3263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 smtClean="0">
                <a:solidFill>
                  <a:schemeClr val="bg2"/>
                </a:solidFill>
              </a:rPr>
              <a:t>Software Engineering Department</a:t>
            </a:r>
          </a:p>
          <a:p>
            <a:pPr algn="r"/>
            <a:r>
              <a:rPr lang="en-US" sz="900" dirty="0" smtClean="0">
                <a:solidFill>
                  <a:schemeClr val="bg2"/>
                </a:solidFill>
              </a:rPr>
              <a:t>QUEST NAWABSHAH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803948" y="6345523"/>
            <a:ext cx="2728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Mr. Zohaib </a:t>
            </a:r>
            <a:r>
              <a:rPr lang="en-US" sz="9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Ahmed </a:t>
            </a:r>
            <a:r>
              <a:rPr lang="en-US" sz="900" dirty="0" smtClean="0">
                <a:solidFill>
                  <a:schemeClr val="bg2"/>
                </a:solidFill>
              </a:rPr>
              <a:t>(</a:t>
            </a:r>
            <a:r>
              <a:rPr lang="en-US" sz="900" dirty="0" err="1" smtClean="0">
                <a:solidFill>
                  <a:schemeClr val="bg2"/>
                </a:solidFill>
              </a:rPr>
              <a:t>Kaggle</a:t>
            </a:r>
            <a:r>
              <a:rPr lang="en-US" sz="900" dirty="0" smtClean="0">
                <a:solidFill>
                  <a:schemeClr val="bg2"/>
                </a:solidFill>
              </a:rPr>
              <a:t> </a:t>
            </a:r>
            <a:r>
              <a:rPr lang="en-US" sz="900" dirty="0">
                <a:solidFill>
                  <a:schemeClr val="bg2"/>
                </a:solidFill>
              </a:rPr>
              <a:t>Master)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3022599" y="6496054"/>
            <a:ext cx="30607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 smtClean="0">
                <a:solidFill>
                  <a:schemeClr val="bg2"/>
                </a:solidFill>
              </a:rPr>
              <a:t>MS(Data Science)</a:t>
            </a:r>
            <a:endParaRPr lang="en-US" sz="9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250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2. Data investigation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000" y="1295400"/>
            <a:ext cx="7706995" cy="46583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105"/>
              </a:spcBef>
              <a:buClr>
                <a:srgbClr val="6E6E74"/>
              </a:buClr>
              <a:buSzPct val="79687"/>
              <a:buAutoNum type="arabicPeriod"/>
              <a:tabLst>
                <a:tab pos="527685" algn="l"/>
                <a:tab pos="528320" algn="l"/>
              </a:tabLst>
            </a:pPr>
            <a:r>
              <a:rPr sz="2800" spc="105" dirty="0">
                <a:latin typeface="Cambria"/>
                <a:cs typeface="Cambria"/>
              </a:rPr>
              <a:t>Nominal/Categorical</a:t>
            </a:r>
            <a:r>
              <a:rPr sz="2800" spc="225" dirty="0">
                <a:latin typeface="Cambria"/>
                <a:cs typeface="Cambria"/>
              </a:rPr>
              <a:t> </a:t>
            </a:r>
            <a:r>
              <a:rPr sz="2800" spc="145" dirty="0">
                <a:latin typeface="Cambria"/>
                <a:cs typeface="Cambria"/>
              </a:rPr>
              <a:t>data</a:t>
            </a:r>
            <a:endParaRPr sz="2800" dirty="0">
              <a:latin typeface="Cambria"/>
              <a:cs typeface="Cambria"/>
            </a:endParaRPr>
          </a:p>
          <a:p>
            <a:pPr marL="984885" marR="106680" lvl="1" indent="-515620">
              <a:lnSpc>
                <a:spcPts val="3020"/>
              </a:lnSpc>
              <a:spcBef>
                <a:spcPts val="540"/>
              </a:spcBef>
              <a:buClr>
                <a:srgbClr val="6E6E74"/>
              </a:buClr>
              <a:buAutoNum type="arabicPeriod"/>
              <a:tabLst>
                <a:tab pos="984885" algn="l"/>
                <a:tab pos="985519" algn="l"/>
              </a:tabLst>
            </a:pPr>
            <a:r>
              <a:rPr sz="2400" spc="140" dirty="0">
                <a:solidFill>
                  <a:srgbClr val="252525"/>
                </a:solidFill>
                <a:latin typeface="Cambria"/>
                <a:cs typeface="Cambria"/>
              </a:rPr>
              <a:t>Binary</a:t>
            </a:r>
            <a:r>
              <a:rPr sz="2400" spc="19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252525"/>
                </a:solidFill>
                <a:latin typeface="Cambria"/>
                <a:cs typeface="Cambria"/>
              </a:rPr>
              <a:t>categorical</a:t>
            </a:r>
            <a:r>
              <a:rPr sz="2400" spc="19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ambria"/>
                <a:cs typeface="Cambria"/>
              </a:rPr>
              <a:t>variable/dichotomous </a:t>
            </a:r>
            <a:r>
              <a:rPr sz="2400" spc="80" dirty="0">
                <a:solidFill>
                  <a:srgbClr val="252525"/>
                </a:solidFill>
                <a:latin typeface="Cambria"/>
                <a:cs typeface="Cambria"/>
              </a:rPr>
              <a:t>variable</a:t>
            </a:r>
            <a:endParaRPr sz="2400" dirty="0">
              <a:latin typeface="Cambria"/>
              <a:cs typeface="Cambria"/>
            </a:endParaRPr>
          </a:p>
          <a:p>
            <a:pPr marL="744220" marR="5080">
              <a:lnSpc>
                <a:spcPts val="2590"/>
              </a:lnSpc>
              <a:spcBef>
                <a:spcPts val="620"/>
              </a:spcBef>
            </a:pPr>
            <a:r>
              <a:rPr sz="2000" dirty="0">
                <a:solidFill>
                  <a:srgbClr val="252525"/>
                </a:solidFill>
                <a:latin typeface="Cambria"/>
                <a:cs typeface="Cambria"/>
              </a:rPr>
              <a:t>Smoker/Non</a:t>
            </a:r>
            <a:r>
              <a:rPr sz="2000" spc="20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252525"/>
                </a:solidFill>
                <a:latin typeface="Cambria"/>
                <a:cs typeface="Cambria"/>
              </a:rPr>
              <a:t>Smoker,</a:t>
            </a:r>
            <a:r>
              <a:rPr sz="2000" spc="22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252525"/>
                </a:solidFill>
                <a:latin typeface="Cambria"/>
                <a:cs typeface="Cambria"/>
              </a:rPr>
              <a:t>Own</a:t>
            </a:r>
            <a:r>
              <a:rPr sz="2000" spc="21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000" spc="150" dirty="0">
                <a:solidFill>
                  <a:srgbClr val="252525"/>
                </a:solidFill>
                <a:latin typeface="Cambria"/>
                <a:cs typeface="Cambria"/>
              </a:rPr>
              <a:t>a</a:t>
            </a:r>
            <a:r>
              <a:rPr sz="2000" spc="22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000" spc="60" dirty="0">
                <a:solidFill>
                  <a:srgbClr val="252525"/>
                </a:solidFill>
                <a:latin typeface="Cambria"/>
                <a:cs typeface="Cambria"/>
              </a:rPr>
              <a:t>house</a:t>
            </a:r>
            <a:r>
              <a:rPr sz="2000" spc="229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252525"/>
                </a:solidFill>
                <a:latin typeface="Cambria"/>
                <a:cs typeface="Cambria"/>
              </a:rPr>
              <a:t>(Yes/No),</a:t>
            </a:r>
            <a:r>
              <a:rPr sz="2000" spc="20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000" spc="245" dirty="0">
                <a:solidFill>
                  <a:srgbClr val="252525"/>
                </a:solidFill>
                <a:latin typeface="Cambria"/>
                <a:cs typeface="Cambria"/>
              </a:rPr>
              <a:t>HIV </a:t>
            </a:r>
            <a:r>
              <a:rPr sz="2000" spc="55" dirty="0">
                <a:solidFill>
                  <a:srgbClr val="252525"/>
                </a:solidFill>
                <a:latin typeface="Cambria"/>
                <a:cs typeface="Cambria"/>
              </a:rPr>
              <a:t>positive/HIV</a:t>
            </a:r>
            <a:r>
              <a:rPr sz="2000" spc="15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252525"/>
                </a:solidFill>
                <a:latin typeface="Cambria"/>
                <a:cs typeface="Cambria"/>
              </a:rPr>
              <a:t>negative.</a:t>
            </a:r>
            <a:endParaRPr sz="2000" dirty="0">
              <a:latin typeface="Cambria"/>
              <a:cs typeface="Cambria"/>
            </a:endParaRPr>
          </a:p>
          <a:p>
            <a:pPr marL="984885" lvl="1" indent="-515620">
              <a:lnSpc>
                <a:spcPct val="100000"/>
              </a:lnSpc>
              <a:spcBef>
                <a:spcPts val="210"/>
              </a:spcBef>
              <a:buClr>
                <a:srgbClr val="6E6E74"/>
              </a:buClr>
              <a:buAutoNum type="arabicPeriod" startAt="2"/>
              <a:tabLst>
                <a:tab pos="984885" algn="l"/>
                <a:tab pos="985519" algn="l"/>
              </a:tabLst>
            </a:pPr>
            <a:r>
              <a:rPr sz="2400" spc="70" dirty="0">
                <a:solidFill>
                  <a:srgbClr val="252525"/>
                </a:solidFill>
                <a:latin typeface="Cambria"/>
                <a:cs typeface="Cambria"/>
              </a:rPr>
              <a:t>Polytomous</a:t>
            </a:r>
            <a:r>
              <a:rPr sz="2400" spc="18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252525"/>
                </a:solidFill>
                <a:latin typeface="Cambria"/>
                <a:cs typeface="Cambria"/>
              </a:rPr>
              <a:t>variables</a:t>
            </a:r>
            <a:endParaRPr sz="2400" dirty="0">
              <a:latin typeface="Cambria"/>
              <a:cs typeface="Cambria"/>
            </a:endParaRPr>
          </a:p>
          <a:p>
            <a:pPr marL="744220">
              <a:lnSpc>
                <a:spcPts val="2735"/>
              </a:lnSpc>
              <a:spcBef>
                <a:spcPts val="330"/>
              </a:spcBef>
            </a:pPr>
            <a:r>
              <a:rPr sz="2000" spc="155" dirty="0">
                <a:solidFill>
                  <a:srgbClr val="252525"/>
                </a:solidFill>
                <a:latin typeface="Cambria"/>
                <a:cs typeface="Cambria"/>
              </a:rPr>
              <a:t>Name,</a:t>
            </a:r>
            <a:r>
              <a:rPr sz="2000" spc="13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252525"/>
                </a:solidFill>
                <a:latin typeface="Cambria"/>
                <a:cs typeface="Cambria"/>
              </a:rPr>
              <a:t>Favourite</a:t>
            </a:r>
            <a:r>
              <a:rPr sz="2000" spc="16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000" spc="175" dirty="0">
                <a:solidFill>
                  <a:srgbClr val="252525"/>
                </a:solidFill>
                <a:latin typeface="Cambria"/>
                <a:cs typeface="Cambria"/>
              </a:rPr>
              <a:t>Game,</a:t>
            </a:r>
            <a:r>
              <a:rPr sz="2000" spc="13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252525"/>
                </a:solidFill>
                <a:latin typeface="Cambria"/>
                <a:cs typeface="Cambria"/>
              </a:rPr>
              <a:t>Favourite</a:t>
            </a:r>
            <a:r>
              <a:rPr sz="2000" spc="14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000" spc="60" dirty="0">
                <a:solidFill>
                  <a:srgbClr val="252525"/>
                </a:solidFill>
                <a:latin typeface="Cambria"/>
                <a:cs typeface="Cambria"/>
              </a:rPr>
              <a:t>Drama/Movie,</a:t>
            </a:r>
            <a:endParaRPr sz="2000" dirty="0">
              <a:latin typeface="Cambria"/>
              <a:cs typeface="Cambria"/>
            </a:endParaRPr>
          </a:p>
          <a:p>
            <a:pPr marL="744220">
              <a:lnSpc>
                <a:spcPts val="2735"/>
              </a:lnSpc>
            </a:pPr>
            <a:r>
              <a:rPr sz="2000" spc="165" dirty="0">
                <a:solidFill>
                  <a:srgbClr val="252525"/>
                </a:solidFill>
                <a:latin typeface="Cambria"/>
                <a:cs typeface="Cambria"/>
              </a:rPr>
              <a:t>Hair</a:t>
            </a:r>
            <a:r>
              <a:rPr sz="2000" spc="17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252525"/>
                </a:solidFill>
                <a:latin typeface="Cambria"/>
                <a:cs typeface="Cambria"/>
              </a:rPr>
              <a:t>Colour,</a:t>
            </a:r>
            <a:r>
              <a:rPr sz="2000" spc="18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252525"/>
                </a:solidFill>
                <a:latin typeface="Cambria"/>
                <a:cs typeface="Cambria"/>
              </a:rPr>
              <a:t>Blood</a:t>
            </a:r>
            <a:r>
              <a:rPr sz="2000" spc="18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252525"/>
                </a:solidFill>
                <a:latin typeface="Cambria"/>
                <a:cs typeface="Cambria"/>
              </a:rPr>
              <a:t>Type,</a:t>
            </a:r>
            <a:r>
              <a:rPr sz="2000" spc="17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252525"/>
                </a:solidFill>
                <a:latin typeface="Cambria"/>
                <a:cs typeface="Cambria"/>
              </a:rPr>
              <a:t>Marital</a:t>
            </a:r>
            <a:r>
              <a:rPr sz="2000" spc="17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000" spc="145" dirty="0">
                <a:solidFill>
                  <a:srgbClr val="252525"/>
                </a:solidFill>
                <a:latin typeface="Cambria"/>
                <a:cs typeface="Cambria"/>
              </a:rPr>
              <a:t>Status.</a:t>
            </a:r>
            <a:endParaRPr sz="2000" dirty="0">
              <a:latin typeface="Cambria"/>
              <a:cs typeface="Cambria"/>
            </a:endParaRPr>
          </a:p>
          <a:p>
            <a:pPr marL="984885" lvl="1" indent="-515620">
              <a:lnSpc>
                <a:spcPct val="100000"/>
              </a:lnSpc>
              <a:spcBef>
                <a:spcPts val="250"/>
              </a:spcBef>
              <a:buClr>
                <a:srgbClr val="6E6E74"/>
              </a:buClr>
              <a:buAutoNum type="arabicPeriod" startAt="3"/>
              <a:tabLst>
                <a:tab pos="984885" algn="l"/>
                <a:tab pos="985519" algn="l"/>
              </a:tabLst>
            </a:pPr>
            <a:r>
              <a:rPr sz="2400" spc="140" dirty="0">
                <a:solidFill>
                  <a:srgbClr val="252525"/>
                </a:solidFill>
                <a:latin typeface="Cambria"/>
                <a:cs typeface="Cambria"/>
              </a:rPr>
              <a:t>Ordinal</a:t>
            </a:r>
            <a:r>
              <a:rPr sz="2400" spc="20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185" dirty="0">
                <a:solidFill>
                  <a:srgbClr val="252525"/>
                </a:solidFill>
                <a:latin typeface="Cambria"/>
                <a:cs typeface="Cambria"/>
              </a:rPr>
              <a:t>Data</a:t>
            </a:r>
            <a:endParaRPr sz="2400" dirty="0">
              <a:latin typeface="Cambria"/>
              <a:cs typeface="Cambria"/>
            </a:endParaRPr>
          </a:p>
          <a:p>
            <a:pPr marL="744220" marR="583565">
              <a:lnSpc>
                <a:spcPts val="2590"/>
              </a:lnSpc>
              <a:spcBef>
                <a:spcPts val="655"/>
              </a:spcBef>
            </a:pPr>
            <a:r>
              <a:rPr sz="2000" spc="65" dirty="0">
                <a:solidFill>
                  <a:srgbClr val="252525"/>
                </a:solidFill>
                <a:latin typeface="Cambria"/>
                <a:cs typeface="Cambria"/>
              </a:rPr>
              <a:t>Professional</a:t>
            </a:r>
            <a:r>
              <a:rPr sz="2000" spc="14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252525"/>
                </a:solidFill>
                <a:latin typeface="Cambria"/>
                <a:cs typeface="Cambria"/>
              </a:rPr>
              <a:t>Grading,</a:t>
            </a:r>
            <a:r>
              <a:rPr sz="2000" spc="12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252525"/>
                </a:solidFill>
                <a:latin typeface="Cambria"/>
                <a:cs typeface="Cambria"/>
              </a:rPr>
              <a:t>Movie</a:t>
            </a:r>
            <a:r>
              <a:rPr sz="2000" spc="14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252525"/>
                </a:solidFill>
                <a:latin typeface="Cambria"/>
                <a:cs typeface="Cambria"/>
              </a:rPr>
              <a:t>Ratings,</a:t>
            </a:r>
            <a:r>
              <a:rPr sz="2000" spc="16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252525"/>
                </a:solidFill>
                <a:latin typeface="Cambria"/>
                <a:cs typeface="Cambria"/>
              </a:rPr>
              <a:t>T-</a:t>
            </a:r>
            <a:r>
              <a:rPr sz="2000" spc="125" dirty="0">
                <a:solidFill>
                  <a:srgbClr val="252525"/>
                </a:solidFill>
                <a:latin typeface="Cambria"/>
                <a:cs typeface="Cambria"/>
              </a:rPr>
              <a:t>Shirt </a:t>
            </a:r>
            <a:r>
              <a:rPr sz="2000" spc="120" dirty="0">
                <a:solidFill>
                  <a:srgbClr val="252525"/>
                </a:solidFill>
                <a:latin typeface="Cambria"/>
                <a:cs typeface="Cambria"/>
              </a:rPr>
              <a:t>Sizes,</a:t>
            </a:r>
            <a:r>
              <a:rPr sz="2000" spc="114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252525"/>
                </a:solidFill>
                <a:latin typeface="Cambria"/>
                <a:cs typeface="Cambria"/>
              </a:rPr>
              <a:t>School</a:t>
            </a:r>
            <a:r>
              <a:rPr sz="2000" spc="14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252525"/>
                </a:solidFill>
                <a:latin typeface="Cambria"/>
                <a:cs typeface="Cambria"/>
              </a:rPr>
              <a:t>Grades</a:t>
            </a:r>
            <a:endParaRPr sz="2000" dirty="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  <a:spcBef>
                <a:spcPts val="265"/>
              </a:spcBef>
            </a:pPr>
            <a:r>
              <a:rPr sz="2000" b="1" spc="130" dirty="0">
                <a:solidFill>
                  <a:srgbClr val="FF0000"/>
                </a:solidFill>
                <a:latin typeface="Cambria"/>
                <a:cs typeface="Cambria"/>
              </a:rPr>
              <a:t>What</a:t>
            </a:r>
            <a:r>
              <a:rPr sz="2000" b="1" spc="1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105" dirty="0">
                <a:solidFill>
                  <a:srgbClr val="FF0000"/>
                </a:solidFill>
                <a:latin typeface="Cambria"/>
                <a:cs typeface="Cambria"/>
              </a:rPr>
              <a:t>is</a:t>
            </a:r>
            <a:r>
              <a:rPr sz="2000" b="1" spc="1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150" dirty="0">
                <a:solidFill>
                  <a:srgbClr val="FF0000"/>
                </a:solidFill>
                <a:latin typeface="Cambria"/>
                <a:cs typeface="Cambria"/>
              </a:rPr>
              <a:t>One-</a:t>
            </a:r>
            <a:r>
              <a:rPr sz="2000" b="1" spc="140" dirty="0">
                <a:solidFill>
                  <a:srgbClr val="FF0000"/>
                </a:solidFill>
                <a:latin typeface="Cambria"/>
                <a:cs typeface="Cambria"/>
              </a:rPr>
              <a:t>hot</a:t>
            </a:r>
            <a:r>
              <a:rPr sz="2000" b="1" spc="1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130" dirty="0">
                <a:solidFill>
                  <a:srgbClr val="FF0000"/>
                </a:solidFill>
                <a:latin typeface="Cambria"/>
                <a:cs typeface="Cambria"/>
              </a:rPr>
              <a:t>encoding?</a:t>
            </a:r>
            <a:endParaRPr sz="2000" dirty="0">
              <a:solidFill>
                <a:srgbClr val="FF0000"/>
              </a:solidFill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60130" y="6207353"/>
            <a:ext cx="2520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10" dirty="0">
                <a:solidFill>
                  <a:srgbClr val="8E8E93"/>
                </a:solidFill>
                <a:latin typeface="Cambria"/>
                <a:cs typeface="Cambria"/>
              </a:rPr>
              <a:t>8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5" name="object 3"/>
          <p:cNvSpPr/>
          <p:nvPr/>
        </p:nvSpPr>
        <p:spPr>
          <a:xfrm>
            <a:off x="-25400" y="6096000"/>
            <a:ext cx="9156700" cy="762000"/>
          </a:xfrm>
          <a:custGeom>
            <a:avLst/>
            <a:gdLst/>
            <a:ahLst/>
            <a:cxnLst/>
            <a:rect l="l" t="t" r="r" b="b"/>
            <a:pathLst>
              <a:path w="8801100" h="6858000">
                <a:moveTo>
                  <a:pt x="0" y="6858000"/>
                </a:moveTo>
                <a:lnTo>
                  <a:pt x="8801100" y="6858000"/>
                </a:lnTo>
                <a:lnTo>
                  <a:pt x="88011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030" y="6281095"/>
            <a:ext cx="2177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bg2"/>
                </a:solidFill>
              </a:rPr>
              <a:t>Data Science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Lifecycle</a:t>
            </a:r>
            <a:endParaRPr lang="en-US" sz="1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80100" y="6314718"/>
            <a:ext cx="3263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 smtClean="0">
                <a:solidFill>
                  <a:schemeClr val="bg2"/>
                </a:solidFill>
              </a:rPr>
              <a:t>Software Engineering Department</a:t>
            </a:r>
          </a:p>
          <a:p>
            <a:pPr algn="r"/>
            <a:r>
              <a:rPr lang="en-US" sz="900" dirty="0" smtClean="0">
                <a:solidFill>
                  <a:schemeClr val="bg2"/>
                </a:solidFill>
              </a:rPr>
              <a:t>QUEST NAWABSHAH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803948" y="6345523"/>
            <a:ext cx="2728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Mr. Zohaib </a:t>
            </a:r>
            <a:r>
              <a:rPr lang="en-US" sz="9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Ahmed </a:t>
            </a:r>
            <a:r>
              <a:rPr lang="en-US" sz="900" dirty="0" smtClean="0">
                <a:solidFill>
                  <a:schemeClr val="bg2"/>
                </a:solidFill>
              </a:rPr>
              <a:t>(</a:t>
            </a:r>
            <a:r>
              <a:rPr lang="en-US" sz="900" dirty="0" err="1" smtClean="0">
                <a:solidFill>
                  <a:schemeClr val="bg2"/>
                </a:solidFill>
              </a:rPr>
              <a:t>Kaggle</a:t>
            </a:r>
            <a:r>
              <a:rPr lang="en-US" sz="900" dirty="0" smtClean="0">
                <a:solidFill>
                  <a:schemeClr val="bg2"/>
                </a:solidFill>
              </a:rPr>
              <a:t> </a:t>
            </a:r>
            <a:r>
              <a:rPr lang="en-US" sz="900" dirty="0">
                <a:solidFill>
                  <a:schemeClr val="bg2"/>
                </a:solidFill>
              </a:rPr>
              <a:t>Master)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3022599" y="6496054"/>
            <a:ext cx="30607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 smtClean="0">
                <a:solidFill>
                  <a:schemeClr val="bg2"/>
                </a:solidFill>
              </a:rPr>
              <a:t>MS(Data Science)</a:t>
            </a:r>
            <a:endParaRPr lang="en-US" sz="9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250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2. Data investigation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28650" y="1680829"/>
            <a:ext cx="7886700" cy="4083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105"/>
              </a:spcBef>
              <a:buClr>
                <a:srgbClr val="6E6E74"/>
              </a:buClr>
              <a:buSzPct val="79687"/>
              <a:buAutoNum type="arabicPeriod"/>
              <a:tabLst>
                <a:tab pos="527685" algn="l"/>
                <a:tab pos="528320" algn="l"/>
              </a:tabLst>
            </a:pPr>
            <a:r>
              <a:rPr sz="2800" b="0" spc="155" dirty="0">
                <a:latin typeface="Cambria"/>
                <a:cs typeface="Cambria"/>
              </a:rPr>
              <a:t>Numerical</a:t>
            </a:r>
            <a:r>
              <a:rPr sz="2800" b="0" spc="225" dirty="0">
                <a:latin typeface="Cambria"/>
                <a:cs typeface="Cambria"/>
              </a:rPr>
              <a:t> </a:t>
            </a:r>
            <a:r>
              <a:rPr sz="2800" b="0" spc="145" dirty="0">
                <a:latin typeface="Cambria"/>
                <a:cs typeface="Cambria"/>
              </a:rPr>
              <a:t>data</a:t>
            </a:r>
          </a:p>
          <a:p>
            <a:pPr marL="469265" lvl="1" indent="0">
              <a:lnSpc>
                <a:spcPct val="100000"/>
              </a:lnSpc>
              <a:spcBef>
                <a:spcPts val="160"/>
              </a:spcBef>
              <a:buClr>
                <a:srgbClr val="6E6E74"/>
              </a:buClr>
              <a:buNone/>
              <a:tabLst>
                <a:tab pos="984885" algn="l"/>
                <a:tab pos="985519" algn="l"/>
              </a:tabLst>
            </a:pPr>
            <a:r>
              <a:rPr sz="3200" spc="90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Discrete</a:t>
            </a:r>
            <a:r>
              <a:rPr sz="3200" spc="175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 </a:t>
            </a:r>
            <a:r>
              <a:rPr sz="3200" spc="114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data</a:t>
            </a:r>
            <a:endParaRPr sz="3200" dirty="0">
              <a:solidFill>
                <a:schemeClr val="accent1">
                  <a:lumMod val="75000"/>
                </a:schemeClr>
              </a:solidFill>
              <a:latin typeface="Cambria"/>
              <a:cs typeface="Cambria"/>
            </a:endParaRPr>
          </a:p>
          <a:p>
            <a:pPr marL="1029970" marR="5080" indent="-457200">
              <a:lnSpc>
                <a:spcPts val="2590"/>
              </a:lnSpc>
              <a:spcBef>
                <a:spcPts val="655"/>
              </a:spcBef>
            </a:pPr>
            <a:r>
              <a:rPr sz="2800" b="0" spc="95" dirty="0">
                <a:solidFill>
                  <a:srgbClr val="252525"/>
                </a:solidFill>
                <a:latin typeface="Cambria"/>
                <a:cs typeface="Cambria"/>
              </a:rPr>
              <a:t>Shoe</a:t>
            </a:r>
            <a:r>
              <a:rPr sz="2800" b="0" spc="13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800" b="0" spc="80" dirty="0">
                <a:solidFill>
                  <a:srgbClr val="252525"/>
                </a:solidFill>
                <a:latin typeface="Cambria"/>
                <a:cs typeface="Cambria"/>
              </a:rPr>
              <a:t>size,</a:t>
            </a:r>
            <a:r>
              <a:rPr sz="2800" b="0" spc="13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800" b="0" spc="114" dirty="0">
                <a:solidFill>
                  <a:srgbClr val="252525"/>
                </a:solidFill>
                <a:latin typeface="Cambria"/>
                <a:cs typeface="Cambria"/>
              </a:rPr>
              <a:t>Number</a:t>
            </a:r>
            <a:r>
              <a:rPr sz="2800" b="0" spc="13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800" b="0" dirty="0">
                <a:solidFill>
                  <a:srgbClr val="252525"/>
                </a:solidFill>
                <a:latin typeface="Cambria"/>
                <a:cs typeface="Cambria"/>
              </a:rPr>
              <a:t>of</a:t>
            </a:r>
            <a:r>
              <a:rPr sz="2800" b="0" spc="14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800" b="0" spc="105" dirty="0">
                <a:solidFill>
                  <a:srgbClr val="252525"/>
                </a:solidFill>
                <a:latin typeface="Cambria"/>
                <a:cs typeface="Cambria"/>
              </a:rPr>
              <a:t>family</a:t>
            </a:r>
            <a:r>
              <a:rPr sz="2800" b="0" spc="13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800" b="0" spc="70" dirty="0">
                <a:solidFill>
                  <a:srgbClr val="252525"/>
                </a:solidFill>
                <a:latin typeface="Cambria"/>
                <a:cs typeface="Cambria"/>
              </a:rPr>
              <a:t>members.</a:t>
            </a:r>
            <a:r>
              <a:rPr sz="2800" b="0" spc="13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800" b="0" spc="114" dirty="0">
                <a:solidFill>
                  <a:srgbClr val="252525"/>
                </a:solidFill>
                <a:latin typeface="Cambria"/>
                <a:cs typeface="Cambria"/>
              </a:rPr>
              <a:t>Number</a:t>
            </a:r>
            <a:r>
              <a:rPr sz="2800" b="0" spc="14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800" b="0" spc="-25" dirty="0">
                <a:solidFill>
                  <a:srgbClr val="252525"/>
                </a:solidFill>
                <a:latin typeface="Cambria"/>
                <a:cs typeface="Cambria"/>
              </a:rPr>
              <a:t>of </a:t>
            </a:r>
            <a:r>
              <a:rPr sz="2800" b="0" spc="75" dirty="0">
                <a:solidFill>
                  <a:srgbClr val="252525"/>
                </a:solidFill>
                <a:latin typeface="Cambria"/>
                <a:cs typeface="Cambria"/>
              </a:rPr>
              <a:t>pages</a:t>
            </a:r>
            <a:r>
              <a:rPr sz="2800" b="0" spc="15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800" b="0" spc="100" dirty="0">
                <a:solidFill>
                  <a:srgbClr val="252525"/>
                </a:solidFill>
                <a:latin typeface="Cambria"/>
                <a:cs typeface="Cambria"/>
              </a:rPr>
              <a:t>in</a:t>
            </a:r>
            <a:r>
              <a:rPr sz="2800" b="0" spc="14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800" b="0" spc="150" dirty="0">
                <a:solidFill>
                  <a:srgbClr val="252525"/>
                </a:solidFill>
                <a:latin typeface="Cambria"/>
                <a:cs typeface="Cambria"/>
              </a:rPr>
              <a:t>a</a:t>
            </a:r>
            <a:r>
              <a:rPr sz="2800" b="0" spc="14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800" b="0" dirty="0">
                <a:solidFill>
                  <a:srgbClr val="252525"/>
                </a:solidFill>
                <a:latin typeface="Cambria"/>
                <a:cs typeface="Cambria"/>
              </a:rPr>
              <a:t>book,</a:t>
            </a:r>
            <a:r>
              <a:rPr sz="2800" b="0" spc="16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800" b="0" spc="105" dirty="0">
                <a:solidFill>
                  <a:srgbClr val="252525"/>
                </a:solidFill>
                <a:latin typeface="Cambria"/>
                <a:cs typeface="Cambria"/>
              </a:rPr>
              <a:t>Number</a:t>
            </a:r>
            <a:r>
              <a:rPr sz="2800" b="0" spc="15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800" b="0" dirty="0">
                <a:solidFill>
                  <a:srgbClr val="252525"/>
                </a:solidFill>
                <a:latin typeface="Cambria"/>
                <a:cs typeface="Cambria"/>
              </a:rPr>
              <a:t>of</a:t>
            </a:r>
            <a:r>
              <a:rPr sz="2800" b="0" spc="15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800" b="0" spc="110" dirty="0">
                <a:solidFill>
                  <a:srgbClr val="252525"/>
                </a:solidFill>
                <a:latin typeface="Cambria"/>
                <a:cs typeface="Cambria"/>
              </a:rPr>
              <a:t>Students</a:t>
            </a:r>
            <a:r>
              <a:rPr sz="2800" b="0" spc="14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800" b="0" spc="100" dirty="0">
                <a:solidFill>
                  <a:srgbClr val="252525"/>
                </a:solidFill>
                <a:latin typeface="Cambria"/>
                <a:cs typeface="Cambria"/>
              </a:rPr>
              <a:t>in</a:t>
            </a:r>
            <a:r>
              <a:rPr sz="2800" b="0" spc="14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800" b="0" spc="150" dirty="0">
                <a:solidFill>
                  <a:srgbClr val="252525"/>
                </a:solidFill>
                <a:latin typeface="Cambria"/>
                <a:cs typeface="Cambria"/>
              </a:rPr>
              <a:t>a</a:t>
            </a:r>
            <a:r>
              <a:rPr sz="2800" b="0" spc="15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800" b="0" spc="90" dirty="0">
                <a:solidFill>
                  <a:srgbClr val="252525"/>
                </a:solidFill>
                <a:latin typeface="Cambria"/>
                <a:cs typeface="Cambria"/>
              </a:rPr>
              <a:t>class, </a:t>
            </a:r>
            <a:r>
              <a:rPr sz="2800" b="0" spc="75" dirty="0">
                <a:solidFill>
                  <a:srgbClr val="252525"/>
                </a:solidFill>
                <a:latin typeface="Cambria"/>
                <a:cs typeface="Cambria"/>
              </a:rPr>
              <a:t>Population</a:t>
            </a:r>
            <a:r>
              <a:rPr sz="2800" b="0" spc="12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800" b="0" dirty="0">
                <a:solidFill>
                  <a:srgbClr val="252525"/>
                </a:solidFill>
                <a:latin typeface="Cambria"/>
                <a:cs typeface="Cambria"/>
              </a:rPr>
              <a:t>of</a:t>
            </a:r>
            <a:r>
              <a:rPr sz="2800" b="0" spc="14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800" b="0" spc="150" dirty="0">
                <a:solidFill>
                  <a:srgbClr val="252525"/>
                </a:solidFill>
                <a:latin typeface="Cambria"/>
                <a:cs typeface="Cambria"/>
              </a:rPr>
              <a:t>a</a:t>
            </a:r>
            <a:r>
              <a:rPr sz="2800" b="0" spc="14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800" b="0" spc="110" dirty="0">
                <a:solidFill>
                  <a:srgbClr val="252525"/>
                </a:solidFill>
                <a:latin typeface="Cambria"/>
                <a:cs typeface="Cambria"/>
              </a:rPr>
              <a:t>country…</a:t>
            </a:r>
            <a:endParaRPr sz="2800" dirty="0">
              <a:latin typeface="Cambria"/>
              <a:cs typeface="Cambria"/>
            </a:endParaRPr>
          </a:p>
          <a:p>
            <a:pPr marL="469265" lvl="1" indent="0">
              <a:lnSpc>
                <a:spcPct val="100000"/>
              </a:lnSpc>
              <a:spcBef>
                <a:spcPts val="215"/>
              </a:spcBef>
              <a:buClr>
                <a:srgbClr val="6E6E74"/>
              </a:buClr>
              <a:buNone/>
              <a:tabLst>
                <a:tab pos="984885" algn="l"/>
                <a:tab pos="985519" algn="l"/>
              </a:tabLst>
            </a:pPr>
            <a:r>
              <a:rPr sz="3200" spc="110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Continuous</a:t>
            </a:r>
            <a:r>
              <a:rPr sz="3200" spc="215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 </a:t>
            </a:r>
            <a:r>
              <a:rPr sz="3200" spc="114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data</a:t>
            </a:r>
            <a:endParaRPr sz="3200" dirty="0">
              <a:solidFill>
                <a:schemeClr val="accent1">
                  <a:lumMod val="75000"/>
                </a:schemeClr>
              </a:solidFill>
              <a:latin typeface="Cambria"/>
              <a:cs typeface="Cambria"/>
            </a:endParaRPr>
          </a:p>
          <a:p>
            <a:pPr marL="1029970" indent="-457200">
              <a:lnSpc>
                <a:spcPts val="2735"/>
              </a:lnSpc>
              <a:spcBef>
                <a:spcPts val="330"/>
              </a:spcBef>
            </a:pPr>
            <a:r>
              <a:rPr sz="2800" b="0" spc="100" dirty="0">
                <a:solidFill>
                  <a:srgbClr val="252525"/>
                </a:solidFill>
                <a:latin typeface="Cambria"/>
                <a:cs typeface="Cambria"/>
              </a:rPr>
              <a:t>Weight</a:t>
            </a:r>
            <a:r>
              <a:rPr sz="2800" b="0" spc="19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800" b="0" dirty="0">
                <a:solidFill>
                  <a:srgbClr val="252525"/>
                </a:solidFill>
                <a:latin typeface="Cambria"/>
                <a:cs typeface="Cambria"/>
              </a:rPr>
              <a:t>of</a:t>
            </a:r>
            <a:r>
              <a:rPr sz="2800" b="0" spc="20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800" b="0" dirty="0">
                <a:solidFill>
                  <a:srgbClr val="252525"/>
                </a:solidFill>
                <a:latin typeface="Cambria"/>
                <a:cs typeface="Cambria"/>
              </a:rPr>
              <a:t>newborn</a:t>
            </a:r>
            <a:r>
              <a:rPr sz="2800" b="0" spc="17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800" b="0" spc="70" dirty="0">
                <a:solidFill>
                  <a:srgbClr val="252525"/>
                </a:solidFill>
                <a:latin typeface="Cambria"/>
                <a:cs typeface="Cambria"/>
              </a:rPr>
              <a:t>babies,</a:t>
            </a:r>
            <a:r>
              <a:rPr sz="2800" b="0" spc="19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800" b="0" spc="120" dirty="0">
                <a:solidFill>
                  <a:srgbClr val="252525"/>
                </a:solidFill>
                <a:latin typeface="Cambria"/>
                <a:cs typeface="Cambria"/>
              </a:rPr>
              <a:t>Age,</a:t>
            </a:r>
            <a:r>
              <a:rPr sz="2800" b="0" spc="204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800" b="0" spc="85" dirty="0">
                <a:solidFill>
                  <a:srgbClr val="252525"/>
                </a:solidFill>
                <a:latin typeface="Cambria"/>
                <a:cs typeface="Cambria"/>
              </a:rPr>
              <a:t>Temperature,</a:t>
            </a:r>
            <a:endParaRPr sz="2800" dirty="0">
              <a:latin typeface="Cambria"/>
              <a:cs typeface="Cambria"/>
            </a:endParaRPr>
          </a:p>
          <a:p>
            <a:pPr marL="1029970" indent="-457200">
              <a:lnSpc>
                <a:spcPts val="2735"/>
              </a:lnSpc>
            </a:pPr>
            <a:r>
              <a:rPr sz="2800" b="0" spc="135" dirty="0">
                <a:solidFill>
                  <a:srgbClr val="252525"/>
                </a:solidFill>
                <a:latin typeface="Cambria"/>
                <a:cs typeface="Cambria"/>
              </a:rPr>
              <a:t>Height,</a:t>
            </a:r>
            <a:r>
              <a:rPr sz="2800" b="0" spc="12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800" b="0" spc="175" dirty="0">
                <a:solidFill>
                  <a:srgbClr val="252525"/>
                </a:solidFill>
                <a:latin typeface="Cambria"/>
                <a:cs typeface="Cambria"/>
              </a:rPr>
              <a:t>Time…</a:t>
            </a:r>
            <a:endParaRPr sz="28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5" name="object 3"/>
          <p:cNvSpPr/>
          <p:nvPr/>
        </p:nvSpPr>
        <p:spPr>
          <a:xfrm>
            <a:off x="-25400" y="6096000"/>
            <a:ext cx="9156700" cy="762000"/>
          </a:xfrm>
          <a:custGeom>
            <a:avLst/>
            <a:gdLst/>
            <a:ahLst/>
            <a:cxnLst/>
            <a:rect l="l" t="t" r="r" b="b"/>
            <a:pathLst>
              <a:path w="8801100" h="6858000">
                <a:moveTo>
                  <a:pt x="0" y="6858000"/>
                </a:moveTo>
                <a:lnTo>
                  <a:pt x="8801100" y="6858000"/>
                </a:lnTo>
                <a:lnTo>
                  <a:pt x="88011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030" y="6281095"/>
            <a:ext cx="2177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bg2"/>
                </a:solidFill>
              </a:rPr>
              <a:t>Data Science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Lifecycle</a:t>
            </a:r>
            <a:endParaRPr lang="en-US" sz="1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80100" y="6314718"/>
            <a:ext cx="3263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 smtClean="0">
                <a:solidFill>
                  <a:schemeClr val="bg2"/>
                </a:solidFill>
              </a:rPr>
              <a:t>Software Engineering Department</a:t>
            </a:r>
          </a:p>
          <a:p>
            <a:pPr algn="r"/>
            <a:r>
              <a:rPr lang="en-US" sz="900" dirty="0" smtClean="0">
                <a:solidFill>
                  <a:schemeClr val="bg2"/>
                </a:solidFill>
              </a:rPr>
              <a:t>QUEST NAWABSHAH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803948" y="6345523"/>
            <a:ext cx="2728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Mr. Zohaib </a:t>
            </a:r>
            <a:r>
              <a:rPr lang="en-US" sz="9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Ahmed </a:t>
            </a:r>
            <a:r>
              <a:rPr lang="en-US" sz="900" dirty="0" smtClean="0">
                <a:solidFill>
                  <a:schemeClr val="bg2"/>
                </a:solidFill>
              </a:rPr>
              <a:t>(</a:t>
            </a:r>
            <a:r>
              <a:rPr lang="en-US" sz="900" dirty="0" err="1" smtClean="0">
                <a:solidFill>
                  <a:schemeClr val="bg2"/>
                </a:solidFill>
              </a:rPr>
              <a:t>Kaggle</a:t>
            </a:r>
            <a:r>
              <a:rPr lang="en-US" sz="900" dirty="0" smtClean="0">
                <a:solidFill>
                  <a:schemeClr val="bg2"/>
                </a:solidFill>
              </a:rPr>
              <a:t> </a:t>
            </a:r>
            <a:r>
              <a:rPr lang="en-US" sz="900" dirty="0">
                <a:solidFill>
                  <a:schemeClr val="bg2"/>
                </a:solidFill>
              </a:rPr>
              <a:t>Master)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3022599" y="6496054"/>
            <a:ext cx="30607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 smtClean="0">
                <a:solidFill>
                  <a:schemeClr val="bg2"/>
                </a:solidFill>
              </a:rPr>
              <a:t>MS(Data Science)</a:t>
            </a:r>
            <a:endParaRPr lang="en-US" sz="9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250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2. Data investigation</a:t>
            </a:r>
            <a:endParaRPr b="1" spc="250">
              <a:solidFill>
                <a:schemeClr val="accent1">
                  <a:lumMod val="75000"/>
                </a:schemeClr>
              </a:solidFill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69121" y="1329547"/>
            <a:ext cx="7398384" cy="1356995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500"/>
              </a:spcBef>
              <a:buClr>
                <a:srgbClr val="6E6E74"/>
              </a:buClr>
              <a:buSzPct val="79687"/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3200" spc="170" dirty="0">
                <a:latin typeface="Cambria"/>
                <a:cs typeface="Cambria"/>
              </a:rPr>
              <a:t>Quantitative</a:t>
            </a:r>
            <a:r>
              <a:rPr sz="3200" spc="185" dirty="0">
                <a:latin typeface="Cambria"/>
                <a:cs typeface="Cambria"/>
              </a:rPr>
              <a:t> </a:t>
            </a:r>
            <a:r>
              <a:rPr sz="3200" spc="105" dirty="0">
                <a:latin typeface="Cambria"/>
                <a:cs typeface="Cambria"/>
              </a:rPr>
              <a:t>versus</a:t>
            </a:r>
            <a:r>
              <a:rPr sz="3200" spc="195" dirty="0">
                <a:latin typeface="Cambria"/>
                <a:cs typeface="Cambria"/>
              </a:rPr>
              <a:t> </a:t>
            </a:r>
            <a:r>
              <a:rPr sz="3200" spc="135" dirty="0">
                <a:latin typeface="Cambria"/>
                <a:cs typeface="Cambria"/>
              </a:rPr>
              <a:t>qualitative</a:t>
            </a:r>
            <a:r>
              <a:rPr sz="3200" spc="215" dirty="0">
                <a:latin typeface="Cambria"/>
                <a:cs typeface="Cambria"/>
              </a:rPr>
              <a:t> </a:t>
            </a:r>
            <a:r>
              <a:rPr sz="3200" spc="140" dirty="0">
                <a:latin typeface="Cambria"/>
                <a:cs typeface="Cambria"/>
              </a:rPr>
              <a:t>data</a:t>
            </a:r>
            <a:endParaRPr sz="3200" dirty="0">
              <a:latin typeface="Cambria"/>
              <a:cs typeface="Cambria"/>
            </a:endParaRPr>
          </a:p>
          <a:p>
            <a:pPr marL="469265" indent="-456565">
              <a:lnSpc>
                <a:spcPct val="100000"/>
              </a:lnSpc>
              <a:spcBef>
                <a:spcPts val="1400"/>
              </a:spcBef>
              <a:buClr>
                <a:srgbClr val="6E6E74"/>
              </a:buClr>
              <a:buSzPct val="79687"/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3200" spc="175" dirty="0">
                <a:latin typeface="Cambria"/>
                <a:cs typeface="Cambria"/>
              </a:rPr>
              <a:t>Example</a:t>
            </a:r>
            <a:r>
              <a:rPr sz="3200" spc="260" dirty="0">
                <a:latin typeface="Cambria"/>
                <a:cs typeface="Cambria"/>
              </a:rPr>
              <a:t> </a:t>
            </a:r>
            <a:r>
              <a:rPr sz="3200" spc="175" dirty="0">
                <a:latin typeface="Cambria"/>
                <a:cs typeface="Cambria"/>
              </a:rPr>
              <a:t>–</a:t>
            </a:r>
            <a:r>
              <a:rPr sz="3200" spc="265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coffee</a:t>
            </a:r>
            <a:r>
              <a:rPr sz="3200" spc="229" dirty="0">
                <a:latin typeface="Cambria"/>
                <a:cs typeface="Cambria"/>
              </a:rPr>
              <a:t> </a:t>
            </a:r>
            <a:r>
              <a:rPr sz="3200" spc="65" dirty="0">
                <a:latin typeface="Cambria"/>
                <a:cs typeface="Cambria"/>
              </a:rPr>
              <a:t>shop</a:t>
            </a:r>
            <a:r>
              <a:rPr sz="3200" spc="240" dirty="0">
                <a:latin typeface="Cambria"/>
                <a:cs typeface="Cambria"/>
              </a:rPr>
              <a:t> </a:t>
            </a:r>
            <a:r>
              <a:rPr sz="3200" spc="140" dirty="0">
                <a:latin typeface="Cambria"/>
                <a:cs typeface="Cambria"/>
              </a:rPr>
              <a:t>data</a:t>
            </a:r>
            <a:endParaRPr sz="3200" dirty="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400" y="2911584"/>
            <a:ext cx="5897222" cy="3047892"/>
          </a:xfrm>
          <a:prstGeom prst="rect">
            <a:avLst/>
          </a:prstGeom>
        </p:spPr>
      </p:pic>
      <p:sp>
        <p:nvSpPr>
          <p:cNvPr id="6" name="object 3"/>
          <p:cNvSpPr/>
          <p:nvPr/>
        </p:nvSpPr>
        <p:spPr>
          <a:xfrm>
            <a:off x="-25400" y="6096000"/>
            <a:ext cx="9156700" cy="762000"/>
          </a:xfrm>
          <a:custGeom>
            <a:avLst/>
            <a:gdLst/>
            <a:ahLst/>
            <a:cxnLst/>
            <a:rect l="l" t="t" r="r" b="b"/>
            <a:pathLst>
              <a:path w="8801100" h="6858000">
                <a:moveTo>
                  <a:pt x="0" y="6858000"/>
                </a:moveTo>
                <a:lnTo>
                  <a:pt x="8801100" y="6858000"/>
                </a:lnTo>
                <a:lnTo>
                  <a:pt x="88011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8030" y="6281095"/>
            <a:ext cx="2177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bg2"/>
                </a:solidFill>
              </a:rPr>
              <a:t>Data Science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Lifecycle</a:t>
            </a:r>
            <a:endParaRPr lang="en-US" sz="1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80100" y="6314718"/>
            <a:ext cx="3263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 smtClean="0">
                <a:solidFill>
                  <a:schemeClr val="bg2"/>
                </a:solidFill>
              </a:rPr>
              <a:t>Software Engineering Department</a:t>
            </a:r>
          </a:p>
          <a:p>
            <a:pPr algn="r"/>
            <a:r>
              <a:rPr lang="en-US" sz="900" dirty="0" smtClean="0">
                <a:solidFill>
                  <a:schemeClr val="bg2"/>
                </a:solidFill>
              </a:rPr>
              <a:t>QUEST NAWABSHAH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803948" y="6345523"/>
            <a:ext cx="2728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Mr. Zohaib </a:t>
            </a:r>
            <a:r>
              <a:rPr lang="en-US" sz="9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Ahmed </a:t>
            </a:r>
            <a:r>
              <a:rPr lang="en-US" sz="900" dirty="0" smtClean="0">
                <a:solidFill>
                  <a:schemeClr val="bg2"/>
                </a:solidFill>
              </a:rPr>
              <a:t>(</a:t>
            </a:r>
            <a:r>
              <a:rPr lang="en-US" sz="900" dirty="0" err="1" smtClean="0">
                <a:solidFill>
                  <a:schemeClr val="bg2"/>
                </a:solidFill>
              </a:rPr>
              <a:t>Kaggle</a:t>
            </a:r>
            <a:r>
              <a:rPr lang="en-US" sz="900" dirty="0" smtClean="0">
                <a:solidFill>
                  <a:schemeClr val="bg2"/>
                </a:solidFill>
              </a:rPr>
              <a:t> </a:t>
            </a:r>
            <a:r>
              <a:rPr lang="en-US" sz="900" dirty="0">
                <a:solidFill>
                  <a:schemeClr val="bg2"/>
                </a:solidFill>
              </a:rPr>
              <a:t>Master)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22599" y="6496054"/>
            <a:ext cx="30607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 smtClean="0">
                <a:solidFill>
                  <a:schemeClr val="bg2"/>
                </a:solidFill>
              </a:rPr>
              <a:t>MS(Data Science)</a:t>
            </a:r>
            <a:endParaRPr lang="en-US" sz="9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250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2. Data investigation</a:t>
            </a:r>
            <a:endParaRPr b="1" spc="250">
              <a:solidFill>
                <a:schemeClr val="accent1">
                  <a:lumMod val="75000"/>
                </a:schemeClr>
              </a:solidFill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01853" y="1559813"/>
            <a:ext cx="7394575" cy="30454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5"/>
              </a:spcBef>
              <a:buClr>
                <a:srgbClr val="6E6E74"/>
              </a:buClr>
              <a:buSzPct val="79687"/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3200" spc="165" dirty="0">
                <a:latin typeface="Cambria"/>
                <a:cs typeface="Cambria"/>
              </a:rPr>
              <a:t>Statistical</a:t>
            </a:r>
            <a:r>
              <a:rPr sz="3200" spc="215" dirty="0">
                <a:latin typeface="Cambria"/>
                <a:cs typeface="Cambria"/>
              </a:rPr>
              <a:t> </a:t>
            </a:r>
            <a:r>
              <a:rPr sz="3200" spc="130" dirty="0">
                <a:latin typeface="Cambria"/>
                <a:cs typeface="Cambria"/>
              </a:rPr>
              <a:t>Distribution</a:t>
            </a:r>
            <a:r>
              <a:rPr sz="3200" spc="170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of</a:t>
            </a:r>
            <a:r>
              <a:rPr sz="3200" spc="215" dirty="0">
                <a:latin typeface="Cambria"/>
                <a:cs typeface="Cambria"/>
              </a:rPr>
              <a:t> </a:t>
            </a:r>
            <a:r>
              <a:rPr sz="3200" spc="130" dirty="0">
                <a:latin typeface="Cambria"/>
                <a:cs typeface="Cambria"/>
              </a:rPr>
              <a:t>Attributes</a:t>
            </a:r>
            <a:endParaRPr sz="3200">
              <a:latin typeface="Cambria"/>
              <a:cs typeface="Cambria"/>
            </a:endParaRPr>
          </a:p>
          <a:p>
            <a:pPr marR="3524250" algn="r">
              <a:lnSpc>
                <a:spcPct val="100000"/>
              </a:lnSpc>
              <a:spcBef>
                <a:spcPts val="160"/>
              </a:spcBef>
              <a:tabLst>
                <a:tab pos="457200" algn="l"/>
              </a:tabLst>
            </a:pPr>
            <a:r>
              <a:rPr sz="2800" spc="-1145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2800" dirty="0">
                <a:solidFill>
                  <a:srgbClr val="6E6E74"/>
                </a:solidFill>
                <a:latin typeface="Arial MT"/>
                <a:cs typeface="Arial MT"/>
              </a:rPr>
              <a:t>	</a:t>
            </a:r>
            <a:r>
              <a:rPr sz="2800" spc="155" dirty="0">
                <a:solidFill>
                  <a:srgbClr val="252525"/>
                </a:solidFill>
                <a:latin typeface="Cambria"/>
                <a:cs typeface="Cambria"/>
              </a:rPr>
              <a:t>Central</a:t>
            </a:r>
            <a:r>
              <a:rPr sz="2800" spc="20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800" spc="75" dirty="0">
                <a:solidFill>
                  <a:srgbClr val="252525"/>
                </a:solidFill>
                <a:latin typeface="Cambria"/>
                <a:cs typeface="Cambria"/>
              </a:rPr>
              <a:t>Tendency</a:t>
            </a:r>
            <a:endParaRPr sz="2800">
              <a:latin typeface="Cambria"/>
              <a:cs typeface="Cambria"/>
            </a:endParaRPr>
          </a:p>
          <a:p>
            <a:pPr marR="3535045" algn="r">
              <a:lnSpc>
                <a:spcPct val="100000"/>
              </a:lnSpc>
              <a:spcBef>
                <a:spcPts val="325"/>
              </a:spcBef>
              <a:tabLst>
                <a:tab pos="456565" algn="l"/>
              </a:tabLst>
            </a:pPr>
            <a:r>
              <a:rPr sz="2400" spc="-990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2400" dirty="0">
                <a:solidFill>
                  <a:srgbClr val="6E6E74"/>
                </a:solidFill>
                <a:latin typeface="Arial MT"/>
                <a:cs typeface="Arial MT"/>
              </a:rPr>
              <a:t>	</a:t>
            </a:r>
            <a:r>
              <a:rPr sz="2400" spc="155" dirty="0">
                <a:solidFill>
                  <a:srgbClr val="252525"/>
                </a:solidFill>
                <a:latin typeface="Cambria"/>
                <a:cs typeface="Cambria"/>
              </a:rPr>
              <a:t>Mean</a:t>
            </a:r>
            <a:r>
              <a:rPr sz="2400" spc="12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35" dirty="0">
                <a:solidFill>
                  <a:srgbClr val="252525"/>
                </a:solidFill>
                <a:latin typeface="Cambria"/>
                <a:cs typeface="Cambria"/>
              </a:rPr>
              <a:t>(Average)</a:t>
            </a:r>
            <a:endParaRPr sz="2400">
              <a:latin typeface="Cambria"/>
              <a:cs typeface="Cambria"/>
            </a:endParaRPr>
          </a:p>
          <a:p>
            <a:pPr marR="3437890" algn="r">
              <a:lnSpc>
                <a:spcPct val="100000"/>
              </a:lnSpc>
              <a:spcBef>
                <a:spcPts val="315"/>
              </a:spcBef>
              <a:tabLst>
                <a:tab pos="456565" algn="l"/>
              </a:tabLst>
            </a:pPr>
            <a:r>
              <a:rPr sz="2400" spc="-990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2400" dirty="0">
                <a:solidFill>
                  <a:srgbClr val="6E6E74"/>
                </a:solidFill>
                <a:latin typeface="Arial MT"/>
                <a:cs typeface="Arial MT"/>
              </a:rPr>
              <a:t>	</a:t>
            </a:r>
            <a:r>
              <a:rPr sz="2400" spc="110" dirty="0">
                <a:solidFill>
                  <a:srgbClr val="252525"/>
                </a:solidFill>
                <a:latin typeface="Cambria"/>
                <a:cs typeface="Cambria"/>
              </a:rPr>
              <a:t>Median</a:t>
            </a:r>
            <a:r>
              <a:rPr sz="2400" spc="14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ambria"/>
                <a:cs typeface="Cambria"/>
              </a:rPr>
              <a:t>(Middle)</a:t>
            </a:r>
            <a:endParaRPr sz="2400">
              <a:latin typeface="Cambria"/>
              <a:cs typeface="Cambria"/>
            </a:endParaRPr>
          </a:p>
          <a:p>
            <a:pPr marL="1155700">
              <a:lnSpc>
                <a:spcPct val="100000"/>
              </a:lnSpc>
              <a:spcBef>
                <a:spcPts val="310"/>
              </a:spcBef>
              <a:tabLst>
                <a:tab pos="1612900" algn="l"/>
              </a:tabLst>
            </a:pPr>
            <a:r>
              <a:rPr sz="2400" spc="-990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2400" dirty="0">
                <a:solidFill>
                  <a:srgbClr val="6E6E74"/>
                </a:solidFill>
                <a:latin typeface="Arial MT"/>
                <a:cs typeface="Arial MT"/>
              </a:rPr>
              <a:t>	</a:t>
            </a:r>
            <a:r>
              <a:rPr sz="2400" spc="90" dirty="0">
                <a:solidFill>
                  <a:srgbClr val="252525"/>
                </a:solidFill>
                <a:latin typeface="Cambria"/>
                <a:cs typeface="Cambria"/>
              </a:rPr>
              <a:t>Mod</a:t>
            </a:r>
            <a:r>
              <a:rPr sz="2400" spc="13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252525"/>
                </a:solidFill>
                <a:latin typeface="Cambria"/>
                <a:cs typeface="Cambria"/>
              </a:rPr>
              <a:t>(Most</a:t>
            </a:r>
            <a:r>
              <a:rPr sz="2400" spc="15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60" dirty="0">
                <a:solidFill>
                  <a:srgbClr val="252525"/>
                </a:solidFill>
                <a:latin typeface="Cambria"/>
                <a:cs typeface="Cambria"/>
              </a:rPr>
              <a:t>Frequent)</a:t>
            </a:r>
            <a:endParaRPr sz="2400">
              <a:latin typeface="Cambria"/>
              <a:cs typeface="Cambria"/>
            </a:endParaRPr>
          </a:p>
          <a:p>
            <a:pPr marL="469900">
              <a:lnSpc>
                <a:spcPct val="100000"/>
              </a:lnSpc>
              <a:spcBef>
                <a:spcPts val="250"/>
              </a:spcBef>
              <a:tabLst>
                <a:tab pos="927100" algn="l"/>
              </a:tabLst>
            </a:pPr>
            <a:r>
              <a:rPr sz="2800" spc="-1145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2800" dirty="0">
                <a:solidFill>
                  <a:srgbClr val="6E6E74"/>
                </a:solidFill>
                <a:latin typeface="Arial MT"/>
                <a:cs typeface="Arial MT"/>
              </a:rPr>
              <a:t>	</a:t>
            </a:r>
            <a:r>
              <a:rPr sz="2800" spc="90" dirty="0">
                <a:solidFill>
                  <a:srgbClr val="252525"/>
                </a:solidFill>
                <a:latin typeface="Cambria"/>
                <a:cs typeface="Cambria"/>
              </a:rPr>
              <a:t>Proximity</a:t>
            </a:r>
            <a:endParaRPr sz="2800">
              <a:latin typeface="Cambria"/>
              <a:cs typeface="Cambria"/>
            </a:endParaRPr>
          </a:p>
          <a:p>
            <a:pPr marL="1155700">
              <a:lnSpc>
                <a:spcPct val="100000"/>
              </a:lnSpc>
              <a:spcBef>
                <a:spcPts val="330"/>
              </a:spcBef>
              <a:tabLst>
                <a:tab pos="1612900" algn="l"/>
              </a:tabLst>
            </a:pPr>
            <a:r>
              <a:rPr sz="2400" spc="-990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2400" dirty="0">
                <a:solidFill>
                  <a:srgbClr val="6E6E74"/>
                </a:solidFill>
                <a:latin typeface="Arial MT"/>
                <a:cs typeface="Arial MT"/>
              </a:rPr>
              <a:t>	</a:t>
            </a:r>
            <a:r>
              <a:rPr sz="2400" spc="75" dirty="0">
                <a:solidFill>
                  <a:srgbClr val="252525"/>
                </a:solidFill>
                <a:latin typeface="Cambria"/>
                <a:cs typeface="Cambria"/>
              </a:rPr>
              <a:t>How</a:t>
            </a:r>
            <a:r>
              <a:rPr sz="2400" spc="17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252525"/>
                </a:solidFill>
                <a:latin typeface="Cambria"/>
                <a:cs typeface="Cambria"/>
              </a:rPr>
              <a:t>close/related</a:t>
            </a:r>
            <a:r>
              <a:rPr sz="2400" spc="14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252525"/>
                </a:solidFill>
                <a:latin typeface="Cambria"/>
                <a:cs typeface="Cambria"/>
              </a:rPr>
              <a:t>are</a:t>
            </a:r>
            <a:r>
              <a:rPr sz="2400" spc="18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65" dirty="0">
                <a:solidFill>
                  <a:srgbClr val="252525"/>
                </a:solidFill>
                <a:latin typeface="Cambria"/>
                <a:cs typeface="Cambria"/>
              </a:rPr>
              <a:t>different</a:t>
            </a:r>
            <a:r>
              <a:rPr sz="2400" spc="15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65" dirty="0">
                <a:solidFill>
                  <a:srgbClr val="252525"/>
                </a:solidFill>
                <a:latin typeface="Cambria"/>
                <a:cs typeface="Cambria"/>
              </a:rPr>
              <a:t>variables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3"/>
          <p:cNvSpPr/>
          <p:nvPr/>
        </p:nvSpPr>
        <p:spPr>
          <a:xfrm>
            <a:off x="-25400" y="6096000"/>
            <a:ext cx="9156700" cy="762000"/>
          </a:xfrm>
          <a:custGeom>
            <a:avLst/>
            <a:gdLst/>
            <a:ahLst/>
            <a:cxnLst/>
            <a:rect l="l" t="t" r="r" b="b"/>
            <a:pathLst>
              <a:path w="8801100" h="6858000">
                <a:moveTo>
                  <a:pt x="0" y="6858000"/>
                </a:moveTo>
                <a:lnTo>
                  <a:pt x="8801100" y="6858000"/>
                </a:lnTo>
                <a:lnTo>
                  <a:pt x="88011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030" y="6281095"/>
            <a:ext cx="2177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bg2"/>
                </a:solidFill>
              </a:rPr>
              <a:t>Data Science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Lifecycle</a:t>
            </a:r>
            <a:endParaRPr lang="en-US" sz="1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80100" y="6314718"/>
            <a:ext cx="3263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 smtClean="0">
                <a:solidFill>
                  <a:schemeClr val="bg2"/>
                </a:solidFill>
              </a:rPr>
              <a:t>Software Engineering Department</a:t>
            </a:r>
          </a:p>
          <a:p>
            <a:pPr algn="r"/>
            <a:r>
              <a:rPr lang="en-US" sz="900" dirty="0" smtClean="0">
                <a:solidFill>
                  <a:schemeClr val="bg2"/>
                </a:solidFill>
              </a:rPr>
              <a:t>QUEST NAWABSHAH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803948" y="6345523"/>
            <a:ext cx="2728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Mr. Zohaib </a:t>
            </a:r>
            <a:r>
              <a:rPr lang="en-US" sz="9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Ahmed </a:t>
            </a:r>
            <a:r>
              <a:rPr lang="en-US" sz="900" dirty="0" smtClean="0">
                <a:solidFill>
                  <a:schemeClr val="bg2"/>
                </a:solidFill>
              </a:rPr>
              <a:t>(</a:t>
            </a:r>
            <a:r>
              <a:rPr lang="en-US" sz="900" dirty="0" err="1" smtClean="0">
                <a:solidFill>
                  <a:schemeClr val="bg2"/>
                </a:solidFill>
              </a:rPr>
              <a:t>Kaggle</a:t>
            </a:r>
            <a:r>
              <a:rPr lang="en-US" sz="900" dirty="0" smtClean="0">
                <a:solidFill>
                  <a:schemeClr val="bg2"/>
                </a:solidFill>
              </a:rPr>
              <a:t> </a:t>
            </a:r>
            <a:r>
              <a:rPr lang="en-US" sz="900" dirty="0">
                <a:solidFill>
                  <a:schemeClr val="bg2"/>
                </a:solidFill>
              </a:rPr>
              <a:t>Master)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3022599" y="6496054"/>
            <a:ext cx="30607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 smtClean="0">
                <a:solidFill>
                  <a:schemeClr val="bg2"/>
                </a:solidFill>
              </a:rPr>
              <a:t>MS(Data Science)</a:t>
            </a:r>
            <a:endParaRPr lang="en-US" sz="9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250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2. Data investigation</a:t>
            </a:r>
            <a:endParaRPr b="1" spc="250">
              <a:solidFill>
                <a:schemeClr val="accent1">
                  <a:lumMod val="75000"/>
                </a:schemeClr>
              </a:solidFill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01853" y="1559813"/>
            <a:ext cx="4322445" cy="2233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5"/>
              </a:spcBef>
              <a:buClr>
                <a:srgbClr val="6E6E74"/>
              </a:buClr>
              <a:buSzPct val="79687"/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3200" spc="130" dirty="0">
                <a:latin typeface="Cambria"/>
                <a:cs typeface="Cambria"/>
              </a:rPr>
              <a:t>Distribution</a:t>
            </a:r>
            <a:r>
              <a:rPr sz="3200" spc="180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of</a:t>
            </a:r>
            <a:r>
              <a:rPr sz="3200" spc="190" dirty="0">
                <a:latin typeface="Cambria"/>
                <a:cs typeface="Cambria"/>
              </a:rPr>
              <a:t> </a:t>
            </a:r>
            <a:r>
              <a:rPr sz="3200" spc="220" dirty="0">
                <a:latin typeface="Cambria"/>
                <a:cs typeface="Cambria"/>
              </a:rPr>
              <a:t>Data</a:t>
            </a:r>
            <a:endParaRPr sz="3200" dirty="0">
              <a:latin typeface="Cambria"/>
              <a:cs typeface="Cambria"/>
            </a:endParaRPr>
          </a:p>
          <a:p>
            <a:pPr marL="469900">
              <a:lnSpc>
                <a:spcPct val="100000"/>
              </a:lnSpc>
              <a:spcBef>
                <a:spcPts val="160"/>
              </a:spcBef>
              <a:tabLst>
                <a:tab pos="927100" algn="l"/>
              </a:tabLst>
            </a:pPr>
            <a:r>
              <a:rPr sz="2800" spc="-1145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2800" dirty="0">
                <a:solidFill>
                  <a:srgbClr val="6E6E74"/>
                </a:solidFill>
                <a:latin typeface="Arial MT"/>
                <a:cs typeface="Arial MT"/>
              </a:rPr>
              <a:t>	</a:t>
            </a:r>
            <a:r>
              <a:rPr sz="2800" spc="105" dirty="0">
                <a:solidFill>
                  <a:srgbClr val="252525"/>
                </a:solidFill>
                <a:latin typeface="Cambria"/>
                <a:cs typeface="Cambria"/>
              </a:rPr>
              <a:t>Symmetric</a:t>
            </a:r>
            <a:endParaRPr sz="2800" dirty="0">
              <a:latin typeface="Cambria"/>
              <a:cs typeface="Cambria"/>
            </a:endParaRPr>
          </a:p>
          <a:p>
            <a:pPr marL="469900">
              <a:lnSpc>
                <a:spcPct val="100000"/>
              </a:lnSpc>
              <a:spcBef>
                <a:spcPts val="260"/>
              </a:spcBef>
              <a:tabLst>
                <a:tab pos="927100" algn="l"/>
              </a:tabLst>
            </a:pPr>
            <a:r>
              <a:rPr sz="2800" spc="-1145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2800" dirty="0">
                <a:solidFill>
                  <a:srgbClr val="6E6E74"/>
                </a:solidFill>
                <a:latin typeface="Arial MT"/>
                <a:cs typeface="Arial MT"/>
              </a:rPr>
              <a:t>	</a:t>
            </a:r>
            <a:r>
              <a:rPr sz="2800" spc="90" dirty="0">
                <a:solidFill>
                  <a:srgbClr val="252525"/>
                </a:solidFill>
                <a:latin typeface="Cambria"/>
                <a:cs typeface="Cambria"/>
              </a:rPr>
              <a:t>Asymmetric</a:t>
            </a:r>
            <a:endParaRPr sz="2800" dirty="0">
              <a:latin typeface="Cambria"/>
              <a:cs typeface="Cambria"/>
            </a:endParaRPr>
          </a:p>
          <a:p>
            <a:pPr marL="1155700">
              <a:lnSpc>
                <a:spcPct val="100000"/>
              </a:lnSpc>
              <a:spcBef>
                <a:spcPts val="330"/>
              </a:spcBef>
              <a:tabLst>
                <a:tab pos="1612900" algn="l"/>
              </a:tabLst>
            </a:pPr>
            <a:r>
              <a:rPr sz="2400" spc="-990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2400" dirty="0">
                <a:solidFill>
                  <a:srgbClr val="6E6E74"/>
                </a:solidFill>
                <a:latin typeface="Arial MT"/>
                <a:cs typeface="Arial MT"/>
              </a:rPr>
              <a:t>	</a:t>
            </a:r>
            <a:r>
              <a:rPr sz="2400" spc="80" dirty="0">
                <a:solidFill>
                  <a:srgbClr val="252525"/>
                </a:solidFill>
                <a:latin typeface="Cambria"/>
                <a:cs typeface="Cambria"/>
              </a:rPr>
              <a:t>Positively</a:t>
            </a:r>
            <a:r>
              <a:rPr sz="2400" spc="11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252525"/>
                </a:solidFill>
                <a:latin typeface="Cambria"/>
                <a:cs typeface="Cambria"/>
              </a:rPr>
              <a:t>Skewed</a:t>
            </a:r>
            <a:endParaRPr sz="2400" dirty="0">
              <a:latin typeface="Cambria"/>
              <a:cs typeface="Cambria"/>
            </a:endParaRPr>
          </a:p>
          <a:p>
            <a:pPr marL="1155700">
              <a:lnSpc>
                <a:spcPct val="100000"/>
              </a:lnSpc>
              <a:spcBef>
                <a:spcPts val="315"/>
              </a:spcBef>
              <a:tabLst>
                <a:tab pos="1612900" algn="l"/>
              </a:tabLst>
            </a:pPr>
            <a:r>
              <a:rPr sz="2400" spc="-990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2400" dirty="0">
                <a:solidFill>
                  <a:srgbClr val="6E6E74"/>
                </a:solidFill>
                <a:latin typeface="Arial MT"/>
                <a:cs typeface="Arial MT"/>
              </a:rPr>
              <a:t>	</a:t>
            </a:r>
            <a:r>
              <a:rPr sz="2400" spc="95" dirty="0">
                <a:solidFill>
                  <a:srgbClr val="252525"/>
                </a:solidFill>
                <a:latin typeface="Cambria"/>
                <a:cs typeface="Cambria"/>
              </a:rPr>
              <a:t>Negatively</a:t>
            </a:r>
            <a:r>
              <a:rPr sz="2400" spc="16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252525"/>
                </a:solidFill>
                <a:latin typeface="Cambria"/>
                <a:cs typeface="Cambria"/>
              </a:rPr>
              <a:t>Skewed</a:t>
            </a:r>
            <a:endParaRPr sz="2400" dirty="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7400" y="3793743"/>
            <a:ext cx="5673599" cy="2259330"/>
          </a:xfrm>
          <a:prstGeom prst="rect">
            <a:avLst/>
          </a:prstGeom>
        </p:spPr>
      </p:pic>
      <p:sp>
        <p:nvSpPr>
          <p:cNvPr id="6" name="object 3"/>
          <p:cNvSpPr/>
          <p:nvPr/>
        </p:nvSpPr>
        <p:spPr>
          <a:xfrm>
            <a:off x="-25400" y="6096000"/>
            <a:ext cx="9156700" cy="762000"/>
          </a:xfrm>
          <a:custGeom>
            <a:avLst/>
            <a:gdLst/>
            <a:ahLst/>
            <a:cxnLst/>
            <a:rect l="l" t="t" r="r" b="b"/>
            <a:pathLst>
              <a:path w="8801100" h="6858000">
                <a:moveTo>
                  <a:pt x="0" y="6858000"/>
                </a:moveTo>
                <a:lnTo>
                  <a:pt x="8801100" y="6858000"/>
                </a:lnTo>
                <a:lnTo>
                  <a:pt x="88011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8030" y="6281095"/>
            <a:ext cx="2177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bg2"/>
                </a:solidFill>
              </a:rPr>
              <a:t>Data Science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Lifecycle</a:t>
            </a:r>
            <a:endParaRPr lang="en-US" sz="1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80100" y="6314718"/>
            <a:ext cx="3263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 smtClean="0">
                <a:solidFill>
                  <a:schemeClr val="bg2"/>
                </a:solidFill>
              </a:rPr>
              <a:t>Software Engineering Department</a:t>
            </a:r>
          </a:p>
          <a:p>
            <a:pPr algn="r"/>
            <a:r>
              <a:rPr lang="en-US" sz="900" dirty="0" smtClean="0">
                <a:solidFill>
                  <a:schemeClr val="bg2"/>
                </a:solidFill>
              </a:rPr>
              <a:t>QUEST NAWABSHAH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803948" y="6345523"/>
            <a:ext cx="2728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Mr. Zohaib </a:t>
            </a:r>
            <a:r>
              <a:rPr lang="en-US" sz="9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Ahmed </a:t>
            </a:r>
            <a:r>
              <a:rPr lang="en-US" sz="900" dirty="0" smtClean="0">
                <a:solidFill>
                  <a:schemeClr val="bg2"/>
                </a:solidFill>
              </a:rPr>
              <a:t>(</a:t>
            </a:r>
            <a:r>
              <a:rPr lang="en-US" sz="900" dirty="0" err="1" smtClean="0">
                <a:solidFill>
                  <a:schemeClr val="bg2"/>
                </a:solidFill>
              </a:rPr>
              <a:t>Kaggle</a:t>
            </a:r>
            <a:r>
              <a:rPr lang="en-US" sz="900" dirty="0" smtClean="0">
                <a:solidFill>
                  <a:schemeClr val="bg2"/>
                </a:solidFill>
              </a:rPr>
              <a:t> </a:t>
            </a:r>
            <a:r>
              <a:rPr lang="en-US" sz="900" dirty="0">
                <a:solidFill>
                  <a:schemeClr val="bg2"/>
                </a:solidFill>
              </a:rPr>
              <a:t>Master)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22599" y="6496054"/>
            <a:ext cx="30607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 smtClean="0">
                <a:solidFill>
                  <a:schemeClr val="bg2"/>
                </a:solidFill>
              </a:rPr>
              <a:t>MS(Data Science)</a:t>
            </a:r>
            <a:endParaRPr lang="en-US" sz="9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643599"/>
            <a:ext cx="3924299" cy="1027845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250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2. Data investigation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52949" y="1371600"/>
            <a:ext cx="3756661" cy="4130042"/>
          </a:xfrm>
          <a:prstGeom prst="rect">
            <a:avLst/>
          </a:prstGeom>
        </p:spPr>
      </p:pic>
      <p:sp>
        <p:nvSpPr>
          <p:cNvPr id="5" name="object 3"/>
          <p:cNvSpPr/>
          <p:nvPr/>
        </p:nvSpPr>
        <p:spPr>
          <a:xfrm>
            <a:off x="-25400" y="6096000"/>
            <a:ext cx="9156700" cy="762000"/>
          </a:xfrm>
          <a:custGeom>
            <a:avLst/>
            <a:gdLst/>
            <a:ahLst/>
            <a:cxnLst/>
            <a:rect l="l" t="t" r="r" b="b"/>
            <a:pathLst>
              <a:path w="8801100" h="6858000">
                <a:moveTo>
                  <a:pt x="0" y="6858000"/>
                </a:moveTo>
                <a:lnTo>
                  <a:pt x="8801100" y="6858000"/>
                </a:lnTo>
                <a:lnTo>
                  <a:pt x="88011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030" y="6281095"/>
            <a:ext cx="2177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bg2"/>
                </a:solidFill>
              </a:rPr>
              <a:t>Data Science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Lifecycle</a:t>
            </a:r>
            <a:endParaRPr lang="en-US" sz="1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80100" y="6314718"/>
            <a:ext cx="3263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 smtClean="0">
                <a:solidFill>
                  <a:schemeClr val="bg2"/>
                </a:solidFill>
              </a:rPr>
              <a:t>Software Engineering Department</a:t>
            </a:r>
          </a:p>
          <a:p>
            <a:pPr algn="r"/>
            <a:r>
              <a:rPr lang="en-US" sz="900" dirty="0" smtClean="0">
                <a:solidFill>
                  <a:schemeClr val="bg2"/>
                </a:solidFill>
              </a:rPr>
              <a:t>QUEST NAWABSHAH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803948" y="6345523"/>
            <a:ext cx="2728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Mr. Zohaib </a:t>
            </a:r>
            <a:r>
              <a:rPr lang="en-US" sz="9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Ahmed </a:t>
            </a:r>
            <a:r>
              <a:rPr lang="en-US" sz="900" dirty="0" smtClean="0">
                <a:solidFill>
                  <a:schemeClr val="bg2"/>
                </a:solidFill>
              </a:rPr>
              <a:t>(</a:t>
            </a:r>
            <a:r>
              <a:rPr lang="en-US" sz="900" dirty="0" err="1" smtClean="0">
                <a:solidFill>
                  <a:schemeClr val="bg2"/>
                </a:solidFill>
              </a:rPr>
              <a:t>Kaggle</a:t>
            </a:r>
            <a:r>
              <a:rPr lang="en-US" sz="900" dirty="0" smtClean="0">
                <a:solidFill>
                  <a:schemeClr val="bg2"/>
                </a:solidFill>
              </a:rPr>
              <a:t> </a:t>
            </a:r>
            <a:r>
              <a:rPr lang="en-US" sz="900" dirty="0">
                <a:solidFill>
                  <a:schemeClr val="bg2"/>
                </a:solidFill>
              </a:rPr>
              <a:t>Master)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3022599" y="6496054"/>
            <a:ext cx="30607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 smtClean="0">
                <a:solidFill>
                  <a:schemeClr val="bg2"/>
                </a:solidFill>
              </a:rPr>
              <a:t>MS(Data Science)</a:t>
            </a:r>
            <a:endParaRPr lang="en-US" sz="9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0379" y="378941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250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3. Pre-processing of data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547354" y="6207353"/>
            <a:ext cx="476884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25" dirty="0">
                <a:solidFill>
                  <a:srgbClr val="8E8E93"/>
                </a:solidFill>
                <a:latin typeface="Cambria"/>
                <a:cs typeface="Cambria"/>
              </a:rPr>
              <a:t>14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5" name="object 3"/>
          <p:cNvSpPr/>
          <p:nvPr/>
        </p:nvSpPr>
        <p:spPr>
          <a:xfrm>
            <a:off x="-25400" y="6096000"/>
            <a:ext cx="9156700" cy="762000"/>
          </a:xfrm>
          <a:custGeom>
            <a:avLst/>
            <a:gdLst/>
            <a:ahLst/>
            <a:cxnLst/>
            <a:rect l="l" t="t" r="r" b="b"/>
            <a:pathLst>
              <a:path w="8801100" h="6858000">
                <a:moveTo>
                  <a:pt x="0" y="6858000"/>
                </a:moveTo>
                <a:lnTo>
                  <a:pt x="8801100" y="6858000"/>
                </a:lnTo>
                <a:lnTo>
                  <a:pt x="88011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030" y="6281095"/>
            <a:ext cx="2177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bg2"/>
                </a:solidFill>
              </a:rPr>
              <a:t>Data Science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Lifecycle</a:t>
            </a:r>
            <a:endParaRPr lang="en-US" sz="1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80100" y="6314718"/>
            <a:ext cx="3263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 smtClean="0">
                <a:solidFill>
                  <a:schemeClr val="bg2"/>
                </a:solidFill>
              </a:rPr>
              <a:t>Software Engineering Department</a:t>
            </a:r>
          </a:p>
          <a:p>
            <a:pPr algn="r"/>
            <a:r>
              <a:rPr lang="en-US" sz="900" dirty="0" smtClean="0">
                <a:solidFill>
                  <a:schemeClr val="bg2"/>
                </a:solidFill>
              </a:rPr>
              <a:t>QUEST NAWABSHAH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803948" y="6345523"/>
            <a:ext cx="2728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Mr. Zohaib </a:t>
            </a:r>
            <a:r>
              <a:rPr lang="en-US" sz="9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Ahmed </a:t>
            </a:r>
            <a:r>
              <a:rPr lang="en-US" sz="900" dirty="0" smtClean="0">
                <a:solidFill>
                  <a:schemeClr val="bg2"/>
                </a:solidFill>
              </a:rPr>
              <a:t>(</a:t>
            </a:r>
            <a:r>
              <a:rPr lang="en-US" sz="900" dirty="0" err="1" smtClean="0">
                <a:solidFill>
                  <a:schemeClr val="bg2"/>
                </a:solidFill>
              </a:rPr>
              <a:t>Kaggle</a:t>
            </a:r>
            <a:r>
              <a:rPr lang="en-US" sz="900" dirty="0" smtClean="0">
                <a:solidFill>
                  <a:schemeClr val="bg2"/>
                </a:solidFill>
              </a:rPr>
              <a:t> </a:t>
            </a:r>
            <a:r>
              <a:rPr lang="en-US" sz="900" dirty="0">
                <a:solidFill>
                  <a:schemeClr val="bg2"/>
                </a:solidFill>
              </a:rPr>
              <a:t>Master)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3022599" y="6496054"/>
            <a:ext cx="30607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 smtClean="0">
                <a:solidFill>
                  <a:schemeClr val="bg2"/>
                </a:solidFill>
              </a:rPr>
              <a:t>MS(Data Science)</a:t>
            </a:r>
            <a:endParaRPr lang="en-US" sz="900" dirty="0">
              <a:solidFill>
                <a:schemeClr val="bg2"/>
              </a:solidFill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2714846"/>
              </p:ext>
            </p:extLst>
          </p:nvPr>
        </p:nvGraphicFramePr>
        <p:xfrm>
          <a:off x="381000" y="1398167"/>
          <a:ext cx="8458200" cy="419862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8458200">
                  <a:extLst>
                    <a:ext uri="{9D8B030D-6E8A-4147-A177-3AD203B41FA5}">
                      <a16:colId xmlns:a16="http://schemas.microsoft.com/office/drawing/2014/main" val="14035223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12700" marR="0" lvl="7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790"/>
                        </a:spcBef>
                        <a:spcAft>
                          <a:spcPts val="0"/>
                        </a:spcAft>
                        <a:buClr>
                          <a:srgbClr val="6E6E74"/>
                        </a:buClr>
                        <a:buSzPct val="79629"/>
                        <a:buFont typeface="Arial" panose="020B0604020202020204" pitchFamily="34" charset="0"/>
                        <a:buNone/>
                        <a:tabLst>
                          <a:tab pos="195580" algn="l"/>
                        </a:tabLst>
                        <a:defRPr/>
                      </a:pPr>
                      <a:r>
                        <a:rPr lang="en-US" sz="2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actions to be performed at this stage are: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150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55600" lvl="7" indent="-342900">
                        <a:lnSpc>
                          <a:spcPct val="100000"/>
                        </a:lnSpc>
                        <a:spcBef>
                          <a:spcPts val="790"/>
                        </a:spcBef>
                        <a:buClr>
                          <a:srgbClr val="6E6E74"/>
                        </a:buClr>
                        <a:buSzPct val="79629"/>
                        <a:buFont typeface="Arial" panose="020B0604020202020204" pitchFamily="34" charset="0"/>
                        <a:buChar char="•"/>
                        <a:tabLst>
                          <a:tab pos="195580" algn="l"/>
                        </a:tabLst>
                      </a:pP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Selection</a:t>
                      </a:r>
                      <a:r>
                        <a:rPr lang="en-US" sz="2400" spc="-95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</a:t>
                      </a:r>
                      <a:r>
                        <a:rPr lang="en-US" sz="2400" spc="-45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spc="5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</a:t>
                      </a:r>
                      <a:r>
                        <a:rPr lang="en-US" sz="2400" spc="-5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applicable</a:t>
                      </a:r>
                      <a:r>
                        <a:rPr lang="en-US" sz="2400" spc="-9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spc="-2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</a:t>
                      </a:r>
                      <a:endParaRPr lang="en-US" sz="2400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961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54965" marR="5080" lvl="7" indent="-342900">
                        <a:lnSpc>
                          <a:spcPct val="100000"/>
                        </a:lnSpc>
                        <a:spcBef>
                          <a:spcPts val="1600"/>
                        </a:spcBef>
                        <a:buClr>
                          <a:srgbClr val="6E6E74"/>
                        </a:buClr>
                        <a:buSzPct val="79629"/>
                        <a:buFont typeface="Arial" panose="020B0604020202020204" pitchFamily="34" charset="0"/>
                        <a:buChar char="•"/>
                        <a:tabLst>
                          <a:tab pos="195580" algn="l"/>
                        </a:tabLst>
                      </a:pP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</a:t>
                      </a:r>
                      <a:r>
                        <a:rPr lang="en-US" sz="2400" spc="-14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integration</a:t>
                      </a:r>
                      <a:r>
                        <a:rPr lang="en-US" sz="2400" spc="-15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</a:t>
                      </a:r>
                      <a:r>
                        <a:rPr lang="en-US" sz="2400" spc="-135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spc="5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means</a:t>
                      </a:r>
                      <a:r>
                        <a:rPr lang="en-US" sz="2400" spc="-15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</a:t>
                      </a:r>
                      <a:r>
                        <a:rPr lang="en-US" sz="2400" spc="-13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spc="9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merging</a:t>
                      </a:r>
                      <a:r>
                        <a:rPr lang="en-US" sz="2400" spc="-145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spc="25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</a:t>
                      </a:r>
                      <a:r>
                        <a:rPr lang="en-US" sz="2400" spc="-114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spc="-2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sets</a:t>
                      </a:r>
                      <a:endParaRPr lang="en-US" sz="2400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07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54965" marR="673735" lvl="7" indent="-342900">
                        <a:lnSpc>
                          <a:spcPct val="100000"/>
                        </a:lnSpc>
                        <a:spcBef>
                          <a:spcPts val="1585"/>
                        </a:spcBef>
                        <a:buClr>
                          <a:srgbClr val="6E6E74"/>
                        </a:buClr>
                        <a:buSzPct val="79629"/>
                        <a:buFont typeface="Arial" panose="020B0604020202020204" pitchFamily="34" charset="0"/>
                        <a:buChar char="•"/>
                        <a:tabLst>
                          <a:tab pos="195580" algn="l"/>
                        </a:tabLst>
                      </a:pP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</a:t>
                      </a:r>
                      <a:r>
                        <a:rPr lang="en-US" sz="2400" spc="-18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spc="6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cleaning</a:t>
                      </a:r>
                      <a:r>
                        <a:rPr lang="en-US" sz="2400" spc="-21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spc="7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</a:t>
                      </a:r>
                      <a:r>
                        <a:rPr lang="en-US" sz="2400" spc="-18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filtration</a:t>
                      </a:r>
                      <a:r>
                        <a:rPr lang="en-US" sz="2400" spc="-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</a:t>
                      </a:r>
                      <a:r>
                        <a:rPr lang="en-US" sz="2400" spc="-17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spc="-1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relevant </a:t>
                      </a:r>
                      <a:r>
                        <a:rPr lang="en-US" sz="2400" spc="35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information</a:t>
                      </a:r>
                      <a:endParaRPr lang="en-US" sz="2400" dirty="0" smtClean="0">
                        <a:solidFill>
                          <a:schemeClr val="accent3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607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54965" marR="46990" lvl="7" indent="-342900">
                        <a:lnSpc>
                          <a:spcPct val="100000"/>
                        </a:lnSpc>
                        <a:spcBef>
                          <a:spcPts val="1610"/>
                        </a:spcBef>
                        <a:buClr>
                          <a:srgbClr val="6E6E74"/>
                        </a:buClr>
                        <a:buSzPct val="79629"/>
                        <a:buFont typeface="Arial" panose="020B0604020202020204" pitchFamily="34" charset="0"/>
                        <a:buChar char="•"/>
                        <a:tabLst>
                          <a:tab pos="195580" algn="l"/>
                        </a:tabLst>
                      </a:pP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Treating</a:t>
                      </a:r>
                      <a:r>
                        <a:rPr lang="en-US" sz="2400" spc="-204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spc="5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</a:t>
                      </a:r>
                      <a:r>
                        <a:rPr lang="en-US" sz="2400" spc="-185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spc="55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lacking</a:t>
                      </a:r>
                      <a:r>
                        <a:rPr lang="en-US" sz="2400" spc="-204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spc="-3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values</a:t>
                      </a:r>
                      <a:r>
                        <a:rPr lang="en-US" sz="2400" spc="-225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spc="7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through</a:t>
                      </a:r>
                      <a:r>
                        <a:rPr lang="en-US" sz="2400" spc="-17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spc="-1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either </a:t>
                      </a:r>
                      <a:r>
                        <a:rPr lang="en-US" sz="2400" spc="6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eliminating</a:t>
                      </a:r>
                      <a:r>
                        <a:rPr lang="en-US" sz="2400" spc="-25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spc="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them</a:t>
                      </a:r>
                      <a:r>
                        <a:rPr lang="en-US" sz="2400" spc="-21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spc="-2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</a:t>
                      </a:r>
                      <a:r>
                        <a:rPr lang="en-US" sz="2400" spc="-22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spc="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imputing</a:t>
                      </a:r>
                      <a:r>
                        <a:rPr lang="en-US" sz="2400" spc="-25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spc="8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them</a:t>
                      </a:r>
                      <a:endParaRPr lang="en-US" sz="2400" dirty="0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305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54965" marR="1566545" lvl="7" indent="-342900">
                        <a:lnSpc>
                          <a:spcPct val="100000"/>
                        </a:lnSpc>
                        <a:spcBef>
                          <a:spcPts val="1595"/>
                        </a:spcBef>
                        <a:buClr>
                          <a:srgbClr val="6E6E74"/>
                        </a:buClr>
                        <a:buSzPct val="79629"/>
                        <a:buFont typeface="Arial" panose="020B0604020202020204" pitchFamily="34" charset="0"/>
                        <a:buChar char="•"/>
                        <a:tabLst>
                          <a:tab pos="195580" algn="l"/>
                        </a:tabLst>
                      </a:pP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Treating</a:t>
                      </a:r>
                      <a:r>
                        <a:rPr lang="en-US" sz="2400" spc="-3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inaccurate</a:t>
                      </a:r>
                      <a:r>
                        <a:rPr lang="en-US" sz="2400" spc="-4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</a:t>
                      </a:r>
                      <a:r>
                        <a:rPr lang="en-US" sz="2400" spc="-25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spc="6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through </a:t>
                      </a:r>
                      <a:r>
                        <a:rPr lang="en-US" sz="2400" spc="55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eliminating</a:t>
                      </a:r>
                      <a:r>
                        <a:rPr lang="en-US" sz="2400" spc="-245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spc="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them</a:t>
                      </a:r>
                      <a:r>
                        <a:rPr lang="en-US" sz="2400" spc="-17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spc="-1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</a:t>
                      </a:r>
                      <a:r>
                        <a:rPr lang="en-US" sz="2400" spc="-22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spc="4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correcting</a:t>
                      </a:r>
                      <a:endParaRPr lang="en-US" sz="240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896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7" indent="-3429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spc="-1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Additionally,</a:t>
                      </a:r>
                      <a:r>
                        <a:rPr lang="en-US" sz="2400" spc="-225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</a:t>
                      </a:r>
                      <a:r>
                        <a:rPr lang="en-US" sz="2400" spc="-18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spc="-25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</a:t>
                      </a:r>
                      <a:r>
                        <a:rPr lang="en-US" sz="2400" spc="-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outliers</a:t>
                      </a:r>
                      <a:r>
                        <a:rPr lang="en-US" sz="2400" spc="-21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spc="5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</a:t>
                      </a:r>
                      <a:r>
                        <a:rPr lang="en-US" sz="2400" spc="-19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spc="-25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</a:t>
                      </a:r>
                      <a:endParaRPr lang="en-US" sz="2400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596584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250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3. Pre-processing of data</a:t>
            </a:r>
            <a:endParaRPr b="1" spc="250">
              <a:solidFill>
                <a:schemeClr val="accent1">
                  <a:lumMod val="75000"/>
                </a:schemeClr>
              </a:solidFill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01853" y="1559813"/>
            <a:ext cx="7270115" cy="34290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5"/>
              </a:spcBef>
              <a:buClr>
                <a:srgbClr val="6E6E74"/>
              </a:buClr>
              <a:buSzPct val="79687"/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3200" spc="85" dirty="0">
                <a:latin typeface="Cambria"/>
                <a:cs typeface="Cambria"/>
              </a:rPr>
              <a:t>Preprocessing</a:t>
            </a:r>
            <a:endParaRPr sz="3200" dirty="0">
              <a:latin typeface="Cambria"/>
              <a:cs typeface="Cambria"/>
            </a:endParaRPr>
          </a:p>
          <a:p>
            <a:pPr marL="469900">
              <a:lnSpc>
                <a:spcPct val="100000"/>
              </a:lnSpc>
              <a:spcBef>
                <a:spcPts val="160"/>
              </a:spcBef>
              <a:tabLst>
                <a:tab pos="927100" algn="l"/>
              </a:tabLst>
            </a:pPr>
            <a:r>
              <a:rPr sz="2800" spc="-1145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2800" dirty="0">
                <a:solidFill>
                  <a:srgbClr val="6E6E74"/>
                </a:solidFill>
                <a:latin typeface="Arial MT"/>
                <a:cs typeface="Arial MT"/>
              </a:rPr>
              <a:t>	</a:t>
            </a:r>
            <a:r>
              <a:rPr sz="2800" spc="140" dirty="0">
                <a:solidFill>
                  <a:srgbClr val="252525"/>
                </a:solidFill>
                <a:latin typeface="Cambria"/>
                <a:cs typeface="Cambria"/>
              </a:rPr>
              <a:t>Cleaning</a:t>
            </a:r>
            <a:endParaRPr sz="2800" dirty="0">
              <a:latin typeface="Cambria"/>
              <a:cs typeface="Cambria"/>
            </a:endParaRPr>
          </a:p>
          <a:p>
            <a:pPr marL="1155700">
              <a:lnSpc>
                <a:spcPts val="2735"/>
              </a:lnSpc>
              <a:spcBef>
                <a:spcPts val="325"/>
              </a:spcBef>
              <a:tabLst>
                <a:tab pos="1612900" algn="l"/>
              </a:tabLst>
            </a:pPr>
            <a:r>
              <a:rPr sz="2400" spc="-990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2400" dirty="0">
                <a:solidFill>
                  <a:srgbClr val="6E6E74"/>
                </a:solidFill>
                <a:latin typeface="Arial MT"/>
                <a:cs typeface="Arial MT"/>
              </a:rPr>
              <a:t>	</a:t>
            </a:r>
            <a:r>
              <a:rPr sz="2400" spc="100" dirty="0">
                <a:solidFill>
                  <a:srgbClr val="252525"/>
                </a:solidFill>
                <a:latin typeface="Cambria"/>
                <a:cs typeface="Cambria"/>
              </a:rPr>
              <a:t>Accurate,</a:t>
            </a:r>
            <a:r>
              <a:rPr sz="2400" spc="13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252525"/>
                </a:solidFill>
                <a:latin typeface="Cambria"/>
                <a:cs typeface="Cambria"/>
              </a:rPr>
              <a:t>consistent,</a:t>
            </a:r>
            <a:r>
              <a:rPr sz="2400" spc="12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252525"/>
                </a:solidFill>
                <a:latin typeface="Cambria"/>
                <a:cs typeface="Cambria"/>
              </a:rPr>
              <a:t>missing</a:t>
            </a:r>
            <a:r>
              <a:rPr sz="2400" spc="12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252525"/>
                </a:solidFill>
                <a:latin typeface="Cambria"/>
                <a:cs typeface="Cambria"/>
              </a:rPr>
              <a:t>values</a:t>
            </a:r>
            <a:r>
              <a:rPr sz="2400" spc="14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252525"/>
                </a:solidFill>
                <a:latin typeface="Cambria"/>
                <a:cs typeface="Cambria"/>
              </a:rPr>
              <a:t>are</a:t>
            </a:r>
            <a:endParaRPr sz="2400" dirty="0">
              <a:latin typeface="Cambria"/>
              <a:cs typeface="Cambria"/>
            </a:endParaRPr>
          </a:p>
          <a:p>
            <a:pPr marL="1612900">
              <a:lnSpc>
                <a:spcPts val="2735"/>
              </a:lnSpc>
            </a:pPr>
            <a:r>
              <a:rPr sz="2400" spc="110" dirty="0">
                <a:solidFill>
                  <a:srgbClr val="252525"/>
                </a:solidFill>
                <a:latin typeface="Cambria"/>
                <a:cs typeface="Cambria"/>
              </a:rPr>
              <a:t>managed,</a:t>
            </a:r>
            <a:r>
              <a:rPr sz="2400" spc="35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252525"/>
                </a:solidFill>
                <a:latin typeface="Cambria"/>
                <a:cs typeface="Cambria"/>
              </a:rPr>
              <a:t>noise-</a:t>
            </a:r>
            <a:r>
              <a:rPr sz="2400" spc="-20" dirty="0">
                <a:solidFill>
                  <a:srgbClr val="252525"/>
                </a:solidFill>
                <a:latin typeface="Cambria"/>
                <a:cs typeface="Cambria"/>
              </a:rPr>
              <a:t>free</a:t>
            </a:r>
            <a:endParaRPr sz="2400" dirty="0">
              <a:latin typeface="Cambria"/>
              <a:cs typeface="Cambria"/>
            </a:endParaRPr>
          </a:p>
          <a:p>
            <a:pPr marL="469900">
              <a:lnSpc>
                <a:spcPct val="100000"/>
              </a:lnSpc>
              <a:spcBef>
                <a:spcPts val="250"/>
              </a:spcBef>
              <a:tabLst>
                <a:tab pos="927100" algn="l"/>
              </a:tabLst>
            </a:pPr>
            <a:r>
              <a:rPr sz="2800" spc="-1145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2800" dirty="0">
                <a:solidFill>
                  <a:srgbClr val="6E6E74"/>
                </a:solidFill>
                <a:latin typeface="Arial MT"/>
                <a:cs typeface="Arial MT"/>
              </a:rPr>
              <a:t>	</a:t>
            </a:r>
            <a:r>
              <a:rPr sz="2800" spc="95" dirty="0">
                <a:solidFill>
                  <a:srgbClr val="252525"/>
                </a:solidFill>
                <a:latin typeface="Cambria"/>
                <a:cs typeface="Cambria"/>
              </a:rPr>
              <a:t>Integration</a:t>
            </a:r>
            <a:endParaRPr sz="2800" dirty="0">
              <a:latin typeface="Cambria"/>
              <a:cs typeface="Cambria"/>
            </a:endParaRPr>
          </a:p>
          <a:p>
            <a:pPr marL="1155700">
              <a:lnSpc>
                <a:spcPct val="100000"/>
              </a:lnSpc>
              <a:spcBef>
                <a:spcPts val="325"/>
              </a:spcBef>
              <a:tabLst>
                <a:tab pos="1612900" algn="l"/>
              </a:tabLst>
            </a:pPr>
            <a:r>
              <a:rPr sz="2400" spc="-990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2400" dirty="0">
                <a:solidFill>
                  <a:srgbClr val="6E6E74"/>
                </a:solidFill>
                <a:latin typeface="Arial MT"/>
                <a:cs typeface="Arial MT"/>
              </a:rPr>
              <a:t>	</a:t>
            </a:r>
            <a:r>
              <a:rPr sz="2400" spc="100" dirty="0">
                <a:solidFill>
                  <a:srgbClr val="252525"/>
                </a:solidFill>
                <a:latin typeface="Cambria"/>
                <a:cs typeface="Cambria"/>
              </a:rPr>
              <a:t>Merge</a:t>
            </a:r>
            <a:r>
              <a:rPr sz="2400" spc="204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252525"/>
                </a:solidFill>
                <a:latin typeface="Cambria"/>
                <a:cs typeface="Cambria"/>
              </a:rPr>
              <a:t>from</a:t>
            </a:r>
            <a:r>
              <a:rPr sz="2400" spc="20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65" dirty="0">
                <a:solidFill>
                  <a:srgbClr val="252525"/>
                </a:solidFill>
                <a:latin typeface="Cambria"/>
                <a:cs typeface="Cambria"/>
              </a:rPr>
              <a:t>different</a:t>
            </a:r>
            <a:r>
              <a:rPr sz="2400" spc="18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ambria"/>
                <a:cs typeface="Cambria"/>
              </a:rPr>
              <a:t>sources</a:t>
            </a:r>
            <a:endParaRPr sz="2400" dirty="0">
              <a:latin typeface="Cambria"/>
              <a:cs typeface="Cambria"/>
            </a:endParaRPr>
          </a:p>
          <a:p>
            <a:pPr marL="469900">
              <a:lnSpc>
                <a:spcPct val="100000"/>
              </a:lnSpc>
              <a:spcBef>
                <a:spcPts val="250"/>
              </a:spcBef>
              <a:tabLst>
                <a:tab pos="927100" algn="l"/>
              </a:tabLst>
            </a:pPr>
            <a:r>
              <a:rPr sz="2800" spc="-1145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2800" dirty="0">
                <a:solidFill>
                  <a:srgbClr val="6E6E74"/>
                </a:solidFill>
                <a:latin typeface="Arial MT"/>
                <a:cs typeface="Arial MT"/>
              </a:rPr>
              <a:t>	</a:t>
            </a:r>
            <a:r>
              <a:rPr sz="2800" spc="65" dirty="0">
                <a:solidFill>
                  <a:srgbClr val="252525"/>
                </a:solidFill>
                <a:latin typeface="Cambria"/>
                <a:cs typeface="Cambria"/>
              </a:rPr>
              <a:t>Reduction</a:t>
            </a:r>
            <a:endParaRPr sz="2800" dirty="0">
              <a:latin typeface="Cambria"/>
              <a:cs typeface="Cambria"/>
            </a:endParaRPr>
          </a:p>
          <a:p>
            <a:pPr marL="1155700">
              <a:lnSpc>
                <a:spcPct val="100000"/>
              </a:lnSpc>
              <a:spcBef>
                <a:spcPts val="330"/>
              </a:spcBef>
              <a:tabLst>
                <a:tab pos="1612900" algn="l"/>
              </a:tabLst>
            </a:pPr>
            <a:r>
              <a:rPr sz="2400" spc="-990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2400" dirty="0">
                <a:solidFill>
                  <a:srgbClr val="6E6E74"/>
                </a:solidFill>
                <a:latin typeface="Arial MT"/>
                <a:cs typeface="Arial MT"/>
              </a:rPr>
              <a:t>	</a:t>
            </a:r>
            <a:r>
              <a:rPr sz="2400" spc="95" dirty="0">
                <a:solidFill>
                  <a:srgbClr val="252525"/>
                </a:solidFill>
                <a:latin typeface="Cambria"/>
                <a:cs typeface="Cambria"/>
              </a:rPr>
              <a:t>Dimensionality</a:t>
            </a:r>
            <a:r>
              <a:rPr sz="2400" spc="14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252525"/>
                </a:solidFill>
                <a:latin typeface="Cambria"/>
                <a:cs typeface="Cambria"/>
              </a:rPr>
              <a:t>Reduction</a:t>
            </a:r>
            <a:endParaRPr sz="2400" dirty="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53206" y="4374250"/>
            <a:ext cx="2971800" cy="1354091"/>
          </a:xfrm>
          <a:prstGeom prst="rect">
            <a:avLst/>
          </a:prstGeom>
        </p:spPr>
      </p:pic>
      <p:sp>
        <p:nvSpPr>
          <p:cNvPr id="6" name="object 3"/>
          <p:cNvSpPr/>
          <p:nvPr/>
        </p:nvSpPr>
        <p:spPr>
          <a:xfrm>
            <a:off x="-25400" y="6096000"/>
            <a:ext cx="9156700" cy="762000"/>
          </a:xfrm>
          <a:custGeom>
            <a:avLst/>
            <a:gdLst/>
            <a:ahLst/>
            <a:cxnLst/>
            <a:rect l="l" t="t" r="r" b="b"/>
            <a:pathLst>
              <a:path w="8801100" h="6858000">
                <a:moveTo>
                  <a:pt x="0" y="6858000"/>
                </a:moveTo>
                <a:lnTo>
                  <a:pt x="8801100" y="6858000"/>
                </a:lnTo>
                <a:lnTo>
                  <a:pt x="88011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8030" y="6281095"/>
            <a:ext cx="2177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bg2"/>
                </a:solidFill>
              </a:rPr>
              <a:t>Data Science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Lifecycle</a:t>
            </a:r>
            <a:endParaRPr lang="en-US" sz="1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80100" y="6314718"/>
            <a:ext cx="3263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 smtClean="0">
                <a:solidFill>
                  <a:schemeClr val="bg2"/>
                </a:solidFill>
              </a:rPr>
              <a:t>Software Engineering Department</a:t>
            </a:r>
          </a:p>
          <a:p>
            <a:pPr algn="r"/>
            <a:r>
              <a:rPr lang="en-US" sz="900" dirty="0" smtClean="0">
                <a:solidFill>
                  <a:schemeClr val="bg2"/>
                </a:solidFill>
              </a:rPr>
              <a:t>QUEST NAWABSHAH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803948" y="6345523"/>
            <a:ext cx="2728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Mr. Zohaib </a:t>
            </a:r>
            <a:r>
              <a:rPr lang="en-US" sz="9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Ahmed </a:t>
            </a:r>
            <a:r>
              <a:rPr lang="en-US" sz="900" dirty="0" smtClean="0">
                <a:solidFill>
                  <a:schemeClr val="bg2"/>
                </a:solidFill>
              </a:rPr>
              <a:t>(</a:t>
            </a:r>
            <a:r>
              <a:rPr lang="en-US" sz="900" dirty="0" err="1" smtClean="0">
                <a:solidFill>
                  <a:schemeClr val="bg2"/>
                </a:solidFill>
              </a:rPr>
              <a:t>Kaggle</a:t>
            </a:r>
            <a:r>
              <a:rPr lang="en-US" sz="900" dirty="0" smtClean="0">
                <a:solidFill>
                  <a:schemeClr val="bg2"/>
                </a:solidFill>
              </a:rPr>
              <a:t> </a:t>
            </a:r>
            <a:r>
              <a:rPr lang="en-US" sz="900" dirty="0">
                <a:solidFill>
                  <a:schemeClr val="bg2"/>
                </a:solidFill>
              </a:rPr>
              <a:t>Master)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22599" y="6496054"/>
            <a:ext cx="30607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 smtClean="0">
                <a:solidFill>
                  <a:schemeClr val="bg2"/>
                </a:solidFill>
              </a:rPr>
              <a:t>MS(Data Science)</a:t>
            </a:r>
            <a:endParaRPr lang="en-US" sz="9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250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Dimensionality Reduction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33600"/>
            <a:ext cx="8441436" cy="3447288"/>
          </a:xfrm>
          <a:prstGeom prst="rect">
            <a:avLst/>
          </a:prstGeom>
        </p:spPr>
      </p:pic>
      <p:sp>
        <p:nvSpPr>
          <p:cNvPr id="5" name="object 3"/>
          <p:cNvSpPr/>
          <p:nvPr/>
        </p:nvSpPr>
        <p:spPr>
          <a:xfrm>
            <a:off x="-25400" y="6096000"/>
            <a:ext cx="9156700" cy="762000"/>
          </a:xfrm>
          <a:custGeom>
            <a:avLst/>
            <a:gdLst/>
            <a:ahLst/>
            <a:cxnLst/>
            <a:rect l="l" t="t" r="r" b="b"/>
            <a:pathLst>
              <a:path w="8801100" h="6858000">
                <a:moveTo>
                  <a:pt x="0" y="6858000"/>
                </a:moveTo>
                <a:lnTo>
                  <a:pt x="8801100" y="6858000"/>
                </a:lnTo>
                <a:lnTo>
                  <a:pt x="88011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030" y="6281095"/>
            <a:ext cx="2177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bg2"/>
                </a:solidFill>
              </a:rPr>
              <a:t>Data Science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Lifecycle</a:t>
            </a:r>
            <a:endParaRPr lang="en-US" sz="1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80100" y="6314718"/>
            <a:ext cx="3263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 smtClean="0">
                <a:solidFill>
                  <a:schemeClr val="bg2"/>
                </a:solidFill>
              </a:rPr>
              <a:t>Software Engineering Department</a:t>
            </a:r>
          </a:p>
          <a:p>
            <a:pPr algn="r"/>
            <a:r>
              <a:rPr lang="en-US" sz="900" dirty="0" smtClean="0">
                <a:solidFill>
                  <a:schemeClr val="bg2"/>
                </a:solidFill>
              </a:rPr>
              <a:t>QUEST NAWABSHAH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803948" y="6345523"/>
            <a:ext cx="2728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Mr. Zohaib </a:t>
            </a:r>
            <a:r>
              <a:rPr lang="en-US" sz="9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Ahmed </a:t>
            </a:r>
            <a:r>
              <a:rPr lang="en-US" sz="900" dirty="0" smtClean="0">
                <a:solidFill>
                  <a:schemeClr val="bg2"/>
                </a:solidFill>
              </a:rPr>
              <a:t>(</a:t>
            </a:r>
            <a:r>
              <a:rPr lang="en-US" sz="900" dirty="0" err="1" smtClean="0">
                <a:solidFill>
                  <a:schemeClr val="bg2"/>
                </a:solidFill>
              </a:rPr>
              <a:t>Kaggle</a:t>
            </a:r>
            <a:r>
              <a:rPr lang="en-US" sz="900" dirty="0" smtClean="0">
                <a:solidFill>
                  <a:schemeClr val="bg2"/>
                </a:solidFill>
              </a:rPr>
              <a:t> </a:t>
            </a:r>
            <a:r>
              <a:rPr lang="en-US" sz="900" dirty="0">
                <a:solidFill>
                  <a:schemeClr val="bg2"/>
                </a:solidFill>
              </a:rPr>
              <a:t>Master)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3022599" y="6496054"/>
            <a:ext cx="30607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 smtClean="0">
                <a:solidFill>
                  <a:schemeClr val="bg2"/>
                </a:solidFill>
              </a:rPr>
              <a:t>MS(Data Science)</a:t>
            </a:r>
            <a:endParaRPr lang="en-US" sz="9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250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Dimensionality Reduction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0693" y="1447800"/>
            <a:ext cx="4302613" cy="4208149"/>
          </a:xfrm>
          <a:prstGeom prst="rect">
            <a:avLst/>
          </a:prstGeom>
        </p:spPr>
      </p:pic>
      <p:sp>
        <p:nvSpPr>
          <p:cNvPr id="5" name="object 3"/>
          <p:cNvSpPr/>
          <p:nvPr/>
        </p:nvSpPr>
        <p:spPr>
          <a:xfrm>
            <a:off x="-25400" y="6096000"/>
            <a:ext cx="9156700" cy="762000"/>
          </a:xfrm>
          <a:custGeom>
            <a:avLst/>
            <a:gdLst/>
            <a:ahLst/>
            <a:cxnLst/>
            <a:rect l="l" t="t" r="r" b="b"/>
            <a:pathLst>
              <a:path w="8801100" h="6858000">
                <a:moveTo>
                  <a:pt x="0" y="6858000"/>
                </a:moveTo>
                <a:lnTo>
                  <a:pt x="8801100" y="6858000"/>
                </a:lnTo>
                <a:lnTo>
                  <a:pt x="88011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030" y="6281095"/>
            <a:ext cx="2177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bg2"/>
                </a:solidFill>
              </a:rPr>
              <a:t>Data Science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Lifecycle</a:t>
            </a:r>
            <a:endParaRPr lang="en-US" sz="1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80100" y="6314718"/>
            <a:ext cx="3263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 smtClean="0">
                <a:solidFill>
                  <a:schemeClr val="bg2"/>
                </a:solidFill>
              </a:rPr>
              <a:t>Software Engineering Department</a:t>
            </a:r>
          </a:p>
          <a:p>
            <a:pPr algn="r"/>
            <a:r>
              <a:rPr lang="en-US" sz="900" dirty="0" smtClean="0">
                <a:solidFill>
                  <a:schemeClr val="bg2"/>
                </a:solidFill>
              </a:rPr>
              <a:t>QUEST NAWABSHAH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803948" y="6345523"/>
            <a:ext cx="2728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Mr. Zohaib </a:t>
            </a:r>
            <a:r>
              <a:rPr lang="en-US" sz="9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Ahmed </a:t>
            </a:r>
            <a:r>
              <a:rPr lang="en-US" sz="900" dirty="0" smtClean="0">
                <a:solidFill>
                  <a:schemeClr val="bg2"/>
                </a:solidFill>
              </a:rPr>
              <a:t>(</a:t>
            </a:r>
            <a:r>
              <a:rPr lang="en-US" sz="900" dirty="0" err="1" smtClean="0">
                <a:solidFill>
                  <a:schemeClr val="bg2"/>
                </a:solidFill>
              </a:rPr>
              <a:t>Kaggle</a:t>
            </a:r>
            <a:r>
              <a:rPr lang="en-US" sz="900" dirty="0" smtClean="0">
                <a:solidFill>
                  <a:schemeClr val="bg2"/>
                </a:solidFill>
              </a:rPr>
              <a:t> </a:t>
            </a:r>
            <a:r>
              <a:rPr lang="en-US" sz="900" dirty="0">
                <a:solidFill>
                  <a:schemeClr val="bg2"/>
                </a:solidFill>
              </a:rPr>
              <a:t>Master)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3022599" y="6496054"/>
            <a:ext cx="30607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 smtClean="0">
                <a:solidFill>
                  <a:schemeClr val="bg2"/>
                </a:solidFill>
              </a:rPr>
              <a:t>MS(Data Science)</a:t>
            </a:r>
            <a:endParaRPr lang="en-US" sz="9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250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Dimensionality Reduction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2373" y="1484374"/>
            <a:ext cx="5405628" cy="4528706"/>
          </a:xfrm>
          <a:prstGeom prst="rect">
            <a:avLst/>
          </a:prstGeom>
        </p:spPr>
      </p:pic>
      <p:sp>
        <p:nvSpPr>
          <p:cNvPr id="4" name="object 3"/>
          <p:cNvSpPr/>
          <p:nvPr/>
        </p:nvSpPr>
        <p:spPr>
          <a:xfrm>
            <a:off x="-25400" y="6096000"/>
            <a:ext cx="9156700" cy="762000"/>
          </a:xfrm>
          <a:custGeom>
            <a:avLst/>
            <a:gdLst/>
            <a:ahLst/>
            <a:cxnLst/>
            <a:rect l="l" t="t" r="r" b="b"/>
            <a:pathLst>
              <a:path w="8801100" h="6858000">
                <a:moveTo>
                  <a:pt x="0" y="6858000"/>
                </a:moveTo>
                <a:lnTo>
                  <a:pt x="8801100" y="6858000"/>
                </a:lnTo>
                <a:lnTo>
                  <a:pt x="88011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8030" y="6281095"/>
            <a:ext cx="2177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bg2"/>
                </a:solidFill>
              </a:rPr>
              <a:t>Data Science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Lifecycle</a:t>
            </a:r>
            <a:endParaRPr lang="en-US" sz="1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80100" y="6314718"/>
            <a:ext cx="3263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 smtClean="0">
                <a:solidFill>
                  <a:schemeClr val="bg2"/>
                </a:solidFill>
              </a:rPr>
              <a:t>Software Engineering Department</a:t>
            </a:r>
          </a:p>
          <a:p>
            <a:pPr algn="r"/>
            <a:r>
              <a:rPr lang="en-US" sz="900" dirty="0" smtClean="0">
                <a:solidFill>
                  <a:schemeClr val="bg2"/>
                </a:solidFill>
              </a:rPr>
              <a:t>QUEST NAWABSHAH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803948" y="6345523"/>
            <a:ext cx="2728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Mr. Zohaib </a:t>
            </a:r>
            <a:r>
              <a:rPr lang="en-US" sz="9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Ahmed </a:t>
            </a:r>
            <a:r>
              <a:rPr lang="en-US" sz="900" dirty="0" smtClean="0">
                <a:solidFill>
                  <a:schemeClr val="bg2"/>
                </a:solidFill>
              </a:rPr>
              <a:t>(</a:t>
            </a:r>
            <a:r>
              <a:rPr lang="en-US" sz="900" dirty="0" err="1" smtClean="0">
                <a:solidFill>
                  <a:schemeClr val="bg2"/>
                </a:solidFill>
              </a:rPr>
              <a:t>Kaggle</a:t>
            </a:r>
            <a:r>
              <a:rPr lang="en-US" sz="900" dirty="0" smtClean="0">
                <a:solidFill>
                  <a:schemeClr val="bg2"/>
                </a:solidFill>
              </a:rPr>
              <a:t> </a:t>
            </a:r>
            <a:r>
              <a:rPr lang="en-US" sz="900" dirty="0">
                <a:solidFill>
                  <a:schemeClr val="bg2"/>
                </a:solidFill>
              </a:rPr>
              <a:t>Master)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3022599" y="6496054"/>
            <a:ext cx="30607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 smtClean="0">
                <a:solidFill>
                  <a:schemeClr val="bg2"/>
                </a:solidFill>
              </a:rPr>
              <a:t>MS(Data Science)</a:t>
            </a:r>
            <a:endParaRPr lang="en-US" sz="9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250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Dimensionality Reduction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3603" y="1693203"/>
            <a:ext cx="5530597" cy="4286017"/>
          </a:xfrm>
          <a:prstGeom prst="rect">
            <a:avLst/>
          </a:prstGeom>
        </p:spPr>
      </p:pic>
      <p:sp>
        <p:nvSpPr>
          <p:cNvPr id="4" name="object 3"/>
          <p:cNvSpPr/>
          <p:nvPr/>
        </p:nvSpPr>
        <p:spPr>
          <a:xfrm>
            <a:off x="-25400" y="6096000"/>
            <a:ext cx="9156700" cy="762000"/>
          </a:xfrm>
          <a:custGeom>
            <a:avLst/>
            <a:gdLst/>
            <a:ahLst/>
            <a:cxnLst/>
            <a:rect l="l" t="t" r="r" b="b"/>
            <a:pathLst>
              <a:path w="8801100" h="6858000">
                <a:moveTo>
                  <a:pt x="0" y="6858000"/>
                </a:moveTo>
                <a:lnTo>
                  <a:pt x="8801100" y="6858000"/>
                </a:lnTo>
                <a:lnTo>
                  <a:pt x="88011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8030" y="6281095"/>
            <a:ext cx="2177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bg2"/>
                </a:solidFill>
              </a:rPr>
              <a:t>Data Science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Lifecycle</a:t>
            </a:r>
            <a:endParaRPr lang="en-US" sz="1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80100" y="6314718"/>
            <a:ext cx="3263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 smtClean="0">
                <a:solidFill>
                  <a:schemeClr val="bg2"/>
                </a:solidFill>
              </a:rPr>
              <a:t>Software Engineering Department</a:t>
            </a:r>
          </a:p>
          <a:p>
            <a:pPr algn="r"/>
            <a:r>
              <a:rPr lang="en-US" sz="900" dirty="0" smtClean="0">
                <a:solidFill>
                  <a:schemeClr val="bg2"/>
                </a:solidFill>
              </a:rPr>
              <a:t>QUEST NAWABSHAH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803948" y="6345523"/>
            <a:ext cx="2728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Mr. Zohaib </a:t>
            </a:r>
            <a:r>
              <a:rPr lang="en-US" sz="9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Ahmed </a:t>
            </a:r>
            <a:r>
              <a:rPr lang="en-US" sz="900" dirty="0" smtClean="0">
                <a:solidFill>
                  <a:schemeClr val="bg2"/>
                </a:solidFill>
              </a:rPr>
              <a:t>(</a:t>
            </a:r>
            <a:r>
              <a:rPr lang="en-US" sz="900" dirty="0" err="1" smtClean="0">
                <a:solidFill>
                  <a:schemeClr val="bg2"/>
                </a:solidFill>
              </a:rPr>
              <a:t>Kaggle</a:t>
            </a:r>
            <a:r>
              <a:rPr lang="en-US" sz="900" dirty="0" smtClean="0">
                <a:solidFill>
                  <a:schemeClr val="bg2"/>
                </a:solidFill>
              </a:rPr>
              <a:t> </a:t>
            </a:r>
            <a:r>
              <a:rPr lang="en-US" sz="900" dirty="0">
                <a:solidFill>
                  <a:schemeClr val="bg2"/>
                </a:solidFill>
              </a:rPr>
              <a:t>Master)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3022599" y="6496054"/>
            <a:ext cx="30607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 smtClean="0">
                <a:solidFill>
                  <a:schemeClr val="bg2"/>
                </a:solidFill>
              </a:rPr>
              <a:t>MS(Data Science)</a:t>
            </a:r>
            <a:endParaRPr lang="en-US" sz="9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250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Dimensionality Reduction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1273" y="1690689"/>
            <a:ext cx="5521453" cy="4247305"/>
          </a:xfrm>
          <a:prstGeom prst="rect">
            <a:avLst/>
          </a:prstGeom>
        </p:spPr>
      </p:pic>
      <p:sp>
        <p:nvSpPr>
          <p:cNvPr id="4" name="object 3"/>
          <p:cNvSpPr/>
          <p:nvPr/>
        </p:nvSpPr>
        <p:spPr>
          <a:xfrm>
            <a:off x="-25400" y="6096000"/>
            <a:ext cx="9156700" cy="762000"/>
          </a:xfrm>
          <a:custGeom>
            <a:avLst/>
            <a:gdLst/>
            <a:ahLst/>
            <a:cxnLst/>
            <a:rect l="l" t="t" r="r" b="b"/>
            <a:pathLst>
              <a:path w="8801100" h="6858000">
                <a:moveTo>
                  <a:pt x="0" y="6858000"/>
                </a:moveTo>
                <a:lnTo>
                  <a:pt x="8801100" y="6858000"/>
                </a:lnTo>
                <a:lnTo>
                  <a:pt x="88011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8030" y="6281095"/>
            <a:ext cx="2177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bg2"/>
                </a:solidFill>
              </a:rPr>
              <a:t>Data Science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Lifecycle</a:t>
            </a:r>
            <a:endParaRPr lang="en-US" sz="1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80100" y="6314718"/>
            <a:ext cx="3263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 smtClean="0">
                <a:solidFill>
                  <a:schemeClr val="bg2"/>
                </a:solidFill>
              </a:rPr>
              <a:t>Software Engineering Department</a:t>
            </a:r>
          </a:p>
          <a:p>
            <a:pPr algn="r"/>
            <a:r>
              <a:rPr lang="en-US" sz="900" dirty="0" smtClean="0">
                <a:solidFill>
                  <a:schemeClr val="bg2"/>
                </a:solidFill>
              </a:rPr>
              <a:t>QUEST NAWABSHAH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803948" y="6345523"/>
            <a:ext cx="2728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Mr. Zohaib </a:t>
            </a:r>
            <a:r>
              <a:rPr lang="en-US" sz="9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Ahmed </a:t>
            </a:r>
            <a:r>
              <a:rPr lang="en-US" sz="900" dirty="0" smtClean="0">
                <a:solidFill>
                  <a:schemeClr val="bg2"/>
                </a:solidFill>
              </a:rPr>
              <a:t>(</a:t>
            </a:r>
            <a:r>
              <a:rPr lang="en-US" sz="900" dirty="0" err="1" smtClean="0">
                <a:solidFill>
                  <a:schemeClr val="bg2"/>
                </a:solidFill>
              </a:rPr>
              <a:t>Kaggle</a:t>
            </a:r>
            <a:r>
              <a:rPr lang="en-US" sz="900" dirty="0" smtClean="0">
                <a:solidFill>
                  <a:schemeClr val="bg2"/>
                </a:solidFill>
              </a:rPr>
              <a:t> </a:t>
            </a:r>
            <a:r>
              <a:rPr lang="en-US" sz="900" dirty="0">
                <a:solidFill>
                  <a:schemeClr val="bg2"/>
                </a:solidFill>
              </a:rPr>
              <a:t>Master)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3022599" y="6496054"/>
            <a:ext cx="30607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 smtClean="0">
                <a:solidFill>
                  <a:schemeClr val="bg2"/>
                </a:solidFill>
              </a:rPr>
              <a:t>MS(Data Science)</a:t>
            </a:r>
            <a:endParaRPr lang="en-US" sz="9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250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Dimensionality Reduction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1436971"/>
            <a:ext cx="5233417" cy="4377384"/>
          </a:xfrm>
          <a:prstGeom prst="rect">
            <a:avLst/>
          </a:prstGeom>
        </p:spPr>
      </p:pic>
      <p:sp>
        <p:nvSpPr>
          <p:cNvPr id="4" name="object 3"/>
          <p:cNvSpPr/>
          <p:nvPr/>
        </p:nvSpPr>
        <p:spPr>
          <a:xfrm>
            <a:off x="-25400" y="6096000"/>
            <a:ext cx="9156700" cy="762000"/>
          </a:xfrm>
          <a:custGeom>
            <a:avLst/>
            <a:gdLst/>
            <a:ahLst/>
            <a:cxnLst/>
            <a:rect l="l" t="t" r="r" b="b"/>
            <a:pathLst>
              <a:path w="8801100" h="6858000">
                <a:moveTo>
                  <a:pt x="0" y="6858000"/>
                </a:moveTo>
                <a:lnTo>
                  <a:pt x="8801100" y="6858000"/>
                </a:lnTo>
                <a:lnTo>
                  <a:pt x="88011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8030" y="6281095"/>
            <a:ext cx="2177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bg2"/>
                </a:solidFill>
              </a:rPr>
              <a:t>Data Science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Lifecycle</a:t>
            </a:r>
            <a:endParaRPr lang="en-US" sz="1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80100" y="6314718"/>
            <a:ext cx="3263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 smtClean="0">
                <a:solidFill>
                  <a:schemeClr val="bg2"/>
                </a:solidFill>
              </a:rPr>
              <a:t>Software Engineering Department</a:t>
            </a:r>
          </a:p>
          <a:p>
            <a:pPr algn="r"/>
            <a:r>
              <a:rPr lang="en-US" sz="900" dirty="0" smtClean="0">
                <a:solidFill>
                  <a:schemeClr val="bg2"/>
                </a:solidFill>
              </a:rPr>
              <a:t>QUEST NAWABSHAH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803948" y="6345523"/>
            <a:ext cx="2728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Mr. Zohaib </a:t>
            </a:r>
            <a:r>
              <a:rPr lang="en-US" sz="9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Ahmed </a:t>
            </a:r>
            <a:r>
              <a:rPr lang="en-US" sz="900" dirty="0" smtClean="0">
                <a:solidFill>
                  <a:schemeClr val="bg2"/>
                </a:solidFill>
              </a:rPr>
              <a:t>(</a:t>
            </a:r>
            <a:r>
              <a:rPr lang="en-US" sz="900" dirty="0" err="1" smtClean="0">
                <a:solidFill>
                  <a:schemeClr val="bg2"/>
                </a:solidFill>
              </a:rPr>
              <a:t>Kaggle</a:t>
            </a:r>
            <a:r>
              <a:rPr lang="en-US" sz="900" dirty="0" smtClean="0">
                <a:solidFill>
                  <a:schemeClr val="bg2"/>
                </a:solidFill>
              </a:rPr>
              <a:t> </a:t>
            </a:r>
            <a:r>
              <a:rPr lang="en-US" sz="900" dirty="0">
                <a:solidFill>
                  <a:schemeClr val="bg2"/>
                </a:solidFill>
              </a:rPr>
              <a:t>Master)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3022599" y="6496054"/>
            <a:ext cx="30607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 smtClean="0">
                <a:solidFill>
                  <a:schemeClr val="bg2"/>
                </a:solidFill>
              </a:rPr>
              <a:t>MS(Data Science)</a:t>
            </a:r>
            <a:endParaRPr lang="en-US" sz="9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250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Dimensionality Reduction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2450" y="1717151"/>
            <a:ext cx="4920997" cy="4074792"/>
          </a:xfrm>
          <a:prstGeom prst="rect">
            <a:avLst/>
          </a:prstGeom>
        </p:spPr>
      </p:pic>
      <p:sp>
        <p:nvSpPr>
          <p:cNvPr id="4" name="object 3"/>
          <p:cNvSpPr/>
          <p:nvPr/>
        </p:nvSpPr>
        <p:spPr>
          <a:xfrm>
            <a:off x="-25400" y="6096000"/>
            <a:ext cx="9156700" cy="762000"/>
          </a:xfrm>
          <a:custGeom>
            <a:avLst/>
            <a:gdLst/>
            <a:ahLst/>
            <a:cxnLst/>
            <a:rect l="l" t="t" r="r" b="b"/>
            <a:pathLst>
              <a:path w="8801100" h="6858000">
                <a:moveTo>
                  <a:pt x="0" y="6858000"/>
                </a:moveTo>
                <a:lnTo>
                  <a:pt x="8801100" y="6858000"/>
                </a:lnTo>
                <a:lnTo>
                  <a:pt x="88011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8030" y="6281095"/>
            <a:ext cx="2177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bg2"/>
                </a:solidFill>
              </a:rPr>
              <a:t>Data Science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Lifecycle</a:t>
            </a:r>
            <a:endParaRPr lang="en-US" sz="1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80100" y="6314718"/>
            <a:ext cx="3263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 smtClean="0">
                <a:solidFill>
                  <a:schemeClr val="bg2"/>
                </a:solidFill>
              </a:rPr>
              <a:t>Software Engineering Department</a:t>
            </a:r>
          </a:p>
          <a:p>
            <a:pPr algn="r"/>
            <a:r>
              <a:rPr lang="en-US" sz="900" dirty="0" smtClean="0">
                <a:solidFill>
                  <a:schemeClr val="bg2"/>
                </a:solidFill>
              </a:rPr>
              <a:t>QUEST NAWABSHAH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803948" y="6345523"/>
            <a:ext cx="2728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Mr. Zohaib </a:t>
            </a:r>
            <a:r>
              <a:rPr lang="en-US" sz="9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Ahmed </a:t>
            </a:r>
            <a:r>
              <a:rPr lang="en-US" sz="900" dirty="0" smtClean="0">
                <a:solidFill>
                  <a:schemeClr val="bg2"/>
                </a:solidFill>
              </a:rPr>
              <a:t>(</a:t>
            </a:r>
            <a:r>
              <a:rPr lang="en-US" sz="900" dirty="0" err="1" smtClean="0">
                <a:solidFill>
                  <a:schemeClr val="bg2"/>
                </a:solidFill>
              </a:rPr>
              <a:t>Kaggle</a:t>
            </a:r>
            <a:r>
              <a:rPr lang="en-US" sz="900" dirty="0" smtClean="0">
                <a:solidFill>
                  <a:schemeClr val="bg2"/>
                </a:solidFill>
              </a:rPr>
              <a:t> </a:t>
            </a:r>
            <a:r>
              <a:rPr lang="en-US" sz="900" dirty="0">
                <a:solidFill>
                  <a:schemeClr val="bg2"/>
                </a:solidFill>
              </a:rPr>
              <a:t>Master)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3022599" y="6496054"/>
            <a:ext cx="30607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 smtClean="0">
                <a:solidFill>
                  <a:schemeClr val="bg2"/>
                </a:solidFill>
              </a:rPr>
              <a:t>MS(Data Science)</a:t>
            </a:r>
            <a:endParaRPr lang="en-US" sz="9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250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Dimensionality Reduction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2967" y="1690689"/>
            <a:ext cx="4998066" cy="4062987"/>
          </a:xfrm>
          <a:prstGeom prst="rect">
            <a:avLst/>
          </a:prstGeom>
        </p:spPr>
      </p:pic>
      <p:sp>
        <p:nvSpPr>
          <p:cNvPr id="4" name="object 3"/>
          <p:cNvSpPr/>
          <p:nvPr/>
        </p:nvSpPr>
        <p:spPr>
          <a:xfrm>
            <a:off x="-25400" y="6096000"/>
            <a:ext cx="9156700" cy="762000"/>
          </a:xfrm>
          <a:custGeom>
            <a:avLst/>
            <a:gdLst/>
            <a:ahLst/>
            <a:cxnLst/>
            <a:rect l="l" t="t" r="r" b="b"/>
            <a:pathLst>
              <a:path w="8801100" h="6858000">
                <a:moveTo>
                  <a:pt x="0" y="6858000"/>
                </a:moveTo>
                <a:lnTo>
                  <a:pt x="8801100" y="6858000"/>
                </a:lnTo>
                <a:lnTo>
                  <a:pt x="88011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8030" y="6281095"/>
            <a:ext cx="2177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bg2"/>
                </a:solidFill>
              </a:rPr>
              <a:t>Data Science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Lifecycle</a:t>
            </a:r>
            <a:endParaRPr lang="en-US" sz="1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80100" y="6314718"/>
            <a:ext cx="3263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 smtClean="0">
                <a:solidFill>
                  <a:schemeClr val="bg2"/>
                </a:solidFill>
              </a:rPr>
              <a:t>Software Engineering Department</a:t>
            </a:r>
          </a:p>
          <a:p>
            <a:pPr algn="r"/>
            <a:r>
              <a:rPr lang="en-US" sz="900" dirty="0" smtClean="0">
                <a:solidFill>
                  <a:schemeClr val="bg2"/>
                </a:solidFill>
              </a:rPr>
              <a:t>QUEST NAWABSHAH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803948" y="6345523"/>
            <a:ext cx="2728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Mr. Zohaib </a:t>
            </a:r>
            <a:r>
              <a:rPr lang="en-US" sz="9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Ahmed </a:t>
            </a:r>
            <a:r>
              <a:rPr lang="en-US" sz="900" dirty="0" smtClean="0">
                <a:solidFill>
                  <a:schemeClr val="bg2"/>
                </a:solidFill>
              </a:rPr>
              <a:t>(</a:t>
            </a:r>
            <a:r>
              <a:rPr lang="en-US" sz="900" dirty="0" err="1" smtClean="0">
                <a:solidFill>
                  <a:schemeClr val="bg2"/>
                </a:solidFill>
              </a:rPr>
              <a:t>Kaggle</a:t>
            </a:r>
            <a:r>
              <a:rPr lang="en-US" sz="900" dirty="0" smtClean="0">
                <a:solidFill>
                  <a:schemeClr val="bg2"/>
                </a:solidFill>
              </a:rPr>
              <a:t> </a:t>
            </a:r>
            <a:r>
              <a:rPr lang="en-US" sz="900" dirty="0">
                <a:solidFill>
                  <a:schemeClr val="bg2"/>
                </a:solidFill>
              </a:rPr>
              <a:t>Master)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3022599" y="6496054"/>
            <a:ext cx="30607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 smtClean="0">
                <a:solidFill>
                  <a:schemeClr val="bg2"/>
                </a:solidFill>
              </a:rPr>
              <a:t>MS(Data Science)</a:t>
            </a:r>
            <a:endParaRPr lang="en-US" sz="9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250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3. Pre-processing of data</a:t>
            </a:r>
            <a:endParaRPr b="1" spc="250">
              <a:solidFill>
                <a:schemeClr val="accent1">
                  <a:lumMod val="75000"/>
                </a:schemeClr>
              </a:solidFill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01853" y="1559813"/>
            <a:ext cx="3460115" cy="960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5"/>
              </a:spcBef>
              <a:buClr>
                <a:srgbClr val="6E6E74"/>
              </a:buClr>
              <a:buSzPct val="79687"/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3200" spc="110" dirty="0">
                <a:latin typeface="Cambria"/>
                <a:cs typeface="Cambria"/>
              </a:rPr>
              <a:t>Transformation</a:t>
            </a:r>
            <a:endParaRPr sz="3200">
              <a:latin typeface="Cambria"/>
              <a:cs typeface="Cambria"/>
            </a:endParaRPr>
          </a:p>
          <a:p>
            <a:pPr marL="469900">
              <a:lnSpc>
                <a:spcPct val="100000"/>
              </a:lnSpc>
              <a:spcBef>
                <a:spcPts val="160"/>
              </a:spcBef>
              <a:tabLst>
                <a:tab pos="927100" algn="l"/>
              </a:tabLst>
            </a:pPr>
            <a:r>
              <a:rPr sz="2800" spc="-1145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2800" dirty="0">
                <a:solidFill>
                  <a:srgbClr val="6E6E74"/>
                </a:solidFill>
                <a:latin typeface="Arial MT"/>
                <a:cs typeface="Arial MT"/>
              </a:rPr>
              <a:t>	</a:t>
            </a:r>
            <a:r>
              <a:rPr sz="2800" spc="95" dirty="0">
                <a:solidFill>
                  <a:srgbClr val="252525"/>
                </a:solidFill>
                <a:latin typeface="Cambria"/>
                <a:cs typeface="Cambria"/>
              </a:rPr>
              <a:t>Smoothing</a:t>
            </a:r>
            <a:endParaRPr sz="28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800" y="2724136"/>
            <a:ext cx="5966460" cy="3221333"/>
          </a:xfrm>
          <a:prstGeom prst="rect">
            <a:avLst/>
          </a:prstGeom>
        </p:spPr>
      </p:pic>
      <p:sp>
        <p:nvSpPr>
          <p:cNvPr id="6" name="object 3"/>
          <p:cNvSpPr/>
          <p:nvPr/>
        </p:nvSpPr>
        <p:spPr>
          <a:xfrm>
            <a:off x="-25400" y="6096000"/>
            <a:ext cx="9156700" cy="762000"/>
          </a:xfrm>
          <a:custGeom>
            <a:avLst/>
            <a:gdLst/>
            <a:ahLst/>
            <a:cxnLst/>
            <a:rect l="l" t="t" r="r" b="b"/>
            <a:pathLst>
              <a:path w="8801100" h="6858000">
                <a:moveTo>
                  <a:pt x="0" y="6858000"/>
                </a:moveTo>
                <a:lnTo>
                  <a:pt x="8801100" y="6858000"/>
                </a:lnTo>
                <a:lnTo>
                  <a:pt x="88011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8030" y="6281095"/>
            <a:ext cx="2177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bg2"/>
                </a:solidFill>
              </a:rPr>
              <a:t>Data Science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Lifecycle</a:t>
            </a:r>
            <a:endParaRPr lang="en-US" sz="1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80100" y="6314718"/>
            <a:ext cx="3263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 smtClean="0">
                <a:solidFill>
                  <a:schemeClr val="bg2"/>
                </a:solidFill>
              </a:rPr>
              <a:t>Software Engineering Department</a:t>
            </a:r>
          </a:p>
          <a:p>
            <a:pPr algn="r"/>
            <a:r>
              <a:rPr lang="en-US" sz="900" dirty="0" smtClean="0">
                <a:solidFill>
                  <a:schemeClr val="bg2"/>
                </a:solidFill>
              </a:rPr>
              <a:t>QUEST NAWABSHAH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803948" y="6345523"/>
            <a:ext cx="2728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Mr. Zohaib </a:t>
            </a:r>
            <a:r>
              <a:rPr lang="en-US" sz="9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Ahmed </a:t>
            </a:r>
            <a:r>
              <a:rPr lang="en-US" sz="900" dirty="0" smtClean="0">
                <a:solidFill>
                  <a:schemeClr val="bg2"/>
                </a:solidFill>
              </a:rPr>
              <a:t>(</a:t>
            </a:r>
            <a:r>
              <a:rPr lang="en-US" sz="900" dirty="0" err="1" smtClean="0">
                <a:solidFill>
                  <a:schemeClr val="bg2"/>
                </a:solidFill>
              </a:rPr>
              <a:t>Kaggle</a:t>
            </a:r>
            <a:r>
              <a:rPr lang="en-US" sz="900" dirty="0" smtClean="0">
                <a:solidFill>
                  <a:schemeClr val="bg2"/>
                </a:solidFill>
              </a:rPr>
              <a:t> </a:t>
            </a:r>
            <a:r>
              <a:rPr lang="en-US" sz="900" dirty="0">
                <a:solidFill>
                  <a:schemeClr val="bg2"/>
                </a:solidFill>
              </a:rPr>
              <a:t>Master)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22599" y="6496054"/>
            <a:ext cx="30607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 smtClean="0">
                <a:solidFill>
                  <a:schemeClr val="bg2"/>
                </a:solidFill>
              </a:rPr>
              <a:t>MS(Data Science)</a:t>
            </a:r>
            <a:endParaRPr lang="en-US" sz="9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250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3. Pre-processing of data</a:t>
            </a:r>
            <a:endParaRPr b="1" spc="250">
              <a:solidFill>
                <a:schemeClr val="accent1">
                  <a:lumMod val="75000"/>
                </a:schemeClr>
              </a:solidFill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28650" y="1825625"/>
            <a:ext cx="7886700" cy="2603918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305"/>
              </a:spcBef>
              <a:buClr>
                <a:srgbClr val="6E6E74"/>
              </a:buClr>
              <a:buSzPct val="79687"/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pc="195" dirty="0"/>
              <a:t>Transformation</a:t>
            </a:r>
          </a:p>
          <a:p>
            <a:pPr marL="469900">
              <a:lnSpc>
                <a:spcPct val="100000"/>
              </a:lnSpc>
              <a:spcBef>
                <a:spcPts val="170"/>
              </a:spcBef>
              <a:tabLst>
                <a:tab pos="927100" algn="l"/>
              </a:tabLst>
            </a:pPr>
            <a:r>
              <a:rPr sz="2800" b="0" spc="-1145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2800" b="0" dirty="0">
                <a:solidFill>
                  <a:srgbClr val="6E6E74"/>
                </a:solidFill>
                <a:latin typeface="Arial MT"/>
                <a:cs typeface="Arial MT"/>
              </a:rPr>
              <a:t>	</a:t>
            </a:r>
            <a:r>
              <a:rPr sz="2800" b="0" spc="130" dirty="0">
                <a:solidFill>
                  <a:srgbClr val="252525"/>
                </a:solidFill>
                <a:latin typeface="Cambria"/>
                <a:cs typeface="Cambria"/>
              </a:rPr>
              <a:t>Feature</a:t>
            </a:r>
            <a:r>
              <a:rPr sz="2800" b="0" spc="19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800" b="0" spc="105" dirty="0">
                <a:solidFill>
                  <a:srgbClr val="252525"/>
                </a:solidFill>
                <a:latin typeface="Cambria"/>
                <a:cs typeface="Cambria"/>
              </a:rPr>
              <a:t>Engineering</a:t>
            </a:r>
            <a:endParaRPr sz="2800" dirty="0">
              <a:latin typeface="Cambria"/>
              <a:cs typeface="Cambria"/>
            </a:endParaRPr>
          </a:p>
          <a:p>
            <a:pPr marL="469900">
              <a:lnSpc>
                <a:spcPct val="100000"/>
              </a:lnSpc>
              <a:spcBef>
                <a:spcPts val="265"/>
              </a:spcBef>
              <a:tabLst>
                <a:tab pos="927100" algn="l"/>
              </a:tabLst>
            </a:pPr>
            <a:r>
              <a:rPr sz="2800" b="0" spc="-1145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2800" b="0" dirty="0">
                <a:solidFill>
                  <a:srgbClr val="6E6E74"/>
                </a:solidFill>
                <a:latin typeface="Arial MT"/>
                <a:cs typeface="Arial MT"/>
              </a:rPr>
              <a:t>	</a:t>
            </a:r>
            <a:r>
              <a:rPr sz="2800" b="0" spc="130" dirty="0">
                <a:solidFill>
                  <a:srgbClr val="252525"/>
                </a:solidFill>
                <a:latin typeface="Cambria"/>
                <a:cs typeface="Cambria"/>
              </a:rPr>
              <a:t>Feature</a:t>
            </a:r>
            <a:r>
              <a:rPr sz="2800" b="0" spc="17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800" b="0" spc="100" dirty="0">
                <a:solidFill>
                  <a:srgbClr val="252525"/>
                </a:solidFill>
                <a:latin typeface="Cambria"/>
                <a:cs typeface="Cambria"/>
              </a:rPr>
              <a:t>Extraction</a:t>
            </a:r>
            <a:endParaRPr sz="2800" dirty="0">
              <a:latin typeface="Cambria"/>
              <a:cs typeface="Cambria"/>
            </a:endParaRPr>
          </a:p>
          <a:p>
            <a:pPr marL="927100" marR="5080" indent="-457834">
              <a:lnSpc>
                <a:spcPts val="3020"/>
              </a:lnSpc>
              <a:spcBef>
                <a:spcPts val="650"/>
              </a:spcBef>
              <a:tabLst>
                <a:tab pos="927100" algn="l"/>
              </a:tabLst>
            </a:pPr>
            <a:r>
              <a:rPr sz="2800" b="0" spc="-1145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2800" b="0" dirty="0">
                <a:solidFill>
                  <a:srgbClr val="6E6E74"/>
                </a:solidFill>
                <a:latin typeface="Arial MT"/>
                <a:cs typeface="Arial MT"/>
              </a:rPr>
              <a:t>	</a:t>
            </a:r>
            <a:r>
              <a:rPr sz="2800" b="0" spc="95" dirty="0">
                <a:solidFill>
                  <a:srgbClr val="252525"/>
                </a:solidFill>
                <a:latin typeface="Cambria"/>
                <a:cs typeface="Cambria"/>
              </a:rPr>
              <a:t>Discretization</a:t>
            </a:r>
            <a:r>
              <a:rPr sz="2800" b="0" spc="204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800" b="0" spc="-45" dirty="0">
                <a:solidFill>
                  <a:srgbClr val="252525"/>
                </a:solidFill>
                <a:latin typeface="Cambria"/>
                <a:cs typeface="Cambria"/>
              </a:rPr>
              <a:t>(40-</a:t>
            </a:r>
            <a:r>
              <a:rPr sz="2800" b="0" dirty="0">
                <a:solidFill>
                  <a:srgbClr val="252525"/>
                </a:solidFill>
                <a:latin typeface="Cambria"/>
                <a:cs typeface="Cambria"/>
              </a:rPr>
              <a:t>50</a:t>
            </a:r>
            <a:r>
              <a:rPr sz="2800" b="0" spc="20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800" b="0" spc="150" dirty="0">
                <a:solidFill>
                  <a:srgbClr val="252525"/>
                </a:solidFill>
                <a:latin typeface="Cambria"/>
                <a:cs typeface="Cambria"/>
              </a:rPr>
              <a:t>–</a:t>
            </a:r>
            <a:r>
              <a:rPr sz="2800" b="0" spc="18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lang="en-US" sz="2800" b="0" spc="60" dirty="0" smtClean="0">
                <a:solidFill>
                  <a:srgbClr val="252525"/>
                </a:solidFill>
                <a:latin typeface="Cambria"/>
                <a:cs typeface="Cambria"/>
              </a:rPr>
              <a:t>Not</a:t>
            </a:r>
            <a:r>
              <a:rPr sz="2800" b="0" spc="165" dirty="0" smtClean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lang="en-US" sz="2800" b="0" spc="140" dirty="0" smtClean="0">
                <a:solidFill>
                  <a:srgbClr val="252525"/>
                </a:solidFill>
                <a:latin typeface="Cambria"/>
                <a:cs typeface="Cambria"/>
              </a:rPr>
              <a:t>Apply</a:t>
            </a:r>
            <a:r>
              <a:rPr sz="2800" b="0" spc="140" dirty="0" smtClean="0">
                <a:solidFill>
                  <a:srgbClr val="252525"/>
                </a:solidFill>
                <a:latin typeface="Cambria"/>
                <a:cs typeface="Cambria"/>
              </a:rPr>
              <a:t>…)</a:t>
            </a:r>
            <a:r>
              <a:rPr sz="2800" b="0" spc="185" dirty="0" smtClean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800" spc="190" dirty="0">
                <a:solidFill>
                  <a:srgbClr val="252525"/>
                </a:solidFill>
              </a:rPr>
              <a:t>Other </a:t>
            </a:r>
            <a:r>
              <a:rPr sz="2800" spc="140" dirty="0">
                <a:solidFill>
                  <a:srgbClr val="252525"/>
                </a:solidFill>
              </a:rPr>
              <a:t>examples?</a:t>
            </a:r>
            <a:endParaRPr sz="2800" dirty="0">
              <a:latin typeface="Cambria"/>
              <a:cs typeface="Cambria"/>
            </a:endParaRPr>
          </a:p>
          <a:p>
            <a:pPr marL="469900">
              <a:lnSpc>
                <a:spcPct val="100000"/>
              </a:lnSpc>
              <a:spcBef>
                <a:spcPts val="225"/>
              </a:spcBef>
              <a:tabLst>
                <a:tab pos="927100" algn="l"/>
              </a:tabLst>
            </a:pPr>
            <a:r>
              <a:rPr sz="2800" b="0" spc="-1145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2800" b="0" dirty="0">
                <a:solidFill>
                  <a:srgbClr val="6E6E74"/>
                </a:solidFill>
                <a:latin typeface="Arial MT"/>
                <a:cs typeface="Arial MT"/>
              </a:rPr>
              <a:t>	</a:t>
            </a:r>
            <a:r>
              <a:rPr sz="2800" b="0" spc="105" dirty="0">
                <a:solidFill>
                  <a:srgbClr val="252525"/>
                </a:solidFill>
                <a:latin typeface="Cambria"/>
                <a:cs typeface="Cambria"/>
              </a:rPr>
              <a:t>Normalization</a:t>
            </a:r>
            <a:r>
              <a:rPr sz="2800" b="0" spc="22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800" b="0" spc="100" dirty="0">
                <a:solidFill>
                  <a:srgbClr val="252525"/>
                </a:solidFill>
                <a:latin typeface="Cambria"/>
                <a:cs typeface="Cambria"/>
              </a:rPr>
              <a:t>(Feature</a:t>
            </a:r>
            <a:r>
              <a:rPr sz="2800" b="0" spc="18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800" b="0" spc="95" dirty="0">
                <a:solidFill>
                  <a:srgbClr val="252525"/>
                </a:solidFill>
                <a:latin typeface="Cambria"/>
                <a:cs typeface="Cambria"/>
              </a:rPr>
              <a:t>Scaling)</a:t>
            </a:r>
            <a:endParaRPr sz="28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5" name="object 3"/>
          <p:cNvSpPr/>
          <p:nvPr/>
        </p:nvSpPr>
        <p:spPr>
          <a:xfrm>
            <a:off x="-25400" y="6096000"/>
            <a:ext cx="9156700" cy="762000"/>
          </a:xfrm>
          <a:custGeom>
            <a:avLst/>
            <a:gdLst/>
            <a:ahLst/>
            <a:cxnLst/>
            <a:rect l="l" t="t" r="r" b="b"/>
            <a:pathLst>
              <a:path w="8801100" h="6858000">
                <a:moveTo>
                  <a:pt x="0" y="6858000"/>
                </a:moveTo>
                <a:lnTo>
                  <a:pt x="8801100" y="6858000"/>
                </a:lnTo>
                <a:lnTo>
                  <a:pt x="88011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030" y="6281095"/>
            <a:ext cx="2177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bg2"/>
                </a:solidFill>
              </a:rPr>
              <a:t>Data Science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Lifecycle</a:t>
            </a:r>
            <a:endParaRPr lang="en-US" sz="1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80100" y="6314718"/>
            <a:ext cx="3263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 smtClean="0">
                <a:solidFill>
                  <a:schemeClr val="bg2"/>
                </a:solidFill>
              </a:rPr>
              <a:t>Software Engineering Department</a:t>
            </a:r>
          </a:p>
          <a:p>
            <a:pPr algn="r"/>
            <a:r>
              <a:rPr lang="en-US" sz="900" dirty="0" smtClean="0">
                <a:solidFill>
                  <a:schemeClr val="bg2"/>
                </a:solidFill>
              </a:rPr>
              <a:t>QUEST NAWABSHAH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803948" y="6345523"/>
            <a:ext cx="2728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Mr. Zohaib </a:t>
            </a:r>
            <a:r>
              <a:rPr lang="en-US" sz="9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Ahmed </a:t>
            </a:r>
            <a:r>
              <a:rPr lang="en-US" sz="900" dirty="0" smtClean="0">
                <a:solidFill>
                  <a:schemeClr val="bg2"/>
                </a:solidFill>
              </a:rPr>
              <a:t>(</a:t>
            </a:r>
            <a:r>
              <a:rPr lang="en-US" sz="900" dirty="0" err="1" smtClean="0">
                <a:solidFill>
                  <a:schemeClr val="bg2"/>
                </a:solidFill>
              </a:rPr>
              <a:t>Kaggle</a:t>
            </a:r>
            <a:r>
              <a:rPr lang="en-US" sz="900" dirty="0" smtClean="0">
                <a:solidFill>
                  <a:schemeClr val="bg2"/>
                </a:solidFill>
              </a:rPr>
              <a:t> </a:t>
            </a:r>
            <a:r>
              <a:rPr lang="en-US" sz="900" dirty="0">
                <a:solidFill>
                  <a:schemeClr val="bg2"/>
                </a:solidFill>
              </a:rPr>
              <a:t>Master)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3022599" y="6496054"/>
            <a:ext cx="30607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 smtClean="0">
                <a:solidFill>
                  <a:schemeClr val="bg2"/>
                </a:solidFill>
              </a:rPr>
              <a:t>MS(Data Science)</a:t>
            </a:r>
            <a:endParaRPr lang="en-US" sz="9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250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3. Pre-processing of data</a:t>
            </a:r>
            <a:endParaRPr b="1" spc="250">
              <a:solidFill>
                <a:schemeClr val="accent1">
                  <a:lumMod val="75000"/>
                </a:schemeClr>
              </a:solidFill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7826" y="1747395"/>
            <a:ext cx="5249545" cy="2679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95"/>
              </a:spcBef>
              <a:buClr>
                <a:srgbClr val="6E6E74"/>
              </a:buClr>
              <a:buSzPct val="79545"/>
              <a:buAutoNum type="arabicPeriod"/>
              <a:tabLst>
                <a:tab pos="527685" algn="l"/>
                <a:tab pos="528320" algn="l"/>
              </a:tabLst>
            </a:pPr>
            <a:r>
              <a:rPr sz="2200" spc="130" dirty="0">
                <a:latin typeface="Cambria"/>
                <a:cs typeface="Cambria"/>
              </a:rPr>
              <a:t>Height</a:t>
            </a:r>
            <a:r>
              <a:rPr sz="2200" spc="1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of</a:t>
            </a:r>
            <a:r>
              <a:rPr sz="2200" spc="155" dirty="0">
                <a:latin typeface="Cambria"/>
                <a:cs typeface="Cambria"/>
              </a:rPr>
              <a:t> </a:t>
            </a:r>
            <a:r>
              <a:rPr sz="2200" spc="90" dirty="0">
                <a:latin typeface="Cambria"/>
                <a:cs typeface="Cambria"/>
              </a:rPr>
              <a:t>the</a:t>
            </a:r>
            <a:r>
              <a:rPr sz="2200" spc="145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signature</a:t>
            </a:r>
            <a:endParaRPr sz="2200" dirty="0">
              <a:latin typeface="Cambria"/>
              <a:cs typeface="Cambria"/>
            </a:endParaRPr>
          </a:p>
          <a:p>
            <a:pPr marL="527685" indent="-515620">
              <a:lnSpc>
                <a:spcPct val="100000"/>
              </a:lnSpc>
              <a:spcBef>
                <a:spcPts val="1945"/>
              </a:spcBef>
              <a:buClr>
                <a:srgbClr val="6E6E74"/>
              </a:buClr>
              <a:buSzPct val="79545"/>
              <a:buAutoNum type="arabicPeriod"/>
              <a:tabLst>
                <a:tab pos="527685" algn="l"/>
                <a:tab pos="528320" algn="l"/>
              </a:tabLst>
            </a:pPr>
            <a:r>
              <a:rPr sz="2200" spc="100" dirty="0">
                <a:latin typeface="Cambria"/>
                <a:cs typeface="Cambria"/>
              </a:rPr>
              <a:t>Width</a:t>
            </a:r>
            <a:r>
              <a:rPr sz="2200" spc="1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of</a:t>
            </a:r>
            <a:r>
              <a:rPr sz="2200" spc="160" dirty="0">
                <a:latin typeface="Cambria"/>
                <a:cs typeface="Cambria"/>
              </a:rPr>
              <a:t> </a:t>
            </a:r>
            <a:r>
              <a:rPr sz="2200" spc="90" dirty="0">
                <a:latin typeface="Cambria"/>
                <a:cs typeface="Cambria"/>
              </a:rPr>
              <a:t>the</a:t>
            </a:r>
            <a:r>
              <a:rPr sz="2200" spc="150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signature</a:t>
            </a:r>
            <a:endParaRPr sz="2200" dirty="0">
              <a:latin typeface="Cambria"/>
              <a:cs typeface="Cambria"/>
            </a:endParaRPr>
          </a:p>
          <a:p>
            <a:pPr marL="527685" indent="-515620">
              <a:lnSpc>
                <a:spcPct val="100000"/>
              </a:lnSpc>
              <a:spcBef>
                <a:spcPts val="1945"/>
              </a:spcBef>
              <a:buClr>
                <a:srgbClr val="6E6E74"/>
              </a:buClr>
              <a:buSzPct val="79545"/>
              <a:buAutoNum type="arabicPeriod"/>
              <a:tabLst>
                <a:tab pos="527685" algn="l"/>
                <a:tab pos="528320" algn="l"/>
              </a:tabLst>
            </a:pPr>
            <a:r>
              <a:rPr sz="2200" spc="130" dirty="0">
                <a:latin typeface="Cambria"/>
                <a:cs typeface="Cambria"/>
              </a:rPr>
              <a:t>Height</a:t>
            </a:r>
            <a:r>
              <a:rPr sz="2200" spc="16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to</a:t>
            </a:r>
            <a:r>
              <a:rPr sz="2200" spc="160" dirty="0">
                <a:latin typeface="Cambria"/>
                <a:cs typeface="Cambria"/>
              </a:rPr>
              <a:t> </a:t>
            </a:r>
            <a:r>
              <a:rPr sz="2200" spc="75" dirty="0">
                <a:latin typeface="Cambria"/>
                <a:cs typeface="Cambria"/>
              </a:rPr>
              <a:t>width</a:t>
            </a:r>
            <a:r>
              <a:rPr sz="2200" spc="170" dirty="0">
                <a:latin typeface="Cambria"/>
                <a:cs typeface="Cambria"/>
              </a:rPr>
              <a:t> </a:t>
            </a:r>
            <a:r>
              <a:rPr sz="2200" spc="50" dirty="0">
                <a:latin typeface="Cambria"/>
                <a:cs typeface="Cambria"/>
              </a:rPr>
              <a:t>ratio</a:t>
            </a:r>
            <a:endParaRPr sz="2200" dirty="0">
              <a:latin typeface="Cambria"/>
              <a:cs typeface="Cambria"/>
            </a:endParaRPr>
          </a:p>
          <a:p>
            <a:pPr marL="527685" indent="-515620">
              <a:lnSpc>
                <a:spcPct val="100000"/>
              </a:lnSpc>
              <a:spcBef>
                <a:spcPts val="1930"/>
              </a:spcBef>
              <a:buClr>
                <a:srgbClr val="6E6E74"/>
              </a:buClr>
              <a:buSzPct val="79545"/>
              <a:buAutoNum type="arabicPeriod"/>
              <a:tabLst>
                <a:tab pos="527685" algn="l"/>
                <a:tab pos="528320" algn="l"/>
              </a:tabLst>
            </a:pPr>
            <a:r>
              <a:rPr sz="2200" spc="90" dirty="0">
                <a:latin typeface="Cambria"/>
                <a:cs typeface="Cambria"/>
              </a:rPr>
              <a:t>Total</a:t>
            </a:r>
            <a:r>
              <a:rPr sz="2200" spc="145" dirty="0">
                <a:latin typeface="Cambria"/>
                <a:cs typeface="Cambria"/>
              </a:rPr>
              <a:t> </a:t>
            </a:r>
            <a:r>
              <a:rPr sz="2200" spc="65" dirty="0">
                <a:latin typeface="Cambria"/>
                <a:cs typeface="Cambria"/>
              </a:rPr>
              <a:t>time</a:t>
            </a:r>
            <a:endParaRPr sz="2200" dirty="0">
              <a:latin typeface="Cambria"/>
              <a:cs typeface="Cambria"/>
            </a:endParaRPr>
          </a:p>
          <a:p>
            <a:pPr marL="527685" indent="-515620">
              <a:lnSpc>
                <a:spcPct val="100000"/>
              </a:lnSpc>
              <a:spcBef>
                <a:spcPts val="1945"/>
              </a:spcBef>
              <a:buClr>
                <a:srgbClr val="6E6E74"/>
              </a:buClr>
              <a:buSzPct val="79545"/>
              <a:buAutoNum type="arabicPeriod"/>
              <a:tabLst>
                <a:tab pos="527685" algn="l"/>
                <a:tab pos="528320" algn="l"/>
              </a:tabLst>
            </a:pPr>
            <a:r>
              <a:rPr sz="2200" spc="90" dirty="0">
                <a:latin typeface="Cambria"/>
                <a:cs typeface="Cambria"/>
              </a:rPr>
              <a:t>Total</a:t>
            </a:r>
            <a:r>
              <a:rPr sz="2200" spc="204" dirty="0">
                <a:latin typeface="Cambria"/>
                <a:cs typeface="Cambria"/>
              </a:rPr>
              <a:t> </a:t>
            </a:r>
            <a:r>
              <a:rPr sz="2200" spc="80" dirty="0">
                <a:latin typeface="Cambria"/>
                <a:cs typeface="Cambria"/>
              </a:rPr>
              <a:t>distance</a:t>
            </a:r>
            <a:r>
              <a:rPr sz="2200" spc="21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covered</a:t>
            </a:r>
            <a:r>
              <a:rPr sz="2200" spc="21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by</a:t>
            </a:r>
            <a:r>
              <a:rPr sz="2200" spc="245" dirty="0">
                <a:latin typeface="Cambria"/>
                <a:cs typeface="Cambria"/>
              </a:rPr>
              <a:t> </a:t>
            </a:r>
            <a:r>
              <a:rPr sz="2200" spc="-10" dirty="0" smtClean="0">
                <a:latin typeface="Cambria"/>
                <a:cs typeface="Cambria"/>
              </a:rPr>
              <a:t>pen/finger</a:t>
            </a:r>
            <a:endParaRPr sz="22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47354" y="6207353"/>
            <a:ext cx="476884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25" dirty="0">
                <a:solidFill>
                  <a:srgbClr val="8E8E93"/>
                </a:solidFill>
                <a:latin typeface="Cambria"/>
                <a:cs typeface="Cambria"/>
              </a:rPr>
              <a:t>27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876800" y="1991290"/>
            <a:ext cx="3406204" cy="19312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>
              <a:lnSpc>
                <a:spcPct val="100000"/>
              </a:lnSpc>
              <a:spcBef>
                <a:spcPts val="1945"/>
              </a:spcBef>
              <a:buClr>
                <a:srgbClr val="6E6E74"/>
              </a:buClr>
              <a:buSzPct val="79545"/>
              <a:tabLst>
                <a:tab pos="527685" algn="l"/>
                <a:tab pos="528320" algn="l"/>
              </a:tabLst>
            </a:pPr>
            <a:r>
              <a:rPr lang="en-US" sz="1800" spc="90" dirty="0" smtClean="0">
                <a:latin typeface="Cambria"/>
                <a:cs typeface="Cambria"/>
              </a:rPr>
              <a:t>6. Average</a:t>
            </a:r>
            <a:r>
              <a:rPr lang="en-US" sz="1800" spc="195" dirty="0" smtClean="0">
                <a:latin typeface="Cambria"/>
                <a:cs typeface="Cambria"/>
              </a:rPr>
              <a:t> </a:t>
            </a:r>
            <a:r>
              <a:rPr lang="en-US" sz="1800" spc="55" dirty="0" smtClean="0">
                <a:latin typeface="Cambria"/>
                <a:cs typeface="Cambria"/>
              </a:rPr>
              <a:t>pressure</a:t>
            </a:r>
            <a:endParaRPr lang="en-US" sz="1800" dirty="0" smtClean="0">
              <a:latin typeface="Cambria"/>
              <a:cs typeface="Cambria"/>
            </a:endParaRPr>
          </a:p>
          <a:p>
            <a:pPr marL="12065">
              <a:lnSpc>
                <a:spcPct val="100000"/>
              </a:lnSpc>
              <a:spcBef>
                <a:spcPts val="1935"/>
              </a:spcBef>
              <a:buClr>
                <a:srgbClr val="6E6E74"/>
              </a:buClr>
              <a:buSzPct val="79545"/>
              <a:tabLst>
                <a:tab pos="527685" algn="l"/>
                <a:tab pos="528320" algn="l"/>
              </a:tabLst>
            </a:pPr>
            <a:r>
              <a:rPr lang="en-US" sz="1800" spc="145" dirty="0" smtClean="0">
                <a:latin typeface="Cambria"/>
                <a:cs typeface="Cambria"/>
              </a:rPr>
              <a:t>7. Maximum</a:t>
            </a:r>
            <a:r>
              <a:rPr lang="en-US" sz="1800" spc="130" dirty="0" smtClean="0">
                <a:latin typeface="Cambria"/>
                <a:cs typeface="Cambria"/>
              </a:rPr>
              <a:t> </a:t>
            </a:r>
            <a:r>
              <a:rPr lang="en-US" sz="1800" spc="55" dirty="0" smtClean="0">
                <a:latin typeface="Cambria"/>
                <a:cs typeface="Cambria"/>
              </a:rPr>
              <a:t>pressure</a:t>
            </a:r>
            <a:endParaRPr lang="en-US" sz="1800" dirty="0" smtClean="0">
              <a:latin typeface="Cambria"/>
              <a:cs typeface="Cambria"/>
            </a:endParaRPr>
          </a:p>
          <a:p>
            <a:pPr marL="12065">
              <a:lnSpc>
                <a:spcPct val="100000"/>
              </a:lnSpc>
              <a:spcBef>
                <a:spcPts val="1945"/>
              </a:spcBef>
              <a:buClr>
                <a:srgbClr val="6E6E74"/>
              </a:buClr>
              <a:buSzPct val="79545"/>
              <a:tabLst>
                <a:tab pos="527685" algn="l"/>
                <a:tab pos="528320" algn="l"/>
              </a:tabLst>
            </a:pPr>
            <a:r>
              <a:rPr lang="en-US" sz="1800" spc="90" dirty="0" smtClean="0">
                <a:latin typeface="Cambria"/>
                <a:cs typeface="Cambria"/>
              </a:rPr>
              <a:t>8. Total</a:t>
            </a:r>
            <a:r>
              <a:rPr lang="en-US" sz="1800" spc="140" dirty="0" smtClean="0">
                <a:latin typeface="Cambria"/>
                <a:cs typeface="Cambria"/>
              </a:rPr>
              <a:t> </a:t>
            </a:r>
            <a:r>
              <a:rPr lang="en-US" sz="1800" spc="80" dirty="0" smtClean="0">
                <a:latin typeface="Cambria"/>
                <a:cs typeface="Cambria"/>
              </a:rPr>
              <a:t>number</a:t>
            </a:r>
            <a:r>
              <a:rPr lang="en-US" sz="1800" spc="145" dirty="0" smtClean="0">
                <a:latin typeface="Cambria"/>
                <a:cs typeface="Cambria"/>
              </a:rPr>
              <a:t> </a:t>
            </a:r>
            <a:r>
              <a:rPr lang="en-US" sz="1800" dirty="0" smtClean="0">
                <a:latin typeface="Cambria"/>
                <a:cs typeface="Cambria"/>
              </a:rPr>
              <a:t>of</a:t>
            </a:r>
            <a:r>
              <a:rPr lang="en-US" sz="1800" spc="160" dirty="0" smtClean="0">
                <a:latin typeface="Cambria"/>
                <a:cs typeface="Cambria"/>
              </a:rPr>
              <a:t> </a:t>
            </a:r>
            <a:r>
              <a:rPr lang="en-US" sz="1800" spc="50" dirty="0" smtClean="0">
                <a:latin typeface="Cambria"/>
                <a:cs typeface="Cambria"/>
              </a:rPr>
              <a:t>pen-ups</a:t>
            </a:r>
            <a:endParaRPr lang="en-US" sz="1800" dirty="0" smtClean="0">
              <a:latin typeface="Cambria"/>
              <a:cs typeface="Cambria"/>
            </a:endParaRPr>
          </a:p>
          <a:p>
            <a:pPr marL="12065">
              <a:lnSpc>
                <a:spcPct val="100000"/>
              </a:lnSpc>
              <a:spcBef>
                <a:spcPts val="1945"/>
              </a:spcBef>
              <a:buClr>
                <a:srgbClr val="6E6E74"/>
              </a:buClr>
              <a:buSzPct val="79545"/>
              <a:tabLst>
                <a:tab pos="527685" algn="l"/>
                <a:tab pos="528320" algn="l"/>
              </a:tabLst>
            </a:pPr>
            <a:r>
              <a:rPr lang="en-US" sz="1800" spc="90" dirty="0" smtClean="0">
                <a:latin typeface="Cambria"/>
                <a:cs typeface="Cambria"/>
              </a:rPr>
              <a:t>9. Total</a:t>
            </a:r>
            <a:r>
              <a:rPr lang="en-US" sz="1800" spc="175" dirty="0" smtClean="0">
                <a:latin typeface="Cambria"/>
                <a:cs typeface="Cambria"/>
              </a:rPr>
              <a:t> </a:t>
            </a:r>
            <a:r>
              <a:rPr lang="en-US" sz="1800" spc="80" dirty="0" smtClean="0">
                <a:latin typeface="Cambria"/>
                <a:cs typeface="Cambria"/>
              </a:rPr>
              <a:t>duration</a:t>
            </a:r>
            <a:r>
              <a:rPr lang="en-US" sz="1800" spc="190" dirty="0" smtClean="0">
                <a:latin typeface="Cambria"/>
                <a:cs typeface="Cambria"/>
              </a:rPr>
              <a:t> </a:t>
            </a:r>
            <a:r>
              <a:rPr lang="en-US" sz="1800" dirty="0" smtClean="0">
                <a:latin typeface="Cambria"/>
                <a:cs typeface="Cambria"/>
              </a:rPr>
              <a:t>for</a:t>
            </a:r>
            <a:r>
              <a:rPr lang="en-US" sz="1800" spc="185" dirty="0" smtClean="0">
                <a:latin typeface="Cambria"/>
                <a:cs typeface="Cambria"/>
              </a:rPr>
              <a:t> </a:t>
            </a:r>
            <a:r>
              <a:rPr lang="en-US" sz="1800" spc="50" dirty="0" smtClean="0">
                <a:latin typeface="Cambria"/>
                <a:cs typeface="Cambria"/>
              </a:rPr>
              <a:t>pen-ups</a:t>
            </a:r>
            <a:endParaRPr lang="en-US" sz="1800" dirty="0">
              <a:latin typeface="Cambria"/>
              <a:cs typeface="Cambria"/>
            </a:endParaRPr>
          </a:p>
        </p:txBody>
      </p:sp>
      <p:sp>
        <p:nvSpPr>
          <p:cNvPr id="8" name="object 3"/>
          <p:cNvSpPr/>
          <p:nvPr/>
        </p:nvSpPr>
        <p:spPr>
          <a:xfrm>
            <a:off x="-25400" y="6096000"/>
            <a:ext cx="9156700" cy="762000"/>
          </a:xfrm>
          <a:custGeom>
            <a:avLst/>
            <a:gdLst/>
            <a:ahLst/>
            <a:cxnLst/>
            <a:rect l="l" t="t" r="r" b="b"/>
            <a:pathLst>
              <a:path w="8801100" h="6858000">
                <a:moveTo>
                  <a:pt x="0" y="6858000"/>
                </a:moveTo>
                <a:lnTo>
                  <a:pt x="8801100" y="6858000"/>
                </a:lnTo>
                <a:lnTo>
                  <a:pt x="88011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8030" y="6281095"/>
            <a:ext cx="2177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bg2"/>
                </a:solidFill>
              </a:rPr>
              <a:t>Data Science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Lifecycle</a:t>
            </a:r>
            <a:endParaRPr lang="en-US" sz="1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880100" y="6314718"/>
            <a:ext cx="3263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 smtClean="0">
                <a:solidFill>
                  <a:schemeClr val="bg2"/>
                </a:solidFill>
              </a:rPr>
              <a:t>Software Engineering Department</a:t>
            </a:r>
          </a:p>
          <a:p>
            <a:pPr algn="r"/>
            <a:r>
              <a:rPr lang="en-US" sz="900" dirty="0" smtClean="0">
                <a:solidFill>
                  <a:schemeClr val="bg2"/>
                </a:solidFill>
              </a:rPr>
              <a:t>QUEST NAWABSHAH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803948" y="6345523"/>
            <a:ext cx="2728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Mr. Zohaib </a:t>
            </a:r>
            <a:r>
              <a:rPr lang="en-US" sz="9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Ahmed </a:t>
            </a:r>
            <a:r>
              <a:rPr lang="en-US" sz="900" dirty="0" smtClean="0">
                <a:solidFill>
                  <a:schemeClr val="bg2"/>
                </a:solidFill>
              </a:rPr>
              <a:t>(</a:t>
            </a:r>
            <a:r>
              <a:rPr lang="en-US" sz="900" dirty="0" err="1" smtClean="0">
                <a:solidFill>
                  <a:schemeClr val="bg2"/>
                </a:solidFill>
              </a:rPr>
              <a:t>Kaggle</a:t>
            </a:r>
            <a:r>
              <a:rPr lang="en-US" sz="900" dirty="0" smtClean="0">
                <a:solidFill>
                  <a:schemeClr val="bg2"/>
                </a:solidFill>
              </a:rPr>
              <a:t> </a:t>
            </a:r>
            <a:r>
              <a:rPr lang="en-US" sz="900" dirty="0">
                <a:solidFill>
                  <a:schemeClr val="bg2"/>
                </a:solidFill>
              </a:rPr>
              <a:t>Master)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22599" y="6496054"/>
            <a:ext cx="30607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 smtClean="0">
                <a:solidFill>
                  <a:schemeClr val="bg2"/>
                </a:solidFill>
              </a:rPr>
              <a:t>MS(Data Science)</a:t>
            </a:r>
            <a:endParaRPr lang="en-US" sz="9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1853" y="859370"/>
            <a:ext cx="6500495" cy="52001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250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3. Pre-processing of data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546" y="2317908"/>
            <a:ext cx="1198761" cy="13513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9305" y="2348107"/>
            <a:ext cx="1138014" cy="89165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723471" y="3686029"/>
            <a:ext cx="1729839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Orientation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9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Pixels_per_cell=[8,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8]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Cells_per_block=[2,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2]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Length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Vector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40176</a:t>
            </a:r>
            <a:endParaRPr sz="1200" dirty="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15193" y="2333941"/>
            <a:ext cx="1180341" cy="92892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294296" y="3686029"/>
            <a:ext cx="1657064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Orientation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9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Pixels_per_cell=[4,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4]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Cells_per_block=[2,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2]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Feature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Vector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Length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170496</a:t>
            </a:r>
            <a:endParaRPr sz="1200" dirty="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00404" y="2335001"/>
            <a:ext cx="1080822" cy="92016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153073" y="3708441"/>
            <a:ext cx="167120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Orientation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Pixels_per_cell=[16, </a:t>
            </a:r>
            <a:r>
              <a:rPr sz="1200" spc="-25" dirty="0">
                <a:latin typeface="Times New Roman"/>
                <a:cs typeface="Times New Roman"/>
              </a:rPr>
              <a:t>16]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Cells_per_block=[2,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2]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Length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Vector</a:t>
            </a:r>
            <a:r>
              <a:rPr sz="1200" dirty="0">
                <a:latin typeface="Times New Roman"/>
                <a:cs typeface="Times New Roman"/>
              </a:rPr>
              <a:t> =</a:t>
            </a:r>
            <a:r>
              <a:rPr sz="1200" spc="-20" dirty="0">
                <a:latin typeface="Times New Roman"/>
                <a:cs typeface="Times New Roman"/>
              </a:rPr>
              <a:t> 9180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2888" y="4816822"/>
            <a:ext cx="8457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54" dirty="0">
                <a:latin typeface="Cambria"/>
                <a:cs typeface="Cambria"/>
              </a:rPr>
              <a:t>HOG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-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Histogram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Oriented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Gradients</a:t>
            </a:r>
            <a:r>
              <a:rPr sz="1800" spc="110" dirty="0">
                <a:latin typeface="Cambria"/>
                <a:cs typeface="Cambria"/>
              </a:rPr>
              <a:t> (HOG)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technique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for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feature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extraction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2888" y="5091142"/>
            <a:ext cx="1623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"/>
                <a:cs typeface="Cambria"/>
              </a:rPr>
              <a:t>of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Fingerprints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21954" y="6207353"/>
            <a:ext cx="41783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200" spc="-680" dirty="0">
                <a:solidFill>
                  <a:srgbClr val="8E8E93"/>
                </a:solidFill>
                <a:latin typeface="Cambria"/>
                <a:cs typeface="Cambria"/>
              </a:rPr>
              <a:t>2</a:t>
            </a:r>
            <a:r>
              <a:rPr sz="2100" spc="-232" baseline="-21825" dirty="0">
                <a:solidFill>
                  <a:srgbClr val="464649"/>
                </a:solidFill>
                <a:latin typeface="Cambria"/>
                <a:cs typeface="Cambria"/>
              </a:rPr>
              <a:t>2</a:t>
            </a:r>
            <a:r>
              <a:rPr sz="3200" spc="-1675" dirty="0">
                <a:solidFill>
                  <a:srgbClr val="8E8E93"/>
                </a:solidFill>
                <a:latin typeface="Cambria"/>
                <a:cs typeface="Cambria"/>
              </a:rPr>
              <a:t>8</a:t>
            </a:r>
            <a:r>
              <a:rPr sz="2100" spc="-37" baseline="-21825" dirty="0">
                <a:solidFill>
                  <a:srgbClr val="464649"/>
                </a:solidFill>
                <a:latin typeface="Cambria"/>
                <a:cs typeface="Cambria"/>
              </a:rPr>
              <a:t>8</a:t>
            </a:r>
            <a:endParaRPr sz="2100" baseline="-21825">
              <a:latin typeface="Cambria"/>
              <a:cs typeface="Cambria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92888" y="1816641"/>
            <a:ext cx="14920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0" spc="85" dirty="0" smtClean="0">
                <a:latin typeface="Cambria"/>
                <a:cs typeface="Cambria"/>
              </a:rPr>
              <a:t>Input</a:t>
            </a:r>
            <a:r>
              <a:rPr lang="en-US" sz="1800" b="0" spc="120" dirty="0" smtClean="0">
                <a:latin typeface="Cambria"/>
                <a:cs typeface="Cambria"/>
              </a:rPr>
              <a:t> </a:t>
            </a:r>
            <a:r>
              <a:rPr lang="en-US" sz="1800" b="0" spc="65" dirty="0" smtClean="0">
                <a:latin typeface="Cambria"/>
                <a:cs typeface="Cambria"/>
              </a:rPr>
              <a:t>Image</a:t>
            </a:r>
            <a:endParaRPr lang="en-US" dirty="0"/>
          </a:p>
        </p:txBody>
      </p:sp>
      <p:sp>
        <p:nvSpPr>
          <p:cNvPr id="14" name="object 3"/>
          <p:cNvSpPr/>
          <p:nvPr/>
        </p:nvSpPr>
        <p:spPr>
          <a:xfrm>
            <a:off x="-25400" y="6096000"/>
            <a:ext cx="9156700" cy="762000"/>
          </a:xfrm>
          <a:custGeom>
            <a:avLst/>
            <a:gdLst/>
            <a:ahLst/>
            <a:cxnLst/>
            <a:rect l="l" t="t" r="r" b="b"/>
            <a:pathLst>
              <a:path w="8801100" h="6858000">
                <a:moveTo>
                  <a:pt x="0" y="6858000"/>
                </a:moveTo>
                <a:lnTo>
                  <a:pt x="8801100" y="6858000"/>
                </a:lnTo>
                <a:lnTo>
                  <a:pt x="88011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08030" y="6281095"/>
            <a:ext cx="2177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bg2"/>
                </a:solidFill>
              </a:rPr>
              <a:t>Data Science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Lifecycle</a:t>
            </a:r>
            <a:endParaRPr lang="en-US" sz="1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880100" y="6314718"/>
            <a:ext cx="3263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 smtClean="0">
                <a:solidFill>
                  <a:schemeClr val="bg2"/>
                </a:solidFill>
              </a:rPr>
              <a:t>Software Engineering Department</a:t>
            </a:r>
          </a:p>
          <a:p>
            <a:pPr algn="r"/>
            <a:r>
              <a:rPr lang="en-US" sz="900" dirty="0" smtClean="0">
                <a:solidFill>
                  <a:schemeClr val="bg2"/>
                </a:solidFill>
              </a:rPr>
              <a:t>QUEST NAWABSHAH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803948" y="6345523"/>
            <a:ext cx="2728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Mr. Zohaib </a:t>
            </a:r>
            <a:r>
              <a:rPr lang="en-US" sz="9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Ahmed </a:t>
            </a:r>
            <a:r>
              <a:rPr lang="en-US" sz="900" dirty="0" smtClean="0">
                <a:solidFill>
                  <a:schemeClr val="bg2"/>
                </a:solidFill>
              </a:rPr>
              <a:t>(</a:t>
            </a:r>
            <a:r>
              <a:rPr lang="en-US" sz="900" dirty="0" err="1" smtClean="0">
                <a:solidFill>
                  <a:schemeClr val="bg2"/>
                </a:solidFill>
              </a:rPr>
              <a:t>Kaggle</a:t>
            </a:r>
            <a:r>
              <a:rPr lang="en-US" sz="900" dirty="0" smtClean="0">
                <a:solidFill>
                  <a:schemeClr val="bg2"/>
                </a:solidFill>
              </a:rPr>
              <a:t> </a:t>
            </a:r>
            <a:r>
              <a:rPr lang="en-US" sz="900" dirty="0">
                <a:solidFill>
                  <a:schemeClr val="bg2"/>
                </a:solidFill>
              </a:rPr>
              <a:t>Master)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22599" y="6496054"/>
            <a:ext cx="30607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 smtClean="0">
                <a:solidFill>
                  <a:schemeClr val="bg2"/>
                </a:solidFill>
              </a:rPr>
              <a:t>MS(Data Science)</a:t>
            </a:r>
            <a:endParaRPr lang="en-US" sz="9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250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3. Pre-processing of data</a:t>
            </a:r>
            <a:endParaRPr b="1" spc="250">
              <a:solidFill>
                <a:schemeClr val="accent1">
                  <a:lumMod val="75000"/>
                </a:schemeClr>
              </a:solidFill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01853" y="1559813"/>
            <a:ext cx="4526915" cy="1421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5"/>
              </a:spcBef>
              <a:buClr>
                <a:srgbClr val="6E6E74"/>
              </a:buClr>
              <a:buSzPct val="79687"/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3200" spc="240" dirty="0">
                <a:latin typeface="Cambria"/>
                <a:cs typeface="Cambria"/>
              </a:rPr>
              <a:t>Data</a:t>
            </a:r>
            <a:r>
              <a:rPr sz="3200" spc="195" dirty="0">
                <a:latin typeface="Cambria"/>
                <a:cs typeface="Cambria"/>
              </a:rPr>
              <a:t> </a:t>
            </a:r>
            <a:r>
              <a:rPr sz="3200" spc="135" dirty="0">
                <a:latin typeface="Cambria"/>
                <a:cs typeface="Cambria"/>
              </a:rPr>
              <a:t>Augmentation</a:t>
            </a:r>
            <a:endParaRPr sz="3200">
              <a:latin typeface="Cambria"/>
              <a:cs typeface="Cambria"/>
            </a:endParaRPr>
          </a:p>
          <a:p>
            <a:pPr marL="469900">
              <a:lnSpc>
                <a:spcPct val="100000"/>
              </a:lnSpc>
              <a:spcBef>
                <a:spcPts val="160"/>
              </a:spcBef>
              <a:tabLst>
                <a:tab pos="927100" algn="l"/>
              </a:tabLst>
            </a:pPr>
            <a:r>
              <a:rPr sz="2800" spc="-1145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2800" dirty="0">
                <a:solidFill>
                  <a:srgbClr val="6E6E74"/>
                </a:solidFill>
                <a:latin typeface="Arial MT"/>
                <a:cs typeface="Arial MT"/>
              </a:rPr>
              <a:t>	</a:t>
            </a:r>
            <a:r>
              <a:rPr sz="2800" spc="125" dirty="0">
                <a:solidFill>
                  <a:srgbClr val="252525"/>
                </a:solidFill>
                <a:latin typeface="Cambria"/>
                <a:cs typeface="Cambria"/>
              </a:rPr>
              <a:t>Offline</a:t>
            </a:r>
            <a:r>
              <a:rPr sz="2800" spc="18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800" spc="100" dirty="0">
                <a:solidFill>
                  <a:srgbClr val="252525"/>
                </a:solidFill>
                <a:latin typeface="Cambria"/>
                <a:cs typeface="Cambria"/>
              </a:rPr>
              <a:t>Augmentation</a:t>
            </a:r>
            <a:endParaRPr sz="2800">
              <a:latin typeface="Cambria"/>
              <a:cs typeface="Cambria"/>
            </a:endParaRPr>
          </a:p>
          <a:p>
            <a:pPr marL="469900">
              <a:lnSpc>
                <a:spcPct val="100000"/>
              </a:lnSpc>
              <a:spcBef>
                <a:spcPts val="260"/>
              </a:spcBef>
              <a:tabLst>
                <a:tab pos="927100" algn="l"/>
              </a:tabLst>
            </a:pPr>
            <a:r>
              <a:rPr sz="2800" spc="-1145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2800" dirty="0">
                <a:solidFill>
                  <a:srgbClr val="6E6E74"/>
                </a:solidFill>
                <a:latin typeface="Arial MT"/>
                <a:cs typeface="Arial MT"/>
              </a:rPr>
              <a:t>	</a:t>
            </a:r>
            <a:r>
              <a:rPr sz="2800" spc="135" dirty="0">
                <a:solidFill>
                  <a:srgbClr val="252525"/>
                </a:solidFill>
                <a:latin typeface="Cambria"/>
                <a:cs typeface="Cambria"/>
              </a:rPr>
              <a:t>Online</a:t>
            </a:r>
            <a:r>
              <a:rPr sz="2800" spc="22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800" spc="95" dirty="0">
                <a:solidFill>
                  <a:srgbClr val="252525"/>
                </a:solidFill>
                <a:latin typeface="Cambria"/>
                <a:cs typeface="Cambria"/>
              </a:rPr>
              <a:t>Augmentation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5" name="object 3"/>
          <p:cNvSpPr/>
          <p:nvPr/>
        </p:nvSpPr>
        <p:spPr>
          <a:xfrm>
            <a:off x="-25400" y="6096000"/>
            <a:ext cx="9156700" cy="762000"/>
          </a:xfrm>
          <a:custGeom>
            <a:avLst/>
            <a:gdLst/>
            <a:ahLst/>
            <a:cxnLst/>
            <a:rect l="l" t="t" r="r" b="b"/>
            <a:pathLst>
              <a:path w="8801100" h="6858000">
                <a:moveTo>
                  <a:pt x="0" y="6858000"/>
                </a:moveTo>
                <a:lnTo>
                  <a:pt x="8801100" y="6858000"/>
                </a:lnTo>
                <a:lnTo>
                  <a:pt x="88011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030" y="6281095"/>
            <a:ext cx="2177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bg2"/>
                </a:solidFill>
              </a:rPr>
              <a:t>Data Science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Lifecycle</a:t>
            </a:r>
            <a:endParaRPr lang="en-US" sz="1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80100" y="6314718"/>
            <a:ext cx="3263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 smtClean="0">
                <a:solidFill>
                  <a:schemeClr val="bg2"/>
                </a:solidFill>
              </a:rPr>
              <a:t>Software Engineering Department</a:t>
            </a:r>
          </a:p>
          <a:p>
            <a:pPr algn="r"/>
            <a:r>
              <a:rPr lang="en-US" sz="900" dirty="0" smtClean="0">
                <a:solidFill>
                  <a:schemeClr val="bg2"/>
                </a:solidFill>
              </a:rPr>
              <a:t>QUEST NAWABSHAH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803948" y="6345523"/>
            <a:ext cx="2728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Mr. Zohaib </a:t>
            </a:r>
            <a:r>
              <a:rPr lang="en-US" sz="9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Ahmed </a:t>
            </a:r>
            <a:r>
              <a:rPr lang="en-US" sz="900" dirty="0" smtClean="0">
                <a:solidFill>
                  <a:schemeClr val="bg2"/>
                </a:solidFill>
              </a:rPr>
              <a:t>(</a:t>
            </a:r>
            <a:r>
              <a:rPr lang="en-US" sz="900" dirty="0" err="1" smtClean="0">
                <a:solidFill>
                  <a:schemeClr val="bg2"/>
                </a:solidFill>
              </a:rPr>
              <a:t>Kaggle</a:t>
            </a:r>
            <a:r>
              <a:rPr lang="en-US" sz="900" dirty="0" smtClean="0">
                <a:solidFill>
                  <a:schemeClr val="bg2"/>
                </a:solidFill>
              </a:rPr>
              <a:t> </a:t>
            </a:r>
            <a:r>
              <a:rPr lang="en-US" sz="900" dirty="0">
                <a:solidFill>
                  <a:schemeClr val="bg2"/>
                </a:solidFill>
              </a:rPr>
              <a:t>Master)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3022599" y="6496054"/>
            <a:ext cx="30607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 smtClean="0">
                <a:solidFill>
                  <a:schemeClr val="bg2"/>
                </a:solidFill>
              </a:rPr>
              <a:t>MS(Data Science)</a:t>
            </a:r>
            <a:endParaRPr lang="en-US" sz="9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6433" y="228600"/>
            <a:ext cx="8148917" cy="5725970"/>
          </a:xfrm>
          <a:prstGeom prst="rect">
            <a:avLst/>
          </a:prstGeom>
        </p:spPr>
      </p:pic>
      <p:sp>
        <p:nvSpPr>
          <p:cNvPr id="6" name="object 3"/>
          <p:cNvSpPr/>
          <p:nvPr/>
        </p:nvSpPr>
        <p:spPr>
          <a:xfrm>
            <a:off x="-25400" y="6096000"/>
            <a:ext cx="9156700" cy="762000"/>
          </a:xfrm>
          <a:custGeom>
            <a:avLst/>
            <a:gdLst/>
            <a:ahLst/>
            <a:cxnLst/>
            <a:rect l="l" t="t" r="r" b="b"/>
            <a:pathLst>
              <a:path w="8801100" h="6858000">
                <a:moveTo>
                  <a:pt x="0" y="6858000"/>
                </a:moveTo>
                <a:lnTo>
                  <a:pt x="8801100" y="6858000"/>
                </a:lnTo>
                <a:lnTo>
                  <a:pt x="88011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8030" y="6281095"/>
            <a:ext cx="2177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bg2"/>
                </a:solidFill>
              </a:rPr>
              <a:t>Data Science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Lifecycle</a:t>
            </a:r>
            <a:endParaRPr lang="en-US" sz="1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80100" y="6314718"/>
            <a:ext cx="3263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 smtClean="0">
                <a:solidFill>
                  <a:schemeClr val="bg2"/>
                </a:solidFill>
              </a:rPr>
              <a:t>Software Engineering Department</a:t>
            </a:r>
          </a:p>
          <a:p>
            <a:pPr algn="r"/>
            <a:r>
              <a:rPr lang="en-US" sz="900" dirty="0" smtClean="0">
                <a:solidFill>
                  <a:schemeClr val="bg2"/>
                </a:solidFill>
              </a:rPr>
              <a:t>QUEST NAWABSHAH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803948" y="6345523"/>
            <a:ext cx="2728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Mr. Zohaib </a:t>
            </a:r>
            <a:r>
              <a:rPr lang="en-US" sz="9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Ahmed </a:t>
            </a:r>
            <a:r>
              <a:rPr lang="en-US" sz="900" dirty="0" smtClean="0">
                <a:solidFill>
                  <a:schemeClr val="bg2"/>
                </a:solidFill>
              </a:rPr>
              <a:t>(</a:t>
            </a:r>
            <a:r>
              <a:rPr lang="en-US" sz="900" dirty="0" err="1" smtClean="0">
                <a:solidFill>
                  <a:schemeClr val="bg2"/>
                </a:solidFill>
              </a:rPr>
              <a:t>Kaggle</a:t>
            </a:r>
            <a:r>
              <a:rPr lang="en-US" sz="900" dirty="0" smtClean="0">
                <a:solidFill>
                  <a:schemeClr val="bg2"/>
                </a:solidFill>
              </a:rPr>
              <a:t> </a:t>
            </a:r>
            <a:r>
              <a:rPr lang="en-US" sz="900" dirty="0">
                <a:solidFill>
                  <a:schemeClr val="bg2"/>
                </a:solidFill>
              </a:rPr>
              <a:t>Master)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22599" y="6496054"/>
            <a:ext cx="30607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 smtClean="0">
                <a:solidFill>
                  <a:schemeClr val="bg2"/>
                </a:solidFill>
              </a:rPr>
              <a:t>MS(Data Science)</a:t>
            </a:r>
            <a:endParaRPr lang="en-US" sz="9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250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3. Pre-processing of data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7" y="1677923"/>
            <a:ext cx="9047987" cy="4343400"/>
          </a:xfrm>
          <a:prstGeom prst="rect">
            <a:avLst/>
          </a:prstGeom>
        </p:spPr>
      </p:pic>
      <p:sp>
        <p:nvSpPr>
          <p:cNvPr id="5" name="object 3"/>
          <p:cNvSpPr/>
          <p:nvPr/>
        </p:nvSpPr>
        <p:spPr>
          <a:xfrm>
            <a:off x="-25400" y="6096000"/>
            <a:ext cx="9156700" cy="762000"/>
          </a:xfrm>
          <a:custGeom>
            <a:avLst/>
            <a:gdLst/>
            <a:ahLst/>
            <a:cxnLst/>
            <a:rect l="l" t="t" r="r" b="b"/>
            <a:pathLst>
              <a:path w="8801100" h="6858000">
                <a:moveTo>
                  <a:pt x="0" y="6858000"/>
                </a:moveTo>
                <a:lnTo>
                  <a:pt x="8801100" y="6858000"/>
                </a:lnTo>
                <a:lnTo>
                  <a:pt x="88011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030" y="6281095"/>
            <a:ext cx="2177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bg2"/>
                </a:solidFill>
              </a:rPr>
              <a:t>Data Science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Lifecycle</a:t>
            </a:r>
            <a:endParaRPr lang="en-US" sz="1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80100" y="6314718"/>
            <a:ext cx="3263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 smtClean="0">
                <a:solidFill>
                  <a:schemeClr val="bg2"/>
                </a:solidFill>
              </a:rPr>
              <a:t>Software Engineering Department</a:t>
            </a:r>
          </a:p>
          <a:p>
            <a:pPr algn="r"/>
            <a:r>
              <a:rPr lang="en-US" sz="900" dirty="0" smtClean="0">
                <a:solidFill>
                  <a:schemeClr val="bg2"/>
                </a:solidFill>
              </a:rPr>
              <a:t>QUEST NAWABSHAH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803948" y="6345523"/>
            <a:ext cx="2728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Mr. Zohaib </a:t>
            </a:r>
            <a:r>
              <a:rPr lang="en-US" sz="9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Ahmed </a:t>
            </a:r>
            <a:r>
              <a:rPr lang="en-US" sz="900" dirty="0" smtClean="0">
                <a:solidFill>
                  <a:schemeClr val="bg2"/>
                </a:solidFill>
              </a:rPr>
              <a:t>(</a:t>
            </a:r>
            <a:r>
              <a:rPr lang="en-US" sz="900" dirty="0" err="1" smtClean="0">
                <a:solidFill>
                  <a:schemeClr val="bg2"/>
                </a:solidFill>
              </a:rPr>
              <a:t>Kaggle</a:t>
            </a:r>
            <a:r>
              <a:rPr lang="en-US" sz="900" dirty="0" smtClean="0">
                <a:solidFill>
                  <a:schemeClr val="bg2"/>
                </a:solidFill>
              </a:rPr>
              <a:t> </a:t>
            </a:r>
            <a:r>
              <a:rPr lang="en-US" sz="900" dirty="0">
                <a:solidFill>
                  <a:schemeClr val="bg2"/>
                </a:solidFill>
              </a:rPr>
              <a:t>Master)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3022599" y="6496054"/>
            <a:ext cx="30607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 smtClean="0">
                <a:solidFill>
                  <a:schemeClr val="bg2"/>
                </a:solidFill>
              </a:rPr>
              <a:t>MS(Data Science)</a:t>
            </a:r>
            <a:endParaRPr lang="en-US" sz="9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250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3. Pre-processing of data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3370" y="1903617"/>
            <a:ext cx="6972469" cy="3857837"/>
          </a:xfrm>
          <a:prstGeom prst="rect">
            <a:avLst/>
          </a:prstGeom>
        </p:spPr>
      </p:pic>
      <p:sp>
        <p:nvSpPr>
          <p:cNvPr id="5" name="object 3"/>
          <p:cNvSpPr/>
          <p:nvPr/>
        </p:nvSpPr>
        <p:spPr>
          <a:xfrm>
            <a:off x="-25400" y="6096000"/>
            <a:ext cx="9156700" cy="762000"/>
          </a:xfrm>
          <a:custGeom>
            <a:avLst/>
            <a:gdLst/>
            <a:ahLst/>
            <a:cxnLst/>
            <a:rect l="l" t="t" r="r" b="b"/>
            <a:pathLst>
              <a:path w="8801100" h="6858000">
                <a:moveTo>
                  <a:pt x="0" y="6858000"/>
                </a:moveTo>
                <a:lnTo>
                  <a:pt x="8801100" y="6858000"/>
                </a:lnTo>
                <a:lnTo>
                  <a:pt x="88011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030" y="6281095"/>
            <a:ext cx="2177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bg2"/>
                </a:solidFill>
              </a:rPr>
              <a:t>Data Science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Lifecycle</a:t>
            </a:r>
            <a:endParaRPr lang="en-US" sz="1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80100" y="6314718"/>
            <a:ext cx="3263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 smtClean="0">
                <a:solidFill>
                  <a:schemeClr val="bg2"/>
                </a:solidFill>
              </a:rPr>
              <a:t>Software Engineering Department</a:t>
            </a:r>
          </a:p>
          <a:p>
            <a:pPr algn="r"/>
            <a:r>
              <a:rPr lang="en-US" sz="900" dirty="0" smtClean="0">
                <a:solidFill>
                  <a:schemeClr val="bg2"/>
                </a:solidFill>
              </a:rPr>
              <a:t>QUEST NAWABSHAH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803948" y="6345523"/>
            <a:ext cx="2728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Mr. Zohaib </a:t>
            </a:r>
            <a:r>
              <a:rPr lang="en-US" sz="9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Ahmed </a:t>
            </a:r>
            <a:r>
              <a:rPr lang="en-US" sz="900" dirty="0" smtClean="0">
                <a:solidFill>
                  <a:schemeClr val="bg2"/>
                </a:solidFill>
              </a:rPr>
              <a:t>(</a:t>
            </a:r>
            <a:r>
              <a:rPr lang="en-US" sz="900" dirty="0" err="1" smtClean="0">
                <a:solidFill>
                  <a:schemeClr val="bg2"/>
                </a:solidFill>
              </a:rPr>
              <a:t>Kaggle</a:t>
            </a:r>
            <a:r>
              <a:rPr lang="en-US" sz="900" dirty="0" smtClean="0">
                <a:solidFill>
                  <a:schemeClr val="bg2"/>
                </a:solidFill>
              </a:rPr>
              <a:t> </a:t>
            </a:r>
            <a:r>
              <a:rPr lang="en-US" sz="900" dirty="0">
                <a:solidFill>
                  <a:schemeClr val="bg2"/>
                </a:solidFill>
              </a:rPr>
              <a:t>Master)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3022599" y="6496054"/>
            <a:ext cx="30607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 smtClean="0">
                <a:solidFill>
                  <a:schemeClr val="bg2"/>
                </a:solidFill>
              </a:rPr>
              <a:t>MS(Data Science)</a:t>
            </a:r>
            <a:endParaRPr lang="en-US" sz="9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250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3. Pre-processing of data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1471" y="2362234"/>
            <a:ext cx="5709192" cy="2899919"/>
          </a:xfrm>
          <a:prstGeom prst="rect">
            <a:avLst/>
          </a:prstGeom>
        </p:spPr>
      </p:pic>
      <p:sp>
        <p:nvSpPr>
          <p:cNvPr id="5" name="object 3"/>
          <p:cNvSpPr/>
          <p:nvPr/>
        </p:nvSpPr>
        <p:spPr>
          <a:xfrm>
            <a:off x="-25400" y="6096000"/>
            <a:ext cx="9156700" cy="762000"/>
          </a:xfrm>
          <a:custGeom>
            <a:avLst/>
            <a:gdLst/>
            <a:ahLst/>
            <a:cxnLst/>
            <a:rect l="l" t="t" r="r" b="b"/>
            <a:pathLst>
              <a:path w="8801100" h="6858000">
                <a:moveTo>
                  <a:pt x="0" y="6858000"/>
                </a:moveTo>
                <a:lnTo>
                  <a:pt x="8801100" y="6858000"/>
                </a:lnTo>
                <a:lnTo>
                  <a:pt x="88011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030" y="6281095"/>
            <a:ext cx="2177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bg2"/>
                </a:solidFill>
              </a:rPr>
              <a:t>Data Science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Lifecycle</a:t>
            </a:r>
            <a:endParaRPr lang="en-US" sz="1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80100" y="6314718"/>
            <a:ext cx="3263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 smtClean="0">
                <a:solidFill>
                  <a:schemeClr val="bg2"/>
                </a:solidFill>
              </a:rPr>
              <a:t>Software Engineering Department</a:t>
            </a:r>
          </a:p>
          <a:p>
            <a:pPr algn="r"/>
            <a:r>
              <a:rPr lang="en-US" sz="900" dirty="0" smtClean="0">
                <a:solidFill>
                  <a:schemeClr val="bg2"/>
                </a:solidFill>
              </a:rPr>
              <a:t>QUEST NAWABSHAH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803948" y="6345523"/>
            <a:ext cx="2728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Mr. Zohaib </a:t>
            </a:r>
            <a:r>
              <a:rPr lang="en-US" sz="9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Ahmed </a:t>
            </a:r>
            <a:r>
              <a:rPr lang="en-US" sz="900" dirty="0" smtClean="0">
                <a:solidFill>
                  <a:schemeClr val="bg2"/>
                </a:solidFill>
              </a:rPr>
              <a:t>(</a:t>
            </a:r>
            <a:r>
              <a:rPr lang="en-US" sz="900" dirty="0" err="1" smtClean="0">
                <a:solidFill>
                  <a:schemeClr val="bg2"/>
                </a:solidFill>
              </a:rPr>
              <a:t>Kaggle</a:t>
            </a:r>
            <a:r>
              <a:rPr lang="en-US" sz="900" dirty="0" smtClean="0">
                <a:solidFill>
                  <a:schemeClr val="bg2"/>
                </a:solidFill>
              </a:rPr>
              <a:t> </a:t>
            </a:r>
            <a:r>
              <a:rPr lang="en-US" sz="900" dirty="0">
                <a:solidFill>
                  <a:schemeClr val="bg2"/>
                </a:solidFill>
              </a:rPr>
              <a:t>Master)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3022599" y="6496054"/>
            <a:ext cx="30607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 smtClean="0">
                <a:solidFill>
                  <a:schemeClr val="bg2"/>
                </a:solidFill>
              </a:rPr>
              <a:t>MS(Data Science)</a:t>
            </a:r>
            <a:endParaRPr lang="en-US" sz="9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250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3. Pre-processing of data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01853" y="1559813"/>
            <a:ext cx="7813040" cy="392735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5"/>
              </a:spcBef>
              <a:buClr>
                <a:srgbClr val="6E6E74"/>
              </a:buClr>
              <a:buSzPct val="79687"/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400" spc="380" dirty="0">
                <a:latin typeface="Cambria"/>
                <a:cs typeface="Cambria"/>
              </a:rPr>
              <a:t>REDUNDANT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355" dirty="0">
                <a:latin typeface="Cambria"/>
                <a:cs typeface="Cambria"/>
              </a:rPr>
              <a:t>WHITESPACE</a:t>
            </a:r>
            <a:endParaRPr sz="2400" dirty="0">
              <a:latin typeface="Cambria"/>
              <a:cs typeface="Cambria"/>
            </a:endParaRPr>
          </a:p>
          <a:p>
            <a:pPr marL="469900">
              <a:lnSpc>
                <a:spcPct val="100000"/>
              </a:lnSpc>
              <a:spcBef>
                <a:spcPts val="160"/>
              </a:spcBef>
              <a:tabLst>
                <a:tab pos="927100" algn="l"/>
              </a:tabLst>
            </a:pPr>
            <a:r>
              <a:rPr sz="2000" spc="-1145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2000" dirty="0">
                <a:solidFill>
                  <a:srgbClr val="6E6E74"/>
                </a:solidFill>
                <a:latin typeface="Arial MT"/>
                <a:cs typeface="Arial MT"/>
              </a:rPr>
              <a:t>	</a:t>
            </a:r>
            <a:r>
              <a:rPr sz="2000" dirty="0">
                <a:solidFill>
                  <a:srgbClr val="252525"/>
                </a:solidFill>
                <a:latin typeface="Cambria"/>
                <a:cs typeface="Cambria"/>
              </a:rPr>
              <a:t>strip()</a:t>
            </a:r>
            <a:r>
              <a:rPr sz="2000" spc="33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252525"/>
                </a:solidFill>
                <a:latin typeface="Cambria"/>
                <a:cs typeface="Cambria"/>
              </a:rPr>
              <a:t>function</a:t>
            </a:r>
            <a:endParaRPr sz="2000" dirty="0">
              <a:latin typeface="Cambria"/>
              <a:cs typeface="Cambria"/>
            </a:endParaRPr>
          </a:p>
          <a:p>
            <a:pPr marL="469265" marR="1994535" indent="-456565">
              <a:lnSpc>
                <a:spcPts val="3650"/>
              </a:lnSpc>
              <a:spcBef>
                <a:spcPts val="1790"/>
              </a:spcBef>
              <a:buClr>
                <a:srgbClr val="6E6E74"/>
              </a:buClr>
              <a:buSzPct val="79687"/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400" spc="390" dirty="0">
                <a:latin typeface="Cambria"/>
                <a:cs typeface="Cambria"/>
              </a:rPr>
              <a:t>FIXING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spc="340" dirty="0">
                <a:latin typeface="Cambria"/>
                <a:cs typeface="Cambria"/>
              </a:rPr>
              <a:t>CAPITAL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345" dirty="0">
                <a:latin typeface="Cambria"/>
                <a:cs typeface="Cambria"/>
              </a:rPr>
              <a:t>LETTER </a:t>
            </a:r>
            <a:r>
              <a:rPr sz="2400" spc="385" dirty="0">
                <a:latin typeface="Cambria"/>
                <a:cs typeface="Cambria"/>
              </a:rPr>
              <a:t>MISMATCHES</a:t>
            </a:r>
            <a:endParaRPr sz="2400" dirty="0">
              <a:latin typeface="Cambria"/>
              <a:cs typeface="Cambria"/>
            </a:endParaRPr>
          </a:p>
          <a:p>
            <a:pPr marL="469900">
              <a:lnSpc>
                <a:spcPct val="100000"/>
              </a:lnSpc>
              <a:spcBef>
                <a:spcPts val="80"/>
              </a:spcBef>
              <a:tabLst>
                <a:tab pos="927100" algn="l"/>
              </a:tabLst>
            </a:pPr>
            <a:r>
              <a:rPr sz="2000" spc="-1145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2000" dirty="0">
                <a:solidFill>
                  <a:srgbClr val="6E6E74"/>
                </a:solidFill>
                <a:latin typeface="Arial MT"/>
                <a:cs typeface="Arial MT"/>
              </a:rPr>
              <a:t>	</a:t>
            </a:r>
            <a:r>
              <a:rPr sz="2000" spc="-10" dirty="0">
                <a:solidFill>
                  <a:srgbClr val="252525"/>
                </a:solidFill>
                <a:latin typeface="Cambria"/>
                <a:cs typeface="Cambria"/>
              </a:rPr>
              <a:t>.lower()</a:t>
            </a:r>
            <a:endParaRPr sz="2000" dirty="0">
              <a:latin typeface="Cambria"/>
              <a:cs typeface="Cambria"/>
            </a:endParaRPr>
          </a:p>
          <a:p>
            <a:pPr marL="469265" marR="5080" indent="-456565">
              <a:lnSpc>
                <a:spcPts val="3650"/>
              </a:lnSpc>
              <a:spcBef>
                <a:spcPts val="1775"/>
              </a:spcBef>
              <a:buClr>
                <a:srgbClr val="6E6E74"/>
              </a:buClr>
              <a:buSzPct val="79687"/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400" spc="375" dirty="0">
                <a:latin typeface="Cambria"/>
                <a:cs typeface="Cambria"/>
              </a:rPr>
              <a:t>IMPOSSIBLE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425" dirty="0">
                <a:latin typeface="Cambria"/>
                <a:cs typeface="Cambria"/>
              </a:rPr>
              <a:t>VALUES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370" dirty="0">
                <a:latin typeface="Cambria"/>
                <a:cs typeface="Cambria"/>
              </a:rPr>
              <a:t>AND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340" dirty="0">
                <a:latin typeface="Cambria"/>
                <a:cs typeface="Cambria"/>
              </a:rPr>
              <a:t>SANITY </a:t>
            </a:r>
            <a:r>
              <a:rPr sz="2400" spc="470" dirty="0">
                <a:latin typeface="Cambria"/>
                <a:cs typeface="Cambria"/>
              </a:rPr>
              <a:t>CHECKS</a:t>
            </a:r>
            <a:endParaRPr sz="2400" dirty="0">
              <a:latin typeface="Cambria"/>
              <a:cs typeface="Cambria"/>
            </a:endParaRPr>
          </a:p>
          <a:p>
            <a:pPr marL="469900">
              <a:lnSpc>
                <a:spcPct val="100000"/>
              </a:lnSpc>
              <a:spcBef>
                <a:spcPts val="80"/>
              </a:spcBef>
              <a:tabLst>
                <a:tab pos="927100" algn="l"/>
              </a:tabLst>
            </a:pPr>
            <a:r>
              <a:rPr sz="2000" spc="-1145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2000" dirty="0">
                <a:solidFill>
                  <a:srgbClr val="6E6E74"/>
                </a:solidFill>
                <a:latin typeface="Arial MT"/>
                <a:cs typeface="Arial MT"/>
              </a:rPr>
              <a:t>	</a:t>
            </a:r>
            <a:r>
              <a:rPr sz="2000" spc="70" dirty="0">
                <a:solidFill>
                  <a:srgbClr val="252525"/>
                </a:solidFill>
                <a:latin typeface="Cambria"/>
                <a:cs typeface="Cambria"/>
              </a:rPr>
              <a:t>check</a:t>
            </a:r>
            <a:r>
              <a:rPr sz="2000" spc="17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252525"/>
                </a:solidFill>
                <a:latin typeface="Cambria"/>
                <a:cs typeface="Cambria"/>
              </a:rPr>
              <a:t>=</a:t>
            </a:r>
            <a:r>
              <a:rPr sz="2000" spc="16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252525"/>
                </a:solidFill>
                <a:latin typeface="Cambria"/>
                <a:cs typeface="Cambria"/>
              </a:rPr>
              <a:t>0</a:t>
            </a:r>
            <a:r>
              <a:rPr sz="2000" spc="17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252525"/>
                </a:solidFill>
                <a:latin typeface="Cambria"/>
                <a:cs typeface="Cambria"/>
              </a:rPr>
              <a:t>&lt;=</a:t>
            </a:r>
            <a:r>
              <a:rPr sz="2000" spc="17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252525"/>
                </a:solidFill>
                <a:latin typeface="Cambria"/>
                <a:cs typeface="Cambria"/>
              </a:rPr>
              <a:t>age</a:t>
            </a:r>
            <a:r>
              <a:rPr sz="2000" spc="17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252525"/>
                </a:solidFill>
                <a:latin typeface="Cambria"/>
                <a:cs typeface="Cambria"/>
              </a:rPr>
              <a:t>&lt;=</a:t>
            </a:r>
            <a:r>
              <a:rPr sz="2000" spc="17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000" spc="-25" dirty="0">
                <a:solidFill>
                  <a:srgbClr val="252525"/>
                </a:solidFill>
                <a:latin typeface="Cambria"/>
                <a:cs typeface="Cambria"/>
              </a:rPr>
              <a:t>120</a:t>
            </a:r>
            <a:endParaRPr sz="2000" dirty="0">
              <a:latin typeface="Cambria"/>
              <a:cs typeface="Cambria"/>
            </a:endParaRPr>
          </a:p>
          <a:p>
            <a:pPr marL="469265" indent="-456565">
              <a:lnSpc>
                <a:spcPct val="100000"/>
              </a:lnSpc>
              <a:spcBef>
                <a:spcPts val="1510"/>
              </a:spcBef>
              <a:buClr>
                <a:srgbClr val="6E6E74"/>
              </a:buClr>
              <a:buSzPct val="79687"/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400" spc="340" dirty="0">
                <a:latin typeface="Cambria"/>
                <a:cs typeface="Cambria"/>
              </a:rPr>
              <a:t>OUTLIERS?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5" name="object 3"/>
          <p:cNvSpPr/>
          <p:nvPr/>
        </p:nvSpPr>
        <p:spPr>
          <a:xfrm>
            <a:off x="-25400" y="6096000"/>
            <a:ext cx="9156700" cy="762000"/>
          </a:xfrm>
          <a:custGeom>
            <a:avLst/>
            <a:gdLst/>
            <a:ahLst/>
            <a:cxnLst/>
            <a:rect l="l" t="t" r="r" b="b"/>
            <a:pathLst>
              <a:path w="8801100" h="6858000">
                <a:moveTo>
                  <a:pt x="0" y="6858000"/>
                </a:moveTo>
                <a:lnTo>
                  <a:pt x="8801100" y="6858000"/>
                </a:lnTo>
                <a:lnTo>
                  <a:pt x="88011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030" y="6281095"/>
            <a:ext cx="2177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bg2"/>
                </a:solidFill>
              </a:rPr>
              <a:t>Data Science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Lifecycle</a:t>
            </a:r>
            <a:endParaRPr lang="en-US" sz="1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80100" y="6314718"/>
            <a:ext cx="3263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 smtClean="0">
                <a:solidFill>
                  <a:schemeClr val="bg2"/>
                </a:solidFill>
              </a:rPr>
              <a:t>Software Engineering Department</a:t>
            </a:r>
          </a:p>
          <a:p>
            <a:pPr algn="r"/>
            <a:r>
              <a:rPr lang="en-US" sz="900" dirty="0" smtClean="0">
                <a:solidFill>
                  <a:schemeClr val="bg2"/>
                </a:solidFill>
              </a:rPr>
              <a:t>QUEST NAWABSHAH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803948" y="6345523"/>
            <a:ext cx="2728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Mr. Zohaib </a:t>
            </a:r>
            <a:r>
              <a:rPr lang="en-US" sz="9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Ahmed </a:t>
            </a:r>
            <a:r>
              <a:rPr lang="en-US" sz="900" dirty="0" smtClean="0">
                <a:solidFill>
                  <a:schemeClr val="bg2"/>
                </a:solidFill>
              </a:rPr>
              <a:t>(</a:t>
            </a:r>
            <a:r>
              <a:rPr lang="en-US" sz="900" dirty="0" err="1" smtClean="0">
                <a:solidFill>
                  <a:schemeClr val="bg2"/>
                </a:solidFill>
              </a:rPr>
              <a:t>Kaggle</a:t>
            </a:r>
            <a:r>
              <a:rPr lang="en-US" sz="900" dirty="0" smtClean="0">
                <a:solidFill>
                  <a:schemeClr val="bg2"/>
                </a:solidFill>
              </a:rPr>
              <a:t> </a:t>
            </a:r>
            <a:r>
              <a:rPr lang="en-US" sz="900" dirty="0">
                <a:solidFill>
                  <a:schemeClr val="bg2"/>
                </a:solidFill>
              </a:rPr>
              <a:t>Master)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3022599" y="6496054"/>
            <a:ext cx="30607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 smtClean="0">
                <a:solidFill>
                  <a:schemeClr val="bg2"/>
                </a:solidFill>
              </a:rPr>
              <a:t>MS(Data Science)</a:t>
            </a:r>
            <a:endParaRPr lang="en-US" sz="9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250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3. Pre-processing of data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7948" y="2669168"/>
            <a:ext cx="6648414" cy="2787427"/>
          </a:xfrm>
          <a:prstGeom prst="rect">
            <a:avLst/>
          </a:prstGeom>
        </p:spPr>
      </p:pic>
      <p:sp>
        <p:nvSpPr>
          <p:cNvPr id="5" name="object 3"/>
          <p:cNvSpPr/>
          <p:nvPr/>
        </p:nvSpPr>
        <p:spPr>
          <a:xfrm>
            <a:off x="-25400" y="6096000"/>
            <a:ext cx="9156700" cy="762000"/>
          </a:xfrm>
          <a:custGeom>
            <a:avLst/>
            <a:gdLst/>
            <a:ahLst/>
            <a:cxnLst/>
            <a:rect l="l" t="t" r="r" b="b"/>
            <a:pathLst>
              <a:path w="8801100" h="6858000">
                <a:moveTo>
                  <a:pt x="0" y="6858000"/>
                </a:moveTo>
                <a:lnTo>
                  <a:pt x="8801100" y="6858000"/>
                </a:lnTo>
                <a:lnTo>
                  <a:pt x="88011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030" y="6281095"/>
            <a:ext cx="2177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bg2"/>
                </a:solidFill>
              </a:rPr>
              <a:t>Data Science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Lifecycle</a:t>
            </a:r>
            <a:endParaRPr lang="en-US" sz="1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80100" y="6314718"/>
            <a:ext cx="3263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 smtClean="0">
                <a:solidFill>
                  <a:schemeClr val="bg2"/>
                </a:solidFill>
              </a:rPr>
              <a:t>Software Engineering Department</a:t>
            </a:r>
          </a:p>
          <a:p>
            <a:pPr algn="r"/>
            <a:r>
              <a:rPr lang="en-US" sz="900" dirty="0" smtClean="0">
                <a:solidFill>
                  <a:schemeClr val="bg2"/>
                </a:solidFill>
              </a:rPr>
              <a:t>QUEST NAWABSHAH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803948" y="6345523"/>
            <a:ext cx="2728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Mr. Zohaib </a:t>
            </a:r>
            <a:r>
              <a:rPr lang="en-US" sz="9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Ahmed </a:t>
            </a:r>
            <a:r>
              <a:rPr lang="en-US" sz="900" dirty="0" smtClean="0">
                <a:solidFill>
                  <a:schemeClr val="bg2"/>
                </a:solidFill>
              </a:rPr>
              <a:t>(</a:t>
            </a:r>
            <a:r>
              <a:rPr lang="en-US" sz="900" dirty="0" err="1" smtClean="0">
                <a:solidFill>
                  <a:schemeClr val="bg2"/>
                </a:solidFill>
              </a:rPr>
              <a:t>Kaggle</a:t>
            </a:r>
            <a:r>
              <a:rPr lang="en-US" sz="900" dirty="0" smtClean="0">
                <a:solidFill>
                  <a:schemeClr val="bg2"/>
                </a:solidFill>
              </a:rPr>
              <a:t> </a:t>
            </a:r>
            <a:r>
              <a:rPr lang="en-US" sz="900" dirty="0">
                <a:solidFill>
                  <a:schemeClr val="bg2"/>
                </a:solidFill>
              </a:rPr>
              <a:t>Master)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3022599" y="6496054"/>
            <a:ext cx="30607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 smtClean="0">
                <a:solidFill>
                  <a:schemeClr val="bg2"/>
                </a:solidFill>
              </a:rPr>
              <a:t>MS(Data Science)</a:t>
            </a:r>
            <a:endParaRPr lang="en-US" sz="9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250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3. Pre-processing of data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8153" y="2622913"/>
            <a:ext cx="7511199" cy="2824351"/>
          </a:xfrm>
          <a:prstGeom prst="rect">
            <a:avLst/>
          </a:prstGeom>
        </p:spPr>
      </p:pic>
      <p:sp>
        <p:nvSpPr>
          <p:cNvPr id="5" name="object 3"/>
          <p:cNvSpPr/>
          <p:nvPr/>
        </p:nvSpPr>
        <p:spPr>
          <a:xfrm>
            <a:off x="-25400" y="6096000"/>
            <a:ext cx="9156700" cy="762000"/>
          </a:xfrm>
          <a:custGeom>
            <a:avLst/>
            <a:gdLst/>
            <a:ahLst/>
            <a:cxnLst/>
            <a:rect l="l" t="t" r="r" b="b"/>
            <a:pathLst>
              <a:path w="8801100" h="6858000">
                <a:moveTo>
                  <a:pt x="0" y="6858000"/>
                </a:moveTo>
                <a:lnTo>
                  <a:pt x="8801100" y="6858000"/>
                </a:lnTo>
                <a:lnTo>
                  <a:pt x="88011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030" y="6281095"/>
            <a:ext cx="2177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bg2"/>
                </a:solidFill>
              </a:rPr>
              <a:t>Data Science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Lifecycle</a:t>
            </a:r>
            <a:endParaRPr lang="en-US" sz="1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80100" y="6314718"/>
            <a:ext cx="3263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 smtClean="0">
                <a:solidFill>
                  <a:schemeClr val="bg2"/>
                </a:solidFill>
              </a:rPr>
              <a:t>Software Engineering Department</a:t>
            </a:r>
          </a:p>
          <a:p>
            <a:pPr algn="r"/>
            <a:r>
              <a:rPr lang="en-US" sz="900" dirty="0" smtClean="0">
                <a:solidFill>
                  <a:schemeClr val="bg2"/>
                </a:solidFill>
              </a:rPr>
              <a:t>QUEST NAWABSHAH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803948" y="6345523"/>
            <a:ext cx="2728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Mr. Zohaib </a:t>
            </a:r>
            <a:r>
              <a:rPr lang="en-US" sz="9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Ahmed </a:t>
            </a:r>
            <a:r>
              <a:rPr lang="en-US" sz="900" dirty="0" smtClean="0">
                <a:solidFill>
                  <a:schemeClr val="bg2"/>
                </a:solidFill>
              </a:rPr>
              <a:t>(</a:t>
            </a:r>
            <a:r>
              <a:rPr lang="en-US" sz="900" dirty="0" err="1" smtClean="0">
                <a:solidFill>
                  <a:schemeClr val="bg2"/>
                </a:solidFill>
              </a:rPr>
              <a:t>Kaggle</a:t>
            </a:r>
            <a:r>
              <a:rPr lang="en-US" sz="900" dirty="0" smtClean="0">
                <a:solidFill>
                  <a:schemeClr val="bg2"/>
                </a:solidFill>
              </a:rPr>
              <a:t> </a:t>
            </a:r>
            <a:r>
              <a:rPr lang="en-US" sz="900" dirty="0">
                <a:solidFill>
                  <a:schemeClr val="bg2"/>
                </a:solidFill>
              </a:rPr>
              <a:t>Master)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3022599" y="6496054"/>
            <a:ext cx="30607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 smtClean="0">
                <a:solidFill>
                  <a:schemeClr val="bg2"/>
                </a:solidFill>
              </a:rPr>
              <a:t>MS(Data Science)</a:t>
            </a:r>
            <a:endParaRPr lang="en-US" sz="9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250" dirty="0">
                <a:latin typeface="Cambria"/>
                <a:cs typeface="Cambria"/>
              </a:rPr>
              <a:t>Data</a:t>
            </a:r>
            <a:r>
              <a:rPr b="0" spc="140" dirty="0">
                <a:latin typeface="Cambria"/>
                <a:cs typeface="Cambria"/>
              </a:rPr>
              <a:t> </a:t>
            </a:r>
            <a:r>
              <a:rPr b="0" spc="90" dirty="0">
                <a:latin typeface="Cambria"/>
                <a:cs typeface="Cambria"/>
              </a:rPr>
              <a:t>Science</a:t>
            </a:r>
            <a:r>
              <a:rPr b="0" spc="140" dirty="0">
                <a:latin typeface="Cambria"/>
                <a:cs typeface="Cambria"/>
              </a:rPr>
              <a:t> </a:t>
            </a:r>
            <a:r>
              <a:rPr b="0" spc="40" dirty="0">
                <a:latin typeface="Cambria"/>
                <a:cs typeface="Cambria"/>
              </a:rPr>
              <a:t>Process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52" y="143255"/>
            <a:ext cx="8901682" cy="6021324"/>
          </a:xfrm>
          <a:prstGeom prst="rect">
            <a:avLst/>
          </a:prstGeom>
        </p:spPr>
      </p:pic>
      <p:sp>
        <p:nvSpPr>
          <p:cNvPr id="5" name="object 3"/>
          <p:cNvSpPr/>
          <p:nvPr/>
        </p:nvSpPr>
        <p:spPr>
          <a:xfrm>
            <a:off x="-25400" y="6096000"/>
            <a:ext cx="9156700" cy="762000"/>
          </a:xfrm>
          <a:custGeom>
            <a:avLst/>
            <a:gdLst/>
            <a:ahLst/>
            <a:cxnLst/>
            <a:rect l="l" t="t" r="r" b="b"/>
            <a:pathLst>
              <a:path w="8801100" h="6858000">
                <a:moveTo>
                  <a:pt x="0" y="6858000"/>
                </a:moveTo>
                <a:lnTo>
                  <a:pt x="8801100" y="6858000"/>
                </a:lnTo>
                <a:lnTo>
                  <a:pt x="88011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030" y="6281095"/>
            <a:ext cx="2177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bg2"/>
                </a:solidFill>
              </a:rPr>
              <a:t>Data Science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Lifecycle</a:t>
            </a:r>
            <a:endParaRPr lang="en-US" sz="1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80100" y="6314718"/>
            <a:ext cx="3263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 smtClean="0">
                <a:solidFill>
                  <a:schemeClr val="bg2"/>
                </a:solidFill>
              </a:rPr>
              <a:t>Software Engineering Department</a:t>
            </a:r>
          </a:p>
          <a:p>
            <a:pPr algn="r"/>
            <a:r>
              <a:rPr lang="en-US" sz="900" dirty="0" smtClean="0">
                <a:solidFill>
                  <a:schemeClr val="bg2"/>
                </a:solidFill>
              </a:rPr>
              <a:t>QUEST NAWABSHAH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803948" y="6345523"/>
            <a:ext cx="2728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Mr. Zohaib </a:t>
            </a:r>
            <a:r>
              <a:rPr lang="en-US" sz="9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Ahmed </a:t>
            </a:r>
            <a:r>
              <a:rPr lang="en-US" sz="900" dirty="0" smtClean="0">
                <a:solidFill>
                  <a:schemeClr val="bg2"/>
                </a:solidFill>
              </a:rPr>
              <a:t>(</a:t>
            </a:r>
            <a:r>
              <a:rPr lang="en-US" sz="900" dirty="0" err="1" smtClean="0">
                <a:solidFill>
                  <a:schemeClr val="bg2"/>
                </a:solidFill>
              </a:rPr>
              <a:t>Kaggle</a:t>
            </a:r>
            <a:r>
              <a:rPr lang="en-US" sz="900" dirty="0" smtClean="0">
                <a:solidFill>
                  <a:schemeClr val="bg2"/>
                </a:solidFill>
              </a:rPr>
              <a:t> </a:t>
            </a:r>
            <a:r>
              <a:rPr lang="en-US" sz="900" dirty="0">
                <a:solidFill>
                  <a:schemeClr val="bg2"/>
                </a:solidFill>
              </a:rPr>
              <a:t>Master)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3022599" y="6496054"/>
            <a:ext cx="30607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 smtClean="0">
                <a:solidFill>
                  <a:schemeClr val="bg2"/>
                </a:solidFill>
              </a:rPr>
              <a:t>MS(Data Science)</a:t>
            </a:r>
            <a:endParaRPr lang="en-US" sz="9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250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3. Pre-processing of 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1852" y="1559813"/>
            <a:ext cx="8537347" cy="4559773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469265" marR="2043430" indent="-456565" algn="l">
              <a:lnSpc>
                <a:spcPts val="3650"/>
              </a:lnSpc>
              <a:spcBef>
                <a:spcPts val="384"/>
              </a:spcBef>
              <a:buClr>
                <a:srgbClr val="6E6E74"/>
              </a:buClr>
              <a:buSzPct val="79687"/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400" spc="375" dirty="0">
                <a:latin typeface="Cambria"/>
                <a:cs typeface="Cambria"/>
              </a:rPr>
              <a:t>DIFFERENT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375" dirty="0">
                <a:latin typeface="Cambria"/>
                <a:cs typeface="Cambria"/>
              </a:rPr>
              <a:t>UNITS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385" dirty="0">
                <a:latin typeface="Cambria"/>
                <a:cs typeface="Cambria"/>
              </a:rPr>
              <a:t>OF </a:t>
            </a:r>
            <a:r>
              <a:rPr sz="2400" spc="395" dirty="0">
                <a:latin typeface="Cambria"/>
                <a:cs typeface="Cambria"/>
              </a:rPr>
              <a:t>MEASUREMENT</a:t>
            </a:r>
            <a:endParaRPr sz="2400" dirty="0">
              <a:latin typeface="Cambria"/>
              <a:cs typeface="Cambria"/>
            </a:endParaRPr>
          </a:p>
          <a:p>
            <a:pPr marL="469265" marR="1718945" indent="-456565" algn="l">
              <a:lnSpc>
                <a:spcPts val="3650"/>
              </a:lnSpc>
              <a:spcBef>
                <a:spcPts val="1590"/>
              </a:spcBef>
              <a:buClr>
                <a:srgbClr val="6E6E74"/>
              </a:buClr>
              <a:buSzPct val="79687"/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400" spc="375" dirty="0">
                <a:latin typeface="Cambria"/>
                <a:cs typeface="Cambria"/>
              </a:rPr>
              <a:t>DIFFERENT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430" dirty="0">
                <a:latin typeface="Cambria"/>
                <a:cs typeface="Cambria"/>
              </a:rPr>
              <a:t>LEVELS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385" dirty="0">
                <a:latin typeface="Cambria"/>
                <a:cs typeface="Cambria"/>
              </a:rPr>
              <a:t>OF AGGREGATION</a:t>
            </a:r>
            <a:endParaRPr sz="2400" dirty="0">
              <a:latin typeface="Cambria"/>
              <a:cs typeface="Cambria"/>
            </a:endParaRPr>
          </a:p>
          <a:p>
            <a:pPr marL="469265" indent="-456565" algn="l">
              <a:lnSpc>
                <a:spcPct val="100000"/>
              </a:lnSpc>
              <a:spcBef>
                <a:spcPts val="1315"/>
              </a:spcBef>
              <a:buClr>
                <a:srgbClr val="6E6E74"/>
              </a:buClr>
              <a:buSzPct val="79687"/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400" spc="120" dirty="0">
                <a:latin typeface="Cambria"/>
                <a:cs typeface="Cambria"/>
              </a:rPr>
              <a:t>Correct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errors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spc="155" dirty="0">
                <a:latin typeface="Cambria"/>
                <a:cs typeface="Cambria"/>
              </a:rPr>
              <a:t>as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early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155" dirty="0">
                <a:latin typeface="Cambria"/>
                <a:cs typeface="Cambria"/>
              </a:rPr>
              <a:t>as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possible</a:t>
            </a:r>
            <a:endParaRPr sz="2400" dirty="0">
              <a:latin typeface="Cambria"/>
              <a:cs typeface="Cambria"/>
            </a:endParaRPr>
          </a:p>
          <a:p>
            <a:pPr marL="469265" marR="5080" indent="-456565" algn="l">
              <a:lnSpc>
                <a:spcPts val="3650"/>
              </a:lnSpc>
              <a:spcBef>
                <a:spcPts val="1695"/>
              </a:spcBef>
              <a:buClr>
                <a:srgbClr val="6E6E74"/>
              </a:buClr>
              <a:buSzPct val="79687"/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400" spc="145" dirty="0">
                <a:latin typeface="Cambria"/>
                <a:cs typeface="Cambria"/>
              </a:rPr>
              <a:t>Combining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data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from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different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data </a:t>
            </a:r>
            <a:r>
              <a:rPr sz="2400" spc="55" dirty="0">
                <a:latin typeface="Cambria"/>
                <a:cs typeface="Cambria"/>
              </a:rPr>
              <a:t>sources</a:t>
            </a:r>
            <a:endParaRPr sz="2400" dirty="0">
              <a:latin typeface="Cambria"/>
              <a:cs typeface="Cambria"/>
            </a:endParaRPr>
          </a:p>
          <a:p>
            <a:pPr marL="469265" marR="1144270" indent="-456565" algn="l">
              <a:lnSpc>
                <a:spcPts val="3650"/>
              </a:lnSpc>
              <a:spcBef>
                <a:spcPts val="1595"/>
              </a:spcBef>
              <a:buClr>
                <a:srgbClr val="6E6E74"/>
              </a:buClr>
              <a:buSzPct val="79687"/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400" spc="385" dirty="0">
                <a:latin typeface="Cambria"/>
                <a:cs typeface="Cambria"/>
              </a:rPr>
              <a:t>THE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375" dirty="0">
                <a:latin typeface="Cambria"/>
                <a:cs typeface="Cambria"/>
              </a:rPr>
              <a:t>DIFFERENT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spc="340" dirty="0">
                <a:latin typeface="Cambria"/>
                <a:cs typeface="Cambria"/>
              </a:rPr>
              <a:t>WAYS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380" dirty="0">
                <a:latin typeface="Cambria"/>
                <a:cs typeface="Cambria"/>
              </a:rPr>
              <a:t>OF </a:t>
            </a:r>
            <a:r>
              <a:rPr sz="2400" spc="400" dirty="0">
                <a:latin typeface="Cambria"/>
                <a:cs typeface="Cambria"/>
              </a:rPr>
              <a:t>COMBINING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290" dirty="0">
                <a:latin typeface="Cambria"/>
                <a:cs typeface="Cambria"/>
              </a:rPr>
              <a:t>DATA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47354" y="6207353"/>
            <a:ext cx="476884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25" dirty="0">
                <a:solidFill>
                  <a:srgbClr val="8E8E93"/>
                </a:solidFill>
                <a:latin typeface="Cambria"/>
                <a:cs typeface="Cambria"/>
              </a:rPr>
              <a:t>38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5" name="object 3"/>
          <p:cNvSpPr/>
          <p:nvPr/>
        </p:nvSpPr>
        <p:spPr>
          <a:xfrm>
            <a:off x="-25400" y="6096000"/>
            <a:ext cx="9156700" cy="762000"/>
          </a:xfrm>
          <a:custGeom>
            <a:avLst/>
            <a:gdLst/>
            <a:ahLst/>
            <a:cxnLst/>
            <a:rect l="l" t="t" r="r" b="b"/>
            <a:pathLst>
              <a:path w="8801100" h="6858000">
                <a:moveTo>
                  <a:pt x="0" y="6858000"/>
                </a:moveTo>
                <a:lnTo>
                  <a:pt x="8801100" y="6858000"/>
                </a:lnTo>
                <a:lnTo>
                  <a:pt x="88011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030" y="6281095"/>
            <a:ext cx="2177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bg2"/>
                </a:solidFill>
              </a:rPr>
              <a:t>Data Science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Lifecycle</a:t>
            </a:r>
            <a:endParaRPr lang="en-US" sz="1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80100" y="6314718"/>
            <a:ext cx="3263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 smtClean="0">
                <a:solidFill>
                  <a:schemeClr val="bg2"/>
                </a:solidFill>
              </a:rPr>
              <a:t>Software Engineering Department</a:t>
            </a:r>
          </a:p>
          <a:p>
            <a:pPr algn="r"/>
            <a:r>
              <a:rPr lang="en-US" sz="900" dirty="0" smtClean="0">
                <a:solidFill>
                  <a:schemeClr val="bg2"/>
                </a:solidFill>
              </a:rPr>
              <a:t>QUEST NAWABSHAH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803948" y="6345523"/>
            <a:ext cx="2728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Mr. Zohaib </a:t>
            </a:r>
            <a:r>
              <a:rPr lang="en-US" sz="9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Ahmed </a:t>
            </a:r>
            <a:r>
              <a:rPr lang="en-US" sz="900" dirty="0" smtClean="0">
                <a:solidFill>
                  <a:schemeClr val="bg2"/>
                </a:solidFill>
              </a:rPr>
              <a:t>(</a:t>
            </a:r>
            <a:r>
              <a:rPr lang="en-US" sz="900" dirty="0" err="1" smtClean="0">
                <a:solidFill>
                  <a:schemeClr val="bg2"/>
                </a:solidFill>
              </a:rPr>
              <a:t>Kaggle</a:t>
            </a:r>
            <a:r>
              <a:rPr lang="en-US" sz="900" dirty="0" smtClean="0">
                <a:solidFill>
                  <a:schemeClr val="bg2"/>
                </a:solidFill>
              </a:rPr>
              <a:t> </a:t>
            </a:r>
            <a:r>
              <a:rPr lang="en-US" sz="900" dirty="0">
                <a:solidFill>
                  <a:schemeClr val="bg2"/>
                </a:solidFill>
              </a:rPr>
              <a:t>Master)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3022599" y="6496054"/>
            <a:ext cx="30607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 smtClean="0">
                <a:solidFill>
                  <a:schemeClr val="bg2"/>
                </a:solidFill>
              </a:rPr>
              <a:t>MS(Data Science)</a:t>
            </a:r>
            <a:endParaRPr lang="en-US" sz="9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250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3. Pre-processing of data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01163" y="1379215"/>
            <a:ext cx="386715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5"/>
              </a:spcBef>
              <a:buClr>
                <a:srgbClr val="6E6E74"/>
              </a:buClr>
              <a:buSzPct val="79687"/>
              <a:buFont typeface="Arial MT"/>
              <a:buChar char="•"/>
              <a:tabLst>
                <a:tab pos="195580" algn="l"/>
              </a:tabLst>
            </a:pPr>
            <a:r>
              <a:rPr sz="3200" spc="445" dirty="0">
                <a:latin typeface="Cambria"/>
                <a:cs typeface="Cambria"/>
              </a:rPr>
              <a:t>JOINING</a:t>
            </a:r>
            <a:r>
              <a:rPr sz="3200" spc="170" dirty="0">
                <a:latin typeface="Cambria"/>
                <a:cs typeface="Cambria"/>
              </a:rPr>
              <a:t> </a:t>
            </a:r>
            <a:r>
              <a:rPr sz="3200" spc="360" dirty="0">
                <a:latin typeface="Cambria"/>
                <a:cs typeface="Cambria"/>
              </a:rPr>
              <a:t>TABLES</a:t>
            </a:r>
            <a:endParaRPr sz="3200" dirty="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7052" y="1909407"/>
            <a:ext cx="8238744" cy="4680204"/>
          </a:xfrm>
          <a:prstGeom prst="rect">
            <a:avLst/>
          </a:prstGeom>
        </p:spPr>
      </p:pic>
      <p:sp>
        <p:nvSpPr>
          <p:cNvPr id="6" name="object 3"/>
          <p:cNvSpPr/>
          <p:nvPr/>
        </p:nvSpPr>
        <p:spPr>
          <a:xfrm>
            <a:off x="-25400" y="6096000"/>
            <a:ext cx="9156700" cy="762000"/>
          </a:xfrm>
          <a:custGeom>
            <a:avLst/>
            <a:gdLst/>
            <a:ahLst/>
            <a:cxnLst/>
            <a:rect l="l" t="t" r="r" b="b"/>
            <a:pathLst>
              <a:path w="8801100" h="6858000">
                <a:moveTo>
                  <a:pt x="0" y="6858000"/>
                </a:moveTo>
                <a:lnTo>
                  <a:pt x="8801100" y="6858000"/>
                </a:lnTo>
                <a:lnTo>
                  <a:pt x="88011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8030" y="6281095"/>
            <a:ext cx="2177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bg2"/>
                </a:solidFill>
              </a:rPr>
              <a:t>Data Science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Lifecycle</a:t>
            </a:r>
            <a:endParaRPr lang="en-US" sz="1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80100" y="6314718"/>
            <a:ext cx="3263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 smtClean="0">
                <a:solidFill>
                  <a:schemeClr val="bg2"/>
                </a:solidFill>
              </a:rPr>
              <a:t>Software Engineering Department</a:t>
            </a:r>
          </a:p>
          <a:p>
            <a:pPr algn="r"/>
            <a:r>
              <a:rPr lang="en-US" sz="900" dirty="0" smtClean="0">
                <a:solidFill>
                  <a:schemeClr val="bg2"/>
                </a:solidFill>
              </a:rPr>
              <a:t>QUEST NAWABSHAH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803948" y="6345523"/>
            <a:ext cx="2728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Mr. Zohaib </a:t>
            </a:r>
            <a:r>
              <a:rPr lang="en-US" sz="9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Ahmed </a:t>
            </a:r>
            <a:r>
              <a:rPr lang="en-US" sz="900" dirty="0" smtClean="0">
                <a:solidFill>
                  <a:schemeClr val="bg2"/>
                </a:solidFill>
              </a:rPr>
              <a:t>(</a:t>
            </a:r>
            <a:r>
              <a:rPr lang="en-US" sz="900" dirty="0" err="1" smtClean="0">
                <a:solidFill>
                  <a:schemeClr val="bg2"/>
                </a:solidFill>
              </a:rPr>
              <a:t>Kaggle</a:t>
            </a:r>
            <a:r>
              <a:rPr lang="en-US" sz="900" dirty="0" smtClean="0">
                <a:solidFill>
                  <a:schemeClr val="bg2"/>
                </a:solidFill>
              </a:rPr>
              <a:t> </a:t>
            </a:r>
            <a:r>
              <a:rPr lang="en-US" sz="900" dirty="0">
                <a:solidFill>
                  <a:schemeClr val="bg2"/>
                </a:solidFill>
              </a:rPr>
              <a:t>Master)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22599" y="6496054"/>
            <a:ext cx="30607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 smtClean="0">
                <a:solidFill>
                  <a:schemeClr val="bg2"/>
                </a:solidFill>
              </a:rPr>
              <a:t>MS(Data Science)</a:t>
            </a:r>
            <a:endParaRPr lang="en-US" sz="9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250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3. Pre-processing of data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01853" y="1559813"/>
            <a:ext cx="46081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5"/>
              </a:spcBef>
              <a:buClr>
                <a:srgbClr val="6E6E74"/>
              </a:buClr>
              <a:buSzPct val="79687"/>
              <a:buFont typeface="Arial MT"/>
              <a:buChar char="•"/>
              <a:tabLst>
                <a:tab pos="195580" algn="l"/>
              </a:tabLst>
            </a:pPr>
            <a:r>
              <a:rPr sz="3200" spc="380" dirty="0">
                <a:latin typeface="Cambria"/>
                <a:cs typeface="Cambria"/>
              </a:rPr>
              <a:t>APPENDING</a:t>
            </a:r>
            <a:r>
              <a:rPr sz="3200" spc="180" dirty="0">
                <a:latin typeface="Cambria"/>
                <a:cs typeface="Cambria"/>
              </a:rPr>
              <a:t> </a:t>
            </a:r>
            <a:r>
              <a:rPr sz="3200" spc="360" dirty="0">
                <a:latin typeface="Cambria"/>
                <a:cs typeface="Cambria"/>
              </a:rPr>
              <a:t>TABLES</a:t>
            </a:r>
            <a:endParaRPr sz="32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604" y="2118360"/>
            <a:ext cx="8487156" cy="4046220"/>
          </a:xfrm>
          <a:prstGeom prst="rect">
            <a:avLst/>
          </a:prstGeom>
        </p:spPr>
      </p:pic>
      <p:sp>
        <p:nvSpPr>
          <p:cNvPr id="6" name="object 3"/>
          <p:cNvSpPr/>
          <p:nvPr/>
        </p:nvSpPr>
        <p:spPr>
          <a:xfrm>
            <a:off x="-25400" y="6096000"/>
            <a:ext cx="9156700" cy="762000"/>
          </a:xfrm>
          <a:custGeom>
            <a:avLst/>
            <a:gdLst/>
            <a:ahLst/>
            <a:cxnLst/>
            <a:rect l="l" t="t" r="r" b="b"/>
            <a:pathLst>
              <a:path w="8801100" h="6858000">
                <a:moveTo>
                  <a:pt x="0" y="6858000"/>
                </a:moveTo>
                <a:lnTo>
                  <a:pt x="8801100" y="6858000"/>
                </a:lnTo>
                <a:lnTo>
                  <a:pt x="88011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8030" y="6281095"/>
            <a:ext cx="2177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bg2"/>
                </a:solidFill>
              </a:rPr>
              <a:t>Data Science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Lifecycle</a:t>
            </a:r>
            <a:endParaRPr lang="en-US" sz="1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80100" y="6314718"/>
            <a:ext cx="3263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 smtClean="0">
                <a:solidFill>
                  <a:schemeClr val="bg2"/>
                </a:solidFill>
              </a:rPr>
              <a:t>Software Engineering Department</a:t>
            </a:r>
          </a:p>
          <a:p>
            <a:pPr algn="r"/>
            <a:r>
              <a:rPr lang="en-US" sz="900" dirty="0" smtClean="0">
                <a:solidFill>
                  <a:schemeClr val="bg2"/>
                </a:solidFill>
              </a:rPr>
              <a:t>QUEST NAWABSHAH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803948" y="6345523"/>
            <a:ext cx="2728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Mr. Zohaib </a:t>
            </a:r>
            <a:r>
              <a:rPr lang="en-US" sz="9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Ahmed </a:t>
            </a:r>
            <a:r>
              <a:rPr lang="en-US" sz="900" dirty="0" smtClean="0">
                <a:solidFill>
                  <a:schemeClr val="bg2"/>
                </a:solidFill>
              </a:rPr>
              <a:t>(</a:t>
            </a:r>
            <a:r>
              <a:rPr lang="en-US" sz="900" dirty="0" err="1" smtClean="0">
                <a:solidFill>
                  <a:schemeClr val="bg2"/>
                </a:solidFill>
              </a:rPr>
              <a:t>Kaggle</a:t>
            </a:r>
            <a:r>
              <a:rPr lang="en-US" sz="900" dirty="0" smtClean="0">
                <a:solidFill>
                  <a:schemeClr val="bg2"/>
                </a:solidFill>
              </a:rPr>
              <a:t> </a:t>
            </a:r>
            <a:r>
              <a:rPr lang="en-US" sz="900" dirty="0">
                <a:solidFill>
                  <a:schemeClr val="bg2"/>
                </a:solidFill>
              </a:rPr>
              <a:t>Master)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22599" y="6496054"/>
            <a:ext cx="30607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 smtClean="0">
                <a:solidFill>
                  <a:schemeClr val="bg2"/>
                </a:solidFill>
              </a:rPr>
              <a:t>MS(Data Science)</a:t>
            </a:r>
            <a:endParaRPr lang="en-US" sz="9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250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3. Pre-processing of data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01853" y="1559813"/>
            <a:ext cx="7802245" cy="977265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469265" marR="5080" indent="-456565">
              <a:lnSpc>
                <a:spcPts val="3650"/>
              </a:lnSpc>
              <a:spcBef>
                <a:spcPts val="384"/>
              </a:spcBef>
              <a:buClr>
                <a:srgbClr val="6E6E74"/>
              </a:buClr>
              <a:buSzPct val="79687"/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3200" spc="434" dirty="0">
                <a:latin typeface="Cambria"/>
                <a:cs typeface="Cambria"/>
              </a:rPr>
              <a:t>USING</a:t>
            </a:r>
            <a:r>
              <a:rPr sz="3200" spc="185" dirty="0">
                <a:latin typeface="Cambria"/>
                <a:cs typeface="Cambria"/>
              </a:rPr>
              <a:t> </a:t>
            </a:r>
            <a:r>
              <a:rPr sz="3200" spc="345" dirty="0">
                <a:latin typeface="Cambria"/>
                <a:cs typeface="Cambria"/>
              </a:rPr>
              <a:t>VIEWS</a:t>
            </a:r>
            <a:r>
              <a:rPr sz="3200" spc="180" dirty="0">
                <a:latin typeface="Cambria"/>
                <a:cs typeface="Cambria"/>
              </a:rPr>
              <a:t> </a:t>
            </a:r>
            <a:r>
              <a:rPr sz="3200" spc="310" dirty="0">
                <a:latin typeface="Cambria"/>
                <a:cs typeface="Cambria"/>
              </a:rPr>
              <a:t>TO</a:t>
            </a:r>
            <a:r>
              <a:rPr sz="3200" spc="195" dirty="0">
                <a:latin typeface="Cambria"/>
                <a:cs typeface="Cambria"/>
              </a:rPr>
              <a:t> </a:t>
            </a:r>
            <a:r>
              <a:rPr sz="3200" spc="385" dirty="0">
                <a:latin typeface="Cambria"/>
                <a:cs typeface="Cambria"/>
              </a:rPr>
              <a:t>SIMULATE</a:t>
            </a:r>
            <a:r>
              <a:rPr sz="3200" spc="180" dirty="0">
                <a:latin typeface="Cambria"/>
                <a:cs typeface="Cambria"/>
              </a:rPr>
              <a:t> </a:t>
            </a:r>
            <a:r>
              <a:rPr sz="3200" spc="290" dirty="0">
                <a:latin typeface="Cambria"/>
                <a:cs typeface="Cambria"/>
              </a:rPr>
              <a:t>DATA </a:t>
            </a:r>
            <a:r>
              <a:rPr sz="3200" spc="465" dirty="0">
                <a:latin typeface="Cambria"/>
                <a:cs typeface="Cambria"/>
              </a:rPr>
              <a:t>JOINS</a:t>
            </a:r>
            <a:r>
              <a:rPr sz="3200" spc="180" dirty="0">
                <a:latin typeface="Cambria"/>
                <a:cs typeface="Cambria"/>
              </a:rPr>
              <a:t> </a:t>
            </a:r>
            <a:r>
              <a:rPr sz="3200" spc="370" dirty="0">
                <a:latin typeface="Cambria"/>
                <a:cs typeface="Cambria"/>
              </a:rPr>
              <a:t>AND</a:t>
            </a:r>
            <a:r>
              <a:rPr sz="3200" spc="195" dirty="0">
                <a:latin typeface="Cambria"/>
                <a:cs typeface="Cambria"/>
              </a:rPr>
              <a:t> </a:t>
            </a:r>
            <a:r>
              <a:rPr sz="3200" spc="365" dirty="0">
                <a:latin typeface="Cambria"/>
                <a:cs typeface="Cambria"/>
              </a:rPr>
              <a:t>APPENDS</a:t>
            </a:r>
            <a:endParaRPr sz="32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4978" y="2836293"/>
            <a:ext cx="4847222" cy="3031107"/>
          </a:xfrm>
          <a:prstGeom prst="rect">
            <a:avLst/>
          </a:prstGeom>
        </p:spPr>
      </p:pic>
      <p:sp>
        <p:nvSpPr>
          <p:cNvPr id="6" name="object 3"/>
          <p:cNvSpPr/>
          <p:nvPr/>
        </p:nvSpPr>
        <p:spPr>
          <a:xfrm>
            <a:off x="-25400" y="6096000"/>
            <a:ext cx="9156700" cy="762000"/>
          </a:xfrm>
          <a:custGeom>
            <a:avLst/>
            <a:gdLst/>
            <a:ahLst/>
            <a:cxnLst/>
            <a:rect l="l" t="t" r="r" b="b"/>
            <a:pathLst>
              <a:path w="8801100" h="6858000">
                <a:moveTo>
                  <a:pt x="0" y="6858000"/>
                </a:moveTo>
                <a:lnTo>
                  <a:pt x="8801100" y="6858000"/>
                </a:lnTo>
                <a:lnTo>
                  <a:pt x="88011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8030" y="6281095"/>
            <a:ext cx="2177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bg2"/>
                </a:solidFill>
              </a:rPr>
              <a:t>Data Science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Lifecycle</a:t>
            </a:r>
            <a:endParaRPr lang="en-US" sz="1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80100" y="6314718"/>
            <a:ext cx="3263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 smtClean="0">
                <a:solidFill>
                  <a:schemeClr val="bg2"/>
                </a:solidFill>
              </a:rPr>
              <a:t>Software Engineering Department</a:t>
            </a:r>
          </a:p>
          <a:p>
            <a:pPr algn="r"/>
            <a:r>
              <a:rPr lang="en-US" sz="900" dirty="0" smtClean="0">
                <a:solidFill>
                  <a:schemeClr val="bg2"/>
                </a:solidFill>
              </a:rPr>
              <a:t>QUEST NAWABSHAH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803948" y="6345523"/>
            <a:ext cx="2728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Mr. Zohaib </a:t>
            </a:r>
            <a:r>
              <a:rPr lang="en-US" sz="9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Ahmed </a:t>
            </a:r>
            <a:r>
              <a:rPr lang="en-US" sz="900" dirty="0" smtClean="0">
                <a:solidFill>
                  <a:schemeClr val="bg2"/>
                </a:solidFill>
              </a:rPr>
              <a:t>(</a:t>
            </a:r>
            <a:r>
              <a:rPr lang="en-US" sz="900" dirty="0" err="1" smtClean="0">
                <a:solidFill>
                  <a:schemeClr val="bg2"/>
                </a:solidFill>
              </a:rPr>
              <a:t>Kaggle</a:t>
            </a:r>
            <a:r>
              <a:rPr lang="en-US" sz="900" dirty="0" smtClean="0">
                <a:solidFill>
                  <a:schemeClr val="bg2"/>
                </a:solidFill>
              </a:rPr>
              <a:t> </a:t>
            </a:r>
            <a:r>
              <a:rPr lang="en-US" sz="900" dirty="0">
                <a:solidFill>
                  <a:schemeClr val="bg2"/>
                </a:solidFill>
              </a:rPr>
              <a:t>Master)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22599" y="6496054"/>
            <a:ext cx="30607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 smtClean="0">
                <a:solidFill>
                  <a:schemeClr val="bg2"/>
                </a:solidFill>
              </a:rPr>
              <a:t>MS(Data Science)</a:t>
            </a:r>
            <a:endParaRPr lang="en-US" sz="9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250" dirty="0">
                <a:solidFill>
                  <a:schemeClr val="accent1">
                    <a:lumMod val="75000"/>
                  </a:schemeClr>
                </a:solidFill>
                <a:latin typeface="Cambria"/>
                <a:cs typeface="Cambria"/>
              </a:rPr>
              <a:t>3. Pre-processing of data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01853" y="1559813"/>
            <a:ext cx="6015990" cy="1344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5"/>
              </a:spcBef>
              <a:buClr>
                <a:srgbClr val="6E6E74"/>
              </a:buClr>
              <a:buSzPct val="79687"/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3200" spc="125" dirty="0">
                <a:latin typeface="Cambria"/>
                <a:cs typeface="Cambria"/>
              </a:rPr>
              <a:t>Transforming</a:t>
            </a:r>
            <a:r>
              <a:rPr sz="3200" spc="225" dirty="0">
                <a:latin typeface="Cambria"/>
                <a:cs typeface="Cambria"/>
              </a:rPr>
              <a:t> </a:t>
            </a:r>
            <a:r>
              <a:rPr sz="3200" spc="140" dirty="0">
                <a:latin typeface="Cambria"/>
                <a:cs typeface="Cambria"/>
              </a:rPr>
              <a:t>data</a:t>
            </a:r>
            <a:endParaRPr sz="3200">
              <a:latin typeface="Cambria"/>
              <a:cs typeface="Cambria"/>
            </a:endParaRPr>
          </a:p>
          <a:p>
            <a:pPr marL="927100" marR="5080" indent="-457834">
              <a:lnSpc>
                <a:spcPts val="3020"/>
              </a:lnSpc>
              <a:spcBef>
                <a:spcPts val="540"/>
              </a:spcBef>
              <a:tabLst>
                <a:tab pos="927100" algn="l"/>
              </a:tabLst>
            </a:pPr>
            <a:r>
              <a:rPr sz="2800" spc="-1145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2800" dirty="0">
                <a:solidFill>
                  <a:srgbClr val="6E6E74"/>
                </a:solidFill>
                <a:latin typeface="Arial MT"/>
                <a:cs typeface="Arial MT"/>
              </a:rPr>
              <a:t>	</a:t>
            </a:r>
            <a:r>
              <a:rPr sz="2800" spc="330" dirty="0">
                <a:solidFill>
                  <a:srgbClr val="252525"/>
                </a:solidFill>
                <a:latin typeface="Cambria"/>
                <a:cs typeface="Cambria"/>
              </a:rPr>
              <a:t>TURNING</a:t>
            </a:r>
            <a:r>
              <a:rPr sz="2800" spc="21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800" spc="295" dirty="0">
                <a:solidFill>
                  <a:srgbClr val="252525"/>
                </a:solidFill>
                <a:latin typeface="Cambria"/>
                <a:cs typeface="Cambria"/>
              </a:rPr>
              <a:t>VARIABLES</a:t>
            </a:r>
            <a:r>
              <a:rPr sz="2800" spc="24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800" spc="254" dirty="0">
                <a:solidFill>
                  <a:srgbClr val="252525"/>
                </a:solidFill>
                <a:latin typeface="Cambria"/>
                <a:cs typeface="Cambria"/>
              </a:rPr>
              <a:t>INTO </a:t>
            </a:r>
            <a:r>
              <a:rPr sz="2800" spc="335" dirty="0">
                <a:solidFill>
                  <a:srgbClr val="252525"/>
                </a:solidFill>
                <a:latin typeface="Cambria"/>
                <a:cs typeface="Cambria"/>
              </a:rPr>
              <a:t>DUMMIES</a:t>
            </a:r>
            <a:endParaRPr sz="28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1999" y="2774311"/>
            <a:ext cx="3023615" cy="3210622"/>
          </a:xfrm>
          <a:prstGeom prst="rect">
            <a:avLst/>
          </a:prstGeom>
        </p:spPr>
      </p:pic>
      <p:sp>
        <p:nvSpPr>
          <p:cNvPr id="6" name="object 3"/>
          <p:cNvSpPr/>
          <p:nvPr/>
        </p:nvSpPr>
        <p:spPr>
          <a:xfrm>
            <a:off x="-25400" y="6096000"/>
            <a:ext cx="9156700" cy="762000"/>
          </a:xfrm>
          <a:custGeom>
            <a:avLst/>
            <a:gdLst/>
            <a:ahLst/>
            <a:cxnLst/>
            <a:rect l="l" t="t" r="r" b="b"/>
            <a:pathLst>
              <a:path w="8801100" h="6858000">
                <a:moveTo>
                  <a:pt x="0" y="6858000"/>
                </a:moveTo>
                <a:lnTo>
                  <a:pt x="8801100" y="6858000"/>
                </a:lnTo>
                <a:lnTo>
                  <a:pt x="88011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8030" y="6281095"/>
            <a:ext cx="2177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chemeClr val="bg2"/>
                </a:solidFill>
              </a:rPr>
              <a:t>Data Science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Lifecycle</a:t>
            </a:r>
            <a:endParaRPr lang="en-US" sz="1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80100" y="6314718"/>
            <a:ext cx="3263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 smtClean="0">
                <a:solidFill>
                  <a:schemeClr val="bg2"/>
                </a:solidFill>
              </a:rPr>
              <a:t>Software Engineering Department</a:t>
            </a:r>
          </a:p>
          <a:p>
            <a:pPr algn="r"/>
            <a:r>
              <a:rPr lang="en-US" sz="900" dirty="0" smtClean="0">
                <a:solidFill>
                  <a:schemeClr val="bg2"/>
                </a:solidFill>
              </a:rPr>
              <a:t>QUEST NAWABSHAH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803948" y="6345523"/>
            <a:ext cx="2728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Mr. Zohaib </a:t>
            </a:r>
            <a:r>
              <a:rPr lang="en-US" sz="9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Ahmed </a:t>
            </a:r>
            <a:r>
              <a:rPr lang="en-US" sz="900" dirty="0" smtClean="0">
                <a:solidFill>
                  <a:schemeClr val="bg2"/>
                </a:solidFill>
              </a:rPr>
              <a:t>(</a:t>
            </a:r>
            <a:r>
              <a:rPr lang="en-US" sz="900" dirty="0" err="1" smtClean="0">
                <a:solidFill>
                  <a:schemeClr val="bg2"/>
                </a:solidFill>
              </a:rPr>
              <a:t>Kaggle</a:t>
            </a:r>
            <a:r>
              <a:rPr lang="en-US" sz="900" dirty="0" smtClean="0">
                <a:solidFill>
                  <a:schemeClr val="bg2"/>
                </a:solidFill>
              </a:rPr>
              <a:t> </a:t>
            </a:r>
            <a:r>
              <a:rPr lang="en-US" sz="900" dirty="0">
                <a:solidFill>
                  <a:schemeClr val="bg2"/>
                </a:solidFill>
              </a:rPr>
              <a:t>Master)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22599" y="6496054"/>
            <a:ext cx="30607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 smtClean="0">
                <a:solidFill>
                  <a:schemeClr val="bg2"/>
                </a:solidFill>
              </a:rPr>
              <a:t>MS(Data Science)</a:t>
            </a:r>
            <a:endParaRPr lang="en-US" sz="9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Words>1359</Words>
  <Application>Microsoft Office PowerPoint</Application>
  <PresentationFormat>On-screen Show (4:3)</PresentationFormat>
  <Paragraphs>392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0" baseType="lpstr">
      <vt:lpstr>Arial</vt:lpstr>
      <vt:lpstr>Arial MT</vt:lpstr>
      <vt:lpstr>Calibri</vt:lpstr>
      <vt:lpstr>Calibri Light</vt:lpstr>
      <vt:lpstr>Calibri Light (Headings)</vt:lpstr>
      <vt:lpstr>Cambria</vt:lpstr>
      <vt:lpstr>Times New Roman</vt:lpstr>
      <vt:lpstr>Verdana</vt:lpstr>
      <vt:lpstr>Office Theme</vt:lpstr>
      <vt:lpstr>PowerPoint Presentation</vt:lpstr>
      <vt:lpstr>Data Science Lifecycle</vt:lpstr>
      <vt:lpstr>Data Science Lifecycle</vt:lpstr>
      <vt:lpstr>1. Problem identification</vt:lpstr>
      <vt:lpstr>2. Data investigation</vt:lpstr>
      <vt:lpstr>2. Data investigation</vt:lpstr>
      <vt:lpstr>PowerPoint Presentation</vt:lpstr>
      <vt:lpstr>2. Data investigation</vt:lpstr>
      <vt:lpstr>2. Data investigation</vt:lpstr>
      <vt:lpstr>2. Data investigation</vt:lpstr>
      <vt:lpstr>2. Data investigation</vt:lpstr>
      <vt:lpstr>2. Data investigation</vt:lpstr>
      <vt:lpstr>2. Data investigation</vt:lpstr>
      <vt:lpstr>3. Pre-processing of data</vt:lpstr>
      <vt:lpstr>3. Pre-processing of data</vt:lpstr>
      <vt:lpstr>Dimensionality Reduction</vt:lpstr>
      <vt:lpstr>Dimensionality Reduction</vt:lpstr>
      <vt:lpstr>Dimensionality Reduction</vt:lpstr>
      <vt:lpstr>Dimensionality Reduction</vt:lpstr>
      <vt:lpstr>Dimensionality Reduction</vt:lpstr>
      <vt:lpstr>Dimensionality Reduction</vt:lpstr>
      <vt:lpstr>Dimensionality Reduction</vt:lpstr>
      <vt:lpstr>Dimensionality Reduction</vt:lpstr>
      <vt:lpstr>3. Pre-processing of data</vt:lpstr>
      <vt:lpstr>3. Pre-processing of data</vt:lpstr>
      <vt:lpstr>3. Pre-processing of data</vt:lpstr>
      <vt:lpstr>3. Pre-processing of data</vt:lpstr>
      <vt:lpstr>3. Pre-processing of data</vt:lpstr>
      <vt:lpstr>PowerPoint Presentation</vt:lpstr>
      <vt:lpstr>3. Pre-processing of data</vt:lpstr>
      <vt:lpstr>3. Pre-processing of data</vt:lpstr>
      <vt:lpstr>3. Pre-processing of data</vt:lpstr>
      <vt:lpstr>3. Pre-processing of data</vt:lpstr>
      <vt:lpstr>3. Pre-processing of data</vt:lpstr>
      <vt:lpstr>3. Pre-processing of data</vt:lpstr>
      <vt:lpstr>Data Science Process</vt:lpstr>
      <vt:lpstr>3. Pre-processing of data</vt:lpstr>
      <vt:lpstr>3. Pre-processing of data</vt:lpstr>
      <vt:lpstr>3. Pre-processing of data</vt:lpstr>
      <vt:lpstr>3. Pre-processing of data</vt:lpstr>
      <vt:lpstr>3. Pre-processing of data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sds</dc:creator>
  <cp:lastModifiedBy>AM</cp:lastModifiedBy>
  <cp:revision>7</cp:revision>
  <dcterms:created xsi:type="dcterms:W3CDTF">2024-10-05T16:47:28Z</dcterms:created>
  <dcterms:modified xsi:type="dcterms:W3CDTF">2025-10-12T16:40:55Z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2024-07-26T00:00:00Z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2024-10-05T00:00:00Z</vt:filetime>
  </property>
  <property fmtid="{D5CDD505-2E9C-101B-9397-08002B2CF9AE}" pid="5" name="Producer">
    <vt:lpwstr>Microsoft® PowerPoint® LTSC</vt:lpwstr>
  </property>
</Properties>
</file>